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331" r:id="rId4"/>
    <p:sldId id="296" r:id="rId5"/>
    <p:sldId id="312" r:id="rId6"/>
    <p:sldId id="269" r:id="rId7"/>
    <p:sldId id="297" r:id="rId8"/>
    <p:sldId id="270" r:id="rId9"/>
    <p:sldId id="299" r:id="rId10"/>
    <p:sldId id="311" r:id="rId11"/>
    <p:sldId id="271" r:id="rId12"/>
    <p:sldId id="272" r:id="rId13"/>
    <p:sldId id="308" r:id="rId14"/>
    <p:sldId id="258" r:id="rId15"/>
    <p:sldId id="265" r:id="rId16"/>
    <p:sldId id="281" r:id="rId17"/>
    <p:sldId id="277" r:id="rId18"/>
    <p:sldId id="278" r:id="rId19"/>
    <p:sldId id="279" r:id="rId20"/>
    <p:sldId id="295" r:id="rId21"/>
    <p:sldId id="333" r:id="rId22"/>
    <p:sldId id="336" r:id="rId23"/>
    <p:sldId id="303" r:id="rId24"/>
    <p:sldId id="304" r:id="rId25"/>
    <p:sldId id="305" r:id="rId26"/>
    <p:sldId id="259" r:id="rId27"/>
    <p:sldId id="282" r:id="rId28"/>
    <p:sldId id="334" r:id="rId29"/>
    <p:sldId id="337" r:id="rId30"/>
    <p:sldId id="338" r:id="rId31"/>
    <p:sldId id="339" r:id="rId32"/>
    <p:sldId id="335" r:id="rId33"/>
    <p:sldId id="340" r:id="rId34"/>
    <p:sldId id="341" r:id="rId35"/>
    <p:sldId id="342" r:id="rId36"/>
    <p:sldId id="343" r:id="rId37"/>
    <p:sldId id="344" r:id="rId38"/>
    <p:sldId id="348" r:id="rId39"/>
    <p:sldId id="345" r:id="rId40"/>
    <p:sldId id="264" r:id="rId41"/>
    <p:sldId id="283" r:id="rId42"/>
    <p:sldId id="347" r:id="rId43"/>
    <p:sldId id="275" r:id="rId44"/>
    <p:sldId id="285" r:id="rId45"/>
    <p:sldId id="291" r:id="rId46"/>
    <p:sldId id="290" r:id="rId47"/>
    <p:sldId id="286" r:id="rId48"/>
    <p:sldId id="287" r:id="rId49"/>
    <p:sldId id="300" r:id="rId50"/>
    <p:sldId id="292" r:id="rId51"/>
    <p:sldId id="289" r:id="rId52"/>
    <p:sldId id="306" r:id="rId53"/>
    <p:sldId id="307" r:id="rId54"/>
    <p:sldId id="276" r:id="rId55"/>
    <p:sldId id="261" r:id="rId56"/>
    <p:sldId id="315" r:id="rId57"/>
    <p:sldId id="313"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2" r:id="rId7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F6F5F2"/>
    <a:srgbClr val="EFEFE9"/>
    <a:srgbClr val="D6D6CE"/>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0" autoAdjust="0"/>
    <p:restoredTop sz="76364" autoAdjust="0"/>
  </p:normalViewPr>
  <p:slideViewPr>
    <p:cSldViewPr snapToGrid="0" snapToObjects="1">
      <p:cViewPr>
        <p:scale>
          <a:sx n="75" d="100"/>
          <a:sy n="75" d="100"/>
        </p:scale>
        <p:origin x="-728" y="-1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tableStyles" Target="tableStyles.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interSettings" Target="printerSettings/printerSettings1.bin"/><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16AA82-BB9E-1043-B6D5-C26A145164B8}" type="datetimeFigureOut">
              <a:rPr lang="en-US" smtClean="0"/>
              <a:t>7/18/13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608A98-8710-DE42-8626-35E5B63D46B4}" type="slidenum">
              <a:rPr lang="en-US" smtClean="0"/>
              <a:t>‹#›</a:t>
            </a:fld>
            <a:endParaRPr lang="en-US"/>
          </a:p>
        </p:txBody>
      </p:sp>
    </p:spTree>
    <p:extLst>
      <p:ext uri="{BB962C8B-B14F-4D97-AF65-F5344CB8AC3E}">
        <p14:creationId xmlns:p14="http://schemas.microsoft.com/office/powerpoint/2010/main" val="359649687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9</a:t>
            </a:fld>
            <a:endParaRPr lang="en-US"/>
          </a:p>
        </p:txBody>
      </p:sp>
    </p:spTree>
    <p:extLst>
      <p:ext uri="{BB962C8B-B14F-4D97-AF65-F5344CB8AC3E}">
        <p14:creationId xmlns:p14="http://schemas.microsoft.com/office/powerpoint/2010/main" val="404611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Theory of justice requires equality in some space – capabilities</a:t>
            </a:r>
          </a:p>
          <a:p>
            <a:r>
              <a:rPr lang="en-US" dirty="0" err="1" smtClean="0"/>
              <a:t>Sen’s</a:t>
            </a:r>
            <a:r>
              <a:rPr lang="en-US" dirty="0" smtClean="0"/>
              <a:t> CA was in some</a:t>
            </a:r>
            <a:r>
              <a:rPr lang="en-US" baseline="0" dirty="0" smtClean="0"/>
              <a:t> sense an attempt to </a:t>
            </a:r>
            <a:r>
              <a:rPr lang="en-US" baseline="0" dirty="0" err="1" smtClean="0"/>
              <a:t>breing</a:t>
            </a:r>
            <a:r>
              <a:rPr lang="en-US" baseline="0" dirty="0" smtClean="0"/>
              <a:t> a coherence philosophical context for the basic needs approach, which was a very practical attempt to account for the aspects of life people need, but with less focus on people’s own agency to make this happen</a:t>
            </a:r>
          </a:p>
          <a:p>
            <a:r>
              <a:rPr lang="en-US" baseline="0" dirty="0" smtClean="0"/>
              <a:t>HDR themes – what happens if you try to focus on human beings as objective of economic activity</a:t>
            </a:r>
          </a:p>
          <a:p>
            <a:endParaRPr lang="en-US" baseline="0" dirty="0" smtClean="0"/>
          </a:p>
        </p:txBody>
      </p:sp>
      <p:sp>
        <p:nvSpPr>
          <p:cNvPr id="4" name="Slide Number Placeholder 3"/>
          <p:cNvSpPr>
            <a:spLocks noGrp="1"/>
          </p:cNvSpPr>
          <p:nvPr>
            <p:ph type="sldNum" sz="quarter" idx="10"/>
          </p:nvPr>
        </p:nvSpPr>
        <p:spPr/>
        <p:txBody>
          <a:bodyPr/>
          <a:lstStyle/>
          <a:p>
            <a:fld id="{4C608A98-8710-DE42-8626-35E5B63D46B4}" type="slidenum">
              <a:rPr lang="en-US" smtClean="0"/>
              <a:t>21</a:t>
            </a:fld>
            <a:endParaRPr lang="en-US"/>
          </a:p>
        </p:txBody>
      </p:sp>
    </p:spTree>
    <p:extLst>
      <p:ext uri="{BB962C8B-B14F-4D97-AF65-F5344CB8AC3E}">
        <p14:creationId xmlns:p14="http://schemas.microsoft.com/office/powerpoint/2010/main" val="2822534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Theory of justice requires equality in some space – capabilities</a:t>
            </a:r>
          </a:p>
          <a:p>
            <a:r>
              <a:rPr lang="en-US" dirty="0" err="1" smtClean="0"/>
              <a:t>Sen’s</a:t>
            </a:r>
            <a:r>
              <a:rPr lang="en-US" dirty="0" smtClean="0"/>
              <a:t> CA was in some</a:t>
            </a:r>
            <a:r>
              <a:rPr lang="en-US" baseline="0" dirty="0" smtClean="0"/>
              <a:t> sense an attempt to </a:t>
            </a:r>
            <a:r>
              <a:rPr lang="en-US" baseline="0" dirty="0" err="1" smtClean="0"/>
              <a:t>breing</a:t>
            </a:r>
            <a:r>
              <a:rPr lang="en-US" baseline="0" dirty="0" smtClean="0"/>
              <a:t> a coherence philosophical context for the basic needs approach, which was a very practical attempt to account for the aspects of life people need, but with less focus on people’s own agency to make this happen</a:t>
            </a:r>
          </a:p>
          <a:p>
            <a:r>
              <a:rPr lang="en-US" baseline="0" dirty="0" smtClean="0"/>
              <a:t>HDR themes – what happens if you try to focus on human beings as objective of economic activity</a:t>
            </a:r>
          </a:p>
          <a:p>
            <a:endParaRPr lang="en-US" baseline="0" dirty="0" smtClean="0"/>
          </a:p>
        </p:txBody>
      </p:sp>
      <p:sp>
        <p:nvSpPr>
          <p:cNvPr id="4" name="Slide Number Placeholder 3"/>
          <p:cNvSpPr>
            <a:spLocks noGrp="1"/>
          </p:cNvSpPr>
          <p:nvPr>
            <p:ph type="sldNum" sz="quarter" idx="10"/>
          </p:nvPr>
        </p:nvSpPr>
        <p:spPr/>
        <p:txBody>
          <a:bodyPr/>
          <a:lstStyle/>
          <a:p>
            <a:fld id="{4C608A98-8710-DE42-8626-35E5B63D46B4}" type="slidenum">
              <a:rPr lang="en-US" smtClean="0"/>
              <a:t>22</a:t>
            </a:fld>
            <a:endParaRPr lang="en-US"/>
          </a:p>
        </p:txBody>
      </p:sp>
    </p:spTree>
    <p:extLst>
      <p:ext uri="{BB962C8B-B14F-4D97-AF65-F5344CB8AC3E}">
        <p14:creationId xmlns:p14="http://schemas.microsoft.com/office/powerpoint/2010/main" val="282253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Similar words, different meanings</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23</a:t>
            </a:fld>
            <a:endParaRPr lang="en-US"/>
          </a:p>
        </p:txBody>
      </p:sp>
    </p:spTree>
    <p:extLst>
      <p:ext uri="{BB962C8B-B14F-4D97-AF65-F5344CB8AC3E}">
        <p14:creationId xmlns:p14="http://schemas.microsoft.com/office/powerpoint/2010/main" val="2105920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Evaluative, rather than predictive or causal</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27</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Budget set,</a:t>
            </a:r>
            <a:r>
              <a:rPr lang="en-US" baseline="0" dirty="0" smtClean="0"/>
              <a:t> by a book, a movie. </a:t>
            </a:r>
            <a:r>
              <a:rPr lang="en-US" dirty="0" smtClean="0"/>
              <a:t>Concrete</a:t>
            </a:r>
            <a:r>
              <a:rPr lang="en-US" baseline="0" dirty="0" smtClean="0"/>
              <a:t> </a:t>
            </a:r>
            <a:r>
              <a:rPr lang="en-US" baseline="0" dirty="0" err="1" smtClean="0"/>
              <a:t>functionings</a:t>
            </a:r>
            <a:r>
              <a:rPr lang="en-US" baseline="0" dirty="0" smtClean="0"/>
              <a:t> one could do or be, time unspecified, boundaries unspecified</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28</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Describin</a:t>
            </a:r>
            <a:r>
              <a:rPr lang="en-US" baseline="0" dirty="0" smtClean="0"/>
              <a:t>g CA – contrast with concepts of opportunity or freedom on paper, “There is no law against dying of hunger opening line of poverty and famine. </a:t>
            </a:r>
            <a:r>
              <a:rPr lang="en-US" baseline="0" dirty="0" err="1" smtClean="0"/>
              <a:t>Sen</a:t>
            </a:r>
            <a:r>
              <a:rPr lang="en-US" baseline="0" dirty="0" smtClean="0"/>
              <a:t> is interested in actual choices.</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29</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point in space – such as being well nourished,</a:t>
            </a:r>
            <a:r>
              <a:rPr lang="en-US" baseline="0" dirty="0" smtClean="0"/>
              <a:t> attending – participatory responses list different </a:t>
            </a:r>
            <a:r>
              <a:rPr lang="en-US" baseline="0" dirty="0" err="1" smtClean="0"/>
              <a:t>functionings</a:t>
            </a:r>
            <a:r>
              <a:rPr lang="en-US" baseline="0" dirty="0" smtClean="0"/>
              <a:t> in their lives, health, education, work, etc. Value: torture small children. Don</a:t>
            </a:r>
            <a:r>
              <a:rPr lang="fr-FR" baseline="0" dirty="0" smtClean="0"/>
              <a:t>’</a:t>
            </a:r>
            <a:r>
              <a:rPr lang="en-US" baseline="0" dirty="0" smtClean="0"/>
              <a:t>t have reason to value. Who can choose? Not stated. Allow public debate. Being well nourished, being serene, and also activities</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30</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a:t>
            </a:r>
            <a:r>
              <a:rPr lang="en-US" baseline="0" dirty="0" smtClean="0"/>
              <a:t> of a bicycle – resource. Can measure as with most indicators. Hope bicycle will give mobility (capability) the functioning is that we would indeed ride around, and utility is the pleasure we get from riding around. Different focal spaces: resources is one space, capabilities and </a:t>
            </a:r>
            <a:r>
              <a:rPr lang="en-US" baseline="0" dirty="0" err="1" smtClean="0"/>
              <a:t>functionings</a:t>
            </a:r>
            <a:r>
              <a:rPr lang="en-US" baseline="0" dirty="0" smtClean="0"/>
              <a:t> are in the same space, set and a point. Utility entirely different: space of mental or psychic utility. When we attempt to evaluate social arrangements, the task of the capability approach, </a:t>
            </a:r>
            <a:r>
              <a:rPr lang="en-US" baseline="0" dirty="0" err="1" smtClean="0"/>
              <a:t>Sen</a:t>
            </a:r>
            <a:r>
              <a:rPr lang="en-US" baseline="0" dirty="0" smtClean="0"/>
              <a:t> argues we should not focus on resources. Why not: no legs, cant use it. Doesn’t give capability to move around, I don</a:t>
            </a:r>
            <a:r>
              <a:rPr lang="fr-FR" baseline="0" dirty="0" smtClean="0"/>
              <a:t>’</a:t>
            </a:r>
            <a:r>
              <a:rPr lang="en-US" baseline="0" dirty="0" smtClean="0"/>
              <a:t>t’ move around, and I’m not too happy from it. Don’t use utility space, I could be happy not from the bicycle. Second example (</a:t>
            </a:r>
            <a:r>
              <a:rPr lang="en-US" baseline="0" dirty="0" err="1" smtClean="0"/>
              <a:t>Sen</a:t>
            </a:r>
            <a:r>
              <a:rPr lang="en-US" baseline="0" dirty="0" smtClean="0"/>
              <a:t>) is food. A pound of rice -  pregnant person, very old, very young, day laborer, another has high metabolism. What is nutritional status from the rice? Pregnant, day laborer, high metabolism persons may have low nutritional status; child and older person may have very high status. Same commodity, different levels of capabilities and </a:t>
            </a:r>
            <a:r>
              <a:rPr lang="en-US" baseline="0" dirty="0" err="1" smtClean="0"/>
              <a:t>functionigs</a:t>
            </a:r>
            <a:r>
              <a:rPr lang="en-US" baseline="0" dirty="0" smtClean="0"/>
              <a:t>, </a:t>
            </a:r>
            <a:r>
              <a:rPr lang="en-US" baseline="0" dirty="0" err="1" smtClean="0"/>
              <a:t>Sen</a:t>
            </a:r>
            <a:r>
              <a:rPr lang="en-US" baseline="0" dirty="0" smtClean="0"/>
              <a:t> refers to this as having d</a:t>
            </a:r>
            <a:r>
              <a:rPr lang="en-US" dirty="0" smtClean="0"/>
              <a:t>ifferent</a:t>
            </a:r>
            <a:r>
              <a:rPr lang="en-US" baseline="0" dirty="0" smtClean="0"/>
              <a:t> abilities to convert resources into </a:t>
            </a:r>
            <a:r>
              <a:rPr lang="en-US" baseline="0" dirty="0" err="1" smtClean="0"/>
              <a:t>functionings</a:t>
            </a:r>
            <a:r>
              <a:rPr lang="en-US" baseline="0" dirty="0" smtClean="0"/>
              <a:t>. Likewise different conversion to utility. Could be happy for various reasons unrelated to material conditions. </a:t>
            </a:r>
            <a:r>
              <a:rPr lang="en-US" baseline="0" dirty="0" err="1" smtClean="0"/>
              <a:t>Sen’s</a:t>
            </a:r>
            <a:r>
              <a:rPr lang="en-US" baseline="0" dirty="0" smtClean="0"/>
              <a:t> example of a poor devout widow who is happy because she has accustomed herself to very meager circumstances. “content for small mercies” If we looked at utility alone without examining her conditions, get the wrong picture. Problem with only looking at psychic state of a person, as a proxy for their well being more fully. Different evaluative spaces give different pictures – it matters which you choose.  If there were identical conversion possibilities, then it would not matter and we could use any for all.</a:t>
            </a:r>
            <a:endParaRPr lang="en-US" dirty="0" smtClean="0"/>
          </a:p>
        </p:txBody>
      </p:sp>
      <p:sp>
        <p:nvSpPr>
          <p:cNvPr id="4" name="Slide Number Placeholder 3"/>
          <p:cNvSpPr>
            <a:spLocks noGrp="1"/>
          </p:cNvSpPr>
          <p:nvPr>
            <p:ph type="sldNum" sz="quarter" idx="10"/>
          </p:nvPr>
        </p:nvSpPr>
        <p:spPr/>
        <p:txBody>
          <a:bodyPr/>
          <a:lstStyle/>
          <a:p>
            <a:fld id="{4C608A98-8710-DE42-8626-35E5B63D46B4}" type="slidenum">
              <a:rPr lang="en-US" smtClean="0"/>
              <a:t>31</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Evaluative, rather than predictive </a:t>
            </a:r>
            <a:r>
              <a:rPr lang="en-US" smtClean="0"/>
              <a:t>or causal</a:t>
            </a:r>
            <a:endParaRPr lang="en-US"/>
          </a:p>
        </p:txBody>
      </p:sp>
      <p:sp>
        <p:nvSpPr>
          <p:cNvPr id="4" name="Slide Number Placeholder 3"/>
          <p:cNvSpPr>
            <a:spLocks noGrp="1"/>
          </p:cNvSpPr>
          <p:nvPr>
            <p:ph type="sldNum" sz="quarter" idx="10"/>
          </p:nvPr>
        </p:nvSpPr>
        <p:spPr/>
        <p:txBody>
          <a:bodyPr/>
          <a:lstStyle/>
          <a:p>
            <a:fld id="{4C608A98-8710-DE42-8626-35E5B63D46B4}" type="slidenum">
              <a:rPr lang="en-US" smtClean="0"/>
              <a:t>32</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Capabilities = </a:t>
            </a:r>
            <a:r>
              <a:rPr lang="en-US" dirty="0" err="1" smtClean="0"/>
              <a:t>functionings</a:t>
            </a:r>
            <a:r>
              <a:rPr lang="en-US" baseline="0" dirty="0" smtClean="0"/>
              <a:t> and freedoms</a:t>
            </a:r>
            <a:endParaRPr lang="en-US" dirty="0" smtClean="0"/>
          </a:p>
        </p:txBody>
      </p:sp>
      <p:sp>
        <p:nvSpPr>
          <p:cNvPr id="4" name="Slide Number Placeholder 3"/>
          <p:cNvSpPr>
            <a:spLocks noGrp="1"/>
          </p:cNvSpPr>
          <p:nvPr>
            <p:ph type="sldNum" sz="quarter" idx="10"/>
          </p:nvPr>
        </p:nvSpPr>
        <p:spPr/>
        <p:txBody>
          <a:bodyPr/>
          <a:lstStyle/>
          <a:p>
            <a:fld id="{4C608A98-8710-DE42-8626-35E5B63D46B4}" type="slidenum">
              <a:rPr lang="en-US" smtClean="0"/>
              <a:t>33</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Cohen in quality of life = washing powder</a:t>
            </a:r>
            <a:r>
              <a:rPr lang="en-US" baseline="0" dirty="0" smtClean="0"/>
              <a:t>.  Want things you value and choices you value, and depend on </a:t>
            </a:r>
            <a:r>
              <a:rPr lang="en-US" baseline="0" dirty="0" err="1" smtClean="0"/>
              <a:t>clulture</a:t>
            </a:r>
            <a:r>
              <a:rPr lang="en-US" baseline="0" dirty="0" smtClean="0"/>
              <a:t> = have others make choices. Freedom as control in west, but broader context: Malaria. Jehovah’s witness accident and blood. By public action or on behalf of someone.</a:t>
            </a:r>
          </a:p>
        </p:txBody>
      </p:sp>
      <p:sp>
        <p:nvSpPr>
          <p:cNvPr id="4" name="Slide Number Placeholder 3"/>
          <p:cNvSpPr>
            <a:spLocks noGrp="1"/>
          </p:cNvSpPr>
          <p:nvPr>
            <p:ph type="sldNum" sz="quarter" idx="10"/>
          </p:nvPr>
        </p:nvSpPr>
        <p:spPr/>
        <p:txBody>
          <a:bodyPr/>
          <a:lstStyle/>
          <a:p>
            <a:fld id="{4C608A98-8710-DE42-8626-35E5B63D46B4}" type="slidenum">
              <a:rPr lang="en-US" smtClean="0"/>
              <a:t>34</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err="1" smtClean="0"/>
              <a:t>Sen</a:t>
            </a:r>
            <a:r>
              <a:rPr lang="en-US" baseline="0" dirty="0" smtClean="0"/>
              <a:t>: two parts Opportunity aspects, Process aspects. Opportunity is set; process aspect is ability to act out on what matters. </a:t>
            </a:r>
            <a:r>
              <a:rPr lang="en-US" baseline="0" dirty="0" err="1" smtClean="0"/>
              <a:t>Sen’s</a:t>
            </a:r>
            <a:r>
              <a:rPr lang="en-US" baseline="0" dirty="0" smtClean="0"/>
              <a:t> Arrow lectures. Nussbaum does not have concept of agency. For </a:t>
            </a:r>
            <a:r>
              <a:rPr lang="en-US" baseline="0" dirty="0" err="1" smtClean="0"/>
              <a:t>sen</a:t>
            </a:r>
            <a:r>
              <a:rPr lang="en-US" baseline="0" dirty="0" smtClean="0"/>
              <a:t> this concept is broad.</a:t>
            </a:r>
          </a:p>
        </p:txBody>
      </p:sp>
      <p:sp>
        <p:nvSpPr>
          <p:cNvPr id="4" name="Slide Number Placeholder 3"/>
          <p:cNvSpPr>
            <a:spLocks noGrp="1"/>
          </p:cNvSpPr>
          <p:nvPr>
            <p:ph type="sldNum" sz="quarter" idx="10"/>
          </p:nvPr>
        </p:nvSpPr>
        <p:spPr/>
        <p:txBody>
          <a:bodyPr/>
          <a:lstStyle/>
          <a:p>
            <a:fld id="{4C608A98-8710-DE42-8626-35E5B63D46B4}" type="slidenum">
              <a:rPr lang="en-US" smtClean="0"/>
              <a:t>35</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Opposite from</a:t>
            </a:r>
            <a:r>
              <a:rPr lang="en-US" baseline="0" dirty="0" smtClean="0"/>
              <a:t> principal agent – includes value.  Was bin laden greatly </a:t>
            </a:r>
            <a:endParaRPr lang="en-US" baseline="0" dirty="0" smtClean="0"/>
          </a:p>
          <a:p>
            <a:r>
              <a:rPr lang="en-US" baseline="0" dirty="0" err="1" smtClean="0"/>
              <a:t>ed</a:t>
            </a:r>
            <a:r>
              <a:rPr lang="en-US" baseline="0" dirty="0" smtClean="0"/>
              <a:t>?</a:t>
            </a:r>
          </a:p>
        </p:txBody>
      </p:sp>
      <p:sp>
        <p:nvSpPr>
          <p:cNvPr id="4" name="Slide Number Placeholder 3"/>
          <p:cNvSpPr>
            <a:spLocks noGrp="1"/>
          </p:cNvSpPr>
          <p:nvPr>
            <p:ph type="sldNum" sz="quarter" idx="10"/>
          </p:nvPr>
        </p:nvSpPr>
        <p:spPr/>
        <p:txBody>
          <a:bodyPr/>
          <a:lstStyle/>
          <a:p>
            <a:fld id="{4C608A98-8710-DE42-8626-35E5B63D46B4}" type="slidenum">
              <a:rPr lang="en-US" smtClean="0"/>
              <a:t>36</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More recent versions of capability approach: Not just personal, but can be achieved through collective action. Key role for</a:t>
            </a:r>
            <a:r>
              <a:rPr lang="en-US" baseline="0" dirty="0" smtClean="0"/>
              <a:t> political freedom.</a:t>
            </a:r>
          </a:p>
        </p:txBody>
      </p:sp>
      <p:sp>
        <p:nvSpPr>
          <p:cNvPr id="4" name="Slide Number Placeholder 3"/>
          <p:cNvSpPr>
            <a:spLocks noGrp="1"/>
          </p:cNvSpPr>
          <p:nvPr>
            <p:ph type="sldNum" sz="quarter" idx="10"/>
          </p:nvPr>
        </p:nvSpPr>
        <p:spPr/>
        <p:txBody>
          <a:bodyPr/>
          <a:lstStyle/>
          <a:p>
            <a:fld id="{4C608A98-8710-DE42-8626-35E5B63D46B4}" type="slidenum">
              <a:rPr lang="en-US" smtClean="0"/>
              <a:t>37</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Overview in 30 minutes  Many examples in health education (HDI) clearly goes beyond. Incomplete – you fill it in for the problem at hand – you have choice, agency. Ethically it is individualistic; collective does indeed matter. He invokes the social. How to implement policies – different kinds of analysis. Difficult to </a:t>
            </a:r>
            <a:r>
              <a:rPr lang="en-US" baseline="0" smtClean="0"/>
              <a:t>measure freedom.</a:t>
            </a:r>
            <a:endParaRPr lang="en-US" baseline="0" dirty="0" smtClean="0"/>
          </a:p>
        </p:txBody>
      </p:sp>
      <p:sp>
        <p:nvSpPr>
          <p:cNvPr id="4" name="Slide Number Placeholder 3"/>
          <p:cNvSpPr>
            <a:spLocks noGrp="1"/>
          </p:cNvSpPr>
          <p:nvPr>
            <p:ph type="sldNum" sz="quarter" idx="10"/>
          </p:nvPr>
        </p:nvSpPr>
        <p:spPr/>
        <p:txBody>
          <a:bodyPr/>
          <a:lstStyle/>
          <a:p>
            <a:fld id="{4C608A98-8710-DE42-8626-35E5B63D46B4}" type="slidenum">
              <a:rPr lang="en-US" smtClean="0"/>
              <a:t>39</a:t>
            </a:fld>
            <a:endParaRPr lang="en-US"/>
          </a:p>
        </p:txBody>
      </p:sp>
    </p:spTree>
    <p:extLst>
      <p:ext uri="{BB962C8B-B14F-4D97-AF65-F5344CB8AC3E}">
        <p14:creationId xmlns:p14="http://schemas.microsoft.com/office/powerpoint/2010/main" val="548827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40</a:t>
            </a:fld>
            <a:endParaRPr lang="en-US"/>
          </a:p>
        </p:txBody>
      </p:sp>
    </p:spTree>
    <p:extLst>
      <p:ext uri="{BB962C8B-B14F-4D97-AF65-F5344CB8AC3E}">
        <p14:creationId xmlns:p14="http://schemas.microsoft.com/office/powerpoint/2010/main" val="4253621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Multiple dimension – what to do</a:t>
            </a:r>
          </a:p>
          <a:p>
            <a:r>
              <a:rPr lang="en-US" dirty="0" smtClean="0"/>
              <a:t>Normative thing</a:t>
            </a:r>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51</a:t>
            </a:fld>
            <a:endParaRPr lang="en-US"/>
          </a:p>
        </p:txBody>
      </p:sp>
    </p:spTree>
    <p:extLst>
      <p:ext uri="{BB962C8B-B14F-4D97-AF65-F5344CB8AC3E}">
        <p14:creationId xmlns:p14="http://schemas.microsoft.com/office/powerpoint/2010/main" val="3203123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3500" dirty="0" smtClean="0"/>
              <a:t>From the practical to the theoretical</a:t>
            </a:r>
          </a:p>
          <a:p>
            <a:endParaRPr lang="en-US" dirty="0"/>
          </a:p>
        </p:txBody>
      </p:sp>
      <p:sp>
        <p:nvSpPr>
          <p:cNvPr id="4" name="Slide Number Placeholder 3"/>
          <p:cNvSpPr>
            <a:spLocks noGrp="1"/>
          </p:cNvSpPr>
          <p:nvPr>
            <p:ph type="sldNum" sz="quarter" idx="10"/>
          </p:nvPr>
        </p:nvSpPr>
        <p:spPr/>
        <p:txBody>
          <a:bodyPr/>
          <a:lstStyle/>
          <a:p>
            <a:fld id="{4C608A98-8710-DE42-8626-35E5B63D46B4}" type="slidenum">
              <a:rPr lang="en-US" smtClean="0"/>
              <a:t>54</a:t>
            </a:fld>
            <a:endParaRPr lang="en-US"/>
          </a:p>
        </p:txBody>
      </p:sp>
    </p:spTree>
    <p:extLst>
      <p:ext uri="{BB962C8B-B14F-4D97-AF65-F5344CB8AC3E}">
        <p14:creationId xmlns:p14="http://schemas.microsoft.com/office/powerpoint/2010/main" val="2127604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B1D631-9112-3E48-8E12-375900807D97}" type="datetimeFigureOut">
              <a:rPr lang="en-US" smtClean="0"/>
              <a:t>7/18/13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689892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B1D631-9112-3E48-8E12-375900807D97}" type="datetimeFigureOut">
              <a:rPr lang="en-US" smtClean="0"/>
              <a:t>7/18/13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2482109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B1D631-9112-3E48-8E12-375900807D97}" type="datetimeFigureOut">
              <a:rPr lang="en-US" smtClean="0"/>
              <a:t>7/18/13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396364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8B1D631-9112-3E48-8E12-375900807D97}" type="datetimeFigureOut">
              <a:rPr lang="en-US" smtClean="0"/>
              <a:t>7/18/13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3794012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8B1D631-9112-3E48-8E12-375900807D97}" type="datetimeFigureOut">
              <a:rPr lang="en-US" smtClean="0"/>
              <a:t>7/18/13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2697911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B1D631-9112-3E48-8E12-375900807D97}" type="datetimeFigureOut">
              <a:rPr lang="en-US" smtClean="0"/>
              <a:t>7/18/13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361754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1D631-9112-3E48-8E12-375900807D97}" type="datetimeFigureOut">
              <a:rPr lang="en-US" smtClean="0"/>
              <a:t>7/18/13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317340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B1D631-9112-3E48-8E12-375900807D97}" type="datetimeFigureOut">
              <a:rPr lang="en-US" smtClean="0"/>
              <a:t>7/18/13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278949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B1D631-9112-3E48-8E12-375900807D97}" type="datetimeFigureOut">
              <a:rPr lang="en-US" smtClean="0"/>
              <a:t>7/18/13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258059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B1D631-9112-3E48-8E12-375900807D97}" type="datetimeFigureOut">
              <a:rPr lang="en-US" smtClean="0"/>
              <a:t>7/18/13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741568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B1D631-9112-3E48-8E12-375900807D97}" type="datetimeFigureOut">
              <a:rPr lang="en-US" smtClean="0"/>
              <a:t>7/18/13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162E8-E48C-814A-BAB9-0E8D1AFE4EDC}" type="slidenum">
              <a:rPr lang="en-US" smtClean="0"/>
              <a:t>‹#›</a:t>
            </a:fld>
            <a:endParaRPr lang="en-US"/>
          </a:p>
        </p:txBody>
      </p:sp>
    </p:spTree>
    <p:extLst>
      <p:ext uri="{BB962C8B-B14F-4D97-AF65-F5344CB8AC3E}">
        <p14:creationId xmlns:p14="http://schemas.microsoft.com/office/powerpoint/2010/main" val="28589722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6D6CE"/>
            </a:gs>
            <a:gs pos="100000">
              <a:schemeClr val="bg1"/>
            </a:gs>
          </a:gsLst>
          <a:lin ang="27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1D631-9112-3E48-8E12-375900807D97}" type="datetimeFigureOut">
              <a:rPr lang="en-US" smtClean="0"/>
              <a:t>7/18/13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2162E8-E48C-814A-BAB9-0E8D1AFE4EDC}" type="slidenum">
              <a:rPr lang="en-US" smtClean="0"/>
              <a:t>‹#›</a:t>
            </a:fld>
            <a:endParaRPr lang="en-US"/>
          </a:p>
        </p:txBody>
      </p:sp>
    </p:spTree>
    <p:extLst>
      <p:ext uri="{BB962C8B-B14F-4D97-AF65-F5344CB8AC3E}">
        <p14:creationId xmlns:p14="http://schemas.microsoft.com/office/powerpoint/2010/main" val="1381725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1" name="Straight Connector 10"/>
          <p:cNvCxnSpPr/>
          <p:nvPr/>
        </p:nvCxnSpPr>
        <p:spPr>
          <a:xfrm>
            <a:off x="2118128" y="168140"/>
            <a:ext cx="0" cy="6407533"/>
          </a:xfrm>
          <a:prstGeom prst="line">
            <a:avLst/>
          </a:prstGeom>
          <a:ln w="19050">
            <a:solidFill>
              <a:srgbClr val="F6F5F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34200" y="173670"/>
            <a:ext cx="0" cy="6407533"/>
          </a:xfrm>
          <a:prstGeom prst="line">
            <a:avLst/>
          </a:prstGeom>
          <a:ln w="19050">
            <a:solidFill>
              <a:srgbClr val="767676"/>
            </a:solidFill>
          </a:ln>
        </p:spPr>
        <p:style>
          <a:lnRef idx="1">
            <a:schemeClr val="accent1"/>
          </a:lnRef>
          <a:fillRef idx="0">
            <a:schemeClr val="accent1"/>
          </a:fillRef>
          <a:effectRef idx="0">
            <a:schemeClr val="accent1"/>
          </a:effectRef>
          <a:fontRef idx="minor">
            <a:schemeClr val="tx1"/>
          </a:fontRef>
        </p:style>
      </p:cxnSp>
      <p:pic>
        <p:nvPicPr>
          <p:cNvPr id="19" name="Picture 18" descr="Logo b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934" y="1885617"/>
            <a:ext cx="1736332" cy="2083599"/>
          </a:xfrm>
          <a:prstGeom prst="rect">
            <a:avLst/>
          </a:prstGeom>
        </p:spPr>
      </p:pic>
      <p:sp>
        <p:nvSpPr>
          <p:cNvPr id="20" name="Title 19"/>
          <p:cNvSpPr>
            <a:spLocks noGrp="1"/>
          </p:cNvSpPr>
          <p:nvPr>
            <p:ph type="ctrTitle"/>
          </p:nvPr>
        </p:nvSpPr>
        <p:spPr>
          <a:xfrm>
            <a:off x="2379040" y="1182594"/>
            <a:ext cx="6318973" cy="1470025"/>
          </a:xfrm>
        </p:spPr>
        <p:txBody>
          <a:bodyPr/>
          <a:lstStyle/>
          <a:p>
            <a:r>
              <a:rPr lang="en-US" dirty="0" smtClean="0"/>
              <a:t>Capabilities: Theory</a:t>
            </a:r>
            <a:endParaRPr lang="en-US" dirty="0"/>
          </a:p>
        </p:txBody>
      </p:sp>
      <p:sp>
        <p:nvSpPr>
          <p:cNvPr id="21" name="Subtitle 20"/>
          <p:cNvSpPr>
            <a:spLocks noGrp="1"/>
          </p:cNvSpPr>
          <p:nvPr>
            <p:ph type="subTitle" idx="1"/>
          </p:nvPr>
        </p:nvSpPr>
        <p:spPr>
          <a:xfrm>
            <a:off x="3032468" y="3483387"/>
            <a:ext cx="4854799" cy="1297604"/>
          </a:xfrm>
        </p:spPr>
        <p:txBody>
          <a:bodyPr>
            <a:normAutofit fontScale="92500" lnSpcReduction="10000"/>
          </a:bodyPr>
          <a:lstStyle/>
          <a:p>
            <a:r>
              <a:rPr lang="en-US" dirty="0" smtClean="0"/>
              <a:t>James Foster</a:t>
            </a:r>
          </a:p>
          <a:p>
            <a:r>
              <a:rPr lang="en-US" sz="2600" dirty="0" smtClean="0"/>
              <a:t>George Washington University and OPHI, Oxford</a:t>
            </a:r>
          </a:p>
          <a:p>
            <a:endParaRPr lang="en-US" dirty="0"/>
          </a:p>
        </p:txBody>
      </p:sp>
      <p:pic>
        <p:nvPicPr>
          <p:cNvPr id="10" name="Picture 9" descr="wordmark_bfi.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0768" y="5884183"/>
            <a:ext cx="3087245" cy="779162"/>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36203" y="5884183"/>
            <a:ext cx="2038523" cy="825117"/>
          </a:xfrm>
          <a:prstGeom prst="rect">
            <a:avLst/>
          </a:prstGeom>
        </p:spPr>
      </p:pic>
    </p:spTree>
    <p:extLst>
      <p:ext uri="{BB962C8B-B14F-4D97-AF65-F5344CB8AC3E}">
        <p14:creationId xmlns:p14="http://schemas.microsoft.com/office/powerpoint/2010/main" val="103699109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Guide</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Formalization </a:t>
            </a:r>
            <a:r>
              <a:rPr lang="en-US" dirty="0" smtClean="0"/>
              <a:t>28 29 </a:t>
            </a:r>
            <a:r>
              <a:rPr lang="en-US" dirty="0" smtClean="0"/>
              <a:t>30</a:t>
            </a:r>
            <a:endParaRPr lang="en-US" sz="2400" i="1" dirty="0"/>
          </a:p>
          <a:p>
            <a:pPr marL="0" indent="0">
              <a:buNone/>
            </a:pPr>
            <a:endParaRPr lang="en-US" sz="2400" i="1" dirty="0" smtClean="0"/>
          </a:p>
          <a:p>
            <a:pPr lvl="1"/>
            <a:endParaRPr lang="en-US" sz="2400" i="1"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3645649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What is wellbeing?</a:t>
            </a:r>
          </a:p>
          <a:p>
            <a:pPr marL="0" indent="0">
              <a:buNone/>
            </a:pPr>
            <a:r>
              <a:rPr lang="en-US" dirty="0" smtClean="0"/>
              <a:t>What is the “right” space for evaluating inequalities?</a:t>
            </a:r>
            <a:r>
              <a:rPr lang="en-US" dirty="0"/>
              <a:t> </a:t>
            </a:r>
            <a:endParaRPr lang="en-US" sz="2400" i="1" dirty="0" smtClean="0"/>
          </a:p>
          <a:p>
            <a:pPr marL="0" indent="0">
              <a:buNone/>
            </a:pPr>
            <a:r>
              <a:rPr lang="en-US" dirty="0" err="1" smtClean="0"/>
              <a:t>Sen’s</a:t>
            </a:r>
            <a:r>
              <a:rPr lang="en-US" dirty="0" smtClean="0"/>
              <a:t> Answer</a:t>
            </a:r>
            <a:endParaRPr lang="en-US" sz="2400" dirty="0" smtClean="0"/>
          </a:p>
          <a:p>
            <a:pPr marL="457200" lvl="1" indent="0">
              <a:buNone/>
            </a:pPr>
            <a:r>
              <a:rPr lang="en-US" dirty="0" err="1" smtClean="0"/>
              <a:t>Functionings</a:t>
            </a:r>
            <a:r>
              <a:rPr lang="en-US" dirty="0" smtClean="0"/>
              <a:t> </a:t>
            </a:r>
            <a:r>
              <a:rPr lang="en-US" sz="2400" i="1" dirty="0" smtClean="0"/>
              <a:t>Beings and doings that people value and have reason to value</a:t>
            </a:r>
          </a:p>
          <a:p>
            <a:pPr marL="457200" lvl="1" indent="0">
              <a:buNone/>
            </a:pPr>
            <a:r>
              <a:rPr lang="en-US" dirty="0" smtClean="0"/>
              <a:t>Capabilities </a:t>
            </a:r>
            <a:r>
              <a:rPr lang="en-US" sz="2400" i="1" dirty="0" smtClean="0"/>
              <a:t>The collection of </a:t>
            </a:r>
            <a:r>
              <a:rPr lang="en-US" sz="2400" i="1" dirty="0" err="1" smtClean="0"/>
              <a:t>functionings</a:t>
            </a:r>
            <a:r>
              <a:rPr lang="en-US" sz="2400" i="1" dirty="0" smtClean="0"/>
              <a:t> available to people</a:t>
            </a:r>
          </a:p>
          <a:p>
            <a:pPr lvl="1"/>
            <a:endParaRPr lang="en-US" sz="2400" i="1"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72111697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Examples of </a:t>
            </a:r>
            <a:r>
              <a:rPr lang="en-US" dirty="0" err="1" smtClean="0"/>
              <a:t>functionings</a:t>
            </a:r>
            <a:endParaRPr lang="en-US" dirty="0" smtClean="0"/>
          </a:p>
          <a:p>
            <a:pPr marL="457200" lvl="1" indent="0">
              <a:buNone/>
            </a:pPr>
            <a:r>
              <a:rPr lang="en-US" dirty="0" smtClean="0"/>
              <a:t>Being adequately nourished</a:t>
            </a:r>
          </a:p>
          <a:p>
            <a:pPr marL="457200" lvl="1" indent="0">
              <a:buNone/>
            </a:pPr>
            <a:r>
              <a:rPr lang="en-US" dirty="0" smtClean="0"/>
              <a:t>Being free from avoidable disease</a:t>
            </a:r>
          </a:p>
          <a:p>
            <a:pPr marL="457200" lvl="1" indent="0">
              <a:buNone/>
            </a:pPr>
            <a:r>
              <a:rPr lang="en-US" dirty="0" smtClean="0"/>
              <a:t>Being able to take part in the life of the community</a:t>
            </a:r>
          </a:p>
          <a:p>
            <a:pPr marL="457200" lvl="1" indent="0">
              <a:buNone/>
            </a:pPr>
            <a:r>
              <a:rPr lang="en-US" dirty="0" smtClean="0"/>
              <a:t>Having self-respect</a:t>
            </a:r>
          </a:p>
          <a:p>
            <a:pPr marL="57150" indent="0">
              <a:buNone/>
            </a:pPr>
            <a:r>
              <a:rPr lang="en-US" dirty="0" smtClean="0"/>
              <a:t>If can represent each functioning by a continuous variable</a:t>
            </a:r>
          </a:p>
          <a:p>
            <a:pPr marL="457200" lvl="1" indent="0">
              <a:buNone/>
            </a:pPr>
            <a:r>
              <a:rPr lang="en-US" dirty="0" smtClean="0"/>
              <a:t>Have following graph  </a:t>
            </a:r>
            <a:r>
              <a:rPr lang="en-US" sz="2000" dirty="0" smtClean="0">
                <a:solidFill>
                  <a:srgbClr val="7F7F7F"/>
                </a:solidFill>
              </a:rPr>
              <a:t>from Foster and </a:t>
            </a:r>
            <a:r>
              <a:rPr lang="en-US" sz="2000" dirty="0" err="1" smtClean="0">
                <a:solidFill>
                  <a:srgbClr val="7F7F7F"/>
                </a:solidFill>
              </a:rPr>
              <a:t>Sen</a:t>
            </a:r>
            <a:r>
              <a:rPr lang="en-US" sz="2000" dirty="0" smtClean="0">
                <a:solidFill>
                  <a:srgbClr val="7F7F7F"/>
                </a:solidFill>
              </a:rPr>
              <a:t> 1997</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997684688"/>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Capability set and functioning vectors</a:t>
            </a:r>
            <a:endParaRPr lang="en-US" dirty="0"/>
          </a:p>
          <a:p>
            <a:pPr lvl="1"/>
            <a:endParaRPr lang="en-US" sz="2400" i="1"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pic>
        <p:nvPicPr>
          <p:cNvPr id="2" name="Picture 1"/>
          <p:cNvPicPr>
            <a:picLocks noChangeAspect="1"/>
          </p:cNvPicPr>
          <p:nvPr/>
        </p:nvPicPr>
        <p:blipFill>
          <a:blip r:embed="rId3"/>
          <a:stretch>
            <a:fillRect/>
          </a:stretch>
        </p:blipFill>
        <p:spPr>
          <a:xfrm>
            <a:off x="1900769" y="2341034"/>
            <a:ext cx="5092700" cy="3924300"/>
          </a:xfrm>
          <a:prstGeom prst="rect">
            <a:avLst/>
          </a:prstGeom>
        </p:spPr>
      </p:pic>
    </p:spTree>
    <p:extLst>
      <p:ext uri="{BB962C8B-B14F-4D97-AF65-F5344CB8AC3E}">
        <p14:creationId xmlns:p14="http://schemas.microsoft.com/office/powerpoint/2010/main" val="280792458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fontScale="92500" lnSpcReduction="10000"/>
          </a:bodyPr>
          <a:lstStyle/>
          <a:p>
            <a:pPr marL="0" indent="0">
              <a:buNone/>
            </a:pPr>
            <a:r>
              <a:rPr lang="en-US" dirty="0" smtClean="0"/>
              <a:t>Note the distinction between </a:t>
            </a:r>
            <a:r>
              <a:rPr lang="en-US" dirty="0" err="1" smtClean="0"/>
              <a:t>functionings</a:t>
            </a:r>
            <a:r>
              <a:rPr lang="en-US" dirty="0" smtClean="0"/>
              <a:t> and capabilities:</a:t>
            </a:r>
          </a:p>
          <a:p>
            <a:pPr marL="457200" lvl="1" indent="0">
              <a:buNone/>
            </a:pPr>
            <a:r>
              <a:rPr lang="en-US" dirty="0" smtClean="0"/>
              <a:t>Capabilities reflect one’s freedom to choose valuable alternatives; what “could be”</a:t>
            </a:r>
          </a:p>
          <a:p>
            <a:pPr marL="914400" lvl="2" indent="0">
              <a:buNone/>
            </a:pPr>
            <a:r>
              <a:rPr lang="en-US" dirty="0" smtClean="0"/>
              <a:t>Independent </a:t>
            </a:r>
            <a:r>
              <a:rPr lang="en-US" dirty="0"/>
              <a:t>of person’s preferences or choice </a:t>
            </a:r>
            <a:r>
              <a:rPr lang="en-US" dirty="0" smtClean="0"/>
              <a:t>rule</a:t>
            </a:r>
          </a:p>
          <a:p>
            <a:pPr marL="457200" lvl="1" indent="0">
              <a:buNone/>
            </a:pPr>
            <a:r>
              <a:rPr lang="en-US" dirty="0" err="1" smtClean="0"/>
              <a:t>Functionings</a:t>
            </a:r>
            <a:r>
              <a:rPr lang="en-US" dirty="0" smtClean="0"/>
              <a:t> reflect “what is” </a:t>
            </a:r>
            <a:endParaRPr lang="en-US" dirty="0" smtClean="0">
              <a:solidFill>
                <a:srgbClr val="7F7F7F"/>
              </a:solidFill>
            </a:endParaRPr>
          </a:p>
          <a:p>
            <a:pPr marL="914400" lvl="2" indent="0">
              <a:buNone/>
            </a:pPr>
            <a:r>
              <a:rPr lang="en-US" dirty="0"/>
              <a:t>T</a:t>
            </a:r>
            <a:r>
              <a:rPr lang="en-US" dirty="0" smtClean="0"/>
              <a:t>he current </a:t>
            </a:r>
            <a:r>
              <a:rPr lang="en-US" i="1" dirty="0" smtClean="0"/>
              <a:t>achievements </a:t>
            </a:r>
            <a:r>
              <a:rPr lang="en-US" dirty="0" smtClean="0"/>
              <a:t>of the person</a:t>
            </a:r>
          </a:p>
          <a:p>
            <a:pPr marL="914400" lvl="2" indent="0">
              <a:buNone/>
            </a:pPr>
            <a:r>
              <a:rPr lang="en-US" dirty="0" smtClean="0"/>
              <a:t>Which may have much or very little to say about other alternatives (now or in the future)</a:t>
            </a:r>
          </a:p>
          <a:p>
            <a:pPr marL="514350" lvl="1" indent="0">
              <a:buNone/>
            </a:pPr>
            <a:r>
              <a:rPr lang="en-US" dirty="0"/>
              <a:t>Ex: F</a:t>
            </a:r>
            <a:r>
              <a:rPr lang="en-US" dirty="0" smtClean="0"/>
              <a:t>asting is different </a:t>
            </a:r>
            <a:r>
              <a:rPr lang="en-US" dirty="0"/>
              <a:t>from </a:t>
            </a:r>
            <a:r>
              <a:rPr lang="en-US" dirty="0" smtClean="0"/>
              <a:t>starving in capability, not functioning</a:t>
            </a:r>
            <a:endParaRPr lang="en-US" dirty="0">
              <a:solidFill>
                <a:srgbClr val="000000"/>
              </a:solidFill>
            </a:endParaRPr>
          </a:p>
          <a:p>
            <a:pPr marL="514350" lvl="1" indent="0">
              <a:buNone/>
            </a:pPr>
            <a:endParaRPr lang="en-US" dirty="0" smtClean="0">
              <a:solidFill>
                <a:srgbClr val="7F7F7F"/>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846061971"/>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lnSpcReduction="10000"/>
          </a:bodyPr>
          <a:lstStyle/>
          <a:p>
            <a:pPr marL="0" indent="0">
              <a:buNone/>
            </a:pPr>
            <a:r>
              <a:rPr lang="en-US" dirty="0" smtClean="0"/>
              <a:t>Note also that </a:t>
            </a:r>
            <a:r>
              <a:rPr lang="en-US" dirty="0" err="1"/>
              <a:t>f</a:t>
            </a:r>
            <a:r>
              <a:rPr lang="en-US" dirty="0" err="1" smtClean="0"/>
              <a:t>unctionings</a:t>
            </a:r>
            <a:r>
              <a:rPr lang="en-US" dirty="0" smtClean="0"/>
              <a:t> and capabilities (and the associated freedoms) are </a:t>
            </a:r>
          </a:p>
          <a:p>
            <a:pPr marL="457200" lvl="1" indent="0">
              <a:buNone/>
            </a:pPr>
            <a:r>
              <a:rPr lang="en-US" dirty="0" smtClean="0"/>
              <a:t>Ends  </a:t>
            </a:r>
            <a:r>
              <a:rPr lang="en-US" dirty="0" smtClean="0">
                <a:solidFill>
                  <a:srgbClr val="7F7F7F"/>
                </a:solidFill>
              </a:rPr>
              <a:t>desirable in themselves</a:t>
            </a:r>
            <a:endParaRPr lang="en-US" dirty="0"/>
          </a:p>
          <a:p>
            <a:pPr marL="457200" lvl="1" indent="0">
              <a:buNone/>
            </a:pPr>
            <a:r>
              <a:rPr lang="en-US" dirty="0" smtClean="0"/>
              <a:t>Means  </a:t>
            </a:r>
            <a:r>
              <a:rPr lang="en-US" dirty="0" smtClean="0">
                <a:solidFill>
                  <a:srgbClr val="7F7F7F"/>
                </a:solidFill>
              </a:rPr>
              <a:t>instrumental for other ends and means</a:t>
            </a:r>
          </a:p>
          <a:p>
            <a:pPr marL="0" indent="0">
              <a:buNone/>
            </a:pPr>
            <a:r>
              <a:rPr lang="en-US" dirty="0"/>
              <a:t>Ex</a:t>
            </a:r>
          </a:p>
          <a:p>
            <a:pPr marL="457200" lvl="1" indent="0">
              <a:buNone/>
            </a:pPr>
            <a:r>
              <a:rPr lang="en-US" dirty="0"/>
              <a:t>Being healthy is an end in itself and it helps to achieve other ends </a:t>
            </a:r>
            <a:r>
              <a:rPr lang="en-US" dirty="0" smtClean="0"/>
              <a:t>and means </a:t>
            </a:r>
          </a:p>
          <a:p>
            <a:pPr marL="457200" lvl="1" indent="0">
              <a:buNone/>
            </a:pPr>
            <a:r>
              <a:rPr lang="en-US" dirty="0" smtClean="0"/>
              <a:t>Social interaction is an end in itself and it helps to achieve other ends and means</a:t>
            </a:r>
            <a:endParaRPr lang="en-US" dirty="0"/>
          </a:p>
          <a:p>
            <a:pPr lvl="1"/>
            <a:endParaRPr lang="en-US" dirty="0" smtClean="0">
              <a:solidFill>
                <a:srgbClr val="7F7F7F"/>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006509020"/>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Wait a minute – why not just use income?</a:t>
            </a:r>
          </a:p>
          <a:p>
            <a:pPr marL="457200" lvl="1" indent="0">
              <a:buNone/>
            </a:pPr>
            <a:r>
              <a:rPr lang="en-US" dirty="0" smtClean="0"/>
              <a:t>Easy to understand</a:t>
            </a:r>
          </a:p>
          <a:p>
            <a:pPr marL="457200" lvl="1" indent="0">
              <a:buNone/>
            </a:pPr>
            <a:r>
              <a:rPr lang="en-US" dirty="0" smtClean="0"/>
              <a:t>Easy to measure</a:t>
            </a:r>
          </a:p>
          <a:p>
            <a:pPr marL="457200" lvl="1" indent="0">
              <a:buNone/>
            </a:pPr>
            <a:r>
              <a:rPr lang="en-US" dirty="0" smtClean="0"/>
              <a:t>Single dimensional</a:t>
            </a:r>
          </a:p>
          <a:p>
            <a:pPr marL="457200" lvl="1" indent="0">
              <a:buNone/>
            </a:pPr>
            <a:r>
              <a:rPr lang="en-US" dirty="0" smtClean="0"/>
              <a:t>Comparable across people</a:t>
            </a:r>
          </a:p>
          <a:p>
            <a:pPr marL="457200" lvl="1" indent="0">
              <a:buNone/>
            </a:pPr>
            <a:r>
              <a:rPr lang="en-US" dirty="0" smtClean="0"/>
              <a:t>Underlies most evaluations of wellbeing</a:t>
            </a:r>
          </a:p>
          <a:p>
            <a:pPr marL="457200" lvl="1" indent="0">
              <a:buNone/>
            </a:pPr>
            <a:r>
              <a:rPr lang="en-US" dirty="0" smtClean="0"/>
              <a:t>Fungible and policy relevant</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439760181"/>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err="1" smtClean="0"/>
              <a:t>Sen’s</a:t>
            </a:r>
            <a:r>
              <a:rPr lang="en-US" dirty="0" smtClean="0"/>
              <a:t> answer</a:t>
            </a:r>
          </a:p>
          <a:p>
            <a:pPr marL="457200" lvl="1" indent="0">
              <a:buNone/>
            </a:pPr>
            <a:r>
              <a:rPr lang="en-US" dirty="0" smtClean="0"/>
              <a:t>Means, not an end</a:t>
            </a:r>
          </a:p>
          <a:p>
            <a:pPr marL="914400" lvl="2" indent="0">
              <a:buNone/>
            </a:pPr>
            <a:r>
              <a:rPr lang="en-US" dirty="0" smtClean="0"/>
              <a:t>Aristotle: “The life of money-making is one undertaken under compulsion, and wealth is evidently not the good we are seeking, for it is merely useful and for the sake of something else” </a:t>
            </a:r>
            <a:r>
              <a:rPr lang="en-US" sz="1800" i="1" dirty="0" err="1" smtClean="0">
                <a:solidFill>
                  <a:srgbClr val="7F7F7F"/>
                </a:solidFill>
              </a:rPr>
              <a:t>Nicomachean</a:t>
            </a:r>
            <a:r>
              <a:rPr lang="en-US" sz="1800" i="1" dirty="0" smtClean="0">
                <a:solidFill>
                  <a:srgbClr val="7F7F7F"/>
                </a:solidFill>
              </a:rPr>
              <a:t> Ethics </a:t>
            </a:r>
            <a:endParaRPr lang="en-US" i="1" dirty="0" smtClean="0">
              <a:solidFill>
                <a:srgbClr val="7F7F7F"/>
              </a:solidFill>
            </a:endParaRPr>
          </a:p>
          <a:p>
            <a:pPr marL="457200" lvl="1" indent="0">
              <a:buNone/>
            </a:pPr>
            <a:r>
              <a:rPr lang="en-US" dirty="0" smtClean="0"/>
              <a:t>The conversion of means to ends varies dramatically across persons and groups of persons</a:t>
            </a:r>
          </a:p>
          <a:p>
            <a:pPr marL="914400" lvl="2" indent="0">
              <a:buNone/>
            </a:pPr>
            <a:r>
              <a:rPr lang="en-US" dirty="0" smtClean="0"/>
              <a:t>Two persons with the same income</a:t>
            </a:r>
            <a:r>
              <a:rPr lang="en-US" dirty="0"/>
              <a:t> </a:t>
            </a:r>
            <a:r>
              <a:rPr lang="en-US" dirty="0" smtClean="0"/>
              <a:t>may have very different levels of wellbeing if one is very disabled.</a:t>
            </a:r>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1503446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fontScale="77500" lnSpcReduction="20000"/>
          </a:bodyPr>
          <a:lstStyle/>
          <a:p>
            <a:pPr marL="0" indent="0">
              <a:buNone/>
            </a:pPr>
            <a:r>
              <a:rPr lang="en-US" dirty="0" smtClean="0"/>
              <a:t>“The real opportunities that different persons enjoy are very substantially influenced by </a:t>
            </a:r>
            <a:r>
              <a:rPr lang="en-US" b="1" dirty="0" smtClean="0"/>
              <a:t>variations of individual circumstances</a:t>
            </a:r>
            <a:r>
              <a:rPr lang="en-US" dirty="0" smtClean="0"/>
              <a:t> (e.g., age, disability, proneness to illness, special talents, gender, maternity) and also by disparities in the </a:t>
            </a:r>
            <a:r>
              <a:rPr lang="en-US" b="1" dirty="0" smtClean="0"/>
              <a:t>natural and the social environment </a:t>
            </a:r>
            <a:r>
              <a:rPr lang="en-US" dirty="0" smtClean="0"/>
              <a:t>(e.g., epidemiological conditions, extent of pollution, prevalence of local crime). Under these circumstances, an exclusive concentration on inequalities in income distribution cannot be adequate for an understanding of economic inequality”										     								</a:t>
            </a:r>
            <a:r>
              <a:rPr lang="en-US" dirty="0" smtClean="0">
                <a:solidFill>
                  <a:srgbClr val="7F7F7F"/>
                </a:solidFill>
              </a:rPr>
              <a:t>Foster and </a:t>
            </a:r>
            <a:r>
              <a:rPr lang="en-US" dirty="0" err="1" smtClean="0">
                <a:solidFill>
                  <a:srgbClr val="7F7F7F"/>
                </a:solidFill>
              </a:rPr>
              <a:t>Sen</a:t>
            </a:r>
            <a:r>
              <a:rPr lang="en-US" dirty="0" smtClean="0">
                <a:solidFill>
                  <a:srgbClr val="7F7F7F"/>
                </a:solidFill>
              </a:rPr>
              <a:t> (1997)</a:t>
            </a:r>
          </a:p>
          <a:p>
            <a:pPr marL="457200" lvl="1" indent="0">
              <a:buNone/>
            </a:pPr>
            <a:r>
              <a:rPr lang="en-US" dirty="0" smtClean="0">
                <a:solidFill>
                  <a:srgbClr val="000000"/>
                </a:solidFill>
              </a:rPr>
              <a:t>Goodbye to the anonymity axiom of income inequality comparisons</a:t>
            </a:r>
          </a:p>
          <a:p>
            <a:pPr marL="457200" lvl="1" indent="0">
              <a:buNone/>
            </a:pPr>
            <a:r>
              <a:rPr lang="en-US" dirty="0" smtClean="0">
                <a:solidFill>
                  <a:srgbClr val="000000"/>
                </a:solidFill>
              </a:rPr>
              <a:t>Hello multidimensional inequality (and poverty and wellbeing analysis)?</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047791363"/>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fontScale="92500" lnSpcReduction="20000"/>
          </a:bodyPr>
          <a:lstStyle/>
          <a:p>
            <a:pPr marL="0" indent="0">
              <a:buNone/>
            </a:pPr>
            <a:r>
              <a:rPr lang="en-US" dirty="0" smtClean="0"/>
              <a:t>Why not utility?</a:t>
            </a:r>
          </a:p>
          <a:p>
            <a:pPr marL="457200" lvl="1" indent="0">
              <a:buNone/>
            </a:pPr>
            <a:r>
              <a:rPr lang="en-US" dirty="0" smtClean="0"/>
              <a:t>Not cardinally measurable</a:t>
            </a:r>
          </a:p>
          <a:p>
            <a:pPr marL="457200" lvl="1" indent="0">
              <a:buNone/>
            </a:pPr>
            <a:r>
              <a:rPr lang="en-US" dirty="0" smtClean="0"/>
              <a:t>No basis of comparison across persons</a:t>
            </a:r>
          </a:p>
          <a:p>
            <a:pPr marL="457200" lvl="1" indent="0">
              <a:buNone/>
            </a:pPr>
            <a:r>
              <a:rPr lang="en-US" dirty="0" smtClean="0"/>
              <a:t>Subject to adaptation and other variations</a:t>
            </a:r>
          </a:p>
          <a:p>
            <a:pPr marL="914400" lvl="2" indent="0">
              <a:buNone/>
            </a:pPr>
            <a:r>
              <a:rPr lang="en-US" dirty="0" smtClean="0"/>
              <a:t>“That’s to say like if you got a cold you take a shot of malaria”                  </a:t>
            </a:r>
            <a:r>
              <a:rPr lang="en-US" i="1" dirty="0" smtClean="0">
                <a:solidFill>
                  <a:schemeClr val="bg1">
                    <a:lumMod val="50000"/>
                  </a:schemeClr>
                </a:solidFill>
              </a:rPr>
              <a:t>John Birch Paranoid Blues </a:t>
            </a:r>
            <a:r>
              <a:rPr lang="en-US" i="1" dirty="0">
                <a:solidFill>
                  <a:schemeClr val="bg1">
                    <a:lumMod val="50000"/>
                  </a:schemeClr>
                </a:solidFill>
              </a:rPr>
              <a:t> </a:t>
            </a:r>
            <a:r>
              <a:rPr lang="en-US" i="1" dirty="0" smtClean="0">
                <a:solidFill>
                  <a:schemeClr val="bg1">
                    <a:lumMod val="50000"/>
                  </a:schemeClr>
                </a:solidFill>
              </a:rPr>
              <a:t>  </a:t>
            </a:r>
            <a:r>
              <a:rPr lang="en-US" dirty="0" smtClean="0">
                <a:solidFill>
                  <a:schemeClr val="bg1">
                    <a:lumMod val="50000"/>
                  </a:schemeClr>
                </a:solidFill>
              </a:rPr>
              <a:t>Bob Dylan</a:t>
            </a:r>
          </a:p>
          <a:p>
            <a:pPr marL="0" indent="0">
              <a:buNone/>
            </a:pPr>
            <a:r>
              <a:rPr lang="en-US" dirty="0" smtClean="0"/>
              <a:t>Why not the commodity bundle (or budget set)?</a:t>
            </a:r>
          </a:p>
          <a:p>
            <a:pPr marL="457200" lvl="1" indent="0">
              <a:buNone/>
            </a:pPr>
            <a:r>
              <a:rPr lang="en-US" dirty="0" smtClean="0"/>
              <a:t>Means, and subject to very different conversion functions</a:t>
            </a:r>
          </a:p>
          <a:p>
            <a:pPr marL="457200" lvl="1" indent="0">
              <a:buNone/>
            </a:pPr>
            <a:r>
              <a:rPr lang="en-US" dirty="0" smtClean="0">
                <a:solidFill>
                  <a:srgbClr val="7F7F7F"/>
                </a:solidFill>
              </a:rPr>
              <a:t>However useful analogy to functioning vector and capability set</a:t>
            </a:r>
          </a:p>
          <a:p>
            <a:pPr marL="457200" lvl="1" indent="0">
              <a:buNone/>
            </a:pPr>
            <a:endParaRPr lang="en-US"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18317138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There may be other reasons for using </a:t>
            </a:r>
            <a:r>
              <a:rPr lang="en-US" dirty="0" err="1" smtClean="0"/>
              <a:t>functionings</a:t>
            </a:r>
            <a:r>
              <a:rPr lang="en-US" dirty="0" smtClean="0"/>
              <a:t> and capabilities</a:t>
            </a:r>
          </a:p>
          <a:p>
            <a:pPr marL="457200" lvl="1" indent="0">
              <a:buNone/>
            </a:pPr>
            <a:r>
              <a:rPr lang="en-US" dirty="0" smtClean="0"/>
              <a:t>Many key </a:t>
            </a:r>
            <a:r>
              <a:rPr lang="en-US" dirty="0" err="1" smtClean="0"/>
              <a:t>functionings</a:t>
            </a:r>
            <a:r>
              <a:rPr lang="en-US" dirty="0" smtClean="0"/>
              <a:t> are almost stocks </a:t>
            </a:r>
            <a:r>
              <a:rPr lang="en-US" dirty="0" smtClean="0">
                <a:solidFill>
                  <a:schemeClr val="bg1">
                    <a:lumMod val="50000"/>
                  </a:schemeClr>
                </a:solidFill>
              </a:rPr>
              <a:t>(analogous to human capital)</a:t>
            </a:r>
          </a:p>
          <a:p>
            <a:pPr marL="914400" lvl="2" indent="0">
              <a:buNone/>
            </a:pPr>
            <a:r>
              <a:rPr lang="en-US" dirty="0" smtClean="0"/>
              <a:t>May be influenced by current conditions</a:t>
            </a:r>
          </a:p>
          <a:p>
            <a:pPr marL="914400" lvl="2" indent="0">
              <a:buNone/>
            </a:pPr>
            <a:r>
              <a:rPr lang="en-US" dirty="0" smtClean="0"/>
              <a:t>But largely reflect past investments</a:t>
            </a:r>
          </a:p>
          <a:p>
            <a:pPr marL="457200" lvl="1" indent="0">
              <a:buNone/>
            </a:pPr>
            <a:r>
              <a:rPr lang="en-US" dirty="0" smtClean="0"/>
              <a:t>And may be more predictive of future prospects </a:t>
            </a:r>
          </a:p>
          <a:p>
            <a:pPr marL="914400" lvl="2" indent="0">
              <a:buNone/>
            </a:pPr>
            <a:r>
              <a:rPr lang="en-US" dirty="0"/>
              <a:t>E</a:t>
            </a:r>
            <a:r>
              <a:rPr lang="en-US" dirty="0" smtClean="0"/>
              <a:t>specially for children</a:t>
            </a:r>
          </a:p>
          <a:p>
            <a:pPr marL="914400" lvl="2" indent="0">
              <a:buNone/>
            </a:pPr>
            <a:r>
              <a:rPr lang="en-US" dirty="0" smtClean="0"/>
              <a:t>The “pre-distribution” set</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45624195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Motivation</a:t>
            </a:r>
            <a:endParaRPr lang="en-US" dirty="0"/>
          </a:p>
        </p:txBody>
      </p:sp>
      <p:sp>
        <p:nvSpPr>
          <p:cNvPr id="8" name="Content Placeholder 7"/>
          <p:cNvSpPr>
            <a:spLocks noGrp="1"/>
          </p:cNvSpPr>
          <p:nvPr>
            <p:ph idx="1"/>
          </p:nvPr>
        </p:nvSpPr>
        <p:spPr/>
        <p:txBody>
          <a:bodyPr>
            <a:normAutofit fontScale="77500" lnSpcReduction="20000"/>
          </a:bodyPr>
          <a:lstStyle/>
          <a:p>
            <a:pPr marL="0" indent="0">
              <a:buNone/>
            </a:pPr>
            <a:r>
              <a:rPr lang="en-US" dirty="0" smtClean="0"/>
              <a:t>One could argue that this is the shape of the newest version of welfare economics</a:t>
            </a:r>
          </a:p>
          <a:p>
            <a:pPr marL="0" indent="0">
              <a:buNone/>
            </a:pPr>
            <a:r>
              <a:rPr lang="en-US" dirty="0" smtClean="0"/>
              <a:t>Regularly invoked </a:t>
            </a:r>
            <a:r>
              <a:rPr lang="en-US" dirty="0"/>
              <a:t>by Deaton, Heckman, Atkinson, </a:t>
            </a:r>
            <a:r>
              <a:rPr lang="en-US" dirty="0" err="1"/>
              <a:t>Stiglitz</a:t>
            </a:r>
            <a:r>
              <a:rPr lang="en-US" dirty="0"/>
              <a:t>,</a:t>
            </a:r>
            <a:r>
              <a:rPr lang="en-US" dirty="0" smtClean="0"/>
              <a:t>…</a:t>
            </a:r>
          </a:p>
          <a:p>
            <a:pPr marL="457200" lvl="1" indent="0">
              <a:buNone/>
            </a:pPr>
            <a:r>
              <a:rPr lang="en-US" dirty="0" smtClean="0">
                <a:solidFill>
                  <a:srgbClr val="7F7F7F"/>
                </a:solidFill>
              </a:rPr>
              <a:t>Although </a:t>
            </a:r>
            <a:r>
              <a:rPr lang="en-US" dirty="0" err="1" smtClean="0">
                <a:solidFill>
                  <a:srgbClr val="7F7F7F"/>
                </a:solidFill>
              </a:rPr>
              <a:t>Sen</a:t>
            </a:r>
            <a:r>
              <a:rPr lang="en-US" dirty="0" smtClean="0">
                <a:solidFill>
                  <a:srgbClr val="7F7F7F"/>
                </a:solidFill>
              </a:rPr>
              <a:t> regards the capability approach first as </a:t>
            </a:r>
            <a:r>
              <a:rPr lang="en-US" dirty="0" smtClean="0"/>
              <a:t>framework for thought</a:t>
            </a:r>
            <a:r>
              <a:rPr lang="en-US" dirty="0" smtClean="0">
                <a:solidFill>
                  <a:srgbClr val="7F7F7F"/>
                </a:solidFill>
              </a:rPr>
              <a:t>, second as a </a:t>
            </a:r>
            <a:r>
              <a:rPr lang="en-US" dirty="0" smtClean="0">
                <a:solidFill>
                  <a:srgbClr val="000000"/>
                </a:solidFill>
              </a:rPr>
              <a:t>critique</a:t>
            </a:r>
            <a:r>
              <a:rPr lang="en-US" dirty="0" smtClean="0">
                <a:solidFill>
                  <a:srgbClr val="7F7F7F"/>
                </a:solidFill>
              </a:rPr>
              <a:t> of other approaches to welfare evaluation, and only third as a method of making interpersonal comparisons of </a:t>
            </a:r>
            <a:r>
              <a:rPr lang="en-US" dirty="0" smtClean="0">
                <a:solidFill>
                  <a:srgbClr val="000000"/>
                </a:solidFill>
              </a:rPr>
              <a:t>welfare</a:t>
            </a:r>
            <a:r>
              <a:rPr lang="en-US" dirty="0" smtClean="0">
                <a:solidFill>
                  <a:srgbClr val="7F7F7F"/>
                </a:solidFill>
              </a:rPr>
              <a:t>                                       </a:t>
            </a:r>
            <a:r>
              <a:rPr lang="en-US" dirty="0" err="1" smtClean="0">
                <a:solidFill>
                  <a:srgbClr val="7F7F7F"/>
                </a:solidFill>
              </a:rPr>
              <a:t>Robeyns</a:t>
            </a:r>
            <a:r>
              <a:rPr lang="en-US" dirty="0" smtClean="0">
                <a:solidFill>
                  <a:srgbClr val="7F7F7F"/>
                </a:solidFill>
              </a:rPr>
              <a:t> (2000)</a:t>
            </a:r>
          </a:p>
          <a:p>
            <a:pPr marL="0" indent="0">
              <a:buNone/>
            </a:pPr>
            <a:r>
              <a:rPr lang="en-US" dirty="0" smtClean="0"/>
              <a:t>Consequently, let’s dive in. </a:t>
            </a:r>
          </a:p>
          <a:p>
            <a:pPr marL="0" indent="0">
              <a:buNone/>
            </a:pPr>
            <a:r>
              <a:rPr lang="en-US" dirty="0" smtClean="0"/>
              <a:t>Problem</a:t>
            </a:r>
          </a:p>
          <a:p>
            <a:pPr marL="457200" lvl="1" indent="0">
              <a:buNone/>
            </a:pPr>
            <a:r>
              <a:rPr lang="en-US" dirty="0" smtClean="0"/>
              <a:t>Like </a:t>
            </a:r>
            <a:r>
              <a:rPr lang="en-US" dirty="0" err="1" smtClean="0"/>
              <a:t>Sen’s</a:t>
            </a:r>
            <a:r>
              <a:rPr lang="en-US" dirty="0" smtClean="0"/>
              <a:t> Nobel winning work on Social Choice</a:t>
            </a:r>
          </a:p>
          <a:p>
            <a:pPr marL="914400" lvl="2" indent="0">
              <a:buNone/>
            </a:pPr>
            <a:r>
              <a:rPr lang="en-US" dirty="0" smtClean="0"/>
              <a:t>There are two versions of the same theory – one verbal-descriptive the other formal-symbolic</a:t>
            </a:r>
          </a:p>
          <a:p>
            <a:pPr marL="914400" lvl="2" indent="0">
              <a:buNone/>
            </a:pPr>
            <a:r>
              <a:rPr lang="en-US" dirty="0" smtClean="0"/>
              <a:t>Need both</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12692246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Plan</a:t>
            </a:r>
            <a:endParaRPr lang="en-US" dirty="0"/>
          </a:p>
        </p:txBody>
      </p:sp>
      <p:sp>
        <p:nvSpPr>
          <p:cNvPr id="8" name="Content Placeholder 7"/>
          <p:cNvSpPr>
            <a:spLocks noGrp="1"/>
          </p:cNvSpPr>
          <p:nvPr>
            <p:ph idx="1"/>
          </p:nvPr>
        </p:nvSpPr>
        <p:spPr/>
        <p:txBody>
          <a:bodyPr>
            <a:normAutofit fontScale="85000" lnSpcReduction="20000"/>
          </a:bodyPr>
          <a:lstStyle/>
          <a:p>
            <a:pPr marL="0" indent="0">
              <a:buNone/>
            </a:pPr>
            <a:r>
              <a:rPr lang="en-US" dirty="0" smtClean="0"/>
              <a:t>Review the capability approach</a:t>
            </a:r>
          </a:p>
          <a:p>
            <a:pPr marL="457200" lvl="1" indent="0">
              <a:buNone/>
            </a:pPr>
            <a:r>
              <a:rPr lang="en-US" dirty="0" smtClean="0"/>
              <a:t>Origins</a:t>
            </a:r>
          </a:p>
          <a:p>
            <a:pPr marL="457200" lvl="1" indent="0">
              <a:buNone/>
            </a:pPr>
            <a:r>
              <a:rPr lang="en-US" dirty="0" smtClean="0"/>
              <a:t>Definitions</a:t>
            </a:r>
          </a:p>
          <a:p>
            <a:pPr marL="457200" lvl="1" indent="0">
              <a:buNone/>
            </a:pPr>
            <a:r>
              <a:rPr lang="en-US" dirty="0" smtClean="0"/>
              <a:t>Implications</a:t>
            </a:r>
          </a:p>
          <a:p>
            <a:pPr marL="0" indent="0">
              <a:buNone/>
            </a:pPr>
            <a:r>
              <a:rPr lang="en-US" dirty="0" smtClean="0"/>
              <a:t>Explore </a:t>
            </a:r>
            <a:r>
              <a:rPr lang="en-US" dirty="0" smtClean="0"/>
              <a:t>two extensions</a:t>
            </a:r>
          </a:p>
          <a:p>
            <a:pPr marL="457200" lvl="1" indent="0">
              <a:buNone/>
            </a:pPr>
            <a:r>
              <a:rPr lang="en-US" dirty="0" smtClean="0"/>
              <a:t>External capabilities</a:t>
            </a:r>
          </a:p>
          <a:p>
            <a:pPr marL="457200" lvl="1" indent="0">
              <a:buNone/>
            </a:pPr>
            <a:r>
              <a:rPr lang="en-US" dirty="0" smtClean="0"/>
              <a:t>Freedom as flexibility</a:t>
            </a:r>
          </a:p>
          <a:p>
            <a:pPr marL="0" indent="0">
              <a:buNone/>
            </a:pPr>
            <a:r>
              <a:rPr lang="en-US" dirty="0" smtClean="0"/>
              <a:t>Discuss applications</a:t>
            </a:r>
          </a:p>
          <a:p>
            <a:pPr marL="457200" lvl="1" indent="0">
              <a:buNone/>
            </a:pPr>
            <a:r>
              <a:rPr lang="en-US" dirty="0" smtClean="0"/>
              <a:t>Poverty </a:t>
            </a:r>
          </a:p>
          <a:p>
            <a:pPr marL="457200" lvl="1" indent="0">
              <a:buNone/>
            </a:pPr>
            <a:r>
              <a:rPr lang="en-US" dirty="0" smtClean="0"/>
              <a:t>Robustness</a:t>
            </a:r>
          </a:p>
          <a:p>
            <a:pPr marL="457200" lvl="1" indent="0">
              <a:buNone/>
            </a:pPr>
            <a:r>
              <a:rPr lang="en-US" dirty="0" smtClean="0"/>
              <a:t>Capability creation</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16264922"/>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600200"/>
            <a:ext cx="8229600" cy="4895634"/>
          </a:xfrm>
        </p:spPr>
        <p:txBody>
          <a:bodyPr>
            <a:normAutofit/>
          </a:bodyPr>
          <a:lstStyle/>
          <a:p>
            <a:pPr marL="0" indent="0">
              <a:buNone/>
            </a:pPr>
            <a:r>
              <a:rPr lang="en-US" dirty="0" smtClean="0"/>
              <a:t>The capability approach can trace its origins through the ages and across many countries</a:t>
            </a:r>
          </a:p>
          <a:p>
            <a:pPr marL="0" indent="0">
              <a:buNone/>
            </a:pPr>
            <a:r>
              <a:rPr lang="en-US" dirty="0" smtClean="0"/>
              <a:t>Let’s have a quick look round</a:t>
            </a:r>
            <a:endParaRPr lang="en-US" dirty="0"/>
          </a:p>
          <a:p>
            <a:pPr marL="0" indent="0">
              <a:buNone/>
            </a:pPr>
            <a:endParaRPr lang="en-US" dirty="0" smtClean="0"/>
          </a:p>
          <a:p>
            <a:pPr marL="0" indent="0">
              <a:buNone/>
            </a:pPr>
            <a:endParaRPr lang="en-US" dirty="0"/>
          </a:p>
          <a:p>
            <a:pPr marL="0" indent="0">
              <a:buNone/>
            </a:pPr>
            <a:r>
              <a:rPr lang="en-US" dirty="0" smtClean="0"/>
              <a:t>Sources</a:t>
            </a:r>
          </a:p>
          <a:p>
            <a:pPr marL="457200" lvl="1" indent="0">
              <a:buNone/>
            </a:pPr>
            <a:r>
              <a:rPr lang="en-US" dirty="0" err="1" smtClean="0"/>
              <a:t>Basu</a:t>
            </a:r>
            <a:r>
              <a:rPr lang="en-US" dirty="0" smtClean="0"/>
              <a:t> and Lopez </a:t>
            </a:r>
            <a:r>
              <a:rPr lang="en-US" dirty="0" err="1" smtClean="0"/>
              <a:t>Calva</a:t>
            </a:r>
            <a:r>
              <a:rPr lang="en-US" dirty="0" smtClean="0"/>
              <a:t> (2011)</a:t>
            </a:r>
          </a:p>
          <a:p>
            <a:pPr marL="457200" lvl="1" indent="0">
              <a:buNone/>
            </a:pPr>
            <a:r>
              <a:rPr lang="en-US" dirty="0" err="1" smtClean="0"/>
              <a:t>Alkire</a:t>
            </a:r>
            <a:r>
              <a:rPr lang="en-US" dirty="0" smtClean="0"/>
              <a:t> (2013)</a:t>
            </a:r>
          </a:p>
          <a:p>
            <a:pPr lvl="1"/>
            <a:endParaRPr lang="en-US" dirty="0"/>
          </a:p>
          <a:p>
            <a:pPr lvl="2"/>
            <a:endParaRPr lang="en-US" dirty="0" smtClean="0"/>
          </a:p>
          <a:p>
            <a:pPr lvl="2"/>
            <a:endParaRPr lang="en-US" dirty="0" smtClean="0"/>
          </a:p>
          <a:p>
            <a:pPr lvl="2"/>
            <a:endParaRPr lang="en-US" dirty="0" smtClean="0"/>
          </a:p>
          <a:p>
            <a:pPr lvl="2"/>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33026713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600200"/>
            <a:ext cx="8229600" cy="4895634"/>
          </a:xfrm>
        </p:spPr>
        <p:txBody>
          <a:bodyPr>
            <a:normAutofit fontScale="92500" lnSpcReduction="20000"/>
          </a:bodyPr>
          <a:lstStyle/>
          <a:p>
            <a:pPr marL="0" indent="0">
              <a:buNone/>
            </a:pPr>
            <a:r>
              <a:rPr lang="en-US" dirty="0" smtClean="0"/>
              <a:t>Aristotle  </a:t>
            </a:r>
            <a:r>
              <a:rPr lang="en-US" sz="2400" i="1" dirty="0" smtClean="0">
                <a:solidFill>
                  <a:schemeClr val="bg1">
                    <a:lumMod val="50000"/>
                  </a:schemeClr>
                </a:solidFill>
              </a:rPr>
              <a:t>Politics</a:t>
            </a:r>
            <a:r>
              <a:rPr lang="en-US" sz="2400" dirty="0" smtClean="0">
                <a:solidFill>
                  <a:schemeClr val="bg1">
                    <a:lumMod val="50000"/>
                  </a:schemeClr>
                </a:solidFill>
              </a:rPr>
              <a:t> and </a:t>
            </a:r>
            <a:r>
              <a:rPr lang="en-US" sz="2400" i="1" dirty="0" err="1" smtClean="0">
                <a:solidFill>
                  <a:schemeClr val="bg1">
                    <a:lumMod val="50000"/>
                  </a:schemeClr>
                </a:solidFill>
              </a:rPr>
              <a:t>Nicomachean</a:t>
            </a:r>
            <a:r>
              <a:rPr lang="en-US" sz="2400" i="1" dirty="0" smtClean="0">
                <a:solidFill>
                  <a:schemeClr val="bg1">
                    <a:lumMod val="50000"/>
                  </a:schemeClr>
                </a:solidFill>
              </a:rPr>
              <a:t> Ethics</a:t>
            </a:r>
            <a:endParaRPr lang="en-US" i="1" dirty="0" smtClean="0">
              <a:solidFill>
                <a:schemeClr val="bg1">
                  <a:lumMod val="50000"/>
                </a:schemeClr>
              </a:solidFill>
            </a:endParaRPr>
          </a:p>
          <a:p>
            <a:pPr marL="457200" lvl="1" indent="0">
              <a:buNone/>
            </a:pPr>
            <a:r>
              <a:rPr lang="en-US" dirty="0" smtClean="0"/>
              <a:t>What should be the aim of public policy?</a:t>
            </a:r>
          </a:p>
          <a:p>
            <a:pPr marL="914400" lvl="2" indent="0">
              <a:buNone/>
            </a:pPr>
            <a:r>
              <a:rPr lang="en-US" dirty="0" smtClean="0"/>
              <a:t>To provide the conditions that enable people to have a flourishing life </a:t>
            </a:r>
            <a:r>
              <a:rPr lang="en-US" sz="1900" i="1" dirty="0" smtClean="0">
                <a:solidFill>
                  <a:schemeClr val="bg1">
                    <a:lumMod val="50000"/>
                  </a:schemeClr>
                </a:solidFill>
              </a:rPr>
              <a:t>(</a:t>
            </a:r>
            <a:r>
              <a:rPr lang="en-US" sz="1900" i="1" dirty="0" err="1" smtClean="0">
                <a:solidFill>
                  <a:schemeClr val="bg1">
                    <a:lumMod val="50000"/>
                  </a:schemeClr>
                </a:solidFill>
              </a:rPr>
              <a:t>cf</a:t>
            </a:r>
            <a:r>
              <a:rPr lang="en-US" sz="1900" i="1" dirty="0" smtClean="0">
                <a:solidFill>
                  <a:schemeClr val="bg1">
                    <a:lumMod val="50000"/>
                  </a:schemeClr>
                </a:solidFill>
              </a:rPr>
              <a:t>: Bhutan’s GNH)</a:t>
            </a:r>
            <a:endParaRPr lang="en-US" sz="1900" i="1" dirty="0" smtClean="0"/>
          </a:p>
          <a:p>
            <a:pPr marL="914400" lvl="2" indent="0">
              <a:buNone/>
            </a:pPr>
            <a:r>
              <a:rPr lang="en-US" dirty="0" smtClean="0"/>
              <a:t>These conditions help produce the capabilities, or the possibilities of “functioning in certain human ways”</a:t>
            </a:r>
          </a:p>
          <a:p>
            <a:pPr marL="457200" lvl="1" indent="0">
              <a:buNone/>
            </a:pPr>
            <a:r>
              <a:rPr lang="en-US" dirty="0" smtClean="0"/>
              <a:t>Which ways? </a:t>
            </a:r>
          </a:p>
          <a:p>
            <a:pPr marL="914400" lvl="2" indent="0">
              <a:buNone/>
            </a:pPr>
            <a:r>
              <a:rPr lang="en-US" dirty="0"/>
              <a:t>N</a:t>
            </a:r>
            <a:r>
              <a:rPr lang="en-US" dirty="0" smtClean="0"/>
              <a:t>utrition, growth, and other biological ways</a:t>
            </a:r>
          </a:p>
          <a:p>
            <a:pPr marL="914400" lvl="2" indent="0">
              <a:buNone/>
            </a:pPr>
            <a:r>
              <a:rPr lang="en-US" dirty="0" smtClean="0"/>
              <a:t>Exercising choice and practical reason</a:t>
            </a:r>
          </a:p>
          <a:p>
            <a:pPr marL="914400" lvl="2" indent="0">
              <a:buNone/>
            </a:pPr>
            <a:r>
              <a:rPr lang="en-US" dirty="0" smtClean="0"/>
              <a:t>Participating in the political life, etc.</a:t>
            </a:r>
          </a:p>
          <a:p>
            <a:pPr marL="457200" lvl="1" indent="0">
              <a:buNone/>
            </a:pPr>
            <a:r>
              <a:rPr lang="en-US" dirty="0" smtClean="0"/>
              <a:t>What </a:t>
            </a:r>
            <a:r>
              <a:rPr lang="en-US" dirty="0"/>
              <a:t>is “the good”</a:t>
            </a:r>
            <a:r>
              <a:rPr lang="en-US" dirty="0" smtClean="0"/>
              <a:t>?</a:t>
            </a:r>
          </a:p>
          <a:p>
            <a:pPr marL="914400" lvl="2" indent="0">
              <a:buNone/>
            </a:pPr>
            <a:r>
              <a:rPr lang="en-US" dirty="0" smtClean="0"/>
              <a:t>Where all are able to flourish </a:t>
            </a:r>
          </a:p>
          <a:p>
            <a:pPr marL="1371600" lvl="3" indent="0">
              <a:buNone/>
            </a:pPr>
            <a:r>
              <a:rPr lang="en-US" i="1" dirty="0" err="1" smtClean="0">
                <a:solidFill>
                  <a:srgbClr val="7F7F7F"/>
                </a:solidFill>
              </a:rPr>
              <a:t>Eudaimonia</a:t>
            </a:r>
            <a:r>
              <a:rPr lang="en-US" dirty="0" smtClean="0">
                <a:solidFill>
                  <a:srgbClr val="7F7F7F"/>
                </a:solidFill>
              </a:rPr>
              <a:t> (or </a:t>
            </a:r>
            <a:r>
              <a:rPr lang="en-US" i="1" dirty="0" err="1" smtClean="0">
                <a:solidFill>
                  <a:srgbClr val="7F7F7F"/>
                </a:solidFill>
              </a:rPr>
              <a:t>makarios</a:t>
            </a:r>
            <a:r>
              <a:rPr lang="en-US" i="1" dirty="0" smtClean="0">
                <a:solidFill>
                  <a:srgbClr val="7F7F7F"/>
                </a:solidFill>
              </a:rPr>
              <a:t>)</a:t>
            </a:r>
          </a:p>
          <a:p>
            <a:pPr marL="914400" lvl="2" indent="0">
              <a:buNone/>
            </a:pPr>
            <a:r>
              <a:rPr lang="en-US" dirty="0" smtClean="0"/>
              <a:t>Egalitarian in space of capabilities</a:t>
            </a:r>
            <a:endParaRPr lang="en-US" dirty="0"/>
          </a:p>
          <a:p>
            <a:pPr lvl="2"/>
            <a:endParaRPr lang="en-US" dirty="0" smtClean="0"/>
          </a:p>
          <a:p>
            <a:pPr lvl="2"/>
            <a:endParaRPr lang="en-US" dirty="0" smtClean="0"/>
          </a:p>
          <a:p>
            <a:pPr lvl="2"/>
            <a:endParaRPr lang="en-US" dirty="0" smtClean="0"/>
          </a:p>
          <a:p>
            <a:pPr lvl="2"/>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33149888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600199"/>
            <a:ext cx="8229600" cy="4736633"/>
          </a:xfrm>
        </p:spPr>
        <p:txBody>
          <a:bodyPr>
            <a:normAutofit fontScale="77500" lnSpcReduction="20000"/>
          </a:bodyPr>
          <a:lstStyle/>
          <a:p>
            <a:pPr marL="0" indent="0">
              <a:buNone/>
            </a:pPr>
            <a:r>
              <a:rPr lang="en-US" dirty="0" smtClean="0"/>
              <a:t>Marx and Engels </a:t>
            </a:r>
            <a:endParaRPr lang="en-US" i="1" dirty="0" smtClean="0">
              <a:solidFill>
                <a:schemeClr val="bg1">
                  <a:lumMod val="50000"/>
                </a:schemeClr>
              </a:solidFill>
            </a:endParaRPr>
          </a:p>
          <a:p>
            <a:pPr marL="457200" lvl="1" indent="0">
              <a:buNone/>
            </a:pPr>
            <a:r>
              <a:rPr lang="en-US" dirty="0" smtClean="0"/>
              <a:t>Define a commendable human life:</a:t>
            </a:r>
          </a:p>
          <a:p>
            <a:pPr marL="914400" lvl="2" indent="0">
              <a:buNone/>
            </a:pPr>
            <a:r>
              <a:rPr lang="en-US" dirty="0" smtClean="0"/>
              <a:t>Material </a:t>
            </a:r>
            <a:r>
              <a:rPr lang="en-US" dirty="0"/>
              <a:t>(biological</a:t>
            </a:r>
            <a:r>
              <a:rPr lang="en-US" dirty="0" smtClean="0"/>
              <a:t>)</a:t>
            </a:r>
            <a:r>
              <a:rPr lang="en-US" sz="1900" i="1" dirty="0" smtClean="0"/>
              <a:t> </a:t>
            </a:r>
            <a:r>
              <a:rPr lang="en-US" dirty="0" smtClean="0"/>
              <a:t>needs are satisfied</a:t>
            </a:r>
          </a:p>
          <a:p>
            <a:pPr marL="1371600" lvl="3" indent="0">
              <a:buNone/>
            </a:pPr>
            <a:r>
              <a:rPr lang="en-US" sz="1500" dirty="0" smtClean="0"/>
              <a:t>Eating, drinking, dwelling, clothing</a:t>
            </a:r>
          </a:p>
          <a:p>
            <a:pPr marL="914400" lvl="2" indent="0">
              <a:buNone/>
            </a:pPr>
            <a:r>
              <a:rPr lang="en-US" dirty="0" smtClean="0"/>
              <a:t>Human needs (to exercise reasoning) are satisfied</a:t>
            </a:r>
          </a:p>
          <a:p>
            <a:pPr marL="914400" lvl="2" indent="0">
              <a:buNone/>
            </a:pPr>
            <a:r>
              <a:rPr lang="en-US" dirty="0" smtClean="0"/>
              <a:t>Correspond to </a:t>
            </a:r>
            <a:r>
              <a:rPr lang="en-US" dirty="0" err="1" smtClean="0"/>
              <a:t>functionings</a:t>
            </a:r>
            <a:endParaRPr lang="en-US" dirty="0" smtClean="0"/>
          </a:p>
          <a:p>
            <a:pPr marL="457200" lvl="1" indent="0">
              <a:buNone/>
            </a:pPr>
            <a:r>
              <a:rPr lang="en-US" dirty="0" smtClean="0"/>
              <a:t>A liberated society requires freedom in both spheres</a:t>
            </a:r>
          </a:p>
          <a:p>
            <a:pPr marL="914400" lvl="2" indent="0">
              <a:buNone/>
            </a:pPr>
            <a:r>
              <a:rPr lang="en-US" dirty="0" smtClean="0"/>
              <a:t>Enhanced opportunities in material dimensions </a:t>
            </a:r>
          </a:p>
          <a:p>
            <a:pPr marL="1371600" lvl="3" indent="0">
              <a:buNone/>
            </a:pPr>
            <a:r>
              <a:rPr lang="en-US" dirty="0" smtClean="0"/>
              <a:t>“It is not possible to free men if they cannot be assured access to food, drink, housing, and good quality-clothing”</a:t>
            </a:r>
          </a:p>
          <a:p>
            <a:pPr marL="914400" lvl="2" indent="0">
              <a:buNone/>
            </a:pPr>
            <a:r>
              <a:rPr lang="en-US" dirty="0" smtClean="0"/>
              <a:t>Freedom to choose</a:t>
            </a:r>
          </a:p>
          <a:p>
            <a:pPr marL="1371600" lvl="3" indent="0">
              <a:buNone/>
            </a:pPr>
            <a:r>
              <a:rPr lang="en-US" dirty="0" smtClean="0"/>
              <a:t>“…make it possible for me to do one thing to-day and another tomorrow, to hunt in the morning, fish in the afternoon, rear cattle in the evening, criticize after dinner, just as I have in mind, without ever becoming hunter, fisherman, shepherd or critic.”</a:t>
            </a:r>
          </a:p>
          <a:p>
            <a:pPr marL="914400" lvl="2" indent="0">
              <a:buNone/>
            </a:pPr>
            <a:r>
              <a:rPr lang="en-US" dirty="0" smtClean="0"/>
              <a:t>Corresponding to capabilities.</a:t>
            </a:r>
          </a:p>
          <a:p>
            <a:pPr marL="457200" lvl="1" indent="0">
              <a:buNone/>
            </a:pPr>
            <a:r>
              <a:rPr lang="en-US" dirty="0" smtClean="0"/>
              <a:t>“Freedom to” rather than “freedom from” </a:t>
            </a:r>
            <a:r>
              <a:rPr lang="en-US" sz="2100" dirty="0" smtClean="0">
                <a:solidFill>
                  <a:srgbClr val="7F7F7F"/>
                </a:solidFill>
              </a:rPr>
              <a:t>Berlin</a:t>
            </a:r>
            <a:endParaRPr lang="en-US" sz="1800" dirty="0" smtClean="0">
              <a:solidFill>
                <a:srgbClr val="7F7F7F"/>
              </a:solidFill>
            </a:endParaRPr>
          </a:p>
          <a:p>
            <a:pPr lvl="2"/>
            <a:endParaRPr lang="en-US" dirty="0" smtClean="0"/>
          </a:p>
          <a:p>
            <a:pPr lvl="2"/>
            <a:endParaRPr lang="en-US" dirty="0" smtClean="0"/>
          </a:p>
          <a:p>
            <a:pPr lvl="2"/>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56230575"/>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600199"/>
            <a:ext cx="8229600" cy="4736633"/>
          </a:xfrm>
        </p:spPr>
        <p:txBody>
          <a:bodyPr>
            <a:normAutofit fontScale="92500" lnSpcReduction="20000"/>
          </a:bodyPr>
          <a:lstStyle/>
          <a:p>
            <a:pPr marL="0" indent="0">
              <a:buNone/>
            </a:pPr>
            <a:r>
              <a:rPr lang="en-US" sz="3500" dirty="0" smtClean="0"/>
              <a:t>Smith </a:t>
            </a:r>
            <a:endParaRPr lang="en-US" sz="3500" i="1" dirty="0" smtClean="0">
              <a:solidFill>
                <a:schemeClr val="bg1">
                  <a:lumMod val="50000"/>
                </a:schemeClr>
              </a:solidFill>
            </a:endParaRPr>
          </a:p>
          <a:p>
            <a:pPr marL="457200" lvl="1" indent="0">
              <a:buNone/>
            </a:pPr>
            <a:r>
              <a:rPr lang="en-US" sz="2200" dirty="0" smtClean="0">
                <a:solidFill>
                  <a:srgbClr val="7F7F7F"/>
                </a:solidFill>
              </a:rPr>
              <a:t>While discussing commodity taxation, defining which commodities are necessaries and which are luxuries</a:t>
            </a:r>
          </a:p>
          <a:p>
            <a:pPr marL="457200" lvl="1" indent="0">
              <a:buNone/>
            </a:pPr>
            <a:r>
              <a:rPr lang="en-US" sz="2600" dirty="0"/>
              <a:t>E</a:t>
            </a:r>
            <a:r>
              <a:rPr lang="en-US" sz="2600" dirty="0" smtClean="0"/>
              <a:t>mphasizes the instrumental use of commodities in satisfying material </a:t>
            </a:r>
            <a:r>
              <a:rPr lang="en-US" sz="2600" i="1" dirty="0" smtClean="0"/>
              <a:t>and social</a:t>
            </a:r>
            <a:r>
              <a:rPr lang="en-US" sz="2600" dirty="0" smtClean="0"/>
              <a:t> needs </a:t>
            </a:r>
          </a:p>
          <a:p>
            <a:pPr marL="914400" lvl="2" indent="0">
              <a:buNone/>
            </a:pPr>
            <a:r>
              <a:rPr lang="en-US" sz="2200" dirty="0"/>
              <a:t>By necessaries I understand not only the commodities which are indispensably necessary for the support of life, but whatever the custom of the country renders it indecent for creditable people, even of the lowest order, to be without. A linen shirt, for example, is, strictly speaking, not a necessary of life. The Greeks and Romans lived, I suppose, very comfortably though they had no linen. But in the present times, through the greater part of Europe, </a:t>
            </a:r>
            <a:r>
              <a:rPr lang="en-US" sz="2200" b="1" dirty="0"/>
              <a:t>a creditable day-</a:t>
            </a:r>
            <a:r>
              <a:rPr lang="en-US" sz="2200" b="1" dirty="0" err="1"/>
              <a:t>labourer</a:t>
            </a:r>
            <a:r>
              <a:rPr lang="en-US" sz="2200" b="1" dirty="0"/>
              <a:t> would be ashamed to appear in public without a linen shirt</a:t>
            </a:r>
            <a:r>
              <a:rPr lang="en-US" sz="2200" dirty="0"/>
              <a:t>, the want of which would be supposed to denote that disgraceful degree of poverty which, it is presumed, nobody can well fall into without extreme bad conduct. </a:t>
            </a:r>
            <a:endParaRPr lang="en-US" dirty="0" smtClean="0"/>
          </a:p>
          <a:p>
            <a:pPr lvl="2"/>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917526151"/>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lnSpcReduction="10000"/>
          </a:bodyPr>
          <a:lstStyle/>
          <a:p>
            <a:pPr marL="0" indent="0">
              <a:buNone/>
            </a:pPr>
            <a:r>
              <a:rPr lang="en-US" sz="3500" dirty="0" smtClean="0"/>
              <a:t>Smith </a:t>
            </a:r>
            <a:endParaRPr lang="en-US" sz="2200" i="1" dirty="0" smtClean="0">
              <a:solidFill>
                <a:schemeClr val="bg1">
                  <a:lumMod val="50000"/>
                </a:schemeClr>
              </a:solidFill>
            </a:endParaRPr>
          </a:p>
          <a:p>
            <a:pPr marL="914400" lvl="2" indent="0">
              <a:buNone/>
            </a:pPr>
            <a:r>
              <a:rPr lang="en-US" sz="2200" dirty="0" smtClean="0">
                <a:solidFill>
                  <a:srgbClr val="7F7F7F"/>
                </a:solidFill>
              </a:rPr>
              <a:t>(Continued) </a:t>
            </a:r>
            <a:r>
              <a:rPr lang="en-US" sz="2200" dirty="0" smtClean="0"/>
              <a:t>Custom, in the same manner, has rendered leather shoes a necessary of life in England. The poorest creditable person of either sex would be ashamed to appear in public without them. In Scotland, custom has rendered them a necessary of life to the lowest order of men; but not to the same order of women, who may, without any discredit, walk about barefooted. In France they are necessaries neither to men nor to women, the lowest rank of both sexes appearing there publicly, without any discredit, sometimes in wooden shoes, and sometimes barefooted. Under necessaries, therefore, I comprehend </a:t>
            </a:r>
            <a:r>
              <a:rPr lang="en-US" sz="2200" b="1" dirty="0" smtClean="0"/>
              <a:t>not only those things which nature, but those things which the established rules of decency have rendered necessary to the lowest rank of people</a:t>
            </a:r>
            <a:r>
              <a:rPr lang="en-US" sz="2200" dirty="0" smtClean="0"/>
              <a:t>.</a:t>
            </a:r>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3079368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a:bodyPr>
          <a:lstStyle/>
          <a:p>
            <a:pPr marL="0" indent="0">
              <a:buNone/>
            </a:pPr>
            <a:r>
              <a:rPr lang="en-US" sz="3500" dirty="0" smtClean="0"/>
              <a:t>Smith </a:t>
            </a:r>
            <a:endParaRPr lang="en-US" sz="2200" i="1" dirty="0" smtClean="0">
              <a:solidFill>
                <a:schemeClr val="bg1">
                  <a:lumMod val="50000"/>
                </a:schemeClr>
              </a:solidFill>
            </a:endParaRPr>
          </a:p>
          <a:p>
            <a:pPr marL="457200" lvl="1" indent="0">
              <a:buNone/>
            </a:pPr>
            <a:r>
              <a:rPr lang="en-US" sz="3000" dirty="0" smtClean="0"/>
              <a:t>If commodities are instrumental, what are the ends?</a:t>
            </a:r>
            <a:endParaRPr lang="en-US" sz="2600" dirty="0" smtClean="0"/>
          </a:p>
          <a:p>
            <a:pPr marL="914400" lvl="2" indent="0">
              <a:buNone/>
            </a:pPr>
            <a:r>
              <a:rPr lang="en-US" sz="2600" dirty="0" smtClean="0"/>
              <a:t>Human </a:t>
            </a:r>
            <a:r>
              <a:rPr lang="en-US" sz="2600" dirty="0" err="1" smtClean="0"/>
              <a:t>functionings</a:t>
            </a:r>
            <a:r>
              <a:rPr lang="en-US" sz="2600" dirty="0" smtClean="0"/>
              <a:t> </a:t>
            </a:r>
          </a:p>
          <a:p>
            <a:pPr marL="1371600" lvl="3" indent="0">
              <a:buNone/>
            </a:pPr>
            <a:r>
              <a:rPr lang="en-US" sz="2200" dirty="0" smtClean="0"/>
              <a:t>Including usual basic ones like having enough to eat, having adequate shelter</a:t>
            </a:r>
          </a:p>
          <a:p>
            <a:pPr marL="1371600" lvl="3" indent="0">
              <a:buNone/>
            </a:pPr>
            <a:r>
              <a:rPr lang="en-US" sz="2200" dirty="0" smtClean="0"/>
              <a:t>But also social interaction, dignity and participation in the life of the community</a:t>
            </a:r>
          </a:p>
          <a:p>
            <a:pPr marL="914400" lvl="2" indent="0">
              <a:buNone/>
            </a:pPr>
            <a:r>
              <a:rPr lang="en-US" dirty="0" smtClean="0">
                <a:solidFill>
                  <a:schemeClr val="bg1">
                    <a:lumMod val="50000"/>
                  </a:schemeClr>
                </a:solidFill>
              </a:rPr>
              <a:t>Implications: See “Poor, Relatively Speaking” by </a:t>
            </a:r>
            <a:r>
              <a:rPr lang="en-US" dirty="0" err="1" smtClean="0">
                <a:solidFill>
                  <a:schemeClr val="bg1">
                    <a:lumMod val="50000"/>
                  </a:schemeClr>
                </a:solidFill>
              </a:rPr>
              <a:t>Sen</a:t>
            </a:r>
            <a:endParaRPr lang="en-US" dirty="0" smtClean="0">
              <a:solidFill>
                <a:schemeClr val="bg1">
                  <a:lumMod val="50000"/>
                </a:schemeClr>
              </a:solidFill>
            </a:endParaRPr>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197571359"/>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fontScale="92500" lnSpcReduction="20000"/>
          </a:bodyPr>
          <a:lstStyle/>
          <a:p>
            <a:pPr marL="0" indent="0">
              <a:buNone/>
            </a:pPr>
            <a:r>
              <a:rPr lang="en-US" sz="3500" dirty="0" err="1" smtClean="0"/>
              <a:t>Sen</a:t>
            </a:r>
            <a:r>
              <a:rPr lang="en-US" sz="3500" dirty="0" smtClean="0"/>
              <a:t> </a:t>
            </a:r>
            <a:endParaRPr lang="en-US" sz="2200" i="1" dirty="0" smtClean="0">
              <a:solidFill>
                <a:schemeClr val="bg1">
                  <a:lumMod val="50000"/>
                </a:schemeClr>
              </a:solidFill>
            </a:endParaRPr>
          </a:p>
          <a:p>
            <a:pPr marL="457200" lvl="1" indent="0">
              <a:buNone/>
            </a:pPr>
            <a:r>
              <a:rPr lang="en-US" sz="3000" dirty="0" smtClean="0"/>
              <a:t>1980  “Equality of What” </a:t>
            </a:r>
            <a:r>
              <a:rPr lang="en-US" sz="3000" i="1" dirty="0" smtClean="0">
                <a:solidFill>
                  <a:srgbClr val="7F7F7F"/>
                </a:solidFill>
              </a:rPr>
              <a:t>Capabilities, given diversity of people</a:t>
            </a:r>
          </a:p>
          <a:p>
            <a:pPr marL="457200" lvl="1" indent="0">
              <a:buNone/>
            </a:pPr>
            <a:r>
              <a:rPr lang="en-US" sz="3000" dirty="0" smtClean="0"/>
              <a:t>1983  “Poor,</a:t>
            </a:r>
            <a:r>
              <a:rPr lang="en-US" sz="3000" dirty="0"/>
              <a:t> </a:t>
            </a:r>
            <a:r>
              <a:rPr lang="en-US" sz="3000" dirty="0" smtClean="0"/>
              <a:t>Relatively Speaking” </a:t>
            </a:r>
            <a:r>
              <a:rPr lang="en-US" sz="3000" i="1" dirty="0" smtClean="0">
                <a:solidFill>
                  <a:srgbClr val="7F7F7F"/>
                </a:solidFill>
              </a:rPr>
              <a:t>Absolute poverty standard in capabilities</a:t>
            </a:r>
          </a:p>
          <a:p>
            <a:pPr marL="457200" lvl="1" indent="0">
              <a:buNone/>
            </a:pPr>
            <a:r>
              <a:rPr lang="en-US" sz="3000" dirty="0" smtClean="0"/>
              <a:t>1984  </a:t>
            </a:r>
            <a:r>
              <a:rPr lang="en-US" sz="3000" i="1" dirty="0" smtClean="0"/>
              <a:t>Commodities and Capabilities </a:t>
            </a:r>
            <a:r>
              <a:rPr lang="en-US" sz="3000" i="1" dirty="0" smtClean="0">
                <a:solidFill>
                  <a:schemeClr val="bg1">
                    <a:lumMod val="50000"/>
                  </a:schemeClr>
                </a:solidFill>
              </a:rPr>
              <a:t>Brief and clear presentation of CA</a:t>
            </a:r>
            <a:endParaRPr lang="en-US" sz="2600" i="1" dirty="0" smtClean="0">
              <a:solidFill>
                <a:schemeClr val="bg1">
                  <a:lumMod val="50000"/>
                </a:schemeClr>
              </a:solidFill>
            </a:endParaRPr>
          </a:p>
          <a:p>
            <a:pPr marL="457200" lvl="1" indent="0">
              <a:buNone/>
            </a:pPr>
            <a:r>
              <a:rPr lang="en-US" sz="3000" dirty="0" smtClean="0"/>
              <a:t>1992  </a:t>
            </a:r>
            <a:r>
              <a:rPr lang="en-US" sz="3000" i="1" dirty="0" smtClean="0"/>
              <a:t>Inequality Re-examined  </a:t>
            </a:r>
            <a:r>
              <a:rPr lang="en-US" sz="3000" i="1" dirty="0">
                <a:solidFill>
                  <a:srgbClr val="7F7F7F"/>
                </a:solidFill>
              </a:rPr>
              <a:t>S</a:t>
            </a:r>
            <a:r>
              <a:rPr lang="en-US" sz="3000" i="1" dirty="0" smtClean="0">
                <a:solidFill>
                  <a:srgbClr val="7F7F7F"/>
                </a:solidFill>
              </a:rPr>
              <a:t>ummary of work in context of inequality and poverty – any theory of justice requires equality in some space – argues for capabilities as the right space given the diversity of people</a:t>
            </a:r>
            <a:endParaRPr lang="en-US" sz="3000" i="1" dirty="0" smtClean="0"/>
          </a:p>
          <a:p>
            <a:pPr marL="457200" lvl="1" indent="0">
              <a:buNone/>
            </a:pPr>
            <a:endParaRPr lang="en-US" sz="3000" i="1" dirty="0" smtClean="0">
              <a:solidFill>
                <a:srgbClr val="7F7F7F"/>
              </a:solidFill>
            </a:endParaRPr>
          </a:p>
          <a:p>
            <a:pPr lvl="2"/>
            <a:endParaRPr lang="en-US" dirty="0" smtClean="0"/>
          </a:p>
          <a:p>
            <a:pPr lvl="2"/>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10511858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fontScale="85000" lnSpcReduction="20000"/>
          </a:bodyPr>
          <a:lstStyle/>
          <a:p>
            <a:pPr marL="0" indent="0">
              <a:buNone/>
            </a:pPr>
            <a:r>
              <a:rPr lang="en-US" sz="3500" dirty="0" err="1" smtClean="0"/>
              <a:t>Sen</a:t>
            </a:r>
            <a:r>
              <a:rPr lang="en-US" sz="3500" dirty="0" smtClean="0"/>
              <a:t> </a:t>
            </a:r>
            <a:endParaRPr lang="en-US" sz="2200" i="1" dirty="0" smtClean="0">
              <a:solidFill>
                <a:schemeClr val="bg1">
                  <a:lumMod val="50000"/>
                </a:schemeClr>
              </a:solidFill>
            </a:endParaRPr>
          </a:p>
          <a:p>
            <a:pPr marL="457200" lvl="1" indent="0">
              <a:buNone/>
            </a:pPr>
            <a:r>
              <a:rPr lang="en-US" sz="3000" dirty="0" smtClean="0"/>
              <a:t>1993  </a:t>
            </a:r>
            <a:r>
              <a:rPr lang="en-US" sz="3000" i="1" dirty="0" smtClean="0"/>
              <a:t>Quality of Life </a:t>
            </a:r>
            <a:r>
              <a:rPr lang="en-US" sz="3000" dirty="0" smtClean="0"/>
              <a:t>(with Nussbaum) </a:t>
            </a:r>
            <a:r>
              <a:rPr lang="en-US" sz="3000" i="1" dirty="0" smtClean="0">
                <a:solidFill>
                  <a:srgbClr val="7F7F7F"/>
                </a:solidFill>
              </a:rPr>
              <a:t>outcome of WIDER project (philosophers and economists)</a:t>
            </a:r>
            <a:endParaRPr lang="en-US" sz="3000" dirty="0" smtClean="0"/>
          </a:p>
          <a:p>
            <a:pPr marL="457200" lvl="1" indent="0">
              <a:buNone/>
            </a:pPr>
            <a:r>
              <a:rPr lang="en-US" sz="3000" dirty="0" smtClean="0"/>
              <a:t>1999  </a:t>
            </a:r>
            <a:r>
              <a:rPr lang="en-US" sz="3000" i="1" dirty="0" smtClean="0"/>
              <a:t>Development as Freedom </a:t>
            </a:r>
            <a:r>
              <a:rPr lang="en-US" sz="3000" i="1" dirty="0">
                <a:solidFill>
                  <a:srgbClr val="7F7F7F"/>
                </a:solidFill>
              </a:rPr>
              <a:t>s</a:t>
            </a:r>
            <a:r>
              <a:rPr lang="en-US" sz="3000" i="1" dirty="0" smtClean="0">
                <a:solidFill>
                  <a:srgbClr val="7F7F7F"/>
                </a:solidFill>
              </a:rPr>
              <a:t>ynthesis following Nobel</a:t>
            </a:r>
            <a:endParaRPr lang="en-US" sz="3000" i="1" dirty="0" smtClean="0"/>
          </a:p>
          <a:p>
            <a:pPr marL="457200" lvl="1" indent="0">
              <a:buNone/>
            </a:pPr>
            <a:r>
              <a:rPr lang="en-US" sz="3000" dirty="0" smtClean="0"/>
              <a:t>2009  </a:t>
            </a:r>
            <a:r>
              <a:rPr lang="en-US" sz="3000" i="1" dirty="0" smtClean="0"/>
              <a:t>The Idea of Justice goes </a:t>
            </a:r>
            <a:r>
              <a:rPr lang="en-US" sz="3000" i="1" dirty="0" smtClean="0">
                <a:solidFill>
                  <a:srgbClr val="7F7F7F"/>
                </a:solidFill>
              </a:rPr>
              <a:t>beyond capability approach to discuss principles of justice and processes</a:t>
            </a:r>
          </a:p>
          <a:p>
            <a:pPr marL="457200" lvl="1" indent="0">
              <a:buNone/>
            </a:pPr>
            <a:endParaRPr lang="en-US" sz="3000" i="1" dirty="0" smtClean="0">
              <a:solidFill>
                <a:srgbClr val="7F7F7F"/>
              </a:solidFill>
            </a:endParaRPr>
          </a:p>
          <a:p>
            <a:pPr marL="457200" lvl="1" indent="0">
              <a:buNone/>
            </a:pPr>
            <a:r>
              <a:rPr lang="en-US" sz="3000" i="1" dirty="0" smtClean="0">
                <a:solidFill>
                  <a:srgbClr val="7F7F7F"/>
                </a:solidFill>
              </a:rPr>
              <a:t>Theme: Approach was parallel to and </a:t>
            </a:r>
            <a:r>
              <a:rPr lang="en-US" sz="3000" i="1" smtClean="0">
                <a:solidFill>
                  <a:srgbClr val="7F7F7F"/>
                </a:solidFill>
              </a:rPr>
              <a:t>grew out of </a:t>
            </a:r>
            <a:r>
              <a:rPr lang="en-US" sz="3000" i="1" dirty="0" smtClean="0">
                <a:solidFill>
                  <a:srgbClr val="7F7F7F"/>
                </a:solidFill>
              </a:rPr>
              <a:t>applied and policy work: 70’s Basic needs approach, 80’s growth should be people based, or focused on human ends, 90’s annual thematic Human Development Reports by UNDP</a:t>
            </a:r>
          </a:p>
          <a:p>
            <a:pPr marL="457200" lvl="1" indent="0">
              <a:buNone/>
            </a:pPr>
            <a:endParaRPr lang="en-US" sz="3000" i="1" dirty="0" smtClean="0">
              <a:solidFill>
                <a:srgbClr val="7F7F7F"/>
              </a:solidFill>
            </a:endParaRPr>
          </a:p>
          <a:p>
            <a:pPr lvl="2"/>
            <a:endParaRPr lang="en-US" dirty="0" smtClean="0"/>
          </a:p>
          <a:p>
            <a:pPr lvl="2"/>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825130243"/>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a:bodyPr>
          <a:lstStyle/>
          <a:p>
            <a:pPr marL="0" indent="0">
              <a:buNone/>
            </a:pPr>
            <a:r>
              <a:rPr lang="en-US" sz="2800" dirty="0" smtClean="0"/>
              <a:t>Nussbaum</a:t>
            </a:r>
            <a:endParaRPr lang="en-US" sz="2800" dirty="0"/>
          </a:p>
          <a:p>
            <a:pPr marL="457200" lvl="1" indent="0">
              <a:buNone/>
            </a:pPr>
            <a:r>
              <a:rPr lang="en-US" sz="2400" dirty="0" smtClean="0"/>
              <a:t>1990 </a:t>
            </a:r>
            <a:r>
              <a:rPr lang="en-US" sz="2400" dirty="0"/>
              <a:t>“Aristotelian Social </a:t>
            </a:r>
            <a:r>
              <a:rPr lang="en-US" sz="2400" dirty="0" smtClean="0"/>
              <a:t>Democracy”</a:t>
            </a:r>
            <a:endParaRPr lang="en-US" sz="2400" dirty="0"/>
          </a:p>
          <a:p>
            <a:pPr marL="457200" lvl="1" indent="0">
              <a:buNone/>
            </a:pPr>
            <a:r>
              <a:rPr lang="en-US" sz="2400" dirty="0" smtClean="0"/>
              <a:t>1993 </a:t>
            </a:r>
            <a:r>
              <a:rPr lang="en-US" sz="2400" i="1" dirty="0" smtClean="0"/>
              <a:t>Quality </a:t>
            </a:r>
            <a:r>
              <a:rPr lang="en-US" sz="2400" i="1" dirty="0"/>
              <a:t>of </a:t>
            </a:r>
            <a:r>
              <a:rPr lang="en-US" sz="2400" i="1" dirty="0" smtClean="0"/>
              <a:t>Life </a:t>
            </a:r>
            <a:r>
              <a:rPr lang="en-US" sz="2400" dirty="0" smtClean="0"/>
              <a:t>(Edited with </a:t>
            </a:r>
            <a:r>
              <a:rPr lang="en-US" sz="2400" dirty="0" err="1" smtClean="0"/>
              <a:t>Sen</a:t>
            </a:r>
            <a:r>
              <a:rPr lang="en-US" sz="2400" dirty="0" smtClean="0"/>
              <a:t>)</a:t>
            </a:r>
            <a:endParaRPr lang="en-US" sz="2400" dirty="0"/>
          </a:p>
          <a:p>
            <a:pPr marL="457200" lvl="1" indent="0">
              <a:buNone/>
            </a:pPr>
            <a:r>
              <a:rPr lang="en-US" sz="2400" dirty="0" smtClean="0"/>
              <a:t>1995 </a:t>
            </a:r>
            <a:r>
              <a:rPr lang="en-US" sz="2400" i="1" dirty="0"/>
              <a:t>Women Culture and </a:t>
            </a:r>
            <a:r>
              <a:rPr lang="en-US" sz="2400" i="1" dirty="0" smtClean="0"/>
              <a:t>Development </a:t>
            </a:r>
            <a:endParaRPr lang="en-US" sz="2400" i="1" dirty="0"/>
          </a:p>
          <a:p>
            <a:pPr marL="457200" lvl="1" indent="0">
              <a:buNone/>
            </a:pPr>
            <a:r>
              <a:rPr lang="en-US" sz="2400" dirty="0" smtClean="0"/>
              <a:t>2000  </a:t>
            </a:r>
            <a:r>
              <a:rPr lang="en-US" sz="2400" i="1" dirty="0"/>
              <a:t>Women and Human Development:  The Capabilities </a:t>
            </a:r>
            <a:r>
              <a:rPr lang="en-US" sz="2400" i="1" dirty="0" smtClean="0"/>
              <a:t>Approach</a:t>
            </a:r>
            <a:endParaRPr lang="en-US" sz="2400" dirty="0" smtClean="0"/>
          </a:p>
          <a:p>
            <a:pPr marL="457200" lvl="1" indent="0">
              <a:buNone/>
            </a:pPr>
            <a:r>
              <a:rPr lang="en-US" sz="2400" dirty="0" smtClean="0"/>
              <a:t>2011 </a:t>
            </a:r>
            <a:r>
              <a:rPr lang="en-US" sz="2400" i="1" dirty="0"/>
              <a:t>Creating </a:t>
            </a:r>
            <a:r>
              <a:rPr lang="en-US" sz="2400" i="1" dirty="0" smtClean="0"/>
              <a:t>Capabilities</a:t>
            </a:r>
          </a:p>
          <a:p>
            <a:pPr marL="457200" lvl="1" indent="0">
              <a:buNone/>
            </a:pPr>
            <a:r>
              <a:rPr lang="en-US" sz="2400" i="1" dirty="0" smtClean="0"/>
              <a:t>Many other authors</a:t>
            </a:r>
          </a:p>
          <a:p>
            <a:pPr marL="457200" lvl="1" indent="0">
              <a:buNone/>
            </a:pPr>
            <a:endParaRPr lang="en-US" i="1" dirty="0" smtClean="0"/>
          </a:p>
          <a:p>
            <a:pPr lvl="2"/>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322613296"/>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fontScale="77500" lnSpcReduction="20000"/>
          </a:bodyPr>
          <a:lstStyle/>
          <a:p>
            <a:pPr marL="0" indent="0">
              <a:buNone/>
            </a:pPr>
            <a:r>
              <a:rPr lang="en-US" sz="3600" dirty="0" smtClean="0"/>
              <a:t>Nussbaum</a:t>
            </a:r>
            <a:endParaRPr lang="en-US" sz="3600" dirty="0"/>
          </a:p>
          <a:p>
            <a:pPr marL="457200" lvl="1" indent="0">
              <a:buNone/>
            </a:pPr>
            <a:r>
              <a:rPr lang="en-US" sz="3100" dirty="0" smtClean="0"/>
              <a:t>Includes list of categories of capabilities</a:t>
            </a:r>
          </a:p>
          <a:p>
            <a:pPr marL="457200" lvl="1" indent="0">
              <a:buNone/>
            </a:pPr>
            <a:r>
              <a:rPr lang="en-US" i="1" dirty="0" smtClean="0">
                <a:solidFill>
                  <a:srgbClr val="A6A6A6"/>
                </a:solidFill>
              </a:rPr>
              <a:t>1. </a:t>
            </a:r>
            <a:r>
              <a:rPr lang="en-US" i="1" dirty="0">
                <a:solidFill>
                  <a:srgbClr val="A6A6A6"/>
                </a:solidFill>
              </a:rPr>
              <a:t>Life: not dying prematurely</a:t>
            </a:r>
          </a:p>
          <a:p>
            <a:pPr marL="457200" lvl="1" indent="0">
              <a:buNone/>
            </a:pPr>
            <a:r>
              <a:rPr lang="en-US" i="1" dirty="0">
                <a:solidFill>
                  <a:srgbClr val="A6A6A6"/>
                </a:solidFill>
              </a:rPr>
              <a:t>2. Bodily health: good health; adequately nourished; shelter</a:t>
            </a:r>
          </a:p>
          <a:p>
            <a:pPr marL="457200" lvl="1" indent="0">
              <a:buNone/>
            </a:pPr>
            <a:r>
              <a:rPr lang="en-US" i="1" dirty="0">
                <a:solidFill>
                  <a:srgbClr val="A6A6A6"/>
                </a:solidFill>
              </a:rPr>
              <a:t>3. Bodily integrity; mobility; free from violence; choice in sex and reproduction</a:t>
            </a:r>
          </a:p>
          <a:p>
            <a:pPr marL="457200" lvl="1" indent="0">
              <a:buNone/>
            </a:pPr>
            <a:r>
              <a:rPr lang="en-US" i="1" dirty="0">
                <a:solidFill>
                  <a:srgbClr val="A6A6A6"/>
                </a:solidFill>
              </a:rPr>
              <a:t>4. Senses, imagination, and thought: education, religion, art</a:t>
            </a:r>
          </a:p>
          <a:p>
            <a:pPr marL="457200" lvl="1" indent="0">
              <a:buNone/>
            </a:pPr>
            <a:r>
              <a:rPr lang="en-US" i="1" dirty="0">
                <a:solidFill>
                  <a:srgbClr val="A6A6A6"/>
                </a:solidFill>
              </a:rPr>
              <a:t>5. Emotions: attachments, love</a:t>
            </a:r>
          </a:p>
          <a:p>
            <a:pPr marL="457200" lvl="1" indent="0">
              <a:buNone/>
            </a:pPr>
            <a:r>
              <a:rPr lang="en-US" i="1" dirty="0">
                <a:solidFill>
                  <a:srgbClr val="A6A6A6"/>
                </a:solidFill>
              </a:rPr>
              <a:t>6. Practical reason: form conception of the good, planning of life</a:t>
            </a:r>
          </a:p>
          <a:p>
            <a:pPr marL="457200" lvl="1" indent="0">
              <a:buNone/>
            </a:pPr>
            <a:r>
              <a:rPr lang="en-US" i="1" dirty="0">
                <a:solidFill>
                  <a:srgbClr val="A6A6A6"/>
                </a:solidFill>
              </a:rPr>
              <a:t>7. Affiliation: social interaction; respect and dignity</a:t>
            </a:r>
          </a:p>
          <a:p>
            <a:pPr marL="457200" lvl="1" indent="0">
              <a:buNone/>
            </a:pPr>
            <a:r>
              <a:rPr lang="en-US" i="1" dirty="0">
                <a:solidFill>
                  <a:srgbClr val="A6A6A6"/>
                </a:solidFill>
              </a:rPr>
              <a:t>8. Other species: concern and relation to animals, plants, nature</a:t>
            </a:r>
          </a:p>
          <a:p>
            <a:pPr marL="457200" lvl="1" indent="0">
              <a:buNone/>
            </a:pPr>
            <a:r>
              <a:rPr lang="en-US" i="1" dirty="0">
                <a:solidFill>
                  <a:srgbClr val="A6A6A6"/>
                </a:solidFill>
              </a:rPr>
              <a:t>9. Play: laugh, play, enjoy recreational activities</a:t>
            </a:r>
          </a:p>
          <a:p>
            <a:pPr marL="457200" lvl="1" indent="0">
              <a:buNone/>
            </a:pPr>
            <a:r>
              <a:rPr lang="en-US" i="1" dirty="0">
                <a:solidFill>
                  <a:srgbClr val="A6A6A6"/>
                </a:solidFill>
              </a:rPr>
              <a:t>10. Control over one’s environment: political participation; property, employment.</a:t>
            </a:r>
          </a:p>
          <a:p>
            <a:pPr lvl="1"/>
            <a:endParaRPr lang="en-US" i="1"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568104163"/>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Origins</a:t>
            </a:r>
            <a:endParaRPr lang="en-US" dirty="0"/>
          </a:p>
        </p:txBody>
      </p:sp>
      <p:sp>
        <p:nvSpPr>
          <p:cNvPr id="8" name="Content Placeholder 7"/>
          <p:cNvSpPr>
            <a:spLocks noGrp="1"/>
          </p:cNvSpPr>
          <p:nvPr>
            <p:ph idx="1"/>
          </p:nvPr>
        </p:nvSpPr>
        <p:spPr>
          <a:xfrm>
            <a:off x="457200" y="1544975"/>
            <a:ext cx="8229600" cy="4736633"/>
          </a:xfrm>
        </p:spPr>
        <p:txBody>
          <a:bodyPr>
            <a:normAutofit lnSpcReduction="10000"/>
          </a:bodyPr>
          <a:lstStyle/>
          <a:p>
            <a:pPr marL="0" indent="0">
              <a:buNone/>
            </a:pPr>
            <a:r>
              <a:rPr lang="en-US" sz="3600" dirty="0" err="1" smtClean="0"/>
              <a:t>Sen</a:t>
            </a:r>
            <a:endParaRPr lang="en-US" sz="3600" dirty="0"/>
          </a:p>
          <a:p>
            <a:pPr marL="457200" lvl="1" indent="0">
              <a:buNone/>
            </a:pPr>
            <a:r>
              <a:rPr lang="en-US" dirty="0" smtClean="0"/>
              <a:t>Produces no list (reasons)</a:t>
            </a:r>
          </a:p>
          <a:p>
            <a:pPr marL="457200" lvl="1" indent="0">
              <a:buNone/>
            </a:pPr>
            <a:r>
              <a:rPr lang="en-US" dirty="0" smtClean="0"/>
              <a:t>Critique</a:t>
            </a:r>
          </a:p>
          <a:p>
            <a:pPr marL="914400" lvl="2" indent="0">
              <a:buNone/>
            </a:pPr>
            <a:r>
              <a:rPr lang="en-US" dirty="0" smtClean="0"/>
              <a:t>Unfinished theory (</a:t>
            </a:r>
            <a:r>
              <a:rPr lang="en-US" dirty="0" err="1" smtClean="0"/>
              <a:t>Romer</a:t>
            </a:r>
            <a:r>
              <a:rPr lang="en-US" dirty="0" smtClean="0"/>
              <a:t>, </a:t>
            </a:r>
            <a:r>
              <a:rPr lang="en-US" dirty="0" err="1" smtClean="0"/>
              <a:t>Blume</a:t>
            </a:r>
            <a:r>
              <a:rPr lang="en-US" dirty="0" smtClean="0"/>
              <a:t>)</a:t>
            </a:r>
          </a:p>
          <a:p>
            <a:pPr marL="457200" lvl="1" indent="0">
              <a:buNone/>
            </a:pPr>
            <a:r>
              <a:rPr lang="en-US" dirty="0" err="1" smtClean="0"/>
              <a:t>Sen</a:t>
            </a:r>
            <a:r>
              <a:rPr lang="en-US" dirty="0" smtClean="0"/>
              <a:t> would argue flexible</a:t>
            </a:r>
          </a:p>
          <a:p>
            <a:pPr marL="914400" lvl="2" indent="0">
              <a:buNone/>
            </a:pPr>
            <a:r>
              <a:rPr lang="en-US" dirty="0" smtClean="0"/>
              <a:t>This interpretation is empirically validated – many, many papers are using the approach</a:t>
            </a:r>
          </a:p>
          <a:p>
            <a:pPr marL="457200" lvl="1" indent="0">
              <a:buNone/>
            </a:pPr>
            <a:r>
              <a:rPr lang="en-US" dirty="0" err="1" smtClean="0"/>
              <a:t>Sen</a:t>
            </a:r>
            <a:r>
              <a:rPr lang="en-US" dirty="0" smtClean="0"/>
              <a:t> would agree that the capability approach is not a complete theory of justice </a:t>
            </a:r>
          </a:p>
          <a:p>
            <a:pPr marL="914400" lvl="2" indent="0">
              <a:buNone/>
            </a:pPr>
            <a:r>
              <a:rPr lang="en-US" dirty="0"/>
              <a:t>P</a:t>
            </a:r>
            <a:r>
              <a:rPr lang="en-US" dirty="0" smtClean="0"/>
              <a:t>artial and incremental</a:t>
            </a:r>
            <a:endParaRPr lang="en-US" dirty="0"/>
          </a:p>
          <a:p>
            <a:pPr lvl="1"/>
            <a:endParaRPr lang="en-US" i="1"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160327910"/>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Capability Approach: Description</a:t>
            </a:r>
            <a:endParaRPr lang="en-US" dirty="0"/>
          </a:p>
        </p:txBody>
      </p:sp>
      <p:sp>
        <p:nvSpPr>
          <p:cNvPr id="8" name="Content Placeholder 7"/>
          <p:cNvSpPr>
            <a:spLocks noGrp="1"/>
          </p:cNvSpPr>
          <p:nvPr>
            <p:ph idx="1"/>
          </p:nvPr>
        </p:nvSpPr>
        <p:spPr/>
        <p:txBody>
          <a:bodyPr>
            <a:normAutofit lnSpcReduction="10000"/>
          </a:bodyPr>
          <a:lstStyle/>
          <a:p>
            <a:pPr marL="0" indent="0">
              <a:buNone/>
            </a:pPr>
            <a:r>
              <a:rPr lang="en-US" dirty="0" smtClean="0"/>
              <a:t>We begin with a verbal </a:t>
            </a:r>
            <a:r>
              <a:rPr lang="en-US" dirty="0" smtClean="0"/>
              <a:t>and graphical description </a:t>
            </a:r>
            <a:r>
              <a:rPr lang="en-US" dirty="0" smtClean="0"/>
              <a:t>of the capability approach</a:t>
            </a:r>
          </a:p>
          <a:p>
            <a:pPr marL="457200" lvl="1" indent="0">
              <a:buNone/>
            </a:pPr>
            <a:endParaRPr lang="en-US" dirty="0" smtClean="0"/>
          </a:p>
          <a:p>
            <a:pPr marL="0" indent="0">
              <a:buNone/>
            </a:pPr>
            <a:r>
              <a:rPr lang="en-US" dirty="0" smtClean="0"/>
              <a:t>Sources</a:t>
            </a:r>
          </a:p>
          <a:p>
            <a:pPr marL="457200" lvl="1" indent="0">
              <a:buNone/>
            </a:pPr>
            <a:r>
              <a:rPr lang="en-US" dirty="0" err="1" smtClean="0"/>
              <a:t>Alkire</a:t>
            </a:r>
            <a:r>
              <a:rPr lang="en-US" dirty="0" smtClean="0"/>
              <a:t> (2013)</a:t>
            </a:r>
          </a:p>
          <a:p>
            <a:pPr marL="457200" lvl="1" indent="0">
              <a:buNone/>
            </a:pPr>
            <a:r>
              <a:rPr lang="en-US" dirty="0" smtClean="0"/>
              <a:t>Foster and </a:t>
            </a:r>
            <a:r>
              <a:rPr lang="en-US" dirty="0" err="1" smtClean="0"/>
              <a:t>Sen</a:t>
            </a:r>
            <a:r>
              <a:rPr lang="en-US" dirty="0" smtClean="0"/>
              <a:t> (1997)</a:t>
            </a:r>
          </a:p>
          <a:p>
            <a:pPr marL="457200" lvl="1" indent="0">
              <a:buNone/>
            </a:pPr>
            <a:r>
              <a:rPr lang="en-US" dirty="0" err="1" smtClean="0"/>
              <a:t>Sen</a:t>
            </a:r>
            <a:r>
              <a:rPr lang="en-US" dirty="0" smtClean="0"/>
              <a:t> (1999)</a:t>
            </a:r>
          </a:p>
          <a:p>
            <a:pPr marL="457200" lvl="1" indent="0">
              <a:buNone/>
            </a:pPr>
            <a:r>
              <a:rPr lang="en-US" dirty="0" smtClean="0"/>
              <a:t>Foster and Handy (2008)</a:t>
            </a:r>
          </a:p>
          <a:p>
            <a:pPr marL="457200" lvl="1" indent="0">
              <a:buNone/>
            </a:pPr>
            <a:r>
              <a:rPr lang="en-US" dirty="0" err="1" smtClean="0"/>
              <a:t>Basu</a:t>
            </a:r>
            <a:r>
              <a:rPr lang="en-US" dirty="0" smtClean="0"/>
              <a:t> and Lopez </a:t>
            </a:r>
            <a:r>
              <a:rPr lang="en-US" dirty="0" err="1" smtClean="0"/>
              <a:t>Calva</a:t>
            </a:r>
            <a:r>
              <a:rPr lang="en-US" dirty="0" smtClean="0"/>
              <a:t> (2011)</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210295512"/>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fontScale="92500" lnSpcReduction="10000"/>
          </a:bodyPr>
          <a:lstStyle/>
          <a:p>
            <a:pPr marL="0" indent="0">
              <a:buNone/>
            </a:pPr>
            <a:r>
              <a:rPr lang="en-US" dirty="0" smtClean="0"/>
              <a:t>What is it?</a:t>
            </a:r>
          </a:p>
          <a:p>
            <a:pPr marL="400050" lvl="1" indent="0">
              <a:buNone/>
            </a:pPr>
            <a:r>
              <a:rPr lang="en-US" dirty="0" err="1" smtClean="0"/>
              <a:t>Sen’s</a:t>
            </a:r>
            <a:r>
              <a:rPr lang="en-US" dirty="0" smtClean="0"/>
              <a:t> capability approach is a moral</a:t>
            </a:r>
            <a:r>
              <a:rPr lang="en-US" dirty="0">
                <a:solidFill>
                  <a:srgbClr val="7F7F7F"/>
                </a:solidFill>
              </a:rPr>
              <a:t> </a:t>
            </a:r>
            <a:r>
              <a:rPr lang="en-US" dirty="0" smtClean="0">
                <a:solidFill>
                  <a:srgbClr val="7F7F7F"/>
                </a:solidFill>
              </a:rPr>
              <a:t>(evaluative, or normative) </a:t>
            </a:r>
            <a:r>
              <a:rPr lang="en-US" dirty="0" smtClean="0"/>
              <a:t>framework </a:t>
            </a:r>
            <a:r>
              <a:rPr lang="en-US" dirty="0"/>
              <a:t>that </a:t>
            </a:r>
            <a:r>
              <a:rPr lang="en-US" dirty="0" smtClean="0"/>
              <a:t>proposes that </a:t>
            </a:r>
            <a:r>
              <a:rPr lang="en-US" i="1" dirty="0"/>
              <a:t>social arrangements should be primarily evaluated according to the extent of freedom people have to promote or achieve </a:t>
            </a:r>
            <a:r>
              <a:rPr lang="en-US" i="1" dirty="0" err="1"/>
              <a:t>functionings</a:t>
            </a:r>
            <a:r>
              <a:rPr lang="en-US" i="1" dirty="0"/>
              <a:t> they </a:t>
            </a:r>
            <a:r>
              <a:rPr lang="en-US" i="1" dirty="0" smtClean="0"/>
              <a:t>value.</a:t>
            </a:r>
          </a:p>
          <a:p>
            <a:pPr marL="0" indent="0">
              <a:buNone/>
            </a:pPr>
            <a:endParaRPr lang="en-US" dirty="0" smtClean="0"/>
          </a:p>
          <a:p>
            <a:pPr marL="0" indent="0">
              <a:buNone/>
            </a:pPr>
            <a:r>
              <a:rPr lang="en-US" dirty="0" smtClean="0">
                <a:solidFill>
                  <a:schemeClr val="bg1">
                    <a:lumMod val="65000"/>
                  </a:schemeClr>
                </a:solidFill>
              </a:rPr>
              <a:t>Theme</a:t>
            </a:r>
            <a:r>
              <a:rPr lang="en-US" dirty="0" smtClean="0"/>
              <a:t> </a:t>
            </a:r>
          </a:p>
          <a:p>
            <a:pPr marL="400050" lvl="1" indent="0">
              <a:buNone/>
            </a:pPr>
            <a:r>
              <a:rPr lang="en-US" dirty="0" smtClean="0">
                <a:solidFill>
                  <a:schemeClr val="bg1">
                    <a:lumMod val="50000"/>
                  </a:schemeClr>
                </a:solidFill>
              </a:rPr>
              <a:t>In many of </a:t>
            </a:r>
            <a:r>
              <a:rPr lang="en-US" dirty="0" err="1" smtClean="0">
                <a:solidFill>
                  <a:schemeClr val="bg1">
                    <a:lumMod val="50000"/>
                  </a:schemeClr>
                </a:solidFill>
              </a:rPr>
              <a:t>Sen’s</a:t>
            </a:r>
            <a:r>
              <a:rPr lang="en-US" dirty="0" smtClean="0">
                <a:solidFill>
                  <a:schemeClr val="bg1">
                    <a:lumMod val="50000"/>
                  </a:schemeClr>
                </a:solidFill>
              </a:rPr>
              <a:t> writings, the language is not entirely self evident; much of understanding </a:t>
            </a:r>
            <a:r>
              <a:rPr lang="en-US" dirty="0" err="1" smtClean="0">
                <a:solidFill>
                  <a:schemeClr val="bg1">
                    <a:lumMod val="50000"/>
                  </a:schemeClr>
                </a:solidFill>
              </a:rPr>
              <a:t>Sen</a:t>
            </a:r>
            <a:r>
              <a:rPr lang="en-US" dirty="0" smtClean="0">
                <a:solidFill>
                  <a:schemeClr val="bg1">
                    <a:lumMod val="50000"/>
                  </a:schemeClr>
                </a:solidFill>
              </a:rPr>
              <a:t> is understanding why the specific language is used.</a:t>
            </a:r>
            <a:endParaRPr lang="en-US" dirty="0">
              <a:solidFill>
                <a:schemeClr val="bg1">
                  <a:lumMod val="50000"/>
                </a:schemeClr>
              </a:solidFill>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660516878"/>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Capability</a:t>
            </a:r>
          </a:p>
          <a:p>
            <a:pPr>
              <a:lnSpc>
                <a:spcPct val="90000"/>
              </a:lnSpc>
            </a:pPr>
            <a:r>
              <a:rPr lang="en-GB" sz="2800" dirty="0">
                <a:latin typeface="Calibri"/>
                <a:cs typeface="Calibri"/>
              </a:rPr>
              <a:t>the various combinations of </a:t>
            </a:r>
            <a:r>
              <a:rPr lang="en-GB" sz="2800" dirty="0" err="1">
                <a:latin typeface="Calibri"/>
                <a:cs typeface="Calibri"/>
              </a:rPr>
              <a:t>functionings</a:t>
            </a:r>
            <a:r>
              <a:rPr lang="en-GB" sz="2800" dirty="0">
                <a:latin typeface="Calibri"/>
                <a:cs typeface="Calibri"/>
              </a:rPr>
              <a:t> (beings and doings) that the person can achieve.  [It] is, thus, a set of vectors of </a:t>
            </a:r>
            <a:r>
              <a:rPr lang="en-GB" sz="2800" dirty="0" err="1">
                <a:latin typeface="Calibri"/>
                <a:cs typeface="Calibri"/>
              </a:rPr>
              <a:t>functionings</a:t>
            </a:r>
            <a:r>
              <a:rPr lang="en-GB" sz="2800" dirty="0">
                <a:latin typeface="Calibri"/>
                <a:cs typeface="Calibri"/>
              </a:rPr>
              <a:t>, reflecting the person’s freedom to lead one type of life or another...to choose from possible livings.</a:t>
            </a:r>
            <a:r>
              <a:rPr lang="en-GB" sz="2800" i="1" dirty="0">
                <a:latin typeface="Calibri"/>
                <a:cs typeface="Calibri"/>
              </a:rPr>
              <a:t> </a:t>
            </a:r>
            <a:r>
              <a:rPr lang="en-GB" sz="2800" dirty="0">
                <a:latin typeface="Calibri"/>
                <a:cs typeface="Calibri"/>
              </a:rPr>
              <a:t> (</a:t>
            </a:r>
            <a:r>
              <a:rPr lang="en-GB" sz="2800" i="1" dirty="0">
                <a:latin typeface="Calibri"/>
                <a:cs typeface="Calibri"/>
              </a:rPr>
              <a:t>Inequality Re-examined)</a:t>
            </a:r>
          </a:p>
          <a:p>
            <a:pPr>
              <a:lnSpc>
                <a:spcPct val="90000"/>
              </a:lnSpc>
            </a:pPr>
            <a:r>
              <a:rPr lang="en-GB" sz="2800" i="1" dirty="0" smtClean="0">
                <a:latin typeface="Calibri"/>
                <a:cs typeface="Calibri"/>
              </a:rPr>
              <a:t>Analogous to a </a:t>
            </a:r>
            <a:r>
              <a:rPr lang="en-GB" sz="2800" i="1" dirty="0">
                <a:latin typeface="Calibri"/>
                <a:cs typeface="Calibri"/>
              </a:rPr>
              <a:t>budget set</a:t>
            </a:r>
          </a:p>
          <a:p>
            <a:pPr marL="0" indent="0">
              <a:buNone/>
            </a:pPr>
            <a:endParaRPr lang="en-US"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266597088"/>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Capability</a:t>
            </a:r>
          </a:p>
          <a:p>
            <a:pPr>
              <a:lnSpc>
                <a:spcPct val="90000"/>
              </a:lnSpc>
            </a:pPr>
            <a:r>
              <a:rPr lang="en-US" sz="2800" dirty="0">
                <a:latin typeface="Calibri"/>
                <a:cs typeface="Calibri"/>
              </a:rPr>
              <a:t>“The focus here is on the freedom that a person actually has to do this or be that – things that he or she may value doing or being.” </a:t>
            </a:r>
            <a:r>
              <a:rPr lang="en-US" sz="2800" i="1" dirty="0">
                <a:latin typeface="Calibri"/>
                <a:cs typeface="Calibri"/>
              </a:rPr>
              <a:t>Idea of Justice </a:t>
            </a:r>
            <a:r>
              <a:rPr lang="en-US" sz="2800" dirty="0">
                <a:latin typeface="Calibri"/>
                <a:cs typeface="Calibri"/>
              </a:rPr>
              <a:t>232</a:t>
            </a:r>
          </a:p>
          <a:p>
            <a:pPr>
              <a:lnSpc>
                <a:spcPct val="90000"/>
              </a:lnSpc>
            </a:pPr>
            <a:r>
              <a:rPr lang="en-US" sz="2800" dirty="0" err="1" smtClean="0">
                <a:latin typeface="Calibri"/>
                <a:cs typeface="Calibri"/>
              </a:rPr>
              <a:t>Alkire</a:t>
            </a:r>
            <a:r>
              <a:rPr lang="en-US" sz="2800" dirty="0" smtClean="0">
                <a:latin typeface="Calibri"/>
                <a:cs typeface="Calibri"/>
              </a:rPr>
              <a:t>: All </a:t>
            </a:r>
            <a:r>
              <a:rPr lang="en-US" sz="2800" dirty="0">
                <a:latin typeface="Calibri"/>
                <a:cs typeface="Calibri"/>
              </a:rPr>
              <a:t>formulations of capability have two parts:  freedom and valuable beings and doings (</a:t>
            </a:r>
            <a:r>
              <a:rPr lang="en-US" sz="2800" dirty="0" err="1">
                <a:latin typeface="Calibri"/>
                <a:cs typeface="Calibri"/>
              </a:rPr>
              <a:t>functionings</a:t>
            </a:r>
            <a:r>
              <a:rPr lang="en-US" sz="2800" dirty="0">
                <a:latin typeface="Calibri"/>
                <a:cs typeface="Calibri"/>
              </a:rPr>
              <a:t>).  </a:t>
            </a:r>
            <a:r>
              <a:rPr lang="en-US" sz="2800" dirty="0" err="1">
                <a:latin typeface="Calibri"/>
                <a:cs typeface="Calibri"/>
              </a:rPr>
              <a:t>Sen’s</a:t>
            </a:r>
            <a:r>
              <a:rPr lang="en-US" sz="2800" dirty="0">
                <a:latin typeface="Calibri"/>
                <a:cs typeface="Calibri"/>
              </a:rPr>
              <a:t> key contribution has been to unite the two concepts.</a:t>
            </a:r>
          </a:p>
          <a:p>
            <a:pPr marL="0" indent="0">
              <a:buNone/>
            </a:pPr>
            <a:endParaRPr lang="en-US"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290347925"/>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sz="3600" dirty="0" err="1" smtClean="0"/>
              <a:t>Functionings</a:t>
            </a:r>
            <a:endParaRPr lang="en-US" sz="3600" dirty="0" smtClean="0"/>
          </a:p>
          <a:p>
            <a:pPr marL="400050" lvl="1" indent="0">
              <a:lnSpc>
                <a:spcPct val="90000"/>
              </a:lnSpc>
              <a:buNone/>
            </a:pPr>
            <a:r>
              <a:rPr lang="en-US" dirty="0">
                <a:cs typeface="Calibri"/>
              </a:rPr>
              <a:t>The various things a person may value and have reason to value doing or being</a:t>
            </a:r>
          </a:p>
          <a:p>
            <a:pPr lvl="2" indent="-342900">
              <a:lnSpc>
                <a:spcPct val="90000"/>
              </a:lnSpc>
            </a:pPr>
            <a:r>
              <a:rPr lang="en-US" dirty="0" smtClean="0">
                <a:cs typeface="Calibri"/>
              </a:rPr>
              <a:t>Intuitive  </a:t>
            </a:r>
            <a:r>
              <a:rPr lang="en-US" i="1" dirty="0" smtClean="0">
                <a:solidFill>
                  <a:srgbClr val="A6A6A6"/>
                </a:solidFill>
                <a:cs typeface="Calibri"/>
              </a:rPr>
              <a:t>abstract but understandable</a:t>
            </a:r>
            <a:endParaRPr lang="en-US" i="1" dirty="0">
              <a:cs typeface="Calibri"/>
            </a:endParaRPr>
          </a:p>
          <a:p>
            <a:pPr lvl="2" indent="-342900">
              <a:lnSpc>
                <a:spcPct val="90000"/>
              </a:lnSpc>
            </a:pPr>
            <a:r>
              <a:rPr lang="en-US" dirty="0" smtClean="0">
                <a:cs typeface="Calibri"/>
              </a:rPr>
              <a:t>intrinsically </a:t>
            </a:r>
            <a:r>
              <a:rPr lang="en-US" dirty="0">
                <a:cs typeface="Calibri"/>
              </a:rPr>
              <a:t>valuable to the </a:t>
            </a:r>
            <a:r>
              <a:rPr lang="en-US" dirty="0" smtClean="0">
                <a:cs typeface="Calibri"/>
              </a:rPr>
              <a:t>person  </a:t>
            </a:r>
            <a:r>
              <a:rPr lang="en-US" i="1" dirty="0" smtClean="0">
                <a:solidFill>
                  <a:schemeClr val="bg1">
                    <a:lumMod val="65000"/>
                  </a:schemeClr>
                </a:solidFill>
                <a:cs typeface="Calibri"/>
              </a:rPr>
              <a:t>not just instrumental</a:t>
            </a:r>
            <a:endParaRPr lang="en-US" i="1" dirty="0">
              <a:cs typeface="Calibri"/>
            </a:endParaRPr>
          </a:p>
          <a:p>
            <a:pPr lvl="2" indent="-342900">
              <a:lnSpc>
                <a:spcPct val="90000"/>
              </a:lnSpc>
            </a:pPr>
            <a:r>
              <a:rPr lang="en-US" dirty="0" smtClean="0">
                <a:cs typeface="Calibri"/>
              </a:rPr>
              <a:t>intrinsic </a:t>
            </a:r>
            <a:r>
              <a:rPr lang="en-US" dirty="0">
                <a:cs typeface="Calibri"/>
              </a:rPr>
              <a:t>value (have reason to value</a:t>
            </a:r>
            <a:r>
              <a:rPr lang="en-US" dirty="0" smtClean="0">
                <a:cs typeface="Calibri"/>
              </a:rPr>
              <a:t>) </a:t>
            </a:r>
            <a:r>
              <a:rPr lang="en-US" i="1" dirty="0" smtClean="0">
                <a:solidFill>
                  <a:srgbClr val="A6A6A6"/>
                </a:solidFill>
                <a:cs typeface="Calibri"/>
              </a:rPr>
              <a:t>broccoli</a:t>
            </a:r>
            <a:endParaRPr lang="en-US" i="1" dirty="0">
              <a:cs typeface="Calibri"/>
            </a:endParaRPr>
          </a:p>
          <a:p>
            <a:pPr lvl="2" indent="-342900">
              <a:lnSpc>
                <a:spcPct val="90000"/>
              </a:lnSpc>
            </a:pPr>
            <a:r>
              <a:rPr lang="en-US" dirty="0" smtClean="0">
                <a:cs typeface="Calibri"/>
              </a:rPr>
              <a:t>so </a:t>
            </a:r>
            <a:r>
              <a:rPr lang="en-US" dirty="0">
                <a:cs typeface="Calibri"/>
              </a:rPr>
              <a:t>avoids adaptive </a:t>
            </a:r>
            <a:r>
              <a:rPr lang="en-US" dirty="0" smtClean="0">
                <a:cs typeface="Calibri"/>
              </a:rPr>
              <a:t>preferences  </a:t>
            </a:r>
            <a:r>
              <a:rPr lang="en-US" i="1" dirty="0" smtClean="0">
                <a:solidFill>
                  <a:srgbClr val="A6A6A6"/>
                </a:solidFill>
                <a:cs typeface="Calibri"/>
              </a:rPr>
              <a:t>on further reflection would not value</a:t>
            </a:r>
            <a:endParaRPr lang="en-US" i="1" dirty="0">
              <a:cs typeface="Calibri"/>
            </a:endParaRPr>
          </a:p>
          <a:p>
            <a:pPr lvl="2" indent="-342900">
              <a:lnSpc>
                <a:spcPct val="90000"/>
              </a:lnSpc>
            </a:pPr>
            <a:r>
              <a:rPr lang="en-US" dirty="0" smtClean="0">
                <a:cs typeface="Calibri"/>
              </a:rPr>
              <a:t>‘</a:t>
            </a:r>
            <a:r>
              <a:rPr lang="en-US" dirty="0">
                <a:cs typeface="Calibri"/>
              </a:rPr>
              <a:t>doings and beings’ is our focal </a:t>
            </a:r>
            <a:r>
              <a:rPr lang="en-US" dirty="0" smtClean="0">
                <a:cs typeface="Calibri"/>
              </a:rPr>
              <a:t>space </a:t>
            </a:r>
            <a:r>
              <a:rPr lang="en-US" i="1" dirty="0" smtClean="0">
                <a:solidFill>
                  <a:srgbClr val="A6A6A6"/>
                </a:solidFill>
                <a:cs typeface="Calibri"/>
              </a:rPr>
              <a:t> the space of human lives</a:t>
            </a:r>
            <a:endParaRPr lang="en-US"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31538362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lnSpcReduction="10000"/>
          </a:bodyPr>
          <a:lstStyle/>
          <a:p>
            <a:pPr marL="0" indent="0">
              <a:buNone/>
            </a:pPr>
            <a:r>
              <a:rPr lang="en-US" sz="3600" dirty="0" err="1" smtClean="0"/>
              <a:t>Functionings</a:t>
            </a:r>
            <a:endParaRPr lang="en-US" sz="3600" dirty="0" smtClean="0"/>
          </a:p>
          <a:p>
            <a:pPr marL="0" indent="0">
              <a:buNone/>
            </a:pPr>
            <a:r>
              <a:rPr lang="en-US" dirty="0" smtClean="0"/>
              <a:t>Examples</a:t>
            </a:r>
          </a:p>
          <a:p>
            <a:pPr marL="800100" lvl="2" indent="0">
              <a:lnSpc>
                <a:spcPct val="90000"/>
              </a:lnSpc>
              <a:buNone/>
            </a:pPr>
            <a:r>
              <a:rPr lang="en-US" dirty="0" smtClean="0">
                <a:cs typeface="Calibri"/>
              </a:rPr>
              <a:t>Resources      Capability       </a:t>
            </a:r>
            <a:r>
              <a:rPr lang="en-US" dirty="0" err="1" smtClean="0">
                <a:cs typeface="Calibri"/>
              </a:rPr>
              <a:t>Functionings</a:t>
            </a:r>
            <a:r>
              <a:rPr lang="en-US" dirty="0" smtClean="0">
                <a:cs typeface="Calibri"/>
              </a:rPr>
              <a:t>      Utility</a:t>
            </a:r>
          </a:p>
          <a:p>
            <a:pPr lvl="2" indent="-342900">
              <a:lnSpc>
                <a:spcPct val="90000"/>
              </a:lnSpc>
            </a:pPr>
            <a:endParaRPr lang="en-US" sz="2000" dirty="0">
              <a:cs typeface="Calibri"/>
            </a:endParaRPr>
          </a:p>
          <a:p>
            <a:pPr lvl="2" indent="-342900">
              <a:lnSpc>
                <a:spcPct val="90000"/>
              </a:lnSpc>
            </a:pPr>
            <a:r>
              <a:rPr lang="en-US" sz="2000" dirty="0">
                <a:cs typeface="Calibri"/>
              </a:rPr>
              <a:t>Bike	        </a:t>
            </a:r>
            <a:r>
              <a:rPr lang="en-US" sz="2000" dirty="0" smtClean="0">
                <a:cs typeface="Calibri"/>
              </a:rPr>
              <a:t>      </a:t>
            </a:r>
            <a:r>
              <a:rPr lang="en-US" sz="2000" dirty="0">
                <a:cs typeface="Calibri"/>
              </a:rPr>
              <a:t>Able to            </a:t>
            </a:r>
            <a:r>
              <a:rPr lang="en-US" sz="2000" dirty="0" smtClean="0">
                <a:cs typeface="Calibri"/>
              </a:rPr>
              <a:t>       Ride </a:t>
            </a:r>
            <a:r>
              <a:rPr lang="en-US" sz="2000" dirty="0">
                <a:cs typeface="Calibri"/>
              </a:rPr>
              <a:t>around   </a:t>
            </a:r>
            <a:r>
              <a:rPr lang="en-US" sz="2000" dirty="0" smtClean="0">
                <a:cs typeface="Calibri"/>
              </a:rPr>
              <a:t>        Cool</a:t>
            </a:r>
            <a:endParaRPr lang="en-US" sz="2000" dirty="0">
              <a:cs typeface="Calibri"/>
            </a:endParaRPr>
          </a:p>
          <a:p>
            <a:pPr marL="800100" lvl="2" indent="0">
              <a:lnSpc>
                <a:spcPct val="90000"/>
              </a:lnSpc>
              <a:buNone/>
            </a:pPr>
            <a:r>
              <a:rPr lang="en-US" sz="2000" dirty="0">
                <a:cs typeface="Calibri"/>
              </a:rPr>
              <a:t>			</a:t>
            </a:r>
            <a:r>
              <a:rPr lang="en-US" sz="2000" dirty="0" smtClean="0">
                <a:cs typeface="Calibri"/>
              </a:rPr>
              <a:t>            ride </a:t>
            </a:r>
            <a:r>
              <a:rPr lang="en-US" sz="2000" dirty="0">
                <a:cs typeface="Calibri"/>
              </a:rPr>
              <a:t>around</a:t>
            </a:r>
          </a:p>
          <a:p>
            <a:pPr lvl="2" indent="-342900">
              <a:lnSpc>
                <a:spcPct val="90000"/>
              </a:lnSpc>
            </a:pPr>
            <a:endParaRPr lang="en-US" sz="2000" dirty="0">
              <a:cs typeface="Calibri"/>
            </a:endParaRPr>
          </a:p>
          <a:p>
            <a:pPr lvl="2" indent="-342900">
              <a:lnSpc>
                <a:spcPct val="90000"/>
              </a:lnSpc>
            </a:pPr>
            <a:r>
              <a:rPr lang="en-US" sz="2000" dirty="0">
                <a:cs typeface="Calibri"/>
              </a:rPr>
              <a:t>Food		</a:t>
            </a:r>
            <a:r>
              <a:rPr lang="en-US" sz="2000" dirty="0" smtClean="0">
                <a:cs typeface="Calibri"/>
              </a:rPr>
              <a:t>     Able </a:t>
            </a:r>
            <a:r>
              <a:rPr lang="en-US" sz="2000" dirty="0">
                <a:cs typeface="Calibri"/>
              </a:rPr>
              <a:t>to be	      </a:t>
            </a:r>
            <a:r>
              <a:rPr lang="en-US" sz="2000" dirty="0" smtClean="0">
                <a:cs typeface="Calibri"/>
              </a:rPr>
              <a:t>        Nourished</a:t>
            </a:r>
            <a:r>
              <a:rPr lang="en-US" sz="2000" dirty="0">
                <a:cs typeface="Calibri"/>
              </a:rPr>
              <a:t>	 </a:t>
            </a:r>
            <a:r>
              <a:rPr lang="en-US" sz="2000" dirty="0" smtClean="0">
                <a:cs typeface="Calibri"/>
              </a:rPr>
              <a:t>      Cool</a:t>
            </a:r>
            <a:endParaRPr lang="en-US" sz="2000" dirty="0">
              <a:cs typeface="Calibri"/>
            </a:endParaRPr>
          </a:p>
          <a:p>
            <a:pPr marL="800100" lvl="2" indent="0">
              <a:lnSpc>
                <a:spcPct val="90000"/>
              </a:lnSpc>
              <a:buNone/>
            </a:pPr>
            <a:r>
              <a:rPr lang="en-US" sz="2000" dirty="0">
                <a:cs typeface="Calibri"/>
              </a:rPr>
              <a:t>			</a:t>
            </a:r>
            <a:r>
              <a:rPr lang="en-US" sz="2000" dirty="0" smtClean="0">
                <a:cs typeface="Calibri"/>
              </a:rPr>
              <a:t>            nourished</a:t>
            </a:r>
          </a:p>
          <a:p>
            <a:pPr marL="0" indent="0">
              <a:lnSpc>
                <a:spcPct val="90000"/>
              </a:lnSpc>
              <a:buNone/>
            </a:pPr>
            <a:endParaRPr lang="en-US" sz="2800" dirty="0" smtClean="0">
              <a:cs typeface="Calibri"/>
            </a:endParaRPr>
          </a:p>
          <a:p>
            <a:pPr marL="0" indent="0">
              <a:lnSpc>
                <a:spcPct val="90000"/>
              </a:lnSpc>
              <a:buNone/>
            </a:pPr>
            <a:r>
              <a:rPr lang="en-US" sz="2800" dirty="0" smtClean="0">
                <a:cs typeface="Calibri"/>
              </a:rPr>
              <a:t>Key  Allows for different conversion factors</a:t>
            </a:r>
            <a:endParaRPr lang="en-US" sz="2800" dirty="0">
              <a:cs typeface="Calibri"/>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29710945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sz="2800" dirty="0" err="1" smtClean="0"/>
              <a:t>Robeyn’s</a:t>
            </a:r>
            <a:r>
              <a:rPr lang="en-US" sz="2800" dirty="0" smtClean="0"/>
              <a:t> (2005) schematic (with social influences)</a:t>
            </a:r>
            <a:endParaRPr lang="en-US" sz="2800"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87053"/>
            <a:ext cx="8263467" cy="3823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117600" y="3234267"/>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372236510"/>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Freedom</a:t>
            </a:r>
          </a:p>
          <a:p>
            <a:pPr marL="400050" lvl="1" indent="0">
              <a:buNone/>
            </a:pPr>
            <a:r>
              <a:rPr lang="en-US" sz="2400" dirty="0"/>
              <a:t>“the real opportunity that we have to accomplish what we value” </a:t>
            </a:r>
            <a:endParaRPr lang="en-US" sz="2400" i="1" dirty="0" smtClean="0"/>
          </a:p>
          <a:p>
            <a:pPr marL="400050" lvl="1" indent="0">
              <a:buNone/>
            </a:pPr>
            <a:r>
              <a:rPr lang="en-US" sz="2400" dirty="0" smtClean="0"/>
              <a:t>“The ‘good life’ is partly a life of genuine choice, and not one in which the person is forced into a particular life – however rich it might be in other respects.”  </a:t>
            </a:r>
          </a:p>
          <a:p>
            <a:pPr marL="400050" lvl="1" indent="0">
              <a:buNone/>
            </a:pPr>
            <a:r>
              <a:rPr lang="en-US" sz="2400" dirty="0" smtClean="0"/>
              <a:t>It </a:t>
            </a:r>
            <a:r>
              <a:rPr lang="en-US" sz="2400" dirty="0"/>
              <a:t>is authentic self-direction – the ability to shape one’s own destiny as a person and a part of various communities. </a:t>
            </a:r>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606781705"/>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fontScale="85000" lnSpcReduction="10000"/>
          </a:bodyPr>
          <a:lstStyle/>
          <a:p>
            <a:pPr marL="0" indent="0">
              <a:buNone/>
            </a:pPr>
            <a:r>
              <a:rPr lang="en-US" sz="3600" dirty="0" smtClean="0"/>
              <a:t>Freedom</a:t>
            </a:r>
          </a:p>
          <a:p>
            <a:pPr marL="400050" lvl="1" indent="0">
              <a:buNone/>
            </a:pPr>
            <a:r>
              <a:rPr lang="en-US" dirty="0"/>
              <a:t>N</a:t>
            </a:r>
            <a:r>
              <a:rPr lang="en-US" dirty="0" smtClean="0"/>
              <a:t>ot </a:t>
            </a:r>
            <a:r>
              <a:rPr lang="en-US" dirty="0"/>
              <a:t>a ‘paper’ freedom: it has to be </a:t>
            </a:r>
            <a:r>
              <a:rPr lang="en-US" i="1" dirty="0"/>
              <a:t>effective</a:t>
            </a:r>
            <a:r>
              <a:rPr lang="en-US" dirty="0"/>
              <a:t> freedom, a </a:t>
            </a:r>
            <a:r>
              <a:rPr lang="en-US" i="1" dirty="0"/>
              <a:t>real</a:t>
            </a:r>
            <a:r>
              <a:rPr lang="en-US" dirty="0"/>
              <a:t> </a:t>
            </a:r>
            <a:r>
              <a:rPr lang="en-US" dirty="0" smtClean="0"/>
              <a:t>possibility</a:t>
            </a:r>
            <a:r>
              <a:rPr lang="en-US" dirty="0"/>
              <a:t>. </a:t>
            </a:r>
            <a:br>
              <a:rPr lang="en-US" dirty="0"/>
            </a:br>
            <a:endParaRPr lang="en-US" dirty="0"/>
          </a:p>
          <a:p>
            <a:pPr marL="400050" lvl="1" indent="0">
              <a:buNone/>
            </a:pPr>
            <a:r>
              <a:rPr lang="en-US" dirty="0"/>
              <a:t>N</a:t>
            </a:r>
            <a:r>
              <a:rPr lang="en-US" dirty="0" smtClean="0"/>
              <a:t>ot </a:t>
            </a:r>
            <a:r>
              <a:rPr lang="en-US" dirty="0"/>
              <a:t>maximization of choices without regard to their quality and people’s values </a:t>
            </a:r>
          </a:p>
          <a:p>
            <a:pPr marL="400050" lvl="1" indent="0">
              <a:buNone/>
            </a:pPr>
            <a:r>
              <a:rPr lang="en-US" dirty="0"/>
              <a:t>   “Indeed sometimes more freedom of choice can bemuse and befuddle, and make one’s life more wretched.”</a:t>
            </a:r>
            <a:br>
              <a:rPr lang="en-US" dirty="0"/>
            </a:br>
            <a:endParaRPr lang="en-US" dirty="0"/>
          </a:p>
          <a:p>
            <a:pPr marL="400050" lvl="1" indent="0">
              <a:buNone/>
            </a:pPr>
            <a:r>
              <a:rPr lang="en-US" dirty="0" smtClean="0"/>
              <a:t>Not </a:t>
            </a:r>
            <a:r>
              <a:rPr lang="en-US" dirty="0"/>
              <a:t>necessarily direct control by an individual , groups, states, </a:t>
            </a:r>
            <a:r>
              <a:rPr lang="en-US" dirty="0" err="1"/>
              <a:t>etc</a:t>
            </a:r>
            <a:r>
              <a:rPr lang="en-US" dirty="0"/>
              <a:t> can increase freedoms by public action and investment. </a:t>
            </a:r>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86027931"/>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Freedom has two aspects</a:t>
            </a:r>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
        <p:nvSpPr>
          <p:cNvPr id="5" name="Rectangle 3"/>
          <p:cNvSpPr txBox="1">
            <a:spLocks noChangeArrowheads="1"/>
          </p:cNvSpPr>
          <p:nvPr/>
        </p:nvSpPr>
        <p:spPr>
          <a:xfrm>
            <a:off x="428625" y="2571750"/>
            <a:ext cx="4033838" cy="3186113"/>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33400" indent="-533400">
              <a:buFontTx/>
              <a:buNone/>
            </a:pPr>
            <a:r>
              <a:rPr lang="en-US" b="1" u="sng" dirty="0" smtClean="0">
                <a:latin typeface="+mj-lt"/>
              </a:rPr>
              <a:t>Process Aspect</a:t>
            </a:r>
            <a:r>
              <a:rPr lang="en-US" b="1" dirty="0" smtClean="0">
                <a:latin typeface="+mj-lt"/>
              </a:rPr>
              <a:t>:</a:t>
            </a:r>
            <a:r>
              <a:rPr lang="en-US" dirty="0" smtClean="0">
                <a:latin typeface="+mj-lt"/>
              </a:rPr>
              <a:t> </a:t>
            </a:r>
          </a:p>
          <a:p>
            <a:pPr marL="533400" indent="-533400">
              <a:buFontTx/>
              <a:buNone/>
            </a:pPr>
            <a:r>
              <a:rPr lang="en-US" i="1" dirty="0" smtClean="0">
                <a:latin typeface="+mj-lt"/>
              </a:rPr>
              <a:t>Ability to act on behalf of what matters</a:t>
            </a:r>
            <a:r>
              <a:rPr lang="en-US" dirty="0" smtClean="0">
                <a:latin typeface="+mj-lt"/>
              </a:rPr>
              <a:t> </a:t>
            </a:r>
            <a:r>
              <a:rPr lang="en-GB" dirty="0" smtClean="0">
                <a:latin typeface="+mj-lt"/>
              </a:rPr>
              <a:t>(</a:t>
            </a:r>
            <a:r>
              <a:rPr lang="en-GB" b="1" u="sng" dirty="0" smtClean="0">
                <a:latin typeface="+mj-lt"/>
              </a:rPr>
              <a:t>agency</a:t>
            </a:r>
            <a:r>
              <a:rPr lang="en-GB" dirty="0" smtClean="0">
                <a:latin typeface="+mj-lt"/>
              </a:rPr>
              <a:t>)</a:t>
            </a:r>
          </a:p>
          <a:p>
            <a:pPr marL="533400" indent="-533400">
              <a:buFontTx/>
              <a:buNone/>
            </a:pPr>
            <a:r>
              <a:rPr lang="en-GB" dirty="0" smtClean="0">
                <a:latin typeface="+mj-lt"/>
              </a:rPr>
              <a:t>Institutions, movements, democratic practice as well as each person’s agency</a:t>
            </a:r>
            <a:endParaRPr lang="en-US" dirty="0">
              <a:latin typeface="+mj-lt"/>
            </a:endParaRPr>
          </a:p>
        </p:txBody>
      </p:sp>
      <p:sp>
        <p:nvSpPr>
          <p:cNvPr id="6" name="Rectangle 4"/>
          <p:cNvSpPr txBox="1">
            <a:spLocks noChangeArrowheads="1"/>
          </p:cNvSpPr>
          <p:nvPr/>
        </p:nvSpPr>
        <p:spPr>
          <a:xfrm>
            <a:off x="4643438" y="2571750"/>
            <a:ext cx="3814762" cy="30003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90000"/>
              </a:lnSpc>
              <a:buFontTx/>
              <a:buNone/>
              <a:defRPr/>
            </a:pPr>
            <a:r>
              <a:rPr lang="en-US" sz="2800" b="1" u="sng" dirty="0" smtClean="0"/>
              <a:t>Opportunity Aspect</a:t>
            </a:r>
            <a:r>
              <a:rPr lang="en-US" sz="2800" b="1" dirty="0" smtClean="0"/>
              <a:t>:</a:t>
            </a:r>
          </a:p>
          <a:p>
            <a:pPr marL="0" indent="0">
              <a:lnSpc>
                <a:spcPct val="90000"/>
              </a:lnSpc>
              <a:buFontTx/>
              <a:buNone/>
              <a:defRPr/>
            </a:pPr>
            <a:r>
              <a:rPr lang="en-US" sz="2800" i="1" dirty="0" smtClean="0"/>
              <a:t>Real opportunity</a:t>
            </a:r>
            <a:r>
              <a:rPr lang="en-US" sz="2800" dirty="0" smtClean="0"/>
              <a:t> to achieve valued </a:t>
            </a:r>
            <a:r>
              <a:rPr lang="en-US" sz="2800" dirty="0" err="1" smtClean="0"/>
              <a:t>functionings</a:t>
            </a:r>
            <a:r>
              <a:rPr lang="en-US" sz="2800" dirty="0" smtClean="0"/>
              <a:t>, selected from among various good possibilities. </a:t>
            </a:r>
          </a:p>
          <a:p>
            <a:pPr>
              <a:lnSpc>
                <a:spcPct val="90000"/>
              </a:lnSpc>
              <a:buFontTx/>
              <a:buNone/>
              <a:defRPr/>
            </a:pPr>
            <a:r>
              <a:rPr lang="en-GB" sz="2800" dirty="0" smtClean="0"/>
              <a:t>(</a:t>
            </a:r>
            <a:r>
              <a:rPr lang="en-GB" sz="2800" b="1" u="sng" dirty="0" smtClean="0"/>
              <a:t>capability</a:t>
            </a:r>
            <a:r>
              <a:rPr lang="en-GB" sz="2800" dirty="0" smtClean="0"/>
              <a:t>)</a:t>
            </a:r>
            <a:endParaRPr lang="en-US" sz="2800" dirty="0" smtClean="0"/>
          </a:p>
        </p:txBody>
      </p:sp>
    </p:spTree>
    <p:extLst>
      <p:ext uri="{BB962C8B-B14F-4D97-AF65-F5344CB8AC3E}">
        <p14:creationId xmlns:p14="http://schemas.microsoft.com/office/powerpoint/2010/main" val="1971680725"/>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fontScale="92500" lnSpcReduction="20000"/>
          </a:bodyPr>
          <a:lstStyle/>
          <a:p>
            <a:pPr marL="0" indent="0">
              <a:buNone/>
            </a:pPr>
            <a:r>
              <a:rPr lang="en-US" sz="3600" dirty="0" smtClean="0"/>
              <a:t>Agency</a:t>
            </a:r>
          </a:p>
          <a:p>
            <a:pPr marL="400050" lvl="1" indent="0">
              <a:buNone/>
            </a:pPr>
            <a:r>
              <a:rPr lang="en-US" dirty="0" smtClean="0"/>
              <a:t>“…what </a:t>
            </a:r>
            <a:r>
              <a:rPr lang="en-US" dirty="0"/>
              <a:t>a person is free to do and achieve in pursuit of whatever goals or values he or she regards as important.” </a:t>
            </a:r>
            <a:endParaRPr lang="en-US" dirty="0" smtClean="0"/>
          </a:p>
          <a:p>
            <a:pPr marL="400050" lvl="1" indent="0">
              <a:buNone/>
            </a:pPr>
            <a:endParaRPr lang="en-US" dirty="0" smtClean="0"/>
          </a:p>
          <a:p>
            <a:pPr marL="400050" lvl="1" indent="0">
              <a:buNone/>
            </a:pPr>
            <a:r>
              <a:rPr lang="en-US" dirty="0" smtClean="0"/>
              <a:t>“…someone </a:t>
            </a:r>
            <a:r>
              <a:rPr lang="en-US" dirty="0"/>
              <a:t>who acts and brings about change, and whose achievements can be judged in terms of her own values and objectives, whether or not we assess them in terms of some external criteria as well”  </a:t>
            </a:r>
          </a:p>
          <a:p>
            <a:pPr marL="400050" lvl="1" indent="0">
              <a:buNone/>
            </a:pPr>
            <a:endParaRPr lang="en-US" dirty="0"/>
          </a:p>
          <a:p>
            <a:pPr marL="400050" lvl="1" indent="0">
              <a:buNone/>
            </a:pPr>
            <a:r>
              <a:rPr lang="en-US" dirty="0"/>
              <a:t>agency is the person’s ability to act on what they value and have reason to value. </a:t>
            </a:r>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131970019"/>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fontScale="77500" lnSpcReduction="20000"/>
          </a:bodyPr>
          <a:lstStyle/>
          <a:p>
            <a:pPr marL="0" indent="0">
              <a:buNone/>
            </a:pPr>
            <a:r>
              <a:rPr lang="en-US" sz="3600" dirty="0" smtClean="0"/>
              <a:t>Agency and Capability</a:t>
            </a:r>
          </a:p>
          <a:p>
            <a:pPr marL="400050" lvl="1" indent="0">
              <a:buNone/>
            </a:pPr>
            <a:r>
              <a:rPr lang="en-US" dirty="0"/>
              <a:t>“The approach … is essentially a ‘people-centered’ approach, which puts </a:t>
            </a:r>
            <a:r>
              <a:rPr lang="en-US" b="1" dirty="0"/>
              <a:t>human agency </a:t>
            </a:r>
            <a:r>
              <a:rPr lang="en-US" dirty="0"/>
              <a:t>(rather than organizations such as markets or governments) </a:t>
            </a:r>
            <a:r>
              <a:rPr lang="en-US" b="1" dirty="0"/>
              <a:t>at the </a:t>
            </a:r>
            <a:r>
              <a:rPr lang="en-US" b="1" dirty="0" err="1"/>
              <a:t>centre</a:t>
            </a:r>
            <a:r>
              <a:rPr lang="en-US" b="1" dirty="0"/>
              <a:t> of the stage</a:t>
            </a:r>
            <a:r>
              <a:rPr lang="en-US" dirty="0"/>
              <a:t>. The crucial role of social opportunities is to expand the realm of human agency and freedom, both as an end in itself and as a means of further expansion of freedom. The word ‘social’ in the expression ‘social opportunity’ (…) is a useful reminder not to view individuals and their opportunities in isolated terms. The options that a person has depend greatly on relations with others and on what the state and other institutions do. We shall be particularly concerned with those opportunities that are strongly influenced by social circumstances and public policy…” (</a:t>
            </a:r>
            <a:r>
              <a:rPr lang="en-US" dirty="0" err="1"/>
              <a:t>Drèze</a:t>
            </a:r>
            <a:r>
              <a:rPr lang="en-US" dirty="0"/>
              <a:t> &amp; </a:t>
            </a:r>
            <a:r>
              <a:rPr lang="en-US" dirty="0" err="1"/>
              <a:t>Sen</a:t>
            </a:r>
            <a:r>
              <a:rPr lang="en-US" dirty="0"/>
              <a:t> 2002 page 6).</a:t>
            </a:r>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130938609"/>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lstStyle/>
          <a:p>
            <a:r>
              <a:rPr lang="en-US" dirty="0" smtClean="0"/>
              <a:t>General Features</a:t>
            </a:r>
          </a:p>
          <a:p>
            <a:pPr lvl="1"/>
            <a:r>
              <a:rPr lang="en-US" dirty="0" smtClean="0"/>
              <a:t>Interactions: Ends </a:t>
            </a:r>
            <a:r>
              <a:rPr lang="en-US" dirty="0" smtClean="0"/>
              <a:t>and means</a:t>
            </a:r>
          </a:p>
          <a:p>
            <a:pPr lvl="1"/>
            <a:r>
              <a:rPr lang="en-US" dirty="0" smtClean="0"/>
              <a:t>Outside </a:t>
            </a:r>
            <a:r>
              <a:rPr lang="en-US" dirty="0" smtClean="0"/>
              <a:t>market solutions</a:t>
            </a:r>
          </a:p>
          <a:p>
            <a:pPr lvl="1"/>
            <a:r>
              <a:rPr lang="en-US" dirty="0" smtClean="0"/>
              <a:t>Encourages investments</a:t>
            </a:r>
            <a:endParaRPr lang="en-US" dirty="0" smtClean="0"/>
          </a:p>
          <a:p>
            <a:pPr lvl="1"/>
            <a:r>
              <a:rPr lang="en-US" dirty="0" smtClean="0"/>
              <a:t>Focus on freedoms</a:t>
            </a:r>
            <a:endParaRPr lang="en-US" dirty="0" smtClean="0"/>
          </a:p>
          <a:p>
            <a:pPr lvl="1"/>
            <a:r>
              <a:rPr lang="en-US" dirty="0" smtClean="0"/>
              <a:t>Multidimensional and complex</a:t>
            </a:r>
            <a:endParaRPr lang="en-US" dirty="0" smtClean="0"/>
          </a:p>
          <a:p>
            <a:pPr lvl="1"/>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007371287"/>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Description</a:t>
            </a:r>
            <a:endParaRPr lang="en-US" dirty="0"/>
          </a:p>
        </p:txBody>
      </p:sp>
      <p:sp>
        <p:nvSpPr>
          <p:cNvPr id="8" name="Content Placeholder 7"/>
          <p:cNvSpPr>
            <a:spLocks noGrp="1"/>
          </p:cNvSpPr>
          <p:nvPr>
            <p:ph idx="1"/>
          </p:nvPr>
        </p:nvSpPr>
        <p:spPr/>
        <p:txBody>
          <a:bodyPr>
            <a:normAutofit fontScale="85000" lnSpcReduction="10000"/>
          </a:bodyPr>
          <a:lstStyle/>
          <a:p>
            <a:pPr marL="0" indent="0">
              <a:buNone/>
            </a:pPr>
            <a:r>
              <a:rPr lang="en-US" sz="3600" dirty="0" smtClean="0"/>
              <a:t>Misunderstandings</a:t>
            </a:r>
          </a:p>
          <a:p>
            <a:pPr marL="857250" lvl="1" indent="-457200"/>
            <a:r>
              <a:rPr lang="en-US" dirty="0" smtClean="0"/>
              <a:t>The </a:t>
            </a:r>
            <a:r>
              <a:rPr lang="en-US" b="1" dirty="0" smtClean="0"/>
              <a:t>breadth</a:t>
            </a:r>
            <a:r>
              <a:rPr lang="en-US" dirty="0" smtClean="0"/>
              <a:t> goes well </a:t>
            </a:r>
            <a:r>
              <a:rPr lang="en-US" dirty="0"/>
              <a:t>beyond health </a:t>
            </a:r>
            <a:r>
              <a:rPr lang="en-US" dirty="0" smtClean="0"/>
              <a:t>and education</a:t>
            </a:r>
          </a:p>
          <a:p>
            <a:pPr marL="857250" lvl="1" indent="-457200"/>
            <a:r>
              <a:rPr lang="en-US" dirty="0"/>
              <a:t>It is deliberately </a:t>
            </a:r>
            <a:r>
              <a:rPr lang="en-US" b="1" dirty="0"/>
              <a:t>incomplete</a:t>
            </a:r>
            <a:r>
              <a:rPr lang="en-US" dirty="0"/>
              <a:t> – it has to be operationalized differently in different contexts</a:t>
            </a:r>
          </a:p>
          <a:p>
            <a:pPr marL="857250" lvl="1" indent="-457200"/>
            <a:r>
              <a:rPr lang="en-US" b="1" dirty="0"/>
              <a:t>Individualism</a:t>
            </a:r>
            <a:r>
              <a:rPr lang="en-US" dirty="0"/>
              <a:t> (is ethical not methodological)</a:t>
            </a:r>
          </a:p>
          <a:p>
            <a:pPr marL="857250" lvl="1" indent="-457200"/>
            <a:r>
              <a:rPr lang="en-US" b="1" dirty="0"/>
              <a:t>Evaluative</a:t>
            </a:r>
            <a:r>
              <a:rPr lang="en-US" dirty="0"/>
              <a:t> </a:t>
            </a:r>
            <a:r>
              <a:rPr lang="en-US" dirty="0" err="1"/>
              <a:t>vs</a:t>
            </a:r>
            <a:r>
              <a:rPr lang="en-US" dirty="0"/>
              <a:t> Prospective analysis. It can evaluate activities, or guide policy to create choices. </a:t>
            </a:r>
          </a:p>
          <a:p>
            <a:pPr marL="857250" lvl="1" indent="-457200"/>
            <a:r>
              <a:rPr lang="en-US" dirty="0"/>
              <a:t>Not all </a:t>
            </a:r>
            <a:r>
              <a:rPr lang="en-US" b="1" dirty="0"/>
              <a:t>multidimensional</a:t>
            </a:r>
            <a:r>
              <a:rPr lang="en-US" dirty="0"/>
              <a:t> analyses are capability </a:t>
            </a:r>
            <a:r>
              <a:rPr lang="en-US" dirty="0" smtClean="0"/>
              <a:t>analyses</a:t>
            </a:r>
          </a:p>
          <a:p>
            <a:pPr marL="1257300" lvl="2" indent="-457200"/>
            <a:r>
              <a:rPr lang="en-US" dirty="0" smtClean="0"/>
              <a:t>Many </a:t>
            </a:r>
            <a:r>
              <a:rPr lang="en-US" dirty="0"/>
              <a:t>don’t consider freedom/agency, </a:t>
            </a:r>
            <a:r>
              <a:rPr lang="en-US" dirty="0" smtClean="0"/>
              <a:t>intrinsic value, capabilities </a:t>
            </a:r>
            <a:r>
              <a:rPr lang="en-US" dirty="0"/>
              <a:t>not resources, and </a:t>
            </a:r>
            <a:r>
              <a:rPr lang="en-US" dirty="0" smtClean="0"/>
              <a:t>the process </a:t>
            </a:r>
            <a:r>
              <a:rPr lang="en-US" dirty="0"/>
              <a:t>of public debate etc. </a:t>
            </a:r>
            <a:endParaRPr lang="en-US" dirty="0" smtClean="0"/>
          </a:p>
          <a:p>
            <a:pPr marL="1257300" lvl="2" indent="-457200"/>
            <a:r>
              <a:rPr lang="en-US" dirty="0" smtClean="0"/>
              <a:t>Hard to measure freedom, to consider counterfactual options</a:t>
            </a:r>
          </a:p>
          <a:p>
            <a:pPr marL="1714500" lvl="3" indent="-457200"/>
            <a:r>
              <a:rPr lang="en-US" dirty="0" smtClean="0"/>
              <a:t>What they could have chosen but didn’t</a:t>
            </a:r>
          </a:p>
          <a:p>
            <a:pPr marL="0" indent="0">
              <a:buNone/>
            </a:pPr>
            <a:endParaRPr lang="en-US" sz="3600" dirty="0" smtClean="0"/>
          </a:p>
          <a:p>
            <a:pPr marL="0" indent="0">
              <a:buNone/>
            </a:pPr>
            <a:endParaRPr lang="en-US" sz="3600"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18503953"/>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Capability Approach: Formalization</a:t>
            </a:r>
            <a:endParaRPr lang="en-US" dirty="0"/>
          </a:p>
        </p:txBody>
      </p:sp>
      <p:sp>
        <p:nvSpPr>
          <p:cNvPr id="8" name="Content Placeholder 7"/>
          <p:cNvSpPr>
            <a:spLocks noGrp="1"/>
          </p:cNvSpPr>
          <p:nvPr>
            <p:ph idx="1"/>
          </p:nvPr>
        </p:nvSpPr>
        <p:spPr/>
        <p:txBody>
          <a:bodyPr>
            <a:normAutofit lnSpcReduction="10000"/>
          </a:bodyPr>
          <a:lstStyle/>
          <a:p>
            <a:pPr marL="0" indent="0">
              <a:buNone/>
            </a:pPr>
            <a:r>
              <a:rPr lang="en-US" dirty="0" smtClean="0"/>
              <a:t>The approach has been formalized by </a:t>
            </a:r>
            <a:r>
              <a:rPr lang="en-US" dirty="0" err="1" smtClean="0"/>
              <a:t>Sen</a:t>
            </a:r>
            <a:r>
              <a:rPr lang="en-US" dirty="0" smtClean="0"/>
              <a:t> and others</a:t>
            </a:r>
          </a:p>
          <a:p>
            <a:pPr marL="0" indent="0">
              <a:buNone/>
            </a:pPr>
            <a:r>
              <a:rPr lang="en-US" dirty="0" smtClean="0"/>
              <a:t>We now take a quick look at this version and its implications</a:t>
            </a:r>
          </a:p>
          <a:p>
            <a:pPr marL="0" indent="0">
              <a:buNone/>
            </a:pPr>
            <a:endParaRPr lang="en-US" dirty="0"/>
          </a:p>
          <a:p>
            <a:pPr marL="0" indent="0">
              <a:buNone/>
            </a:pPr>
            <a:r>
              <a:rPr lang="en-US" dirty="0" smtClean="0"/>
              <a:t>Sources</a:t>
            </a:r>
          </a:p>
          <a:p>
            <a:pPr marL="457200" lvl="1" indent="0">
              <a:buNone/>
            </a:pPr>
            <a:r>
              <a:rPr lang="en-US" dirty="0" err="1" smtClean="0"/>
              <a:t>Sen</a:t>
            </a:r>
            <a:r>
              <a:rPr lang="en-US" dirty="0" smtClean="0"/>
              <a:t> (commodities and capabilities)</a:t>
            </a:r>
          </a:p>
          <a:p>
            <a:pPr marL="457200" lvl="1" indent="0">
              <a:buNone/>
            </a:pPr>
            <a:r>
              <a:rPr lang="en-US" dirty="0" smtClean="0"/>
              <a:t>Foster and </a:t>
            </a:r>
            <a:r>
              <a:rPr lang="en-US" dirty="0" err="1" smtClean="0"/>
              <a:t>Sen</a:t>
            </a:r>
            <a:r>
              <a:rPr lang="en-US" dirty="0" smtClean="0"/>
              <a:t> (1997)</a:t>
            </a:r>
          </a:p>
          <a:p>
            <a:pPr marL="457200" lvl="1" indent="0">
              <a:buNone/>
            </a:pPr>
            <a:r>
              <a:rPr lang="en-US" dirty="0" err="1" smtClean="0"/>
              <a:t>Basu</a:t>
            </a:r>
            <a:r>
              <a:rPr lang="en-US" dirty="0" smtClean="0"/>
              <a:t> and Lopez </a:t>
            </a:r>
            <a:r>
              <a:rPr lang="en-US" dirty="0" err="1" smtClean="0"/>
              <a:t>Calva</a:t>
            </a:r>
            <a:r>
              <a:rPr lang="en-US" dirty="0" smtClean="0"/>
              <a:t> (2011)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7891400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Formalization</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sz="2800" dirty="0"/>
              <a:t>Notation</a:t>
            </a:r>
          </a:p>
          <a:p>
            <a:pPr lvl="1">
              <a:lnSpc>
                <a:spcPct val="90000"/>
              </a:lnSpc>
              <a:buNone/>
              <a:defRPr/>
            </a:pPr>
            <a:r>
              <a:rPr lang="en-US" sz="2400" dirty="0" smtClean="0"/>
              <a:t>x</a:t>
            </a:r>
            <a:r>
              <a:rPr lang="en-US" sz="2400" baseline="-25000" dirty="0" smtClean="0"/>
              <a:t>i</a:t>
            </a:r>
            <a:r>
              <a:rPr lang="en-US" sz="2400" dirty="0" smtClean="0"/>
              <a:t> </a:t>
            </a:r>
            <a:r>
              <a:rPr lang="en-US" sz="2400" dirty="0"/>
              <a:t>is </a:t>
            </a:r>
            <a:r>
              <a:rPr lang="en-US" sz="2400" dirty="0" smtClean="0"/>
              <a:t>a vector of commodities for person </a:t>
            </a:r>
            <a:r>
              <a:rPr lang="en-US" sz="2400" dirty="0" err="1" smtClean="0"/>
              <a:t>i</a:t>
            </a:r>
            <a:endParaRPr lang="en-US" sz="2400" dirty="0"/>
          </a:p>
          <a:p>
            <a:pPr lvl="1">
              <a:lnSpc>
                <a:spcPct val="90000"/>
              </a:lnSpc>
              <a:buNone/>
              <a:defRPr/>
            </a:pPr>
            <a:r>
              <a:rPr lang="en-US" sz="2400" dirty="0"/>
              <a:t>c</a:t>
            </a:r>
            <a:r>
              <a:rPr lang="en-US" sz="2400" dirty="0" smtClean="0"/>
              <a:t>(x</a:t>
            </a:r>
            <a:r>
              <a:rPr lang="en-US" sz="2400" baseline="-25000" dirty="0" smtClean="0"/>
              <a:t>i</a:t>
            </a:r>
            <a:r>
              <a:rPr lang="en-US" sz="2400" dirty="0" smtClean="0"/>
              <a:t>) is </a:t>
            </a:r>
            <a:r>
              <a:rPr lang="en-US" sz="2400" dirty="0"/>
              <a:t>the vector of </a:t>
            </a:r>
            <a:r>
              <a:rPr lang="en-US" sz="2400" dirty="0" smtClean="0"/>
              <a:t>characteristics from x</a:t>
            </a:r>
            <a:r>
              <a:rPr lang="en-US" sz="2400" baseline="-25000" dirty="0" smtClean="0"/>
              <a:t>i</a:t>
            </a:r>
            <a:endParaRPr lang="en-US" sz="2400" dirty="0"/>
          </a:p>
          <a:p>
            <a:pPr lvl="2">
              <a:lnSpc>
                <a:spcPct val="90000"/>
              </a:lnSpc>
              <a:buNone/>
              <a:defRPr/>
            </a:pPr>
            <a:r>
              <a:rPr lang="en-US" sz="2000" dirty="0" smtClean="0"/>
              <a:t>Gorman or Lancaster</a:t>
            </a:r>
            <a:endParaRPr lang="en-US" sz="2000" dirty="0"/>
          </a:p>
          <a:p>
            <a:pPr lvl="1">
              <a:lnSpc>
                <a:spcPct val="90000"/>
              </a:lnSpc>
              <a:buNone/>
              <a:defRPr/>
            </a:pPr>
            <a:r>
              <a:rPr lang="en-US" sz="2400" dirty="0" smtClean="0"/>
              <a:t>f</a:t>
            </a:r>
            <a:r>
              <a:rPr lang="en-US" sz="2400" baseline="-25000" dirty="0" smtClean="0"/>
              <a:t>i</a:t>
            </a:r>
            <a:r>
              <a:rPr lang="en-US" sz="2400" dirty="0"/>
              <a:t> </a:t>
            </a:r>
            <a:r>
              <a:rPr lang="en-US" sz="2400" dirty="0" smtClean="0"/>
              <a:t> is i’s personal utilization function</a:t>
            </a:r>
          </a:p>
          <a:p>
            <a:pPr lvl="2">
              <a:lnSpc>
                <a:spcPct val="90000"/>
              </a:lnSpc>
              <a:buNone/>
              <a:defRPr/>
            </a:pPr>
            <a:r>
              <a:rPr lang="en-US" sz="2000" dirty="0" smtClean="0"/>
              <a:t>Converting vector of characteristics into vector of </a:t>
            </a:r>
            <a:r>
              <a:rPr lang="en-US" sz="2000" dirty="0" err="1" smtClean="0"/>
              <a:t>functionings</a:t>
            </a:r>
            <a:endParaRPr lang="en-US" sz="2000" dirty="0" smtClean="0"/>
          </a:p>
          <a:p>
            <a:pPr lvl="2">
              <a:lnSpc>
                <a:spcPct val="90000"/>
              </a:lnSpc>
              <a:buNone/>
              <a:defRPr/>
            </a:pPr>
            <a:r>
              <a:rPr lang="en-US" sz="2000" dirty="0" smtClean="0"/>
              <a:t>Note: </a:t>
            </a:r>
            <a:r>
              <a:rPr lang="en-US" sz="2000" dirty="0" err="1" smtClean="0"/>
              <a:t>Sen</a:t>
            </a:r>
            <a:r>
              <a:rPr lang="en-US" sz="2000" dirty="0" smtClean="0"/>
              <a:t> assumes is a choice; we will assume given</a:t>
            </a:r>
            <a:endParaRPr lang="en-US" sz="2000" dirty="0"/>
          </a:p>
          <a:p>
            <a:pPr lvl="1">
              <a:lnSpc>
                <a:spcPct val="90000"/>
              </a:lnSpc>
              <a:buNone/>
              <a:defRPr/>
            </a:pPr>
            <a:r>
              <a:rPr lang="en-US" sz="2400" dirty="0" smtClean="0"/>
              <a:t>b</a:t>
            </a:r>
            <a:r>
              <a:rPr lang="en-US" sz="2400" baseline="-25000" dirty="0" smtClean="0"/>
              <a:t>i</a:t>
            </a:r>
            <a:r>
              <a:rPr lang="en-US" sz="2400" dirty="0" smtClean="0"/>
              <a:t>  = f</a:t>
            </a:r>
            <a:r>
              <a:rPr lang="en-US" sz="2400" baseline="-25000" dirty="0" smtClean="0"/>
              <a:t>i</a:t>
            </a:r>
            <a:r>
              <a:rPr lang="en-US" sz="2400" dirty="0" smtClean="0"/>
              <a:t>(c(x</a:t>
            </a:r>
            <a:r>
              <a:rPr lang="en-US" sz="2400" baseline="-25000" dirty="0" smtClean="0"/>
              <a:t>i</a:t>
            </a:r>
            <a:r>
              <a:rPr lang="en-US" sz="2400" dirty="0" smtClean="0"/>
              <a:t>))  is i’s vector of </a:t>
            </a:r>
            <a:r>
              <a:rPr lang="en-US" sz="2400" dirty="0" err="1" smtClean="0"/>
              <a:t>functionings</a:t>
            </a:r>
            <a:endParaRPr lang="en-US" sz="2400" dirty="0" smtClean="0"/>
          </a:p>
          <a:p>
            <a:pPr lvl="1">
              <a:lnSpc>
                <a:spcPct val="90000"/>
              </a:lnSpc>
              <a:buNone/>
              <a:defRPr/>
            </a:pPr>
            <a:r>
              <a:rPr lang="en-US" sz="2400" dirty="0" smtClean="0"/>
              <a:t>X</a:t>
            </a:r>
            <a:r>
              <a:rPr lang="en-US" sz="2400" baseline="-25000" dirty="0" smtClean="0"/>
              <a:t>i</a:t>
            </a:r>
            <a:r>
              <a:rPr lang="en-US" sz="2400" dirty="0" smtClean="0"/>
              <a:t>  is the set of vectors of commodities are feasible for </a:t>
            </a:r>
            <a:r>
              <a:rPr lang="en-US" sz="2400" dirty="0" err="1" smtClean="0"/>
              <a:t>i</a:t>
            </a:r>
            <a:endParaRPr lang="en-US" sz="2400" dirty="0" smtClean="0"/>
          </a:p>
          <a:p>
            <a:pPr lvl="1">
              <a:lnSpc>
                <a:spcPct val="90000"/>
              </a:lnSpc>
              <a:buNone/>
              <a:defRPr/>
            </a:pPr>
            <a:r>
              <a:rPr lang="en-US" sz="2400" dirty="0" smtClean="0"/>
              <a:t>Q</a:t>
            </a:r>
            <a:r>
              <a:rPr lang="en-US" sz="2400" baseline="-25000" dirty="0" smtClean="0"/>
              <a:t>i</a:t>
            </a:r>
            <a:r>
              <a:rPr lang="en-US" sz="2400" dirty="0" smtClean="0"/>
              <a:t> = { b</a:t>
            </a:r>
            <a:r>
              <a:rPr lang="en-US" sz="2400" baseline="-25000" dirty="0" smtClean="0"/>
              <a:t>i</a:t>
            </a:r>
            <a:r>
              <a:rPr lang="en-US" sz="2400" dirty="0" smtClean="0"/>
              <a:t> such that </a:t>
            </a:r>
            <a:r>
              <a:rPr lang="en-US" sz="2400" dirty="0"/>
              <a:t>b</a:t>
            </a:r>
            <a:r>
              <a:rPr lang="en-US" sz="2400" baseline="-25000" dirty="0"/>
              <a:t>i</a:t>
            </a:r>
            <a:r>
              <a:rPr lang="en-US" sz="2400" dirty="0"/>
              <a:t>  = f</a:t>
            </a:r>
            <a:r>
              <a:rPr lang="en-US" sz="2400" baseline="-25000" dirty="0"/>
              <a:t>i</a:t>
            </a:r>
            <a:r>
              <a:rPr lang="en-US" sz="2400" dirty="0"/>
              <a:t>(c(x</a:t>
            </a:r>
            <a:r>
              <a:rPr lang="en-US" sz="2400" baseline="-25000" dirty="0"/>
              <a:t>i</a:t>
            </a:r>
            <a:r>
              <a:rPr lang="en-US" sz="2400" dirty="0"/>
              <a:t>)) </a:t>
            </a:r>
            <a:r>
              <a:rPr lang="en-US" sz="2400" dirty="0" smtClean="0"/>
              <a:t>for some x</a:t>
            </a:r>
            <a:r>
              <a:rPr lang="en-US" sz="2400" baseline="-25000" dirty="0" smtClean="0"/>
              <a:t>i</a:t>
            </a:r>
            <a:r>
              <a:rPr lang="en-US" sz="2400" dirty="0"/>
              <a:t> </a:t>
            </a:r>
            <a:r>
              <a:rPr lang="en-US" sz="2400" dirty="0" smtClean="0"/>
              <a:t>in </a:t>
            </a:r>
            <a:r>
              <a:rPr lang="en-US" sz="2400" dirty="0"/>
              <a:t>X</a:t>
            </a:r>
            <a:r>
              <a:rPr lang="en-US" sz="2400" baseline="-25000" dirty="0"/>
              <a:t>i</a:t>
            </a:r>
            <a:r>
              <a:rPr lang="en-US" sz="2400" dirty="0"/>
              <a:t> </a:t>
            </a:r>
            <a:r>
              <a:rPr lang="en-US" sz="2400" dirty="0" smtClean="0"/>
              <a:t>}</a:t>
            </a:r>
          </a:p>
          <a:p>
            <a:pPr>
              <a:lnSpc>
                <a:spcPct val="90000"/>
              </a:lnSpc>
              <a:buNone/>
              <a:defRPr/>
            </a:pPr>
            <a:r>
              <a:rPr lang="en-US" sz="2400" dirty="0" smtClean="0"/>
              <a:t>Note Many other formalizations possible (social influences, </a:t>
            </a:r>
            <a:r>
              <a:rPr lang="en-US" sz="2400" dirty="0" err="1" smtClean="0"/>
              <a:t>etc</a:t>
            </a:r>
            <a:r>
              <a:rPr lang="en-US" sz="2400" dirty="0" smtClean="0"/>
              <a:t>)</a:t>
            </a:r>
            <a:endParaRPr lang="en-US" sz="2400" dirty="0"/>
          </a:p>
          <a:p>
            <a:pPr lvl="1">
              <a:lnSpc>
                <a:spcPct val="90000"/>
              </a:lnSpc>
              <a:buNone/>
              <a:defRPr/>
            </a:pP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886805028"/>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Formalization</a:t>
            </a:r>
            <a:endParaRPr lang="en-US" dirty="0"/>
          </a:p>
        </p:txBody>
      </p:sp>
      <p:sp>
        <p:nvSpPr>
          <p:cNvPr id="8" name="Content Placeholder 7"/>
          <p:cNvSpPr>
            <a:spLocks noGrp="1"/>
          </p:cNvSpPr>
          <p:nvPr>
            <p:ph idx="1"/>
          </p:nvPr>
        </p:nvSpPr>
        <p:spPr/>
        <p:txBody>
          <a:bodyPr/>
          <a:lstStyle/>
          <a:p>
            <a:r>
              <a:rPr lang="en-US" dirty="0" smtClean="0"/>
              <a:t>Motivates interesting e</a:t>
            </a:r>
            <a:r>
              <a:rPr lang="en-US" dirty="0" smtClean="0"/>
              <a:t>mpirical </a:t>
            </a:r>
            <a:r>
              <a:rPr lang="en-US" dirty="0" smtClean="0"/>
              <a:t>issues </a:t>
            </a:r>
          </a:p>
          <a:p>
            <a:pPr lvl="1"/>
            <a:r>
              <a:rPr lang="en-US" dirty="0" smtClean="0"/>
              <a:t>Links across deprivations</a:t>
            </a:r>
          </a:p>
          <a:p>
            <a:pPr lvl="2"/>
            <a:r>
              <a:rPr lang="en-US" dirty="0" smtClean="0"/>
              <a:t>Motivated work on head start</a:t>
            </a:r>
          </a:p>
          <a:p>
            <a:pPr lvl="2"/>
            <a:r>
              <a:rPr lang="en-US" dirty="0" smtClean="0"/>
              <a:t>Education impact health?</a:t>
            </a:r>
          </a:p>
          <a:p>
            <a:pPr lvl="1"/>
            <a:r>
              <a:rPr lang="en-US" dirty="0" smtClean="0"/>
              <a:t>Key</a:t>
            </a:r>
            <a:endParaRPr lang="en-US" dirty="0" smtClean="0"/>
          </a:p>
          <a:p>
            <a:pPr lvl="1"/>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150906193"/>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fontScale="85000" lnSpcReduction="20000"/>
          </a:bodyPr>
          <a:lstStyle/>
          <a:p>
            <a:pPr marL="0" indent="0">
              <a:buNone/>
            </a:pPr>
            <a:r>
              <a:rPr lang="en-US" dirty="0" err="1" smtClean="0"/>
              <a:t>Sen</a:t>
            </a:r>
            <a:r>
              <a:rPr lang="en-US" dirty="0" smtClean="0"/>
              <a:t> suggested that his capability approach could be applied to evaluate circumstances</a:t>
            </a:r>
          </a:p>
          <a:p>
            <a:pPr marL="457200" lvl="1" indent="0">
              <a:buNone/>
            </a:pPr>
            <a:r>
              <a:rPr lang="en-US" dirty="0" smtClean="0"/>
              <a:t>However, he was not especially clear how to do so</a:t>
            </a:r>
          </a:p>
          <a:p>
            <a:pPr marL="0" indent="0">
              <a:buNone/>
            </a:pPr>
            <a:r>
              <a:rPr lang="en-US" dirty="0" smtClean="0"/>
              <a:t>Let’s </a:t>
            </a:r>
            <a:r>
              <a:rPr lang="en-US" dirty="0" smtClean="0"/>
              <a:t>briefly explore </a:t>
            </a:r>
            <a:r>
              <a:rPr lang="en-US" dirty="0" smtClean="0"/>
              <a:t>some practical barriers to using this approach </a:t>
            </a:r>
            <a:endParaRPr lang="en-US" dirty="0"/>
          </a:p>
          <a:p>
            <a:pPr marL="0" indent="0">
              <a:buNone/>
            </a:pPr>
            <a:endParaRPr lang="en-US" dirty="0"/>
          </a:p>
          <a:p>
            <a:pPr marL="0" indent="0">
              <a:buNone/>
            </a:pPr>
            <a:r>
              <a:rPr lang="en-US" dirty="0" smtClean="0"/>
              <a:t>Sources</a:t>
            </a:r>
          </a:p>
          <a:p>
            <a:pPr marL="457200" lvl="1" indent="0">
              <a:buNone/>
            </a:pPr>
            <a:r>
              <a:rPr lang="en-US" dirty="0" smtClean="0"/>
              <a:t>Foster and </a:t>
            </a:r>
            <a:r>
              <a:rPr lang="en-US" dirty="0" err="1" smtClean="0"/>
              <a:t>Sen</a:t>
            </a:r>
            <a:endParaRPr lang="en-US" dirty="0" smtClean="0"/>
          </a:p>
          <a:p>
            <a:pPr marL="457200" lvl="1" indent="0">
              <a:buNone/>
            </a:pPr>
            <a:r>
              <a:rPr lang="en-US" dirty="0" err="1" smtClean="0"/>
              <a:t>Sen</a:t>
            </a:r>
            <a:r>
              <a:rPr lang="en-US" dirty="0" smtClean="0"/>
              <a:t> Development as Freedom</a:t>
            </a:r>
            <a:endParaRPr lang="en-US" dirty="0"/>
          </a:p>
          <a:p>
            <a:pPr marL="457200" lvl="1" indent="0">
              <a:buNone/>
            </a:pPr>
            <a:r>
              <a:rPr lang="en-US" dirty="0" smtClean="0"/>
              <a:t>Foster, </a:t>
            </a:r>
            <a:r>
              <a:rPr lang="en-US" dirty="0" err="1" smtClean="0"/>
              <a:t>MacGillivray</a:t>
            </a:r>
            <a:r>
              <a:rPr lang="en-US" dirty="0" smtClean="0"/>
              <a:t>, Seth “Robustness”</a:t>
            </a:r>
          </a:p>
          <a:p>
            <a:pPr marL="457200" lvl="1" indent="0">
              <a:buNone/>
            </a:pPr>
            <a:r>
              <a:rPr lang="en-US" dirty="0" smtClean="0"/>
              <a:t>Allison and Foster </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403091944"/>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Is the theory implementable?</a:t>
            </a:r>
          </a:p>
          <a:p>
            <a:pPr marL="457200" lvl="1" indent="0">
              <a:buNone/>
            </a:pPr>
            <a:r>
              <a:rPr lang="en-US" dirty="0" smtClean="0"/>
              <a:t>Review of </a:t>
            </a:r>
            <a:r>
              <a:rPr lang="en-US" i="1" dirty="0" smtClean="0"/>
              <a:t>Inequality Re-examined</a:t>
            </a:r>
          </a:p>
          <a:p>
            <a:pPr marL="457200" lvl="1" indent="0">
              <a:buNone/>
            </a:pPr>
            <a:r>
              <a:rPr lang="en-US" dirty="0"/>
              <a:t>M</a:t>
            </a:r>
            <a:r>
              <a:rPr lang="en-US" dirty="0" smtClean="0"/>
              <a:t>ain question</a:t>
            </a:r>
          </a:p>
          <a:p>
            <a:pPr marL="914400" lvl="2" indent="0">
              <a:buNone/>
            </a:pPr>
            <a:r>
              <a:rPr lang="en-US" dirty="0" smtClean="0"/>
              <a:t>Do you have a feasible implementation?</a:t>
            </a:r>
          </a:p>
          <a:p>
            <a:pPr marL="914400" lvl="2" indent="0">
              <a:buNone/>
            </a:pPr>
            <a:r>
              <a:rPr lang="en-US" dirty="0" smtClean="0"/>
              <a:t>An example where the approach can be applied and makes a difference</a:t>
            </a:r>
          </a:p>
          <a:p>
            <a:pPr marL="457200" lvl="1" indent="0">
              <a:buNone/>
            </a:pPr>
            <a:r>
              <a:rPr lang="en-US" dirty="0" smtClean="0"/>
              <a:t>How to measure capabilities, </a:t>
            </a:r>
            <a:r>
              <a:rPr lang="en-US" dirty="0" err="1" smtClean="0"/>
              <a:t>functionings</a:t>
            </a:r>
            <a:r>
              <a:rPr lang="en-US" dirty="0" smtClean="0"/>
              <a:t>, freedom?</a:t>
            </a:r>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675246377"/>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fontScale="85000" lnSpcReduction="20000"/>
          </a:bodyPr>
          <a:lstStyle/>
          <a:p>
            <a:pPr marL="0" indent="0">
              <a:buNone/>
            </a:pPr>
            <a:r>
              <a:rPr lang="en-US" dirty="0" smtClean="0"/>
              <a:t>The challenge of measuring freedoms</a:t>
            </a:r>
          </a:p>
          <a:p>
            <a:pPr marL="0" indent="0">
              <a:buNone/>
            </a:pPr>
            <a:r>
              <a:rPr lang="en-US" dirty="0" smtClean="0"/>
              <a:t>Freedom has two elements</a:t>
            </a:r>
          </a:p>
          <a:p>
            <a:pPr marL="457200" lvl="1" indent="0">
              <a:buNone/>
            </a:pPr>
            <a:r>
              <a:rPr lang="en-US" dirty="0" smtClean="0"/>
              <a:t>Agency and empowerment</a:t>
            </a:r>
          </a:p>
          <a:p>
            <a:pPr marL="914400" lvl="2" indent="0">
              <a:buNone/>
            </a:pPr>
            <a:r>
              <a:rPr lang="en-US" dirty="0" smtClean="0"/>
              <a:t>Broadly configured in </a:t>
            </a:r>
            <a:r>
              <a:rPr lang="en-US" dirty="0" err="1" smtClean="0"/>
              <a:t>Sen’s</a:t>
            </a:r>
            <a:r>
              <a:rPr lang="en-US" dirty="0" smtClean="0"/>
              <a:t> work</a:t>
            </a:r>
          </a:p>
          <a:p>
            <a:pPr marL="914400" lvl="2" indent="0">
              <a:buNone/>
            </a:pPr>
            <a:r>
              <a:rPr lang="en-US" dirty="0" smtClean="0"/>
              <a:t>Usually more narrowly confined to personal agency</a:t>
            </a:r>
          </a:p>
          <a:p>
            <a:pPr marL="457200" lvl="1" indent="0">
              <a:buNone/>
            </a:pPr>
            <a:r>
              <a:rPr lang="en-US" dirty="0" smtClean="0"/>
              <a:t>Opportunity</a:t>
            </a:r>
          </a:p>
          <a:p>
            <a:pPr marL="914400" lvl="2" indent="0">
              <a:buNone/>
            </a:pPr>
            <a:r>
              <a:rPr lang="en-US" dirty="0" smtClean="0"/>
              <a:t>Range of real opportunities</a:t>
            </a:r>
          </a:p>
          <a:p>
            <a:pPr marL="0" indent="0">
              <a:buNone/>
            </a:pPr>
            <a:r>
              <a:rPr lang="en-US" dirty="0" smtClean="0"/>
              <a:t>Both are difficult to infer from observed choices</a:t>
            </a:r>
          </a:p>
          <a:p>
            <a:pPr marL="457200" lvl="1" indent="0">
              <a:buNone/>
            </a:pPr>
            <a:r>
              <a:rPr lang="en-US" dirty="0" smtClean="0"/>
              <a:t>Without asking, how are we to know the conditions under which a choice was made?</a:t>
            </a:r>
          </a:p>
          <a:p>
            <a:pPr marL="457200" lvl="1" indent="0">
              <a:buNone/>
            </a:pPr>
            <a:r>
              <a:rPr lang="en-US" dirty="0" smtClean="0"/>
              <a:t>Without asking, how are we to know the choices that were not taken?</a:t>
            </a:r>
          </a:p>
          <a:p>
            <a:pPr lvl="1"/>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170481567"/>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Data on agency?</a:t>
            </a:r>
          </a:p>
          <a:p>
            <a:pPr marL="457200" lvl="1" indent="0">
              <a:buNone/>
            </a:pPr>
            <a:r>
              <a:rPr lang="en-US" dirty="0" smtClean="0"/>
              <a:t>OPHI questionnaires</a:t>
            </a:r>
          </a:p>
          <a:p>
            <a:pPr marL="457200" lvl="1" indent="0">
              <a:buNone/>
            </a:pPr>
            <a:r>
              <a:rPr lang="en-US" dirty="0"/>
              <a:t>	</a:t>
            </a:r>
            <a:r>
              <a:rPr lang="en-US" dirty="0" smtClean="0"/>
              <a:t>Subjective assessments</a:t>
            </a:r>
          </a:p>
          <a:p>
            <a:pPr marL="457200" lvl="1" indent="0">
              <a:buNone/>
            </a:pPr>
            <a:r>
              <a:rPr lang="en-US" dirty="0" smtClean="0"/>
              <a:t>Women’s Empowerment in Agriculture Index </a:t>
            </a:r>
            <a:r>
              <a:rPr lang="en-US" dirty="0" smtClean="0"/>
              <a:t>(discussed later)</a:t>
            </a:r>
          </a:p>
          <a:p>
            <a:pPr marL="914400" lvl="2" indent="0">
              <a:buNone/>
            </a:pPr>
            <a:r>
              <a:rPr lang="en-US" dirty="0" smtClean="0"/>
              <a:t>Questions on </a:t>
            </a:r>
            <a:r>
              <a:rPr lang="en-US" dirty="0" smtClean="0"/>
              <a:t>inclusion in decision making</a:t>
            </a:r>
            <a:endParaRPr lang="en-US" dirty="0" smtClean="0"/>
          </a:p>
          <a:p>
            <a:pPr marL="914400" lvl="2" indent="0">
              <a:buNone/>
            </a:pPr>
            <a:endParaRPr lang="en-US" dirty="0" smtClean="0"/>
          </a:p>
          <a:p>
            <a:pPr lvl="1"/>
            <a:endParaRPr lang="en-US" dirty="0" smtClean="0"/>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92865750"/>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fontScale="92500" lnSpcReduction="10000"/>
          </a:bodyPr>
          <a:lstStyle/>
          <a:p>
            <a:pPr marL="0" indent="0">
              <a:buNone/>
            </a:pPr>
            <a:r>
              <a:rPr lang="en-US" dirty="0" smtClean="0"/>
              <a:t>Data on opportunities?</a:t>
            </a:r>
          </a:p>
          <a:p>
            <a:pPr marL="457200" lvl="1" indent="0">
              <a:buNone/>
            </a:pPr>
            <a:r>
              <a:rPr lang="en-US" dirty="0" smtClean="0"/>
              <a:t>Recall budget set</a:t>
            </a:r>
          </a:p>
          <a:p>
            <a:pPr marL="914400" lvl="2" indent="0">
              <a:buNone/>
            </a:pPr>
            <a:r>
              <a:rPr lang="en-US" dirty="0" smtClean="0"/>
              <a:t>Income and prices are all that is needed to infer the shape and size of a economic opportunity set</a:t>
            </a:r>
          </a:p>
          <a:p>
            <a:pPr marL="457200" lvl="1" indent="0">
              <a:buNone/>
            </a:pPr>
            <a:r>
              <a:rPr lang="en-US" dirty="0" smtClean="0"/>
              <a:t>Capability sets</a:t>
            </a:r>
          </a:p>
          <a:p>
            <a:pPr marL="914400" lvl="2" indent="0">
              <a:buNone/>
            </a:pPr>
            <a:r>
              <a:rPr lang="en-US" dirty="0" smtClean="0"/>
              <a:t>Can observe </a:t>
            </a:r>
            <a:r>
              <a:rPr lang="en-US" dirty="0" err="1" smtClean="0"/>
              <a:t>functionings</a:t>
            </a:r>
            <a:endParaRPr lang="en-US" dirty="0" smtClean="0"/>
          </a:p>
          <a:p>
            <a:pPr marL="914400" lvl="2" indent="0">
              <a:buNone/>
            </a:pPr>
            <a:r>
              <a:rPr lang="en-US" dirty="0" smtClean="0"/>
              <a:t>But how do we know the shape and size of a capability set?</a:t>
            </a:r>
          </a:p>
          <a:p>
            <a:pPr marL="1371600" lvl="3" indent="0">
              <a:buNone/>
            </a:pPr>
            <a:r>
              <a:rPr lang="en-US" dirty="0" smtClean="0"/>
              <a:t>Direct questions</a:t>
            </a:r>
          </a:p>
          <a:p>
            <a:pPr marL="1371600" lvl="3" indent="0">
              <a:buNone/>
            </a:pPr>
            <a:r>
              <a:rPr lang="en-US" dirty="0" smtClean="0"/>
              <a:t>Inference (need models)</a:t>
            </a:r>
          </a:p>
          <a:p>
            <a:pPr marL="1828800" lvl="4" indent="0">
              <a:buNone/>
            </a:pPr>
            <a:r>
              <a:rPr lang="en-US" dirty="0" smtClean="0"/>
              <a:t>Analogous to inferring treatment effect</a:t>
            </a:r>
          </a:p>
          <a:p>
            <a:pPr marL="1371600" lvl="3" indent="0">
              <a:buNone/>
            </a:pPr>
            <a:r>
              <a:rPr lang="en-US" dirty="0" smtClean="0"/>
              <a:t>Observations over time</a:t>
            </a:r>
          </a:p>
          <a:p>
            <a:pPr marL="1828800" lvl="4" indent="0">
              <a:buNone/>
            </a:pPr>
            <a:r>
              <a:rPr lang="en-US" dirty="0" smtClean="0"/>
              <a:t>Ramadan </a:t>
            </a:r>
            <a:r>
              <a:rPr lang="en-US" dirty="0" err="1" smtClean="0"/>
              <a:t>vs</a:t>
            </a:r>
            <a:r>
              <a:rPr lang="en-US" dirty="0" smtClean="0"/>
              <a:t> ordinary time</a:t>
            </a:r>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538862454"/>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lnSpcReduction="10000"/>
          </a:bodyPr>
          <a:lstStyle/>
          <a:p>
            <a:pPr marL="0" indent="0">
              <a:buNone/>
            </a:pPr>
            <a:r>
              <a:rPr lang="en-US" dirty="0" smtClean="0"/>
              <a:t>Measuring Opportunity Freedom</a:t>
            </a:r>
          </a:p>
          <a:p>
            <a:pPr marL="457200" lvl="1" indent="0">
              <a:buNone/>
            </a:pPr>
            <a:r>
              <a:rPr lang="en-US" dirty="0" smtClean="0"/>
              <a:t>Several lines of thought in literature (mostly over abstract sets)</a:t>
            </a:r>
          </a:p>
          <a:p>
            <a:pPr marL="914400" lvl="2" indent="0">
              <a:buNone/>
            </a:pPr>
            <a:r>
              <a:rPr lang="en-US" dirty="0" smtClean="0"/>
              <a:t>Traditional indirect utility valuation</a:t>
            </a:r>
          </a:p>
          <a:p>
            <a:pPr marL="1371600" lvl="3" indent="0">
              <a:buNone/>
            </a:pPr>
            <a:r>
              <a:rPr lang="en-US" dirty="0" err="1" smtClean="0"/>
              <a:t>Sen’s</a:t>
            </a:r>
            <a:r>
              <a:rPr lang="en-US" dirty="0" smtClean="0"/>
              <a:t> “elementary” evaluation</a:t>
            </a:r>
          </a:p>
          <a:p>
            <a:pPr marL="1371600" lvl="3" indent="0">
              <a:buNone/>
            </a:pPr>
            <a:r>
              <a:rPr lang="en-US" dirty="0" smtClean="0"/>
              <a:t>No value for </a:t>
            </a:r>
            <a:r>
              <a:rPr lang="en-US" dirty="0" err="1" smtClean="0"/>
              <a:t>unchosen</a:t>
            </a:r>
            <a:r>
              <a:rPr lang="en-US" dirty="0" smtClean="0"/>
              <a:t> options</a:t>
            </a:r>
          </a:p>
          <a:p>
            <a:pPr marL="914400" lvl="2" indent="0">
              <a:buNone/>
            </a:pPr>
            <a:r>
              <a:rPr lang="en-US" dirty="0" err="1" smtClean="0"/>
              <a:t>Pattanaik</a:t>
            </a:r>
            <a:r>
              <a:rPr lang="en-US" dirty="0"/>
              <a:t> </a:t>
            </a:r>
            <a:r>
              <a:rPr lang="en-US" dirty="0" smtClean="0"/>
              <a:t>and </a:t>
            </a:r>
            <a:r>
              <a:rPr lang="en-US" dirty="0" err="1" smtClean="0"/>
              <a:t>Xu</a:t>
            </a:r>
            <a:endParaRPr lang="en-US" dirty="0" smtClean="0"/>
          </a:p>
          <a:p>
            <a:pPr marL="1371600" lvl="3" indent="0">
              <a:buNone/>
            </a:pPr>
            <a:r>
              <a:rPr lang="en-US" dirty="0" smtClean="0"/>
              <a:t>Counting approach</a:t>
            </a:r>
          </a:p>
          <a:p>
            <a:pPr marL="1371600" lvl="3" indent="0">
              <a:buNone/>
            </a:pPr>
            <a:r>
              <a:rPr lang="en-US" dirty="0" smtClean="0"/>
              <a:t>Axiomatically derived</a:t>
            </a:r>
          </a:p>
          <a:p>
            <a:pPr marL="1371600" lvl="3" indent="0">
              <a:buNone/>
            </a:pPr>
            <a:r>
              <a:rPr lang="en-US" dirty="0" smtClean="0"/>
              <a:t>But depends on inability to discern the relative quality of options</a:t>
            </a:r>
            <a:endParaRPr lang="en-US" dirty="0"/>
          </a:p>
          <a:p>
            <a:pPr marL="1371600" lvl="3" indent="0">
              <a:buNone/>
            </a:pPr>
            <a:r>
              <a:rPr lang="en-US" dirty="0" smtClean="0"/>
              <a:t>Basically assumes options have value without explaining why</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536870273"/>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a:bodyPr>
          <a:lstStyle/>
          <a:p>
            <a:pPr marL="0" indent="0">
              <a:buNone/>
            </a:pPr>
            <a:r>
              <a:rPr lang="en-US" dirty="0" smtClean="0"/>
              <a:t>Measuring Opportunity Freedom</a:t>
            </a:r>
          </a:p>
          <a:p>
            <a:pPr marL="457200" lvl="1" indent="0">
              <a:buNone/>
            </a:pPr>
            <a:r>
              <a:rPr lang="en-US" dirty="0" smtClean="0"/>
              <a:t>Kreps (1979), </a:t>
            </a:r>
            <a:r>
              <a:rPr lang="en-US" dirty="0"/>
              <a:t>Foster(</a:t>
            </a:r>
            <a:r>
              <a:rPr lang="en-US" dirty="0" smtClean="0"/>
              <a:t>1993, 2010), Arrow (1995)</a:t>
            </a:r>
          </a:p>
          <a:p>
            <a:pPr marL="457200" lvl="1" indent="0">
              <a:buNone/>
            </a:pPr>
            <a:r>
              <a:rPr lang="en-US" dirty="0" smtClean="0"/>
              <a:t>Provide answer to why </a:t>
            </a:r>
            <a:r>
              <a:rPr lang="en-US" dirty="0"/>
              <a:t>“</a:t>
            </a:r>
            <a:r>
              <a:rPr lang="en-US" dirty="0" err="1"/>
              <a:t>unchosen</a:t>
            </a:r>
            <a:r>
              <a:rPr lang="en-US" dirty="0"/>
              <a:t>” options have </a:t>
            </a:r>
            <a:r>
              <a:rPr lang="en-US" dirty="0" smtClean="0"/>
              <a:t>value </a:t>
            </a:r>
          </a:p>
          <a:p>
            <a:pPr marL="914400" lvl="2" indent="0">
              <a:buNone/>
            </a:pPr>
            <a:r>
              <a:rPr lang="en-US" dirty="0" smtClean="0"/>
              <a:t>Freedom as flexibility</a:t>
            </a:r>
          </a:p>
          <a:p>
            <a:pPr marL="1371600" lvl="3" indent="0">
              <a:buNone/>
            </a:pPr>
            <a:r>
              <a:rPr lang="en-US" dirty="0" smtClean="0"/>
              <a:t>Good choices for every contingency</a:t>
            </a:r>
          </a:p>
          <a:p>
            <a:pPr marL="1371600" lvl="3" indent="0">
              <a:buNone/>
            </a:pPr>
            <a:r>
              <a:rPr lang="en-US" dirty="0" smtClean="0"/>
              <a:t>A kind of options value</a:t>
            </a:r>
          </a:p>
          <a:p>
            <a:pPr marL="914400" lvl="2" indent="0">
              <a:buNone/>
            </a:pPr>
            <a:r>
              <a:rPr lang="en-US" dirty="0" smtClean="0"/>
              <a:t>Discussed at greater length below</a:t>
            </a:r>
          </a:p>
          <a:p>
            <a:pPr lvl="2"/>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232463460"/>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normAutofit fontScale="92500" lnSpcReduction="10000"/>
          </a:bodyPr>
          <a:lstStyle/>
          <a:p>
            <a:pPr marL="0" indent="0">
              <a:buNone/>
            </a:pPr>
            <a:r>
              <a:rPr lang="en-US" dirty="0" smtClean="0"/>
              <a:t>How to measure achieved </a:t>
            </a:r>
            <a:r>
              <a:rPr lang="en-US" dirty="0" err="1" smtClean="0"/>
              <a:t>functionings</a:t>
            </a:r>
            <a:r>
              <a:rPr lang="en-US" dirty="0" smtClean="0"/>
              <a:t>?</a:t>
            </a:r>
          </a:p>
          <a:p>
            <a:pPr marL="0" indent="0">
              <a:buNone/>
            </a:pPr>
            <a:r>
              <a:rPr lang="en-US" dirty="0" smtClean="0"/>
              <a:t>Why important?</a:t>
            </a:r>
          </a:p>
          <a:p>
            <a:pPr marL="457200" lvl="1" indent="0">
              <a:buNone/>
            </a:pPr>
            <a:r>
              <a:rPr lang="en-US" dirty="0" smtClean="0"/>
              <a:t>They miss out on freedom, but:</a:t>
            </a:r>
          </a:p>
          <a:p>
            <a:pPr marL="457200" lvl="1" indent="0">
              <a:buNone/>
            </a:pPr>
            <a:r>
              <a:rPr lang="en-US" dirty="0" err="1" smtClean="0"/>
              <a:t>Functionings</a:t>
            </a:r>
            <a:r>
              <a:rPr lang="en-US" dirty="0" smtClean="0"/>
              <a:t> describe what is, not what could be</a:t>
            </a:r>
          </a:p>
          <a:p>
            <a:pPr marL="457200" lvl="1" indent="0">
              <a:buNone/>
            </a:pPr>
            <a:r>
              <a:rPr lang="en-US" dirty="0" smtClean="0"/>
              <a:t>The real conditions people are experiencing</a:t>
            </a:r>
          </a:p>
          <a:p>
            <a:pPr marL="914400" lvl="2" indent="0">
              <a:buNone/>
            </a:pPr>
            <a:r>
              <a:rPr lang="en-US" dirty="0" smtClean="0"/>
              <a:t>Whether due to their own choice or imposed</a:t>
            </a:r>
          </a:p>
          <a:p>
            <a:pPr marL="914400" lvl="2" indent="0">
              <a:buNone/>
            </a:pPr>
            <a:r>
              <a:rPr lang="en-US" dirty="0" smtClean="0"/>
              <a:t>Whether a result of an irrational choice mechanism or mistakes</a:t>
            </a:r>
          </a:p>
          <a:p>
            <a:pPr marL="914400" lvl="2" indent="0">
              <a:buNone/>
            </a:pPr>
            <a:r>
              <a:rPr lang="en-US" dirty="0" smtClean="0"/>
              <a:t>Agency and opportunity (freedom) also matter, but taking stock of </a:t>
            </a:r>
            <a:r>
              <a:rPr lang="en-US" dirty="0" err="1" smtClean="0"/>
              <a:t>functionings</a:t>
            </a:r>
            <a:r>
              <a:rPr lang="en-US" dirty="0" smtClean="0"/>
              <a:t> is very relevant.</a:t>
            </a:r>
          </a:p>
          <a:p>
            <a:pPr marL="1371600" lvl="3" indent="0">
              <a:buNone/>
            </a:pPr>
            <a:r>
              <a:rPr lang="en-US" dirty="0" smtClean="0"/>
              <a:t>Most applications of the capability approach do this</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743472382"/>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lstStyle/>
          <a:p>
            <a:pPr marL="0" indent="0">
              <a:buNone/>
            </a:pPr>
            <a:r>
              <a:rPr lang="en-US" dirty="0" smtClean="0"/>
              <a:t>Using </a:t>
            </a:r>
            <a:r>
              <a:rPr lang="en-US" dirty="0" err="1" smtClean="0"/>
              <a:t>functionings</a:t>
            </a:r>
            <a:r>
              <a:rPr lang="en-US" dirty="0" smtClean="0"/>
              <a:t> as a basis</a:t>
            </a:r>
            <a:endParaRPr lang="en-US" dirty="0" smtClean="0"/>
          </a:p>
          <a:p>
            <a:pPr marL="0" indent="0">
              <a:buNone/>
            </a:pPr>
            <a:r>
              <a:rPr lang="en-US" dirty="0" smtClean="0"/>
              <a:t>Series </a:t>
            </a:r>
            <a:r>
              <a:rPr lang="en-US" dirty="0" smtClean="0"/>
              <a:t>of </a:t>
            </a:r>
            <a:r>
              <a:rPr lang="en-US" dirty="0" smtClean="0"/>
              <a:t>issues noted in Foster </a:t>
            </a:r>
            <a:r>
              <a:rPr lang="en-US" dirty="0" smtClean="0"/>
              <a:t>and </a:t>
            </a:r>
            <a:r>
              <a:rPr lang="en-US" dirty="0" err="1" smtClean="0"/>
              <a:t>Sen</a:t>
            </a:r>
            <a:endParaRPr lang="en-US" dirty="0" smtClean="0"/>
          </a:p>
          <a:p>
            <a:pPr marL="457200" lvl="1" indent="0">
              <a:buNone/>
            </a:pPr>
            <a:r>
              <a:rPr lang="en-US" dirty="0" smtClean="0"/>
              <a:t>Many </a:t>
            </a:r>
            <a:r>
              <a:rPr lang="en-US" dirty="0" smtClean="0"/>
              <a:t>dimensions	</a:t>
            </a:r>
            <a:r>
              <a:rPr lang="en-US" i="1" dirty="0" smtClean="0">
                <a:solidFill>
                  <a:schemeClr val="bg1">
                    <a:lumMod val="50000"/>
                  </a:schemeClr>
                </a:solidFill>
              </a:rPr>
              <a:t>How to make coherent?</a:t>
            </a:r>
            <a:endParaRPr lang="en-US" dirty="0" smtClean="0"/>
          </a:p>
          <a:p>
            <a:pPr marL="457200" lvl="1" indent="0">
              <a:buNone/>
            </a:pPr>
            <a:r>
              <a:rPr lang="en-US" dirty="0" smtClean="0"/>
              <a:t>Incompleteness	  </a:t>
            </a:r>
            <a:r>
              <a:rPr lang="en-US" i="1" dirty="0" smtClean="0">
                <a:solidFill>
                  <a:srgbClr val="7F7F7F"/>
                </a:solidFill>
              </a:rPr>
              <a:t>Possible outcome is no evaluation</a:t>
            </a:r>
            <a:endParaRPr lang="en-US" i="1" dirty="0" smtClean="0"/>
          </a:p>
          <a:p>
            <a:pPr marL="457200" lvl="1" indent="0">
              <a:buNone/>
            </a:pPr>
            <a:r>
              <a:rPr lang="en-US" dirty="0" smtClean="0"/>
              <a:t>Weights and </a:t>
            </a:r>
            <a:r>
              <a:rPr lang="en-US" dirty="0" smtClean="0"/>
              <a:t>measures  </a:t>
            </a:r>
            <a:r>
              <a:rPr lang="en-US" i="1" dirty="0" smtClean="0">
                <a:solidFill>
                  <a:srgbClr val="7F7F7F"/>
                </a:solidFill>
              </a:rPr>
              <a:t>Deciding on weights</a:t>
            </a:r>
            <a:endParaRPr lang="en-US" dirty="0" smtClean="0"/>
          </a:p>
          <a:p>
            <a:pPr marL="457200" lvl="1" indent="0">
              <a:buNone/>
            </a:pPr>
            <a:r>
              <a:rPr lang="en-US" dirty="0" smtClean="0"/>
              <a:t>Rank robustness </a:t>
            </a:r>
            <a:r>
              <a:rPr lang="en-US" dirty="0" smtClean="0">
                <a:solidFill>
                  <a:srgbClr val="7F7F7F"/>
                </a:solidFill>
              </a:rPr>
              <a:t> </a:t>
            </a:r>
            <a:r>
              <a:rPr lang="en-US" i="1" dirty="0" smtClean="0">
                <a:solidFill>
                  <a:srgbClr val="7F7F7F"/>
                </a:solidFill>
              </a:rPr>
              <a:t>Sensitivity to choice of weights</a:t>
            </a:r>
            <a:endParaRPr lang="en-US" dirty="0" smtClean="0"/>
          </a:p>
          <a:p>
            <a:pPr marL="914400" lvl="2" indent="0">
              <a:buNone/>
            </a:pPr>
            <a:r>
              <a:rPr lang="en-US" dirty="0" smtClean="0"/>
              <a:t>Foster, </a:t>
            </a:r>
            <a:r>
              <a:rPr lang="en-US" dirty="0" err="1" smtClean="0"/>
              <a:t>MacGillivray</a:t>
            </a:r>
            <a:r>
              <a:rPr lang="en-US" dirty="0" smtClean="0"/>
              <a:t>, Seth</a:t>
            </a:r>
            <a:endParaRPr lang="en-US" dirty="0"/>
          </a:p>
          <a:p>
            <a:pPr lvl="2"/>
            <a:endParaRPr lang="en-US" dirty="0" smtClean="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081155694"/>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lstStyle/>
          <a:p>
            <a:pPr marL="0" indent="0">
              <a:buNone/>
            </a:pPr>
            <a:r>
              <a:rPr lang="en-US" dirty="0" smtClean="0"/>
              <a:t>Example 1  Human </a:t>
            </a:r>
            <a:r>
              <a:rPr lang="en-US" dirty="0" smtClean="0"/>
              <a:t>Development </a:t>
            </a:r>
            <a:r>
              <a:rPr lang="en-US" dirty="0" smtClean="0"/>
              <a:t>Index </a:t>
            </a:r>
          </a:p>
          <a:p>
            <a:pPr marL="0" indent="0">
              <a:buNone/>
            </a:pPr>
            <a:r>
              <a:rPr lang="en-US" sz="2800" dirty="0" smtClean="0">
                <a:solidFill>
                  <a:srgbClr val="7F7F7F"/>
                </a:solidFill>
              </a:rPr>
              <a:t>(for countries)</a:t>
            </a:r>
          </a:p>
          <a:p>
            <a:pPr marL="0" indent="0">
              <a:buNone/>
            </a:pPr>
            <a:r>
              <a:rPr lang="en-US" dirty="0"/>
              <a:t>	</a:t>
            </a:r>
            <a:r>
              <a:rPr lang="en-US" dirty="0" smtClean="0"/>
              <a:t>Living standard, education, health</a:t>
            </a:r>
          </a:p>
          <a:p>
            <a:pPr marL="0" indent="0">
              <a:buNone/>
            </a:pPr>
            <a:r>
              <a:rPr lang="en-US" dirty="0"/>
              <a:t>	</a:t>
            </a:r>
            <a:r>
              <a:rPr lang="en-US" dirty="0" smtClean="0"/>
              <a:t>Variables transformed and normalized</a:t>
            </a:r>
          </a:p>
          <a:p>
            <a:pPr marL="0" indent="0">
              <a:buNone/>
            </a:pPr>
            <a:r>
              <a:rPr lang="en-US" dirty="0"/>
              <a:t>	</a:t>
            </a:r>
            <a:r>
              <a:rPr lang="en-US" dirty="0" smtClean="0"/>
              <a:t>Then averaged</a:t>
            </a:r>
            <a:endParaRPr lang="en-US" dirty="0"/>
          </a:p>
          <a:p>
            <a:pPr marL="0" indent="0">
              <a:buNone/>
            </a:pPr>
            <a:r>
              <a:rPr lang="en-US" dirty="0" smtClean="0"/>
              <a:t>Many assumptions and possible criticisms</a:t>
            </a:r>
            <a:endParaRPr lang="en-US" dirty="0" smtClean="0"/>
          </a:p>
          <a:p>
            <a:pPr marL="0" indent="0">
              <a:buNone/>
            </a:pPr>
            <a:r>
              <a:rPr lang="en-US" dirty="0" smtClean="0"/>
              <a:t>Inequality Adjusted HDI</a:t>
            </a:r>
            <a:endParaRPr lang="en-US" dirty="0"/>
          </a:p>
          <a:p>
            <a:pPr lvl="2"/>
            <a:endParaRPr lang="en-US"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034052530"/>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Practical Considerations</a:t>
            </a:r>
            <a:endParaRPr lang="en-US" dirty="0"/>
          </a:p>
        </p:txBody>
      </p:sp>
      <p:sp>
        <p:nvSpPr>
          <p:cNvPr id="8" name="Content Placeholder 7"/>
          <p:cNvSpPr>
            <a:spLocks noGrp="1"/>
          </p:cNvSpPr>
          <p:nvPr>
            <p:ph idx="1"/>
          </p:nvPr>
        </p:nvSpPr>
        <p:spPr/>
        <p:txBody>
          <a:bodyPr/>
          <a:lstStyle/>
          <a:p>
            <a:pPr marL="0" indent="0">
              <a:buNone/>
            </a:pPr>
            <a:r>
              <a:rPr lang="en-US" dirty="0" smtClean="0"/>
              <a:t>Example 2  Multidimensional </a:t>
            </a:r>
            <a:r>
              <a:rPr lang="en-US" dirty="0" smtClean="0"/>
              <a:t>Poverty Index</a:t>
            </a:r>
          </a:p>
          <a:p>
            <a:pPr marL="0" indent="0">
              <a:buNone/>
            </a:pPr>
            <a:r>
              <a:rPr lang="en-US" dirty="0" err="1" smtClean="0">
                <a:solidFill>
                  <a:schemeClr val="bg1">
                    <a:lumMod val="65000"/>
                  </a:schemeClr>
                </a:solidFill>
              </a:rPr>
              <a:t>Alkire</a:t>
            </a:r>
            <a:r>
              <a:rPr lang="en-US" dirty="0">
                <a:solidFill>
                  <a:schemeClr val="bg1">
                    <a:lumMod val="65000"/>
                  </a:schemeClr>
                </a:solidFill>
              </a:rPr>
              <a:t>-Foster (2011</a:t>
            </a:r>
            <a:r>
              <a:rPr lang="en-US" dirty="0" smtClean="0">
                <a:solidFill>
                  <a:schemeClr val="bg1">
                    <a:lumMod val="65000"/>
                  </a:schemeClr>
                </a:solidFill>
              </a:rPr>
              <a:t>)</a:t>
            </a:r>
          </a:p>
          <a:p>
            <a:pPr marL="0" indent="0">
              <a:buNone/>
            </a:pPr>
            <a:r>
              <a:rPr lang="en-US" dirty="0" smtClean="0"/>
              <a:t>Avoids many problems</a:t>
            </a:r>
          </a:p>
          <a:p>
            <a:pPr marL="0" indent="0">
              <a:buNone/>
            </a:pPr>
            <a:r>
              <a:rPr lang="en-US" dirty="0">
                <a:solidFill>
                  <a:schemeClr val="bg1">
                    <a:lumMod val="65000"/>
                  </a:schemeClr>
                </a:solidFill>
              </a:rPr>
              <a:t>	</a:t>
            </a:r>
            <a:r>
              <a:rPr lang="en-US" dirty="0" smtClean="0">
                <a:solidFill>
                  <a:schemeClr val="bg1">
                    <a:lumMod val="65000"/>
                  </a:schemeClr>
                </a:solidFill>
              </a:rPr>
              <a:t>Of ordinal and incommensurate variables</a:t>
            </a:r>
          </a:p>
          <a:p>
            <a:pPr marL="0" indent="0">
              <a:buNone/>
            </a:pPr>
            <a:r>
              <a:rPr lang="en-US" dirty="0">
                <a:solidFill>
                  <a:schemeClr val="bg1">
                    <a:lumMod val="65000"/>
                  </a:schemeClr>
                </a:solidFill>
              </a:rPr>
              <a:t>	</a:t>
            </a:r>
            <a:r>
              <a:rPr lang="en-US" dirty="0" smtClean="0">
                <a:solidFill>
                  <a:schemeClr val="bg1">
                    <a:lumMod val="65000"/>
                  </a:schemeClr>
                </a:solidFill>
              </a:rPr>
              <a:t>Etc.</a:t>
            </a:r>
          </a:p>
          <a:p>
            <a:pPr marL="0" indent="0">
              <a:buNone/>
            </a:pPr>
            <a:r>
              <a:rPr lang="en-US" dirty="0" smtClean="0">
                <a:solidFill>
                  <a:schemeClr val="bg1">
                    <a:lumMod val="65000"/>
                  </a:schemeClr>
                </a:solidFill>
              </a:rPr>
              <a:t>Will discuss later</a:t>
            </a:r>
            <a:endParaRPr lang="en-US" dirty="0">
              <a:solidFill>
                <a:schemeClr val="bg1">
                  <a:lumMod val="65000"/>
                </a:schemeClr>
              </a:solidFill>
            </a:endParaRPr>
          </a:p>
          <a:p>
            <a:pPr lvl="2"/>
            <a:endParaRPr lang="en-US"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260860284"/>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Capability and Opportunity Freedom</a:t>
            </a:r>
            <a:endParaRPr lang="en-US" dirty="0"/>
          </a:p>
        </p:txBody>
      </p:sp>
      <p:sp>
        <p:nvSpPr>
          <p:cNvPr id="8" name="Content Placeholder 7"/>
          <p:cNvSpPr>
            <a:spLocks noGrp="1"/>
          </p:cNvSpPr>
          <p:nvPr>
            <p:ph idx="1"/>
          </p:nvPr>
        </p:nvSpPr>
        <p:spPr/>
        <p:txBody>
          <a:bodyPr>
            <a:normAutofit fontScale="77500" lnSpcReduction="20000"/>
          </a:bodyPr>
          <a:lstStyle/>
          <a:p>
            <a:pPr marL="0" lvl="1" indent="0">
              <a:buNone/>
            </a:pPr>
            <a:r>
              <a:rPr lang="en-US" sz="3500" dirty="0" smtClean="0"/>
              <a:t>From practical to the theoretical</a:t>
            </a:r>
          </a:p>
          <a:p>
            <a:pPr marL="0" indent="0">
              <a:buNone/>
            </a:pPr>
            <a:r>
              <a:rPr lang="en-US" dirty="0" smtClean="0"/>
              <a:t>Q1   </a:t>
            </a:r>
            <a:r>
              <a:rPr lang="en-US" dirty="0" smtClean="0"/>
              <a:t>How to measure (opportunity) freedom?</a:t>
            </a:r>
          </a:p>
          <a:p>
            <a:pPr marL="0" indent="0">
              <a:buNone/>
            </a:pPr>
            <a:r>
              <a:rPr lang="en-US" dirty="0" smtClean="0"/>
              <a:t>Q2   Why should we care about the </a:t>
            </a:r>
            <a:r>
              <a:rPr lang="en-US" dirty="0" err="1" smtClean="0"/>
              <a:t>functionings</a:t>
            </a:r>
            <a:r>
              <a:rPr lang="en-US" dirty="0" smtClean="0"/>
              <a:t> that are not chosen</a:t>
            </a:r>
            <a:r>
              <a:rPr lang="en-US" dirty="0" smtClean="0"/>
              <a:t>?</a:t>
            </a:r>
          </a:p>
          <a:p>
            <a:pPr marL="0" lvl="1" indent="0">
              <a:buNone/>
            </a:pPr>
            <a:r>
              <a:rPr lang="en-US" sz="3500" dirty="0"/>
              <a:t>Start with the simplest of worlds</a:t>
            </a:r>
          </a:p>
          <a:p>
            <a:pPr marL="457200" lvl="1" indent="0">
              <a:buNone/>
            </a:pPr>
            <a:r>
              <a:rPr lang="en-US" dirty="0" err="1"/>
              <a:t>Functionings</a:t>
            </a:r>
            <a:r>
              <a:rPr lang="en-US" dirty="0"/>
              <a:t> are discrete and finite in number</a:t>
            </a:r>
          </a:p>
          <a:p>
            <a:pPr marL="0" indent="0">
              <a:buNone/>
            </a:pPr>
            <a:endParaRPr lang="en-US" dirty="0"/>
          </a:p>
          <a:p>
            <a:pPr marL="0" indent="0">
              <a:buNone/>
            </a:pPr>
            <a:r>
              <a:rPr lang="en-US" dirty="0" smtClean="0"/>
              <a:t>Sources</a:t>
            </a:r>
          </a:p>
          <a:p>
            <a:pPr marL="457200" lvl="1" indent="0">
              <a:buNone/>
            </a:pPr>
            <a:r>
              <a:rPr lang="en-US" dirty="0" err="1" smtClean="0"/>
              <a:t>Pattanaik</a:t>
            </a:r>
            <a:r>
              <a:rPr lang="en-US" dirty="0" smtClean="0"/>
              <a:t> and </a:t>
            </a:r>
            <a:r>
              <a:rPr lang="en-US" dirty="0" err="1" smtClean="0"/>
              <a:t>Xu</a:t>
            </a:r>
            <a:r>
              <a:rPr lang="en-US" dirty="0" smtClean="0"/>
              <a:t> (1990)</a:t>
            </a:r>
          </a:p>
          <a:p>
            <a:pPr marL="457200" lvl="1" indent="0">
              <a:buNone/>
            </a:pPr>
            <a:r>
              <a:rPr lang="en-US" dirty="0" err="1" smtClean="0"/>
              <a:t>Sen</a:t>
            </a:r>
            <a:endParaRPr lang="en-US" dirty="0" smtClean="0"/>
          </a:p>
          <a:p>
            <a:pPr marL="457200" lvl="1" indent="0">
              <a:buNone/>
            </a:pPr>
            <a:r>
              <a:rPr lang="en-US" dirty="0" smtClean="0"/>
              <a:t>Foster (1992, 2011)</a:t>
            </a:r>
          </a:p>
          <a:p>
            <a:pPr marL="457200" lvl="1" indent="0">
              <a:buNone/>
            </a:pPr>
            <a:r>
              <a:rPr lang="en-US" dirty="0" smtClean="0"/>
              <a:t>Arrow (1995)</a:t>
            </a:r>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364803956"/>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chemeClr val="accent2"/>
                </a:solidFill>
              </a:rPr>
              <a:t>Measuring Freedom</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sz="2800" dirty="0" smtClean="0"/>
              <a:t>Notation</a:t>
            </a:r>
          </a:p>
          <a:p>
            <a:pPr lvl="1">
              <a:lnSpc>
                <a:spcPct val="90000"/>
              </a:lnSpc>
              <a:buNone/>
              <a:defRPr/>
            </a:pPr>
            <a:r>
              <a:rPr lang="en-US" sz="2400" dirty="0" smtClean="0"/>
              <a:t>X </a:t>
            </a:r>
            <a:r>
              <a:rPr lang="en-US" sz="2400" dirty="0"/>
              <a:t>is the (finite) set of </a:t>
            </a:r>
            <a:r>
              <a:rPr lang="en-US" sz="2400" dirty="0" smtClean="0"/>
              <a:t>functions or alternative</a:t>
            </a:r>
          </a:p>
          <a:p>
            <a:pPr lvl="1">
              <a:lnSpc>
                <a:spcPct val="90000"/>
              </a:lnSpc>
              <a:buNone/>
              <a:defRPr/>
            </a:pPr>
            <a:r>
              <a:rPr lang="en-US" sz="2400" dirty="0" smtClean="0"/>
              <a:t>An </a:t>
            </a:r>
            <a:r>
              <a:rPr lang="en-US" sz="2400" i="1" dirty="0"/>
              <a:t>opportunity set</a:t>
            </a:r>
            <a:r>
              <a:rPr lang="en-US" sz="2400" dirty="0"/>
              <a:t> is a nonempty subset of X</a:t>
            </a:r>
          </a:p>
          <a:p>
            <a:pPr lvl="2">
              <a:lnSpc>
                <a:spcPct val="90000"/>
              </a:lnSpc>
              <a:buNone/>
              <a:defRPr/>
            </a:pPr>
            <a:r>
              <a:rPr lang="en-US" sz="2000" dirty="0"/>
              <a:t>A, B typical sets</a:t>
            </a:r>
          </a:p>
          <a:p>
            <a:pPr lvl="1">
              <a:lnSpc>
                <a:spcPct val="90000"/>
              </a:lnSpc>
              <a:buNone/>
              <a:defRPr/>
            </a:pPr>
            <a:r>
              <a:rPr lang="en-US" sz="2400" dirty="0"/>
              <a:t>Z is the set of all opportunity </a:t>
            </a:r>
            <a:r>
              <a:rPr lang="en-US" sz="2400" dirty="0" smtClean="0"/>
              <a:t>sets</a:t>
            </a:r>
          </a:p>
          <a:p>
            <a:pPr>
              <a:lnSpc>
                <a:spcPct val="90000"/>
              </a:lnSpc>
              <a:buNone/>
              <a:defRPr/>
            </a:pPr>
            <a:r>
              <a:rPr lang="en-US" sz="2800" dirty="0" smtClean="0"/>
              <a:t>Goal </a:t>
            </a:r>
            <a:endParaRPr lang="en-US" sz="2800" dirty="0"/>
          </a:p>
          <a:p>
            <a:pPr lvl="1">
              <a:lnSpc>
                <a:spcPct val="90000"/>
              </a:lnSpc>
              <a:buNone/>
              <a:defRPr/>
            </a:pPr>
            <a:r>
              <a:rPr lang="en-US" sz="2400" dirty="0" smtClean="0"/>
              <a:t>Find binary </a:t>
            </a:r>
            <a:r>
              <a:rPr lang="en-US" sz="2400" dirty="0"/>
              <a:t>relation </a:t>
            </a:r>
            <a:r>
              <a:rPr lang="en-US" sz="2400" dirty="0" smtClean="0"/>
              <a:t>R </a:t>
            </a:r>
            <a:r>
              <a:rPr lang="en-US" sz="2400" dirty="0" smtClean="0">
                <a:solidFill>
                  <a:srgbClr val="0000FF"/>
                </a:solidFill>
              </a:rPr>
              <a:t>on </a:t>
            </a:r>
            <a:r>
              <a:rPr lang="en-US" sz="2400" dirty="0">
                <a:solidFill>
                  <a:srgbClr val="0000FF"/>
                </a:solidFill>
              </a:rPr>
              <a:t>Z </a:t>
            </a:r>
            <a:endParaRPr lang="en-US" sz="2400" dirty="0" smtClean="0">
              <a:solidFill>
                <a:srgbClr val="0000FF"/>
              </a:solidFill>
            </a:endParaRPr>
          </a:p>
          <a:p>
            <a:pPr lvl="1">
              <a:lnSpc>
                <a:spcPct val="90000"/>
              </a:lnSpc>
              <a:buNone/>
              <a:defRPr/>
            </a:pPr>
            <a:r>
              <a:rPr lang="ja-JP" altLang="en-US" sz="2400" dirty="0" smtClean="0">
                <a:latin typeface="Arial"/>
              </a:rPr>
              <a:t>“</a:t>
            </a:r>
            <a:r>
              <a:rPr lang="en-US" sz="2400" dirty="0" smtClean="0"/>
              <a:t>Freedom ranking</a:t>
            </a:r>
            <a:r>
              <a:rPr lang="ja-JP" altLang="en-US" sz="2400" dirty="0" smtClean="0">
                <a:latin typeface="Arial"/>
              </a:rPr>
              <a:t>”</a:t>
            </a:r>
            <a:endParaRPr lang="en-US" sz="2400" dirty="0" smtClean="0"/>
          </a:p>
          <a:p>
            <a:pPr lvl="1">
              <a:lnSpc>
                <a:spcPct val="90000"/>
              </a:lnSpc>
              <a:buNone/>
              <a:defRPr/>
            </a:pPr>
            <a:r>
              <a:rPr lang="en-US" dirty="0" smtClean="0"/>
              <a:t>A </a:t>
            </a:r>
            <a:r>
              <a:rPr lang="en-US" dirty="0"/>
              <a:t>R B  </a:t>
            </a:r>
            <a:r>
              <a:rPr lang="ja-JP" altLang="en-US" dirty="0">
                <a:latin typeface="Arial"/>
              </a:rPr>
              <a:t>“</a:t>
            </a:r>
            <a:r>
              <a:rPr lang="en-US" dirty="0"/>
              <a:t>A has at least as much freedom as B</a:t>
            </a:r>
            <a:r>
              <a:rPr lang="ja-JP" altLang="en-US" dirty="0">
                <a:latin typeface="Arial"/>
              </a:rPr>
              <a:t>”</a:t>
            </a:r>
            <a:endParaRPr lang="en-US" dirty="0"/>
          </a:p>
          <a:p>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85637334"/>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chemeClr val="accent2"/>
                </a:solidFill>
              </a:rPr>
              <a:t>Measuring Freedom</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smtClean="0"/>
              <a:t>What assumptions on R?</a:t>
            </a:r>
          </a:p>
          <a:p>
            <a:pPr lvl="1">
              <a:lnSpc>
                <a:spcPct val="90000"/>
              </a:lnSpc>
              <a:buNone/>
              <a:defRPr/>
            </a:pPr>
            <a:r>
              <a:rPr lang="en-US" dirty="0" smtClean="0"/>
              <a:t>R </a:t>
            </a:r>
            <a:r>
              <a:rPr lang="en-US" dirty="0"/>
              <a:t>is a </a:t>
            </a:r>
            <a:r>
              <a:rPr lang="en-US" dirty="0" err="1"/>
              <a:t>quasiordering</a:t>
            </a:r>
            <a:endParaRPr lang="en-US" dirty="0"/>
          </a:p>
          <a:p>
            <a:pPr lvl="1">
              <a:lnSpc>
                <a:spcPct val="90000"/>
              </a:lnSpc>
              <a:buNone/>
              <a:defRPr/>
            </a:pPr>
            <a:r>
              <a:rPr lang="en-US" dirty="0"/>
              <a:t>	reflexive and </a:t>
            </a:r>
            <a:r>
              <a:rPr lang="en-US" dirty="0" smtClean="0"/>
              <a:t>transitive</a:t>
            </a:r>
            <a:endParaRPr lang="en-US" dirty="0"/>
          </a:p>
          <a:p>
            <a:pPr>
              <a:lnSpc>
                <a:spcPct val="90000"/>
              </a:lnSpc>
              <a:buNone/>
              <a:defRPr/>
            </a:pPr>
            <a:r>
              <a:rPr lang="en-US" dirty="0"/>
              <a:t>Note</a:t>
            </a:r>
          </a:p>
          <a:p>
            <a:pPr lvl="1">
              <a:lnSpc>
                <a:spcPct val="90000"/>
              </a:lnSpc>
              <a:buNone/>
              <a:defRPr/>
            </a:pPr>
            <a:r>
              <a:rPr lang="en-US" dirty="0"/>
              <a:t>Completeness </a:t>
            </a:r>
            <a:r>
              <a:rPr lang="en-US" i="1" dirty="0"/>
              <a:t>not</a:t>
            </a:r>
            <a:r>
              <a:rPr lang="en-US" dirty="0"/>
              <a:t> assumed</a:t>
            </a:r>
          </a:p>
          <a:p>
            <a:pPr lvl="1">
              <a:lnSpc>
                <a:spcPct val="90000"/>
              </a:lnSpc>
              <a:buNone/>
              <a:defRPr/>
            </a:pPr>
            <a:r>
              <a:rPr lang="en-US" dirty="0"/>
              <a:t>Associated P and I are </a:t>
            </a:r>
            <a:r>
              <a:rPr lang="en-US" dirty="0" smtClean="0"/>
              <a:t>transitive</a:t>
            </a:r>
          </a:p>
          <a:p>
            <a:pPr>
              <a:lnSpc>
                <a:spcPct val="90000"/>
              </a:lnSpc>
              <a:buNone/>
              <a:defRPr/>
            </a:pPr>
            <a:r>
              <a:rPr lang="en-US" dirty="0" smtClean="0"/>
              <a:t>Which R? </a:t>
            </a:r>
            <a:endParaRPr lang="en-US" dirty="0"/>
          </a:p>
          <a:p>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976022721"/>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smtClean="0"/>
              <a:t>Candidate 1   Cardinality ranking</a:t>
            </a:r>
            <a:endParaRPr lang="en-US" dirty="0"/>
          </a:p>
          <a:p>
            <a:pPr marL="342900" lvl="1" indent="-342900">
              <a:lnSpc>
                <a:spcPct val="90000"/>
              </a:lnSpc>
              <a:buNone/>
              <a:defRPr/>
            </a:pPr>
            <a:r>
              <a:rPr lang="en-US" dirty="0" smtClean="0"/>
              <a:t>	</a:t>
            </a:r>
            <a:r>
              <a:rPr lang="en-US" dirty="0" err="1" smtClean="0">
                <a:solidFill>
                  <a:srgbClr val="7F7F7F"/>
                </a:solidFill>
              </a:rPr>
              <a:t>Pattanaik</a:t>
            </a:r>
            <a:r>
              <a:rPr lang="en-US" dirty="0" smtClean="0">
                <a:solidFill>
                  <a:srgbClr val="7F7F7F"/>
                </a:solidFill>
              </a:rPr>
              <a:t> </a:t>
            </a:r>
            <a:r>
              <a:rPr lang="en-US" dirty="0">
                <a:solidFill>
                  <a:srgbClr val="7F7F7F"/>
                </a:solidFill>
              </a:rPr>
              <a:t>and </a:t>
            </a:r>
            <a:r>
              <a:rPr lang="en-US" dirty="0" err="1" smtClean="0">
                <a:solidFill>
                  <a:srgbClr val="7F7F7F"/>
                </a:solidFill>
              </a:rPr>
              <a:t>Xu</a:t>
            </a:r>
            <a:r>
              <a:rPr lang="en-US" dirty="0" smtClean="0">
                <a:solidFill>
                  <a:srgbClr val="7F7F7F"/>
                </a:solidFill>
              </a:rPr>
              <a:t>, </a:t>
            </a:r>
            <a:r>
              <a:rPr lang="en-US" dirty="0" err="1">
                <a:solidFill>
                  <a:srgbClr val="7F7F7F"/>
                </a:solidFill>
              </a:rPr>
              <a:t>Suppes</a:t>
            </a:r>
            <a:r>
              <a:rPr lang="en-US" dirty="0">
                <a:solidFill>
                  <a:srgbClr val="7F7F7F"/>
                </a:solidFill>
              </a:rPr>
              <a:t>, </a:t>
            </a:r>
            <a:r>
              <a:rPr lang="en-US" dirty="0" err="1">
                <a:solidFill>
                  <a:srgbClr val="7F7F7F"/>
                </a:solidFill>
              </a:rPr>
              <a:t>Sugden</a:t>
            </a:r>
            <a:r>
              <a:rPr lang="en-US" dirty="0">
                <a:solidFill>
                  <a:srgbClr val="7F7F7F"/>
                </a:solidFill>
              </a:rPr>
              <a:t>, others</a:t>
            </a:r>
          </a:p>
          <a:p>
            <a:pPr>
              <a:lnSpc>
                <a:spcPct val="90000"/>
              </a:lnSpc>
              <a:buNone/>
              <a:defRPr/>
            </a:pPr>
            <a:endParaRPr lang="en-US" dirty="0" smtClean="0"/>
          </a:p>
          <a:p>
            <a:pPr>
              <a:lnSpc>
                <a:spcPct val="90000"/>
              </a:lnSpc>
              <a:buNone/>
              <a:defRPr/>
            </a:pPr>
            <a:r>
              <a:rPr lang="en-US" dirty="0" smtClean="0"/>
              <a:t>Define </a:t>
            </a:r>
            <a:r>
              <a:rPr lang="en-US" dirty="0"/>
              <a:t>R</a:t>
            </a:r>
            <a:r>
              <a:rPr lang="en-US" baseline="30000" dirty="0"/>
              <a:t>C</a:t>
            </a:r>
            <a:r>
              <a:rPr lang="en-US" dirty="0"/>
              <a:t> by: </a:t>
            </a:r>
          </a:p>
          <a:p>
            <a:pPr lvl="1">
              <a:lnSpc>
                <a:spcPct val="90000"/>
              </a:lnSpc>
              <a:buNone/>
              <a:defRPr/>
            </a:pPr>
            <a:r>
              <a:rPr lang="en-US" dirty="0" smtClean="0"/>
              <a:t>A R</a:t>
            </a:r>
            <a:r>
              <a:rPr lang="en-US" baseline="30000" dirty="0" smtClean="0"/>
              <a:t>C</a:t>
            </a:r>
            <a:r>
              <a:rPr lang="en-US" dirty="0" smtClean="0"/>
              <a:t> </a:t>
            </a:r>
            <a:r>
              <a:rPr lang="en-US" dirty="0"/>
              <a:t>B </a:t>
            </a:r>
            <a:r>
              <a:rPr lang="en-US" dirty="0" err="1"/>
              <a:t>iff</a:t>
            </a:r>
            <a:r>
              <a:rPr lang="en-US" dirty="0"/>
              <a:t> |A| </a:t>
            </a:r>
            <a:r>
              <a:rPr lang="en-US" u="sng" dirty="0"/>
              <a:t>&gt;</a:t>
            </a:r>
            <a:r>
              <a:rPr lang="en-US" dirty="0"/>
              <a:t> |B</a:t>
            </a:r>
            <a:r>
              <a:rPr lang="en-US" dirty="0" smtClean="0"/>
              <a:t>|</a:t>
            </a:r>
          </a:p>
          <a:p>
            <a:pPr lvl="1">
              <a:lnSpc>
                <a:spcPct val="90000"/>
              </a:lnSpc>
              <a:buNone/>
              <a:defRPr/>
            </a:pPr>
            <a:endParaRPr lang="en-US" dirty="0"/>
          </a:p>
          <a:p>
            <a:pPr marL="0" indent="0">
              <a:buNone/>
            </a:pPr>
            <a:r>
              <a:rPr lang="en-US" dirty="0" smtClean="0"/>
              <a:t>Measures using number of </a:t>
            </a:r>
            <a:r>
              <a:rPr lang="en-US" dirty="0" err="1" smtClean="0"/>
              <a:t>functionings</a:t>
            </a:r>
            <a:endParaRPr lang="en-US" dirty="0" smtClean="0"/>
          </a:p>
          <a:p>
            <a:pPr marL="0" indent="0">
              <a:buNone/>
            </a:pPr>
            <a:r>
              <a:rPr lang="en-US" dirty="0" smtClean="0"/>
              <a:t>Characterized by </a:t>
            </a:r>
            <a:r>
              <a:rPr lang="en-US" dirty="0" err="1" smtClean="0"/>
              <a:t>Pattanaik</a:t>
            </a:r>
            <a:r>
              <a:rPr lang="en-US" dirty="0" smtClean="0"/>
              <a:t> and </a:t>
            </a:r>
            <a:r>
              <a:rPr lang="en-US" dirty="0" err="1" smtClean="0"/>
              <a:t>Xu</a:t>
            </a:r>
            <a:endParaRPr lang="en-US" dirty="0" smtClean="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756630623"/>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err="1" smtClean="0"/>
              <a:t>Th</a:t>
            </a:r>
            <a:r>
              <a:rPr lang="en-US" dirty="0" smtClean="0"/>
              <a:t> 1   Cardinality ranking R</a:t>
            </a:r>
            <a:r>
              <a:rPr lang="en-US" baseline="30000" dirty="0" smtClean="0"/>
              <a:t>C</a:t>
            </a:r>
            <a:r>
              <a:rPr lang="en-US" dirty="0"/>
              <a:t> </a:t>
            </a:r>
            <a:r>
              <a:rPr lang="en-US" dirty="0" smtClean="0"/>
              <a:t>is characterized by three axioms:</a:t>
            </a:r>
          </a:p>
          <a:p>
            <a:pPr marL="990600" lvl="1" indent="-533400">
              <a:lnSpc>
                <a:spcPct val="90000"/>
              </a:lnSpc>
              <a:buNone/>
              <a:defRPr/>
            </a:pPr>
            <a:r>
              <a:rPr lang="en-US" dirty="0" smtClean="0"/>
              <a:t>S-Strict 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P </a:t>
            </a:r>
            <a:r>
              <a:rPr lang="en-US" sz="2400" dirty="0" smtClean="0">
                <a:solidFill>
                  <a:srgbClr val="000000"/>
                </a:solidFill>
              </a:rPr>
              <a:t>B   when A </a:t>
            </a:r>
            <a:r>
              <a:rPr lang="en-US" sz="2400" dirty="0">
                <a:solidFill>
                  <a:srgbClr val="000000"/>
                </a:solidFill>
              </a:rPr>
              <a:t>≠ </a:t>
            </a:r>
            <a:r>
              <a:rPr lang="en-US" sz="2400" dirty="0" smtClean="0">
                <a:solidFill>
                  <a:srgbClr val="000000"/>
                </a:solidFill>
              </a:rPr>
              <a:t>B,</a:t>
            </a:r>
            <a:endParaRPr lang="en-US" sz="2400" dirty="0">
              <a:solidFill>
                <a:srgbClr val="000000"/>
              </a:solidFill>
            </a:endParaRPr>
          </a:p>
          <a:p>
            <a:pPr marL="990600" lvl="1" indent="-533400">
              <a:lnSpc>
                <a:spcPct val="90000"/>
              </a:lnSpc>
              <a:buNone/>
              <a:defRPr/>
            </a:pPr>
            <a:r>
              <a:rPr lang="en-US" sz="2400" dirty="0" smtClean="0">
                <a:solidFill>
                  <a:srgbClr val="7F7F7F"/>
                </a:solidFill>
              </a:rPr>
              <a:t> A is singleton, and B has two elements</a:t>
            </a:r>
          </a:p>
          <a:p>
            <a:pPr marL="990600" lvl="1" indent="-533400">
              <a:lnSpc>
                <a:spcPct val="90000"/>
              </a:lnSpc>
              <a:buNone/>
              <a:defRPr/>
            </a:pPr>
            <a:r>
              <a:rPr lang="en-US" dirty="0" smtClean="0"/>
              <a:t>S-Anonymity   #</a:t>
            </a:r>
            <a:r>
              <a:rPr lang="en-US" sz="2400" dirty="0" smtClean="0"/>
              <a:t>A </a:t>
            </a:r>
            <a:r>
              <a:rPr lang="en-US" sz="2400" dirty="0" smtClean="0">
                <a:sym typeface="Symbol" charset="0"/>
              </a:rPr>
              <a:t>=</a:t>
            </a:r>
            <a:r>
              <a:rPr lang="en-US" sz="2400" dirty="0" smtClean="0"/>
              <a:t> #B</a:t>
            </a:r>
            <a:r>
              <a:rPr lang="en-US" sz="2000" dirty="0" smtClean="0"/>
              <a:t> </a:t>
            </a:r>
            <a:r>
              <a:rPr lang="en-US" sz="2400" dirty="0" smtClean="0"/>
              <a:t>implies</a:t>
            </a:r>
            <a:r>
              <a:rPr lang="en-US" sz="2000" dirty="0" smtClean="0"/>
              <a:t> </a:t>
            </a:r>
            <a:r>
              <a:rPr lang="en-US" sz="2400" dirty="0" smtClean="0"/>
              <a:t>A I B   </a:t>
            </a:r>
            <a:r>
              <a:rPr lang="en-US" sz="2400" dirty="0" smtClean="0">
                <a:solidFill>
                  <a:srgbClr val="7F7F7F"/>
                </a:solidFill>
              </a:rPr>
              <a:t>when A singleton</a:t>
            </a:r>
          </a:p>
          <a:p>
            <a:pPr marL="990600" lvl="1" indent="-533400">
              <a:lnSpc>
                <a:spcPct val="90000"/>
              </a:lnSpc>
              <a:buNone/>
              <a:defRPr/>
            </a:pPr>
            <a:r>
              <a:rPr lang="en-US" dirty="0" smtClean="0"/>
              <a:t>S-Independence  </a:t>
            </a:r>
            <a:r>
              <a:rPr lang="en-US" sz="2400" dirty="0"/>
              <a:t>A R B if and only if (A </a:t>
            </a:r>
            <a:r>
              <a:rPr lang="en-US" sz="2400" dirty="0">
                <a:sym typeface="Symbol" charset="0"/>
              </a:rPr>
              <a:t></a:t>
            </a:r>
            <a:r>
              <a:rPr lang="en-US" sz="2400" dirty="0"/>
              <a:t> C) R (B </a:t>
            </a:r>
            <a:r>
              <a:rPr lang="en-US" sz="2400" dirty="0">
                <a:sym typeface="Symbol" charset="0"/>
              </a:rPr>
              <a:t></a:t>
            </a:r>
            <a:r>
              <a:rPr lang="en-US" sz="2400" dirty="0"/>
              <a:t> C</a:t>
            </a:r>
            <a:r>
              <a:rPr lang="en-US" sz="2400" dirty="0" smtClean="0"/>
              <a:t>) </a:t>
            </a:r>
            <a:r>
              <a:rPr lang="en-US" sz="2400" dirty="0" smtClean="0">
                <a:solidFill>
                  <a:srgbClr val="000000"/>
                </a:solidFill>
              </a:rPr>
              <a:t>when A </a:t>
            </a:r>
            <a:r>
              <a:rPr lang="en-US" sz="2400" dirty="0">
                <a:solidFill>
                  <a:srgbClr val="000000"/>
                </a:solidFill>
              </a:rPr>
              <a:t> C =  = B  </a:t>
            </a:r>
            <a:r>
              <a:rPr lang="en-US" sz="2400" dirty="0" smtClean="0">
                <a:solidFill>
                  <a:srgbClr val="000000"/>
                </a:solidFill>
              </a:rPr>
              <a:t>C</a:t>
            </a:r>
            <a:r>
              <a:rPr lang="en-US" sz="2400" dirty="0" smtClean="0">
                <a:solidFill>
                  <a:srgbClr val="7F7F7F"/>
                </a:solidFill>
              </a:rPr>
              <a:t> </a:t>
            </a:r>
            <a:r>
              <a:rPr lang="en-US" sz="2400" dirty="0">
                <a:solidFill>
                  <a:srgbClr val="7F7F7F"/>
                </a:solidFill>
              </a:rPr>
              <a:t>and </a:t>
            </a:r>
            <a:r>
              <a:rPr lang="en-US" sz="2400" dirty="0" smtClean="0">
                <a:solidFill>
                  <a:srgbClr val="7F7F7F"/>
                </a:solidFill>
              </a:rPr>
              <a:t>C singleton</a:t>
            </a:r>
          </a:p>
          <a:p>
            <a:pPr marL="990600" lvl="1" indent="-533400">
              <a:lnSpc>
                <a:spcPct val="90000"/>
              </a:lnSpc>
              <a:buNone/>
              <a:defRPr/>
            </a:pPr>
            <a:endParaRPr lang="en-US" sz="2400" dirty="0" smtClean="0">
              <a:solidFill>
                <a:srgbClr val="7F7F7F"/>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67923906"/>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err="1" smtClean="0"/>
              <a:t>Th</a:t>
            </a:r>
            <a:r>
              <a:rPr lang="en-US" dirty="0" smtClean="0"/>
              <a:t> 1   Cardinality ranking R</a:t>
            </a:r>
            <a:r>
              <a:rPr lang="en-US" baseline="30000" dirty="0" smtClean="0"/>
              <a:t>C</a:t>
            </a:r>
            <a:r>
              <a:rPr lang="en-US" dirty="0"/>
              <a:t> </a:t>
            </a:r>
            <a:r>
              <a:rPr lang="en-US" dirty="0" smtClean="0"/>
              <a:t>is characterized by three axioms:</a:t>
            </a:r>
          </a:p>
          <a:p>
            <a:pPr marL="990600" lvl="1" indent="-533400">
              <a:lnSpc>
                <a:spcPct val="90000"/>
              </a:lnSpc>
              <a:buNone/>
              <a:defRPr/>
            </a:pPr>
            <a:r>
              <a:rPr lang="en-US" dirty="0" smtClean="0"/>
              <a:t>S-Strict 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P </a:t>
            </a:r>
            <a:r>
              <a:rPr lang="en-US" sz="2400" dirty="0" smtClean="0">
                <a:solidFill>
                  <a:srgbClr val="000000"/>
                </a:solidFill>
              </a:rPr>
              <a:t>B   when A </a:t>
            </a:r>
            <a:r>
              <a:rPr lang="en-US" sz="2400" dirty="0">
                <a:solidFill>
                  <a:srgbClr val="000000"/>
                </a:solidFill>
              </a:rPr>
              <a:t>≠ </a:t>
            </a:r>
            <a:r>
              <a:rPr lang="en-US" sz="2400" dirty="0" smtClean="0">
                <a:solidFill>
                  <a:srgbClr val="000000"/>
                </a:solidFill>
              </a:rPr>
              <a:t>B,</a:t>
            </a:r>
            <a:endParaRPr lang="en-US" sz="2400" dirty="0">
              <a:solidFill>
                <a:srgbClr val="000000"/>
              </a:solidFill>
            </a:endParaRPr>
          </a:p>
          <a:p>
            <a:pPr marL="990600" lvl="1" indent="-533400">
              <a:lnSpc>
                <a:spcPct val="90000"/>
              </a:lnSpc>
              <a:buNone/>
              <a:defRPr/>
            </a:pPr>
            <a:r>
              <a:rPr lang="en-US" sz="2400" dirty="0" smtClean="0">
                <a:solidFill>
                  <a:srgbClr val="7F7F7F"/>
                </a:solidFill>
              </a:rPr>
              <a:t> A is singleton, and B has two elements</a:t>
            </a:r>
          </a:p>
          <a:p>
            <a:pPr marL="990600" lvl="1" indent="-533400">
              <a:lnSpc>
                <a:spcPct val="90000"/>
              </a:lnSpc>
              <a:buNone/>
              <a:defRPr/>
            </a:pPr>
            <a:r>
              <a:rPr lang="en-US" dirty="0" smtClean="0"/>
              <a:t>S-Anonymity   #</a:t>
            </a:r>
            <a:r>
              <a:rPr lang="en-US" sz="2400" dirty="0" smtClean="0"/>
              <a:t>A </a:t>
            </a:r>
            <a:r>
              <a:rPr lang="en-US" sz="2400" dirty="0" smtClean="0">
                <a:sym typeface="Symbol" charset="0"/>
              </a:rPr>
              <a:t>=</a:t>
            </a:r>
            <a:r>
              <a:rPr lang="en-US" sz="2400" dirty="0" smtClean="0"/>
              <a:t> #B</a:t>
            </a:r>
            <a:r>
              <a:rPr lang="en-US" sz="2000" dirty="0" smtClean="0"/>
              <a:t> </a:t>
            </a:r>
            <a:r>
              <a:rPr lang="en-US" sz="2400" dirty="0" smtClean="0"/>
              <a:t>implies</a:t>
            </a:r>
            <a:r>
              <a:rPr lang="en-US" sz="2000" dirty="0" smtClean="0"/>
              <a:t> </a:t>
            </a:r>
            <a:r>
              <a:rPr lang="en-US" sz="2400" dirty="0" smtClean="0"/>
              <a:t>A I B   </a:t>
            </a:r>
            <a:r>
              <a:rPr lang="en-US" sz="2400" dirty="0" smtClean="0">
                <a:solidFill>
                  <a:srgbClr val="7F7F7F"/>
                </a:solidFill>
              </a:rPr>
              <a:t>when A singleton</a:t>
            </a:r>
          </a:p>
          <a:p>
            <a:pPr marL="990600" lvl="1" indent="-533400">
              <a:lnSpc>
                <a:spcPct val="90000"/>
              </a:lnSpc>
              <a:buNone/>
              <a:defRPr/>
            </a:pPr>
            <a:r>
              <a:rPr lang="en-US" dirty="0" smtClean="0"/>
              <a:t>S-Independence  </a:t>
            </a:r>
            <a:r>
              <a:rPr lang="en-US" sz="2400" dirty="0"/>
              <a:t>A R B if and only if (A </a:t>
            </a:r>
            <a:r>
              <a:rPr lang="en-US" sz="2400" dirty="0">
                <a:sym typeface="Symbol" charset="0"/>
              </a:rPr>
              <a:t></a:t>
            </a:r>
            <a:r>
              <a:rPr lang="en-US" sz="2400" dirty="0"/>
              <a:t> C) R (B </a:t>
            </a:r>
            <a:r>
              <a:rPr lang="en-US" sz="2400" dirty="0">
                <a:sym typeface="Symbol" charset="0"/>
              </a:rPr>
              <a:t></a:t>
            </a:r>
            <a:r>
              <a:rPr lang="en-US" sz="2400" dirty="0"/>
              <a:t> C</a:t>
            </a:r>
            <a:r>
              <a:rPr lang="en-US" sz="2400" dirty="0" smtClean="0"/>
              <a:t>) </a:t>
            </a:r>
            <a:r>
              <a:rPr lang="en-US" sz="2400" dirty="0" smtClean="0">
                <a:solidFill>
                  <a:srgbClr val="000000"/>
                </a:solidFill>
              </a:rPr>
              <a:t>when A </a:t>
            </a:r>
            <a:r>
              <a:rPr lang="en-US" sz="2400" dirty="0">
                <a:solidFill>
                  <a:srgbClr val="000000"/>
                </a:solidFill>
              </a:rPr>
              <a:t> C =  = B  </a:t>
            </a:r>
            <a:r>
              <a:rPr lang="en-US" sz="2400" dirty="0" smtClean="0">
                <a:solidFill>
                  <a:srgbClr val="000000"/>
                </a:solidFill>
              </a:rPr>
              <a:t>C</a:t>
            </a:r>
            <a:r>
              <a:rPr lang="en-US" sz="2400" dirty="0" smtClean="0">
                <a:solidFill>
                  <a:srgbClr val="7F7F7F"/>
                </a:solidFill>
              </a:rPr>
              <a:t> </a:t>
            </a:r>
            <a:r>
              <a:rPr lang="en-US" sz="2400" dirty="0">
                <a:solidFill>
                  <a:srgbClr val="7F7F7F"/>
                </a:solidFill>
              </a:rPr>
              <a:t>and </a:t>
            </a:r>
            <a:r>
              <a:rPr lang="en-US" sz="2400" dirty="0" smtClean="0">
                <a:solidFill>
                  <a:srgbClr val="7F7F7F"/>
                </a:solidFill>
              </a:rPr>
              <a:t>C singleton</a:t>
            </a:r>
          </a:p>
          <a:p>
            <a:pPr marL="590550" indent="-533400">
              <a:lnSpc>
                <a:spcPct val="90000"/>
              </a:lnSpc>
              <a:buNone/>
              <a:defRPr/>
            </a:pPr>
            <a:r>
              <a:rPr lang="en-US" dirty="0" smtClean="0">
                <a:solidFill>
                  <a:srgbClr val="7F7F7F"/>
                </a:solidFill>
              </a:rPr>
              <a:t>Proof: Can drop singleton restrictions, then </a:t>
            </a:r>
            <a:r>
              <a:rPr lang="en-US" dirty="0" err="1" smtClean="0">
                <a:solidFill>
                  <a:srgbClr val="7F7F7F"/>
                </a:solidFill>
              </a:rPr>
              <a:t>obv</a:t>
            </a:r>
            <a:r>
              <a:rPr lang="en-US" dirty="0" smtClean="0">
                <a:solidFill>
                  <a:srgbClr val="7F7F7F"/>
                </a:solidFill>
              </a:rPr>
              <a:t>.</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25281923"/>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err="1" smtClean="0"/>
              <a:t>Th</a:t>
            </a:r>
            <a:r>
              <a:rPr lang="en-US" dirty="0" smtClean="0"/>
              <a:t> 1   Cardinality ranking R</a:t>
            </a:r>
            <a:r>
              <a:rPr lang="en-US" baseline="30000" dirty="0" smtClean="0"/>
              <a:t>C</a:t>
            </a:r>
            <a:r>
              <a:rPr lang="en-US" dirty="0"/>
              <a:t> </a:t>
            </a:r>
            <a:r>
              <a:rPr lang="en-US" dirty="0" smtClean="0"/>
              <a:t>is characterized by three axioms:</a:t>
            </a:r>
          </a:p>
          <a:p>
            <a:pPr marL="990600" lvl="1" indent="-533400">
              <a:lnSpc>
                <a:spcPct val="90000"/>
              </a:lnSpc>
              <a:buNone/>
              <a:defRPr/>
            </a:pPr>
            <a:r>
              <a:rPr lang="en-US" dirty="0" smtClean="0"/>
              <a:t>S-Strict 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P </a:t>
            </a:r>
            <a:r>
              <a:rPr lang="en-US" sz="2400" dirty="0" smtClean="0">
                <a:solidFill>
                  <a:srgbClr val="000000"/>
                </a:solidFill>
              </a:rPr>
              <a:t>B   when A </a:t>
            </a:r>
            <a:r>
              <a:rPr lang="en-US" sz="2400" dirty="0">
                <a:solidFill>
                  <a:srgbClr val="000000"/>
                </a:solidFill>
              </a:rPr>
              <a:t>≠ </a:t>
            </a:r>
            <a:r>
              <a:rPr lang="en-US" sz="2400" dirty="0" smtClean="0">
                <a:solidFill>
                  <a:srgbClr val="000000"/>
                </a:solidFill>
              </a:rPr>
              <a:t>B,</a:t>
            </a:r>
            <a:endParaRPr lang="en-US" sz="2400" dirty="0">
              <a:solidFill>
                <a:srgbClr val="000000"/>
              </a:solidFill>
            </a:endParaRPr>
          </a:p>
          <a:p>
            <a:pPr marL="990600" lvl="1" indent="-533400">
              <a:lnSpc>
                <a:spcPct val="90000"/>
              </a:lnSpc>
              <a:buNone/>
              <a:defRPr/>
            </a:pPr>
            <a:r>
              <a:rPr lang="en-US" sz="2400" dirty="0" smtClean="0">
                <a:solidFill>
                  <a:srgbClr val="7F7F7F"/>
                </a:solidFill>
              </a:rPr>
              <a:t> A is singleton, and B has two elements</a:t>
            </a:r>
          </a:p>
          <a:p>
            <a:pPr marL="990600" lvl="1" indent="-533400">
              <a:lnSpc>
                <a:spcPct val="90000"/>
              </a:lnSpc>
              <a:buNone/>
              <a:defRPr/>
            </a:pPr>
            <a:r>
              <a:rPr lang="en-US" dirty="0" smtClean="0"/>
              <a:t>S-Anonymity   #</a:t>
            </a:r>
            <a:r>
              <a:rPr lang="en-US" sz="2400" dirty="0" smtClean="0"/>
              <a:t>A </a:t>
            </a:r>
            <a:r>
              <a:rPr lang="en-US" sz="2400" dirty="0" smtClean="0">
                <a:sym typeface="Symbol" charset="0"/>
              </a:rPr>
              <a:t>=</a:t>
            </a:r>
            <a:r>
              <a:rPr lang="en-US" sz="2400" dirty="0" smtClean="0"/>
              <a:t> #B</a:t>
            </a:r>
            <a:r>
              <a:rPr lang="en-US" sz="2000" dirty="0" smtClean="0"/>
              <a:t> </a:t>
            </a:r>
            <a:r>
              <a:rPr lang="en-US" sz="2400" dirty="0" smtClean="0"/>
              <a:t>implies</a:t>
            </a:r>
            <a:r>
              <a:rPr lang="en-US" sz="2000" dirty="0" smtClean="0"/>
              <a:t> </a:t>
            </a:r>
            <a:r>
              <a:rPr lang="en-US" sz="2400" dirty="0" smtClean="0"/>
              <a:t>A I B   </a:t>
            </a:r>
            <a:r>
              <a:rPr lang="en-US" sz="2400" dirty="0" smtClean="0">
                <a:solidFill>
                  <a:srgbClr val="7F7F7F"/>
                </a:solidFill>
              </a:rPr>
              <a:t>when A singleton</a:t>
            </a:r>
          </a:p>
          <a:p>
            <a:pPr marL="990600" lvl="1" indent="-533400">
              <a:lnSpc>
                <a:spcPct val="90000"/>
              </a:lnSpc>
              <a:buNone/>
              <a:defRPr/>
            </a:pPr>
            <a:r>
              <a:rPr lang="en-US" dirty="0" smtClean="0"/>
              <a:t>S-Independence  </a:t>
            </a:r>
            <a:r>
              <a:rPr lang="en-US" sz="2400" dirty="0"/>
              <a:t>A R B if and only if (A </a:t>
            </a:r>
            <a:r>
              <a:rPr lang="en-US" sz="2400" dirty="0">
                <a:sym typeface="Symbol" charset="0"/>
              </a:rPr>
              <a:t></a:t>
            </a:r>
            <a:r>
              <a:rPr lang="en-US" sz="2400" dirty="0"/>
              <a:t> C) R (B </a:t>
            </a:r>
            <a:r>
              <a:rPr lang="en-US" sz="2400" dirty="0">
                <a:sym typeface="Symbol" charset="0"/>
              </a:rPr>
              <a:t></a:t>
            </a:r>
            <a:r>
              <a:rPr lang="en-US" sz="2400" dirty="0"/>
              <a:t> C</a:t>
            </a:r>
            <a:r>
              <a:rPr lang="en-US" sz="2400" dirty="0" smtClean="0"/>
              <a:t>) </a:t>
            </a:r>
            <a:r>
              <a:rPr lang="en-US" sz="2400" dirty="0" smtClean="0">
                <a:solidFill>
                  <a:srgbClr val="000000"/>
                </a:solidFill>
              </a:rPr>
              <a:t>when A </a:t>
            </a:r>
            <a:r>
              <a:rPr lang="en-US" sz="2400" dirty="0">
                <a:solidFill>
                  <a:srgbClr val="000000"/>
                </a:solidFill>
              </a:rPr>
              <a:t> C =  = B  </a:t>
            </a:r>
            <a:r>
              <a:rPr lang="en-US" sz="2400" dirty="0" smtClean="0">
                <a:solidFill>
                  <a:srgbClr val="000000"/>
                </a:solidFill>
              </a:rPr>
              <a:t>C</a:t>
            </a:r>
            <a:r>
              <a:rPr lang="en-US" sz="2400" dirty="0" smtClean="0">
                <a:solidFill>
                  <a:srgbClr val="7F7F7F"/>
                </a:solidFill>
              </a:rPr>
              <a:t> </a:t>
            </a:r>
            <a:r>
              <a:rPr lang="en-US" sz="2400" dirty="0">
                <a:solidFill>
                  <a:srgbClr val="7F7F7F"/>
                </a:solidFill>
              </a:rPr>
              <a:t>and </a:t>
            </a:r>
            <a:r>
              <a:rPr lang="en-US" sz="2400" dirty="0" smtClean="0">
                <a:solidFill>
                  <a:srgbClr val="7F7F7F"/>
                </a:solidFill>
              </a:rPr>
              <a:t>C singleton</a:t>
            </a:r>
          </a:p>
          <a:p>
            <a:pPr marL="590550" indent="-533400">
              <a:lnSpc>
                <a:spcPct val="90000"/>
              </a:lnSpc>
              <a:buNone/>
              <a:defRPr/>
            </a:pPr>
            <a:r>
              <a:rPr lang="en-US" dirty="0" smtClean="0">
                <a:solidFill>
                  <a:srgbClr val="7F7F7F"/>
                </a:solidFill>
              </a:rPr>
              <a:t>Proof: Can drop singleton restrictions, then </a:t>
            </a:r>
            <a:r>
              <a:rPr lang="en-US" dirty="0" err="1" smtClean="0">
                <a:solidFill>
                  <a:srgbClr val="7F7F7F"/>
                </a:solidFill>
              </a:rPr>
              <a:t>obv</a:t>
            </a:r>
            <a:r>
              <a:rPr lang="en-US" dirty="0" smtClean="0">
                <a:solidFill>
                  <a:srgbClr val="7F7F7F"/>
                </a:solidFill>
              </a:rPr>
              <a:t>.</a:t>
            </a:r>
          </a:p>
          <a:p>
            <a:pPr marL="590550" indent="-533400">
              <a:lnSpc>
                <a:spcPct val="90000"/>
              </a:lnSpc>
              <a:buNone/>
              <a:defRPr/>
            </a:pPr>
            <a:r>
              <a:rPr lang="en-US" dirty="0"/>
              <a:t>Note  R</a:t>
            </a:r>
            <a:r>
              <a:rPr lang="en-US" baseline="30000" dirty="0"/>
              <a:t>C</a:t>
            </a:r>
            <a:r>
              <a:rPr lang="en-US" dirty="0"/>
              <a:t> is </a:t>
            </a:r>
            <a:r>
              <a:rPr lang="en-US" dirty="0" smtClean="0"/>
              <a:t>extreme. Which </a:t>
            </a:r>
            <a:r>
              <a:rPr lang="en-US" dirty="0"/>
              <a:t>axiom is culprit?</a:t>
            </a:r>
          </a:p>
          <a:p>
            <a:pPr marL="590550" indent="-533400">
              <a:lnSpc>
                <a:spcPct val="90000"/>
              </a:lnSpc>
              <a:buNone/>
              <a:defRPr/>
            </a:pP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222640189"/>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err="1" smtClean="0"/>
              <a:t>Th</a:t>
            </a:r>
            <a:r>
              <a:rPr lang="en-US" dirty="0" smtClean="0"/>
              <a:t> 2   Cardinality ranking R</a:t>
            </a:r>
            <a:r>
              <a:rPr lang="en-US" baseline="30000" dirty="0" smtClean="0"/>
              <a:t>C</a:t>
            </a:r>
            <a:r>
              <a:rPr lang="en-US" dirty="0"/>
              <a:t> </a:t>
            </a:r>
            <a:r>
              <a:rPr lang="en-US" dirty="0" smtClean="0"/>
              <a:t>and trivial ranking R</a:t>
            </a:r>
            <a:r>
              <a:rPr lang="en-US" baseline="30000" dirty="0" smtClean="0"/>
              <a:t>T</a:t>
            </a:r>
            <a:r>
              <a:rPr lang="en-US" dirty="0" smtClean="0"/>
              <a:t> are characterized by three axioms:</a:t>
            </a:r>
          </a:p>
          <a:p>
            <a:pPr marL="990600" lvl="1" indent="-533400">
              <a:lnSpc>
                <a:spcPct val="90000"/>
              </a:lnSpc>
              <a:buNone/>
              <a:defRPr/>
            </a:pPr>
            <a:r>
              <a:rPr lang="en-US" dirty="0" smtClean="0"/>
              <a:t>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a:t>
            </a:r>
            <a:r>
              <a:rPr lang="en-US" sz="2400" dirty="0" smtClean="0"/>
              <a:t>R </a:t>
            </a:r>
            <a:r>
              <a:rPr lang="en-US" sz="2400" dirty="0" smtClean="0">
                <a:solidFill>
                  <a:srgbClr val="000000"/>
                </a:solidFill>
              </a:rPr>
              <a:t>B  </a:t>
            </a:r>
          </a:p>
          <a:p>
            <a:pPr marL="990600" lvl="1" indent="-533400">
              <a:lnSpc>
                <a:spcPct val="90000"/>
              </a:lnSpc>
              <a:buNone/>
              <a:defRPr/>
            </a:pPr>
            <a:r>
              <a:rPr lang="en-US" dirty="0" smtClean="0"/>
              <a:t>S-Anonymity   #</a:t>
            </a:r>
            <a:r>
              <a:rPr lang="en-US" sz="2400" dirty="0" smtClean="0"/>
              <a:t>A </a:t>
            </a:r>
            <a:r>
              <a:rPr lang="en-US" sz="2400" dirty="0" smtClean="0">
                <a:sym typeface="Symbol" charset="0"/>
              </a:rPr>
              <a:t>=</a:t>
            </a:r>
            <a:r>
              <a:rPr lang="en-US" sz="2400" dirty="0" smtClean="0"/>
              <a:t> #B</a:t>
            </a:r>
            <a:r>
              <a:rPr lang="en-US" sz="2000" dirty="0" smtClean="0"/>
              <a:t> </a:t>
            </a:r>
            <a:r>
              <a:rPr lang="en-US" sz="2400" dirty="0" smtClean="0"/>
              <a:t>implies</a:t>
            </a:r>
            <a:r>
              <a:rPr lang="en-US" sz="2000" dirty="0" smtClean="0"/>
              <a:t> </a:t>
            </a:r>
            <a:r>
              <a:rPr lang="en-US" sz="2400" dirty="0" smtClean="0"/>
              <a:t>A I B   </a:t>
            </a:r>
            <a:r>
              <a:rPr lang="en-US" sz="2400" dirty="0" smtClean="0">
                <a:solidFill>
                  <a:srgbClr val="7F7F7F"/>
                </a:solidFill>
              </a:rPr>
              <a:t>when A singleton</a:t>
            </a:r>
          </a:p>
          <a:p>
            <a:pPr marL="990600" lvl="1" indent="-533400">
              <a:lnSpc>
                <a:spcPct val="90000"/>
              </a:lnSpc>
              <a:buNone/>
              <a:defRPr/>
            </a:pPr>
            <a:r>
              <a:rPr lang="en-US" dirty="0" smtClean="0"/>
              <a:t>S-Independence  </a:t>
            </a:r>
            <a:r>
              <a:rPr lang="en-US" sz="2400" dirty="0"/>
              <a:t>A R B if and only if (A </a:t>
            </a:r>
            <a:r>
              <a:rPr lang="en-US" sz="2400" dirty="0">
                <a:sym typeface="Symbol" charset="0"/>
              </a:rPr>
              <a:t></a:t>
            </a:r>
            <a:r>
              <a:rPr lang="en-US" sz="2400" dirty="0"/>
              <a:t> C) R (B </a:t>
            </a:r>
            <a:r>
              <a:rPr lang="en-US" sz="2400" dirty="0">
                <a:sym typeface="Symbol" charset="0"/>
              </a:rPr>
              <a:t></a:t>
            </a:r>
            <a:r>
              <a:rPr lang="en-US" sz="2400" dirty="0"/>
              <a:t> C</a:t>
            </a:r>
            <a:r>
              <a:rPr lang="en-US" sz="2400" dirty="0" smtClean="0"/>
              <a:t>) </a:t>
            </a:r>
            <a:r>
              <a:rPr lang="en-US" sz="2400" dirty="0" smtClean="0">
                <a:solidFill>
                  <a:srgbClr val="000000"/>
                </a:solidFill>
              </a:rPr>
              <a:t>when A </a:t>
            </a:r>
            <a:r>
              <a:rPr lang="en-US" sz="2400" dirty="0">
                <a:solidFill>
                  <a:srgbClr val="000000"/>
                </a:solidFill>
              </a:rPr>
              <a:t> C =  = B  </a:t>
            </a:r>
            <a:r>
              <a:rPr lang="en-US" sz="2400" dirty="0" smtClean="0">
                <a:solidFill>
                  <a:srgbClr val="000000"/>
                </a:solidFill>
              </a:rPr>
              <a:t>C</a:t>
            </a:r>
            <a:r>
              <a:rPr lang="en-US" sz="2400" dirty="0" smtClean="0">
                <a:solidFill>
                  <a:srgbClr val="7F7F7F"/>
                </a:solidFill>
              </a:rPr>
              <a:t> </a:t>
            </a:r>
            <a:r>
              <a:rPr lang="en-US" sz="2400" dirty="0">
                <a:solidFill>
                  <a:srgbClr val="7F7F7F"/>
                </a:solidFill>
              </a:rPr>
              <a:t>and </a:t>
            </a:r>
            <a:r>
              <a:rPr lang="en-US" sz="2400" dirty="0" smtClean="0">
                <a:solidFill>
                  <a:srgbClr val="7F7F7F"/>
                </a:solidFill>
              </a:rPr>
              <a:t>C singleton</a:t>
            </a:r>
          </a:p>
          <a:p>
            <a:pPr marL="590550" indent="-533400">
              <a:lnSpc>
                <a:spcPct val="90000"/>
              </a:lnSpc>
              <a:buNone/>
              <a:defRPr/>
            </a:pP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587489061"/>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Freedom Counts</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err="1" smtClean="0"/>
              <a:t>Th</a:t>
            </a:r>
            <a:r>
              <a:rPr lang="en-US" dirty="0" smtClean="0"/>
              <a:t> 3   Censored cardinality ranking </a:t>
            </a:r>
            <a:r>
              <a:rPr lang="en-US" dirty="0" err="1" smtClean="0"/>
              <a:t>R</a:t>
            </a:r>
            <a:r>
              <a:rPr lang="en-US" baseline="30000" dirty="0" err="1"/>
              <a:t>k</a:t>
            </a:r>
            <a:r>
              <a:rPr lang="en-US" dirty="0" smtClean="0"/>
              <a:t> is characterized by three axioms:</a:t>
            </a:r>
          </a:p>
          <a:p>
            <a:pPr marL="990600" lvl="1" indent="-533400">
              <a:lnSpc>
                <a:spcPct val="90000"/>
              </a:lnSpc>
              <a:buNone/>
              <a:defRPr/>
            </a:pPr>
            <a:r>
              <a:rPr lang="en-US" dirty="0" smtClean="0"/>
              <a:t>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a:t>
            </a:r>
            <a:r>
              <a:rPr lang="en-US" sz="2400" dirty="0" smtClean="0"/>
              <a:t>R </a:t>
            </a:r>
            <a:r>
              <a:rPr lang="en-US" sz="2400" dirty="0" smtClean="0">
                <a:solidFill>
                  <a:srgbClr val="000000"/>
                </a:solidFill>
              </a:rPr>
              <a:t>B  </a:t>
            </a:r>
          </a:p>
          <a:p>
            <a:pPr marL="990600" lvl="1" indent="-533400">
              <a:lnSpc>
                <a:spcPct val="90000"/>
              </a:lnSpc>
              <a:buNone/>
              <a:defRPr/>
            </a:pPr>
            <a:r>
              <a:rPr lang="en-US" dirty="0" smtClean="0"/>
              <a:t>S-Anonymity   #</a:t>
            </a:r>
            <a:r>
              <a:rPr lang="en-US" sz="2400" dirty="0" smtClean="0"/>
              <a:t>A </a:t>
            </a:r>
            <a:r>
              <a:rPr lang="en-US" sz="2400" dirty="0" smtClean="0">
                <a:sym typeface="Symbol" charset="0"/>
              </a:rPr>
              <a:t>=</a:t>
            </a:r>
            <a:r>
              <a:rPr lang="en-US" sz="2400" dirty="0" smtClean="0"/>
              <a:t> #B</a:t>
            </a:r>
            <a:r>
              <a:rPr lang="en-US" sz="2000" dirty="0" smtClean="0"/>
              <a:t> </a:t>
            </a:r>
            <a:r>
              <a:rPr lang="en-US" sz="2400" dirty="0" smtClean="0"/>
              <a:t>implies</a:t>
            </a:r>
            <a:r>
              <a:rPr lang="en-US" sz="2000" dirty="0" smtClean="0"/>
              <a:t> </a:t>
            </a:r>
            <a:r>
              <a:rPr lang="en-US" sz="2400" dirty="0" smtClean="0"/>
              <a:t>A I B   </a:t>
            </a:r>
            <a:r>
              <a:rPr lang="en-US" sz="2400" dirty="0" smtClean="0">
                <a:solidFill>
                  <a:srgbClr val="7F7F7F"/>
                </a:solidFill>
              </a:rPr>
              <a:t>when A singleton</a:t>
            </a:r>
          </a:p>
          <a:p>
            <a:pPr marL="990600" lvl="1" indent="-533400">
              <a:lnSpc>
                <a:spcPct val="90000"/>
              </a:lnSpc>
              <a:buNone/>
              <a:defRPr/>
            </a:pPr>
            <a:r>
              <a:rPr lang="en-US" dirty="0" smtClean="0"/>
              <a:t>Semi-Independence  </a:t>
            </a:r>
            <a:r>
              <a:rPr lang="en-US" sz="2400" dirty="0" smtClean="0"/>
              <a:t>A </a:t>
            </a:r>
            <a:r>
              <a:rPr lang="en-US" sz="2400" dirty="0"/>
              <a:t>R B </a:t>
            </a:r>
            <a:r>
              <a:rPr lang="en-US" sz="2400" dirty="0" smtClean="0"/>
              <a:t>implies (</a:t>
            </a:r>
            <a:r>
              <a:rPr lang="en-US" sz="2400" dirty="0"/>
              <a:t>A </a:t>
            </a:r>
            <a:r>
              <a:rPr lang="en-US" sz="2400" dirty="0">
                <a:sym typeface="Symbol" charset="0"/>
              </a:rPr>
              <a:t></a:t>
            </a:r>
            <a:r>
              <a:rPr lang="en-US" sz="2400" dirty="0"/>
              <a:t> C) R (B </a:t>
            </a:r>
            <a:r>
              <a:rPr lang="en-US" sz="2400" dirty="0">
                <a:sym typeface="Symbol" charset="0"/>
              </a:rPr>
              <a:t></a:t>
            </a:r>
            <a:r>
              <a:rPr lang="en-US" sz="2400" dirty="0"/>
              <a:t> C</a:t>
            </a:r>
            <a:r>
              <a:rPr lang="en-US" sz="2400" dirty="0" smtClean="0"/>
              <a:t>) </a:t>
            </a:r>
            <a:r>
              <a:rPr lang="en-US" sz="2400" dirty="0" smtClean="0">
                <a:solidFill>
                  <a:srgbClr val="000000"/>
                </a:solidFill>
              </a:rPr>
              <a:t>when A </a:t>
            </a:r>
            <a:r>
              <a:rPr lang="en-US" sz="2400" dirty="0">
                <a:solidFill>
                  <a:srgbClr val="000000"/>
                </a:solidFill>
              </a:rPr>
              <a:t> C =  = B  </a:t>
            </a:r>
            <a:r>
              <a:rPr lang="en-US" sz="2400" dirty="0" smtClean="0">
                <a:solidFill>
                  <a:srgbClr val="000000"/>
                </a:solidFill>
              </a:rPr>
              <a:t>C</a:t>
            </a:r>
            <a:r>
              <a:rPr lang="en-US" sz="2400" dirty="0" smtClean="0">
                <a:solidFill>
                  <a:srgbClr val="7F7F7F"/>
                </a:solidFill>
              </a:rPr>
              <a:t> </a:t>
            </a:r>
          </a:p>
          <a:p>
            <a:pPr marL="990600" lvl="1" indent="-533400">
              <a:lnSpc>
                <a:spcPct val="90000"/>
              </a:lnSpc>
              <a:buNone/>
              <a:defRPr/>
            </a:pPr>
            <a:r>
              <a:rPr lang="en-US" sz="2400" dirty="0" smtClean="0">
                <a:solidFill>
                  <a:srgbClr val="7F7F7F"/>
                </a:solidFill>
              </a:rPr>
              <a:t>Where </a:t>
            </a:r>
            <a:r>
              <a:rPr lang="en-US" sz="2400" dirty="0" err="1" smtClean="0">
                <a:solidFill>
                  <a:srgbClr val="7F7F7F"/>
                </a:solidFill>
              </a:rPr>
              <a:t>R</a:t>
            </a:r>
            <a:r>
              <a:rPr lang="en-US" sz="2400" baseline="30000" dirty="0" err="1" smtClean="0">
                <a:solidFill>
                  <a:srgbClr val="7F7F7F"/>
                </a:solidFill>
              </a:rPr>
              <a:t>k</a:t>
            </a:r>
            <a:r>
              <a:rPr lang="en-US" sz="2400" dirty="0" smtClean="0">
                <a:solidFill>
                  <a:srgbClr val="7F7F7F"/>
                </a:solidFill>
              </a:rPr>
              <a:t> counts until k for k = 1,2,…</a:t>
            </a:r>
            <a:endParaRPr lang="en-US" sz="2400" dirty="0">
              <a:solidFill>
                <a:srgbClr val="7F7F7F"/>
              </a:solidFill>
            </a:endParaRPr>
          </a:p>
          <a:p>
            <a:pPr marL="990600" lvl="1" indent="-533400">
              <a:lnSpc>
                <a:spcPct val="90000"/>
              </a:lnSpc>
              <a:buNone/>
              <a:defRPr/>
            </a:pPr>
            <a:endParaRPr lang="en-US" sz="2400" dirty="0" smtClean="0">
              <a:solidFill>
                <a:srgbClr val="7F7F7F"/>
              </a:solidFill>
            </a:endParaRPr>
          </a:p>
          <a:p>
            <a:pPr marL="590550" indent="-533400">
              <a:lnSpc>
                <a:spcPct val="90000"/>
              </a:lnSpc>
              <a:buNone/>
              <a:defRPr/>
            </a:pPr>
            <a:r>
              <a:rPr lang="en-US" dirty="0" smtClean="0">
                <a:solidFill>
                  <a:srgbClr val="7F7F7F"/>
                </a:solidFill>
              </a:rPr>
              <a:t>Note: </a:t>
            </a:r>
          </a:p>
          <a:p>
            <a:pPr marL="590550" indent="-533400">
              <a:lnSpc>
                <a:spcPct val="90000"/>
              </a:lnSpc>
              <a:buNone/>
              <a:defRPr/>
            </a:pPr>
            <a:r>
              <a:rPr lang="en-US" sz="2800" dirty="0">
                <a:solidFill>
                  <a:srgbClr val="7F7F7F"/>
                </a:solidFill>
              </a:rPr>
              <a:t>	</a:t>
            </a:r>
            <a:r>
              <a:rPr lang="en-US" sz="2800" dirty="0" smtClean="0">
                <a:solidFill>
                  <a:srgbClr val="7F7F7F"/>
                </a:solidFill>
              </a:rPr>
              <a:t>S-Anonymity – ignores quality of options</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484945831"/>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Preference and Freedom</a:t>
            </a:r>
            <a:endParaRPr lang="en-US" dirty="0"/>
          </a:p>
        </p:txBody>
      </p:sp>
      <p:sp>
        <p:nvSpPr>
          <p:cNvPr id="8" name="Content Placeholder 7"/>
          <p:cNvSpPr>
            <a:spLocks noGrp="1"/>
          </p:cNvSpPr>
          <p:nvPr>
            <p:ph idx="1"/>
          </p:nvPr>
        </p:nvSpPr>
        <p:spPr/>
        <p:txBody>
          <a:bodyPr>
            <a:normAutofit/>
          </a:bodyPr>
          <a:lstStyle/>
          <a:p>
            <a:pPr>
              <a:lnSpc>
                <a:spcPct val="90000"/>
              </a:lnSpc>
              <a:buNone/>
              <a:defRPr/>
            </a:pPr>
            <a:r>
              <a:rPr lang="en-US" dirty="0" smtClean="0"/>
              <a:t>Suppose agent has complete ranking R</a:t>
            </a:r>
            <a:r>
              <a:rPr lang="en-US" baseline="-25000" dirty="0" smtClean="0"/>
              <a:t>a</a:t>
            </a:r>
            <a:r>
              <a:rPr lang="en-US" dirty="0" smtClean="0"/>
              <a:t> </a:t>
            </a:r>
            <a:r>
              <a:rPr lang="en-US" dirty="0" smtClean="0">
                <a:solidFill>
                  <a:srgbClr val="0000FF"/>
                </a:solidFill>
              </a:rPr>
              <a:t>on X</a:t>
            </a:r>
          </a:p>
          <a:p>
            <a:pPr>
              <a:lnSpc>
                <a:spcPct val="90000"/>
              </a:lnSpc>
              <a:buNone/>
              <a:defRPr/>
            </a:pPr>
            <a:r>
              <a:rPr lang="en-US" dirty="0"/>
              <a:t>a</a:t>
            </a:r>
            <a:r>
              <a:rPr lang="en-US" dirty="0" smtClean="0"/>
              <a:t>nd has full agency to select best element.</a:t>
            </a:r>
          </a:p>
          <a:p>
            <a:pPr>
              <a:lnSpc>
                <a:spcPct val="90000"/>
              </a:lnSpc>
              <a:buNone/>
              <a:defRPr/>
            </a:pPr>
            <a:r>
              <a:rPr lang="en-US" dirty="0" smtClean="0"/>
              <a:t>How does this change our view of freedom?</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747330470"/>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Preference and Freedom</a:t>
            </a:r>
            <a:endParaRPr lang="en-US" dirty="0"/>
          </a:p>
        </p:txBody>
      </p:sp>
      <p:sp>
        <p:nvSpPr>
          <p:cNvPr id="8" name="Content Placeholder 7"/>
          <p:cNvSpPr>
            <a:spLocks noGrp="1"/>
          </p:cNvSpPr>
          <p:nvPr>
            <p:ph idx="1"/>
          </p:nvPr>
        </p:nvSpPr>
        <p:spPr/>
        <p:txBody>
          <a:bodyPr>
            <a:normAutofit/>
          </a:bodyPr>
          <a:lstStyle/>
          <a:p>
            <a:pPr>
              <a:buNone/>
              <a:defRPr/>
            </a:pPr>
            <a:r>
              <a:rPr lang="en-US" dirty="0"/>
              <a:t>Define R</a:t>
            </a:r>
            <a:r>
              <a:rPr lang="en-US" baseline="30000" dirty="0"/>
              <a:t>U</a:t>
            </a:r>
            <a:r>
              <a:rPr lang="en-US" dirty="0"/>
              <a:t> by: </a:t>
            </a:r>
          </a:p>
          <a:p>
            <a:pPr>
              <a:buNone/>
              <a:defRPr/>
            </a:pPr>
            <a:r>
              <a:rPr lang="en-US" dirty="0"/>
              <a:t>		A R</a:t>
            </a:r>
            <a:r>
              <a:rPr lang="en-US" baseline="30000" dirty="0"/>
              <a:t>U </a:t>
            </a:r>
            <a:r>
              <a:rPr lang="en-US" dirty="0"/>
              <a:t>B </a:t>
            </a:r>
            <a:r>
              <a:rPr lang="en-US" dirty="0" err="1"/>
              <a:t>iff</a:t>
            </a:r>
            <a:r>
              <a:rPr lang="en-US" dirty="0"/>
              <a:t> x R</a:t>
            </a:r>
            <a:r>
              <a:rPr lang="en-US" baseline="-25000" dirty="0"/>
              <a:t>a</a:t>
            </a:r>
            <a:r>
              <a:rPr lang="en-US" dirty="0"/>
              <a:t> y  were x is any best element of A under R</a:t>
            </a:r>
            <a:r>
              <a:rPr lang="en-US" baseline="-25000" dirty="0"/>
              <a:t>a</a:t>
            </a:r>
            <a:r>
              <a:rPr lang="en-US" dirty="0"/>
              <a:t> and y is any best element of B under R</a:t>
            </a:r>
            <a:r>
              <a:rPr lang="en-US" baseline="-25000" dirty="0"/>
              <a:t>a</a:t>
            </a:r>
            <a:r>
              <a:rPr lang="en-US" dirty="0"/>
              <a:t>.</a:t>
            </a:r>
          </a:p>
          <a:p>
            <a:pPr>
              <a:buNone/>
              <a:defRPr/>
            </a:pPr>
            <a:r>
              <a:rPr lang="en-US" i="1" dirty="0"/>
              <a:t>Indirect Utility</a:t>
            </a:r>
            <a:r>
              <a:rPr lang="en-US" dirty="0"/>
              <a:t> freedom ranking</a:t>
            </a:r>
          </a:p>
          <a:p>
            <a:pPr>
              <a:buNone/>
              <a:defRPr/>
            </a:pPr>
            <a:r>
              <a:rPr lang="en-US" dirty="0"/>
              <a:t>Studied by </a:t>
            </a:r>
            <a:r>
              <a:rPr lang="en-US" dirty="0" err="1" smtClean="0"/>
              <a:t>Pattanaik</a:t>
            </a:r>
            <a:r>
              <a:rPr lang="en-US" dirty="0" smtClean="0"/>
              <a:t> and </a:t>
            </a:r>
            <a:r>
              <a:rPr lang="en-US" dirty="0" err="1" smtClean="0"/>
              <a:t>Xu</a:t>
            </a:r>
            <a:r>
              <a:rPr lang="en-US" dirty="0" smtClean="0"/>
              <a:t> and many others</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209444668"/>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Preference and Freedom</a:t>
            </a:r>
            <a:endParaRPr lang="en-US" dirty="0"/>
          </a:p>
        </p:txBody>
      </p:sp>
      <p:sp>
        <p:nvSpPr>
          <p:cNvPr id="8" name="Content Placeholder 7"/>
          <p:cNvSpPr>
            <a:spLocks noGrp="1"/>
          </p:cNvSpPr>
          <p:nvPr>
            <p:ph idx="1"/>
          </p:nvPr>
        </p:nvSpPr>
        <p:spPr/>
        <p:txBody>
          <a:bodyPr>
            <a:normAutofit/>
          </a:bodyPr>
          <a:lstStyle/>
          <a:p>
            <a:pPr>
              <a:buNone/>
              <a:defRPr/>
            </a:pPr>
            <a:r>
              <a:rPr lang="en-US" dirty="0"/>
              <a:t>Note: R</a:t>
            </a:r>
            <a:r>
              <a:rPr lang="en-US" baseline="30000" dirty="0"/>
              <a:t>U </a:t>
            </a:r>
            <a:r>
              <a:rPr lang="en-US" dirty="0"/>
              <a:t>is a complete ordering satisfying</a:t>
            </a:r>
          </a:p>
          <a:p>
            <a:pPr lvl="1">
              <a:buNone/>
              <a:defRPr/>
            </a:pPr>
            <a:r>
              <a:rPr lang="en-US" dirty="0"/>
              <a:t>Monotonicity (not strict)</a:t>
            </a:r>
          </a:p>
          <a:p>
            <a:pPr lvl="1">
              <a:buNone/>
              <a:defRPr/>
            </a:pPr>
            <a:r>
              <a:rPr lang="en-US" dirty="0"/>
              <a:t>Semi-Independence (not independence)</a:t>
            </a:r>
          </a:p>
          <a:p>
            <a:pPr>
              <a:buNone/>
              <a:defRPr/>
            </a:pPr>
            <a:r>
              <a:rPr lang="en-US" dirty="0"/>
              <a:t>but not singleton anonymity (unless R</a:t>
            </a:r>
            <a:r>
              <a:rPr lang="en-US" baseline="-25000" dirty="0"/>
              <a:t>a</a:t>
            </a:r>
            <a:r>
              <a:rPr lang="en-US" dirty="0"/>
              <a:t> is trivial)</a:t>
            </a: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782868701"/>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Preference and Freedom</a:t>
            </a:r>
            <a:endParaRPr lang="en-US" dirty="0"/>
          </a:p>
        </p:txBody>
      </p:sp>
      <p:sp>
        <p:nvSpPr>
          <p:cNvPr id="8" name="Content Placeholder 7"/>
          <p:cNvSpPr>
            <a:spLocks noGrp="1"/>
          </p:cNvSpPr>
          <p:nvPr>
            <p:ph idx="1"/>
          </p:nvPr>
        </p:nvSpPr>
        <p:spPr/>
        <p:txBody>
          <a:bodyPr>
            <a:normAutofit lnSpcReduction="10000"/>
          </a:bodyPr>
          <a:lstStyle/>
          <a:p>
            <a:pPr>
              <a:lnSpc>
                <a:spcPct val="90000"/>
              </a:lnSpc>
              <a:buNone/>
              <a:defRPr/>
            </a:pPr>
            <a:r>
              <a:rPr lang="en-US" dirty="0" err="1"/>
              <a:t>Th</a:t>
            </a:r>
            <a:r>
              <a:rPr lang="en-US" dirty="0"/>
              <a:t> </a:t>
            </a:r>
            <a:r>
              <a:rPr lang="en-US" dirty="0" smtClean="0"/>
              <a:t>4   </a:t>
            </a:r>
            <a:r>
              <a:rPr lang="en-US" dirty="0" smtClean="0"/>
              <a:t>Indirect utility ranking </a:t>
            </a:r>
            <a:r>
              <a:rPr lang="en-US" dirty="0" err="1" smtClean="0"/>
              <a:t>R</a:t>
            </a:r>
            <a:r>
              <a:rPr lang="en-US" baseline="30000" dirty="0" err="1" smtClean="0"/>
              <a:t>u</a:t>
            </a:r>
            <a:r>
              <a:rPr lang="en-US" dirty="0" smtClean="0"/>
              <a:t> </a:t>
            </a:r>
            <a:r>
              <a:rPr lang="en-US" dirty="0"/>
              <a:t>is characterized by three axioms:</a:t>
            </a:r>
          </a:p>
          <a:p>
            <a:pPr marL="990600" lvl="1" indent="-533400">
              <a:lnSpc>
                <a:spcPct val="90000"/>
              </a:lnSpc>
              <a:buNone/>
              <a:defRPr/>
            </a:pPr>
            <a:r>
              <a:rPr lang="en-US" dirty="0"/>
              <a:t>Monotonicity   </a:t>
            </a:r>
            <a:r>
              <a:rPr lang="en-US" sz="2400" dirty="0"/>
              <a:t>A </a:t>
            </a:r>
            <a:r>
              <a:rPr lang="en-US" sz="2400" dirty="0">
                <a:sym typeface="Symbol" charset="0"/>
              </a:rPr>
              <a:t></a:t>
            </a:r>
            <a:r>
              <a:rPr lang="en-US" sz="2400" dirty="0"/>
              <a:t> B</a:t>
            </a:r>
            <a:r>
              <a:rPr lang="en-US" dirty="0"/>
              <a:t> </a:t>
            </a:r>
            <a:r>
              <a:rPr lang="en-US" sz="2400" dirty="0"/>
              <a:t>implies</a:t>
            </a:r>
            <a:r>
              <a:rPr lang="en-US" dirty="0"/>
              <a:t> </a:t>
            </a:r>
            <a:r>
              <a:rPr lang="en-US" sz="2400" dirty="0"/>
              <a:t>A R </a:t>
            </a:r>
            <a:r>
              <a:rPr lang="en-US" sz="2400" dirty="0">
                <a:solidFill>
                  <a:srgbClr val="000000"/>
                </a:solidFill>
              </a:rPr>
              <a:t>B  </a:t>
            </a:r>
          </a:p>
          <a:p>
            <a:pPr marL="990600" lvl="1" indent="-533400">
              <a:lnSpc>
                <a:spcPct val="90000"/>
              </a:lnSpc>
              <a:buNone/>
              <a:defRPr/>
            </a:pPr>
            <a:r>
              <a:rPr lang="en-US" dirty="0" smtClean="0"/>
              <a:t>Extension   R follows R</a:t>
            </a:r>
            <a:r>
              <a:rPr lang="en-US" baseline="-25000" dirty="0" smtClean="0"/>
              <a:t>a</a:t>
            </a:r>
            <a:r>
              <a:rPr lang="en-US" dirty="0" smtClean="0"/>
              <a:t> over pairs of singletons</a:t>
            </a:r>
            <a:r>
              <a:rPr lang="en-US" sz="2400" dirty="0" smtClean="0"/>
              <a:t> </a:t>
            </a:r>
            <a:endParaRPr lang="en-US" sz="2400" dirty="0" smtClean="0">
              <a:solidFill>
                <a:srgbClr val="7F7F7F"/>
              </a:solidFill>
            </a:endParaRPr>
          </a:p>
          <a:p>
            <a:pPr marL="990600" lvl="1" indent="-533400">
              <a:lnSpc>
                <a:spcPct val="90000"/>
              </a:lnSpc>
              <a:buNone/>
              <a:defRPr/>
            </a:pPr>
            <a:r>
              <a:rPr lang="en-US" dirty="0" err="1" smtClean="0"/>
              <a:t>Consitency</a:t>
            </a:r>
            <a:r>
              <a:rPr lang="en-US" dirty="0" smtClean="0"/>
              <a:t>  </a:t>
            </a:r>
            <a:r>
              <a:rPr lang="en-US" sz="2400" dirty="0" smtClean="0"/>
              <a:t>A R B and C R D implies (A </a:t>
            </a:r>
            <a:r>
              <a:rPr lang="en-US" sz="2400" dirty="0" smtClean="0">
                <a:sym typeface="Symbol" charset="0"/>
              </a:rPr>
              <a:t></a:t>
            </a:r>
            <a:r>
              <a:rPr lang="en-US" sz="2400" dirty="0" smtClean="0"/>
              <a:t> C) R (B </a:t>
            </a:r>
            <a:r>
              <a:rPr lang="en-US" sz="2400" dirty="0" smtClean="0">
                <a:sym typeface="Symbol" charset="0"/>
              </a:rPr>
              <a:t></a:t>
            </a:r>
            <a:r>
              <a:rPr lang="en-US" sz="2400" dirty="0" smtClean="0"/>
              <a:t> D)</a:t>
            </a:r>
          </a:p>
          <a:p>
            <a:pPr marL="990600" lvl="1" indent="-533400">
              <a:lnSpc>
                <a:spcPct val="90000"/>
              </a:lnSpc>
              <a:buNone/>
              <a:defRPr/>
            </a:pPr>
            <a:endParaRPr lang="en-US" sz="2400" baseline="30000" dirty="0"/>
          </a:p>
          <a:p>
            <a:pPr>
              <a:buNone/>
              <a:defRPr/>
            </a:pPr>
            <a:r>
              <a:rPr lang="en-US" sz="2800" dirty="0"/>
              <a:t>Note</a:t>
            </a:r>
          </a:p>
          <a:p>
            <a:pPr lvl="1">
              <a:buNone/>
              <a:defRPr/>
            </a:pPr>
            <a:r>
              <a:rPr lang="en-US" dirty="0"/>
              <a:t>C</a:t>
            </a:r>
            <a:r>
              <a:rPr lang="en-US" dirty="0" smtClean="0"/>
              <a:t>ares </a:t>
            </a:r>
            <a:r>
              <a:rPr lang="en-US" dirty="0"/>
              <a:t>only about quality of best alternative, not the quantity (or quality) of other alternatives in set.</a:t>
            </a:r>
          </a:p>
          <a:p>
            <a:pPr lvl="1">
              <a:buNone/>
              <a:defRPr/>
            </a:pPr>
            <a:r>
              <a:rPr lang="en-US" dirty="0"/>
              <a:t>No value for </a:t>
            </a:r>
            <a:r>
              <a:rPr lang="en-US" dirty="0" err="1"/>
              <a:t>unchosen</a:t>
            </a:r>
            <a:r>
              <a:rPr lang="en-US" dirty="0"/>
              <a:t> alternatives.</a:t>
            </a:r>
            <a:endParaRPr lang="en-US" sz="2400" dirty="0"/>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142069342"/>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a:bodyPr>
          <a:lstStyle/>
          <a:p>
            <a:pPr>
              <a:buNone/>
              <a:defRPr/>
            </a:pPr>
            <a:r>
              <a:rPr lang="en-US" dirty="0" smtClean="0"/>
              <a:t>Suppose agent </a:t>
            </a:r>
            <a:r>
              <a:rPr lang="en-US" dirty="0"/>
              <a:t>has a collection of potential preference orderings </a:t>
            </a:r>
            <a:r>
              <a:rPr lang="en-US" b="1" dirty="0">
                <a:latin typeface="Apple Chancery" charset="0"/>
                <a:sym typeface="Symbol" charset="0"/>
              </a:rPr>
              <a:t></a:t>
            </a:r>
            <a:r>
              <a:rPr lang="en-US" b="1" dirty="0">
                <a:latin typeface="Apple Chancery" charset="0"/>
              </a:rPr>
              <a:t> </a:t>
            </a:r>
            <a:r>
              <a:rPr lang="en-US" dirty="0"/>
              <a:t>= </a:t>
            </a:r>
            <a:r>
              <a:rPr lang="en-US" dirty="0" smtClean="0"/>
              <a:t>{R</a:t>
            </a:r>
            <a:r>
              <a:rPr lang="en-US" baseline="-25000" dirty="0" smtClean="0"/>
              <a:t>1</a:t>
            </a:r>
            <a:r>
              <a:rPr lang="en-US" dirty="0" smtClean="0"/>
              <a:t>,…,</a:t>
            </a:r>
            <a:r>
              <a:rPr lang="en-US" dirty="0" err="1" smtClean="0"/>
              <a:t>R</a:t>
            </a:r>
            <a:r>
              <a:rPr lang="en-US" baseline="-25000" dirty="0" err="1" smtClean="0"/>
              <a:t>n</a:t>
            </a:r>
            <a:r>
              <a:rPr lang="en-US" dirty="0" smtClean="0"/>
              <a:t>} </a:t>
            </a:r>
            <a:r>
              <a:rPr lang="en-US" dirty="0">
                <a:solidFill>
                  <a:srgbClr val="0000FF"/>
                </a:solidFill>
              </a:rPr>
              <a:t>on X</a:t>
            </a:r>
            <a:endParaRPr lang="en-US" sz="2800" dirty="0">
              <a:solidFill>
                <a:srgbClr val="0000FF"/>
              </a:solidFill>
            </a:endParaRPr>
          </a:p>
          <a:p>
            <a:pPr>
              <a:buNone/>
              <a:defRPr/>
            </a:pPr>
            <a:r>
              <a:rPr lang="en-US" sz="2800" dirty="0"/>
              <a:t>Timeline</a:t>
            </a:r>
          </a:p>
          <a:p>
            <a:pPr>
              <a:buNone/>
              <a:defRPr/>
            </a:pPr>
            <a:r>
              <a:rPr lang="en-US" sz="2800" dirty="0"/>
              <a:t>	Select Z:  Preference revealed: Select x from Z</a:t>
            </a:r>
            <a:endParaRPr lang="en-US" dirty="0"/>
          </a:p>
          <a:p>
            <a:pPr>
              <a:buNone/>
              <a:defRPr/>
            </a:pPr>
            <a:r>
              <a:rPr lang="en-US" dirty="0" smtClean="0"/>
              <a:t>How </a:t>
            </a:r>
            <a:r>
              <a:rPr lang="en-US" dirty="0"/>
              <a:t>can this alter our view of freedom?</a:t>
            </a:r>
          </a:p>
          <a:p>
            <a:pPr>
              <a:buNone/>
              <a:defRPr/>
            </a:pPr>
            <a:r>
              <a:rPr lang="en-US" sz="2800" dirty="0">
                <a:solidFill>
                  <a:schemeClr val="bg2"/>
                </a:solidFill>
              </a:rPr>
              <a:t>	</a:t>
            </a:r>
            <a:r>
              <a:rPr lang="en-US" sz="2800" dirty="0" smtClean="0">
                <a:solidFill>
                  <a:schemeClr val="hlink"/>
                </a:solidFill>
              </a:rPr>
              <a:t>Kreps (1979), Foster </a:t>
            </a:r>
            <a:r>
              <a:rPr lang="en-US" sz="2800" dirty="0">
                <a:solidFill>
                  <a:schemeClr val="hlink"/>
                </a:solidFill>
              </a:rPr>
              <a:t>(</a:t>
            </a:r>
            <a:r>
              <a:rPr lang="en-US" sz="2800" dirty="0" smtClean="0">
                <a:solidFill>
                  <a:schemeClr val="hlink"/>
                </a:solidFill>
              </a:rPr>
              <a:t>1992, 2011)</a:t>
            </a:r>
            <a:r>
              <a:rPr lang="en-US" sz="2800" dirty="0">
                <a:solidFill>
                  <a:schemeClr val="hlink"/>
                </a:solidFill>
              </a:rPr>
              <a:t>, Arrow (1995), </a:t>
            </a:r>
            <a:r>
              <a:rPr lang="en-US" sz="2800" dirty="0" err="1">
                <a:solidFill>
                  <a:schemeClr val="hlink"/>
                </a:solidFill>
              </a:rPr>
              <a:t>Sen</a:t>
            </a:r>
            <a:r>
              <a:rPr lang="en-US" sz="2800" dirty="0">
                <a:solidFill>
                  <a:schemeClr val="hlink"/>
                </a:solidFill>
              </a:rPr>
              <a:t> (2003), </a:t>
            </a:r>
            <a:r>
              <a:rPr lang="en-US" sz="2800" dirty="0" err="1">
                <a:solidFill>
                  <a:schemeClr val="hlink"/>
                </a:solidFill>
              </a:rPr>
              <a:t>Sugden</a:t>
            </a:r>
            <a:r>
              <a:rPr lang="en-US" sz="2800" dirty="0">
                <a:solidFill>
                  <a:schemeClr val="hlink"/>
                </a:solidFill>
              </a:rPr>
              <a:t>, </a:t>
            </a:r>
            <a:r>
              <a:rPr lang="en-US" sz="2800" dirty="0" err="1">
                <a:solidFill>
                  <a:schemeClr val="hlink"/>
                </a:solidFill>
              </a:rPr>
              <a:t>Puppe</a:t>
            </a:r>
            <a:r>
              <a:rPr lang="en-US" sz="2800" dirty="0">
                <a:solidFill>
                  <a:schemeClr val="hlink"/>
                </a:solidFill>
              </a:rPr>
              <a:t>, many others</a:t>
            </a:r>
            <a:endParaRPr lang="en-US" dirty="0"/>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4033670280"/>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fontScale="85000" lnSpcReduction="10000"/>
          </a:bodyPr>
          <a:lstStyle/>
          <a:p>
            <a:pPr>
              <a:buNone/>
              <a:defRPr/>
            </a:pPr>
            <a:r>
              <a:rPr lang="en-US" dirty="0" smtClean="0"/>
              <a:t>Suppose agent </a:t>
            </a:r>
            <a:r>
              <a:rPr lang="en-US" dirty="0"/>
              <a:t>has a collection of potential preference orderings </a:t>
            </a:r>
            <a:r>
              <a:rPr lang="en-US" b="1" dirty="0">
                <a:latin typeface="Apple Chancery" charset="0"/>
                <a:sym typeface="Symbol" charset="0"/>
              </a:rPr>
              <a:t></a:t>
            </a:r>
            <a:r>
              <a:rPr lang="en-US" b="1" dirty="0">
                <a:latin typeface="Apple Chancery" charset="0"/>
              </a:rPr>
              <a:t> </a:t>
            </a:r>
            <a:r>
              <a:rPr lang="en-US" dirty="0"/>
              <a:t>= </a:t>
            </a:r>
            <a:r>
              <a:rPr lang="en-US" dirty="0" smtClean="0"/>
              <a:t>{R</a:t>
            </a:r>
            <a:r>
              <a:rPr lang="en-US" baseline="-25000" dirty="0" smtClean="0"/>
              <a:t>1</a:t>
            </a:r>
            <a:r>
              <a:rPr lang="en-US" dirty="0" smtClean="0"/>
              <a:t>,…,</a:t>
            </a:r>
            <a:r>
              <a:rPr lang="en-US" dirty="0" err="1" smtClean="0"/>
              <a:t>R</a:t>
            </a:r>
            <a:r>
              <a:rPr lang="en-US" baseline="-25000" dirty="0" err="1" smtClean="0"/>
              <a:t>n</a:t>
            </a:r>
            <a:r>
              <a:rPr lang="en-US" dirty="0" smtClean="0"/>
              <a:t>} </a:t>
            </a:r>
            <a:r>
              <a:rPr lang="en-US" dirty="0">
                <a:solidFill>
                  <a:srgbClr val="0000FF"/>
                </a:solidFill>
              </a:rPr>
              <a:t>on X</a:t>
            </a:r>
            <a:endParaRPr lang="en-US" sz="2800" dirty="0">
              <a:solidFill>
                <a:srgbClr val="0000FF"/>
              </a:solidFill>
            </a:endParaRPr>
          </a:p>
          <a:p>
            <a:pPr>
              <a:buNone/>
              <a:defRPr/>
            </a:pPr>
            <a:r>
              <a:rPr lang="en-US" dirty="0" smtClean="0"/>
              <a:t>Must rank opportunity sets before specific </a:t>
            </a:r>
            <a:r>
              <a:rPr lang="en-US" dirty="0" err="1" smtClean="0"/>
              <a:t>R</a:t>
            </a:r>
            <a:r>
              <a:rPr lang="en-US" baseline="-25000" dirty="0" err="1" smtClean="0"/>
              <a:t>i</a:t>
            </a:r>
            <a:r>
              <a:rPr lang="en-US" dirty="0" smtClean="0"/>
              <a:t> is known</a:t>
            </a:r>
          </a:p>
          <a:p>
            <a:pPr>
              <a:buNone/>
              <a:defRPr/>
            </a:pPr>
            <a:r>
              <a:rPr lang="en-US" dirty="0"/>
              <a:t>W</a:t>
            </a:r>
            <a:r>
              <a:rPr lang="en-US" dirty="0" smtClean="0"/>
              <a:t>hen </a:t>
            </a:r>
            <a:r>
              <a:rPr lang="en-US" dirty="0" err="1"/>
              <a:t>R</a:t>
            </a:r>
            <a:r>
              <a:rPr lang="en-US" baseline="-25000" dirty="0" err="1"/>
              <a:t>i</a:t>
            </a:r>
            <a:r>
              <a:rPr lang="en-US" dirty="0"/>
              <a:t> </a:t>
            </a:r>
            <a:r>
              <a:rPr lang="en-US" dirty="0" smtClean="0"/>
              <a:t>revealed, will get best element according to </a:t>
            </a:r>
            <a:r>
              <a:rPr lang="en-US" dirty="0" err="1" smtClean="0"/>
              <a:t>R</a:t>
            </a:r>
            <a:r>
              <a:rPr lang="en-US" baseline="-25000" dirty="0" err="1" smtClean="0"/>
              <a:t>i</a:t>
            </a:r>
            <a:endParaRPr lang="en-US" dirty="0" smtClean="0"/>
          </a:p>
          <a:p>
            <a:pPr lvl="1">
              <a:buNone/>
              <a:defRPr/>
            </a:pPr>
            <a:r>
              <a:rPr lang="en-US" sz="2400" dirty="0" smtClean="0"/>
              <a:t>Idea: Could feel vegetarian or non veg on a given day</a:t>
            </a:r>
          </a:p>
          <a:p>
            <a:pPr lvl="1">
              <a:buNone/>
              <a:defRPr/>
            </a:pPr>
            <a:r>
              <a:rPr lang="en-US" sz="2400" dirty="0" smtClean="0"/>
              <a:t>Marx: </a:t>
            </a:r>
            <a:r>
              <a:rPr lang="en-US" sz="2400" dirty="0"/>
              <a:t>“…make it possible for me to do one thing to-day and another tomorrow, to hunt in the morning, fish in the afternoon, rear cattle in the evening, criticize after dinner, just as I have in mind</a:t>
            </a:r>
            <a:endParaRPr lang="en-US" sz="2400" dirty="0" smtClean="0"/>
          </a:p>
          <a:p>
            <a:pPr>
              <a:buNone/>
              <a:defRPr/>
            </a:pPr>
            <a:r>
              <a:rPr lang="en-US" dirty="0" smtClean="0"/>
              <a:t>How </a:t>
            </a:r>
            <a:r>
              <a:rPr lang="en-US" dirty="0"/>
              <a:t>can this alter our view of freedom?</a:t>
            </a:r>
          </a:p>
          <a:p>
            <a:pPr>
              <a:buNone/>
              <a:defRPr/>
            </a:pPr>
            <a:r>
              <a:rPr lang="en-US" sz="2800" dirty="0">
                <a:solidFill>
                  <a:schemeClr val="bg2"/>
                </a:solidFill>
              </a:rPr>
              <a:t>	</a:t>
            </a:r>
            <a:r>
              <a:rPr lang="en-US" sz="2800" dirty="0" smtClean="0">
                <a:solidFill>
                  <a:schemeClr val="hlink"/>
                </a:solidFill>
              </a:rPr>
              <a:t>Kreps (1979), Foster </a:t>
            </a:r>
            <a:r>
              <a:rPr lang="en-US" sz="2800" dirty="0">
                <a:solidFill>
                  <a:schemeClr val="hlink"/>
                </a:solidFill>
              </a:rPr>
              <a:t>(</a:t>
            </a:r>
            <a:r>
              <a:rPr lang="en-US" sz="2800" dirty="0" smtClean="0">
                <a:solidFill>
                  <a:schemeClr val="hlink"/>
                </a:solidFill>
              </a:rPr>
              <a:t>1992, 2011)</a:t>
            </a:r>
            <a:r>
              <a:rPr lang="en-US" sz="2800" dirty="0">
                <a:solidFill>
                  <a:schemeClr val="hlink"/>
                </a:solidFill>
              </a:rPr>
              <a:t>, Arrow (1995), </a:t>
            </a:r>
            <a:r>
              <a:rPr lang="en-US" sz="2800" dirty="0" err="1">
                <a:solidFill>
                  <a:schemeClr val="hlink"/>
                </a:solidFill>
              </a:rPr>
              <a:t>Sen</a:t>
            </a:r>
            <a:r>
              <a:rPr lang="en-US" sz="2800" dirty="0">
                <a:solidFill>
                  <a:schemeClr val="hlink"/>
                </a:solidFill>
              </a:rPr>
              <a:t> (2003), </a:t>
            </a:r>
            <a:r>
              <a:rPr lang="en-US" sz="2800" dirty="0" err="1">
                <a:solidFill>
                  <a:schemeClr val="hlink"/>
                </a:solidFill>
              </a:rPr>
              <a:t>Sugden</a:t>
            </a:r>
            <a:r>
              <a:rPr lang="en-US" sz="2800" dirty="0">
                <a:solidFill>
                  <a:schemeClr val="hlink"/>
                </a:solidFill>
              </a:rPr>
              <a:t>, </a:t>
            </a:r>
            <a:r>
              <a:rPr lang="en-US" sz="2800" dirty="0" err="1">
                <a:solidFill>
                  <a:schemeClr val="hlink"/>
                </a:solidFill>
              </a:rPr>
              <a:t>Puppe</a:t>
            </a:r>
            <a:r>
              <a:rPr lang="en-US" sz="2800" dirty="0">
                <a:solidFill>
                  <a:schemeClr val="hlink"/>
                </a:solidFill>
              </a:rPr>
              <a:t>, many others</a:t>
            </a:r>
            <a:endParaRPr lang="en-US" dirty="0"/>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261336586"/>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fontScale="85000" lnSpcReduction="10000"/>
          </a:bodyPr>
          <a:lstStyle/>
          <a:p>
            <a:pPr>
              <a:buNone/>
              <a:defRPr/>
            </a:pPr>
            <a:r>
              <a:rPr lang="en-US" dirty="0" smtClean="0"/>
              <a:t>Suppose agent </a:t>
            </a:r>
            <a:r>
              <a:rPr lang="en-US" dirty="0"/>
              <a:t>has a collection of potential preference orderings </a:t>
            </a:r>
            <a:r>
              <a:rPr lang="en-US" b="1" dirty="0">
                <a:latin typeface="Apple Chancery" charset="0"/>
                <a:sym typeface="Symbol" charset="0"/>
              </a:rPr>
              <a:t></a:t>
            </a:r>
            <a:r>
              <a:rPr lang="en-US" b="1" dirty="0">
                <a:latin typeface="Apple Chancery" charset="0"/>
              </a:rPr>
              <a:t> </a:t>
            </a:r>
            <a:r>
              <a:rPr lang="en-US" dirty="0"/>
              <a:t>= </a:t>
            </a:r>
            <a:r>
              <a:rPr lang="en-US" dirty="0" smtClean="0"/>
              <a:t>{R</a:t>
            </a:r>
            <a:r>
              <a:rPr lang="en-US" baseline="-25000" dirty="0" smtClean="0"/>
              <a:t>1</a:t>
            </a:r>
            <a:r>
              <a:rPr lang="en-US" dirty="0" smtClean="0"/>
              <a:t>,…,</a:t>
            </a:r>
            <a:r>
              <a:rPr lang="en-US" dirty="0" err="1" smtClean="0"/>
              <a:t>R</a:t>
            </a:r>
            <a:r>
              <a:rPr lang="en-US" baseline="-25000" dirty="0" err="1" smtClean="0"/>
              <a:t>n</a:t>
            </a:r>
            <a:r>
              <a:rPr lang="en-US" dirty="0" smtClean="0"/>
              <a:t>} </a:t>
            </a:r>
            <a:r>
              <a:rPr lang="en-US" dirty="0">
                <a:solidFill>
                  <a:srgbClr val="0000FF"/>
                </a:solidFill>
              </a:rPr>
              <a:t>on X</a:t>
            </a:r>
            <a:endParaRPr lang="en-US" sz="2800" dirty="0">
              <a:solidFill>
                <a:srgbClr val="0000FF"/>
              </a:solidFill>
            </a:endParaRPr>
          </a:p>
          <a:p>
            <a:pPr>
              <a:buNone/>
              <a:defRPr/>
            </a:pPr>
            <a:r>
              <a:rPr lang="en-US" dirty="0" smtClean="0"/>
              <a:t>Must rank opportunity sets before specific </a:t>
            </a:r>
            <a:r>
              <a:rPr lang="en-US" dirty="0" err="1" smtClean="0"/>
              <a:t>R</a:t>
            </a:r>
            <a:r>
              <a:rPr lang="en-US" baseline="-25000" dirty="0" err="1" smtClean="0"/>
              <a:t>i</a:t>
            </a:r>
            <a:r>
              <a:rPr lang="en-US" dirty="0" smtClean="0"/>
              <a:t> is known</a:t>
            </a:r>
          </a:p>
          <a:p>
            <a:pPr>
              <a:buNone/>
              <a:defRPr/>
            </a:pPr>
            <a:r>
              <a:rPr lang="en-US" dirty="0"/>
              <a:t>W</a:t>
            </a:r>
            <a:r>
              <a:rPr lang="en-US" dirty="0" smtClean="0"/>
              <a:t>hen </a:t>
            </a:r>
            <a:r>
              <a:rPr lang="en-US" dirty="0" err="1"/>
              <a:t>R</a:t>
            </a:r>
            <a:r>
              <a:rPr lang="en-US" baseline="-25000" dirty="0" err="1"/>
              <a:t>i</a:t>
            </a:r>
            <a:r>
              <a:rPr lang="en-US" dirty="0"/>
              <a:t> </a:t>
            </a:r>
            <a:r>
              <a:rPr lang="en-US" dirty="0" smtClean="0"/>
              <a:t>revealed, will get best element according to </a:t>
            </a:r>
            <a:r>
              <a:rPr lang="en-US" dirty="0" err="1" smtClean="0"/>
              <a:t>R</a:t>
            </a:r>
            <a:r>
              <a:rPr lang="en-US" baseline="-25000" dirty="0" err="1" smtClean="0"/>
              <a:t>i</a:t>
            </a:r>
            <a:endParaRPr lang="en-US" dirty="0" smtClean="0"/>
          </a:p>
          <a:p>
            <a:pPr lvl="1">
              <a:buNone/>
              <a:defRPr/>
            </a:pPr>
            <a:r>
              <a:rPr lang="en-US" sz="2400" dirty="0" smtClean="0"/>
              <a:t>Idea: Could feel vegetarian or non veg on a given day</a:t>
            </a:r>
          </a:p>
          <a:p>
            <a:pPr lvl="1">
              <a:buNone/>
              <a:defRPr/>
            </a:pPr>
            <a:r>
              <a:rPr lang="en-US" sz="2400" dirty="0" smtClean="0"/>
              <a:t>Marx: </a:t>
            </a:r>
            <a:r>
              <a:rPr lang="en-US" sz="2400" dirty="0"/>
              <a:t>“…make it possible for me to do one thing to-day and another tomorrow, to hunt in the morning, fish in the afternoon, rear cattle in the evening, criticize after dinner, just as I have in mind</a:t>
            </a:r>
            <a:endParaRPr lang="en-US" sz="2400" dirty="0" smtClean="0"/>
          </a:p>
          <a:p>
            <a:pPr>
              <a:buNone/>
              <a:defRPr/>
            </a:pPr>
            <a:r>
              <a:rPr lang="en-US" dirty="0" smtClean="0"/>
              <a:t>How </a:t>
            </a:r>
            <a:r>
              <a:rPr lang="en-US" dirty="0"/>
              <a:t>can this alter our view of freedom?</a:t>
            </a:r>
          </a:p>
          <a:p>
            <a:pPr>
              <a:buNone/>
              <a:defRPr/>
            </a:pPr>
            <a:r>
              <a:rPr lang="en-US" sz="2800" dirty="0">
                <a:solidFill>
                  <a:schemeClr val="bg2"/>
                </a:solidFill>
              </a:rPr>
              <a:t>	</a:t>
            </a:r>
            <a:r>
              <a:rPr lang="en-US" sz="2800" dirty="0" smtClean="0">
                <a:solidFill>
                  <a:schemeClr val="hlink"/>
                </a:solidFill>
              </a:rPr>
              <a:t>Kreps (1979), Foster </a:t>
            </a:r>
            <a:r>
              <a:rPr lang="en-US" sz="2800" dirty="0">
                <a:solidFill>
                  <a:schemeClr val="hlink"/>
                </a:solidFill>
              </a:rPr>
              <a:t>(</a:t>
            </a:r>
            <a:r>
              <a:rPr lang="en-US" sz="2800" dirty="0" smtClean="0">
                <a:solidFill>
                  <a:schemeClr val="hlink"/>
                </a:solidFill>
              </a:rPr>
              <a:t>1992, 2011)</a:t>
            </a:r>
            <a:r>
              <a:rPr lang="en-US" sz="2800" dirty="0">
                <a:solidFill>
                  <a:schemeClr val="hlink"/>
                </a:solidFill>
              </a:rPr>
              <a:t>, Arrow (1995), </a:t>
            </a:r>
            <a:r>
              <a:rPr lang="en-US" sz="2800" dirty="0" err="1">
                <a:solidFill>
                  <a:schemeClr val="hlink"/>
                </a:solidFill>
              </a:rPr>
              <a:t>Sen</a:t>
            </a:r>
            <a:r>
              <a:rPr lang="en-US" sz="2800" dirty="0">
                <a:solidFill>
                  <a:schemeClr val="hlink"/>
                </a:solidFill>
              </a:rPr>
              <a:t> (2003), </a:t>
            </a:r>
            <a:r>
              <a:rPr lang="en-US" sz="2800" dirty="0" err="1">
                <a:solidFill>
                  <a:schemeClr val="hlink"/>
                </a:solidFill>
              </a:rPr>
              <a:t>Sugden</a:t>
            </a:r>
            <a:r>
              <a:rPr lang="en-US" sz="2800" dirty="0">
                <a:solidFill>
                  <a:schemeClr val="hlink"/>
                </a:solidFill>
              </a:rPr>
              <a:t>, </a:t>
            </a:r>
            <a:r>
              <a:rPr lang="en-US" sz="2800" dirty="0" err="1">
                <a:solidFill>
                  <a:schemeClr val="hlink"/>
                </a:solidFill>
              </a:rPr>
              <a:t>Puppe</a:t>
            </a:r>
            <a:r>
              <a:rPr lang="en-US" sz="2800" dirty="0">
                <a:solidFill>
                  <a:schemeClr val="hlink"/>
                </a:solidFill>
              </a:rPr>
              <a:t>, many others</a:t>
            </a:r>
            <a:endParaRPr lang="en-US" dirty="0"/>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905050673"/>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fontScale="92500" lnSpcReduction="20000"/>
          </a:bodyPr>
          <a:lstStyle/>
          <a:p>
            <a:pPr>
              <a:buNone/>
              <a:defRPr/>
            </a:pPr>
            <a:r>
              <a:rPr lang="en-US" sz="3000" dirty="0" smtClean="0"/>
              <a:t>Definition Effective freedom ranking R*</a:t>
            </a:r>
          </a:p>
          <a:p>
            <a:pPr>
              <a:buNone/>
              <a:defRPr/>
            </a:pPr>
            <a:r>
              <a:rPr lang="en-US" sz="3000" dirty="0"/>
              <a:t>	</a:t>
            </a:r>
            <a:r>
              <a:rPr lang="en-US" sz="3000" dirty="0" smtClean="0"/>
              <a:t>One </a:t>
            </a:r>
            <a:r>
              <a:rPr lang="en-US" sz="3000" dirty="0"/>
              <a:t>opportunity set A is said to have as much </a:t>
            </a:r>
            <a:r>
              <a:rPr lang="en-US" sz="3000" i="1" dirty="0"/>
              <a:t>effective freedom</a:t>
            </a:r>
            <a:r>
              <a:rPr lang="en-US" sz="3000" dirty="0"/>
              <a:t> as a second opportunity set B, written A R* B, if A has as much indirect utility freedom as B for all allowable preferences;  i.e.,</a:t>
            </a:r>
          </a:p>
          <a:p>
            <a:pPr>
              <a:buNone/>
              <a:defRPr/>
            </a:pPr>
            <a:r>
              <a:rPr lang="en-US" sz="3000" dirty="0"/>
              <a:t>		A R* B if and only if A </a:t>
            </a:r>
            <a:r>
              <a:rPr lang="en-US" sz="3000" dirty="0" err="1" smtClean="0"/>
              <a:t>R</a:t>
            </a:r>
            <a:r>
              <a:rPr lang="en-US" sz="3000" baseline="-25000" dirty="0" err="1" smtClean="0"/>
              <a:t>i</a:t>
            </a:r>
            <a:r>
              <a:rPr lang="en-US" sz="3000" baseline="30000" dirty="0" err="1" smtClean="0"/>
              <a:t>U</a:t>
            </a:r>
            <a:r>
              <a:rPr lang="en-US" sz="3000" baseline="30000" dirty="0" smtClean="0"/>
              <a:t> </a:t>
            </a:r>
            <a:r>
              <a:rPr lang="en-US" sz="3000" dirty="0" smtClean="0"/>
              <a:t>B </a:t>
            </a:r>
            <a:r>
              <a:rPr lang="en-US" sz="3000" dirty="0"/>
              <a:t>for all </a:t>
            </a:r>
            <a:r>
              <a:rPr lang="en-US" sz="3000" dirty="0" err="1" smtClean="0"/>
              <a:t>R</a:t>
            </a:r>
            <a:r>
              <a:rPr lang="en-US" sz="3000" baseline="-25000" dirty="0" err="1" smtClean="0"/>
              <a:t>i</a:t>
            </a:r>
            <a:r>
              <a:rPr lang="en-US" sz="3000" dirty="0" smtClean="0"/>
              <a:t>.</a:t>
            </a:r>
          </a:p>
          <a:p>
            <a:pPr>
              <a:buNone/>
              <a:defRPr/>
            </a:pPr>
            <a:r>
              <a:rPr lang="en-US" sz="2800" dirty="0"/>
              <a:t>Interpretation</a:t>
            </a:r>
          </a:p>
          <a:p>
            <a:pPr lvl="1">
              <a:buNone/>
              <a:defRPr/>
            </a:pPr>
            <a:r>
              <a:rPr lang="en-US" sz="2400" dirty="0"/>
              <a:t>A is as good as B no matter which </a:t>
            </a:r>
            <a:r>
              <a:rPr lang="en-US" sz="2400" dirty="0" err="1"/>
              <a:t>R</a:t>
            </a:r>
            <a:r>
              <a:rPr lang="en-US" sz="2400" baseline="-25000" dirty="0" err="1"/>
              <a:t>i</a:t>
            </a:r>
            <a:r>
              <a:rPr lang="en-US" sz="2400" dirty="0"/>
              <a:t> </a:t>
            </a:r>
            <a:r>
              <a:rPr lang="en-US" sz="2400" dirty="0" smtClean="0"/>
              <a:t>obtains, strict if one is strict</a:t>
            </a:r>
            <a:endParaRPr lang="en-US" sz="2400" dirty="0"/>
          </a:p>
          <a:p>
            <a:pPr>
              <a:buNone/>
              <a:defRPr/>
            </a:pPr>
            <a:r>
              <a:rPr lang="en-US" sz="2800" dirty="0"/>
              <a:t>Note</a:t>
            </a:r>
          </a:p>
          <a:p>
            <a:pPr lvl="1">
              <a:buNone/>
              <a:defRPr/>
            </a:pPr>
            <a:r>
              <a:rPr lang="en-US" sz="2400" dirty="0" smtClean="0"/>
              <a:t>R* is </a:t>
            </a:r>
            <a:r>
              <a:rPr lang="en-US" sz="2400" dirty="0" err="1" smtClean="0"/>
              <a:t>quasiordering</a:t>
            </a:r>
            <a:r>
              <a:rPr lang="en-US" sz="2400" dirty="0" smtClean="0"/>
              <a:t> </a:t>
            </a:r>
            <a:r>
              <a:rPr lang="en-US" sz="2400" dirty="0"/>
              <a:t>as intersection of complete </a:t>
            </a:r>
            <a:r>
              <a:rPr lang="en-US" sz="2400" dirty="0" smtClean="0"/>
              <a:t>orderings over Z</a:t>
            </a:r>
          </a:p>
          <a:p>
            <a:pPr lvl="1">
              <a:buNone/>
              <a:defRPr/>
            </a:pPr>
            <a:r>
              <a:rPr lang="en-US" sz="2400" dirty="0" smtClean="0"/>
              <a:t>So incomplete (exactly when </a:t>
            </a:r>
            <a:r>
              <a:rPr lang="en-US" sz="2400" dirty="0" err="1" smtClean="0"/>
              <a:t>R</a:t>
            </a:r>
            <a:r>
              <a:rPr lang="en-US" sz="2400" baseline="-25000" dirty="0" err="1" smtClean="0"/>
              <a:t>i</a:t>
            </a:r>
            <a:r>
              <a:rPr lang="en-US" sz="2400" baseline="30000" dirty="0" err="1" smtClean="0"/>
              <a:t>U</a:t>
            </a:r>
            <a:r>
              <a:rPr lang="en-US" sz="2400" dirty="0" smtClean="0"/>
              <a:t> disagree)</a:t>
            </a:r>
          </a:p>
          <a:p>
            <a:pPr lvl="1">
              <a:buNone/>
              <a:defRPr/>
            </a:pPr>
            <a:r>
              <a:rPr lang="en-US" sz="2400" dirty="0" smtClean="0">
                <a:solidFill>
                  <a:schemeClr val="bg1">
                    <a:lumMod val="50000"/>
                  </a:schemeClr>
                </a:solidFill>
              </a:rPr>
              <a:t>Kreps, Arrow complete R* via </a:t>
            </a:r>
            <a:r>
              <a:rPr lang="en-US" sz="2400" dirty="0" err="1" smtClean="0">
                <a:solidFill>
                  <a:schemeClr val="bg1">
                    <a:lumMod val="50000"/>
                  </a:schemeClr>
                </a:solidFill>
              </a:rPr>
              <a:t>subj</a:t>
            </a:r>
            <a:r>
              <a:rPr lang="en-US" sz="2400" dirty="0" smtClean="0">
                <a:solidFill>
                  <a:schemeClr val="bg1">
                    <a:lumMod val="50000"/>
                  </a:schemeClr>
                </a:solidFill>
              </a:rPr>
              <a:t> </a:t>
            </a:r>
            <a:r>
              <a:rPr lang="en-US" sz="2400" dirty="0" err="1" smtClean="0">
                <a:solidFill>
                  <a:schemeClr val="bg1">
                    <a:lumMod val="50000"/>
                  </a:schemeClr>
                </a:solidFill>
              </a:rPr>
              <a:t>probs</a:t>
            </a:r>
            <a:r>
              <a:rPr lang="en-US" sz="2400" dirty="0" smtClean="0">
                <a:solidFill>
                  <a:schemeClr val="bg1">
                    <a:lumMod val="50000"/>
                  </a:schemeClr>
                </a:solidFill>
              </a:rPr>
              <a:t> and </a:t>
            </a:r>
            <a:r>
              <a:rPr lang="en-US" sz="2400" dirty="0" err="1" smtClean="0">
                <a:solidFill>
                  <a:schemeClr val="bg1">
                    <a:lumMod val="50000"/>
                  </a:schemeClr>
                </a:solidFill>
              </a:rPr>
              <a:t>exp</a:t>
            </a:r>
            <a:r>
              <a:rPr lang="en-US" sz="2400" dirty="0" smtClean="0">
                <a:solidFill>
                  <a:schemeClr val="bg1">
                    <a:lumMod val="50000"/>
                  </a:schemeClr>
                </a:solidFill>
              </a:rPr>
              <a:t> utility for </a:t>
            </a:r>
            <a:r>
              <a:rPr lang="en-US" sz="2400" dirty="0" err="1" smtClean="0">
                <a:solidFill>
                  <a:schemeClr val="bg1">
                    <a:lumMod val="50000"/>
                  </a:schemeClr>
                </a:solidFill>
              </a:rPr>
              <a:t>u</a:t>
            </a:r>
            <a:r>
              <a:rPr lang="en-US" sz="2400" baseline="-25000" dirty="0" err="1" smtClean="0">
                <a:solidFill>
                  <a:schemeClr val="bg1">
                    <a:lumMod val="50000"/>
                  </a:schemeClr>
                </a:solidFill>
              </a:rPr>
              <a:t>i</a:t>
            </a:r>
            <a:endParaRPr lang="en-US" sz="2400" dirty="0">
              <a:solidFill>
                <a:schemeClr val="bg1">
                  <a:lumMod val="50000"/>
                </a:schemeClr>
              </a:solidFill>
            </a:endParaRPr>
          </a:p>
          <a:p>
            <a:pPr>
              <a:buNone/>
              <a:defRPr/>
            </a:pPr>
            <a:endParaRPr lang="en-US" dirty="0">
              <a:solidFill>
                <a:schemeClr val="bg1">
                  <a:lumMod val="50000"/>
                </a:schemeClr>
              </a:solidFill>
            </a:endParaRPr>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185864096"/>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a:bodyPr>
          <a:lstStyle/>
          <a:p>
            <a:pPr>
              <a:buNone/>
              <a:defRPr/>
            </a:pPr>
            <a:r>
              <a:rPr lang="en-US" sz="3000" dirty="0" smtClean="0"/>
              <a:t>Example 1: (</a:t>
            </a:r>
            <a:r>
              <a:rPr lang="en-US" sz="3000" dirty="0" err="1" smtClean="0"/>
              <a:t>Sen</a:t>
            </a:r>
            <a:r>
              <a:rPr lang="en-US" sz="3000" dirty="0" smtClean="0"/>
              <a:t>) Agreement</a:t>
            </a:r>
          </a:p>
          <a:p>
            <a:pPr>
              <a:buNone/>
              <a:defRPr/>
            </a:pPr>
            <a:endParaRPr lang="en-US" sz="3000" dirty="0"/>
          </a:p>
          <a:p>
            <a:pPr>
              <a:buNone/>
              <a:defRPr/>
            </a:pPr>
            <a:r>
              <a:rPr lang="en-US" sz="2800" dirty="0"/>
              <a:t>A = {g, t, w}   </a:t>
            </a:r>
            <a:r>
              <a:rPr lang="ja-JP" altLang="en-US" sz="2800" dirty="0">
                <a:latin typeface="Arial"/>
              </a:rPr>
              <a:t>“</a:t>
            </a:r>
            <a:r>
              <a:rPr lang="en-US" sz="2800" dirty="0"/>
              <a:t>great, terrific, wonderful</a:t>
            </a:r>
            <a:r>
              <a:rPr lang="ja-JP" altLang="en-US" sz="2800" dirty="0">
                <a:latin typeface="Arial"/>
              </a:rPr>
              <a:t>”</a:t>
            </a:r>
            <a:endParaRPr lang="en-US" sz="2800" dirty="0"/>
          </a:p>
          <a:p>
            <a:pPr>
              <a:buNone/>
              <a:defRPr/>
            </a:pPr>
            <a:r>
              <a:rPr lang="en-US" sz="2800" dirty="0"/>
              <a:t>B = {b, a, d}	   </a:t>
            </a:r>
            <a:r>
              <a:rPr lang="ja-JP" altLang="en-US" sz="2800" dirty="0">
                <a:latin typeface="Arial"/>
              </a:rPr>
              <a:t>“</a:t>
            </a:r>
            <a:r>
              <a:rPr lang="en-US" sz="2800" dirty="0"/>
              <a:t>bad, awful, dismal</a:t>
            </a:r>
            <a:r>
              <a:rPr lang="ja-JP" altLang="en-US" sz="2800" dirty="0">
                <a:latin typeface="Arial"/>
              </a:rPr>
              <a:t>”</a:t>
            </a:r>
            <a:endParaRPr lang="en-US" sz="2800" dirty="0"/>
          </a:p>
          <a:p>
            <a:pPr>
              <a:buNone/>
              <a:defRPr/>
            </a:pPr>
            <a:endParaRPr lang="en-US" sz="2800" dirty="0"/>
          </a:p>
          <a:p>
            <a:pPr>
              <a:buNone/>
              <a:defRPr/>
            </a:pPr>
            <a:r>
              <a:rPr lang="en-US" sz="2800" dirty="0"/>
              <a:t>R</a:t>
            </a:r>
            <a:r>
              <a:rPr lang="en-US" sz="2800" baseline="30000" dirty="0"/>
              <a:t>C</a:t>
            </a:r>
            <a:r>
              <a:rPr lang="en-US" sz="2800" dirty="0"/>
              <a:t> is indifferent</a:t>
            </a:r>
          </a:p>
          <a:p>
            <a:pPr>
              <a:buNone/>
              <a:defRPr/>
            </a:pPr>
            <a:r>
              <a:rPr lang="en-US" sz="2800" dirty="0"/>
              <a:t>R* has A P* </a:t>
            </a:r>
            <a:r>
              <a:rPr lang="en-US" sz="2800" dirty="0" smtClean="0"/>
              <a:t>B</a:t>
            </a:r>
            <a:endParaRPr lang="en-US" sz="2800" dirty="0"/>
          </a:p>
          <a:p>
            <a:pPr>
              <a:buNone/>
              <a:defRPr/>
            </a:pPr>
            <a:endParaRPr lang="en-US" sz="3000" dirty="0" smtClean="0"/>
          </a:p>
          <a:p>
            <a:pPr>
              <a:buNone/>
              <a:defRPr/>
            </a:pPr>
            <a:endParaRPr lang="en-US" sz="2400" dirty="0">
              <a:solidFill>
                <a:schemeClr val="bg1">
                  <a:lumMod val="50000"/>
                </a:schemeClr>
              </a:solidFill>
            </a:endParaRPr>
          </a:p>
          <a:p>
            <a:pPr>
              <a:buNone/>
              <a:defRPr/>
            </a:pPr>
            <a:endParaRPr lang="en-US" dirty="0">
              <a:solidFill>
                <a:schemeClr val="bg1">
                  <a:lumMod val="50000"/>
                </a:schemeClr>
              </a:solidFill>
            </a:endParaRPr>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3478430899"/>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Plural Preferences and Freedom</a:t>
            </a:r>
            <a:endParaRPr lang="en-US" dirty="0"/>
          </a:p>
        </p:txBody>
      </p:sp>
      <p:sp>
        <p:nvSpPr>
          <p:cNvPr id="8" name="Content Placeholder 7"/>
          <p:cNvSpPr>
            <a:spLocks noGrp="1"/>
          </p:cNvSpPr>
          <p:nvPr>
            <p:ph idx="1"/>
          </p:nvPr>
        </p:nvSpPr>
        <p:spPr/>
        <p:txBody>
          <a:bodyPr>
            <a:normAutofit lnSpcReduction="10000"/>
          </a:bodyPr>
          <a:lstStyle/>
          <a:p>
            <a:pPr>
              <a:buNone/>
              <a:defRPr/>
            </a:pPr>
            <a:r>
              <a:rPr lang="en-US" sz="2800" dirty="0"/>
              <a:t>Example 2: Utter Disagreement</a:t>
            </a:r>
          </a:p>
          <a:p>
            <a:pPr>
              <a:buNone/>
              <a:defRPr/>
            </a:pPr>
            <a:r>
              <a:rPr lang="en-US" sz="2800" dirty="0"/>
              <a:t>X in R</a:t>
            </a:r>
            <a:r>
              <a:rPr lang="en-US" sz="2800" baseline="30000" dirty="0"/>
              <a:t>2</a:t>
            </a:r>
            <a:r>
              <a:rPr lang="en-US" sz="2800" baseline="-25000" dirty="0"/>
              <a:t>+</a:t>
            </a:r>
            <a:endParaRPr lang="en-US" sz="2800" dirty="0"/>
          </a:p>
          <a:p>
            <a:pPr>
              <a:buNone/>
              <a:defRPr/>
            </a:pPr>
            <a:r>
              <a:rPr lang="en-US" sz="2800" dirty="0"/>
              <a:t>R</a:t>
            </a:r>
            <a:r>
              <a:rPr lang="en-US" sz="2800" baseline="-25000" dirty="0"/>
              <a:t>1</a:t>
            </a:r>
            <a:r>
              <a:rPr lang="en-US" sz="2800" dirty="0"/>
              <a:t> is represented by u(x</a:t>
            </a:r>
            <a:r>
              <a:rPr lang="en-US" sz="2800" baseline="-25000" dirty="0"/>
              <a:t>1</a:t>
            </a:r>
            <a:r>
              <a:rPr lang="en-US" sz="2800" dirty="0"/>
              <a:t>,x</a:t>
            </a:r>
            <a:r>
              <a:rPr lang="en-US" sz="2800" baseline="-25000" dirty="0"/>
              <a:t>2</a:t>
            </a:r>
            <a:r>
              <a:rPr lang="en-US" sz="2800" dirty="0"/>
              <a:t>) = x</a:t>
            </a:r>
            <a:r>
              <a:rPr lang="en-US" sz="2800" baseline="-25000" dirty="0"/>
              <a:t>1</a:t>
            </a:r>
            <a:r>
              <a:rPr lang="en-US" sz="2800" dirty="0"/>
              <a:t>-x</a:t>
            </a:r>
            <a:r>
              <a:rPr lang="en-US" sz="2800" baseline="-25000" dirty="0"/>
              <a:t>2</a:t>
            </a:r>
            <a:endParaRPr lang="en-US" sz="2800" dirty="0"/>
          </a:p>
          <a:p>
            <a:pPr>
              <a:buNone/>
              <a:defRPr/>
            </a:pPr>
            <a:r>
              <a:rPr lang="en-US" sz="2800" dirty="0"/>
              <a:t>R</a:t>
            </a:r>
            <a:r>
              <a:rPr lang="en-US" sz="2800" baseline="-25000" dirty="0"/>
              <a:t>2</a:t>
            </a:r>
            <a:r>
              <a:rPr lang="en-US" sz="2800" dirty="0"/>
              <a:t> is represented by w(x</a:t>
            </a:r>
            <a:r>
              <a:rPr lang="en-US" sz="2800" baseline="-25000" dirty="0"/>
              <a:t>1</a:t>
            </a:r>
            <a:r>
              <a:rPr lang="en-US" sz="2800" dirty="0"/>
              <a:t>,x</a:t>
            </a:r>
            <a:r>
              <a:rPr lang="en-US" sz="2800" baseline="-25000" dirty="0"/>
              <a:t>2</a:t>
            </a:r>
            <a:r>
              <a:rPr lang="en-US" sz="2800" dirty="0"/>
              <a:t>) = x</a:t>
            </a:r>
            <a:r>
              <a:rPr lang="en-US" sz="2800" baseline="-25000" dirty="0"/>
              <a:t>2</a:t>
            </a:r>
            <a:r>
              <a:rPr lang="en-US" sz="2800" dirty="0"/>
              <a:t>-x</a:t>
            </a:r>
            <a:r>
              <a:rPr lang="en-US" sz="2800" baseline="-25000" dirty="0"/>
              <a:t>1</a:t>
            </a:r>
          </a:p>
          <a:p>
            <a:pPr>
              <a:buNone/>
              <a:defRPr/>
            </a:pPr>
            <a:endParaRPr lang="en-US" sz="2800" dirty="0"/>
          </a:p>
          <a:p>
            <a:pPr>
              <a:buNone/>
              <a:defRPr/>
            </a:pPr>
            <a:r>
              <a:rPr lang="en-US" sz="2800" dirty="0"/>
              <a:t>A = {(1,1), (3,3)</a:t>
            </a:r>
            <a:r>
              <a:rPr lang="en-US" sz="2800" dirty="0" smtClean="0"/>
              <a:t>}     B </a:t>
            </a:r>
            <a:r>
              <a:rPr lang="en-US" sz="2800" dirty="0"/>
              <a:t>= {(1,3), (3,1)}</a:t>
            </a:r>
          </a:p>
          <a:p>
            <a:pPr>
              <a:buNone/>
              <a:defRPr/>
            </a:pPr>
            <a:endParaRPr lang="en-US" sz="2800" dirty="0"/>
          </a:p>
          <a:p>
            <a:pPr>
              <a:buNone/>
              <a:defRPr/>
            </a:pPr>
            <a:r>
              <a:rPr lang="en-US" sz="2800" dirty="0"/>
              <a:t>R* has B P* </a:t>
            </a:r>
            <a:r>
              <a:rPr lang="en-US" sz="2800" dirty="0" smtClean="0"/>
              <a:t>A</a:t>
            </a:r>
          </a:p>
          <a:p>
            <a:pPr>
              <a:buNone/>
              <a:defRPr/>
            </a:pPr>
            <a:r>
              <a:rPr lang="en-US" sz="3000" dirty="0" smtClean="0"/>
              <a:t>Indeed some scope for comparisons under R* </a:t>
            </a:r>
          </a:p>
          <a:p>
            <a:pPr>
              <a:buNone/>
              <a:defRPr/>
            </a:pPr>
            <a:endParaRPr lang="en-US" sz="2400" dirty="0">
              <a:solidFill>
                <a:schemeClr val="bg1">
                  <a:lumMod val="50000"/>
                </a:schemeClr>
              </a:solidFill>
            </a:endParaRPr>
          </a:p>
          <a:p>
            <a:pPr>
              <a:buNone/>
              <a:defRPr/>
            </a:pPr>
            <a:endParaRPr lang="en-US" dirty="0">
              <a:solidFill>
                <a:schemeClr val="bg1">
                  <a:lumMod val="50000"/>
                </a:schemeClr>
              </a:solidFill>
            </a:endParaRPr>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1992382685"/>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solidFill>
                  <a:schemeClr val="accent2"/>
                </a:solidFill>
              </a:rPr>
              <a:t>Overview</a:t>
            </a:r>
            <a:endParaRPr lang="en-US" dirty="0"/>
          </a:p>
        </p:txBody>
      </p:sp>
      <p:sp>
        <p:nvSpPr>
          <p:cNvPr id="8" name="Content Placeholder 7"/>
          <p:cNvSpPr>
            <a:spLocks noGrp="1"/>
          </p:cNvSpPr>
          <p:nvPr>
            <p:ph idx="1"/>
          </p:nvPr>
        </p:nvSpPr>
        <p:spPr/>
        <p:txBody>
          <a:bodyPr>
            <a:normAutofit/>
          </a:bodyPr>
          <a:lstStyle/>
          <a:p>
            <a:pPr>
              <a:buNone/>
              <a:defRPr/>
            </a:pPr>
            <a:r>
              <a:rPr lang="en-US" sz="2800" dirty="0" smtClean="0"/>
              <a:t>Examined the </a:t>
            </a:r>
            <a:r>
              <a:rPr lang="en-US" sz="2800" dirty="0"/>
              <a:t>c</a:t>
            </a:r>
            <a:r>
              <a:rPr lang="en-US" sz="2800" dirty="0" smtClean="0"/>
              <a:t>apability approach</a:t>
            </a:r>
          </a:p>
          <a:p>
            <a:pPr lvl="1">
              <a:buNone/>
              <a:defRPr/>
            </a:pPr>
            <a:r>
              <a:rPr lang="en-US" sz="2600" dirty="0" smtClean="0"/>
              <a:t>Origins</a:t>
            </a:r>
          </a:p>
          <a:p>
            <a:pPr lvl="1">
              <a:buNone/>
              <a:defRPr/>
            </a:pPr>
            <a:r>
              <a:rPr lang="en-US" sz="2600" dirty="0" smtClean="0"/>
              <a:t>Description</a:t>
            </a:r>
            <a:endParaRPr lang="en-US" sz="2600" dirty="0" smtClean="0"/>
          </a:p>
          <a:p>
            <a:pPr lvl="1">
              <a:buNone/>
              <a:defRPr/>
            </a:pPr>
            <a:r>
              <a:rPr lang="en-US" sz="2600" dirty="0" smtClean="0"/>
              <a:t>Formalization</a:t>
            </a:r>
          </a:p>
          <a:p>
            <a:pPr lvl="1">
              <a:buNone/>
              <a:defRPr/>
            </a:pPr>
            <a:r>
              <a:rPr lang="en-US" sz="2600" dirty="0" smtClean="0"/>
              <a:t>Practical </a:t>
            </a:r>
            <a:r>
              <a:rPr lang="en-US" sz="2600" dirty="0" smtClean="0"/>
              <a:t>Problems</a:t>
            </a:r>
          </a:p>
          <a:p>
            <a:pPr lvl="1">
              <a:buNone/>
              <a:defRPr/>
            </a:pPr>
            <a:r>
              <a:rPr lang="en-US" sz="2600" dirty="0" smtClean="0"/>
              <a:t>Measuring Freedom</a:t>
            </a:r>
            <a:endParaRPr lang="en-US" sz="2600" dirty="0" smtClean="0"/>
          </a:p>
          <a:p>
            <a:pPr>
              <a:buNone/>
              <a:defRPr/>
            </a:pPr>
            <a:r>
              <a:rPr lang="en-US" sz="2800" dirty="0" smtClean="0"/>
              <a:t>Next</a:t>
            </a:r>
          </a:p>
          <a:p>
            <a:pPr lvl="1">
              <a:buNone/>
              <a:defRPr/>
            </a:pPr>
            <a:r>
              <a:rPr lang="en-US" sz="2600" dirty="0" smtClean="0"/>
              <a:t>Applications</a:t>
            </a:r>
          </a:p>
          <a:p>
            <a:pPr>
              <a:buNone/>
              <a:defRPr/>
            </a:pPr>
            <a:endParaRPr lang="en-US" sz="2400" dirty="0">
              <a:solidFill>
                <a:schemeClr val="bg1">
                  <a:lumMod val="50000"/>
                </a:schemeClr>
              </a:solidFill>
            </a:endParaRPr>
          </a:p>
          <a:p>
            <a:pPr>
              <a:buNone/>
              <a:defRPr/>
            </a:pPr>
            <a:endParaRPr lang="en-US" dirty="0">
              <a:solidFill>
                <a:schemeClr val="bg1">
                  <a:lumMod val="50000"/>
                </a:schemeClr>
              </a:solidFill>
            </a:endParaRPr>
          </a:p>
          <a:p>
            <a:pPr marL="990600" lvl="1" indent="-533400">
              <a:lnSpc>
                <a:spcPct val="90000"/>
              </a:lnSpc>
              <a:buNone/>
              <a:defRPr/>
            </a:pPr>
            <a:endParaRPr lang="en-US" baseline="30000"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4109" y="6176640"/>
            <a:ext cx="1642691" cy="547564"/>
          </a:xfrm>
          <a:prstGeom prst="rect">
            <a:avLst/>
          </a:prstGeom>
        </p:spPr>
      </p:pic>
    </p:spTree>
    <p:extLst>
      <p:ext uri="{BB962C8B-B14F-4D97-AF65-F5344CB8AC3E}">
        <p14:creationId xmlns:p14="http://schemas.microsoft.com/office/powerpoint/2010/main" val="2992478428"/>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2864</TotalTime>
  <Words>5175</Words>
  <Application>Microsoft Macintosh PowerPoint</Application>
  <PresentationFormat>On-screen Show (4:3)</PresentationFormat>
  <Paragraphs>614</Paragraphs>
  <Slides>73</Slides>
  <Notes>19</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Capabilities: Theory</vt:lpstr>
      <vt:lpstr>Guide</vt:lpstr>
      <vt:lpstr>Motivation</vt:lpstr>
      <vt:lpstr>Motivation</vt:lpstr>
      <vt:lpstr>Motivation</vt:lpstr>
      <vt:lpstr>Motivation</vt:lpstr>
      <vt:lpstr>Motivation</vt:lpstr>
      <vt:lpstr>Motivation</vt:lpstr>
      <vt:lpstr>Motivation</vt:lpstr>
      <vt:lpstr>Motivation</vt:lpstr>
      <vt:lpstr>Motivation</vt:lpstr>
      <vt:lpstr>Motivation</vt:lpstr>
      <vt:lpstr>Motivation</vt:lpstr>
      <vt:lpstr>Plan</vt:lpstr>
      <vt:lpstr>Origins</vt:lpstr>
      <vt:lpstr>Origins</vt:lpstr>
      <vt:lpstr>Origins</vt:lpstr>
      <vt:lpstr>Origins</vt:lpstr>
      <vt:lpstr>Origins</vt:lpstr>
      <vt:lpstr>Origins</vt:lpstr>
      <vt:lpstr>Origins</vt:lpstr>
      <vt:lpstr>Origins</vt:lpstr>
      <vt:lpstr>Origins</vt:lpstr>
      <vt:lpstr>Origins</vt:lpstr>
      <vt:lpstr>Origins</vt:lpstr>
      <vt:lpstr>Capability Approach: Description</vt:lpstr>
      <vt:lpstr>Description</vt:lpstr>
      <vt:lpstr>Description</vt:lpstr>
      <vt:lpstr>Description</vt:lpstr>
      <vt:lpstr>Description</vt:lpstr>
      <vt:lpstr>Description</vt:lpstr>
      <vt:lpstr>Description</vt:lpstr>
      <vt:lpstr>Description</vt:lpstr>
      <vt:lpstr>Description</vt:lpstr>
      <vt:lpstr>Description</vt:lpstr>
      <vt:lpstr>Description</vt:lpstr>
      <vt:lpstr>Description</vt:lpstr>
      <vt:lpstr>Description</vt:lpstr>
      <vt:lpstr>Description</vt:lpstr>
      <vt:lpstr>Capability Approach: Formalization</vt:lpstr>
      <vt:lpstr>Formalization</vt:lpstr>
      <vt:lpstr>Formalization</vt:lpstr>
      <vt:lpstr>Practical Considerations</vt:lpstr>
      <vt:lpstr>Practical Considerations</vt:lpstr>
      <vt:lpstr>Practical Considerations</vt:lpstr>
      <vt:lpstr>Practical Considerations</vt:lpstr>
      <vt:lpstr>Practical Considerations</vt:lpstr>
      <vt:lpstr>Practical Considerations</vt:lpstr>
      <vt:lpstr>Practical Considerations</vt:lpstr>
      <vt:lpstr>Practical Considerations</vt:lpstr>
      <vt:lpstr>Practical Considerations</vt:lpstr>
      <vt:lpstr>Practical Considerations</vt:lpstr>
      <vt:lpstr>Practical Considerations</vt:lpstr>
      <vt:lpstr>Capability and Opportunity Freedom</vt:lpstr>
      <vt:lpstr>Measuring Freedom</vt:lpstr>
      <vt:lpstr>Measuring Freedom</vt:lpstr>
      <vt:lpstr>Freedom Counts</vt:lpstr>
      <vt:lpstr>Freedom Counts</vt:lpstr>
      <vt:lpstr>Freedom Counts</vt:lpstr>
      <vt:lpstr>Freedom Counts</vt:lpstr>
      <vt:lpstr>Freedom Counts</vt:lpstr>
      <vt:lpstr>Freedom Counts</vt:lpstr>
      <vt:lpstr>Preference and Freedom</vt:lpstr>
      <vt:lpstr>Preference and Freedom</vt:lpstr>
      <vt:lpstr>Preference and Freedom</vt:lpstr>
      <vt:lpstr>Preference and Freedom</vt:lpstr>
      <vt:lpstr>Plural Preferences and Freedom</vt:lpstr>
      <vt:lpstr>Plural Preferences and Freedom</vt:lpstr>
      <vt:lpstr>Plural Preferences and Freedom</vt:lpstr>
      <vt:lpstr>Plural Preferences and Freedom</vt:lpstr>
      <vt:lpstr>Plural Preferences and Freedom</vt:lpstr>
      <vt:lpstr>Plural Preferences and Freedom</vt:lpstr>
      <vt:lpstr>Overview</vt:lpstr>
    </vt:vector>
  </TitlesOfParts>
  <Company>UNIVERSITY OF CHICAGO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HDEC MEDIA</dc:creator>
  <cp:lastModifiedBy>James Foster</cp:lastModifiedBy>
  <cp:revision>152</cp:revision>
  <dcterms:created xsi:type="dcterms:W3CDTF">2013-04-11T21:28:34Z</dcterms:created>
  <dcterms:modified xsi:type="dcterms:W3CDTF">2013-07-18T12:58:24Z</dcterms:modified>
</cp:coreProperties>
</file>