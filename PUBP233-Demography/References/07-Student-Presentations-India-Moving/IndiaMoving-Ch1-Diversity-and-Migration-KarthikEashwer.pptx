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4" d="100"/>
          <a:sy n="34" d="100"/>
        </p:scale>
        <p:origin x="190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EEEB395-CD34-470C-B4D3-72357EDCC484}"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16EC2A-DFEE-42A8-A099-50C47E4C824A}" type="slidenum">
              <a:rPr lang="en-US" smtClean="0"/>
              <a:t>‹#›</a:t>
            </a:fld>
            <a:endParaRPr lang="en-US"/>
          </a:p>
        </p:txBody>
      </p:sp>
    </p:spTree>
    <p:extLst>
      <p:ext uri="{BB962C8B-B14F-4D97-AF65-F5344CB8AC3E}">
        <p14:creationId xmlns:p14="http://schemas.microsoft.com/office/powerpoint/2010/main" val="424533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7EEEB395-CD34-470C-B4D3-72357EDCC484}"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16EC2A-DFEE-42A8-A099-50C47E4C824A}" type="slidenum">
              <a:rPr lang="en-US" smtClean="0"/>
              <a:t>‹#›</a:t>
            </a:fld>
            <a:endParaRPr lang="en-US"/>
          </a:p>
        </p:txBody>
      </p:sp>
    </p:spTree>
    <p:extLst>
      <p:ext uri="{BB962C8B-B14F-4D97-AF65-F5344CB8AC3E}">
        <p14:creationId xmlns:p14="http://schemas.microsoft.com/office/powerpoint/2010/main" val="1575605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EEB395-CD34-470C-B4D3-72357EDCC484}"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16EC2A-DFEE-42A8-A099-50C47E4C824A}" type="slidenum">
              <a:rPr lang="en-US" smtClean="0"/>
              <a:t>‹#›</a:t>
            </a:fld>
            <a:endParaRPr lang="en-US"/>
          </a:p>
        </p:txBody>
      </p:sp>
    </p:spTree>
    <p:extLst>
      <p:ext uri="{BB962C8B-B14F-4D97-AF65-F5344CB8AC3E}">
        <p14:creationId xmlns:p14="http://schemas.microsoft.com/office/powerpoint/2010/main" val="3618653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EEB395-CD34-470C-B4D3-72357EDCC484}" type="datetimeFigureOut">
              <a:rPr lang="en-US" smtClean="0"/>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16EC2A-DFEE-42A8-A099-50C47E4C824A}" type="slidenum">
              <a:rPr lang="en-US" smtClean="0"/>
              <a:t>‹#›</a:t>
            </a:fld>
            <a:endParaRPr lang="en-US"/>
          </a:p>
        </p:txBody>
      </p:sp>
    </p:spTree>
    <p:extLst>
      <p:ext uri="{BB962C8B-B14F-4D97-AF65-F5344CB8AC3E}">
        <p14:creationId xmlns:p14="http://schemas.microsoft.com/office/powerpoint/2010/main" val="592171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EEEB395-CD34-470C-B4D3-72357EDCC484}" type="datetimeFigureOut">
              <a:rPr lang="en-US" smtClean="0"/>
              <a:t>4/21/2024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16EC2A-DFEE-42A8-A099-50C47E4C824A}" type="slidenum">
              <a:rPr lang="en-US" smtClean="0"/>
              <a:t>‹#›</a:t>
            </a:fld>
            <a:endParaRPr lang="en-US"/>
          </a:p>
        </p:txBody>
      </p:sp>
    </p:spTree>
    <p:extLst>
      <p:ext uri="{BB962C8B-B14F-4D97-AF65-F5344CB8AC3E}">
        <p14:creationId xmlns:p14="http://schemas.microsoft.com/office/powerpoint/2010/main" val="1312119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EEEB395-CD34-470C-B4D3-72357EDCC484}" type="datetimeFigureOut">
              <a:rPr lang="en-US" smtClean="0"/>
              <a:t>4/21/2024</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616EC2A-DFEE-42A8-A099-50C47E4C824A}" type="slidenum">
              <a:rPr lang="en-US" smtClean="0"/>
              <a:t>‹#›</a:t>
            </a:fld>
            <a:endParaRPr lang="en-US"/>
          </a:p>
        </p:txBody>
      </p:sp>
    </p:spTree>
    <p:extLst>
      <p:ext uri="{BB962C8B-B14F-4D97-AF65-F5344CB8AC3E}">
        <p14:creationId xmlns:p14="http://schemas.microsoft.com/office/powerpoint/2010/main" val="34418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EEEB395-CD34-470C-B4D3-72357EDCC484}" type="datetimeFigureOut">
              <a:rPr lang="en-US" smtClean="0"/>
              <a:t>4/21/2024</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616EC2A-DFEE-42A8-A099-50C47E4C824A}" type="slidenum">
              <a:rPr lang="en-US" smtClean="0"/>
              <a:t>‹#›</a:t>
            </a:fld>
            <a:endParaRPr lang="en-US"/>
          </a:p>
        </p:txBody>
      </p:sp>
    </p:spTree>
    <p:extLst>
      <p:ext uri="{BB962C8B-B14F-4D97-AF65-F5344CB8AC3E}">
        <p14:creationId xmlns:p14="http://schemas.microsoft.com/office/powerpoint/2010/main" val="482948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EEEB395-CD34-470C-B4D3-72357EDCC484}" type="datetimeFigureOut">
              <a:rPr lang="en-US" smtClean="0"/>
              <a:t>4/21/2024</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616EC2A-DFEE-42A8-A099-50C47E4C824A}" type="slidenum">
              <a:rPr lang="en-US" smtClean="0"/>
              <a:t>‹#›</a:t>
            </a:fld>
            <a:endParaRPr lang="en-US"/>
          </a:p>
        </p:txBody>
      </p:sp>
    </p:spTree>
    <p:extLst>
      <p:ext uri="{BB962C8B-B14F-4D97-AF65-F5344CB8AC3E}">
        <p14:creationId xmlns:p14="http://schemas.microsoft.com/office/powerpoint/2010/main" val="625447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EEB395-CD34-470C-B4D3-72357EDCC484}" type="datetimeFigureOut">
              <a:rPr lang="en-US" smtClean="0"/>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16EC2A-DFEE-42A8-A099-50C47E4C824A}" type="slidenum">
              <a:rPr lang="en-US" smtClean="0"/>
              <a:t>‹#›</a:t>
            </a:fld>
            <a:endParaRPr lang="en-US"/>
          </a:p>
        </p:txBody>
      </p:sp>
    </p:spTree>
    <p:extLst>
      <p:ext uri="{BB962C8B-B14F-4D97-AF65-F5344CB8AC3E}">
        <p14:creationId xmlns:p14="http://schemas.microsoft.com/office/powerpoint/2010/main" val="169875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EEB395-CD34-470C-B4D3-72357EDCC484}" type="datetimeFigureOut">
              <a:rPr lang="en-US" smtClean="0"/>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16EC2A-DFEE-42A8-A099-50C47E4C824A}" type="slidenum">
              <a:rPr lang="en-US" smtClean="0"/>
              <a:t>‹#›</a:t>
            </a:fld>
            <a:endParaRPr lang="en-US"/>
          </a:p>
        </p:txBody>
      </p:sp>
    </p:spTree>
    <p:extLst>
      <p:ext uri="{BB962C8B-B14F-4D97-AF65-F5344CB8AC3E}">
        <p14:creationId xmlns:p14="http://schemas.microsoft.com/office/powerpoint/2010/main" val="444355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EEEB395-CD34-470C-B4D3-72357EDCC484}"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16EC2A-DFEE-42A8-A099-50C47E4C824A}" type="slidenum">
              <a:rPr lang="en-US" smtClean="0"/>
              <a:t>‹#›</a:t>
            </a:fld>
            <a:endParaRPr lang="en-US"/>
          </a:p>
        </p:txBody>
      </p:sp>
    </p:spTree>
    <p:extLst>
      <p:ext uri="{BB962C8B-B14F-4D97-AF65-F5344CB8AC3E}">
        <p14:creationId xmlns:p14="http://schemas.microsoft.com/office/powerpoint/2010/main" val="12227541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EEEB395-CD34-470C-B4D3-72357EDCC484}"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16EC2A-DFEE-42A8-A099-50C47E4C824A}"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9718719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EEB395-CD34-470C-B4D3-72357EDCC484}"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16EC2A-DFEE-42A8-A099-50C47E4C824A}" type="slidenum">
              <a:rPr lang="en-US" smtClean="0"/>
              <a:t>‹#›</a:t>
            </a:fld>
            <a:endParaRPr lang="en-US"/>
          </a:p>
        </p:txBody>
      </p:sp>
    </p:spTree>
    <p:extLst>
      <p:ext uri="{BB962C8B-B14F-4D97-AF65-F5344CB8AC3E}">
        <p14:creationId xmlns:p14="http://schemas.microsoft.com/office/powerpoint/2010/main" val="29289872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EEEB395-CD34-470C-B4D3-72357EDCC484}" type="datetimeFigureOut">
              <a:rPr lang="en-US" smtClean="0"/>
              <a:t>4/21/2024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16EC2A-DFEE-42A8-A099-50C47E4C824A}" type="slidenum">
              <a:rPr lang="en-US" smtClean="0"/>
              <a:t>‹#›</a:t>
            </a:fld>
            <a:endParaRPr lang="en-US"/>
          </a:p>
        </p:txBody>
      </p:sp>
    </p:spTree>
    <p:extLst>
      <p:ext uri="{BB962C8B-B14F-4D97-AF65-F5344CB8AC3E}">
        <p14:creationId xmlns:p14="http://schemas.microsoft.com/office/powerpoint/2010/main" val="19568325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EEEB395-CD34-470C-B4D3-72357EDCC484}" type="datetimeFigureOut">
              <a:rPr lang="en-US" smtClean="0"/>
              <a:t>4/21/2024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16EC2A-DFEE-42A8-A099-50C47E4C824A}" type="slidenum">
              <a:rPr lang="en-US" smtClean="0"/>
              <a:t>‹#›</a:t>
            </a:fld>
            <a:endParaRPr lang="en-US"/>
          </a:p>
        </p:txBody>
      </p:sp>
    </p:spTree>
    <p:extLst>
      <p:ext uri="{BB962C8B-B14F-4D97-AF65-F5344CB8AC3E}">
        <p14:creationId xmlns:p14="http://schemas.microsoft.com/office/powerpoint/2010/main" val="32084275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EEB395-CD34-470C-B4D3-72357EDCC484}"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16EC2A-DFEE-42A8-A099-50C47E4C824A}" type="slidenum">
              <a:rPr lang="en-US" smtClean="0"/>
              <a:t>‹#›</a:t>
            </a:fld>
            <a:endParaRPr lang="en-US"/>
          </a:p>
        </p:txBody>
      </p:sp>
    </p:spTree>
    <p:extLst>
      <p:ext uri="{BB962C8B-B14F-4D97-AF65-F5344CB8AC3E}">
        <p14:creationId xmlns:p14="http://schemas.microsoft.com/office/powerpoint/2010/main" val="13598042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EEB395-CD34-470C-B4D3-72357EDCC484}"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16EC2A-DFEE-42A8-A099-50C47E4C824A}" type="slidenum">
              <a:rPr lang="en-US" smtClean="0"/>
              <a:t>‹#›</a:t>
            </a:fld>
            <a:endParaRPr lang="en-US"/>
          </a:p>
        </p:txBody>
      </p:sp>
    </p:spTree>
    <p:extLst>
      <p:ext uri="{BB962C8B-B14F-4D97-AF65-F5344CB8AC3E}">
        <p14:creationId xmlns:p14="http://schemas.microsoft.com/office/powerpoint/2010/main" val="3668321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EEEB395-CD34-470C-B4D3-72357EDCC484}" type="datetimeFigureOut">
              <a:rPr lang="en-US" smtClean="0"/>
              <a:t>4/21/2024</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616EC2A-DFEE-42A8-A099-50C47E4C824A}" type="slidenum">
              <a:rPr lang="en-US" smtClean="0"/>
              <a:t>‹#›</a:t>
            </a:fld>
            <a:endParaRPr lang="en-US"/>
          </a:p>
        </p:txBody>
      </p:sp>
    </p:spTree>
    <p:extLst>
      <p:ext uri="{BB962C8B-B14F-4D97-AF65-F5344CB8AC3E}">
        <p14:creationId xmlns:p14="http://schemas.microsoft.com/office/powerpoint/2010/main" val="2125609422"/>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038AD-EF16-5839-1A1D-F5E655F48677}"/>
              </a:ext>
            </a:extLst>
          </p:cNvPr>
          <p:cNvSpPr>
            <a:spLocks noGrp="1"/>
          </p:cNvSpPr>
          <p:nvPr>
            <p:ph type="ctrTitle"/>
          </p:nvPr>
        </p:nvSpPr>
        <p:spPr>
          <a:xfrm>
            <a:off x="1154955" y="712270"/>
            <a:ext cx="8825658" cy="3041583"/>
          </a:xfrm>
        </p:spPr>
        <p:txBody>
          <a:bodyPr>
            <a:normAutofit/>
          </a:bodyPr>
          <a:lstStyle/>
          <a:p>
            <a:r>
              <a:rPr lang="en-US" sz="4400" dirty="0">
                <a:latin typeface="Algerian" panose="04020705040A02060702" pitchFamily="82" charset="0"/>
              </a:rPr>
              <a:t>India moving by Chinmay tumbe</a:t>
            </a:r>
            <a:br>
              <a:rPr lang="en-US" sz="4400" dirty="0">
                <a:latin typeface="Algerian" panose="04020705040A02060702" pitchFamily="82" charset="0"/>
              </a:rPr>
            </a:br>
            <a:r>
              <a:rPr lang="en-US" sz="4400" dirty="0">
                <a:latin typeface="Algerian" panose="04020705040A02060702" pitchFamily="82" charset="0"/>
              </a:rPr>
              <a:t>ch 1 – India diversity and migration </a:t>
            </a:r>
          </a:p>
        </p:txBody>
      </p:sp>
      <p:sp>
        <p:nvSpPr>
          <p:cNvPr id="3" name="Subtitle 2">
            <a:extLst>
              <a:ext uri="{FF2B5EF4-FFF2-40B4-BE49-F238E27FC236}">
                <a16:creationId xmlns:a16="http://schemas.microsoft.com/office/drawing/2014/main" id="{B645895A-B68C-5F98-9AC2-C1F9DE726A29}"/>
              </a:ext>
            </a:extLst>
          </p:cNvPr>
          <p:cNvSpPr>
            <a:spLocks noGrp="1"/>
          </p:cNvSpPr>
          <p:nvPr>
            <p:ph type="subTitle" idx="1"/>
          </p:nvPr>
        </p:nvSpPr>
        <p:spPr/>
        <p:txBody>
          <a:bodyPr/>
          <a:lstStyle/>
          <a:p>
            <a:r>
              <a:rPr lang="en-US" dirty="0">
                <a:latin typeface="Algerian" panose="04020705040A02060702" pitchFamily="82" charset="0"/>
              </a:rPr>
              <a:t>By – Karthik Eshwar </a:t>
            </a:r>
          </a:p>
        </p:txBody>
      </p:sp>
    </p:spTree>
    <p:extLst>
      <p:ext uri="{BB962C8B-B14F-4D97-AF65-F5344CB8AC3E}">
        <p14:creationId xmlns:p14="http://schemas.microsoft.com/office/powerpoint/2010/main" val="3644100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95C6B-99E6-9867-57B0-BE7B7FA3BCD8}"/>
              </a:ext>
            </a:extLst>
          </p:cNvPr>
          <p:cNvSpPr>
            <a:spLocks noGrp="1"/>
          </p:cNvSpPr>
          <p:nvPr>
            <p:ph type="ctrTitle"/>
          </p:nvPr>
        </p:nvSpPr>
        <p:spPr>
          <a:xfrm>
            <a:off x="1524000" y="1737360"/>
            <a:ext cx="9144000" cy="1691640"/>
          </a:xfrm>
        </p:spPr>
        <p:txBody>
          <a:bodyPr>
            <a:normAutofit fontScale="90000"/>
          </a:bodyPr>
          <a:lstStyle/>
          <a:p>
            <a:r>
              <a:rPr lang="en-US" sz="2800" b="0" i="0" u="none" strike="noStrike" baseline="0" dirty="0">
                <a:latin typeface="Algerian" panose="04020705040A02060702" pitchFamily="82" charset="0"/>
              </a:rPr>
              <a:t>Why is India such a diverse country?</a:t>
            </a:r>
            <a:br>
              <a:rPr lang="en-US" sz="2800" b="0" i="0" u="none" strike="noStrike" baseline="0" dirty="0">
                <a:latin typeface="Algerian" panose="04020705040A02060702" pitchFamily="82" charset="0"/>
              </a:rPr>
            </a:br>
            <a:r>
              <a:rPr lang="en-US" sz="2800" b="0" i="0" u="none" strike="noStrike" baseline="0" dirty="0">
                <a:latin typeface="Algerian" panose="04020705040A02060702" pitchFamily="82" charset="0"/>
              </a:rPr>
              <a:t>Why do Indians speak so many languages?</a:t>
            </a:r>
            <a:br>
              <a:rPr lang="en-US" sz="2800" b="0" i="0" u="none" strike="noStrike" baseline="0" dirty="0">
                <a:latin typeface="Algerian" panose="04020705040A02060702" pitchFamily="82" charset="0"/>
              </a:rPr>
            </a:br>
            <a:r>
              <a:rPr lang="en-US" sz="2800" b="0" i="0" u="none" strike="noStrike" baseline="0" dirty="0">
                <a:latin typeface="Algerian" panose="04020705040A02060702" pitchFamily="82" charset="0"/>
              </a:rPr>
              <a:t>Why do Indians celebrate a number of festivals ?</a:t>
            </a:r>
            <a:br>
              <a:rPr lang="en-US" sz="2800" b="0" i="0" u="none" strike="noStrike" baseline="0" dirty="0">
                <a:latin typeface="Algerian" panose="04020705040A02060702" pitchFamily="82" charset="0"/>
              </a:rPr>
            </a:br>
            <a:endParaRPr lang="en-US" sz="2800" dirty="0">
              <a:latin typeface="Algerian" panose="04020705040A02060702" pitchFamily="82" charset="0"/>
            </a:endParaRPr>
          </a:p>
        </p:txBody>
      </p:sp>
      <p:sp>
        <p:nvSpPr>
          <p:cNvPr id="3" name="Subtitle 2">
            <a:extLst>
              <a:ext uri="{FF2B5EF4-FFF2-40B4-BE49-F238E27FC236}">
                <a16:creationId xmlns:a16="http://schemas.microsoft.com/office/drawing/2014/main" id="{6769C4CA-AD24-65D0-4551-33A3F8AAEE08}"/>
              </a:ext>
            </a:extLst>
          </p:cNvPr>
          <p:cNvSpPr>
            <a:spLocks noGrp="1"/>
          </p:cNvSpPr>
          <p:nvPr>
            <p:ph type="subTitle" idx="1"/>
          </p:nvPr>
        </p:nvSpPr>
        <p:spPr>
          <a:xfrm>
            <a:off x="1524000" y="4263390"/>
            <a:ext cx="8705850" cy="1097280"/>
          </a:xfrm>
        </p:spPr>
        <p:txBody>
          <a:bodyPr>
            <a:normAutofit/>
          </a:bodyPr>
          <a:lstStyle/>
          <a:p>
            <a:r>
              <a:rPr lang="en-US" dirty="0">
                <a:latin typeface="Algerian" panose="04020705040A02060702" pitchFamily="82" charset="0"/>
              </a:rPr>
              <a:t>Because of Migration !!!</a:t>
            </a:r>
          </a:p>
        </p:txBody>
      </p:sp>
    </p:spTree>
    <p:extLst>
      <p:ext uri="{BB962C8B-B14F-4D97-AF65-F5344CB8AC3E}">
        <p14:creationId xmlns:p14="http://schemas.microsoft.com/office/powerpoint/2010/main" val="842626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82D84-75C7-F950-3882-DB1D37BEF026}"/>
              </a:ext>
            </a:extLst>
          </p:cNvPr>
          <p:cNvSpPr>
            <a:spLocks noGrp="1"/>
          </p:cNvSpPr>
          <p:nvPr>
            <p:ph type="title"/>
          </p:nvPr>
        </p:nvSpPr>
        <p:spPr/>
        <p:txBody>
          <a:bodyPr>
            <a:normAutofit/>
          </a:bodyPr>
          <a:lstStyle/>
          <a:p>
            <a:r>
              <a:rPr lang="en-US" sz="3600" b="0" i="0" u="none" strike="noStrike" baseline="0" dirty="0">
                <a:latin typeface="Algerian" panose="04020705040A02060702" pitchFamily="82" charset="0"/>
              </a:rPr>
              <a:t>Brownian Motion</a:t>
            </a:r>
            <a:endParaRPr lang="en-US" sz="3600" dirty="0">
              <a:latin typeface="Algerian" panose="04020705040A02060702" pitchFamily="82" charset="0"/>
            </a:endParaRPr>
          </a:p>
        </p:txBody>
      </p:sp>
      <p:sp>
        <p:nvSpPr>
          <p:cNvPr id="3" name="Content Placeholder 2">
            <a:extLst>
              <a:ext uri="{FF2B5EF4-FFF2-40B4-BE49-F238E27FC236}">
                <a16:creationId xmlns:a16="http://schemas.microsoft.com/office/drawing/2014/main" id="{EB7C1AD8-7087-6E40-A3BF-62411E8770B6}"/>
              </a:ext>
            </a:extLst>
          </p:cNvPr>
          <p:cNvSpPr>
            <a:spLocks noGrp="1"/>
          </p:cNvSpPr>
          <p:nvPr>
            <p:ph idx="1"/>
          </p:nvPr>
        </p:nvSpPr>
        <p:spPr>
          <a:xfrm>
            <a:off x="838200" y="1497330"/>
            <a:ext cx="10515600" cy="4679633"/>
          </a:xfrm>
        </p:spPr>
        <p:txBody>
          <a:bodyPr>
            <a:noAutofit/>
          </a:bodyPr>
          <a:lstStyle/>
          <a:p>
            <a:pPr algn="l"/>
            <a:r>
              <a:rPr lang="en-US" sz="1800" b="0" i="0" u="none" strike="noStrike" baseline="0" dirty="0">
                <a:latin typeface="Algerian" panose="04020705040A02060702" pitchFamily="82" charset="0"/>
              </a:rPr>
              <a:t>Skin </a:t>
            </a:r>
            <a:r>
              <a:rPr lang="en-US" sz="1800" b="0" i="0" u="none" strike="noStrike" baseline="0" dirty="0" err="1">
                <a:latin typeface="Algerian" panose="04020705040A02060702" pitchFamily="82" charset="0"/>
              </a:rPr>
              <a:t>colour</a:t>
            </a:r>
            <a:r>
              <a:rPr lang="en-US" sz="1800" b="0" i="0" u="none" strike="noStrike" baseline="0" dirty="0">
                <a:latin typeface="Algerian" panose="04020705040A02060702" pitchFamily="82" charset="0"/>
              </a:rPr>
              <a:t>, for instance, has been found to be positively correlated with latitude and ultraviolet radiation levels, and has adapted over time to new environments.</a:t>
            </a:r>
            <a:endParaRPr lang="en-US" sz="1800" dirty="0">
              <a:latin typeface="Algerian" panose="04020705040A02060702" pitchFamily="82" charset="0"/>
            </a:endParaRPr>
          </a:p>
          <a:p>
            <a:pPr algn="l"/>
            <a:r>
              <a:rPr lang="en-US" sz="1800" b="0" i="0" u="none" strike="noStrike" baseline="0" dirty="0">
                <a:latin typeface="Algerian" panose="04020705040A02060702" pitchFamily="82" charset="0"/>
              </a:rPr>
              <a:t>In tropical Africa, where as per current knowledge the origins of Homo sapiens are said to be, the high intensity of UV-B rays led to more production of a compound called melanin to serve as a natural sunscreen and, consequently, darker skin. Closer to the poles, or at higher latitudes, the annual average UV radiation on the earth’s surface is far less than in the tropics.</a:t>
            </a:r>
          </a:p>
          <a:p>
            <a:pPr algn="l"/>
            <a:r>
              <a:rPr lang="en-US" sz="1800" b="0" i="0" u="none" strike="noStrike" baseline="0" dirty="0">
                <a:latin typeface="Algerian" panose="04020705040A02060702" pitchFamily="82" charset="0"/>
              </a:rPr>
              <a:t>It is such genetic evidence in India that now clearly points to two divergent populations ancestral to the majority of the present-day population, providing clues to the </a:t>
            </a:r>
            <a:r>
              <a:rPr lang="en-US" sz="1800" b="0" i="0" u="none" strike="noStrike" baseline="0" dirty="0" err="1">
                <a:latin typeface="Algerian" panose="04020705040A02060702" pitchFamily="82" charset="0"/>
              </a:rPr>
              <a:t>colour</a:t>
            </a:r>
            <a:r>
              <a:rPr lang="en-US" sz="1800" b="0" i="0" u="none" strike="noStrike" baseline="0" dirty="0">
                <a:latin typeface="Algerian" panose="04020705040A02060702" pitchFamily="82" charset="0"/>
              </a:rPr>
              <a:t> gradient and much more</a:t>
            </a:r>
          </a:p>
          <a:p>
            <a:pPr algn="l"/>
            <a:r>
              <a:rPr lang="en-US" sz="1800" b="0" i="0" u="none" strike="noStrike" baseline="0" dirty="0">
                <a:latin typeface="Algerian" panose="04020705040A02060702" pitchFamily="82" charset="0"/>
              </a:rPr>
              <a:t>Ancestral North Indians (ANI)”, are genetically close to Middle Easterners, Central Asians, and Europeans, whereas the other, the “Ancestral South Indians” (ASI)’, are as distinct from ANI and East Asians as they are from each other.’</a:t>
            </a:r>
            <a:endParaRPr lang="en-US" sz="1800" dirty="0">
              <a:latin typeface="Algerian" panose="04020705040A02060702" pitchFamily="82" charset="0"/>
            </a:endParaRPr>
          </a:p>
        </p:txBody>
      </p:sp>
    </p:spTree>
    <p:extLst>
      <p:ext uri="{BB962C8B-B14F-4D97-AF65-F5344CB8AC3E}">
        <p14:creationId xmlns:p14="http://schemas.microsoft.com/office/powerpoint/2010/main" val="2565311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32306-9A1F-80CF-ED1D-CABCC1AA389D}"/>
              </a:ext>
            </a:extLst>
          </p:cNvPr>
          <p:cNvSpPr>
            <a:spLocks noGrp="1"/>
          </p:cNvSpPr>
          <p:nvPr>
            <p:ph type="title"/>
          </p:nvPr>
        </p:nvSpPr>
        <p:spPr/>
        <p:txBody>
          <a:bodyPr/>
          <a:lstStyle/>
          <a:p>
            <a:r>
              <a:rPr lang="en-US" sz="3200" b="0" i="0" u="none" strike="noStrike" baseline="0" dirty="0">
                <a:latin typeface="Algerian" panose="04020705040A02060702" pitchFamily="82" charset="0"/>
              </a:rPr>
              <a:t>Brownian Motion</a:t>
            </a:r>
            <a:endParaRPr lang="en-US" sz="3200" dirty="0">
              <a:latin typeface="Algerian" panose="04020705040A02060702" pitchFamily="82" charset="0"/>
            </a:endParaRPr>
          </a:p>
        </p:txBody>
      </p:sp>
      <p:sp>
        <p:nvSpPr>
          <p:cNvPr id="3" name="Content Placeholder 2">
            <a:extLst>
              <a:ext uri="{FF2B5EF4-FFF2-40B4-BE49-F238E27FC236}">
                <a16:creationId xmlns:a16="http://schemas.microsoft.com/office/drawing/2014/main" id="{FB08D268-BC18-1B0B-D83F-A25379E08E1C}"/>
              </a:ext>
            </a:extLst>
          </p:cNvPr>
          <p:cNvSpPr>
            <a:spLocks noGrp="1"/>
          </p:cNvSpPr>
          <p:nvPr>
            <p:ph idx="1"/>
          </p:nvPr>
        </p:nvSpPr>
        <p:spPr>
          <a:xfrm>
            <a:off x="1103312" y="1395664"/>
            <a:ext cx="8946541" cy="4852736"/>
          </a:xfrm>
        </p:spPr>
        <p:txBody>
          <a:bodyPr>
            <a:normAutofit fontScale="92500"/>
          </a:bodyPr>
          <a:lstStyle/>
          <a:p>
            <a:pPr algn="l"/>
            <a:r>
              <a:rPr lang="en-US" sz="2000" b="0" i="0" u="none" strike="noStrike" baseline="0" dirty="0">
                <a:latin typeface="Algerian" panose="04020705040A02060702" pitchFamily="82" charset="0"/>
              </a:rPr>
              <a:t>migrations in India were historically shaped by specific geographical conditions and the technology available at different times to </a:t>
            </a:r>
            <a:r>
              <a:rPr lang="en-US" sz="2000" b="0" i="0" u="none" strike="noStrike" baseline="0" dirty="0" err="1">
                <a:latin typeface="Algerian" panose="04020705040A02060702" pitchFamily="82" charset="0"/>
              </a:rPr>
              <a:t>remould</a:t>
            </a:r>
            <a:r>
              <a:rPr lang="en-US" sz="2000" b="0" i="0" u="none" strike="noStrike" baseline="0" dirty="0">
                <a:latin typeface="Algerian" panose="04020705040A02060702" pitchFamily="82" charset="0"/>
              </a:rPr>
              <a:t> or surpass them.</a:t>
            </a:r>
          </a:p>
          <a:p>
            <a:pPr algn="l"/>
            <a:r>
              <a:rPr lang="en-US" sz="2000" b="0" i="0" u="none" strike="noStrike" baseline="0" dirty="0">
                <a:latin typeface="Algerian" panose="04020705040A02060702" pitchFamily="82" charset="0"/>
              </a:rPr>
              <a:t>One of the earliest known agricultural settlements in the Indian subcontinent has been located in in Baluchistan, and dates back to around 7000 BCE where The settlement lived in mud-brick huts, grew wheat and barley and herded cattle, sheep and goats</a:t>
            </a:r>
          </a:p>
          <a:p>
            <a:pPr algn="l"/>
            <a:r>
              <a:rPr lang="en-US" sz="2000" b="0" i="0" u="none" strike="noStrike" baseline="0" dirty="0">
                <a:latin typeface="Algerian" panose="04020705040A02060702" pitchFamily="82" charset="0"/>
              </a:rPr>
              <a:t>There is considerable evidence of large urban centres and trade, and hence the introduction of a new form of migration in the subcontinent involving mercantile links.</a:t>
            </a:r>
          </a:p>
          <a:p>
            <a:pPr algn="l"/>
            <a:r>
              <a:rPr lang="en-US" sz="2000" b="0" i="0" u="none" strike="noStrike" baseline="0" dirty="0">
                <a:latin typeface="Algerian" panose="04020705040A02060702" pitchFamily="82" charset="0"/>
              </a:rPr>
              <a:t>But at the same time there was a sudden wipe out of civilization which remains a mystery. even a century after its excavation and rediscovery of these places it still doesn’t explain the </a:t>
            </a:r>
            <a:r>
              <a:rPr lang="en-US" sz="2000" b="0" i="0" u="none" strike="noStrike" baseline="0" dirty="0" err="1">
                <a:latin typeface="Algerian" panose="04020705040A02060702" pitchFamily="82" charset="0"/>
              </a:rPr>
              <a:t>phenomeon</a:t>
            </a:r>
            <a:r>
              <a:rPr lang="en-US" sz="2000" b="0" i="0" u="none" strike="noStrike" baseline="0" dirty="0">
                <a:latin typeface="Algerian" panose="04020705040A02060702" pitchFamily="82" charset="0"/>
              </a:rPr>
              <a:t> tracing the Indian </a:t>
            </a:r>
            <a:r>
              <a:rPr lang="en-US" sz="2000" b="0" i="0" u="none" strike="noStrike" baseline="0" dirty="0" err="1">
                <a:latin typeface="Algerian" panose="04020705040A02060702" pitchFamily="82" charset="0"/>
              </a:rPr>
              <a:t>gentic</a:t>
            </a:r>
            <a:r>
              <a:rPr lang="en-US" sz="2000" b="0" i="0" u="none" strike="noStrike" baseline="0" dirty="0">
                <a:latin typeface="Algerian" panose="04020705040A02060702" pitchFamily="82" charset="0"/>
              </a:rPr>
              <a:t> routes harder . </a:t>
            </a:r>
            <a:endParaRPr lang="en-US" sz="1800" b="0" i="0" u="none" strike="noStrike" baseline="0" dirty="0">
              <a:latin typeface="Algerian" panose="04020705040A02060702" pitchFamily="82" charset="0"/>
            </a:endParaRPr>
          </a:p>
        </p:txBody>
      </p:sp>
    </p:spTree>
    <p:extLst>
      <p:ext uri="{BB962C8B-B14F-4D97-AF65-F5344CB8AC3E}">
        <p14:creationId xmlns:p14="http://schemas.microsoft.com/office/powerpoint/2010/main" val="1989400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2A96F-9AEF-6841-057C-4D3F450112E8}"/>
              </a:ext>
            </a:extLst>
          </p:cNvPr>
          <p:cNvSpPr>
            <a:spLocks noGrp="1"/>
          </p:cNvSpPr>
          <p:nvPr>
            <p:ph type="title"/>
          </p:nvPr>
        </p:nvSpPr>
        <p:spPr/>
        <p:txBody>
          <a:bodyPr/>
          <a:lstStyle/>
          <a:p>
            <a:r>
              <a:rPr lang="en-US" dirty="0">
                <a:latin typeface="Algerian" panose="04020705040A02060702" pitchFamily="82" charset="0"/>
              </a:rPr>
              <a:t>Caste system</a:t>
            </a:r>
          </a:p>
        </p:txBody>
      </p:sp>
      <p:sp>
        <p:nvSpPr>
          <p:cNvPr id="3" name="Content Placeholder 2">
            <a:extLst>
              <a:ext uri="{FF2B5EF4-FFF2-40B4-BE49-F238E27FC236}">
                <a16:creationId xmlns:a16="http://schemas.microsoft.com/office/drawing/2014/main" id="{7A81D340-810A-2AAE-9B51-0A874A89A3CA}"/>
              </a:ext>
            </a:extLst>
          </p:cNvPr>
          <p:cNvSpPr>
            <a:spLocks noGrp="1"/>
          </p:cNvSpPr>
          <p:nvPr>
            <p:ph idx="1"/>
          </p:nvPr>
        </p:nvSpPr>
        <p:spPr>
          <a:xfrm>
            <a:off x="1103312" y="1280160"/>
            <a:ext cx="8946541" cy="4968239"/>
          </a:xfrm>
        </p:spPr>
        <p:txBody>
          <a:bodyPr>
            <a:normAutofit/>
          </a:bodyPr>
          <a:lstStyle/>
          <a:p>
            <a:pPr algn="l"/>
            <a:r>
              <a:rPr lang="en-US" sz="1800" b="0" i="0" u="none" strike="noStrike" baseline="0" dirty="0">
                <a:latin typeface="Algerian" panose="04020705040A02060702" pitchFamily="82" charset="0"/>
              </a:rPr>
              <a:t>Another important offshoot of the Vedic culture with a persistent </a:t>
            </a:r>
            <a:r>
              <a:rPr lang="en-US" sz="1800" dirty="0">
                <a:latin typeface="Algerian" panose="04020705040A02060702" pitchFamily="82" charset="0"/>
              </a:rPr>
              <a:t>l</a:t>
            </a:r>
            <a:r>
              <a:rPr lang="en-US" sz="1800" b="0" i="0" u="none" strike="noStrike" baseline="0" dirty="0">
                <a:latin typeface="Algerian" panose="04020705040A02060702" pitchFamily="82" charset="0"/>
              </a:rPr>
              <a:t>egacy was a unique social structure called the varna or caste system. </a:t>
            </a:r>
          </a:p>
          <a:p>
            <a:pPr algn="l"/>
            <a:r>
              <a:rPr lang="en-US" sz="1800" b="0" i="0" u="none" strike="noStrike" baseline="0" dirty="0">
                <a:latin typeface="Algerian" panose="04020705040A02060702" pitchFamily="82" charset="0"/>
              </a:rPr>
              <a:t>It divided society into four varnas: the brahmin (priest), kshatriya (warrior), </a:t>
            </a:r>
            <a:r>
              <a:rPr lang="en-US" sz="1800" b="0" i="0" u="none" strike="noStrike" baseline="0" dirty="0" err="1">
                <a:latin typeface="Algerian" panose="04020705040A02060702" pitchFamily="82" charset="0"/>
              </a:rPr>
              <a:t>vaishya</a:t>
            </a:r>
            <a:r>
              <a:rPr lang="en-US" sz="1800" b="0" i="0" u="none" strike="noStrike" baseline="0" dirty="0">
                <a:latin typeface="Algerian" panose="04020705040A02060702" pitchFamily="82" charset="0"/>
              </a:rPr>
              <a:t> (trader) and </a:t>
            </a:r>
            <a:r>
              <a:rPr lang="en-US" sz="1800" b="0" i="0" u="none" strike="noStrike" baseline="0" dirty="0" err="1">
                <a:latin typeface="Algerian" panose="04020705040A02060702" pitchFamily="82" charset="0"/>
              </a:rPr>
              <a:t>shudra</a:t>
            </a:r>
            <a:r>
              <a:rPr lang="en-US" sz="1800" b="0" i="0" u="none" strike="noStrike" baseline="0" dirty="0">
                <a:latin typeface="Algerian" panose="04020705040A02060702" pitchFamily="82" charset="0"/>
              </a:rPr>
              <a:t> (</a:t>
            </a:r>
            <a:r>
              <a:rPr lang="en-US" sz="1800" b="0" i="0" u="none" strike="noStrike" baseline="0" dirty="0" err="1">
                <a:latin typeface="Algerian" panose="04020705040A02060702" pitchFamily="82" charset="0"/>
              </a:rPr>
              <a:t>labourer</a:t>
            </a:r>
            <a:r>
              <a:rPr lang="en-US" sz="1800" b="0" i="0" u="none" strike="noStrike" baseline="0" dirty="0">
                <a:latin typeface="Algerian" panose="04020705040A02060702" pitchFamily="82" charset="0"/>
              </a:rPr>
              <a:t>), and an additional group of the outcastes or the untouchables. The system specified not only division but also hierarchy in terms of ritual status. </a:t>
            </a:r>
          </a:p>
          <a:p>
            <a:pPr algn="l"/>
            <a:r>
              <a:rPr lang="en-US" sz="1800" b="0" i="0" u="none" strike="noStrike" baseline="0" dirty="0">
                <a:latin typeface="Algerian" panose="04020705040A02060702" pitchFamily="82" charset="0"/>
              </a:rPr>
              <a:t>The caste system were not </a:t>
            </a:r>
            <a:r>
              <a:rPr lang="en-US" sz="1800" b="0" i="0" u="none" strike="noStrike" baseline="0" dirty="0" err="1">
                <a:latin typeface="Algerian" panose="04020705040A02060702" pitchFamily="82" charset="0"/>
              </a:rPr>
              <a:t>stongly</a:t>
            </a:r>
            <a:r>
              <a:rPr lang="en-US" sz="1800" b="0" i="0" u="none" strike="noStrike" baseline="0" dirty="0">
                <a:latin typeface="Algerian" panose="04020705040A02060702" pitchFamily="82" charset="0"/>
              </a:rPr>
              <a:t> adhered to in the first millennium BCE, and the numerous </a:t>
            </a:r>
            <a:r>
              <a:rPr lang="en-US" sz="1800" b="0" i="0" u="none" strike="noStrike" baseline="0" dirty="0" err="1">
                <a:latin typeface="Algerian" panose="04020705040A02060702" pitchFamily="82" charset="0"/>
              </a:rPr>
              <a:t>jatis</a:t>
            </a:r>
            <a:r>
              <a:rPr lang="en-US" sz="1800" b="0" i="0" u="none" strike="noStrike" baseline="0" dirty="0">
                <a:latin typeface="Algerian" panose="04020705040A02060702" pitchFamily="82" charset="0"/>
              </a:rPr>
              <a:t> or sub-castes may have emerged much later, but it did lay the foundations for strict endogamy or marriage within groups. </a:t>
            </a:r>
          </a:p>
          <a:p>
            <a:pPr algn="l"/>
            <a:r>
              <a:rPr lang="en-US" sz="1800" b="0" i="0" u="none" strike="noStrike" baseline="0" dirty="0">
                <a:latin typeface="Algerian" panose="04020705040A02060702" pitchFamily="82" charset="0"/>
              </a:rPr>
              <a:t>Genetic studies show that around this time, there was a demographic transformation from a region where ‘major population mixture was common to one in which mixture even between closely related groups became rare because of a shift to endogamy’</a:t>
            </a:r>
            <a:endParaRPr lang="en-US" dirty="0">
              <a:latin typeface="Algerian" panose="04020705040A02060702" pitchFamily="82" charset="0"/>
            </a:endParaRPr>
          </a:p>
        </p:txBody>
      </p:sp>
    </p:spTree>
    <p:extLst>
      <p:ext uri="{BB962C8B-B14F-4D97-AF65-F5344CB8AC3E}">
        <p14:creationId xmlns:p14="http://schemas.microsoft.com/office/powerpoint/2010/main" val="1060196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FBA40-8088-6173-0F92-F885CE2E5DFD}"/>
              </a:ext>
            </a:extLst>
          </p:cNvPr>
          <p:cNvSpPr>
            <a:spLocks noGrp="1"/>
          </p:cNvSpPr>
          <p:nvPr>
            <p:ph type="title"/>
          </p:nvPr>
        </p:nvSpPr>
        <p:spPr/>
        <p:txBody>
          <a:bodyPr/>
          <a:lstStyle/>
          <a:p>
            <a:r>
              <a:rPr lang="en-US" dirty="0">
                <a:latin typeface="Algerian" panose="04020705040A02060702" pitchFamily="82" charset="0"/>
              </a:rPr>
              <a:t>Caste system </a:t>
            </a:r>
          </a:p>
        </p:txBody>
      </p:sp>
      <p:sp>
        <p:nvSpPr>
          <p:cNvPr id="3" name="Content Placeholder 2">
            <a:extLst>
              <a:ext uri="{FF2B5EF4-FFF2-40B4-BE49-F238E27FC236}">
                <a16:creationId xmlns:a16="http://schemas.microsoft.com/office/drawing/2014/main" id="{8B2D8E6C-BC6B-8E6B-8103-213E936ED561}"/>
              </a:ext>
            </a:extLst>
          </p:cNvPr>
          <p:cNvSpPr>
            <a:spLocks noGrp="1"/>
          </p:cNvSpPr>
          <p:nvPr>
            <p:ph idx="1"/>
          </p:nvPr>
        </p:nvSpPr>
        <p:spPr>
          <a:xfrm>
            <a:off x="838200" y="2194559"/>
            <a:ext cx="10515600" cy="3982403"/>
          </a:xfrm>
        </p:spPr>
        <p:txBody>
          <a:bodyPr/>
          <a:lstStyle/>
          <a:p>
            <a:pPr algn="l"/>
            <a:r>
              <a:rPr lang="en-US" sz="1800" b="0" i="0" u="none" strike="noStrike" baseline="0" dirty="0">
                <a:latin typeface="Algerian" panose="04020705040A02060702" pitchFamily="82" charset="0"/>
              </a:rPr>
              <a:t>And because the choice of partners was restricted due to caste, these migrations were not necessarily to the neighboring village but could involve larger distances.</a:t>
            </a:r>
          </a:p>
          <a:p>
            <a:pPr algn="l"/>
            <a:r>
              <a:rPr lang="en-US" sz="1800" b="0" i="0" u="none" strike="noStrike" baseline="0" dirty="0">
                <a:latin typeface="Algerian" panose="04020705040A02060702" pitchFamily="82" charset="0"/>
              </a:rPr>
              <a:t> Like the Brownian motion of random movement of particles in a fluid, the Indian subcontinent was also witnessing the spatial mobility of its mostly brown bodies in multiple directions to different villages</a:t>
            </a:r>
            <a:endParaRPr lang="en-US" dirty="0">
              <a:latin typeface="Algerian" panose="04020705040A02060702" pitchFamily="82" charset="0"/>
            </a:endParaRPr>
          </a:p>
        </p:txBody>
      </p:sp>
    </p:spTree>
    <p:extLst>
      <p:ext uri="{BB962C8B-B14F-4D97-AF65-F5344CB8AC3E}">
        <p14:creationId xmlns:p14="http://schemas.microsoft.com/office/powerpoint/2010/main" val="4249379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D1CFA-5571-5FFD-6B4C-51DE5B9E19F3}"/>
              </a:ext>
            </a:extLst>
          </p:cNvPr>
          <p:cNvSpPr>
            <a:spLocks noGrp="1"/>
          </p:cNvSpPr>
          <p:nvPr>
            <p:ph type="title"/>
          </p:nvPr>
        </p:nvSpPr>
        <p:spPr/>
        <p:txBody>
          <a:bodyPr/>
          <a:lstStyle/>
          <a:p>
            <a:r>
              <a:rPr lang="en-US" sz="3200" b="0" i="0" u="none" strike="noStrike" baseline="0" dirty="0">
                <a:latin typeface="Algerian" panose="04020705040A02060702" pitchFamily="82" charset="0"/>
              </a:rPr>
              <a:t>Ancient Migrations</a:t>
            </a:r>
            <a:endParaRPr lang="en-US" sz="3200" dirty="0">
              <a:latin typeface="Algerian" panose="04020705040A02060702" pitchFamily="82" charset="0"/>
            </a:endParaRPr>
          </a:p>
        </p:txBody>
      </p:sp>
      <p:sp>
        <p:nvSpPr>
          <p:cNvPr id="3" name="Content Placeholder 2">
            <a:extLst>
              <a:ext uri="{FF2B5EF4-FFF2-40B4-BE49-F238E27FC236}">
                <a16:creationId xmlns:a16="http://schemas.microsoft.com/office/drawing/2014/main" id="{D056D244-F22D-2176-0B9B-D1F23BF74056}"/>
              </a:ext>
            </a:extLst>
          </p:cNvPr>
          <p:cNvSpPr>
            <a:spLocks noGrp="1"/>
          </p:cNvSpPr>
          <p:nvPr>
            <p:ph idx="1"/>
          </p:nvPr>
        </p:nvSpPr>
        <p:spPr>
          <a:xfrm>
            <a:off x="1103312" y="1722922"/>
            <a:ext cx="8946541" cy="4793380"/>
          </a:xfrm>
        </p:spPr>
        <p:txBody>
          <a:bodyPr>
            <a:noAutofit/>
          </a:bodyPr>
          <a:lstStyle/>
          <a:p>
            <a:pPr algn="l"/>
            <a:r>
              <a:rPr lang="en-US" sz="1400" b="0" i="0" u="none" strike="noStrike" baseline="0" dirty="0">
                <a:latin typeface="Algerian" panose="04020705040A02060702" pitchFamily="82" charset="0"/>
              </a:rPr>
              <a:t>The history of migration in ancient India from the middle of the first millennium BCE to circa 1300 CE, covering nearly 2000 years, mainly from central Asia via the north-western passes, instances of emigration to the west and the east, and internal migration accompanying urbanization, colonization and deportation. </a:t>
            </a:r>
          </a:p>
          <a:p>
            <a:pPr algn="l"/>
            <a:r>
              <a:rPr lang="en-US" sz="1400" b="0" i="0" u="none" strike="noStrike" baseline="0" dirty="0">
                <a:latin typeface="Algerian" panose="04020705040A02060702" pitchFamily="82" charset="0"/>
              </a:rPr>
              <a:t>It is a complex history, of a religion born in India—Buddhism—and exported, of another religion—Jainism—circulating within, and of other faiths such as Christianity, Judaism, Zoroastrianism, and Islam coming in.</a:t>
            </a:r>
          </a:p>
          <a:p>
            <a:pPr algn="l"/>
            <a:r>
              <a:rPr lang="en-US" sz="1400" dirty="0">
                <a:latin typeface="Algerian" panose="04020705040A02060702" pitchFamily="82" charset="0"/>
              </a:rPr>
              <a:t>An </a:t>
            </a:r>
            <a:r>
              <a:rPr lang="en-US" sz="1400" b="0" i="0" u="none" strike="noStrike" baseline="0" dirty="0">
                <a:latin typeface="Algerian" panose="04020705040A02060702" pitchFamily="82" charset="0"/>
              </a:rPr>
              <a:t>interesting explanation has recently been provided in terms of </a:t>
            </a:r>
            <a:r>
              <a:rPr lang="en-US" sz="1400" dirty="0">
                <a:latin typeface="Algerian" panose="04020705040A02060702" pitchFamily="82" charset="0"/>
              </a:rPr>
              <a:t>the </a:t>
            </a:r>
            <a:r>
              <a:rPr lang="en-US" sz="1400" b="0" i="0" u="none" strike="noStrike" baseline="0" dirty="0">
                <a:latin typeface="Algerian" panose="04020705040A02060702" pitchFamily="82" charset="0"/>
              </a:rPr>
              <a:t> unique environmental character based on aridity and rainfall.</a:t>
            </a:r>
          </a:p>
          <a:p>
            <a:pPr algn="l"/>
            <a:r>
              <a:rPr lang="en-US" sz="1400" b="0" i="0" u="none" strike="noStrike" baseline="0" dirty="0">
                <a:latin typeface="Algerian" panose="04020705040A02060702" pitchFamily="82" charset="0"/>
              </a:rPr>
              <a:t>Bihar forms a transitional zone between the humid areas in the east and the dry areas in the west which made it attractive as a site of interaction between two societies with different agrarian practices. In the dry zone, economic activities apart from agriculture included herding and horse-breeding whereas in the humid zones, agriculture, in particular rice cultivation, supported higher densities.</a:t>
            </a:r>
          </a:p>
          <a:p>
            <a:pPr algn="l"/>
            <a:r>
              <a:rPr lang="en-US" sz="1400" b="0" i="0" u="none" strike="noStrike" baseline="0" dirty="0">
                <a:latin typeface="Algerian" panose="04020705040A02060702" pitchFamily="82" charset="0"/>
              </a:rPr>
              <a:t> according to the  eastward migration hypothesis  the city of Pataliputra in </a:t>
            </a:r>
            <a:r>
              <a:rPr lang="en-US" sz="1400" b="0" i="0" u="none" strike="noStrike" baseline="0" dirty="0" err="1">
                <a:latin typeface="Algerian" panose="04020705040A02060702" pitchFamily="82" charset="0"/>
              </a:rPr>
              <a:t>bihar</a:t>
            </a:r>
            <a:r>
              <a:rPr lang="en-US" sz="1400" b="0" i="0" u="none" strike="noStrike" baseline="0" dirty="0">
                <a:latin typeface="Algerian" panose="04020705040A02060702" pitchFamily="82" charset="0"/>
              </a:rPr>
              <a:t> would emerge as a strategic site as it had drier areas in the south and west suitable to the migrant’s agrarian practices, access to the mineral resources of the Chhota Nagpur Plateau below and also it supported agriculture by possessing fertile soil in the north and east in the humid zones. </a:t>
            </a:r>
            <a:endParaRPr lang="en-US" sz="1400" dirty="0">
              <a:latin typeface="Algerian" panose="04020705040A02060702" pitchFamily="82" charset="0"/>
            </a:endParaRPr>
          </a:p>
        </p:txBody>
      </p:sp>
    </p:spTree>
    <p:extLst>
      <p:ext uri="{BB962C8B-B14F-4D97-AF65-F5344CB8AC3E}">
        <p14:creationId xmlns:p14="http://schemas.microsoft.com/office/powerpoint/2010/main" val="3931691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76D05-74E4-DF10-A298-010A255F7668}"/>
              </a:ext>
            </a:extLst>
          </p:cNvPr>
          <p:cNvSpPr>
            <a:spLocks noGrp="1"/>
          </p:cNvSpPr>
          <p:nvPr>
            <p:ph type="title"/>
          </p:nvPr>
        </p:nvSpPr>
        <p:spPr/>
        <p:txBody>
          <a:bodyPr/>
          <a:lstStyle/>
          <a:p>
            <a:r>
              <a:rPr lang="en-US" dirty="0">
                <a:latin typeface="Algerian" panose="04020705040A02060702" pitchFamily="82" charset="0"/>
              </a:rPr>
              <a:t>Ancient migration </a:t>
            </a:r>
          </a:p>
        </p:txBody>
      </p:sp>
      <p:sp>
        <p:nvSpPr>
          <p:cNvPr id="3" name="Content Placeholder 2">
            <a:extLst>
              <a:ext uri="{FF2B5EF4-FFF2-40B4-BE49-F238E27FC236}">
                <a16:creationId xmlns:a16="http://schemas.microsoft.com/office/drawing/2014/main" id="{70B83741-028A-5E9D-02CE-8ABAA97B9D0F}"/>
              </a:ext>
            </a:extLst>
          </p:cNvPr>
          <p:cNvSpPr>
            <a:spLocks noGrp="1"/>
          </p:cNvSpPr>
          <p:nvPr>
            <p:ph idx="1"/>
          </p:nvPr>
        </p:nvSpPr>
        <p:spPr/>
        <p:txBody>
          <a:bodyPr>
            <a:normAutofit fontScale="92500" lnSpcReduction="10000"/>
          </a:bodyPr>
          <a:lstStyle/>
          <a:p>
            <a:pPr algn="l"/>
            <a:r>
              <a:rPr lang="en-US" sz="1800" b="0" i="0" u="none" strike="noStrike" baseline="0" dirty="0">
                <a:latin typeface="Algerian" panose="04020705040A02060702" pitchFamily="82" charset="0"/>
              </a:rPr>
              <a:t>In the </a:t>
            </a:r>
            <a:r>
              <a:rPr lang="en-US" sz="1800" b="0" i="0" u="none" strike="noStrike" baseline="0" dirty="0" err="1">
                <a:latin typeface="Algerian" panose="04020705040A02060702" pitchFamily="82" charset="0"/>
              </a:rPr>
              <a:t>Kautilyan</a:t>
            </a:r>
            <a:r>
              <a:rPr lang="en-US" sz="1800" b="0" i="0" u="none" strike="noStrike" baseline="0" dirty="0">
                <a:latin typeface="Algerian" panose="04020705040A02060702" pitchFamily="82" charset="0"/>
              </a:rPr>
              <a:t> world, women’s position was one of dependence on men. This was reflected in the curtailment of their movement as long as they were not courtesans, in which case they were encouraged to travel even during battle expeditions and motivate the men to fight. The wife had to take permission from her husband to go on pleasure trips and could not leave the house when he was drunk or asleep. </a:t>
            </a:r>
          </a:p>
          <a:p>
            <a:pPr algn="l"/>
            <a:r>
              <a:rPr lang="en-US" sz="1800" b="0" i="0" u="none" strike="noStrike" baseline="0" dirty="0">
                <a:latin typeface="Algerian" panose="04020705040A02060702" pitchFamily="82" charset="0"/>
              </a:rPr>
              <a:t>The categories of punishment for various forms of leaving the house are listed in great detail in the </a:t>
            </a:r>
            <a:r>
              <a:rPr lang="en-US" sz="1800" b="0" i="1" u="none" strike="noStrike" baseline="0" dirty="0" err="1">
                <a:latin typeface="Algerian" panose="04020705040A02060702" pitchFamily="82" charset="0"/>
              </a:rPr>
              <a:t>Arthashastra</a:t>
            </a:r>
            <a:r>
              <a:rPr lang="en-US" sz="1800" b="0" i="1" u="none" strike="noStrike" baseline="0" dirty="0">
                <a:latin typeface="Algerian" panose="04020705040A02060702" pitchFamily="82" charset="0"/>
              </a:rPr>
              <a:t>. </a:t>
            </a:r>
            <a:r>
              <a:rPr lang="en-US" sz="1800" b="0" i="0" u="none" strike="noStrike" baseline="0" dirty="0">
                <a:latin typeface="Algerian" panose="04020705040A02060702" pitchFamily="82" charset="0"/>
              </a:rPr>
              <a:t>There were also detailed regulations regarding the absence of the husband for long periods, including oversight of the women left behind and punishments such as the nose and an ear being cut off in case the woman committed adultery.</a:t>
            </a:r>
          </a:p>
          <a:p>
            <a:pPr algn="l"/>
            <a:r>
              <a:rPr lang="en-US" sz="1800" b="0" i="0" u="none" strike="noStrike" baseline="0" dirty="0">
                <a:latin typeface="Algerian" panose="04020705040A02060702" pitchFamily="82" charset="0"/>
              </a:rPr>
              <a:t> In case of domestic abuse, the wife could run away from the husband and it would be the responsibility of the village headman to give asylum to such women. She could always visit her own family on special occasions such as childbirth, death and illness.</a:t>
            </a:r>
            <a:endParaRPr lang="en-US" dirty="0">
              <a:latin typeface="Algerian" panose="04020705040A02060702" pitchFamily="82" charset="0"/>
            </a:endParaRPr>
          </a:p>
        </p:txBody>
      </p:sp>
    </p:spTree>
    <p:extLst>
      <p:ext uri="{BB962C8B-B14F-4D97-AF65-F5344CB8AC3E}">
        <p14:creationId xmlns:p14="http://schemas.microsoft.com/office/powerpoint/2010/main" val="2779186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34F38-D06A-D1AF-3B2F-A9EE1EE5EAF1}"/>
              </a:ext>
            </a:extLst>
          </p:cNvPr>
          <p:cNvSpPr>
            <a:spLocks noGrp="1"/>
          </p:cNvSpPr>
          <p:nvPr>
            <p:ph type="title"/>
          </p:nvPr>
        </p:nvSpPr>
        <p:spPr/>
        <p:txBody>
          <a:bodyPr/>
          <a:lstStyle/>
          <a:p>
            <a:r>
              <a:rPr lang="en-US" dirty="0">
                <a:latin typeface="Algerian" panose="04020705040A02060702" pitchFamily="82" charset="0"/>
              </a:rPr>
              <a:t>Ancient trade – maritime trade </a:t>
            </a:r>
          </a:p>
        </p:txBody>
      </p:sp>
      <p:sp>
        <p:nvSpPr>
          <p:cNvPr id="3" name="Content Placeholder 2">
            <a:extLst>
              <a:ext uri="{FF2B5EF4-FFF2-40B4-BE49-F238E27FC236}">
                <a16:creationId xmlns:a16="http://schemas.microsoft.com/office/drawing/2014/main" id="{AE0998E4-0467-F50E-8298-16189F7DE29C}"/>
              </a:ext>
            </a:extLst>
          </p:cNvPr>
          <p:cNvSpPr>
            <a:spLocks noGrp="1"/>
          </p:cNvSpPr>
          <p:nvPr>
            <p:ph idx="1"/>
          </p:nvPr>
        </p:nvSpPr>
        <p:spPr/>
        <p:txBody>
          <a:bodyPr>
            <a:normAutofit fontScale="92500" lnSpcReduction="20000"/>
          </a:bodyPr>
          <a:lstStyle/>
          <a:p>
            <a:pPr algn="l"/>
            <a:r>
              <a:rPr lang="en-US" sz="1800" b="0" i="0" u="none" strike="noStrike" baseline="0" dirty="0">
                <a:latin typeface="Algerian" panose="04020705040A02060702" pitchFamily="82" charset="0"/>
              </a:rPr>
              <a:t>Nevertheless maritime trade did take place in ancient India, usually separate from the Indo-Gangetic political empires and in regions less affected by caste taboos on long-distance mobility. The monsoon winds were used by sailors to cross the Arabian Sea. </a:t>
            </a:r>
          </a:p>
          <a:p>
            <a:pPr algn="l"/>
            <a:r>
              <a:rPr lang="en-US" sz="1800" b="0" i="0" u="none" strike="noStrike" baseline="0" dirty="0">
                <a:latin typeface="Algerian" panose="04020705040A02060702" pitchFamily="82" charset="0"/>
              </a:rPr>
              <a:t>The west coast of India, especially the southern reaches of Kerala, were well-connected with West Asia and even the Roman Empire in Europe. The Syrian Christians and Cochin Jews of Kerala have a history of well over a thousand years due to these connections. Even with Islam, when the faith was founded in the 7th century CE, it arrived in the subcontinent through trade in Kerala, perhaps earlier than the Arab conquest of Sind in the early 8</a:t>
            </a:r>
            <a:r>
              <a:rPr lang="en-US" sz="1800" b="0" i="0" u="none" strike="noStrike" baseline="30000" dirty="0">
                <a:latin typeface="Algerian" panose="04020705040A02060702" pitchFamily="82" charset="0"/>
              </a:rPr>
              <a:t>th</a:t>
            </a:r>
            <a:r>
              <a:rPr lang="en-US" sz="1800" b="0" i="0" u="none" strike="noStrike" baseline="0" dirty="0">
                <a:latin typeface="Algerian" panose="04020705040A02060702" pitchFamily="82" charset="0"/>
              </a:rPr>
              <a:t> century CE.</a:t>
            </a:r>
          </a:p>
          <a:p>
            <a:pPr algn="l"/>
            <a:r>
              <a:rPr lang="en-US" sz="1800" b="0" i="0" u="none" strike="noStrike" baseline="0" dirty="0">
                <a:latin typeface="Algerian" panose="04020705040A02060702" pitchFamily="82" charset="0"/>
              </a:rPr>
              <a:t> Kerala, therefore, became the first point of contact for many foreign cultures in India. Keralites would return the </a:t>
            </a:r>
            <a:r>
              <a:rPr lang="en-US" sz="1800" b="0" i="0" u="none" strike="noStrike" baseline="0" dirty="0" err="1">
                <a:latin typeface="Algerian" panose="04020705040A02060702" pitchFamily="82" charset="0"/>
              </a:rPr>
              <a:t>favour</a:t>
            </a:r>
            <a:r>
              <a:rPr lang="en-US" sz="1800" b="0" i="0" u="none" strike="noStrike" baseline="0" dirty="0">
                <a:latin typeface="Algerian" panose="04020705040A02060702" pitchFamily="82" charset="0"/>
              </a:rPr>
              <a:t> by migrating overseas with great </a:t>
            </a:r>
            <a:r>
              <a:rPr lang="en-US" sz="1800" b="0" i="0" u="none" strike="noStrike" baseline="0" dirty="0" err="1">
                <a:latin typeface="Algerian" panose="04020705040A02060702" pitchFamily="82" charset="0"/>
              </a:rPr>
              <a:t>fervour</a:t>
            </a:r>
            <a:r>
              <a:rPr lang="en-US" sz="1800" b="0" i="0" u="none" strike="noStrike" baseline="0" dirty="0">
                <a:latin typeface="Algerian" panose="04020705040A02060702" pitchFamily="82" charset="0"/>
              </a:rPr>
              <a:t> in the 20th century.</a:t>
            </a:r>
          </a:p>
          <a:p>
            <a:pPr algn="l"/>
            <a:r>
              <a:rPr lang="en-US" sz="1800" b="0" i="0" u="none" strike="noStrike" baseline="0" dirty="0">
                <a:latin typeface="Algerian" panose="04020705040A02060702" pitchFamily="82" charset="0"/>
              </a:rPr>
              <a:t>Ancient India thus witnessed different types of migrations from outside and within, all contributing towards greater diversity and a better understanding of regional geography.</a:t>
            </a:r>
            <a:endParaRPr lang="en-US" dirty="0">
              <a:latin typeface="Algerian" panose="04020705040A02060702" pitchFamily="82" charset="0"/>
            </a:endParaRPr>
          </a:p>
        </p:txBody>
      </p:sp>
    </p:spTree>
    <p:extLst>
      <p:ext uri="{BB962C8B-B14F-4D97-AF65-F5344CB8AC3E}">
        <p14:creationId xmlns:p14="http://schemas.microsoft.com/office/powerpoint/2010/main" val="27855240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645</TotalTime>
  <Words>1232</Words>
  <Application>Microsoft Office PowerPoint</Application>
  <PresentationFormat>Widescreen</PresentationFormat>
  <Paragraphs>37</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Algerian</vt:lpstr>
      <vt:lpstr>Century Gothic</vt:lpstr>
      <vt:lpstr>Wingdings 3</vt:lpstr>
      <vt:lpstr>Ion</vt:lpstr>
      <vt:lpstr>India moving by Chinmay tumbe ch 1 – India diversity and migration </vt:lpstr>
      <vt:lpstr>Why is India such a diverse country? Why do Indians speak so many languages? Why do Indians celebrate a number of festivals ? </vt:lpstr>
      <vt:lpstr>Brownian Motion</vt:lpstr>
      <vt:lpstr>Brownian Motion</vt:lpstr>
      <vt:lpstr>Caste system</vt:lpstr>
      <vt:lpstr>Caste system </vt:lpstr>
      <vt:lpstr>Ancient Migrations</vt:lpstr>
      <vt:lpstr>Ancient migration </vt:lpstr>
      <vt:lpstr>Ancient trade – maritime trade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 moving by Chinmay tumbe ch 1 – India diversity and migration </dc:title>
  <dc:creator>DELL</dc:creator>
  <cp:lastModifiedBy>DELL</cp:lastModifiedBy>
  <cp:revision>2</cp:revision>
  <dcterms:created xsi:type="dcterms:W3CDTF">2024-04-20T12:06:22Z</dcterms:created>
  <dcterms:modified xsi:type="dcterms:W3CDTF">2024-04-21T13:14:11Z</dcterms:modified>
</cp:coreProperties>
</file>