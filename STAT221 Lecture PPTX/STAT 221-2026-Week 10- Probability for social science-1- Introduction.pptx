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7" r:id="rId2"/>
    <p:sldId id="978" r:id="rId3"/>
    <p:sldId id="979" r:id="rId4"/>
    <p:sldId id="980" r:id="rId5"/>
    <p:sldId id="275" r:id="rId6"/>
    <p:sldId id="258" r:id="rId7"/>
    <p:sldId id="981" r:id="rId8"/>
    <p:sldId id="272" r:id="rId9"/>
    <p:sldId id="259" r:id="rId10"/>
    <p:sldId id="260" r:id="rId11"/>
    <p:sldId id="288" r:id="rId12"/>
    <p:sldId id="261" r:id="rId13"/>
    <p:sldId id="266" r:id="rId14"/>
    <p:sldId id="982" r:id="rId15"/>
    <p:sldId id="267" r:id="rId16"/>
    <p:sldId id="285" r:id="rId17"/>
    <p:sldId id="289" r:id="rId18"/>
    <p:sldId id="268" r:id="rId19"/>
    <p:sldId id="287" r:id="rId20"/>
    <p:sldId id="263" r:id="rId21"/>
    <p:sldId id="271" r:id="rId22"/>
    <p:sldId id="264" r:id="rId23"/>
    <p:sldId id="983" r:id="rId24"/>
    <p:sldId id="283" r:id="rId25"/>
    <p:sldId id="284" r:id="rId26"/>
    <p:sldId id="282" r:id="rId27"/>
    <p:sldId id="290" r:id="rId28"/>
    <p:sldId id="265" r:id="rId29"/>
    <p:sldId id="374" r:id="rId30"/>
    <p:sldId id="375" r:id="rId31"/>
    <p:sldId id="987" r:id="rId32"/>
    <p:sldId id="376" r:id="rId33"/>
    <p:sldId id="994" r:id="rId34"/>
    <p:sldId id="995" r:id="rId35"/>
    <p:sldId id="99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0603" autoAdjust="0"/>
  </p:normalViewPr>
  <p:slideViewPr>
    <p:cSldViewPr snapToGrid="0">
      <p:cViewPr varScale="1">
        <p:scale>
          <a:sx n="72" d="100"/>
          <a:sy n="72" d="100"/>
        </p:scale>
        <p:origin x="8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4F7E9A-B455-49EC-BBC8-A7C99001C97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5FEED-732C-46A9-8A11-6E32F7E076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237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DD8C1A3-2DD0-0C46-A935-0418AF726B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altLang="en-US"/>
              <a:t>Chapter 5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01BA12-1529-E84A-9E67-2207B14AAA6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fld id="{3402268E-41FA-E24B-9A8F-D0E8DCDFD0E2}" type="datetime1">
              <a:rPr lang="en-US" altLang="en-US"/>
              <a:pPr/>
              <a:t>7/6/2026</a:t>
            </a:fld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F9BCB5-6F36-824E-9959-150982ED61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AEDD526-54C0-3A46-870D-EDDB8759F5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1D7B3E-BCF0-EA4A-823F-80CF9B01D336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FF750CCD-5CF8-B44B-B749-F99A5C3EC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95CB935-68D8-A84A-94BE-E6708CEF0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3541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Social science example: </a:t>
            </a:r>
          </a:p>
          <a:p>
            <a:r>
              <a:rPr lang="en-IN" dirty="0"/>
              <a:t>In a population – 75% literacy ;</a:t>
            </a:r>
          </a:p>
          <a:p>
            <a:r>
              <a:rPr lang="en-IN" dirty="0"/>
              <a:t>If you randomly pick a sample of 4 people </a:t>
            </a:r>
          </a:p>
          <a:p>
            <a:endParaRPr lang="en-IN" dirty="0"/>
          </a:p>
          <a:p>
            <a:r>
              <a:rPr lang="en-IN" dirty="0"/>
              <a:t>X= no of people who are literate </a:t>
            </a:r>
          </a:p>
          <a:p>
            <a:r>
              <a:rPr lang="en-IN" dirty="0"/>
              <a:t>X={0,1,2,3,4}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5FEED-732C-46A9-8A11-6E32F7E076B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971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5FEED-732C-46A9-8A11-6E32F7E076B8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351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207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335124"/>
            <a:ext cx="9720072" cy="97786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265176" indent="-137160">
              <a:buFont typeface="Wingdings" panose="05000000000000000000" pitchFamily="2" charset="2"/>
              <a:buChar char="q"/>
              <a:defRPr/>
            </a:lvl2pPr>
            <a:lvl3pPr marL="448056" indent="-137160">
              <a:buFont typeface="Wingdings" panose="05000000000000000000" pitchFamily="2" charset="2"/>
              <a:buChar char="Ø"/>
              <a:defRPr/>
            </a:lvl3pPr>
            <a:lvl4pPr marL="594360" indent="-137160">
              <a:buFont typeface="Courier New" panose="02070309020205020404" pitchFamily="49" charset="0"/>
              <a:buChar char="o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14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067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0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793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083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589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66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5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836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5355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6680-B9CA-0646-984A-C2E8C826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914C34-16D5-F249-9F6C-75059056B11D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CAAB6B4C-66C6-084F-B58E-BB2ADE170B2F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9F8A2C-06EC-6446-8BF4-B5BB205B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D42BF817-D78E-5A44-97A5-7317B7BD06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013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BD3E-080B-6049-BF0E-81852F5E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6A05C-BA43-4C4B-8FD6-409071FE5D7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337C5-C751-2C4C-AA2A-8AE4E4EA3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694A6-FB65-454E-8C48-B435B2DA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687A35FB-7192-D94C-A033-E328167A6A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230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D2EC-1E58-A441-BB3D-583DE622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EA60CAD-F7B3-C549-8F88-D60942285FDC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EC5F5-D7BD-0D4A-917C-221ACE04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877725B-76E8-ED45-9DDE-FEB7D2CF51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11203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B4C6-4EFD-EB40-8F4B-23775DA06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6AC8B-E259-A349-9EBD-DAC0FFC0B10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792CC87E-18FC-914E-9213-146B67E0CD4F}"/>
              </a:ext>
            </a:extLst>
          </p:cNvPr>
          <p:cNvSpPr>
            <a:spLocks noGrp="1"/>
          </p:cNvSpPr>
          <p:nvPr>
            <p:ph type="media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7454D-F823-6948-9B5B-7B4668C31B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Basic Biostat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BCE57-8A22-A049-9631-3F0AC759D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5: Probability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2A3EC-1D54-C64F-9850-8915F8F3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A2F004E-3E47-D74E-890E-B1A3761FA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316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FC9FC-A24E-B945-8258-710ECAE8C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64F12-328C-4C43-BB32-F71F7418B38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078B2-0D78-5A4D-9086-2F204BE0D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08FAB-D7F2-D545-BF07-962BAAE1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Basic Biostat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158A-7F03-F04F-8B04-A2BF2A23C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5: Probability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867FB-F61D-BA4D-868C-B7F285CF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E4093B7A-BDAB-844C-B43F-E886957419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909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0579-5693-1548-BC4D-DC232E0C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F2115-BD94-3449-9BBA-5979545004D4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5D05E-6FA3-4F40-8BDA-BD6AE9E590E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7B9DA5-EB24-8F49-A7F1-826470806291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4947B6-1D73-C04A-9198-D2F7815E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275E909-DE56-604A-9183-760915372E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303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1DABB61-EFB2-4995-A3ED-DB7930B6FEB3}" type="datetimeFigureOut">
              <a:rPr lang="en-IN" smtClean="0"/>
              <a:t>06-07-2026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AF43A97-402A-4B79-8D76-6B31506A449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iLaSpfgVmCA?feature=oembed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8zMuKn2qORA?feature=oembed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1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9B0-43DD-35BD-EB8A-B372A00F7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5790" y="1793137"/>
            <a:ext cx="7650617" cy="2278485"/>
          </a:xfrm>
        </p:spPr>
        <p:txBody>
          <a:bodyPr>
            <a:norm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STAT 221-FUNDAMENTALS OF STATISTICAL DATA ANALYSIS</a:t>
            </a:r>
            <a:br>
              <a:rPr lang="en-IN" dirty="0">
                <a:highlight>
                  <a:srgbClr val="FFFF00"/>
                </a:highlight>
              </a:rPr>
            </a:br>
            <a:endParaRPr lang="en-IN" sz="1800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CD515-2431-B084-4B1B-3B5938342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3787" y="5064745"/>
            <a:ext cx="7099678" cy="1320802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</a:rPr>
              <a:t>Week 10- Probability for social science -1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CC985-F26E-10E0-3AB3-D1293D9322C3}"/>
              </a:ext>
            </a:extLst>
          </p:cNvPr>
          <p:cNvSpPr txBox="1"/>
          <p:nvPr/>
        </p:nvSpPr>
        <p:spPr>
          <a:xfrm>
            <a:off x="8747759" y="5355814"/>
            <a:ext cx="3164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0070C0"/>
                </a:solidFill>
              </a:rPr>
              <a:t>Shivakumar Jolad</a:t>
            </a:r>
          </a:p>
        </p:txBody>
      </p:sp>
    </p:spTree>
    <p:extLst>
      <p:ext uri="{BB962C8B-B14F-4D97-AF65-F5344CB8AC3E}">
        <p14:creationId xmlns:p14="http://schemas.microsoft.com/office/powerpoint/2010/main" val="304545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A048-D01C-D5FE-2397-E3078FA5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Probability for social science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877F7-CB76-F393-00F5-6B13182A4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36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BF76-CC1E-4444-B77B-3B1D385A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628D5-1E16-314E-863A-FE1C2D148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6D446-5303-714B-A64D-133F0E65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2307A-9EBE-C14E-98DD-C4580F499562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0F9FC924-B002-6C40-A608-A21B7FD58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8428" y="707307"/>
            <a:ext cx="9354312" cy="1034679"/>
          </a:xfrm>
        </p:spPr>
        <p:txBody>
          <a:bodyPr anchor="ctr"/>
          <a:lstStyle/>
          <a:p>
            <a:pPr algn="l"/>
            <a:r>
              <a:rPr lang="en-US" altLang="en-US" sz="4400" dirty="0"/>
              <a:t>sections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EB77E35-806F-A745-84C9-9241F585B65A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454150" y="1942392"/>
            <a:ext cx="8147050" cy="4127500"/>
          </a:xfrm>
        </p:spPr>
        <p:txBody>
          <a:bodyPr/>
          <a:lstStyle/>
          <a:p>
            <a:pPr algn="l"/>
            <a:r>
              <a:rPr lang="en-US" altLang="en-US" sz="3200" dirty="0"/>
              <a:t>What is Probability?</a:t>
            </a:r>
          </a:p>
          <a:p>
            <a:pPr algn="l"/>
            <a:r>
              <a:rPr lang="en-US" altLang="en-US" sz="3200" dirty="0"/>
              <a:t>Types of Random Variables</a:t>
            </a:r>
          </a:p>
          <a:p>
            <a:pPr algn="l"/>
            <a:r>
              <a:rPr lang="en-US" altLang="en-US" sz="3200" dirty="0"/>
              <a:t>Discrete Random Variables </a:t>
            </a:r>
          </a:p>
          <a:p>
            <a:pPr algn="l"/>
            <a:r>
              <a:rPr lang="en-US" altLang="en-US" sz="3200" dirty="0"/>
              <a:t>Continuous Random Variables</a:t>
            </a:r>
          </a:p>
          <a:p>
            <a:pPr algn="l"/>
            <a:r>
              <a:rPr lang="en-US" altLang="en-US" sz="3200" dirty="0"/>
              <a:t>More Rules and Properties of Probability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DE9526-984D-64AB-F239-B7AEACE44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532" y="213246"/>
            <a:ext cx="4555168" cy="266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4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812D4-8D6E-9346-B9EA-EECBCAD62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F68E1-0978-0C4A-A670-E8B9CCB216AA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D7307343-AF68-9049-AC4E-0FA66DA8EB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2687" y="596993"/>
            <a:ext cx="9720072" cy="977861"/>
          </a:xfrm>
        </p:spPr>
        <p:txBody>
          <a:bodyPr/>
          <a:lstStyle/>
          <a:p>
            <a:pPr algn="l"/>
            <a:r>
              <a:rPr lang="en-US" altLang="en-US" sz="4800" dirty="0"/>
              <a:t>Definitions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E8271D8-83F9-9246-B7CE-83345FC85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7576" y="1712014"/>
            <a:ext cx="9690295" cy="4895850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Random variable</a:t>
            </a:r>
            <a:r>
              <a:rPr lang="en-US" altLang="en-US" sz="2800" dirty="0"/>
              <a:t> </a:t>
            </a:r>
            <a:r>
              <a:rPr lang="en-US" altLang="en-US" sz="2800" dirty="0">
                <a:cs typeface="Arial" panose="020B0604020202020204" pitchFamily="34" charset="0"/>
              </a:rPr>
              <a:t>≡ a numerical quantity that takes on different values depending on chance</a:t>
            </a:r>
          </a:p>
          <a:p>
            <a:r>
              <a:rPr lang="en-US" altLang="en-US" sz="2800" b="1" dirty="0"/>
              <a:t>Population</a:t>
            </a:r>
            <a:r>
              <a:rPr lang="en-US" altLang="en-US" sz="2800" dirty="0"/>
              <a:t> </a:t>
            </a:r>
            <a:r>
              <a:rPr lang="en-US" altLang="en-US" sz="2800" dirty="0">
                <a:cs typeface="Arial" panose="020B0604020202020204" pitchFamily="34" charset="0"/>
              </a:rPr>
              <a:t>≡ the set of all possible values for a random variable</a:t>
            </a:r>
          </a:p>
          <a:p>
            <a:r>
              <a:rPr lang="en-US" altLang="en-US" sz="2800" b="1" dirty="0"/>
              <a:t>Event </a:t>
            </a:r>
            <a:r>
              <a:rPr lang="en-US" altLang="en-US" sz="2800" dirty="0">
                <a:cs typeface="Arial" panose="020B0604020202020204" pitchFamily="34" charset="0"/>
              </a:rPr>
              <a:t>≡ an outcome or set of outcomes</a:t>
            </a:r>
            <a:endParaRPr lang="en-US" altLang="en-US" sz="2800" dirty="0"/>
          </a:p>
          <a:p>
            <a:r>
              <a:rPr lang="en-US" altLang="en-US" sz="2800" b="1" dirty="0">
                <a:highlight>
                  <a:srgbClr val="FFFF00"/>
                </a:highlight>
              </a:rPr>
              <a:t>Probability </a:t>
            </a:r>
            <a:r>
              <a:rPr lang="en-US" altLang="en-US" sz="2800" dirty="0">
                <a:highlight>
                  <a:srgbClr val="FFFF00"/>
                </a:highlight>
                <a:cs typeface="Arial" panose="020B0604020202020204" pitchFamily="34" charset="0"/>
              </a:rPr>
              <a:t>≡ the relative frequency of an event in the </a:t>
            </a:r>
            <a:r>
              <a:rPr lang="en-US" altLang="en-US" sz="2800" i="1" dirty="0">
                <a:highlight>
                  <a:srgbClr val="FFFF00"/>
                </a:highlight>
                <a:cs typeface="Arial" panose="020B0604020202020204" pitchFamily="34" charset="0"/>
              </a:rPr>
              <a:t>population</a:t>
            </a:r>
            <a:r>
              <a:rPr lang="en-US" altLang="en-US" sz="2800" dirty="0">
                <a:highlight>
                  <a:srgbClr val="FFFF00"/>
                </a:highlight>
                <a:cs typeface="Arial" panose="020B0604020202020204" pitchFamily="34" charset="0"/>
              </a:rPr>
              <a:t> … alternatively… </a:t>
            </a:r>
            <a:r>
              <a:rPr lang="en-US" altLang="en-US" sz="2800" b="1" dirty="0">
                <a:highlight>
                  <a:srgbClr val="FFFF00"/>
                </a:highlight>
                <a:cs typeface="Arial" panose="020B0604020202020204" pitchFamily="34" charset="0"/>
              </a:rPr>
              <a:t>the proportion of times an event is </a:t>
            </a:r>
            <a:r>
              <a:rPr lang="en-US" altLang="en-US" sz="2800" b="1" i="1" dirty="0">
                <a:highlight>
                  <a:srgbClr val="FFFF00"/>
                </a:highlight>
                <a:cs typeface="Arial" panose="020B0604020202020204" pitchFamily="34" charset="0"/>
              </a:rPr>
              <a:t>expected</a:t>
            </a:r>
            <a:r>
              <a:rPr lang="en-US" altLang="en-US" sz="2800" b="1" dirty="0">
                <a:highlight>
                  <a:srgbClr val="FFFF00"/>
                </a:highlight>
                <a:cs typeface="Arial" panose="020B0604020202020204" pitchFamily="34" charset="0"/>
              </a:rPr>
              <a:t> to occur in the long run</a:t>
            </a:r>
          </a:p>
        </p:txBody>
      </p:sp>
    </p:spTree>
    <p:extLst>
      <p:ext uri="{BB962C8B-B14F-4D97-AF65-F5344CB8AC3E}">
        <p14:creationId xmlns:p14="http://schemas.microsoft.com/office/powerpoint/2010/main" val="366412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949AD-378F-4D47-BEAE-CF80784F4CB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AD3E-73A7-D343-9830-73C99782B9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0DCB0-C1BC-1445-8F81-D4DD5F81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8CD2C-B8F3-0F43-B34E-785772947857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2E530F79-E350-DD41-88CC-8F2FA67EA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1988" y="350044"/>
            <a:ext cx="10972800" cy="1143000"/>
          </a:xfrm>
        </p:spPr>
        <p:txBody>
          <a:bodyPr/>
          <a:lstStyle/>
          <a:p>
            <a:r>
              <a:rPr lang="en-US" altLang="en-US" sz="6000" dirty="0"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55B7F36-720A-CF4F-B688-D274345FD01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20969" y="1606153"/>
            <a:ext cx="6935372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cs typeface="Arial" panose="020B0604020202020204" pitchFamily="34" charset="0"/>
              </a:rPr>
              <a:t>In a given year: 42,636 traffic fatalities (events) in a population of </a:t>
            </a:r>
            <a:r>
              <a:rPr lang="en-US" altLang="en-US" sz="2800" i="1" dirty="0">
                <a:cs typeface="Arial" panose="020B0604020202020204" pitchFamily="34" charset="0"/>
              </a:rPr>
              <a:t>N </a:t>
            </a:r>
            <a:r>
              <a:rPr lang="en-US" altLang="en-US" sz="2800" dirty="0">
                <a:cs typeface="Arial" panose="020B0604020202020204" pitchFamily="34" charset="0"/>
              </a:rPr>
              <a:t>= 293,655,000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cs typeface="Arial" panose="020B0604020202020204" pitchFamily="34" charset="0"/>
              </a:rPr>
              <a:t>Random sample population</a:t>
            </a:r>
          </a:p>
          <a:p>
            <a:pPr>
              <a:lnSpc>
                <a:spcPct val="90000"/>
              </a:lnSpc>
            </a:pPr>
            <a:r>
              <a:rPr lang="en-US" altLang="en-US" sz="2800" dirty="0">
                <a:cs typeface="Arial" panose="020B0604020202020204" pitchFamily="34" charset="0"/>
              </a:rPr>
              <a:t>Probability of event </a:t>
            </a:r>
            <a:br>
              <a:rPr lang="en-US" altLang="en-US" sz="2800" dirty="0">
                <a:cs typeface="Arial" panose="020B0604020202020204" pitchFamily="34" charset="0"/>
              </a:rPr>
            </a:br>
            <a:r>
              <a:rPr lang="en-US" altLang="en-US" sz="2800" dirty="0">
                <a:cs typeface="Arial" panose="020B0604020202020204" pitchFamily="34" charset="0"/>
              </a:rPr>
              <a:t>= relative </a:t>
            </a:r>
            <a:r>
              <a:rPr lang="en-US" altLang="en-US" sz="2800" dirty="0" err="1">
                <a:cs typeface="Arial" panose="020B0604020202020204" pitchFamily="34" charset="0"/>
              </a:rPr>
              <a:t>freq</a:t>
            </a:r>
            <a:r>
              <a:rPr lang="en-US" altLang="en-US" sz="2800" dirty="0">
                <a:cs typeface="Arial" panose="020B0604020202020204" pitchFamily="34" charset="0"/>
              </a:rPr>
              <a:t> in pop</a:t>
            </a:r>
            <a:br>
              <a:rPr lang="en-US" altLang="en-US" sz="2800" dirty="0">
                <a:cs typeface="Arial" panose="020B0604020202020204" pitchFamily="34" charset="0"/>
              </a:rPr>
            </a:br>
            <a:r>
              <a:rPr lang="en-US" altLang="en-US" sz="2800" dirty="0">
                <a:cs typeface="Arial" panose="020B0604020202020204" pitchFamily="34" charset="0"/>
              </a:rPr>
              <a:t>= </a:t>
            </a:r>
            <a:r>
              <a:rPr lang="en-US" altLang="en-US" sz="2400" dirty="0">
                <a:cs typeface="Arial" panose="020B0604020202020204" pitchFamily="34" charset="0"/>
              </a:rPr>
              <a:t>42,636 / 293,655,000 </a:t>
            </a:r>
            <a:br>
              <a:rPr lang="en-US" altLang="en-US" sz="2400" dirty="0">
                <a:cs typeface="Arial" panose="020B0604020202020204" pitchFamily="34" charset="0"/>
              </a:rPr>
            </a:br>
            <a:r>
              <a:rPr lang="en-US" altLang="en-US" sz="2800" dirty="0">
                <a:cs typeface="Arial" panose="020B0604020202020204" pitchFamily="34" charset="0"/>
              </a:rPr>
              <a:t>= .0001452 </a:t>
            </a:r>
            <a:br>
              <a:rPr lang="en-US" altLang="en-US" sz="2800" dirty="0">
                <a:cs typeface="Arial" panose="020B0604020202020204" pitchFamily="34" charset="0"/>
              </a:rPr>
            </a:br>
            <a:r>
              <a:rPr lang="en-US" altLang="en-US" sz="2800" dirty="0">
                <a:cs typeface="Arial" panose="020B0604020202020204" pitchFamily="34" charset="0"/>
              </a:rPr>
              <a:t>≈ 1 in 6887</a:t>
            </a:r>
            <a:endParaRPr lang="en-US" altLang="en-US" sz="2800" dirty="0"/>
          </a:p>
        </p:txBody>
      </p:sp>
      <p:pic>
        <p:nvPicPr>
          <p:cNvPr id="55309" name="Picture 13">
            <a:extLst>
              <a:ext uri="{FF2B5EF4-FFF2-40B4-BE49-F238E27FC236}">
                <a16:creationId xmlns:a16="http://schemas.microsoft.com/office/drawing/2014/main" id="{E54F0FA0-42B5-1D4D-9D56-F02E61F9B3DF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32431" y="2640171"/>
            <a:ext cx="4038600" cy="30289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20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0733C-EEB7-EE4F-AA62-29F4152E471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1DE94-131C-1C43-B17F-B493ED7EF6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C0CD5-1D20-F346-BE3E-9F5D1110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645DA-6E30-B048-82BD-D5171F5AF118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13727D87-6573-9F4F-87C8-4B631B600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7957" y="297498"/>
            <a:ext cx="10972800" cy="1143000"/>
          </a:xfrm>
        </p:spPr>
        <p:txBody>
          <a:bodyPr/>
          <a:lstStyle/>
          <a:p>
            <a:r>
              <a:rPr lang="en-US" altLang="en-US" dirty="0">
                <a:cs typeface="Arial" panose="020B0604020202020204" pitchFamily="34" charset="0"/>
              </a:rPr>
              <a:t>Example: Probability</a:t>
            </a:r>
          </a:p>
        </p:txBody>
      </p:sp>
      <p:pic>
        <p:nvPicPr>
          <p:cNvPr id="4111" name="Picture 15">
            <a:extLst>
              <a:ext uri="{FF2B5EF4-FFF2-40B4-BE49-F238E27FC236}">
                <a16:creationId xmlns:a16="http://schemas.microsoft.com/office/drawing/2014/main" id="{6D882F8D-1978-5240-842B-6D21B0B1FFB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3117850"/>
            <a:ext cx="8229600" cy="3576638"/>
          </a:xfrm>
        </p:spPr>
      </p:pic>
      <p:sp>
        <p:nvSpPr>
          <p:cNvPr id="4103" name="Rectangle 7">
            <a:extLst>
              <a:ext uri="{FF2B5EF4-FFF2-40B4-BE49-F238E27FC236}">
                <a16:creationId xmlns:a16="http://schemas.microsoft.com/office/drawing/2014/main" id="{6CBA51A6-C8CC-D441-BCE8-68CF28EE98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37957" y="1362076"/>
            <a:ext cx="9047457" cy="1635125"/>
          </a:xfrm>
        </p:spPr>
        <p:txBody>
          <a:bodyPr>
            <a:normAutofit fontScale="92500" lnSpcReduction="20000"/>
          </a:bodyPr>
          <a:lstStyle/>
          <a:p>
            <a:pPr marL="0" indent="0"/>
            <a:r>
              <a:rPr lang="en-US" altLang="en-US" sz="2800" dirty="0"/>
              <a:t> Assume, 20% of population has a condition</a:t>
            </a:r>
          </a:p>
          <a:p>
            <a:pPr marL="0" indent="0"/>
            <a:r>
              <a:rPr lang="en-US" altLang="en-US" sz="2800" i="1" dirty="0"/>
              <a:t> Repeatedly </a:t>
            </a:r>
            <a:r>
              <a:rPr lang="en-US" altLang="en-US" sz="2800" dirty="0"/>
              <a:t>sample population</a:t>
            </a:r>
          </a:p>
          <a:p>
            <a:pPr marL="0" indent="0"/>
            <a:r>
              <a:rPr lang="en-US" altLang="en-US" sz="2800" dirty="0"/>
              <a:t>The proportion of observations positive for the condition approaches 0.2 </a:t>
            </a:r>
            <a:r>
              <a:rPr lang="en-US" altLang="en-US" sz="2800" i="1" dirty="0"/>
              <a:t>after a very large number of trials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237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B49F0C-980A-56F1-83C5-BEC938FE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308" y="158234"/>
            <a:ext cx="9720072" cy="1499616"/>
          </a:xfrm>
        </p:spPr>
        <p:txBody>
          <a:bodyPr/>
          <a:lstStyle/>
          <a:p>
            <a:r>
              <a:rPr lang="en-IN" dirty="0"/>
              <a:t>Basic probability</a:t>
            </a:r>
          </a:p>
        </p:txBody>
      </p:sp>
      <p:pic>
        <p:nvPicPr>
          <p:cNvPr id="5" name="Online Media 4" title="What is Probability? (GMAT/GRE/CAT/Bank PO/SSC CGL) | Don't Memorise">
            <a:hlinkClick r:id="" action="ppaction://media"/>
            <a:extLst>
              <a:ext uri="{FF2B5EF4-FFF2-40B4-BE49-F238E27FC236}">
                <a16:creationId xmlns:a16="http://schemas.microsoft.com/office/drawing/2014/main" id="{2639F19C-F4C1-C06A-343A-B57378FE848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54265" y="1463040"/>
            <a:ext cx="8321310" cy="47015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2CDF84-6F00-95D6-0335-4AEF8DF65633}"/>
              </a:ext>
            </a:extLst>
          </p:cNvPr>
          <p:cNvSpPr txBox="1"/>
          <p:nvPr/>
        </p:nvSpPr>
        <p:spPr>
          <a:xfrm>
            <a:off x="2438400" y="6330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https://www.youtube.com/watch?v=iLaSpfgVmCA</a:t>
            </a:r>
          </a:p>
        </p:txBody>
      </p:sp>
    </p:spTree>
    <p:extLst>
      <p:ext uri="{BB962C8B-B14F-4D97-AF65-F5344CB8AC3E}">
        <p14:creationId xmlns:p14="http://schemas.microsoft.com/office/powerpoint/2010/main" val="340307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ate Placeholder 3">
            <a:extLst>
              <a:ext uri="{FF2B5EF4-FFF2-40B4-BE49-F238E27FC236}">
                <a16:creationId xmlns:a16="http://schemas.microsoft.com/office/drawing/2014/main" id="{63B86AE3-08F1-FE4C-BAC0-F0C03D9CD36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41" name="Footer Placeholder 4">
            <a:extLst>
              <a:ext uri="{FF2B5EF4-FFF2-40B4-BE49-F238E27FC236}">
                <a16:creationId xmlns:a16="http://schemas.microsoft.com/office/drawing/2014/main" id="{A8CFE276-E8C8-0B44-B66C-160812EA5A1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A70067D7-CC8B-274B-8905-AFD46CA0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AE2E3-5CFD-7648-8E71-FDD220C3AC03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D22B5EF-275F-D64A-92D9-C9B81B8D2F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0180" y="368300"/>
            <a:ext cx="10972800" cy="1143000"/>
          </a:xfrm>
        </p:spPr>
        <p:txBody>
          <a:bodyPr/>
          <a:lstStyle/>
          <a:p>
            <a:r>
              <a:rPr lang="en-US" altLang="en-US" dirty="0">
                <a:cs typeface="Tahoma" panose="020B0604030504040204" pitchFamily="34" charset="0"/>
              </a:rPr>
              <a:t>Quantifying Uncertainty</a:t>
            </a:r>
          </a:p>
        </p:txBody>
      </p:sp>
      <p:graphicFrame>
        <p:nvGraphicFramePr>
          <p:cNvPr id="36937" name="Group 73">
            <a:extLst>
              <a:ext uri="{FF2B5EF4-FFF2-40B4-BE49-F238E27FC236}">
                <a16:creationId xmlns:a16="http://schemas.microsoft.com/office/drawing/2014/main" id="{F173596F-07C3-D240-BC06-05E61FF5675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3338" y="1404938"/>
          <a:ext cx="4843462" cy="4633916"/>
        </p:xfrm>
        <a:graphic>
          <a:graphicData uri="http://schemas.openxmlformats.org/drawingml/2006/table">
            <a:tbl>
              <a:tblPr/>
              <a:tblGrid>
                <a:gridCol w="1936750">
                  <a:extLst>
                    <a:ext uri="{9D8B030D-6E8A-4147-A177-3AD203B41FA5}">
                      <a16:colId xmlns:a16="http://schemas.microsoft.com/office/drawing/2014/main" val="202466037"/>
                    </a:ext>
                  </a:extLst>
                </a:gridCol>
                <a:gridCol w="2906712">
                  <a:extLst>
                    <a:ext uri="{9D8B030D-6E8A-4147-A177-3AD203B41FA5}">
                      <a16:colId xmlns:a16="http://schemas.microsoft.com/office/drawing/2014/main" val="2947166107"/>
                    </a:ext>
                  </a:extLst>
                </a:gridCol>
              </a:tblGrid>
              <a:tr h="608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Probability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Expression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460582"/>
                  </a:ext>
                </a:extLst>
              </a:tr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Never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04312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Seldom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465852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Infrequent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3312470"/>
                  </a:ext>
                </a:extLst>
              </a:tr>
              <a:tr h="574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0.50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 often as not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872271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Very frequent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84107"/>
                  </a:ext>
                </a:extLst>
              </a:tr>
              <a:tr h="5730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0.95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Highly likely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799461"/>
                  </a:ext>
                </a:extLst>
              </a:tr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Always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747236"/>
                  </a:ext>
                </a:extLst>
              </a:tr>
            </a:tbl>
          </a:graphicData>
        </a:graphic>
      </p:graphicFrame>
      <p:sp>
        <p:nvSpPr>
          <p:cNvPr id="36936" name="Text Box 72">
            <a:extLst>
              <a:ext uri="{FF2B5EF4-FFF2-40B4-BE49-F238E27FC236}">
                <a16:creationId xmlns:a16="http://schemas.microsoft.com/office/drawing/2014/main" id="{0D23AC42-97E6-1D47-92F1-0937CB781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1511300"/>
            <a:ext cx="2916238" cy="13731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 dirty="0"/>
              <a:t>Probability is used to quantify levels of belief:</a:t>
            </a:r>
          </a:p>
        </p:txBody>
      </p:sp>
    </p:spTree>
    <p:extLst>
      <p:ext uri="{BB962C8B-B14F-4D97-AF65-F5344CB8AC3E}">
        <p14:creationId xmlns:p14="http://schemas.microsoft.com/office/powerpoint/2010/main" val="24833284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4B52-3F51-8E4A-BDB3-608F60145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BD280-C5BD-B241-958F-7A0016C1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EEF31-08B6-9F4C-ACC2-63313136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96B1-E288-224D-9609-CCE58C65CE19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27A4FF1-F47C-D54C-8C0D-19DAA3DFC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5964" y="723744"/>
            <a:ext cx="9720072" cy="977861"/>
          </a:xfrm>
        </p:spPr>
        <p:txBody>
          <a:bodyPr>
            <a:normAutofit/>
          </a:bodyPr>
          <a:lstStyle/>
          <a:p>
            <a:r>
              <a:rPr lang="en-US" altLang="en-US" sz="4400" dirty="0"/>
              <a:t>Random Variables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70BBE9F0-F64B-CA4A-80EE-2AF766159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7260" y="2110896"/>
            <a:ext cx="9720073" cy="4023360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Random variable</a:t>
            </a:r>
            <a:r>
              <a:rPr lang="en-US" altLang="en-US" sz="2800" dirty="0"/>
              <a:t> </a:t>
            </a:r>
            <a:r>
              <a:rPr lang="en-US" altLang="en-US" sz="2800" dirty="0">
                <a:cs typeface="Arial" panose="020B0604020202020204" pitchFamily="34" charset="0"/>
              </a:rPr>
              <a:t>≡ a numerical quantity that takes on different values depending on chance</a:t>
            </a:r>
          </a:p>
          <a:p>
            <a:r>
              <a:rPr lang="en-US" altLang="en-US" sz="2800" dirty="0"/>
              <a:t>Two types of random variables</a:t>
            </a:r>
          </a:p>
          <a:p>
            <a:pPr lvl="1"/>
            <a:r>
              <a:rPr lang="en-US" altLang="en-US" sz="2400" b="1" dirty="0"/>
              <a:t>Discrete random variables</a:t>
            </a:r>
            <a:r>
              <a:rPr lang="en-US" altLang="en-US" sz="2400" dirty="0"/>
              <a:t> (countable set of possible outcomes) </a:t>
            </a:r>
          </a:p>
          <a:p>
            <a:pPr lvl="1"/>
            <a:endParaRPr lang="en-US" altLang="en-US" sz="2400" dirty="0"/>
          </a:p>
          <a:p>
            <a:pPr lvl="1"/>
            <a:r>
              <a:rPr lang="en-US" altLang="en-US" sz="2400" b="1" dirty="0"/>
              <a:t>Continuous random variable</a:t>
            </a:r>
            <a:r>
              <a:rPr lang="en-US" altLang="en-US" sz="2400" dirty="0"/>
              <a:t> (unbroken chain of possible outcomes)</a:t>
            </a:r>
          </a:p>
        </p:txBody>
      </p:sp>
    </p:spTree>
    <p:extLst>
      <p:ext uri="{BB962C8B-B14F-4D97-AF65-F5344CB8AC3E}">
        <p14:creationId xmlns:p14="http://schemas.microsoft.com/office/powerpoint/2010/main" val="124486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9DDB1-7F29-CF44-9D48-EB114F9E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8403E-DC8C-004A-983B-490C5EB7186C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45EF750E-CC72-3547-9D00-CB65A97D2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3303" y="572550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800" dirty="0"/>
              <a:t>Example:  Discrete Random Variable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BCB31EC4-BD90-FF4E-9F8B-D1CB7FB2670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61338" y="1639159"/>
            <a:ext cx="7092588" cy="4525963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cs typeface="Arial" panose="020B0604020202020204" pitchFamily="34" charset="0"/>
              </a:rPr>
              <a:t>Treat 4 patients with a drug that is 75% effective</a:t>
            </a:r>
          </a:p>
          <a:p>
            <a:r>
              <a:rPr lang="en-US" altLang="en-US" sz="2400" dirty="0">
                <a:cs typeface="Arial" panose="020B0604020202020204" pitchFamily="34" charset="0"/>
              </a:rPr>
              <a:t>Let </a:t>
            </a:r>
            <a:r>
              <a:rPr lang="en-US" altLang="en-US" sz="2400" i="1" dirty="0">
                <a:cs typeface="Arial" panose="020B0604020202020204" pitchFamily="34" charset="0"/>
              </a:rPr>
              <a:t>X</a:t>
            </a:r>
            <a:r>
              <a:rPr lang="en-US" altLang="en-US" sz="2400" dirty="0">
                <a:cs typeface="Arial" panose="020B0604020202020204" pitchFamily="34" charset="0"/>
              </a:rPr>
              <a:t> ≡ the [variable] number of patients that respond to treatment </a:t>
            </a:r>
          </a:p>
          <a:p>
            <a:r>
              <a:rPr lang="en-US" altLang="en-US" sz="2400" i="1" dirty="0">
                <a:cs typeface="Arial" panose="020B0604020202020204" pitchFamily="34" charset="0"/>
              </a:rPr>
              <a:t>X</a:t>
            </a:r>
            <a:r>
              <a:rPr lang="en-US" altLang="en-US" sz="2400" dirty="0">
                <a:cs typeface="Arial" panose="020B0604020202020204" pitchFamily="34" charset="0"/>
              </a:rPr>
              <a:t> is a discrete random variable can be either 0, 1, 2, 3, or 4 (a countable set of possible outcomes)</a:t>
            </a:r>
          </a:p>
        </p:txBody>
      </p:sp>
      <p:pic>
        <p:nvPicPr>
          <p:cNvPr id="9296" name="Picture 80">
            <a:extLst>
              <a:ext uri="{FF2B5EF4-FFF2-40B4-BE49-F238E27FC236}">
                <a16:creationId xmlns:a16="http://schemas.microsoft.com/office/drawing/2014/main" id="{75B8AAA6-B36B-FA48-859B-A4C5234F761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53926" y="2033368"/>
            <a:ext cx="2857500" cy="28194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FA6C00-D9C4-944E-74D7-9E8EB5D1984A}"/>
              </a:ext>
            </a:extLst>
          </p:cNvPr>
          <p:cNvSpPr txBox="1"/>
          <p:nvPr/>
        </p:nvSpPr>
        <p:spPr>
          <a:xfrm>
            <a:off x="969645" y="3902140"/>
            <a:ext cx="60998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Social science example: </a:t>
            </a:r>
          </a:p>
          <a:p>
            <a:r>
              <a:rPr lang="en-IN" sz="2000" dirty="0"/>
              <a:t>In a population – 75% literacy ;</a:t>
            </a:r>
          </a:p>
          <a:p>
            <a:r>
              <a:rPr lang="en-IN" sz="2000" dirty="0"/>
              <a:t>If you randomly pick a sample of 4 people </a:t>
            </a:r>
          </a:p>
          <a:p>
            <a:endParaRPr lang="en-IN" sz="2000" dirty="0"/>
          </a:p>
          <a:p>
            <a:r>
              <a:rPr lang="en-IN" sz="2000" dirty="0"/>
              <a:t>X= no of people who are literate </a:t>
            </a:r>
          </a:p>
          <a:p>
            <a:r>
              <a:rPr lang="en-IN" sz="2000" dirty="0"/>
              <a:t>X={0,1,2,3,4}</a:t>
            </a:r>
          </a:p>
          <a:p>
            <a:r>
              <a:rPr lang="en-IN" sz="2000" dirty="0"/>
              <a:t>Chance that a random person literate? 3/4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24888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4">
            <a:extLst>
              <a:ext uri="{FF2B5EF4-FFF2-40B4-BE49-F238E27FC236}">
                <a16:creationId xmlns:a16="http://schemas.microsoft.com/office/drawing/2014/main" id="{3C98FE43-96B2-2E42-985E-E8EAEE58133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28" name="Footer Placeholder 5">
            <a:extLst>
              <a:ext uri="{FF2B5EF4-FFF2-40B4-BE49-F238E27FC236}">
                <a16:creationId xmlns:a16="http://schemas.microsoft.com/office/drawing/2014/main" id="{54D35898-9175-2649-848D-8D52346DC84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29" name="Slide Number Placeholder 6">
            <a:extLst>
              <a:ext uri="{FF2B5EF4-FFF2-40B4-BE49-F238E27FC236}">
                <a16:creationId xmlns:a16="http://schemas.microsoft.com/office/drawing/2014/main" id="{EFA0C65C-8ED5-124D-80DB-23A7F8534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81755-C035-CD4A-B298-F5675B9FF75E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0066B300-1877-7C45-8428-7FADDF9F72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8150" y="669291"/>
            <a:ext cx="8451850" cy="1143000"/>
          </a:xfrm>
        </p:spPr>
        <p:txBody>
          <a:bodyPr>
            <a:normAutofit/>
          </a:bodyPr>
          <a:lstStyle/>
          <a:p>
            <a:r>
              <a:rPr lang="en-US" altLang="en-US" sz="4800" dirty="0"/>
              <a:t>Example: Discrete Random Variable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C0B64505-75B8-6A4A-9DF4-DA94735609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97169" y="1806575"/>
            <a:ext cx="11394831" cy="2396807"/>
          </a:xfrm>
        </p:spPr>
        <p:txBody>
          <a:bodyPr/>
          <a:lstStyle/>
          <a:p>
            <a:r>
              <a:rPr lang="en-US" altLang="en-US" sz="2800" dirty="0">
                <a:cs typeface="Arial" panose="020B0604020202020204" pitchFamily="34" charset="0"/>
              </a:rPr>
              <a:t>Discrete random variables are understood in terms of their </a:t>
            </a:r>
            <a:r>
              <a:rPr lang="en-US" altLang="en-US" sz="2800" b="1" dirty="0">
                <a:cs typeface="Arial" panose="020B0604020202020204" pitchFamily="34" charset="0"/>
              </a:rPr>
              <a:t>p</a:t>
            </a:r>
            <a:r>
              <a:rPr lang="en-US" altLang="en-US" sz="2800" b="1" dirty="0"/>
              <a:t>robability mass function (</a:t>
            </a:r>
            <a:r>
              <a:rPr lang="en-US" altLang="en-US" sz="2800" b="1" i="1" dirty="0" err="1"/>
              <a:t>pmf</a:t>
            </a:r>
            <a:r>
              <a:rPr lang="en-US" altLang="en-US" sz="2800" b="1" dirty="0"/>
              <a:t>)</a:t>
            </a:r>
            <a:r>
              <a:rPr lang="en-US" altLang="en-US" sz="2800" dirty="0"/>
              <a:t> </a:t>
            </a:r>
          </a:p>
          <a:p>
            <a:r>
              <a:rPr lang="en-US" altLang="en-US" sz="2800" b="1" i="1" dirty="0" err="1">
                <a:cs typeface="Arial" panose="020B0604020202020204" pitchFamily="34" charset="0"/>
              </a:rPr>
              <a:t>pmf</a:t>
            </a:r>
            <a:r>
              <a:rPr lang="en-US" altLang="en-US" sz="2800" dirty="0">
                <a:cs typeface="Arial" panose="020B0604020202020204" pitchFamily="34" charset="0"/>
              </a:rPr>
              <a:t> ≡ a mathematical function that assigns probabilities to all possible outcomes for a discrete random variable.</a:t>
            </a:r>
          </a:p>
          <a:p>
            <a:r>
              <a:rPr lang="en-US" altLang="en-US" sz="2800" dirty="0">
                <a:cs typeface="Arial" panose="020B0604020202020204" pitchFamily="34" charset="0"/>
              </a:rPr>
              <a:t>This table shows the </a:t>
            </a:r>
            <a:r>
              <a:rPr lang="en-US" altLang="en-US" sz="2800" i="1" dirty="0" err="1">
                <a:cs typeface="Arial" panose="020B0604020202020204" pitchFamily="34" charset="0"/>
              </a:rPr>
              <a:t>pmf</a:t>
            </a:r>
            <a:r>
              <a:rPr lang="en-US" altLang="en-US" sz="2800" i="1" dirty="0">
                <a:cs typeface="Arial" panose="020B0604020202020204" pitchFamily="34" charset="0"/>
              </a:rPr>
              <a:t> </a:t>
            </a:r>
            <a:r>
              <a:rPr lang="en-US" altLang="en-US" sz="2800" dirty="0">
                <a:cs typeface="Arial" panose="020B0604020202020204" pitchFamily="34" charset="0"/>
              </a:rPr>
              <a:t>for our “four people” example:</a:t>
            </a:r>
          </a:p>
          <a:p>
            <a:pPr>
              <a:buFontTx/>
              <a:buNone/>
            </a:pPr>
            <a:endParaRPr lang="en-US" altLang="en-US" sz="2800" dirty="0">
              <a:cs typeface="Arial" panose="020B0604020202020204" pitchFamily="34" charset="0"/>
            </a:endParaRPr>
          </a:p>
        </p:txBody>
      </p:sp>
      <p:graphicFrame>
        <p:nvGraphicFramePr>
          <p:cNvPr id="124932" name="Group 4">
            <a:extLst>
              <a:ext uri="{FF2B5EF4-FFF2-40B4-BE49-F238E27FC236}">
                <a16:creationId xmlns:a16="http://schemas.microsoft.com/office/drawing/2014/main" id="{36DC3878-AD0B-C449-964D-EB1DAD8455D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2658164"/>
              </p:ext>
            </p:extLst>
          </p:nvPr>
        </p:nvGraphicFramePr>
        <p:xfrm>
          <a:off x="1253808" y="4404995"/>
          <a:ext cx="8229918" cy="1851025"/>
        </p:xfrm>
        <a:graphic>
          <a:graphicData uri="http://schemas.openxmlformats.org/drawingml/2006/table">
            <a:tbl>
              <a:tblPr/>
              <a:tblGrid>
                <a:gridCol w="1465262">
                  <a:extLst>
                    <a:ext uri="{9D8B030D-6E8A-4147-A177-3AD203B41FA5}">
                      <a16:colId xmlns:a16="http://schemas.microsoft.com/office/drawing/2014/main" val="1836425108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val="61842093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4830771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25839642"/>
                    </a:ext>
                  </a:extLst>
                </a:gridCol>
                <a:gridCol w="1371918">
                  <a:extLst>
                    <a:ext uri="{9D8B030D-6E8A-4147-A177-3AD203B41FA5}">
                      <a16:colId xmlns:a16="http://schemas.microsoft.com/office/drawing/2014/main" val="108587806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239855225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 </a:t>
                      </a: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(none literate)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(one literate)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(two are literate)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(three are literate)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(All four are literate)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593252"/>
                  </a:ext>
                </a:extLst>
              </a:tr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Pr(</a:t>
                      </a:r>
                      <a:r>
                        <a:rPr kumimoji="0" lang="en-US" alt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=</a:t>
                      </a:r>
                      <a:r>
                        <a:rPr kumimoji="0" lang="en-US" altLang="en-US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)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0.0469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0.2109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0.4219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0.3164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9802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20352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4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4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4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67531-9FFC-8D4D-B015-19A5E6D60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A962F-518D-A041-A2B2-B9A8C643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30CFB-C570-1E47-92C0-1D9476958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E202C-046D-E044-A4C9-957C3C354486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8C155D48-2276-6149-B31D-2EB6A3DE65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303213"/>
            <a:ext cx="9334500" cy="1143000"/>
          </a:xfrm>
        </p:spPr>
        <p:txBody>
          <a:bodyPr/>
          <a:lstStyle/>
          <a:p>
            <a:r>
              <a:rPr lang="en-US" altLang="en-US" sz="3600" i="1" dirty="0" err="1">
                <a:solidFill>
                  <a:schemeClr val="tx1"/>
                </a:solidFill>
              </a:rPr>
              <a:t>pmf</a:t>
            </a:r>
            <a:r>
              <a:rPr lang="en-US" altLang="en-US" sz="3600" i="1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can also be shown</a:t>
            </a:r>
            <a:r>
              <a:rPr lang="en-US" altLang="en-US" sz="3600" i="1" dirty="0">
                <a:solidFill>
                  <a:schemeClr val="tx1"/>
                </a:solidFill>
              </a:rPr>
              <a:t> </a:t>
            </a:r>
            <a:r>
              <a:rPr lang="en-US" altLang="en-US" sz="3600" dirty="0">
                <a:solidFill>
                  <a:schemeClr val="tx1"/>
                </a:solidFill>
              </a:rPr>
              <a:t>graphically</a:t>
            </a:r>
          </a:p>
        </p:txBody>
      </p:sp>
      <p:pic>
        <p:nvPicPr>
          <p:cNvPr id="12293" name="Picture 5">
            <a:extLst>
              <a:ext uri="{FF2B5EF4-FFF2-40B4-BE49-F238E27FC236}">
                <a16:creationId xmlns:a16="http://schemas.microsoft.com/office/drawing/2014/main" id="{29AFD843-DEB0-F343-95E2-D91868019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1" y="1822450"/>
            <a:ext cx="5000625" cy="448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C221B0-9D17-454F-8CA4-82457F652A16}"/>
                  </a:ext>
                </a:extLst>
              </p:cNvPr>
              <p:cNvSpPr txBox="1"/>
              <p:nvPr/>
            </p:nvSpPr>
            <p:spPr>
              <a:xfrm>
                <a:off x="6886627" y="1307713"/>
                <a:ext cx="590145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𝑀𝑒𝑎𝑛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=0∗0.0039+1∗0.0469+2∗0.2109+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3*.4219+4*.3164=3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9C221B0-9D17-454F-8CA4-82457F652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627" y="1307713"/>
                <a:ext cx="5901458" cy="553998"/>
              </a:xfrm>
              <a:prstGeom prst="rect">
                <a:avLst/>
              </a:prstGeom>
              <a:blipFill>
                <a:blip r:embed="rId3"/>
                <a:stretch>
                  <a:fillRect l="-2479" b="-2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2252B5-4048-4C42-8609-BC73104667DD}"/>
                  </a:ext>
                </a:extLst>
              </p:cNvPr>
              <p:cNvSpPr txBox="1"/>
              <p:nvPr/>
            </p:nvSpPr>
            <p:spPr>
              <a:xfrm>
                <a:off x="9023912" y="2589212"/>
                <a:ext cx="1908728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2252B5-4048-4C42-8609-BC7310466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912" y="2589212"/>
                <a:ext cx="1908728" cy="672172"/>
              </a:xfrm>
              <a:prstGeom prst="rect">
                <a:avLst/>
              </a:prstGeom>
              <a:blipFill>
                <a:blip r:embed="rId4"/>
                <a:stretch>
                  <a:fillRect l="-43046" t="-149057" r="-662" b="-20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54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EDA747E-3232-1341-9050-10BD122A59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05CDA45-E788-0F45-A49B-7CE4A346A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0C0FB89-74C5-D74A-96E7-18ECBC26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110FCD-49C3-134D-8EC6-C506978205D7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8299870A-542A-ED41-BE94-20C989F5C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  <a:ln/>
        </p:spPr>
        <p:txBody>
          <a:bodyPr/>
          <a:lstStyle/>
          <a:p>
            <a:r>
              <a:rPr lang="en-US" altLang="en-US"/>
              <a:t>Area on </a:t>
            </a:r>
            <a:r>
              <a:rPr lang="en-US" altLang="en-US" i="1"/>
              <a:t>pmf</a:t>
            </a:r>
            <a:r>
              <a:rPr lang="en-US" altLang="en-US"/>
              <a:t> = Probability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E47BF33-7B33-504B-81DD-F451150706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68205" y="1541148"/>
            <a:ext cx="5834575" cy="4525963"/>
          </a:xfrm>
        </p:spPr>
        <p:txBody>
          <a:bodyPr/>
          <a:lstStyle/>
          <a:p>
            <a:r>
              <a:rPr lang="en-US" altLang="en-US" sz="3600" b="1" dirty="0"/>
              <a:t>Areas</a:t>
            </a:r>
            <a:r>
              <a:rPr lang="en-US" altLang="en-US" b="1" dirty="0"/>
              <a:t> under </a:t>
            </a:r>
            <a:r>
              <a:rPr lang="en-US" altLang="en-US" i="1" dirty="0" err="1"/>
              <a:t>pmf</a:t>
            </a:r>
            <a:r>
              <a:rPr lang="en-US" altLang="en-US" i="1" dirty="0"/>
              <a:t> </a:t>
            </a:r>
            <a:r>
              <a:rPr lang="en-US" altLang="en-US" dirty="0"/>
              <a:t>graphs correspond to probability</a:t>
            </a:r>
          </a:p>
          <a:p>
            <a:r>
              <a:rPr lang="en-US" altLang="en-US" sz="2800" dirty="0"/>
              <a:t>For example: </a:t>
            </a:r>
            <a:br>
              <a:rPr lang="en-US" altLang="en-US" sz="2800" dirty="0"/>
            </a:br>
            <a:r>
              <a:rPr lang="en-US" altLang="en-US" sz="2800" dirty="0" err="1"/>
              <a:t>Pr</a:t>
            </a:r>
            <a:r>
              <a:rPr lang="en-US" altLang="en-US" sz="2800" dirty="0"/>
              <a:t>(X = 2) </a:t>
            </a:r>
            <a:br>
              <a:rPr lang="en-US" altLang="en-US" sz="2800" dirty="0"/>
            </a:br>
            <a:r>
              <a:rPr lang="en-US" altLang="en-US" sz="2800" dirty="0"/>
              <a:t>= shaded rectangle </a:t>
            </a:r>
            <a:br>
              <a:rPr lang="en-US" altLang="en-US" sz="2800" dirty="0"/>
            </a:br>
            <a:r>
              <a:rPr lang="en-US" altLang="en-US" sz="2800" dirty="0"/>
              <a:t>= height </a:t>
            </a:r>
            <a:r>
              <a:rPr lang="en-US" altLang="en-US" sz="2800" dirty="0">
                <a:cs typeface="Arial" panose="020B0604020202020204" pitchFamily="34" charset="0"/>
              </a:rPr>
              <a:t>× base </a:t>
            </a:r>
            <a:br>
              <a:rPr lang="en-US" altLang="en-US" sz="2800" dirty="0">
                <a:cs typeface="Arial" panose="020B0604020202020204" pitchFamily="34" charset="0"/>
              </a:rPr>
            </a:br>
            <a:r>
              <a:rPr lang="en-US" altLang="en-US" sz="2800" dirty="0">
                <a:cs typeface="Arial" panose="020B0604020202020204" pitchFamily="34" charset="0"/>
              </a:rPr>
              <a:t>=  .2109 ×</a:t>
            </a:r>
            <a:r>
              <a:rPr lang="en-US" altLang="en-US" sz="2800" dirty="0"/>
              <a:t> 1.0 </a:t>
            </a:r>
            <a:br>
              <a:rPr lang="en-US" altLang="en-US" sz="2800" dirty="0"/>
            </a:br>
            <a:r>
              <a:rPr lang="en-US" altLang="en-US" sz="2800" dirty="0"/>
              <a:t>=  .2109</a:t>
            </a:r>
          </a:p>
        </p:txBody>
      </p:sp>
      <p:pic>
        <p:nvPicPr>
          <p:cNvPr id="19469" name="Picture 13">
            <a:extLst>
              <a:ext uri="{FF2B5EF4-FFF2-40B4-BE49-F238E27FC236}">
                <a16:creationId xmlns:a16="http://schemas.microsoft.com/office/drawing/2014/main" id="{C930BFEF-2DBF-984D-86FE-D76E96723A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18238" y="2314575"/>
            <a:ext cx="4038600" cy="3587750"/>
          </a:xfrm>
          <a:noFill/>
          <a:ln/>
        </p:spPr>
      </p:pic>
      <p:sp>
        <p:nvSpPr>
          <p:cNvPr id="19472" name="Text Box 16">
            <a:extLst>
              <a:ext uri="{FF2B5EF4-FFF2-40B4-BE49-F238E27FC236}">
                <a16:creationId xmlns:a16="http://schemas.microsoft.com/office/drawing/2014/main" id="{BC747400-7E10-664C-812A-DBF3E179B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2276" y="1547814"/>
            <a:ext cx="32099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/>
              <a:t>“Four patients” </a:t>
            </a:r>
            <a:r>
              <a:rPr lang="en-US" altLang="en-US" sz="2800" i="1"/>
              <a:t>pmf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4282906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8F120D-3451-C563-1470-3A6629CF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215884"/>
            <a:ext cx="9720072" cy="1499616"/>
          </a:xfrm>
        </p:spPr>
        <p:txBody>
          <a:bodyPr/>
          <a:lstStyle/>
          <a:p>
            <a:r>
              <a:rPr lang="en-IN" dirty="0"/>
              <a:t>Probability- multiplication rule + Conditional probability</a:t>
            </a:r>
          </a:p>
        </p:txBody>
      </p:sp>
      <p:pic>
        <p:nvPicPr>
          <p:cNvPr id="6" name="Online Media 5" title="Probability – Example (Marbles Drawn) Part 1 (GMAT/GRE/CAT/Bank PO/SSC CGL) | Don't Memorise">
            <a:hlinkClick r:id="" action="ppaction://media"/>
            <a:extLst>
              <a:ext uri="{FF2B5EF4-FFF2-40B4-BE49-F238E27FC236}">
                <a16:creationId xmlns:a16="http://schemas.microsoft.com/office/drawing/2014/main" id="{2A868FE0-6240-3016-3333-69032BC3575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38500" y="1706245"/>
            <a:ext cx="7393627" cy="41306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42E810-3C53-A2B2-EC02-0B9E6564C093}"/>
              </a:ext>
            </a:extLst>
          </p:cNvPr>
          <p:cNvSpPr txBox="1"/>
          <p:nvPr/>
        </p:nvSpPr>
        <p:spPr>
          <a:xfrm>
            <a:off x="1676400" y="59034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https://www.youtube.com/watch?v=8zMuKn2qORA</a:t>
            </a:r>
          </a:p>
        </p:txBody>
      </p:sp>
    </p:spTree>
    <p:extLst>
      <p:ext uri="{BB962C8B-B14F-4D97-AF65-F5344CB8AC3E}">
        <p14:creationId xmlns:p14="http://schemas.microsoft.com/office/powerpoint/2010/main" val="272742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9C44E-195D-8F4B-B6A8-AA46F9BF653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208A79-206A-384F-80A9-A26023727CF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D6E1FB-9006-E84C-BF31-31508717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E4122-C47B-4C41-97BA-769B6D23CA44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ACCB100D-8C3D-744C-9412-E047A0035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465138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Arial" panose="020B0604020202020204" pitchFamily="34" charset="0"/>
              </a:rPr>
              <a:t>Example:  </a:t>
            </a:r>
            <a:r>
              <a:rPr lang="en-US" altLang="en-US" dirty="0"/>
              <a:t>Continuous Random Variable</a:t>
            </a:r>
          </a:p>
        </p:txBody>
      </p:sp>
      <p:pic>
        <p:nvPicPr>
          <p:cNvPr id="22541" name="Picture 13">
            <a:extLst>
              <a:ext uri="{FF2B5EF4-FFF2-40B4-BE49-F238E27FC236}">
                <a16:creationId xmlns:a16="http://schemas.microsoft.com/office/drawing/2014/main" id="{324FC6DD-8C07-5D47-8584-D151C11519FA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16261" y="1753822"/>
            <a:ext cx="4038600" cy="3654425"/>
          </a:xfrm>
          <a:noFill/>
          <a:ln/>
        </p:spPr>
      </p:pic>
      <p:sp>
        <p:nvSpPr>
          <p:cNvPr id="22531" name="Rectangle 3">
            <a:extLst>
              <a:ext uri="{FF2B5EF4-FFF2-40B4-BE49-F238E27FC236}">
                <a16:creationId xmlns:a16="http://schemas.microsoft.com/office/drawing/2014/main" id="{801DB703-6E49-B448-9AF1-39BECAF7503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57312" y="1773090"/>
            <a:ext cx="5868571" cy="4525963"/>
          </a:xfrm>
        </p:spPr>
        <p:txBody>
          <a:bodyPr/>
          <a:lstStyle/>
          <a:p>
            <a:pPr marL="463550" indent="-463550"/>
            <a:r>
              <a:rPr lang="en-US" altLang="en-US" sz="2800" dirty="0"/>
              <a:t>Continuous random variables have an infinite set of possible outcomes</a:t>
            </a:r>
          </a:p>
          <a:p>
            <a:pPr marL="463550" indent="-463550"/>
            <a:r>
              <a:rPr lang="en-US" altLang="en-US" sz="2800" b="1" dirty="0"/>
              <a:t>Example</a:t>
            </a:r>
            <a:r>
              <a:rPr lang="en-US" altLang="en-US" sz="2800" dirty="0"/>
              <a:t>: generate random numbers with this spinner </a:t>
            </a:r>
            <a:r>
              <a:rPr lang="en-US" altLang="en-US" sz="2800" dirty="0">
                <a:sym typeface="Symbol" pitchFamily="2" charset="2"/>
              </a:rPr>
              <a:t></a:t>
            </a:r>
            <a:r>
              <a:rPr lang="en-US" altLang="en-US" sz="2800" dirty="0"/>
              <a:t> </a:t>
            </a:r>
          </a:p>
          <a:p>
            <a:pPr marL="463550" indent="-463550"/>
            <a:r>
              <a:rPr lang="en-US" altLang="en-US" sz="2800" dirty="0"/>
              <a:t>Outcomes form a </a:t>
            </a:r>
            <a:r>
              <a:rPr lang="en-US" altLang="en-US" sz="2800" i="1" dirty="0"/>
              <a:t>continuum</a:t>
            </a:r>
            <a:r>
              <a:rPr lang="en-US" altLang="en-US" sz="2800" dirty="0"/>
              <a:t> between 0 and 1</a:t>
            </a:r>
          </a:p>
        </p:txBody>
      </p:sp>
    </p:spTree>
    <p:extLst>
      <p:ext uri="{BB962C8B-B14F-4D97-AF65-F5344CB8AC3E}">
        <p14:creationId xmlns:p14="http://schemas.microsoft.com/office/powerpoint/2010/main" val="3982414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96A309C-99C6-3343-9C24-548AFC78020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6FBCED-BEBF-5E4C-9BF8-45F725C5B78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8C7FD67-5F97-EC4B-BC0A-28E80881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25994-E441-2B49-B7F0-C283B1E45BC9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2965FE03-BE5A-7944-ACB4-895848FD1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564466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cs typeface="Arial" panose="020B0604020202020204" pitchFamily="34" charset="0"/>
              </a:rPr>
              <a:t>Example : </a:t>
            </a:r>
            <a:r>
              <a:rPr lang="en-US" altLang="en-US" sz="4000" dirty="0"/>
              <a:t>Continuous Random Variable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6CB1405E-EB4E-AC4F-AFBA-03CAD56F34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67730" y="1518273"/>
            <a:ext cx="6735298" cy="4525963"/>
          </a:xfrm>
        </p:spPr>
        <p:txBody>
          <a:bodyPr>
            <a:normAutofit/>
          </a:bodyPr>
          <a:lstStyle/>
          <a:p>
            <a:pPr marL="280988" indent="-280988"/>
            <a:r>
              <a:rPr lang="en-US" altLang="en-US" sz="2800" b="1" dirty="0"/>
              <a:t>probability density function (</a:t>
            </a:r>
            <a:r>
              <a:rPr lang="en-US" altLang="en-US" sz="2800" b="1" i="1" u="sng" dirty="0"/>
              <a:t>pdf</a:t>
            </a:r>
            <a:r>
              <a:rPr lang="en-US" altLang="en-US" sz="2800" b="1" dirty="0"/>
              <a:t>) </a:t>
            </a:r>
            <a:r>
              <a:rPr lang="en-US" altLang="en-US" sz="2800" dirty="0">
                <a:cs typeface="Arial" panose="020B0604020202020204" pitchFamily="34" charset="0"/>
              </a:rPr>
              <a:t>≡ a mathematical function that assigns probabilities for continuous random variables</a:t>
            </a:r>
          </a:p>
          <a:p>
            <a:pPr marL="280988" indent="-280988"/>
            <a:r>
              <a:rPr lang="en-US" altLang="en-US" sz="2800" b="1" dirty="0"/>
              <a:t>The probability of any exact value is 0 </a:t>
            </a:r>
          </a:p>
          <a:p>
            <a:pPr marL="280988" indent="-280988"/>
            <a:r>
              <a:rPr lang="en-US" altLang="en-US" sz="2800" dirty="0"/>
              <a:t>BUT, the probability of a </a:t>
            </a:r>
            <a:r>
              <a:rPr lang="en-US" altLang="en-US" sz="2800" b="1" dirty="0"/>
              <a:t>range </a:t>
            </a:r>
            <a:r>
              <a:rPr lang="en-US" altLang="en-US" sz="2800" dirty="0"/>
              <a:t>is the area under the </a:t>
            </a:r>
            <a:r>
              <a:rPr lang="en-US" altLang="en-US" sz="2800" i="1" dirty="0"/>
              <a:t>pdf </a:t>
            </a:r>
            <a:r>
              <a:rPr lang="en-US" altLang="en-US" sz="2800" dirty="0"/>
              <a:t>“curve” (bottom)</a:t>
            </a:r>
          </a:p>
        </p:txBody>
      </p:sp>
      <p:pic>
        <p:nvPicPr>
          <p:cNvPr id="101389" name="Picture 13">
            <a:extLst>
              <a:ext uri="{FF2B5EF4-FFF2-40B4-BE49-F238E27FC236}">
                <a16:creationId xmlns:a16="http://schemas.microsoft.com/office/drawing/2014/main" id="{8F05FFFF-6750-C14F-86F3-BE31C5374CC5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90707" y="1135966"/>
            <a:ext cx="2414587" cy="2185988"/>
          </a:xfrm>
          <a:noFill/>
          <a:ln/>
        </p:spPr>
      </p:pic>
      <p:pic>
        <p:nvPicPr>
          <p:cNvPr id="101393" name="Picture 17">
            <a:extLst>
              <a:ext uri="{FF2B5EF4-FFF2-40B4-BE49-F238E27FC236}">
                <a16:creationId xmlns:a16="http://schemas.microsoft.com/office/drawing/2014/main" id="{62E1BCE2-E508-504B-8871-2CCFD7FCE432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28476" y="3336022"/>
            <a:ext cx="3339048" cy="2803906"/>
          </a:xfrm>
          <a:noFill/>
          <a:ln/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60F35F9D-C5C0-EF49-86E5-5AE5B68E5140}"/>
              </a:ext>
            </a:extLst>
          </p:cNvPr>
          <p:cNvSpPr/>
          <p:nvPr/>
        </p:nvSpPr>
        <p:spPr>
          <a:xfrm>
            <a:off x="729049" y="5399903"/>
            <a:ext cx="2458994" cy="444843"/>
          </a:xfrm>
          <a:custGeom>
            <a:avLst/>
            <a:gdLst>
              <a:gd name="connsiteX0" fmla="*/ 0 w 2458994"/>
              <a:gd name="connsiteY0" fmla="*/ 74140 h 444843"/>
              <a:gd name="connsiteX1" fmla="*/ 37070 w 2458994"/>
              <a:gd name="connsiteY1" fmla="*/ 160638 h 444843"/>
              <a:gd name="connsiteX2" fmla="*/ 123567 w 2458994"/>
              <a:gd name="connsiteY2" fmla="*/ 234778 h 444843"/>
              <a:gd name="connsiteX3" fmla="*/ 234778 w 2458994"/>
              <a:gd name="connsiteY3" fmla="*/ 308919 h 444843"/>
              <a:gd name="connsiteX4" fmla="*/ 358346 w 2458994"/>
              <a:gd name="connsiteY4" fmla="*/ 383059 h 444843"/>
              <a:gd name="connsiteX5" fmla="*/ 531340 w 2458994"/>
              <a:gd name="connsiteY5" fmla="*/ 432486 h 444843"/>
              <a:gd name="connsiteX6" fmla="*/ 617837 w 2458994"/>
              <a:gd name="connsiteY6" fmla="*/ 444843 h 444843"/>
              <a:gd name="connsiteX7" fmla="*/ 778475 w 2458994"/>
              <a:gd name="connsiteY7" fmla="*/ 432486 h 444843"/>
              <a:gd name="connsiteX8" fmla="*/ 827902 w 2458994"/>
              <a:gd name="connsiteY8" fmla="*/ 358346 h 444843"/>
              <a:gd name="connsiteX9" fmla="*/ 877329 w 2458994"/>
              <a:gd name="connsiteY9" fmla="*/ 284205 h 444843"/>
              <a:gd name="connsiteX10" fmla="*/ 889686 w 2458994"/>
              <a:gd name="connsiteY10" fmla="*/ 247135 h 444843"/>
              <a:gd name="connsiteX11" fmla="*/ 926756 w 2458994"/>
              <a:gd name="connsiteY11" fmla="*/ 210065 h 444843"/>
              <a:gd name="connsiteX12" fmla="*/ 963827 w 2458994"/>
              <a:gd name="connsiteY12" fmla="*/ 135924 h 444843"/>
              <a:gd name="connsiteX13" fmla="*/ 1000897 w 2458994"/>
              <a:gd name="connsiteY13" fmla="*/ 111211 h 444843"/>
              <a:gd name="connsiteX14" fmla="*/ 1025610 w 2458994"/>
              <a:gd name="connsiteY14" fmla="*/ 74140 h 444843"/>
              <a:gd name="connsiteX15" fmla="*/ 1099751 w 2458994"/>
              <a:gd name="connsiteY15" fmla="*/ 37070 h 444843"/>
              <a:gd name="connsiteX16" fmla="*/ 1173892 w 2458994"/>
              <a:gd name="connsiteY16" fmla="*/ 0 h 444843"/>
              <a:gd name="connsiteX17" fmla="*/ 1655805 w 2458994"/>
              <a:gd name="connsiteY17" fmla="*/ 12356 h 444843"/>
              <a:gd name="connsiteX18" fmla="*/ 1828800 w 2458994"/>
              <a:gd name="connsiteY18" fmla="*/ 37070 h 444843"/>
              <a:gd name="connsiteX19" fmla="*/ 1927654 w 2458994"/>
              <a:gd name="connsiteY19" fmla="*/ 61783 h 444843"/>
              <a:gd name="connsiteX20" fmla="*/ 2038865 w 2458994"/>
              <a:gd name="connsiteY20" fmla="*/ 135924 h 444843"/>
              <a:gd name="connsiteX21" fmla="*/ 2075935 w 2458994"/>
              <a:gd name="connsiteY21" fmla="*/ 160638 h 444843"/>
              <a:gd name="connsiteX22" fmla="*/ 2113005 w 2458994"/>
              <a:gd name="connsiteY22" fmla="*/ 172994 h 444843"/>
              <a:gd name="connsiteX23" fmla="*/ 2150075 w 2458994"/>
              <a:gd name="connsiteY23" fmla="*/ 197708 h 444843"/>
              <a:gd name="connsiteX24" fmla="*/ 2224216 w 2458994"/>
              <a:gd name="connsiteY24" fmla="*/ 222421 h 444843"/>
              <a:gd name="connsiteX25" fmla="*/ 2360140 w 2458994"/>
              <a:gd name="connsiteY25" fmla="*/ 259492 h 444843"/>
              <a:gd name="connsiteX26" fmla="*/ 2458994 w 2458994"/>
              <a:gd name="connsiteY26" fmla="*/ 259492 h 44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8994" h="444843">
                <a:moveTo>
                  <a:pt x="0" y="74140"/>
                </a:moveTo>
                <a:cubicBezTo>
                  <a:pt x="12357" y="102973"/>
                  <a:pt x="20229" y="134173"/>
                  <a:pt x="37070" y="160638"/>
                </a:cubicBezTo>
                <a:cubicBezTo>
                  <a:pt x="64295" y="203421"/>
                  <a:pt x="87954" y="208068"/>
                  <a:pt x="123567" y="234778"/>
                </a:cubicBezTo>
                <a:cubicBezTo>
                  <a:pt x="294819" y="363216"/>
                  <a:pt x="95352" y="225263"/>
                  <a:pt x="234778" y="308919"/>
                </a:cubicBezTo>
                <a:cubicBezTo>
                  <a:pt x="292804" y="343735"/>
                  <a:pt x="301852" y="360461"/>
                  <a:pt x="358346" y="383059"/>
                </a:cubicBezTo>
                <a:cubicBezTo>
                  <a:pt x="397472" y="398709"/>
                  <a:pt x="494880" y="427277"/>
                  <a:pt x="531340" y="432486"/>
                </a:cubicBezTo>
                <a:lnTo>
                  <a:pt x="617837" y="444843"/>
                </a:lnTo>
                <a:cubicBezTo>
                  <a:pt x="671383" y="440724"/>
                  <a:pt x="726374" y="445511"/>
                  <a:pt x="778475" y="432486"/>
                </a:cubicBezTo>
                <a:cubicBezTo>
                  <a:pt x="820939" y="421870"/>
                  <a:pt x="812865" y="385413"/>
                  <a:pt x="827902" y="358346"/>
                </a:cubicBezTo>
                <a:cubicBezTo>
                  <a:pt x="842326" y="332382"/>
                  <a:pt x="867936" y="312383"/>
                  <a:pt x="877329" y="284205"/>
                </a:cubicBezTo>
                <a:cubicBezTo>
                  <a:pt x="881448" y="271848"/>
                  <a:pt x="882461" y="257973"/>
                  <a:pt x="889686" y="247135"/>
                </a:cubicBezTo>
                <a:cubicBezTo>
                  <a:pt x="899379" y="232595"/>
                  <a:pt x="914399" y="222422"/>
                  <a:pt x="926756" y="210065"/>
                </a:cubicBezTo>
                <a:cubicBezTo>
                  <a:pt x="936806" y="179914"/>
                  <a:pt x="939872" y="159879"/>
                  <a:pt x="963827" y="135924"/>
                </a:cubicBezTo>
                <a:cubicBezTo>
                  <a:pt x="974328" y="125423"/>
                  <a:pt x="988540" y="119449"/>
                  <a:pt x="1000897" y="111211"/>
                </a:cubicBezTo>
                <a:cubicBezTo>
                  <a:pt x="1009135" y="98854"/>
                  <a:pt x="1015109" y="84641"/>
                  <a:pt x="1025610" y="74140"/>
                </a:cubicBezTo>
                <a:cubicBezTo>
                  <a:pt x="1061021" y="38729"/>
                  <a:pt x="1059553" y="57169"/>
                  <a:pt x="1099751" y="37070"/>
                </a:cubicBezTo>
                <a:cubicBezTo>
                  <a:pt x="1195556" y="-10834"/>
                  <a:pt x="1080723" y="31054"/>
                  <a:pt x="1173892" y="0"/>
                </a:cubicBezTo>
                <a:lnTo>
                  <a:pt x="1655805" y="12356"/>
                </a:lnTo>
                <a:cubicBezTo>
                  <a:pt x="1710965" y="14654"/>
                  <a:pt x="1773758" y="24368"/>
                  <a:pt x="1828800" y="37070"/>
                </a:cubicBezTo>
                <a:cubicBezTo>
                  <a:pt x="1861896" y="44707"/>
                  <a:pt x="1927654" y="61783"/>
                  <a:pt x="1927654" y="61783"/>
                </a:cubicBezTo>
                <a:lnTo>
                  <a:pt x="2038865" y="135924"/>
                </a:lnTo>
                <a:cubicBezTo>
                  <a:pt x="2051222" y="144162"/>
                  <a:pt x="2061846" y="155942"/>
                  <a:pt x="2075935" y="160638"/>
                </a:cubicBezTo>
                <a:lnTo>
                  <a:pt x="2113005" y="172994"/>
                </a:lnTo>
                <a:cubicBezTo>
                  <a:pt x="2125362" y="181232"/>
                  <a:pt x="2136504" y="191676"/>
                  <a:pt x="2150075" y="197708"/>
                </a:cubicBezTo>
                <a:cubicBezTo>
                  <a:pt x="2173880" y="208288"/>
                  <a:pt x="2199502" y="214183"/>
                  <a:pt x="2224216" y="222421"/>
                </a:cubicBezTo>
                <a:cubicBezTo>
                  <a:pt x="2261444" y="234830"/>
                  <a:pt x="2332263" y="259492"/>
                  <a:pt x="2360140" y="259492"/>
                </a:cubicBezTo>
                <a:lnTo>
                  <a:pt x="2458994" y="259492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BB90FA-2B28-034A-8B01-C6657504DD77}"/>
              </a:ext>
            </a:extLst>
          </p:cNvPr>
          <p:cNvCxnSpPr/>
          <p:nvPr/>
        </p:nvCxnSpPr>
        <p:spPr>
          <a:xfrm>
            <a:off x="609600" y="5257799"/>
            <a:ext cx="0" cy="673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27C3B8-1B39-134B-AA20-D03DB5DE9D0D}"/>
              </a:ext>
            </a:extLst>
          </p:cNvPr>
          <p:cNvCxnSpPr/>
          <p:nvPr/>
        </p:nvCxnSpPr>
        <p:spPr>
          <a:xfrm>
            <a:off x="609600" y="5931243"/>
            <a:ext cx="2844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31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1911C-DEB2-C947-8E88-E97527F6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3FA0B-9996-8D43-A424-056F8100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B7DF9-13E7-5A4E-85AC-65B0F43C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C7FF6-1E39-9E40-BCEF-C3CF429D4ED4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7DEC6A8A-466C-2240-A7FF-5EB5A4727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2040" y="577058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cs typeface="Arial" panose="020B0604020202020204" pitchFamily="34" charset="0"/>
              </a:rPr>
              <a:t>Example : </a:t>
            </a:r>
            <a:r>
              <a:rPr lang="en-US" altLang="en-US" sz="4000" dirty="0"/>
              <a:t>Continuous Random Variable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1AB65E38-C306-434B-A750-C51E1D7719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866901"/>
            <a:ext cx="6682153" cy="4525963"/>
          </a:xfrm>
        </p:spPr>
        <p:txBody>
          <a:bodyPr/>
          <a:lstStyle/>
          <a:p>
            <a:pPr marL="280988" indent="-280988"/>
            <a:r>
              <a:rPr lang="en-US" altLang="en-US" sz="2800" b="1" dirty="0"/>
              <a:t>Area = probabilities</a:t>
            </a:r>
          </a:p>
          <a:p>
            <a:pPr marL="280988" indent="-280988"/>
            <a:r>
              <a:rPr lang="en-US" altLang="en-US" sz="2800" dirty="0"/>
              <a:t>The </a:t>
            </a:r>
            <a:r>
              <a:rPr lang="en-US" altLang="en-US" sz="2800" i="1" dirty="0"/>
              <a:t>pdf</a:t>
            </a:r>
            <a:r>
              <a:rPr lang="en-US" altLang="en-US" sz="2800" dirty="0"/>
              <a:t> for the random spinner variable </a:t>
            </a:r>
            <a:r>
              <a:rPr lang="en-US" altLang="en-US" sz="2800" dirty="0">
                <a:sym typeface="Symbol" pitchFamily="2" charset="2"/>
              </a:rPr>
              <a:t></a:t>
            </a:r>
          </a:p>
          <a:p>
            <a:pPr marL="280988" indent="-280988"/>
            <a:r>
              <a:rPr lang="en-US" altLang="en-US" sz="2800" dirty="0"/>
              <a:t>The probability of a value between 0 and 0.5 </a:t>
            </a:r>
            <a:r>
              <a:rPr lang="en-US" altLang="en-US" sz="2800" dirty="0" err="1"/>
              <a:t>Pr</a:t>
            </a:r>
            <a:r>
              <a:rPr lang="en-US" altLang="en-US" sz="2800" dirty="0"/>
              <a:t>(0 ≤ </a:t>
            </a:r>
            <a:r>
              <a:rPr lang="en-US" altLang="en-US" sz="2800" i="1" dirty="0"/>
              <a:t>X </a:t>
            </a:r>
            <a:r>
              <a:rPr lang="en-US" altLang="en-US" sz="2800" dirty="0"/>
              <a:t>≤ 0.5) </a:t>
            </a:r>
            <a:br>
              <a:rPr lang="en-US" altLang="en-US" sz="2800" dirty="0"/>
            </a:br>
            <a:r>
              <a:rPr lang="en-US" altLang="en-US" sz="2800" dirty="0"/>
              <a:t>= shaded rectangle </a:t>
            </a:r>
            <a:br>
              <a:rPr lang="en-US" altLang="en-US" sz="2800" dirty="0"/>
            </a:br>
            <a:r>
              <a:rPr lang="en-US" altLang="en-US" sz="2800" dirty="0"/>
              <a:t>= height </a:t>
            </a:r>
            <a:r>
              <a:rPr lang="en-US" altLang="en-US" sz="2800" dirty="0">
                <a:cs typeface="Arial" panose="020B0604020202020204" pitchFamily="34" charset="0"/>
              </a:rPr>
              <a:t>× base</a:t>
            </a:r>
            <a:br>
              <a:rPr lang="en-US" altLang="en-US" sz="2800" dirty="0">
                <a:cs typeface="Arial" panose="020B0604020202020204" pitchFamily="34" charset="0"/>
              </a:rPr>
            </a:br>
            <a:r>
              <a:rPr lang="en-US" altLang="en-US" sz="2800" dirty="0">
                <a:cs typeface="Arial" panose="020B0604020202020204" pitchFamily="34" charset="0"/>
              </a:rPr>
              <a:t>= 1 × 0.5 = 0.5</a:t>
            </a:r>
          </a:p>
        </p:txBody>
      </p:sp>
      <p:pic>
        <p:nvPicPr>
          <p:cNvPr id="128004" name="Picture 4">
            <a:extLst>
              <a:ext uri="{FF2B5EF4-FFF2-40B4-BE49-F238E27FC236}">
                <a16:creationId xmlns:a16="http://schemas.microsoft.com/office/drawing/2014/main" id="{8FFB30E6-8F08-1848-A38C-164EFDBA508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9990" y="1417638"/>
            <a:ext cx="4038600" cy="3390900"/>
          </a:xfrm>
          <a:noFill/>
          <a:ln/>
        </p:spPr>
      </p:pic>
    </p:spTree>
    <p:extLst>
      <p:ext uri="{BB962C8B-B14F-4D97-AF65-F5344CB8AC3E}">
        <p14:creationId xmlns:p14="http://schemas.microsoft.com/office/powerpoint/2010/main" val="57645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8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8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48838649-AE1F-C740-82B5-62D017D8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4036700-F68C-AC4E-9550-459B495E0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09033D84-34A8-4E44-84AB-B49DDBF3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D258E-2ED0-B148-B328-287C3A1C786D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5EEC8536-ADC3-9F4B-81F7-B1056BF2D7F7}"/>
              </a:ext>
            </a:extLst>
          </p:cNvPr>
          <p:cNvSpPr>
            <a:spLocks noGrp="1" noChangeArrowheads="1"/>
          </p:cNvSpPr>
          <p:nvPr>
            <p:ph type="title" sz="quarter" idx="4294967295"/>
          </p:nvPr>
        </p:nvSpPr>
        <p:spPr>
          <a:xfrm>
            <a:off x="590843" y="274638"/>
            <a:ext cx="10156874" cy="1143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Pdf’s come in various shapes here are examples</a:t>
            </a:r>
          </a:p>
        </p:txBody>
      </p:sp>
      <p:grpSp>
        <p:nvGrpSpPr>
          <p:cNvPr id="25622" name="Group 22">
            <a:extLst>
              <a:ext uri="{FF2B5EF4-FFF2-40B4-BE49-F238E27FC236}">
                <a16:creationId xmlns:a16="http://schemas.microsoft.com/office/drawing/2014/main" id="{5F36E576-43C3-1242-843B-C3B5883C5434}"/>
              </a:ext>
            </a:extLst>
          </p:cNvPr>
          <p:cNvGrpSpPr>
            <a:grpSpLocks/>
          </p:cNvGrpSpPr>
          <p:nvPr/>
        </p:nvGrpSpPr>
        <p:grpSpPr bwMode="auto">
          <a:xfrm>
            <a:off x="2428875" y="3963987"/>
            <a:ext cx="2284997" cy="2517436"/>
            <a:chOff x="2942" y="1871"/>
            <a:chExt cx="1032" cy="1138"/>
          </a:xfrm>
        </p:grpSpPr>
        <p:pic>
          <p:nvPicPr>
            <p:cNvPr id="25611" name="Picture 11">
              <a:extLst>
                <a:ext uri="{FF2B5EF4-FFF2-40B4-BE49-F238E27FC236}">
                  <a16:creationId xmlns:a16="http://schemas.microsoft.com/office/drawing/2014/main" id="{C8599C8B-C494-A942-8E43-8B04100A09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3" y="1871"/>
              <a:ext cx="898" cy="9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617" name="Text Box 17">
              <a:extLst>
                <a:ext uri="{FF2B5EF4-FFF2-40B4-BE49-F238E27FC236}">
                  <a16:creationId xmlns:a16="http://schemas.microsoft.com/office/drawing/2014/main" id="{577E6B4B-F430-8143-83AC-A700FC40D0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2" y="2800"/>
              <a:ext cx="1032" cy="2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Chi-square </a:t>
              </a:r>
              <a:r>
                <a:rPr lang="en-US" altLang="en-US" sz="2400" i="1"/>
                <a:t>pdf</a:t>
              </a:r>
            </a:p>
          </p:txBody>
        </p:sp>
      </p:grpSp>
      <p:grpSp>
        <p:nvGrpSpPr>
          <p:cNvPr id="25623" name="Group 23">
            <a:extLst>
              <a:ext uri="{FF2B5EF4-FFF2-40B4-BE49-F238E27FC236}">
                <a16:creationId xmlns:a16="http://schemas.microsoft.com/office/drawing/2014/main" id="{E887B448-7B5B-F74D-A3AA-BDF57D66F134}"/>
              </a:ext>
            </a:extLst>
          </p:cNvPr>
          <p:cNvGrpSpPr>
            <a:grpSpLocks/>
          </p:cNvGrpSpPr>
          <p:nvPr/>
        </p:nvGrpSpPr>
        <p:grpSpPr bwMode="auto">
          <a:xfrm>
            <a:off x="6565901" y="4433888"/>
            <a:ext cx="2555875" cy="2074523"/>
            <a:chOff x="4245" y="2100"/>
            <a:chExt cx="1155" cy="938"/>
          </a:xfrm>
        </p:grpSpPr>
        <p:pic>
          <p:nvPicPr>
            <p:cNvPr id="25613" name="Picture 13">
              <a:extLst>
                <a:ext uri="{FF2B5EF4-FFF2-40B4-BE49-F238E27FC236}">
                  <a16:creationId xmlns:a16="http://schemas.microsoft.com/office/drawing/2014/main" id="{5E92B77F-6A6A-D142-8612-D2DE6DE717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3" y="2100"/>
              <a:ext cx="1107" cy="6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618" name="Text Box 18">
              <a:extLst>
                <a:ext uri="{FF2B5EF4-FFF2-40B4-BE49-F238E27FC236}">
                  <a16:creationId xmlns:a16="http://schemas.microsoft.com/office/drawing/2014/main" id="{1A61298F-7BBD-954A-BEBE-71ED445D8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5" y="2829"/>
              <a:ext cx="672" cy="2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i="1" dirty="0"/>
                <a:t>Triangular </a:t>
              </a:r>
            </a:p>
          </p:txBody>
        </p:sp>
      </p:grpSp>
      <p:grpSp>
        <p:nvGrpSpPr>
          <p:cNvPr id="25642" name="Group 42">
            <a:extLst>
              <a:ext uri="{FF2B5EF4-FFF2-40B4-BE49-F238E27FC236}">
                <a16:creationId xmlns:a16="http://schemas.microsoft.com/office/drawing/2014/main" id="{32D370B8-E4ED-6E4F-9B3D-EFB7CFB63583}"/>
              </a:ext>
            </a:extLst>
          </p:cNvPr>
          <p:cNvGrpSpPr>
            <a:grpSpLocks/>
          </p:cNvGrpSpPr>
          <p:nvPr/>
        </p:nvGrpSpPr>
        <p:grpSpPr bwMode="auto">
          <a:xfrm>
            <a:off x="6996113" y="1654176"/>
            <a:ext cx="2678112" cy="2392026"/>
            <a:chOff x="1461" y="1961"/>
            <a:chExt cx="1210" cy="1081"/>
          </a:xfrm>
        </p:grpSpPr>
        <p:pic>
          <p:nvPicPr>
            <p:cNvPr id="25643" name="Picture 43">
              <a:extLst>
                <a:ext uri="{FF2B5EF4-FFF2-40B4-BE49-F238E27FC236}">
                  <a16:creationId xmlns:a16="http://schemas.microsoft.com/office/drawing/2014/main" id="{803A0598-208F-F845-B1D4-C0EBB99B0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61" y="1961"/>
              <a:ext cx="1210" cy="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644" name="Text Box 44">
              <a:extLst>
                <a:ext uri="{FF2B5EF4-FFF2-40B4-BE49-F238E27FC236}">
                  <a16:creationId xmlns:a16="http://schemas.microsoft.com/office/drawing/2014/main" id="{5924F623-436D-A246-B3A1-475CD64A6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3" y="2833"/>
              <a:ext cx="798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Normal </a:t>
              </a:r>
              <a:r>
                <a:rPr lang="en-US" altLang="en-US" sz="2400" i="1"/>
                <a:t>pdf</a:t>
              </a:r>
            </a:p>
          </p:txBody>
        </p:sp>
      </p:grpSp>
      <p:grpSp>
        <p:nvGrpSpPr>
          <p:cNvPr id="25620" name="Group 20">
            <a:extLst>
              <a:ext uri="{FF2B5EF4-FFF2-40B4-BE49-F238E27FC236}">
                <a16:creationId xmlns:a16="http://schemas.microsoft.com/office/drawing/2014/main" id="{55AA4CE1-415E-F844-8DE3-7C681F0AE45F}"/>
              </a:ext>
            </a:extLst>
          </p:cNvPr>
          <p:cNvGrpSpPr>
            <a:grpSpLocks/>
          </p:cNvGrpSpPr>
          <p:nvPr/>
        </p:nvGrpSpPr>
        <p:grpSpPr bwMode="auto">
          <a:xfrm>
            <a:off x="2697063" y="1654175"/>
            <a:ext cx="2039019" cy="2005624"/>
            <a:chOff x="552" y="2079"/>
            <a:chExt cx="647" cy="890"/>
          </a:xfrm>
        </p:grpSpPr>
        <p:pic>
          <p:nvPicPr>
            <p:cNvPr id="25608" name="Picture 8">
              <a:extLst>
                <a:ext uri="{FF2B5EF4-FFF2-40B4-BE49-F238E27FC236}">
                  <a16:creationId xmlns:a16="http://schemas.microsoft.com/office/drawing/2014/main" id="{04A7DBF2-54A3-E349-A262-1EEBC22A0D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" y="2079"/>
              <a:ext cx="647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5615" name="Text Box 15">
              <a:extLst>
                <a:ext uri="{FF2B5EF4-FFF2-40B4-BE49-F238E27FC236}">
                  <a16:creationId xmlns:a16="http://schemas.microsoft.com/office/drawing/2014/main" id="{082E7AA7-55E5-B74A-A4E2-B341D27F2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764"/>
              <a:ext cx="591" cy="2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 dirty="0"/>
                <a:t>Uniform </a:t>
              </a:r>
              <a:r>
                <a:rPr lang="en-US" altLang="en-US" sz="2400" i="1" dirty="0"/>
                <a:t>pdf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284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9DDCDB7D-5BD1-C947-932A-A826CBEF8AF1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9AA1D11-4DFC-1647-AEFC-44B8EFD674F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2D74A0F-0F1D-D14E-9B4F-3A9B6578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8727A-245E-1244-BCD9-024E11888F74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EA399DA8-4089-3F46-BBC4-9853B84371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796852"/>
            <a:ext cx="10972800" cy="1143000"/>
          </a:xfrm>
        </p:spPr>
        <p:txBody>
          <a:bodyPr/>
          <a:lstStyle/>
          <a:p>
            <a:r>
              <a:rPr lang="en-US" altLang="en-US" dirty="0"/>
              <a:t>Areas Under the Curve</a:t>
            </a:r>
          </a:p>
        </p:txBody>
      </p:sp>
      <p:sp>
        <p:nvSpPr>
          <p:cNvPr id="104463" name="Rectangle 15">
            <a:extLst>
              <a:ext uri="{FF2B5EF4-FFF2-40B4-BE49-F238E27FC236}">
                <a16:creationId xmlns:a16="http://schemas.microsoft.com/office/drawing/2014/main" id="{ED74F2DB-3A81-624B-90AF-2627251D445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9543" y="2016406"/>
            <a:ext cx="7891974" cy="3007678"/>
          </a:xfrm>
          <a:noFill/>
          <a:ln/>
        </p:spPr>
        <p:txBody>
          <a:bodyPr/>
          <a:lstStyle/>
          <a:p>
            <a:r>
              <a:rPr lang="en-US" altLang="en-US" sz="2800" i="1" dirty="0"/>
              <a:t>pdf </a:t>
            </a:r>
            <a:r>
              <a:rPr lang="en-US" altLang="en-US" sz="2800" dirty="0"/>
              <a:t>curves are analogous to probability histograms</a:t>
            </a:r>
          </a:p>
          <a:p>
            <a:r>
              <a:rPr lang="en-US" altLang="en-US" sz="2800" b="1" dirty="0"/>
              <a:t>AREAS = probabilities</a:t>
            </a:r>
          </a:p>
          <a:p>
            <a:r>
              <a:rPr lang="en-US" altLang="en-US" sz="2800" b="1" dirty="0"/>
              <a:t>Top figure</a:t>
            </a:r>
            <a:r>
              <a:rPr lang="en-US" altLang="en-US" sz="2800" dirty="0"/>
              <a:t>: histogram, ages </a:t>
            </a:r>
            <a:r>
              <a:rPr lang="en-US" altLang="en-US" sz="2800" dirty="0">
                <a:cs typeface="Arial" panose="020B0604020202020204" pitchFamily="34" charset="0"/>
              </a:rPr>
              <a:t>≤</a:t>
            </a:r>
            <a:r>
              <a:rPr lang="en-US" altLang="en-US" sz="2800" dirty="0"/>
              <a:t> 9 shaded </a:t>
            </a:r>
          </a:p>
          <a:p>
            <a:r>
              <a:rPr lang="en-US" altLang="en-US" sz="2800" b="1" dirty="0"/>
              <a:t>Bottom figure</a:t>
            </a:r>
            <a:r>
              <a:rPr lang="en-US" altLang="en-US" sz="2800" dirty="0"/>
              <a:t>: </a:t>
            </a:r>
            <a:r>
              <a:rPr lang="en-US" altLang="en-US" sz="2800" i="1" dirty="0"/>
              <a:t>pdf</a:t>
            </a:r>
            <a:r>
              <a:rPr lang="en-US" altLang="en-US" sz="2800" dirty="0"/>
              <a:t>,  ages </a:t>
            </a:r>
            <a:r>
              <a:rPr lang="en-US" altLang="en-US" sz="2800" dirty="0">
                <a:cs typeface="Arial" panose="020B0604020202020204" pitchFamily="34" charset="0"/>
              </a:rPr>
              <a:t>≤</a:t>
            </a:r>
            <a:r>
              <a:rPr lang="en-US" altLang="en-US" sz="2800" dirty="0"/>
              <a:t> 9 shaded</a:t>
            </a:r>
          </a:p>
          <a:p>
            <a:r>
              <a:rPr lang="en-US" altLang="en-US" sz="2800" dirty="0"/>
              <a:t>Both represent proportion of population </a:t>
            </a:r>
            <a:r>
              <a:rPr lang="en-US" altLang="en-US" sz="2800" dirty="0">
                <a:cs typeface="Arial" panose="020B0604020202020204" pitchFamily="34" charset="0"/>
              </a:rPr>
              <a:t>≤</a:t>
            </a:r>
            <a:r>
              <a:rPr lang="en-US" altLang="en-US" sz="2800" dirty="0"/>
              <a:t> 9 </a:t>
            </a:r>
          </a:p>
        </p:txBody>
      </p:sp>
      <p:pic>
        <p:nvPicPr>
          <p:cNvPr id="104464" name="Picture 16">
            <a:extLst>
              <a:ext uri="{FF2B5EF4-FFF2-40B4-BE49-F238E27FC236}">
                <a16:creationId xmlns:a16="http://schemas.microsoft.com/office/drawing/2014/main" id="{40C9025B-9850-5141-ADC5-35B2354AC364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26400" y="1093763"/>
            <a:ext cx="3043237" cy="2185988"/>
          </a:xfrm>
          <a:noFill/>
          <a:ln/>
        </p:spPr>
      </p:pic>
      <p:pic>
        <p:nvPicPr>
          <p:cNvPr id="104465" name="Picture 17">
            <a:extLst>
              <a:ext uri="{FF2B5EF4-FFF2-40B4-BE49-F238E27FC236}">
                <a16:creationId xmlns:a16="http://schemas.microsoft.com/office/drawing/2014/main" id="{B850F724-19D1-9743-997B-6A28C572D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711" y="3576662"/>
            <a:ext cx="3630613" cy="218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149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3E735-A473-7F47-AB17-91EB83D5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C7433-A51C-C543-8FDF-40A9CA5E5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DFE67-6881-3F4E-87C3-B9DF5953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9929-D6F0-B646-A0DF-16A4FC070263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4940828-32B7-B34B-B325-21DBBCDE4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0551" y="274638"/>
            <a:ext cx="8537575" cy="1143000"/>
          </a:xfrm>
        </p:spPr>
        <p:txBody>
          <a:bodyPr/>
          <a:lstStyle/>
          <a:p>
            <a:r>
              <a:rPr lang="en-US" altLang="en-US">
                <a:cs typeface="Arial" panose="020B0604020202020204" pitchFamily="34" charset="0"/>
              </a:rPr>
              <a:t>Properties of Probabilities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C5ED79B-899F-884F-8743-46A95D6C5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9" y="1737228"/>
            <a:ext cx="9519725" cy="3718692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Property 1.</a:t>
            </a:r>
            <a:r>
              <a:rPr lang="en-US" altLang="en-US" dirty="0"/>
              <a:t> Probabilities are always between 0 and 1</a:t>
            </a:r>
          </a:p>
          <a:p>
            <a:endParaRPr lang="en-US" altLang="en-US" dirty="0"/>
          </a:p>
          <a:p>
            <a:r>
              <a:rPr lang="en-US" altLang="en-US" b="1" dirty="0"/>
              <a:t>Property 2. </a:t>
            </a:r>
            <a:r>
              <a:rPr lang="en-US" altLang="en-US" dirty="0"/>
              <a:t>The </a:t>
            </a:r>
            <a:r>
              <a:rPr lang="en-US" altLang="en-US" b="1" dirty="0"/>
              <a:t>sample space (S) </a:t>
            </a:r>
            <a:r>
              <a:rPr lang="en-US" altLang="en-US" dirty="0"/>
              <a:t>for a random variable represents all possible outcomes and must sum to 1 exactly.</a:t>
            </a:r>
          </a:p>
          <a:p>
            <a:endParaRPr lang="en-US" altLang="en-US" dirty="0"/>
          </a:p>
          <a:p>
            <a:r>
              <a:rPr lang="en-US" altLang="en-US" b="1" dirty="0"/>
              <a:t>Property 3. </a:t>
            </a:r>
            <a:r>
              <a:rPr lang="en-US" altLang="en-US" dirty="0"/>
              <a:t>The probability of the </a:t>
            </a:r>
            <a:r>
              <a:rPr lang="en-US" altLang="en-US" b="1" dirty="0"/>
              <a:t>complement</a:t>
            </a:r>
            <a:r>
              <a:rPr lang="en-US" altLang="en-US" dirty="0"/>
              <a:t> of an event (“</a:t>
            </a:r>
            <a:r>
              <a:rPr lang="en-US" altLang="en-US" i="1" dirty="0"/>
              <a:t>NOT </a:t>
            </a:r>
            <a:r>
              <a:rPr lang="en-US" altLang="en-US" dirty="0"/>
              <a:t>the event”)= 1 MINUS the probability of the event. </a:t>
            </a:r>
          </a:p>
          <a:p>
            <a:endParaRPr lang="en-US" altLang="en-US" dirty="0"/>
          </a:p>
          <a:p>
            <a:r>
              <a:rPr lang="en-US" altLang="en-US" b="1" dirty="0"/>
              <a:t>Property 4. </a:t>
            </a:r>
            <a:r>
              <a:rPr lang="en-US" altLang="en-US" dirty="0"/>
              <a:t>Probabilities of </a:t>
            </a:r>
            <a:r>
              <a:rPr lang="en-US" altLang="en-US" b="1" dirty="0"/>
              <a:t>disjoint events </a:t>
            </a:r>
            <a:r>
              <a:rPr lang="en-US" altLang="en-US" dirty="0"/>
              <a:t>can be added.</a:t>
            </a:r>
          </a:p>
        </p:txBody>
      </p:sp>
    </p:spTree>
    <p:extLst>
      <p:ext uri="{BB962C8B-B14F-4D97-AF65-F5344CB8AC3E}">
        <p14:creationId xmlns:p14="http://schemas.microsoft.com/office/powerpoint/2010/main" val="122263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E4B83-A3A0-B64D-8540-B079134C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96FF-0221-F64D-96ED-BF0F23D3B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5F80D-9530-724F-A99D-639EBC8C9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96C0-C080-AF45-849E-1AB78910A316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D5CE95A-43A4-904B-A75D-0E6E40125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cs typeface="Arial" panose="020B0604020202020204" pitchFamily="34" charset="0"/>
              </a:rPr>
              <a:t>Properties of Probabilities</a:t>
            </a:r>
            <a:r>
              <a:rPr lang="en-US" altLang="en-US" sz="4000">
                <a:cs typeface="Arial" panose="020B0604020202020204" pitchFamily="34" charset="0"/>
              </a:rPr>
              <a:t> </a:t>
            </a:r>
            <a:br>
              <a:rPr lang="en-US" altLang="en-US" sz="4000">
                <a:cs typeface="Arial" panose="020B0604020202020204" pitchFamily="34" charset="0"/>
              </a:rPr>
            </a:br>
            <a:r>
              <a:rPr lang="en-US" altLang="en-US" sz="3200">
                <a:cs typeface="Arial" panose="020B0604020202020204" pitchFamily="34" charset="0"/>
              </a:rPr>
              <a:t>In symbols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797159EC-80CD-D342-9A5D-E2AECCA82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8136" y="1606551"/>
            <a:ext cx="10222992" cy="46005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Property 1.</a:t>
            </a:r>
            <a:r>
              <a:rPr lang="en-US" altLang="en-US" dirty="0"/>
              <a:t> 0 </a:t>
            </a:r>
            <a:r>
              <a:rPr lang="en-US" altLang="en-US" dirty="0">
                <a:cs typeface="Arial" panose="020B0604020202020204" pitchFamily="34" charset="0"/>
              </a:rPr>
              <a:t>≤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A</a:t>
            </a:r>
            <a:r>
              <a:rPr lang="en-US" altLang="en-US" dirty="0">
                <a:cs typeface="Arial" panose="020B0604020202020204" pitchFamily="34" charset="0"/>
              </a:rPr>
              <a:t>) ≤ 1</a:t>
            </a:r>
          </a:p>
          <a:p>
            <a:pPr>
              <a:lnSpc>
                <a:spcPct val="90000"/>
              </a:lnSpc>
            </a:pPr>
            <a:endParaRPr lang="en-US" altLang="en-US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en-US" b="1" dirty="0"/>
              <a:t>Property 2.  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S</a:t>
            </a:r>
            <a:r>
              <a:rPr lang="en-US" altLang="en-US" dirty="0">
                <a:cs typeface="Arial" panose="020B0604020202020204" pitchFamily="34" charset="0"/>
              </a:rPr>
              <a:t>) = 1</a:t>
            </a:r>
            <a:br>
              <a:rPr lang="en-US" altLang="en-US" dirty="0">
                <a:cs typeface="Arial" panose="020B0604020202020204" pitchFamily="34" charset="0"/>
              </a:rPr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Property 3.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b="1" i="1" dirty="0" err="1">
                <a:cs typeface="Arial" panose="020B0604020202020204" pitchFamily="34" charset="0"/>
              </a:rPr>
              <a:t>Ā</a:t>
            </a:r>
            <a:r>
              <a:rPr lang="en-US" altLang="en-US" dirty="0">
                <a:cs typeface="Arial" panose="020B0604020202020204" pitchFamily="34" charset="0"/>
              </a:rPr>
              <a:t>) = 1 –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A</a:t>
            </a:r>
            <a:r>
              <a:rPr lang="en-US" altLang="en-US" dirty="0">
                <a:cs typeface="Arial" panose="020B0604020202020204" pitchFamily="34" charset="0"/>
              </a:rPr>
              <a:t>), </a:t>
            </a: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i="1" dirty="0" err="1"/>
              <a:t>Ā</a:t>
            </a:r>
            <a:r>
              <a:rPr lang="en-US" altLang="en-US" i="1" dirty="0"/>
              <a:t> </a:t>
            </a:r>
            <a:r>
              <a:rPr lang="en-US" altLang="en-US" dirty="0"/>
              <a:t>represents the complement of </a:t>
            </a:r>
            <a:r>
              <a:rPr lang="en-US" altLang="en-US" i="1" dirty="0"/>
              <a:t>A</a:t>
            </a:r>
            <a:br>
              <a:rPr lang="en-US" altLang="en-US" i="1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/>
              <a:t>Property 4.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A </a:t>
            </a:r>
            <a:r>
              <a:rPr lang="en-US" altLang="en-US" dirty="0">
                <a:cs typeface="Arial" panose="020B0604020202020204" pitchFamily="34" charset="0"/>
              </a:rPr>
              <a:t>or </a:t>
            </a:r>
            <a:r>
              <a:rPr lang="en-US" altLang="en-US" i="1" dirty="0">
                <a:cs typeface="Arial" panose="020B0604020202020204" pitchFamily="34" charset="0"/>
              </a:rPr>
              <a:t>B</a:t>
            </a:r>
            <a:r>
              <a:rPr lang="en-US" altLang="en-US" dirty="0">
                <a:cs typeface="Arial" panose="020B0604020202020204" pitchFamily="34" charset="0"/>
              </a:rPr>
              <a:t>) =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A</a:t>
            </a:r>
            <a:r>
              <a:rPr lang="en-US" altLang="en-US" dirty="0">
                <a:cs typeface="Arial" panose="020B0604020202020204" pitchFamily="34" charset="0"/>
              </a:rPr>
              <a:t>) + </a:t>
            </a:r>
            <a:r>
              <a:rPr lang="en-US" altLang="en-US" dirty="0" err="1">
                <a:cs typeface="Arial" panose="020B0604020202020204" pitchFamily="34" charset="0"/>
              </a:rPr>
              <a:t>Pr</a:t>
            </a:r>
            <a:r>
              <a:rPr lang="en-US" altLang="en-US" dirty="0">
                <a:cs typeface="Arial" panose="020B0604020202020204" pitchFamily="34" charset="0"/>
              </a:rPr>
              <a:t>(</a:t>
            </a:r>
            <a:r>
              <a:rPr lang="en-US" altLang="en-US" i="1" dirty="0">
                <a:cs typeface="Arial" panose="020B0604020202020204" pitchFamily="34" charset="0"/>
              </a:rPr>
              <a:t>B</a:t>
            </a:r>
            <a:r>
              <a:rPr lang="en-US" altLang="en-US" dirty="0">
                <a:cs typeface="Arial" panose="020B0604020202020204" pitchFamily="34" charset="0"/>
              </a:rPr>
              <a:t>) </a:t>
            </a: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dirty="0">
                <a:cs typeface="Arial" panose="020B0604020202020204" pitchFamily="34" charset="0"/>
              </a:rPr>
              <a:t>when </a:t>
            </a:r>
            <a:r>
              <a:rPr lang="en-US" altLang="en-US" b="1" i="1" dirty="0"/>
              <a:t>A </a:t>
            </a:r>
            <a:r>
              <a:rPr lang="en-US" altLang="en-US" b="1" dirty="0"/>
              <a:t>and </a:t>
            </a:r>
            <a:r>
              <a:rPr lang="en-US" altLang="en-US" b="1" i="1" dirty="0"/>
              <a:t>B </a:t>
            </a:r>
            <a:r>
              <a:rPr lang="en-US" altLang="en-US" b="1" dirty="0"/>
              <a:t>are disjoint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6FDD28F-7D79-F840-85AD-25D4FE9F6DAE}"/>
              </a:ext>
            </a:extLst>
          </p:cNvPr>
          <p:cNvSpPr/>
          <p:nvPr/>
        </p:nvSpPr>
        <p:spPr>
          <a:xfrm>
            <a:off x="7663426" y="1237957"/>
            <a:ext cx="3154629" cy="2954215"/>
          </a:xfrm>
          <a:custGeom>
            <a:avLst/>
            <a:gdLst>
              <a:gd name="connsiteX0" fmla="*/ 1311762 w 3154629"/>
              <a:gd name="connsiteY0" fmla="*/ 0 h 2954215"/>
              <a:gd name="connsiteX1" fmla="*/ 917866 w 3154629"/>
              <a:gd name="connsiteY1" fmla="*/ 84406 h 2954215"/>
              <a:gd name="connsiteX2" fmla="*/ 706851 w 3154629"/>
              <a:gd name="connsiteY2" fmla="*/ 211015 h 2954215"/>
              <a:gd name="connsiteX3" fmla="*/ 467700 w 3154629"/>
              <a:gd name="connsiteY3" fmla="*/ 351692 h 2954215"/>
              <a:gd name="connsiteX4" fmla="*/ 397362 w 3154629"/>
              <a:gd name="connsiteY4" fmla="*/ 422031 h 2954215"/>
              <a:gd name="connsiteX5" fmla="*/ 186346 w 3154629"/>
              <a:gd name="connsiteY5" fmla="*/ 633046 h 2954215"/>
              <a:gd name="connsiteX6" fmla="*/ 158211 w 3154629"/>
              <a:gd name="connsiteY6" fmla="*/ 689317 h 2954215"/>
              <a:gd name="connsiteX7" fmla="*/ 101940 w 3154629"/>
              <a:gd name="connsiteY7" fmla="*/ 773723 h 2954215"/>
              <a:gd name="connsiteX8" fmla="*/ 17534 w 3154629"/>
              <a:gd name="connsiteY8" fmla="*/ 956603 h 2954215"/>
              <a:gd name="connsiteX9" fmla="*/ 17534 w 3154629"/>
              <a:gd name="connsiteY9" fmla="*/ 1533378 h 2954215"/>
              <a:gd name="connsiteX10" fmla="*/ 31602 w 3154629"/>
              <a:gd name="connsiteY10" fmla="*/ 1617785 h 2954215"/>
              <a:gd name="connsiteX11" fmla="*/ 73805 w 3154629"/>
              <a:gd name="connsiteY11" fmla="*/ 1772529 h 2954215"/>
              <a:gd name="connsiteX12" fmla="*/ 87872 w 3154629"/>
              <a:gd name="connsiteY12" fmla="*/ 1814732 h 2954215"/>
              <a:gd name="connsiteX13" fmla="*/ 116008 w 3154629"/>
              <a:gd name="connsiteY13" fmla="*/ 1871003 h 2954215"/>
              <a:gd name="connsiteX14" fmla="*/ 130076 w 3154629"/>
              <a:gd name="connsiteY14" fmla="*/ 1913206 h 2954215"/>
              <a:gd name="connsiteX15" fmla="*/ 158211 w 3154629"/>
              <a:gd name="connsiteY15" fmla="*/ 1969477 h 2954215"/>
              <a:gd name="connsiteX16" fmla="*/ 172279 w 3154629"/>
              <a:gd name="connsiteY16" fmla="*/ 2011680 h 2954215"/>
              <a:gd name="connsiteX17" fmla="*/ 298888 w 3154629"/>
              <a:gd name="connsiteY17" fmla="*/ 2166425 h 2954215"/>
              <a:gd name="connsiteX18" fmla="*/ 425497 w 3154629"/>
              <a:gd name="connsiteY18" fmla="*/ 2194560 h 2954215"/>
              <a:gd name="connsiteX19" fmla="*/ 481768 w 3154629"/>
              <a:gd name="connsiteY19" fmla="*/ 2208628 h 2954215"/>
              <a:gd name="connsiteX20" fmla="*/ 1255491 w 3154629"/>
              <a:gd name="connsiteY20" fmla="*/ 2222695 h 2954215"/>
              <a:gd name="connsiteX21" fmla="*/ 1353965 w 3154629"/>
              <a:gd name="connsiteY21" fmla="*/ 2264898 h 2954215"/>
              <a:gd name="connsiteX22" fmla="*/ 1466506 w 3154629"/>
              <a:gd name="connsiteY22" fmla="*/ 2391508 h 2954215"/>
              <a:gd name="connsiteX23" fmla="*/ 1536845 w 3154629"/>
              <a:gd name="connsiteY23" fmla="*/ 2475914 h 2954215"/>
              <a:gd name="connsiteX24" fmla="*/ 1621251 w 3154629"/>
              <a:gd name="connsiteY24" fmla="*/ 2644726 h 2954215"/>
              <a:gd name="connsiteX25" fmla="*/ 1649386 w 3154629"/>
              <a:gd name="connsiteY25" fmla="*/ 2700997 h 2954215"/>
              <a:gd name="connsiteX26" fmla="*/ 1761928 w 3154629"/>
              <a:gd name="connsiteY26" fmla="*/ 2883877 h 2954215"/>
              <a:gd name="connsiteX27" fmla="*/ 1874469 w 3154629"/>
              <a:gd name="connsiteY27" fmla="*/ 2926080 h 2954215"/>
              <a:gd name="connsiteX28" fmla="*/ 2085485 w 3154629"/>
              <a:gd name="connsiteY28" fmla="*/ 2954215 h 2954215"/>
              <a:gd name="connsiteX29" fmla="*/ 2887343 w 3154629"/>
              <a:gd name="connsiteY29" fmla="*/ 2940148 h 2954215"/>
              <a:gd name="connsiteX30" fmla="*/ 2957682 w 3154629"/>
              <a:gd name="connsiteY30" fmla="*/ 2926080 h 2954215"/>
              <a:gd name="connsiteX31" fmla="*/ 3042088 w 3154629"/>
              <a:gd name="connsiteY31" fmla="*/ 2869809 h 2954215"/>
              <a:gd name="connsiteX32" fmla="*/ 3154629 w 3154629"/>
              <a:gd name="connsiteY32" fmla="*/ 2771335 h 2954215"/>
              <a:gd name="connsiteX33" fmla="*/ 3140562 w 3154629"/>
              <a:gd name="connsiteY33" fmla="*/ 1814732 h 2954215"/>
              <a:gd name="connsiteX34" fmla="*/ 3112426 w 3154629"/>
              <a:gd name="connsiteY34" fmla="*/ 1674055 h 2954215"/>
              <a:gd name="connsiteX35" fmla="*/ 3084291 w 3154629"/>
              <a:gd name="connsiteY35" fmla="*/ 1505243 h 2954215"/>
              <a:gd name="connsiteX36" fmla="*/ 3042088 w 3154629"/>
              <a:gd name="connsiteY36" fmla="*/ 1378634 h 2954215"/>
              <a:gd name="connsiteX37" fmla="*/ 2999885 w 3154629"/>
              <a:gd name="connsiteY37" fmla="*/ 1280160 h 2954215"/>
              <a:gd name="connsiteX38" fmla="*/ 2971749 w 3154629"/>
              <a:gd name="connsiteY38" fmla="*/ 1252025 h 2954215"/>
              <a:gd name="connsiteX39" fmla="*/ 2901411 w 3154629"/>
              <a:gd name="connsiteY39" fmla="*/ 1139483 h 2954215"/>
              <a:gd name="connsiteX40" fmla="*/ 2845140 w 3154629"/>
              <a:gd name="connsiteY40" fmla="*/ 1026941 h 2954215"/>
              <a:gd name="connsiteX41" fmla="*/ 2831072 w 3154629"/>
              <a:gd name="connsiteY41" fmla="*/ 970671 h 2954215"/>
              <a:gd name="connsiteX42" fmla="*/ 2802937 w 3154629"/>
              <a:gd name="connsiteY42" fmla="*/ 900332 h 2954215"/>
              <a:gd name="connsiteX43" fmla="*/ 2760734 w 3154629"/>
              <a:gd name="connsiteY43" fmla="*/ 801858 h 2954215"/>
              <a:gd name="connsiteX44" fmla="*/ 2732599 w 3154629"/>
              <a:gd name="connsiteY44" fmla="*/ 689317 h 2954215"/>
              <a:gd name="connsiteX45" fmla="*/ 2704463 w 3154629"/>
              <a:gd name="connsiteY45" fmla="*/ 647114 h 2954215"/>
              <a:gd name="connsiteX46" fmla="*/ 2662260 w 3154629"/>
              <a:gd name="connsiteY46" fmla="*/ 576775 h 2954215"/>
              <a:gd name="connsiteX47" fmla="*/ 2620057 w 3154629"/>
              <a:gd name="connsiteY47" fmla="*/ 436098 h 2954215"/>
              <a:gd name="connsiteX48" fmla="*/ 2479380 w 3154629"/>
              <a:gd name="connsiteY48" fmla="*/ 267286 h 2954215"/>
              <a:gd name="connsiteX49" fmla="*/ 2366839 w 3154629"/>
              <a:gd name="connsiteY49" fmla="*/ 211015 h 2954215"/>
              <a:gd name="connsiteX50" fmla="*/ 2310568 w 3154629"/>
              <a:gd name="connsiteY50" fmla="*/ 182880 h 2954215"/>
              <a:gd name="connsiteX51" fmla="*/ 2226162 w 3154629"/>
              <a:gd name="connsiteY51" fmla="*/ 168812 h 2954215"/>
              <a:gd name="connsiteX52" fmla="*/ 2099552 w 3154629"/>
              <a:gd name="connsiteY52" fmla="*/ 140677 h 2954215"/>
              <a:gd name="connsiteX53" fmla="*/ 2001079 w 3154629"/>
              <a:gd name="connsiteY53" fmla="*/ 98474 h 2954215"/>
              <a:gd name="connsiteX54" fmla="*/ 1874469 w 3154629"/>
              <a:gd name="connsiteY54" fmla="*/ 42203 h 2954215"/>
              <a:gd name="connsiteX55" fmla="*/ 1241423 w 3154629"/>
              <a:gd name="connsiteY55" fmla="*/ 28135 h 295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3154629" h="2954215">
                <a:moveTo>
                  <a:pt x="1311762" y="0"/>
                </a:moveTo>
                <a:cubicBezTo>
                  <a:pt x="1233803" y="12993"/>
                  <a:pt x="1012606" y="38931"/>
                  <a:pt x="917866" y="84406"/>
                </a:cubicBezTo>
                <a:cubicBezTo>
                  <a:pt x="843916" y="119902"/>
                  <a:pt x="777383" y="169137"/>
                  <a:pt x="706851" y="211015"/>
                </a:cubicBezTo>
                <a:cubicBezTo>
                  <a:pt x="627326" y="258233"/>
                  <a:pt x="533097" y="286294"/>
                  <a:pt x="467700" y="351692"/>
                </a:cubicBezTo>
                <a:cubicBezTo>
                  <a:pt x="444254" y="375138"/>
                  <a:pt x="421726" y="399541"/>
                  <a:pt x="397362" y="422031"/>
                </a:cubicBezTo>
                <a:cubicBezTo>
                  <a:pt x="290683" y="520505"/>
                  <a:pt x="274269" y="515816"/>
                  <a:pt x="186346" y="633046"/>
                </a:cubicBezTo>
                <a:cubicBezTo>
                  <a:pt x="173763" y="649823"/>
                  <a:pt x="169000" y="671335"/>
                  <a:pt x="158211" y="689317"/>
                </a:cubicBezTo>
                <a:cubicBezTo>
                  <a:pt x="140814" y="718313"/>
                  <a:pt x="118978" y="744515"/>
                  <a:pt x="101940" y="773723"/>
                </a:cubicBezTo>
                <a:cubicBezTo>
                  <a:pt x="70616" y="827422"/>
                  <a:pt x="41646" y="900341"/>
                  <a:pt x="17534" y="956603"/>
                </a:cubicBezTo>
                <a:cubicBezTo>
                  <a:pt x="-6873" y="1225072"/>
                  <a:pt x="-4795" y="1131468"/>
                  <a:pt x="17534" y="1533378"/>
                </a:cubicBezTo>
                <a:cubicBezTo>
                  <a:pt x="19116" y="1561858"/>
                  <a:pt x="26500" y="1589721"/>
                  <a:pt x="31602" y="1617785"/>
                </a:cubicBezTo>
                <a:cubicBezTo>
                  <a:pt x="47510" y="1705283"/>
                  <a:pt x="43038" y="1680227"/>
                  <a:pt x="73805" y="1772529"/>
                </a:cubicBezTo>
                <a:cubicBezTo>
                  <a:pt x="78494" y="1786597"/>
                  <a:pt x="81240" y="1801469"/>
                  <a:pt x="87872" y="1814732"/>
                </a:cubicBezTo>
                <a:cubicBezTo>
                  <a:pt x="97251" y="1833489"/>
                  <a:pt x="107747" y="1851728"/>
                  <a:pt x="116008" y="1871003"/>
                </a:cubicBezTo>
                <a:cubicBezTo>
                  <a:pt x="121849" y="1884633"/>
                  <a:pt x="124235" y="1899576"/>
                  <a:pt x="130076" y="1913206"/>
                </a:cubicBezTo>
                <a:cubicBezTo>
                  <a:pt x="138337" y="1932481"/>
                  <a:pt x="149950" y="1950202"/>
                  <a:pt x="158211" y="1969477"/>
                </a:cubicBezTo>
                <a:cubicBezTo>
                  <a:pt x="164052" y="1983107"/>
                  <a:pt x="165078" y="1998717"/>
                  <a:pt x="172279" y="2011680"/>
                </a:cubicBezTo>
                <a:cubicBezTo>
                  <a:pt x="185984" y="2036350"/>
                  <a:pt x="264413" y="2157807"/>
                  <a:pt x="298888" y="2166425"/>
                </a:cubicBezTo>
                <a:cubicBezTo>
                  <a:pt x="436158" y="2200741"/>
                  <a:pt x="264716" y="2158830"/>
                  <a:pt x="425497" y="2194560"/>
                </a:cubicBezTo>
                <a:cubicBezTo>
                  <a:pt x="444371" y="2198754"/>
                  <a:pt x="462445" y="2207973"/>
                  <a:pt x="481768" y="2208628"/>
                </a:cubicBezTo>
                <a:cubicBezTo>
                  <a:pt x="739570" y="2217367"/>
                  <a:pt x="997583" y="2218006"/>
                  <a:pt x="1255491" y="2222695"/>
                </a:cubicBezTo>
                <a:cubicBezTo>
                  <a:pt x="1286857" y="2233151"/>
                  <a:pt x="1327892" y="2244619"/>
                  <a:pt x="1353965" y="2264898"/>
                </a:cubicBezTo>
                <a:cubicBezTo>
                  <a:pt x="1415477" y="2312741"/>
                  <a:pt x="1422372" y="2336341"/>
                  <a:pt x="1466506" y="2391508"/>
                </a:cubicBezTo>
                <a:cubicBezTo>
                  <a:pt x="1489385" y="2420107"/>
                  <a:pt x="1515304" y="2446295"/>
                  <a:pt x="1536845" y="2475914"/>
                </a:cubicBezTo>
                <a:cubicBezTo>
                  <a:pt x="1582560" y="2538772"/>
                  <a:pt x="1587688" y="2570886"/>
                  <a:pt x="1621251" y="2644726"/>
                </a:cubicBezTo>
                <a:cubicBezTo>
                  <a:pt x="1629929" y="2663817"/>
                  <a:pt x="1640869" y="2681834"/>
                  <a:pt x="1649386" y="2700997"/>
                </a:cubicBezTo>
                <a:cubicBezTo>
                  <a:pt x="1673607" y="2755495"/>
                  <a:pt x="1701980" y="2861397"/>
                  <a:pt x="1761928" y="2883877"/>
                </a:cubicBezTo>
                <a:cubicBezTo>
                  <a:pt x="1799442" y="2897945"/>
                  <a:pt x="1835757" y="2915757"/>
                  <a:pt x="1874469" y="2926080"/>
                </a:cubicBezTo>
                <a:cubicBezTo>
                  <a:pt x="1891607" y="2930650"/>
                  <a:pt x="2075450" y="2952961"/>
                  <a:pt x="2085485" y="2954215"/>
                </a:cubicBezTo>
                <a:lnTo>
                  <a:pt x="2887343" y="2940148"/>
                </a:lnTo>
                <a:cubicBezTo>
                  <a:pt x="2911241" y="2939377"/>
                  <a:pt x="2935915" y="2935974"/>
                  <a:pt x="2957682" y="2926080"/>
                </a:cubicBezTo>
                <a:cubicBezTo>
                  <a:pt x="2988466" y="2912087"/>
                  <a:pt x="3015036" y="2890098"/>
                  <a:pt x="3042088" y="2869809"/>
                </a:cubicBezTo>
                <a:cubicBezTo>
                  <a:pt x="3119580" y="2811690"/>
                  <a:pt x="3081780" y="2844185"/>
                  <a:pt x="3154629" y="2771335"/>
                </a:cubicBezTo>
                <a:cubicBezTo>
                  <a:pt x="3149940" y="2452467"/>
                  <a:pt x="3149178" y="2133518"/>
                  <a:pt x="3140562" y="1814732"/>
                </a:cubicBezTo>
                <a:cubicBezTo>
                  <a:pt x="3138895" y="1753065"/>
                  <a:pt x="3122851" y="1729657"/>
                  <a:pt x="3112426" y="1674055"/>
                </a:cubicBezTo>
                <a:cubicBezTo>
                  <a:pt x="3101913" y="1617985"/>
                  <a:pt x="3102331" y="1559362"/>
                  <a:pt x="3084291" y="1505243"/>
                </a:cubicBezTo>
                <a:lnTo>
                  <a:pt x="3042088" y="1378634"/>
                </a:lnTo>
                <a:cubicBezTo>
                  <a:pt x="3029584" y="1341123"/>
                  <a:pt x="3023061" y="1314924"/>
                  <a:pt x="2999885" y="1280160"/>
                </a:cubicBezTo>
                <a:cubicBezTo>
                  <a:pt x="2992528" y="1269124"/>
                  <a:pt x="2979355" y="1262891"/>
                  <a:pt x="2971749" y="1252025"/>
                </a:cubicBezTo>
                <a:cubicBezTo>
                  <a:pt x="2946380" y="1215784"/>
                  <a:pt x="2921195" y="1179051"/>
                  <a:pt x="2901411" y="1139483"/>
                </a:cubicBezTo>
                <a:cubicBezTo>
                  <a:pt x="2882654" y="1101969"/>
                  <a:pt x="2855313" y="1067631"/>
                  <a:pt x="2845140" y="1026941"/>
                </a:cubicBezTo>
                <a:cubicBezTo>
                  <a:pt x="2840451" y="1008184"/>
                  <a:pt x="2837186" y="989013"/>
                  <a:pt x="2831072" y="970671"/>
                </a:cubicBezTo>
                <a:cubicBezTo>
                  <a:pt x="2823086" y="946714"/>
                  <a:pt x="2811804" y="923977"/>
                  <a:pt x="2802937" y="900332"/>
                </a:cubicBezTo>
                <a:cubicBezTo>
                  <a:pt x="2771890" y="817539"/>
                  <a:pt x="2810134" y="900660"/>
                  <a:pt x="2760734" y="801858"/>
                </a:cubicBezTo>
                <a:cubicBezTo>
                  <a:pt x="2755385" y="775112"/>
                  <a:pt x="2747016" y="718151"/>
                  <a:pt x="2732599" y="689317"/>
                </a:cubicBezTo>
                <a:cubicBezTo>
                  <a:pt x="2725038" y="674195"/>
                  <a:pt x="2713842" y="661182"/>
                  <a:pt x="2704463" y="647114"/>
                </a:cubicBezTo>
                <a:cubicBezTo>
                  <a:pt x="2643033" y="462816"/>
                  <a:pt x="2739494" y="731239"/>
                  <a:pt x="2662260" y="576775"/>
                </a:cubicBezTo>
                <a:cubicBezTo>
                  <a:pt x="2622941" y="498139"/>
                  <a:pt x="2682005" y="529020"/>
                  <a:pt x="2620057" y="436098"/>
                </a:cubicBezTo>
                <a:cubicBezTo>
                  <a:pt x="2572399" y="364612"/>
                  <a:pt x="2551590" y="321443"/>
                  <a:pt x="2479380" y="267286"/>
                </a:cubicBezTo>
                <a:cubicBezTo>
                  <a:pt x="2375703" y="189528"/>
                  <a:pt x="2472193" y="250523"/>
                  <a:pt x="2366839" y="211015"/>
                </a:cubicBezTo>
                <a:cubicBezTo>
                  <a:pt x="2347203" y="203652"/>
                  <a:pt x="2330654" y="188906"/>
                  <a:pt x="2310568" y="182880"/>
                </a:cubicBezTo>
                <a:cubicBezTo>
                  <a:pt x="2283247" y="174684"/>
                  <a:pt x="2254225" y="173914"/>
                  <a:pt x="2226162" y="168812"/>
                </a:cubicBezTo>
                <a:cubicBezTo>
                  <a:pt x="2186264" y="161558"/>
                  <a:pt x="2139075" y="151969"/>
                  <a:pt x="2099552" y="140677"/>
                </a:cubicBezTo>
                <a:cubicBezTo>
                  <a:pt x="2060098" y="129404"/>
                  <a:pt x="2038590" y="119909"/>
                  <a:pt x="2001079" y="98474"/>
                </a:cubicBezTo>
                <a:cubicBezTo>
                  <a:pt x="1955005" y="72145"/>
                  <a:pt x="1938421" y="43656"/>
                  <a:pt x="1874469" y="42203"/>
                </a:cubicBezTo>
                <a:cubicBezTo>
                  <a:pt x="1663456" y="37407"/>
                  <a:pt x="1452490" y="28135"/>
                  <a:pt x="1241423" y="2813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60234-9E17-F941-BF16-D1E881855D1E}"/>
              </a:ext>
            </a:extLst>
          </p:cNvPr>
          <p:cNvSpPr txBox="1"/>
          <p:nvPr/>
        </p:nvSpPr>
        <p:spPr>
          <a:xfrm>
            <a:off x="8595360" y="236337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</a:t>
            </a:r>
            <a:r>
              <a:rPr lang="en-US" dirty="0"/>
              <a:t> (sample space)</a:t>
            </a:r>
          </a:p>
        </p:txBody>
      </p:sp>
    </p:spTree>
    <p:extLst>
      <p:ext uri="{BB962C8B-B14F-4D97-AF65-F5344CB8AC3E}">
        <p14:creationId xmlns:p14="http://schemas.microsoft.com/office/powerpoint/2010/main" val="1136895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FD8AF0FB-D604-8949-BBA4-1FA6059760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6FAF55A-1913-7740-837E-A78F32B12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9B06650-924D-9643-A11E-9FD382C8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86D9-BD8E-7C41-8B0C-41F627B7849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51F41BC5-230F-6E41-9AF7-80EDF222B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2000" y="342739"/>
            <a:ext cx="9550400" cy="1143000"/>
          </a:xfrm>
        </p:spPr>
        <p:txBody>
          <a:bodyPr/>
          <a:lstStyle/>
          <a:p>
            <a:r>
              <a:rPr lang="en-US" altLang="en-US" sz="4800" dirty="0"/>
              <a:t>Properties 1 &amp; 2 Illustrated</a:t>
            </a:r>
            <a:endParaRPr lang="en-US" altLang="en-US" sz="4800" i="1" dirty="0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C79D50A-4DDD-4C4A-BE11-2F3C582B931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99100" y="1550989"/>
            <a:ext cx="6317762" cy="4778375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/>
              <a:t>Property 1.</a:t>
            </a:r>
            <a:r>
              <a:rPr lang="en-US" altLang="en-US" dirty="0"/>
              <a:t> Note that all probabilities are between 0 and 1.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b="1" dirty="0"/>
              <a:t>Property 2. </a:t>
            </a:r>
            <a:r>
              <a:rPr lang="en-US" altLang="en-US" dirty="0"/>
              <a:t>The sample space sums to 1:</a:t>
            </a:r>
            <a:br>
              <a:rPr lang="en-US" altLang="en-US" dirty="0"/>
            </a:br>
            <a:r>
              <a:rPr lang="en-US" altLang="en-US" dirty="0" err="1"/>
              <a:t>Pr</a:t>
            </a:r>
            <a:r>
              <a:rPr lang="en-US" altLang="en-US" dirty="0"/>
              <a:t>(S) = .0039 + .0469 + .2109 + .4219 + .3164 = 1</a:t>
            </a:r>
          </a:p>
        </p:txBody>
      </p:sp>
      <p:pic>
        <p:nvPicPr>
          <p:cNvPr id="16396" name="Picture 12">
            <a:extLst>
              <a:ext uri="{FF2B5EF4-FFF2-40B4-BE49-F238E27FC236}">
                <a16:creationId xmlns:a16="http://schemas.microsoft.com/office/drawing/2014/main" id="{E6DCD853-DE16-594E-9F49-F0E0AAA1F3D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614" y="2701925"/>
            <a:ext cx="3406775" cy="3055938"/>
          </a:xfrm>
          <a:noFill/>
          <a:ln/>
        </p:spPr>
      </p:pic>
      <p:sp>
        <p:nvSpPr>
          <p:cNvPr id="16397" name="Text Box 13">
            <a:extLst>
              <a:ext uri="{FF2B5EF4-FFF2-40B4-BE49-F238E27FC236}">
                <a16:creationId xmlns:a16="http://schemas.microsoft.com/office/drawing/2014/main" id="{2E9F8714-1545-7E4F-9722-07F114C3B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37" y="2048204"/>
            <a:ext cx="4857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/>
              <a:t>“Four people- literate” </a:t>
            </a:r>
            <a:r>
              <a:rPr lang="en-US" altLang="en-US" sz="2800" i="1" dirty="0" err="1"/>
              <a:t>pmf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8894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AE537C-5E2F-6830-C248-4919A4F7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88" y="147119"/>
            <a:ext cx="9720072" cy="1499616"/>
          </a:xfrm>
        </p:spPr>
        <p:txBody>
          <a:bodyPr/>
          <a:lstStyle/>
          <a:p>
            <a:r>
              <a:rPr lang="en-IN" dirty="0"/>
              <a:t>Binomial distribution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8887E-2DD8-E0E9-8C65-27CA37A84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80" y="1476494"/>
            <a:ext cx="5900211" cy="425642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F24E0F-9ECE-A563-AD17-3963C796B113}"/>
              </a:ext>
            </a:extLst>
          </p:cNvPr>
          <p:cNvSpPr txBox="1"/>
          <p:nvPr/>
        </p:nvSpPr>
        <p:spPr>
          <a:xfrm>
            <a:off x="1973580" y="6254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https://homepage.divms.uiowa.edu/~mbognar/applets/bin.html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AD2B4E-25C8-19A8-903D-8E89C4DD3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490429"/>
              </p:ext>
            </p:extLst>
          </p:nvPr>
        </p:nvGraphicFramePr>
        <p:xfrm>
          <a:off x="7767639" y="5493207"/>
          <a:ext cx="4134803" cy="479425"/>
        </p:xfrm>
        <a:graphic>
          <a:graphicData uri="http://schemas.openxmlformats.org/drawingml/2006/table">
            <a:tbl>
              <a:tblPr/>
              <a:tblGrid>
                <a:gridCol w="781121">
                  <a:extLst>
                    <a:ext uri="{9D8B030D-6E8A-4147-A177-3AD203B41FA5}">
                      <a16:colId xmlns:a16="http://schemas.microsoft.com/office/drawing/2014/main" val="2649831044"/>
                    </a:ext>
                  </a:extLst>
                </a:gridCol>
                <a:gridCol w="838372">
                  <a:extLst>
                    <a:ext uri="{9D8B030D-6E8A-4147-A177-3AD203B41FA5}">
                      <a16:colId xmlns:a16="http://schemas.microsoft.com/office/drawing/2014/main" val="1880282725"/>
                    </a:ext>
                  </a:extLst>
                </a:gridCol>
                <a:gridCol w="838372">
                  <a:extLst>
                    <a:ext uri="{9D8B030D-6E8A-4147-A177-3AD203B41FA5}">
                      <a16:colId xmlns:a16="http://schemas.microsoft.com/office/drawing/2014/main" val="1862331734"/>
                    </a:ext>
                  </a:extLst>
                </a:gridCol>
                <a:gridCol w="838566">
                  <a:extLst>
                    <a:ext uri="{9D8B030D-6E8A-4147-A177-3AD203B41FA5}">
                      <a16:colId xmlns:a16="http://schemas.microsoft.com/office/drawing/2014/main" val="3128419544"/>
                    </a:ext>
                  </a:extLst>
                </a:gridCol>
                <a:gridCol w="838372">
                  <a:extLst>
                    <a:ext uri="{9D8B030D-6E8A-4147-A177-3AD203B41FA5}">
                      <a16:colId xmlns:a16="http://schemas.microsoft.com/office/drawing/2014/main" val="1657345333"/>
                    </a:ext>
                  </a:extLst>
                </a:gridCol>
              </a:tblGrid>
              <a:tr h="479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0.0469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0.2109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0.4219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0.3164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758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404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CBE94F3C-77C4-7A4A-916E-23CC3A29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222AF593-12B4-A440-A196-08CBE815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4591BF18-24F9-8646-AD99-69F63AC0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12F54-15D0-1A4E-BF70-249A1067FE8B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E58D83A5-E14E-8249-9163-BFF23AFEF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320" y="407989"/>
            <a:ext cx="10972800" cy="1143000"/>
          </a:xfrm>
        </p:spPr>
        <p:txBody>
          <a:bodyPr/>
          <a:lstStyle/>
          <a:p>
            <a:r>
              <a:rPr lang="en-US" altLang="en-US" dirty="0"/>
              <a:t>Property 3 (“Complements”)</a:t>
            </a:r>
            <a:endParaRPr lang="en-US" altLang="en-US" i="1" dirty="0"/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65CE3C08-DC3D-1B47-9C66-88064E117F0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99100" y="1550989"/>
            <a:ext cx="6585048" cy="4778375"/>
          </a:xfrm>
        </p:spPr>
        <p:txBody>
          <a:bodyPr/>
          <a:lstStyle/>
          <a:p>
            <a:pPr marL="0" indent="0">
              <a:spcBef>
                <a:spcPct val="60000"/>
              </a:spcBef>
              <a:buNone/>
            </a:pPr>
            <a:r>
              <a:rPr lang="en-US" altLang="en-US" i="1" dirty="0"/>
              <a:t>Let A </a:t>
            </a:r>
            <a:r>
              <a:rPr lang="en-US" altLang="en-US" dirty="0">
                <a:cs typeface="Arial" panose="020B0604020202020204" pitchFamily="34" charset="0"/>
              </a:rPr>
              <a:t>≡</a:t>
            </a:r>
            <a:r>
              <a:rPr lang="en-US" altLang="en-US" dirty="0"/>
              <a:t> </a:t>
            </a:r>
            <a:r>
              <a:rPr lang="en-US" altLang="en-US" dirty="0">
                <a:cs typeface="Arial" panose="020B0604020202020204" pitchFamily="34" charset="0"/>
              </a:rPr>
              <a:t>4 successes</a:t>
            </a:r>
            <a:br>
              <a:rPr lang="en-US" altLang="en-US" dirty="0">
                <a:cs typeface="Arial" panose="020B0604020202020204" pitchFamily="34" charset="0"/>
              </a:rPr>
            </a:br>
            <a:endParaRPr lang="en-US" altLang="en-US" dirty="0">
              <a:cs typeface="Arial" panose="020B0604020202020204" pitchFamily="34" charset="0"/>
            </a:endParaRPr>
          </a:p>
          <a:p>
            <a:pPr marL="0" indent="0">
              <a:spcBef>
                <a:spcPct val="60000"/>
              </a:spcBef>
              <a:buNone/>
            </a:pPr>
            <a:r>
              <a:rPr lang="en-US" altLang="en-US" dirty="0">
                <a:cs typeface="Arial" panose="020B0604020202020204" pitchFamily="34" charset="0"/>
              </a:rPr>
              <a:t>Then, </a:t>
            </a:r>
            <a:r>
              <a:rPr lang="en-US" altLang="en-US" i="1" dirty="0" err="1">
                <a:cs typeface="Arial" panose="020B0604020202020204" pitchFamily="34" charset="0"/>
              </a:rPr>
              <a:t>Ā</a:t>
            </a:r>
            <a:r>
              <a:rPr lang="en-US" altLang="en-US" i="1" dirty="0">
                <a:cs typeface="Arial" panose="020B0604020202020204" pitchFamily="34" charset="0"/>
              </a:rPr>
              <a:t> </a:t>
            </a:r>
            <a:r>
              <a:rPr lang="en-US" altLang="en-US" dirty="0">
                <a:cs typeface="Arial" panose="020B0604020202020204" pitchFamily="34" charset="0"/>
              </a:rPr>
              <a:t>≡</a:t>
            </a:r>
            <a:r>
              <a:rPr lang="en-US" altLang="en-US" dirty="0"/>
              <a:t> “not A” = </a:t>
            </a:r>
            <a:r>
              <a:rPr lang="en-US" altLang="en-US" dirty="0">
                <a:cs typeface="Arial" panose="020B0604020202020204" pitchFamily="34" charset="0"/>
              </a:rPr>
              <a:t>“</a:t>
            </a:r>
            <a:r>
              <a:rPr lang="en-US" altLang="en-US" b="1" dirty="0">
                <a:cs typeface="Arial" panose="020B0604020202020204" pitchFamily="34" charset="0"/>
              </a:rPr>
              <a:t>3 or fewer successes</a:t>
            </a:r>
            <a:r>
              <a:rPr lang="en-US" altLang="en-US" dirty="0">
                <a:cs typeface="Arial" panose="020B0604020202020204" pitchFamily="34" charset="0"/>
              </a:rPr>
              <a:t>”</a:t>
            </a:r>
          </a:p>
          <a:p>
            <a:pPr marL="0" indent="0">
              <a:spcBef>
                <a:spcPct val="60000"/>
              </a:spcBef>
              <a:buNone/>
            </a:pPr>
            <a:r>
              <a:rPr lang="en-US" altLang="en-US" dirty="0"/>
              <a:t>Property of complements: </a:t>
            </a:r>
          </a:p>
          <a:p>
            <a:pPr marL="0" indent="0">
              <a:spcBef>
                <a:spcPct val="60000"/>
              </a:spcBef>
              <a:buNone/>
            </a:pPr>
            <a:r>
              <a:rPr lang="en-US" altLang="en-US" dirty="0" err="1"/>
              <a:t>Pr</a:t>
            </a:r>
            <a:r>
              <a:rPr lang="en-US" altLang="en-US" dirty="0"/>
              <a:t>(</a:t>
            </a:r>
            <a:r>
              <a:rPr lang="en-US" altLang="en-US" i="1" dirty="0" err="1">
                <a:cs typeface="Arial" panose="020B0604020202020204" pitchFamily="34" charset="0"/>
              </a:rPr>
              <a:t>Ā</a:t>
            </a:r>
            <a:r>
              <a:rPr lang="en-US" altLang="en-US" dirty="0">
                <a:cs typeface="Arial" panose="020B0604020202020204" pitchFamily="34" charset="0"/>
              </a:rPr>
              <a:t>)     = 1 – </a:t>
            </a:r>
            <a:r>
              <a:rPr lang="en-US" altLang="en-US" dirty="0" err="1"/>
              <a:t>Pr</a:t>
            </a:r>
            <a:r>
              <a:rPr lang="en-US" altLang="en-US" dirty="0"/>
              <a:t>(</a:t>
            </a:r>
            <a:r>
              <a:rPr lang="en-US" altLang="en-US" i="1" dirty="0"/>
              <a:t>A</a:t>
            </a:r>
            <a:r>
              <a:rPr lang="en-US" altLang="en-US" dirty="0"/>
              <a:t>) </a:t>
            </a:r>
            <a:br>
              <a:rPr lang="en-US" altLang="en-US" dirty="0"/>
            </a:br>
            <a:r>
              <a:rPr lang="en-US" altLang="en-US" dirty="0"/>
              <a:t>	= </a:t>
            </a:r>
            <a:r>
              <a:rPr lang="en-US" altLang="en-US" dirty="0">
                <a:cs typeface="Arial" panose="020B0604020202020204" pitchFamily="34" charset="0"/>
              </a:rPr>
              <a:t>1 – 0.3164 </a:t>
            </a:r>
            <a:br>
              <a:rPr lang="en-US" altLang="en-US" dirty="0">
                <a:cs typeface="Arial" panose="020B0604020202020204" pitchFamily="34" charset="0"/>
              </a:rPr>
            </a:br>
            <a:r>
              <a:rPr lang="en-US" altLang="en-US" dirty="0">
                <a:cs typeface="Arial" panose="020B0604020202020204" pitchFamily="34" charset="0"/>
              </a:rPr>
              <a:t>              = 0.6836</a:t>
            </a:r>
          </a:p>
        </p:txBody>
      </p:sp>
      <p:pic>
        <p:nvPicPr>
          <p:cNvPr id="96260" name="Picture 4">
            <a:extLst>
              <a:ext uri="{FF2B5EF4-FFF2-40B4-BE49-F238E27FC236}">
                <a16:creationId xmlns:a16="http://schemas.microsoft.com/office/drawing/2014/main" id="{9B7DDCD9-F4A6-1A41-9C20-02B5F1A724A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614" y="2701925"/>
            <a:ext cx="3406775" cy="3055938"/>
          </a:xfrm>
          <a:solidFill>
            <a:srgbClr val="FFFF99"/>
          </a:solidFill>
          <a:ln/>
        </p:spPr>
      </p:pic>
      <p:sp>
        <p:nvSpPr>
          <p:cNvPr id="96262" name="Text Box 6">
            <a:extLst>
              <a:ext uri="{FF2B5EF4-FFF2-40B4-BE49-F238E27FC236}">
                <a16:creationId xmlns:a16="http://schemas.microsoft.com/office/drawing/2014/main" id="{24CC69CF-EA7F-EB4B-85A7-9E82BA570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6" y="2051051"/>
            <a:ext cx="32099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/>
              <a:t>“Four patients” </a:t>
            </a:r>
            <a:r>
              <a:rPr lang="en-US" altLang="en-US" sz="2800" i="1"/>
              <a:t>pmf</a:t>
            </a:r>
            <a:endParaRPr lang="en-US" altLang="en-US" sz="2800"/>
          </a:p>
        </p:txBody>
      </p:sp>
      <p:grpSp>
        <p:nvGrpSpPr>
          <p:cNvPr id="96271" name="Group 15">
            <a:extLst>
              <a:ext uri="{FF2B5EF4-FFF2-40B4-BE49-F238E27FC236}">
                <a16:creationId xmlns:a16="http://schemas.microsoft.com/office/drawing/2014/main" id="{73C143EC-1581-2B45-B063-6A3A5460FA01}"/>
              </a:ext>
            </a:extLst>
          </p:cNvPr>
          <p:cNvGrpSpPr>
            <a:grpSpLocks/>
          </p:cNvGrpSpPr>
          <p:nvPr/>
        </p:nvGrpSpPr>
        <p:grpSpPr bwMode="auto">
          <a:xfrm>
            <a:off x="2538413" y="3152775"/>
            <a:ext cx="2152650" cy="2071688"/>
            <a:chOff x="639" y="1986"/>
            <a:chExt cx="1356" cy="1305"/>
          </a:xfrm>
        </p:grpSpPr>
        <p:sp>
          <p:nvSpPr>
            <p:cNvPr id="96265" name="Rectangle 9">
              <a:extLst>
                <a:ext uri="{FF2B5EF4-FFF2-40B4-BE49-F238E27FC236}">
                  <a16:creationId xmlns:a16="http://schemas.microsoft.com/office/drawing/2014/main" id="{01C176AD-58B3-274F-9FE9-73373D4D3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" y="1986"/>
              <a:ext cx="330" cy="130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6" name="Rectangle 10">
              <a:extLst>
                <a:ext uri="{FF2B5EF4-FFF2-40B4-BE49-F238E27FC236}">
                  <a16:creationId xmlns:a16="http://schemas.microsoft.com/office/drawing/2014/main" id="{16E20277-B0C2-D443-8700-F95DA0D7D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2643"/>
              <a:ext cx="339" cy="6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7" name="Rectangle 11">
              <a:extLst>
                <a:ext uri="{FF2B5EF4-FFF2-40B4-BE49-F238E27FC236}">
                  <a16:creationId xmlns:a16="http://schemas.microsoft.com/office/drawing/2014/main" id="{83DFBD09-D3D3-4747-98F1-48EFA4DF9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3147"/>
              <a:ext cx="339" cy="14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8" name="Rectangle 12">
              <a:extLst>
                <a:ext uri="{FF2B5EF4-FFF2-40B4-BE49-F238E27FC236}">
                  <a16:creationId xmlns:a16="http://schemas.microsoft.com/office/drawing/2014/main" id="{60C8631D-6B2B-9748-BE27-2C7E76C9A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3261"/>
              <a:ext cx="330" cy="2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69" name="Rectangle 13">
              <a:extLst>
                <a:ext uri="{FF2B5EF4-FFF2-40B4-BE49-F238E27FC236}">
                  <a16:creationId xmlns:a16="http://schemas.microsoft.com/office/drawing/2014/main" id="{6998373F-5208-0041-B56F-AD8D5E4B9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2158"/>
              <a:ext cx="250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Ā</a:t>
              </a:r>
            </a:p>
          </p:txBody>
        </p:sp>
      </p:grpSp>
      <p:grpSp>
        <p:nvGrpSpPr>
          <p:cNvPr id="96272" name="Group 16">
            <a:extLst>
              <a:ext uri="{FF2B5EF4-FFF2-40B4-BE49-F238E27FC236}">
                <a16:creationId xmlns:a16="http://schemas.microsoft.com/office/drawing/2014/main" id="{49A530B8-C575-924B-BE03-F762D71BDD88}"/>
              </a:ext>
            </a:extLst>
          </p:cNvPr>
          <p:cNvGrpSpPr>
            <a:grpSpLocks/>
          </p:cNvGrpSpPr>
          <p:nvPr/>
        </p:nvGrpSpPr>
        <p:grpSpPr bwMode="auto">
          <a:xfrm>
            <a:off x="4705350" y="3671889"/>
            <a:ext cx="533400" cy="1552575"/>
            <a:chOff x="2004" y="2313"/>
            <a:chExt cx="336" cy="978"/>
          </a:xfrm>
        </p:grpSpPr>
        <p:sp>
          <p:nvSpPr>
            <p:cNvPr id="96263" name="Rectangle 7">
              <a:extLst>
                <a:ext uri="{FF2B5EF4-FFF2-40B4-BE49-F238E27FC236}">
                  <a16:creationId xmlns:a16="http://schemas.microsoft.com/office/drawing/2014/main" id="{918FE646-603D-654D-B4C2-946F8FCAD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" y="2313"/>
              <a:ext cx="336" cy="97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270" name="Rectangle 14">
              <a:extLst>
                <a:ext uri="{FF2B5EF4-FFF2-40B4-BE49-F238E27FC236}">
                  <a16:creationId xmlns:a16="http://schemas.microsoft.com/office/drawing/2014/main" id="{1AA843E0-4749-954A-8A75-34868F530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9" y="2757"/>
              <a:ext cx="2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535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6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6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6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6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D6C7587F-937C-C14F-99B6-3CF3BB4F98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63D06DA5-EC2A-104C-AE85-F888C16C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E396E75B-A132-2E45-9C4D-9FC810FC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C7A74-BB97-5A4F-BF16-DB6A4DCB6CB2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11E4A86D-2408-0648-9F9E-AD60E78DF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29814"/>
            <a:ext cx="10972800" cy="1143000"/>
          </a:xfrm>
        </p:spPr>
        <p:txBody>
          <a:bodyPr/>
          <a:lstStyle/>
          <a:p>
            <a:r>
              <a:rPr lang="en-US" altLang="en-US"/>
              <a:t>Property 4 (Disjoint Events)</a:t>
            </a:r>
            <a:endParaRPr lang="en-US" altLang="en-US" i="1"/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4B89894E-679A-5A42-8D48-1535F758148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499099" y="1611949"/>
            <a:ext cx="6542845" cy="4778375"/>
          </a:xfrm>
        </p:spPr>
        <p:txBody>
          <a:bodyPr/>
          <a:lstStyle/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Let </a:t>
            </a:r>
            <a:r>
              <a:rPr lang="en-US" altLang="en-US" sz="2800" i="1" dirty="0"/>
              <a:t>A </a:t>
            </a:r>
            <a:r>
              <a:rPr lang="en-US" altLang="en-US" sz="2800" dirty="0"/>
              <a:t>represent 4 successes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Let  </a:t>
            </a:r>
            <a:r>
              <a:rPr lang="en-US" altLang="en-US" sz="2800" i="1" dirty="0"/>
              <a:t>B</a:t>
            </a:r>
            <a:r>
              <a:rPr lang="en-US" altLang="en-US" sz="2800" dirty="0"/>
              <a:t> represent </a:t>
            </a:r>
            <a:r>
              <a:rPr lang="en-US" altLang="en-US" sz="2800" dirty="0">
                <a:cs typeface="Arial" panose="020B0604020202020204" pitchFamily="34" charset="0"/>
              </a:rPr>
              <a:t>3 successes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>
                <a:cs typeface="Arial" panose="020B0604020202020204" pitchFamily="34" charset="0"/>
              </a:rPr>
              <a:t>A &amp; B are disjoint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The probability of observing 3 </a:t>
            </a:r>
            <a:r>
              <a:rPr lang="en-US" altLang="en-US" sz="2800" i="1" dirty="0"/>
              <a:t>or</a:t>
            </a:r>
            <a:r>
              <a:rPr lang="en-US" altLang="en-US" sz="2800" dirty="0"/>
              <a:t> 4:</a:t>
            </a:r>
            <a:br>
              <a:rPr lang="en-US" altLang="en-US" sz="2800" dirty="0"/>
            </a:br>
            <a:r>
              <a:rPr lang="en-US" altLang="en-US" sz="2800" dirty="0" err="1"/>
              <a:t>Pr</a:t>
            </a:r>
            <a:r>
              <a:rPr lang="en-US" altLang="en-US" sz="2800" dirty="0"/>
              <a:t>(A or B) 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altLang="en-US" sz="2800" dirty="0"/>
              <a:t>= </a:t>
            </a:r>
            <a:r>
              <a:rPr lang="en-US" altLang="en-US" sz="2800" dirty="0" err="1"/>
              <a:t>Pr</a:t>
            </a:r>
            <a:r>
              <a:rPr lang="en-US" altLang="en-US" sz="2800" dirty="0"/>
              <a:t>(A) + </a:t>
            </a:r>
            <a:r>
              <a:rPr lang="en-US" altLang="en-US" sz="2800" dirty="0" err="1"/>
              <a:t>Pr</a:t>
            </a:r>
            <a:r>
              <a:rPr lang="en-US" altLang="en-US" sz="2800" dirty="0"/>
              <a:t>(B)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= 0.3164 + 0.4129 </a:t>
            </a:r>
          </a:p>
          <a:p>
            <a:pPr marL="0" indent="0">
              <a:spcBef>
                <a:spcPct val="50000"/>
              </a:spcBef>
              <a:buNone/>
            </a:pPr>
            <a:r>
              <a:rPr lang="en-US" altLang="en-US" sz="2800" dirty="0"/>
              <a:t>=  0.7293</a:t>
            </a:r>
          </a:p>
        </p:txBody>
      </p:sp>
      <p:pic>
        <p:nvPicPr>
          <p:cNvPr id="97284" name="Picture 4">
            <a:extLst>
              <a:ext uri="{FF2B5EF4-FFF2-40B4-BE49-F238E27FC236}">
                <a16:creationId xmlns:a16="http://schemas.microsoft.com/office/drawing/2014/main" id="{6584368E-F5B1-3745-8CA1-EF1050F7633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05500" y="2728118"/>
            <a:ext cx="3406775" cy="3055938"/>
          </a:xfrm>
          <a:noFill/>
          <a:ln/>
        </p:spPr>
      </p:pic>
      <p:sp>
        <p:nvSpPr>
          <p:cNvPr id="97285" name="Text Box 5">
            <a:extLst>
              <a:ext uri="{FF2B5EF4-FFF2-40B4-BE49-F238E27FC236}">
                <a16:creationId xmlns:a16="http://schemas.microsoft.com/office/drawing/2014/main" id="{95A6333A-4988-3F44-96BF-CE24550A1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687" y="1878807"/>
            <a:ext cx="32099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2800"/>
              <a:t>“Four patients” </a:t>
            </a:r>
            <a:r>
              <a:rPr lang="en-US" altLang="en-US" sz="2800" i="1"/>
              <a:t>pmf</a:t>
            </a:r>
            <a:endParaRPr lang="en-US" altLang="en-US" sz="2800"/>
          </a:p>
        </p:txBody>
      </p:sp>
      <p:grpSp>
        <p:nvGrpSpPr>
          <p:cNvPr id="97290" name="Group 10">
            <a:extLst>
              <a:ext uri="{FF2B5EF4-FFF2-40B4-BE49-F238E27FC236}">
                <a16:creationId xmlns:a16="http://schemas.microsoft.com/office/drawing/2014/main" id="{C481A396-08AA-C946-B0CF-4B81404A3DC2}"/>
              </a:ext>
            </a:extLst>
          </p:cNvPr>
          <p:cNvGrpSpPr>
            <a:grpSpLocks/>
          </p:cNvGrpSpPr>
          <p:nvPr/>
        </p:nvGrpSpPr>
        <p:grpSpPr bwMode="auto">
          <a:xfrm>
            <a:off x="3520075" y="3178969"/>
            <a:ext cx="528637" cy="2066925"/>
            <a:chOff x="1665" y="1986"/>
            <a:chExt cx="333" cy="1302"/>
          </a:xfrm>
        </p:grpSpPr>
        <p:sp>
          <p:nvSpPr>
            <p:cNvPr id="97287" name="Rectangle 7">
              <a:extLst>
                <a:ext uri="{FF2B5EF4-FFF2-40B4-BE49-F238E27FC236}">
                  <a16:creationId xmlns:a16="http://schemas.microsoft.com/office/drawing/2014/main" id="{DE4DD159-3009-FB4B-A0C2-BC3065D99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5" y="1986"/>
              <a:ext cx="333" cy="130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97289" name="Text Box 9">
              <a:extLst>
                <a:ext uri="{FF2B5EF4-FFF2-40B4-BE49-F238E27FC236}">
                  <a16:creationId xmlns:a16="http://schemas.microsoft.com/office/drawing/2014/main" id="{93B79095-098D-664F-AF86-CAAFEB3B8B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" y="2650"/>
              <a:ext cx="24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/>
                <a:t>B</a:t>
              </a:r>
            </a:p>
          </p:txBody>
        </p:sp>
      </p:grpSp>
      <p:grpSp>
        <p:nvGrpSpPr>
          <p:cNvPr id="97292" name="Group 12">
            <a:extLst>
              <a:ext uri="{FF2B5EF4-FFF2-40B4-BE49-F238E27FC236}">
                <a16:creationId xmlns:a16="http://schemas.microsoft.com/office/drawing/2014/main" id="{80ED118D-1B8A-DD42-AC0D-9899B564EE25}"/>
              </a:ext>
            </a:extLst>
          </p:cNvPr>
          <p:cNvGrpSpPr>
            <a:grpSpLocks/>
          </p:cNvGrpSpPr>
          <p:nvPr/>
        </p:nvGrpSpPr>
        <p:grpSpPr bwMode="auto">
          <a:xfrm>
            <a:off x="4061411" y="3709193"/>
            <a:ext cx="534988" cy="1536700"/>
            <a:chOff x="2006" y="2320"/>
            <a:chExt cx="337" cy="968"/>
          </a:xfrm>
        </p:grpSpPr>
        <p:sp>
          <p:nvSpPr>
            <p:cNvPr id="97286" name="Rectangle 6">
              <a:extLst>
                <a:ext uri="{FF2B5EF4-FFF2-40B4-BE49-F238E27FC236}">
                  <a16:creationId xmlns:a16="http://schemas.microsoft.com/office/drawing/2014/main" id="{23690BD6-B7B4-F34E-94DF-1E4A2A590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6" y="2320"/>
              <a:ext cx="337" cy="9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7291" name="Text Box 11">
              <a:extLst>
                <a:ext uri="{FF2B5EF4-FFF2-40B4-BE49-F238E27FC236}">
                  <a16:creationId xmlns:a16="http://schemas.microsoft.com/office/drawing/2014/main" id="{7339C481-8A25-7042-A4D8-E3771E169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3" y="2645"/>
              <a:ext cx="27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/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570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7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7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7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7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7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3391C264-5FCB-2242-B35C-30A1833F4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5691955-FEBC-3742-8111-C0F71439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69AEFB6-5C05-774C-99EE-8CC7FBA1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A553E-09DF-CE42-A568-4FA99E06D075}" type="slidenum">
              <a:rPr lang="en-US" altLang="en-US"/>
              <a:pPr/>
              <a:t>26</a:t>
            </a:fld>
            <a:endParaRPr lang="en-US" altLang="en-US" dirty="0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3C8DB655-6E7F-C449-9A6F-E3A79DF7C7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5964" y="642878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en-US" sz="4800" dirty="0"/>
              <a:t>Cumulative Probability: Left “tail”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956D3417-FEAF-DC4D-B494-A4298A3A369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22216" y="1719262"/>
            <a:ext cx="6603328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b="1" i="1" dirty="0"/>
              <a:t>Cumulative </a:t>
            </a:r>
            <a:r>
              <a:rPr lang="en-US" altLang="en-US" sz="2800" i="1" dirty="0"/>
              <a:t>probability</a:t>
            </a:r>
            <a:r>
              <a:rPr lang="en-US" altLang="en-US" sz="2800" b="1" dirty="0"/>
              <a:t> </a:t>
            </a:r>
            <a:r>
              <a:rPr lang="en-US" altLang="en-US" sz="2800" dirty="0"/>
              <a:t>= probability of x </a:t>
            </a:r>
            <a:r>
              <a:rPr lang="en-US" altLang="en-US" sz="2800" i="1" dirty="0"/>
              <a:t>or less</a:t>
            </a:r>
            <a:r>
              <a:rPr lang="en-US" altLang="en-US" sz="2800" dirty="0"/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Denoted </a:t>
            </a:r>
            <a:r>
              <a:rPr lang="en-US" altLang="en-US" sz="2800" b="1" dirty="0" err="1"/>
              <a:t>Pr</a:t>
            </a:r>
            <a:r>
              <a:rPr lang="en-US" altLang="en-US" sz="2800" b="1" dirty="0"/>
              <a:t>(</a:t>
            </a:r>
            <a:r>
              <a:rPr lang="en-US" altLang="en-US" sz="2800" b="1" i="1" dirty="0"/>
              <a:t>X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cs typeface="Arial" panose="020B0604020202020204" pitchFamily="34" charset="0"/>
              </a:rPr>
              <a:t>≤ </a:t>
            </a:r>
            <a:r>
              <a:rPr lang="en-US" altLang="en-US" sz="2800" b="1" i="1" dirty="0">
                <a:cs typeface="Arial" panose="020B0604020202020204" pitchFamily="34" charset="0"/>
              </a:rPr>
              <a:t>x</a:t>
            </a:r>
            <a:r>
              <a:rPr lang="en-US" altLang="en-US" sz="2800" b="1" dirty="0">
                <a:cs typeface="Arial" panose="020B0604020202020204" pitchFamily="34" charset="0"/>
              </a:rPr>
              <a:t>) </a:t>
            </a:r>
            <a:endParaRPr lang="en-US" altLang="en-US" sz="2800" b="1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Corresponds to area in </a:t>
            </a:r>
            <a:r>
              <a:rPr lang="en-US" altLang="en-US" sz="2800" b="1" dirty="0"/>
              <a:t>left tail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Example: </a:t>
            </a:r>
            <a:r>
              <a:rPr lang="en-US" altLang="en-US" sz="2800" dirty="0" err="1"/>
              <a:t>Pr</a:t>
            </a:r>
            <a:r>
              <a:rPr lang="en-US" altLang="en-US" sz="2800" dirty="0"/>
              <a:t>(X ≤ 2) </a:t>
            </a:r>
            <a:br>
              <a:rPr lang="en-US" altLang="en-US" sz="2800" dirty="0"/>
            </a:br>
            <a:r>
              <a:rPr lang="en-US" altLang="en-US" sz="2800" dirty="0"/>
              <a:t>		= area in left tail</a:t>
            </a:r>
            <a:br>
              <a:rPr lang="en-US" altLang="en-US" sz="2800" dirty="0"/>
            </a:br>
            <a:r>
              <a:rPr lang="en-US" altLang="en-US" sz="2800" dirty="0"/>
              <a:t>		= .0039 + .0469 + .2109 </a:t>
            </a:r>
            <a:br>
              <a:rPr lang="en-US" altLang="en-US" sz="2800" dirty="0"/>
            </a:br>
            <a:r>
              <a:rPr lang="en-US" altLang="en-US" sz="2800" dirty="0"/>
              <a:t>		= 0.2617</a:t>
            </a:r>
          </a:p>
        </p:txBody>
      </p:sp>
      <p:pic>
        <p:nvPicPr>
          <p:cNvPr id="81929" name="Picture 9">
            <a:extLst>
              <a:ext uri="{FF2B5EF4-FFF2-40B4-BE49-F238E27FC236}">
                <a16:creationId xmlns:a16="http://schemas.microsoft.com/office/drawing/2014/main" id="{C78BD948-5002-4049-97B0-74E9B674BD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7594" y="1598052"/>
            <a:ext cx="3935412" cy="3511550"/>
          </a:xfrm>
          <a:noFill/>
          <a:ln/>
        </p:spPr>
      </p:pic>
      <p:sp>
        <p:nvSpPr>
          <p:cNvPr id="81930" name="Text Box 10">
            <a:extLst>
              <a:ext uri="{FF2B5EF4-FFF2-40B4-BE49-F238E27FC236}">
                <a16:creationId xmlns:a16="http://schemas.microsoft.com/office/drawing/2014/main" id="{176B7A08-A96E-5C42-9B4B-AB9FC9930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4100" y="3877116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.0469</a:t>
            </a:r>
          </a:p>
        </p:txBody>
      </p:sp>
      <p:sp>
        <p:nvSpPr>
          <p:cNvPr id="81931" name="Text Box 11">
            <a:extLst>
              <a:ext uri="{FF2B5EF4-FFF2-40B4-BE49-F238E27FC236}">
                <a16:creationId xmlns:a16="http://schemas.microsoft.com/office/drawing/2014/main" id="{2823C3B6-2FDB-3C47-B8FB-C3CDA0286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5300" y="2925410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.2109</a:t>
            </a:r>
          </a:p>
        </p:txBody>
      </p:sp>
      <p:sp>
        <p:nvSpPr>
          <p:cNvPr id="81932" name="Text Box 12">
            <a:extLst>
              <a:ext uri="{FF2B5EF4-FFF2-40B4-BE49-F238E27FC236}">
                <a16:creationId xmlns:a16="http://schemas.microsoft.com/office/drawing/2014/main" id="{3ACCAD63-C0F5-114A-8A73-9D6510A47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5146" y="4123832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.0039</a:t>
            </a:r>
          </a:p>
        </p:txBody>
      </p:sp>
    </p:spTree>
    <p:extLst>
      <p:ext uri="{BB962C8B-B14F-4D97-AF65-F5344CB8AC3E}">
        <p14:creationId xmlns:p14="http://schemas.microsoft.com/office/powerpoint/2010/main" val="106159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348CB61D-588A-384E-9866-CF794E4E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1F13D5B-CDA3-2743-A61E-59A01EA4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B065E604-82E4-B440-AC3B-68D80CCEF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15474" y="5861049"/>
            <a:ext cx="2844800" cy="476250"/>
          </a:xfrm>
        </p:spPr>
        <p:txBody>
          <a:bodyPr/>
          <a:lstStyle/>
          <a:p>
            <a:fld id="{F499CAB0-0F08-0A4C-9B61-B8C13C25338D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AB1A9253-465B-B04D-BD59-640E1F354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62100" y="612775"/>
            <a:ext cx="10972800" cy="1143000"/>
          </a:xfrm>
        </p:spPr>
        <p:txBody>
          <a:bodyPr/>
          <a:lstStyle/>
          <a:p>
            <a:r>
              <a:rPr lang="en-US" altLang="en-US" dirty="0"/>
              <a:t>Right </a:t>
            </a:r>
            <a:r>
              <a:rPr lang="en-US" altLang="en-US" i="1" dirty="0"/>
              <a:t>“tail”</a:t>
            </a:r>
            <a:endParaRPr lang="en-US" altLang="en-US" dirty="0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D0B88FC3-FB5E-3541-A3C3-481BEFD83E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358900" y="1841816"/>
            <a:ext cx="5766705" cy="4019233"/>
          </a:xfrm>
        </p:spPr>
        <p:txBody>
          <a:bodyPr/>
          <a:lstStyle/>
          <a:p>
            <a:r>
              <a:rPr lang="en-US" altLang="en-US" sz="2400" dirty="0"/>
              <a:t>Probabilities greater than a value are denoted </a:t>
            </a:r>
            <a:r>
              <a:rPr lang="en-US" altLang="en-US" sz="2400" b="1" dirty="0" err="1"/>
              <a:t>Pr</a:t>
            </a:r>
            <a:r>
              <a:rPr lang="en-US" altLang="en-US" sz="2400" b="1" dirty="0"/>
              <a:t>(</a:t>
            </a:r>
            <a:r>
              <a:rPr lang="en-US" altLang="en-US" sz="2400" b="1" i="1" dirty="0"/>
              <a:t>X</a:t>
            </a:r>
            <a:r>
              <a:rPr lang="en-US" altLang="en-US" sz="2400" b="1" dirty="0"/>
              <a:t> &gt;</a:t>
            </a:r>
            <a:r>
              <a:rPr lang="en-US" altLang="en-US" sz="2400" b="1" dirty="0">
                <a:cs typeface="Arial" panose="020B0604020202020204" pitchFamily="34" charset="0"/>
              </a:rPr>
              <a:t> </a:t>
            </a:r>
            <a:r>
              <a:rPr lang="en-US" altLang="en-US" sz="2400" b="1" i="1" dirty="0">
                <a:cs typeface="Arial" panose="020B0604020202020204" pitchFamily="34" charset="0"/>
              </a:rPr>
              <a:t>x</a:t>
            </a:r>
            <a:r>
              <a:rPr lang="en-US" altLang="en-US" sz="2400" b="1" dirty="0">
                <a:cs typeface="Arial" panose="020B0604020202020204" pitchFamily="34" charset="0"/>
              </a:rPr>
              <a:t>) </a:t>
            </a:r>
            <a:endParaRPr lang="en-US" altLang="en-US" sz="2400" b="1" dirty="0"/>
          </a:p>
          <a:p>
            <a:r>
              <a:rPr lang="en-US" altLang="en-US" sz="2400" dirty="0"/>
              <a:t>Complement of cumulative probability </a:t>
            </a:r>
          </a:p>
          <a:p>
            <a:r>
              <a:rPr lang="en-US" altLang="en-US" sz="2400" dirty="0"/>
              <a:t>Corresponds to area in </a:t>
            </a:r>
            <a:r>
              <a:rPr lang="en-US" altLang="en-US" sz="2400" b="1" dirty="0"/>
              <a:t>right tail of distribution</a:t>
            </a:r>
          </a:p>
          <a:p>
            <a:r>
              <a:rPr lang="en-US" altLang="en-US" sz="2400" dirty="0"/>
              <a:t>Example (4 patients </a:t>
            </a:r>
            <a:r>
              <a:rPr lang="en-US" altLang="en-US" sz="2400" i="1" dirty="0" err="1"/>
              <a:t>pmf</a:t>
            </a:r>
            <a:r>
              <a:rPr lang="en-US" altLang="en-US" sz="2400" dirty="0"/>
              <a:t>): </a:t>
            </a:r>
            <a:br>
              <a:rPr lang="en-US" altLang="en-US" sz="2400" dirty="0"/>
            </a:br>
            <a:r>
              <a:rPr lang="en-US" altLang="en-US" sz="2400" dirty="0" err="1"/>
              <a:t>Pr</a:t>
            </a:r>
            <a:r>
              <a:rPr lang="en-US" altLang="en-US" sz="2400" dirty="0"/>
              <a:t> (X &gt; 3)</a:t>
            </a:r>
            <a:br>
              <a:rPr lang="en-US" altLang="en-US" sz="2400" dirty="0"/>
            </a:br>
            <a:r>
              <a:rPr lang="en-US" altLang="en-US" sz="2400" dirty="0"/>
              <a:t>= complement of </a:t>
            </a:r>
            <a:r>
              <a:rPr lang="en-US" altLang="en-US" sz="2400" dirty="0" err="1"/>
              <a:t>Pr</a:t>
            </a:r>
            <a:r>
              <a:rPr lang="en-US" altLang="en-US" sz="2400" dirty="0"/>
              <a:t>(X ≤ 2) </a:t>
            </a:r>
            <a:br>
              <a:rPr lang="en-US" altLang="en-US" sz="2400" dirty="0"/>
            </a:br>
            <a:r>
              <a:rPr lang="en-US" altLang="en-US" sz="2400" dirty="0"/>
              <a:t>= 1 - 0.2617</a:t>
            </a:r>
            <a:br>
              <a:rPr lang="en-US" altLang="en-US" sz="2400" dirty="0"/>
            </a:br>
            <a:r>
              <a:rPr lang="en-US" altLang="en-US" sz="2400" dirty="0"/>
              <a:t>= .7389</a:t>
            </a:r>
          </a:p>
        </p:txBody>
      </p:sp>
      <p:sp>
        <p:nvSpPr>
          <p:cNvPr id="132101" name="Text Box 5">
            <a:extLst>
              <a:ext uri="{FF2B5EF4-FFF2-40B4-BE49-F238E27FC236}">
                <a16:creationId xmlns:a16="http://schemas.microsoft.com/office/drawing/2014/main" id="{EADEC596-DB17-F242-AEBA-158D68491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949" y="3989387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.0469</a:t>
            </a:r>
          </a:p>
        </p:txBody>
      </p:sp>
      <p:sp>
        <p:nvSpPr>
          <p:cNvPr id="132102" name="Text Box 6">
            <a:extLst>
              <a:ext uri="{FF2B5EF4-FFF2-40B4-BE49-F238E27FC236}">
                <a16:creationId xmlns:a16="http://schemas.microsoft.com/office/drawing/2014/main" id="{F3A6D313-5BC3-3749-ADBF-257F34DC0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0474" y="3590925"/>
            <a:ext cx="755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.2109</a:t>
            </a:r>
          </a:p>
        </p:txBody>
      </p:sp>
      <p:sp>
        <p:nvSpPr>
          <p:cNvPr id="132103" name="Text Box 7">
            <a:extLst>
              <a:ext uri="{FF2B5EF4-FFF2-40B4-BE49-F238E27FC236}">
                <a16:creationId xmlns:a16="http://schemas.microsoft.com/office/drawing/2014/main" id="{417D5D1E-E525-FE42-9CA5-8701DED9A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912" y="4097337"/>
            <a:ext cx="755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.0039</a:t>
            </a:r>
          </a:p>
        </p:txBody>
      </p:sp>
      <p:pic>
        <p:nvPicPr>
          <p:cNvPr id="132105" name="Picture 9">
            <a:extLst>
              <a:ext uri="{FF2B5EF4-FFF2-40B4-BE49-F238E27FC236}">
                <a16:creationId xmlns:a16="http://schemas.microsoft.com/office/drawing/2014/main" id="{1312AC25-DEC0-DE44-A0DC-23BB176FCA4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48500" y="1755775"/>
            <a:ext cx="3840163" cy="3444875"/>
          </a:xfrm>
          <a:noFill/>
          <a:ln/>
        </p:spPr>
      </p:pic>
      <p:sp>
        <p:nvSpPr>
          <p:cNvPr id="132107" name="Rectangle 11">
            <a:extLst>
              <a:ext uri="{FF2B5EF4-FFF2-40B4-BE49-F238E27FC236}">
                <a16:creationId xmlns:a16="http://schemas.microsoft.com/office/drawing/2014/main" id="{6699D31D-0817-4440-BDB1-EBDD2DCC8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8113" y="2860674"/>
            <a:ext cx="534987" cy="17208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32109" name="Rectangle 13">
            <a:extLst>
              <a:ext uri="{FF2B5EF4-FFF2-40B4-BE49-F238E27FC236}">
                <a16:creationId xmlns:a16="http://schemas.microsoft.com/office/drawing/2014/main" id="{440142AA-6260-824C-A3ED-54A0F16C9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4225" y="2278062"/>
            <a:ext cx="601663" cy="23034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13908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A0A800D-AE29-624C-B31A-62D17D466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Basic Biostat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F53B140-FBB4-694B-906A-8D7EBE9FE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5: Probability Concepts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68FE520-B799-E04E-B877-531DD363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1635B-1607-8C44-A643-EAE7084AF28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1699DBD7-BFFA-554B-91BD-85293AAA7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Mean and Variance of a Discrete RV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02C7015-D655-CD43-B96F-895420EE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764" y="2244725"/>
            <a:ext cx="409887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The </a:t>
            </a:r>
            <a:r>
              <a:rPr lang="en-US" altLang="en-US" sz="2800" b="1" dirty="0"/>
              <a:t>mean</a:t>
            </a:r>
            <a:r>
              <a:rPr lang="en-US" altLang="en-US" sz="2800" dirty="0"/>
              <a:t>, i.e., </a:t>
            </a:r>
            <a:r>
              <a:rPr lang="en-US" altLang="en-US" sz="2800" b="1" dirty="0"/>
              <a:t>expectation</a:t>
            </a:r>
            <a:endParaRPr lang="en-US" altLang="en-US" sz="2800" dirty="0"/>
          </a:p>
        </p:txBody>
      </p:sp>
      <p:sp>
        <p:nvSpPr>
          <p:cNvPr id="18438" name="Rectangle 6">
            <a:extLst>
              <a:ext uri="{FF2B5EF4-FFF2-40B4-BE49-F238E27FC236}">
                <a16:creationId xmlns:a16="http://schemas.microsoft.com/office/drawing/2014/main" id="{D8AD1F62-44BD-A34D-A91C-8D94E5F52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39" y="4278313"/>
            <a:ext cx="2055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The </a:t>
            </a:r>
            <a:r>
              <a:rPr lang="en-US" altLang="en-US" sz="2800" b="1" dirty="0"/>
              <a:t>variance</a:t>
            </a:r>
            <a:endParaRPr lang="en-US" altLang="en-US" sz="2800" dirty="0"/>
          </a:p>
        </p:txBody>
      </p:sp>
      <p:graphicFrame>
        <p:nvGraphicFramePr>
          <p:cNvPr id="18439" name="Object 7">
            <a:extLst>
              <a:ext uri="{FF2B5EF4-FFF2-40B4-BE49-F238E27FC236}">
                <a16:creationId xmlns:a16="http://schemas.microsoft.com/office/drawing/2014/main" id="{923A66AA-AB7E-E847-ACF3-E60BF210A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1163" y="3021014"/>
          <a:ext cx="38989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676600" imgH="5854700" progId="Equation.3">
                  <p:embed/>
                </p:oleObj>
              </mc:Choice>
              <mc:Fallback>
                <p:oleObj name="Equation" r:id="rId3" imgW="28676600" imgH="5854700" progId="Equation.3">
                  <p:embed/>
                  <p:pic>
                    <p:nvPicPr>
                      <p:cNvPr id="18439" name="Object 7">
                        <a:extLst>
                          <a:ext uri="{FF2B5EF4-FFF2-40B4-BE49-F238E27FC236}">
                            <a16:creationId xmlns:a16="http://schemas.microsoft.com/office/drawing/2014/main" id="{923A66AA-AB7E-E847-ACF3-E60BF210A5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1163" y="3021014"/>
                        <a:ext cx="3898900" cy="795337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>
            <a:extLst>
              <a:ext uri="{FF2B5EF4-FFF2-40B4-BE49-F238E27FC236}">
                <a16:creationId xmlns:a16="http://schemas.microsoft.com/office/drawing/2014/main" id="{977C8420-4DC7-5742-BEFC-462596F741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8838" y="5076826"/>
          <a:ext cx="5732462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9497000" imgH="5854700" progId="Equation.3">
                  <p:embed/>
                </p:oleObj>
              </mc:Choice>
              <mc:Fallback>
                <p:oleObj name="Equation" r:id="rId5" imgW="39497000" imgH="5854700" progId="Equation.3">
                  <p:embed/>
                  <p:pic>
                    <p:nvPicPr>
                      <p:cNvPr id="18440" name="Object 8">
                        <a:extLst>
                          <a:ext uri="{FF2B5EF4-FFF2-40B4-BE49-F238E27FC236}">
                            <a16:creationId xmlns:a16="http://schemas.microsoft.com/office/drawing/2014/main" id="{977C8420-4DC7-5742-BEFC-462596F741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5076826"/>
                        <a:ext cx="5732462" cy="849313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0">
            <a:extLst>
              <a:ext uri="{FF2B5EF4-FFF2-40B4-BE49-F238E27FC236}">
                <a16:creationId xmlns:a16="http://schemas.microsoft.com/office/drawing/2014/main" id="{43E179B7-6220-2D6C-A696-623DDA491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450" y="1339851"/>
            <a:ext cx="8472488" cy="52322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2800" dirty="0"/>
              <a:t>Definitional formulas</a:t>
            </a:r>
          </a:p>
        </p:txBody>
      </p:sp>
    </p:spTree>
    <p:extLst>
      <p:ext uri="{BB962C8B-B14F-4D97-AF65-F5344CB8AC3E}">
        <p14:creationId xmlns:p14="http://schemas.microsoft.com/office/powerpoint/2010/main" val="1113065814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C32B43-EA87-4C45-BB19-C882741A7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Moments of probability distribution</a:t>
            </a:r>
          </a:p>
        </p:txBody>
      </p:sp>
      <p:pic>
        <p:nvPicPr>
          <p:cNvPr id="248834" name="Picture 2" descr="The Four Moments of a Probability Distribution | by Praveen Prashant |  Medium">
            <a:extLst>
              <a:ext uri="{FF2B5EF4-FFF2-40B4-BE49-F238E27FC236}">
                <a16:creationId xmlns:a16="http://schemas.microsoft.com/office/drawing/2014/main" id="{8BB5BCAE-EE23-504F-84BE-B27BCC42E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45" y="1985420"/>
            <a:ext cx="10417216" cy="434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ABA8FF-4282-6848-9546-032556E99B83}"/>
              </a:ext>
            </a:extLst>
          </p:cNvPr>
          <p:cNvSpPr txBox="1"/>
          <p:nvPr/>
        </p:nvSpPr>
        <p:spPr>
          <a:xfrm>
            <a:off x="9525965" y="4490977"/>
            <a:ext cx="2060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Central Moment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451EA-C617-8149-9F86-AB689B079D7C}"/>
              </a:ext>
            </a:extLst>
          </p:cNvPr>
          <p:cNvSpPr txBox="1"/>
          <p:nvPr/>
        </p:nvSpPr>
        <p:spPr>
          <a:xfrm>
            <a:off x="4791919" y="4595149"/>
            <a:ext cx="4178461" cy="798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D3C9D-F8E1-D24E-8F63-CD82A5F5012C}"/>
              </a:ext>
            </a:extLst>
          </p:cNvPr>
          <p:cNvSpPr txBox="1"/>
          <p:nvPr/>
        </p:nvSpPr>
        <p:spPr>
          <a:xfrm>
            <a:off x="4110942" y="2545908"/>
            <a:ext cx="3725119" cy="7986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7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B67C-DED5-4B43-91B4-3994EF4B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9858" name="Picture 2" descr="Moment Generating Function Explained | by Aerin Kim | Towards Data Science">
            <a:extLst>
              <a:ext uri="{FF2B5EF4-FFF2-40B4-BE49-F238E27FC236}">
                <a16:creationId xmlns:a16="http://schemas.microsoft.com/office/drawing/2014/main" id="{36F4A3BB-C1EA-2A49-AB51-71943093F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02" y="544010"/>
            <a:ext cx="8943469" cy="5769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6615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A2F75-7555-7273-FA5C-702038BA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Skewness and Kurtosis in Statistics | R-bloggers">
            <a:extLst>
              <a:ext uri="{FF2B5EF4-FFF2-40B4-BE49-F238E27FC236}">
                <a16:creationId xmlns:a16="http://schemas.microsoft.com/office/drawing/2014/main" id="{1374B89F-F45A-EC9F-D7BD-606FFB901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39090"/>
            <a:ext cx="8008620" cy="301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Other moments (measures of shape) | Vose Software">
            <a:extLst>
              <a:ext uri="{FF2B5EF4-FFF2-40B4-BE49-F238E27FC236}">
                <a16:creationId xmlns:a16="http://schemas.microsoft.com/office/drawing/2014/main" id="{0E06E189-2CCF-F8E5-87A4-C0F5763EA8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598" y="1592580"/>
            <a:ext cx="7041907" cy="4680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761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3F4CF-9C31-6245-8C72-0C0498F0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Moments for normal distribution</a:t>
            </a:r>
          </a:p>
        </p:txBody>
      </p:sp>
      <p:pic>
        <p:nvPicPr>
          <p:cNvPr id="250882" name="Picture 2">
            <a:extLst>
              <a:ext uri="{FF2B5EF4-FFF2-40B4-BE49-F238E27FC236}">
                <a16:creationId xmlns:a16="http://schemas.microsoft.com/office/drawing/2014/main" id="{A4F3B274-C47E-8C4C-B066-BA21D52C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164" y="1863923"/>
            <a:ext cx="6054679" cy="3901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838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7BFE-DA2F-FFC0-BF71-4BEFC28C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Probability using frequency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7CEF9-39F2-15D2-679C-7C6ACEDB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" y="2006917"/>
            <a:ext cx="6519666" cy="2229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A00B73-BADD-6D8F-54DA-00E1D70AF3F4}"/>
              </a:ext>
            </a:extLst>
          </p:cNvPr>
          <p:cNvSpPr txBox="1"/>
          <p:nvPr/>
        </p:nvSpPr>
        <p:spPr>
          <a:xfrm>
            <a:off x="7155180" y="1836063"/>
            <a:ext cx="44424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17.3% of the population has less than 12</a:t>
            </a:r>
            <a:b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</a:br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years of education, 26.7% has 12 years of education, and 56.0% has more than 12 years</a:t>
            </a:r>
            <a:b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</a:br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of education. </a:t>
            </a:r>
          </a:p>
          <a:p>
            <a:endParaRPr lang="en-GB" dirty="0">
              <a:solidFill>
                <a:srgbClr val="242021"/>
              </a:solidFill>
              <a:latin typeface="JansonText-Roman"/>
            </a:endParaRPr>
          </a:p>
          <a:p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The probability of randomly selecting a respondent with less than 12 years of education is </a:t>
            </a:r>
            <a:r>
              <a:rPr lang="en-GB" sz="1800" b="0" i="1" dirty="0">
                <a:solidFill>
                  <a:srgbClr val="242021"/>
                </a:solidFill>
                <a:effectLst/>
                <a:latin typeface="JansonText-Italic"/>
              </a:rPr>
              <a:t>P </a:t>
            </a:r>
            <a:r>
              <a:rPr lang="en-GB" sz="1800" b="0" i="0" dirty="0">
                <a:solidFill>
                  <a:srgbClr val="242021"/>
                </a:solidFill>
                <a:effectLst/>
                <a:latin typeface="PearsonMATH08"/>
              </a:rPr>
              <a:t>= </a:t>
            </a:r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.173. </a:t>
            </a:r>
          </a:p>
          <a:p>
            <a:endParaRPr lang="en-GB" dirty="0">
              <a:solidFill>
                <a:srgbClr val="242021"/>
              </a:solidFill>
              <a:latin typeface="JansonText-Roman"/>
            </a:endParaRPr>
          </a:p>
          <a:p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P(Completed 12 years of education)= .267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sz="1800" b="0" i="0" dirty="0">
                <a:solidFill>
                  <a:srgbClr val="242021"/>
                </a:solidFill>
                <a:effectLst/>
                <a:latin typeface="JansonText-Roman"/>
              </a:rPr>
              <a:t>P(Completed more than 12 years of education)= .56</a:t>
            </a:r>
          </a:p>
          <a:p>
            <a:endParaRPr lang="en-GB" dirty="0">
              <a:solidFill>
                <a:srgbClr val="242021"/>
              </a:solidFill>
              <a:latin typeface="JansonText-Roman"/>
            </a:endParaRPr>
          </a:p>
          <a:p>
            <a:r>
              <a:rPr lang="en-GB" b="1" dirty="0">
                <a:solidFill>
                  <a:srgbClr val="242021"/>
                </a:solidFill>
                <a:latin typeface="JansonText-Roman"/>
              </a:rPr>
              <a:t>P(12 or more years completed)=0.267+0.56=0.827</a:t>
            </a:r>
            <a:br>
              <a:rPr lang="en-GB" b="1" dirty="0"/>
            </a:b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45761B-D805-6EB2-84BC-F663D50EC02B}"/>
              </a:ext>
            </a:extLst>
          </p:cNvPr>
          <p:cNvSpPr txBox="1"/>
          <p:nvPr/>
        </p:nvSpPr>
        <p:spPr>
          <a:xfrm flipH="1">
            <a:off x="739139" y="5265420"/>
            <a:ext cx="20116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Assumption of </a:t>
            </a:r>
            <a:r>
              <a:rPr lang="en-IN" b="1" dirty="0"/>
              <a:t>sampling randomly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235845-BF30-9333-27DA-2D99AD70CBCF}"/>
              </a:ext>
            </a:extLst>
          </p:cNvPr>
          <p:cNvSpPr/>
          <p:nvPr/>
        </p:nvSpPr>
        <p:spPr>
          <a:xfrm>
            <a:off x="4549140" y="1897380"/>
            <a:ext cx="967740" cy="24993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372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1D2C3-F3AF-4F93-832D-64BC912B8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Education completion vary by race?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5A04D-A6DD-1C54-159B-E1AA3888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5259"/>
            <a:ext cx="6785610" cy="43475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B48D12-7FB9-ED71-EF6D-258025EEF6FA}"/>
                  </a:ext>
                </a:extLst>
              </p:cNvPr>
              <p:cNvSpPr txBox="1"/>
              <p:nvPr/>
            </p:nvSpPr>
            <p:spPr>
              <a:xfrm>
                <a:off x="7383780" y="2506980"/>
                <a:ext cx="2887980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:r>
                  <a:rPr lang="en-IN" b="0" dirty="0"/>
                  <a:t>                X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𝑛𝑜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𝑦𝑒𝑎𝑟𝑠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𝑒𝑑𝑢𝑐𝑎𝑡𝑖𝑜𝑛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𝑐𝑜𝑚𝑝𝑙𝑒𝑡𝑒𝑑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IN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(3 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𝑔𝑟𝑜𝑢𝑝𝑠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DB48D12-7FB9-ED71-EF6D-258025EEF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3780" y="2506980"/>
                <a:ext cx="2887980" cy="830997"/>
              </a:xfrm>
              <a:prstGeom prst="rect">
                <a:avLst/>
              </a:prstGeom>
              <a:blipFill>
                <a:blip r:embed="rId3"/>
                <a:stretch>
                  <a:fillRect l="-2110" t="-9489" r="-32278" b="-102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51A7A282-9FEF-7DEC-B50F-4E4BA140997D}"/>
              </a:ext>
            </a:extLst>
          </p:cNvPr>
          <p:cNvSpPr/>
          <p:nvPr/>
        </p:nvSpPr>
        <p:spPr>
          <a:xfrm>
            <a:off x="4709160" y="2362200"/>
            <a:ext cx="937260" cy="397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12967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56C7-1E8F-771F-2665-BFD9A02E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F8026-863D-CA03-792A-41EF03E45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32" y="416242"/>
            <a:ext cx="8181975" cy="63150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942A4A4-D91B-6A3E-4E3F-E0CC7F8E7F31}"/>
              </a:ext>
            </a:extLst>
          </p:cNvPr>
          <p:cNvSpPr/>
          <p:nvPr/>
        </p:nvSpPr>
        <p:spPr>
          <a:xfrm>
            <a:off x="6156960" y="640080"/>
            <a:ext cx="937260" cy="3971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17312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17056</TotalTime>
  <Words>1552</Words>
  <Application>Microsoft Office PowerPoint</Application>
  <PresentationFormat>Widescreen</PresentationFormat>
  <Paragraphs>274</Paragraphs>
  <Slides>35</Slides>
  <Notes>3</Notes>
  <HiddenSlides>1</HiddenSlides>
  <MMClips>2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Calibri</vt:lpstr>
      <vt:lpstr>Cambria Math</vt:lpstr>
      <vt:lpstr>Courier New</vt:lpstr>
      <vt:lpstr>JansonText-Italic</vt:lpstr>
      <vt:lpstr>JansonText-Roman</vt:lpstr>
      <vt:lpstr>PearsonMATH08</vt:lpstr>
      <vt:lpstr>Symbol</vt:lpstr>
      <vt:lpstr>Tahoma</vt:lpstr>
      <vt:lpstr>Tw Cen MT</vt:lpstr>
      <vt:lpstr>Tw Cen MT Condensed</vt:lpstr>
      <vt:lpstr>Wingdings</vt:lpstr>
      <vt:lpstr>Wingdings 3</vt:lpstr>
      <vt:lpstr>Integral</vt:lpstr>
      <vt:lpstr>Equation</vt:lpstr>
      <vt:lpstr>STAT 221-FUNDAMENTALS OF STATISTICAL DATA ANALYSIS </vt:lpstr>
      <vt:lpstr>Probability for social science</vt:lpstr>
      <vt:lpstr>sections</vt:lpstr>
      <vt:lpstr>Definitions</vt:lpstr>
      <vt:lpstr>Example</vt:lpstr>
      <vt:lpstr>Example: Probability</vt:lpstr>
      <vt:lpstr>Basic probability</vt:lpstr>
      <vt:lpstr>Quantifying Uncertainty</vt:lpstr>
      <vt:lpstr>Random Variables</vt:lpstr>
      <vt:lpstr>Example:  Discrete Random Variable</vt:lpstr>
      <vt:lpstr>Example: Discrete Random Variable</vt:lpstr>
      <vt:lpstr>pmf can also be shown graphically</vt:lpstr>
      <vt:lpstr>Area on pmf = Probability</vt:lpstr>
      <vt:lpstr>Probability- multiplication rule + Conditional probability</vt:lpstr>
      <vt:lpstr>Example:  Continuous Random Variable</vt:lpstr>
      <vt:lpstr>Example : Continuous Random Variable</vt:lpstr>
      <vt:lpstr>Example : Continuous Random Variable</vt:lpstr>
      <vt:lpstr>Pdf’s come in various shapes here are examples</vt:lpstr>
      <vt:lpstr>Areas Under the Curve</vt:lpstr>
      <vt:lpstr>Properties of Probabilities</vt:lpstr>
      <vt:lpstr>Properties of Probabilities  In symbols</vt:lpstr>
      <vt:lpstr>Properties 1 &amp; 2 Illustrated</vt:lpstr>
      <vt:lpstr>Binomial distribution</vt:lpstr>
      <vt:lpstr>Property 3 (“Complements”)</vt:lpstr>
      <vt:lpstr>Property 4 (Disjoint Events)</vt:lpstr>
      <vt:lpstr>Cumulative Probability: Left “tail”</vt:lpstr>
      <vt:lpstr>Right “tail”</vt:lpstr>
      <vt:lpstr>Mean and Variance of a Discrete RV</vt:lpstr>
      <vt:lpstr>Moments of probability distribution</vt:lpstr>
      <vt:lpstr>PowerPoint Presentation</vt:lpstr>
      <vt:lpstr>PowerPoint Presentation</vt:lpstr>
      <vt:lpstr>Moments for normal distribution</vt:lpstr>
      <vt:lpstr>Probability using frequency tables</vt:lpstr>
      <vt:lpstr>Education completion vary by race?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221-STATISTICAL DATA ANALYSIS</dc:title>
  <dc:creator>Shivakumar Jolad</dc:creator>
  <cp:lastModifiedBy>Shivakumar Jolad</cp:lastModifiedBy>
  <cp:revision>37</cp:revision>
  <dcterms:created xsi:type="dcterms:W3CDTF">2022-10-01T08:44:02Z</dcterms:created>
  <dcterms:modified xsi:type="dcterms:W3CDTF">2026-07-06T10:58:30Z</dcterms:modified>
</cp:coreProperties>
</file>