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7" r:id="rId2"/>
    <p:sldId id="363" r:id="rId3"/>
    <p:sldId id="258" r:id="rId4"/>
    <p:sldId id="260" r:id="rId5"/>
    <p:sldId id="261" r:id="rId6"/>
    <p:sldId id="268" r:id="rId7"/>
    <p:sldId id="269" r:id="rId8"/>
    <p:sldId id="270" r:id="rId9"/>
    <p:sldId id="271" r:id="rId10"/>
    <p:sldId id="364" r:id="rId11"/>
    <p:sldId id="365" r:id="rId12"/>
    <p:sldId id="272" r:id="rId13"/>
    <p:sldId id="273" r:id="rId14"/>
    <p:sldId id="274" r:id="rId15"/>
    <p:sldId id="284" r:id="rId16"/>
    <p:sldId id="275" r:id="rId17"/>
    <p:sldId id="290" r:id="rId18"/>
    <p:sldId id="267" r:id="rId19"/>
    <p:sldId id="292" r:id="rId20"/>
    <p:sldId id="301" r:id="rId21"/>
    <p:sldId id="293" r:id="rId22"/>
    <p:sldId id="300" r:id="rId23"/>
    <p:sldId id="373" r:id="rId24"/>
    <p:sldId id="262" r:id="rId25"/>
    <p:sldId id="291" r:id="rId26"/>
    <p:sldId id="317" r:id="rId27"/>
    <p:sldId id="376" r:id="rId28"/>
    <p:sldId id="377" r:id="rId29"/>
    <p:sldId id="378"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80603" autoAdjust="0"/>
  </p:normalViewPr>
  <p:slideViewPr>
    <p:cSldViewPr snapToGrid="0">
      <p:cViewPr varScale="1">
        <p:scale>
          <a:sx n="72" d="100"/>
          <a:sy n="72" d="100"/>
        </p:scale>
        <p:origin x="885" y="8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4F7E9A-B455-49EC-BBC8-A7C99001C973}" type="datetimeFigureOut">
              <a:rPr lang="en-IN" smtClean="0"/>
              <a:t>06-07-2026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D5FEED-732C-46A9-8A11-6E32F7E076B8}" type="slidenum">
              <a:rPr lang="en-IN" smtClean="0"/>
              <a:t>‹#›</a:t>
            </a:fld>
            <a:endParaRPr lang="en-IN"/>
          </a:p>
        </p:txBody>
      </p:sp>
    </p:spTree>
    <p:extLst>
      <p:ext uri="{BB962C8B-B14F-4D97-AF65-F5344CB8AC3E}">
        <p14:creationId xmlns:p14="http://schemas.microsoft.com/office/powerpoint/2010/main" val="882371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en.wikipedia.org/wiki/American_Community_Survey#cite_note-1" TargetMode="External"/><Relationship Id="rId3" Type="http://schemas.openxmlformats.org/officeDocument/2006/relationships/hyperlink" Target="https://en.wikipedia.org/wiki/U.S._Census_Bureau" TargetMode="External"/><Relationship Id="rId7" Type="http://schemas.openxmlformats.org/officeDocument/2006/relationships/hyperlink" Target="https://en.wikipedia.org/wiki/Private_sector"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en.wikipedia.org/wiki/Public_sector" TargetMode="External"/><Relationship Id="rId5" Type="http://schemas.openxmlformats.org/officeDocument/2006/relationships/hyperlink" Target="https://en.wikipedia.org/wiki/Disability_in_the_United_States" TargetMode="External"/><Relationship Id="rId10" Type="http://schemas.openxmlformats.org/officeDocument/2006/relationships/hyperlink" Target="https://en.wikipedia.org/wiki/American_Community_Survey#cite_note-16" TargetMode="External"/><Relationship Id="rId4" Type="http://schemas.openxmlformats.org/officeDocument/2006/relationships/hyperlink" Target="https://en.wikipedia.org/wiki/United_States_Census" TargetMode="External"/><Relationship Id="rId9" Type="http://schemas.openxmlformats.org/officeDocument/2006/relationships/hyperlink" Target="https://en.wikipedia.org/wiki/American_Community_Survey#cite_note-:1-2"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en.wikipedia.org/wiki/Accidental_sampling" TargetMode="External"/><Relationship Id="rId2" Type="http://schemas.openxmlformats.org/officeDocument/2006/relationships/slide" Target="../slides/slide9.xml"/><Relationship Id="rId1" Type="http://schemas.openxmlformats.org/officeDocument/2006/relationships/notesMaster" Target="../notesMasters/notesMaster1.xml"/><Relationship Id="rId5" Type="http://schemas.openxmlformats.org/officeDocument/2006/relationships/hyperlink" Target="http://en.wikipedia.org/wiki/Purposive_sampling" TargetMode="External"/><Relationship Id="rId4" Type="http://schemas.openxmlformats.org/officeDocument/2006/relationships/hyperlink" Target="http://en.wikipedia.org/wiki/Quota_sampling"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pPr>
            <a:r>
              <a:rPr lang="en-US" altLang="en-US" sz="2800" dirty="0">
                <a:latin typeface="Arial" panose="020B0604020202020204" pitchFamily="34" charset="0"/>
                <a:cs typeface="Arial" panose="020B0604020202020204" pitchFamily="34" charset="0"/>
              </a:rPr>
              <a:t>Population:</a:t>
            </a:r>
          </a:p>
          <a:p>
            <a:pPr eaLnBrk="1" hangingPunct="1"/>
            <a:r>
              <a:rPr lang="en-US" altLang="en-US" sz="2800" dirty="0">
                <a:solidFill>
                  <a:schemeClr val="accent2"/>
                </a:solidFill>
                <a:latin typeface="Comic Sans MS" panose="030F0902030302020204" pitchFamily="66" charset="0"/>
              </a:rPr>
              <a:t>A population can be defined as including all people or items with the characteristic one wishes to understand.</a:t>
            </a:r>
          </a:p>
          <a:p>
            <a:pPr eaLnBrk="1" hangingPunct="1"/>
            <a:r>
              <a:rPr lang="en-US" altLang="en-US" sz="2800" dirty="0">
                <a:solidFill>
                  <a:schemeClr val="accent2"/>
                </a:solidFill>
                <a:latin typeface="Comic Sans MS" panose="030F0902030302020204" pitchFamily="66" charset="0"/>
              </a:rPr>
              <a:t>Because there is very rarely enough time or money to gather information from everyone or everything in a population, the goal becomes finding a representative sample (or subset) of that population.</a:t>
            </a:r>
          </a:p>
          <a:p>
            <a:pPr eaLnBrk="1" hangingPunct="1"/>
            <a:endParaRPr lang="en-US" altLang="en-US" sz="2800" dirty="0">
              <a:solidFill>
                <a:schemeClr val="accent2"/>
              </a:solidFill>
              <a:latin typeface="Comic Sans MS" panose="030F0902030302020204" pitchFamily="66" charset="0"/>
            </a:endParaRPr>
          </a:p>
          <a:p>
            <a:pPr eaLnBrk="1" hangingPunct="1"/>
            <a:r>
              <a:rPr lang="en-US" altLang="en-US" sz="2800" dirty="0">
                <a:solidFill>
                  <a:schemeClr val="accent2"/>
                </a:solidFill>
                <a:latin typeface="Comic Sans MS" panose="030F0902030302020204" pitchFamily="66" charset="0"/>
              </a:rPr>
              <a:t>Note also that the population from which the sample is drawn may not be the same as the population about which we actually want information. Often there is large but not complete overlap between these two groups due to frame issues </a:t>
            </a:r>
            <a:r>
              <a:rPr lang="en-US" altLang="en-US" sz="2800" dirty="0" err="1">
                <a:solidFill>
                  <a:schemeClr val="accent2"/>
                </a:solidFill>
                <a:latin typeface="Comic Sans MS" panose="030F0902030302020204" pitchFamily="66" charset="0"/>
              </a:rPr>
              <a:t>etc</a:t>
            </a:r>
            <a:r>
              <a:rPr lang="en-US" altLang="en-US" sz="2800" dirty="0">
                <a:solidFill>
                  <a:schemeClr val="accent2"/>
                </a:solidFill>
                <a:latin typeface="Comic Sans MS" panose="030F0902030302020204" pitchFamily="66" charset="0"/>
              </a:rPr>
              <a:t> . </a:t>
            </a:r>
          </a:p>
          <a:p>
            <a:pPr eaLnBrk="1" hangingPunct="1"/>
            <a:r>
              <a:rPr lang="en-US" altLang="en-US" sz="2800" dirty="0">
                <a:solidFill>
                  <a:schemeClr val="accent2"/>
                </a:solidFill>
                <a:latin typeface="Comic Sans MS" panose="030F0902030302020204" pitchFamily="66" charset="0"/>
              </a:rPr>
              <a:t>Sometimes they may be entirely separate - for instance, we might study rats in order to get a better understanding of human health, or we might study records from people born in 2008 in order to make predictions about people born in 2009. </a:t>
            </a:r>
          </a:p>
          <a:p>
            <a:pPr eaLnBrk="1" hangingPunct="1"/>
            <a:endParaRPr lang="en-US" altLang="en-US" sz="2800" dirty="0">
              <a:solidFill>
                <a:schemeClr val="accent2"/>
              </a:solidFill>
              <a:latin typeface="Comic Sans MS" panose="030F0902030302020204" pitchFamily="66" charset="0"/>
            </a:endParaRPr>
          </a:p>
          <a:p>
            <a:pPr eaLnBrk="1" hangingPunct="1">
              <a:lnSpc>
                <a:spcPct val="80000"/>
              </a:lnSpc>
            </a:pPr>
            <a:endParaRPr lang="en-US" altLang="en-US" sz="2800" dirty="0">
              <a:latin typeface="Arial" panose="020B0604020202020204" pitchFamily="34" charset="0"/>
              <a:cs typeface="Arial" panose="020B0604020202020204" pitchFamily="34" charset="0"/>
            </a:endParaRPr>
          </a:p>
          <a:p>
            <a:pPr eaLnBrk="1" hangingPunct="1">
              <a:lnSpc>
                <a:spcPct val="80000"/>
              </a:lnSpc>
            </a:pPr>
            <a:r>
              <a:rPr lang="en-US" altLang="en-US" sz="2800" b="1" dirty="0">
                <a:latin typeface="Arial" panose="020B0604020202020204" pitchFamily="34" charset="0"/>
                <a:cs typeface="Arial" panose="020B0604020202020204" pitchFamily="34" charset="0"/>
              </a:rPr>
              <a:t>The </a:t>
            </a:r>
            <a:r>
              <a:rPr lang="en-US" altLang="en-US" sz="2800" b="1" dirty="0">
                <a:solidFill>
                  <a:srgbClr val="0091DA"/>
                </a:solidFill>
                <a:latin typeface="Arial" panose="020B0604020202020204" pitchFamily="34" charset="0"/>
                <a:cs typeface="Arial" panose="020B0604020202020204" pitchFamily="34" charset="0"/>
              </a:rPr>
              <a:t>sampling frame</a:t>
            </a:r>
            <a:r>
              <a:rPr lang="en-US" altLang="en-US" sz="2800" dirty="0">
                <a:latin typeface="Arial" panose="020B0604020202020204" pitchFamily="34" charset="0"/>
                <a:cs typeface="Arial" panose="020B0604020202020204" pitchFamily="34" charset="0"/>
              </a:rPr>
              <a:t> is the list from which the potential respondents are drawn </a:t>
            </a:r>
          </a:p>
          <a:p>
            <a:pPr lvl="1" eaLnBrk="1" hangingPunct="1">
              <a:lnSpc>
                <a:spcPct val="80000"/>
              </a:lnSpc>
            </a:pPr>
            <a:r>
              <a:rPr lang="en-US" altLang="en-US" sz="2800" dirty="0">
                <a:latin typeface="Arial" panose="020B0604020202020204" pitchFamily="34" charset="0"/>
                <a:cs typeface="Arial" panose="020B0604020202020204" pitchFamily="34" charset="0"/>
              </a:rPr>
              <a:t>Registrar’s office</a:t>
            </a:r>
          </a:p>
          <a:p>
            <a:pPr lvl="1" eaLnBrk="1" hangingPunct="1">
              <a:lnSpc>
                <a:spcPct val="80000"/>
              </a:lnSpc>
            </a:pPr>
            <a:r>
              <a:rPr lang="en-US" altLang="en-US" sz="2800" dirty="0">
                <a:latin typeface="Arial" panose="020B0604020202020204" pitchFamily="34" charset="0"/>
                <a:cs typeface="Arial" panose="020B0604020202020204" pitchFamily="34" charset="0"/>
              </a:rPr>
              <a:t>Class rosters</a:t>
            </a:r>
          </a:p>
          <a:p>
            <a:pPr lvl="1" eaLnBrk="1" hangingPunct="1">
              <a:lnSpc>
                <a:spcPct val="80000"/>
              </a:lnSpc>
            </a:pPr>
            <a:r>
              <a:rPr lang="en-US" altLang="en-US" sz="2800" dirty="0">
                <a:latin typeface="Arial" panose="020B0604020202020204" pitchFamily="34" charset="0"/>
                <a:cs typeface="Arial" panose="020B0604020202020204" pitchFamily="34" charset="0"/>
              </a:rPr>
              <a:t>Must assess sampling frame errors</a:t>
            </a:r>
          </a:p>
          <a:p>
            <a:pPr lvl="1" eaLnBrk="1" hangingPunct="1">
              <a:lnSpc>
                <a:spcPct val="80000"/>
              </a:lnSpc>
            </a:pPr>
            <a:endParaRPr lang="en-US" sz="2800" dirty="0">
              <a:latin typeface="Arial" panose="020B0604020202020204" pitchFamily="34" charset="0"/>
              <a:cs typeface="Arial" panose="020B0604020202020204" pitchFamily="34" charset="0"/>
            </a:endParaRPr>
          </a:p>
          <a:p>
            <a:pPr eaLnBrk="1" hangingPunct="1">
              <a:lnSpc>
                <a:spcPct val="90000"/>
              </a:lnSpc>
            </a:pPr>
            <a:r>
              <a:rPr lang="en-US" altLang="en-US" sz="2400" dirty="0">
                <a:latin typeface="Comic Sans MS" panose="030F0902030302020204" pitchFamily="66" charset="0"/>
              </a:rPr>
              <a:t>Where voting is not compulsory, there is no way to identify which people will actually vote at a forthcoming election (in advance of the election) </a:t>
            </a:r>
          </a:p>
          <a:p>
            <a:pPr eaLnBrk="1" hangingPunct="1">
              <a:lnSpc>
                <a:spcPct val="90000"/>
              </a:lnSpc>
            </a:pPr>
            <a:r>
              <a:rPr lang="en-US" altLang="en-US" sz="2400" dirty="0">
                <a:latin typeface="Comic Sans MS" panose="030F0902030302020204" pitchFamily="66" charset="0"/>
              </a:rPr>
              <a:t>As a remedy, we seek a </a:t>
            </a:r>
            <a:r>
              <a:rPr lang="en-US" altLang="en-US" sz="2400" b="1" i="1" dirty="0">
                <a:latin typeface="Comic Sans MS" panose="030F0902030302020204" pitchFamily="66" charset="0"/>
              </a:rPr>
              <a:t>sampling frame</a:t>
            </a:r>
            <a:r>
              <a:rPr lang="en-US" altLang="en-US" sz="2400" b="1" dirty="0">
                <a:latin typeface="Comic Sans MS" panose="030F0902030302020204" pitchFamily="66" charset="0"/>
              </a:rPr>
              <a:t> which has the property that we can identify every single element and include any in our sample .</a:t>
            </a:r>
          </a:p>
          <a:p>
            <a:pPr eaLnBrk="1" hangingPunct="1">
              <a:lnSpc>
                <a:spcPct val="90000"/>
              </a:lnSpc>
            </a:pPr>
            <a:r>
              <a:rPr lang="en-US" altLang="en-US" sz="2400" b="1" dirty="0">
                <a:latin typeface="Comic Sans MS" panose="030F0902030302020204" pitchFamily="66" charset="0"/>
              </a:rPr>
              <a:t>The sampling frame must be representative of the population</a:t>
            </a:r>
          </a:p>
        </p:txBody>
      </p:sp>
      <p:sp>
        <p:nvSpPr>
          <p:cNvPr id="4" name="Slide Number Placeholder 3"/>
          <p:cNvSpPr>
            <a:spLocks noGrp="1"/>
          </p:cNvSpPr>
          <p:nvPr>
            <p:ph type="sldNum" sz="quarter" idx="5"/>
          </p:nvPr>
        </p:nvSpPr>
        <p:spPr/>
        <p:txBody>
          <a:bodyPr/>
          <a:lstStyle/>
          <a:p>
            <a:fld id="{36105C90-1CE8-BF41-8E55-5EDD54F24EA9}" type="slidenum">
              <a:rPr lang="en-US" smtClean="0"/>
              <a:t>3</a:t>
            </a:fld>
            <a:endParaRPr lang="en-US"/>
          </a:p>
        </p:txBody>
      </p:sp>
    </p:spTree>
    <p:extLst>
      <p:ext uri="{BB962C8B-B14F-4D97-AF65-F5344CB8AC3E}">
        <p14:creationId xmlns:p14="http://schemas.microsoft.com/office/powerpoint/2010/main" val="1621059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pPr>
            <a:r>
              <a:rPr lang="en-US" altLang="en-US" sz="2800" dirty="0">
                <a:latin typeface="Arial" panose="020B0604020202020204" pitchFamily="34" charset="0"/>
                <a:cs typeface="Arial" panose="020B0604020202020204" pitchFamily="34" charset="0"/>
              </a:rPr>
              <a:t>3 factors that influence sample representative-ness</a:t>
            </a:r>
          </a:p>
          <a:p>
            <a:pPr lvl="2" eaLnBrk="1" hangingPunct="1">
              <a:lnSpc>
                <a:spcPct val="80000"/>
              </a:lnSpc>
            </a:pPr>
            <a:r>
              <a:rPr lang="en-US" altLang="en-US" dirty="0">
                <a:latin typeface="Arial" panose="020B0604020202020204" pitchFamily="34" charset="0"/>
                <a:cs typeface="Arial" panose="020B0604020202020204" pitchFamily="34" charset="0"/>
              </a:rPr>
              <a:t>Sampling procedure</a:t>
            </a:r>
          </a:p>
          <a:p>
            <a:pPr lvl="2" eaLnBrk="1" hangingPunct="1">
              <a:lnSpc>
                <a:spcPct val="80000"/>
              </a:lnSpc>
            </a:pPr>
            <a:r>
              <a:rPr lang="en-US" altLang="en-US" dirty="0">
                <a:latin typeface="Arial" panose="020B0604020202020204" pitchFamily="34" charset="0"/>
                <a:cs typeface="Arial" panose="020B0604020202020204" pitchFamily="34" charset="0"/>
              </a:rPr>
              <a:t>Sample size</a:t>
            </a:r>
          </a:p>
          <a:p>
            <a:pPr lvl="2" eaLnBrk="1" hangingPunct="1">
              <a:lnSpc>
                <a:spcPct val="80000"/>
              </a:lnSpc>
            </a:pPr>
            <a:r>
              <a:rPr lang="en-US" altLang="en-US" dirty="0">
                <a:latin typeface="Arial" panose="020B0604020202020204" pitchFamily="34" charset="0"/>
                <a:cs typeface="Arial" panose="020B0604020202020204" pitchFamily="34" charset="0"/>
              </a:rPr>
              <a:t>Participation (response)</a:t>
            </a:r>
          </a:p>
          <a:p>
            <a:pPr eaLnBrk="1" hangingPunct="1">
              <a:lnSpc>
                <a:spcPct val="80000"/>
              </a:lnSpc>
            </a:pPr>
            <a:endParaRPr lang="en-US" altLang="en-US" sz="2800" dirty="0">
              <a:latin typeface="Arial" panose="020B0604020202020204" pitchFamily="34" charset="0"/>
              <a:cs typeface="Arial" panose="020B0604020202020204" pitchFamily="34" charset="0"/>
            </a:endParaRPr>
          </a:p>
          <a:p>
            <a:pPr eaLnBrk="1" hangingPunct="1">
              <a:lnSpc>
                <a:spcPct val="80000"/>
              </a:lnSpc>
            </a:pPr>
            <a:r>
              <a:rPr lang="en-US" altLang="en-US" sz="2800" dirty="0">
                <a:latin typeface="Arial" panose="020B0604020202020204" pitchFamily="34" charset="0"/>
                <a:cs typeface="Arial" panose="020B0604020202020204" pitchFamily="34" charset="0"/>
              </a:rPr>
              <a:t>When might you sample the entire population?</a:t>
            </a:r>
          </a:p>
          <a:p>
            <a:pPr lvl="2" eaLnBrk="1" hangingPunct="1">
              <a:lnSpc>
                <a:spcPct val="80000"/>
              </a:lnSpc>
            </a:pPr>
            <a:r>
              <a:rPr lang="en-US" altLang="en-US" b="1" dirty="0">
                <a:latin typeface="Arial" panose="020B0604020202020204" pitchFamily="34" charset="0"/>
                <a:cs typeface="Arial" panose="020B0604020202020204" pitchFamily="34" charset="0"/>
              </a:rPr>
              <a:t>When your population is very small</a:t>
            </a:r>
          </a:p>
          <a:p>
            <a:pPr lvl="2" eaLnBrk="1" hangingPunct="1">
              <a:lnSpc>
                <a:spcPct val="80000"/>
              </a:lnSpc>
            </a:pPr>
            <a:r>
              <a:rPr lang="en-US" altLang="en-US" b="1" dirty="0">
                <a:latin typeface="Arial" panose="020B0604020202020204" pitchFamily="34" charset="0"/>
                <a:cs typeface="Arial" panose="020B0604020202020204" pitchFamily="34" charset="0"/>
              </a:rPr>
              <a:t>When you have extensive resources</a:t>
            </a:r>
          </a:p>
          <a:p>
            <a:pPr lvl="2" eaLnBrk="1" hangingPunct="1">
              <a:lnSpc>
                <a:spcPct val="80000"/>
              </a:lnSpc>
            </a:pPr>
            <a:r>
              <a:rPr lang="en-US" altLang="en-US" b="1" dirty="0">
                <a:latin typeface="Arial" panose="020B0604020202020204" pitchFamily="34" charset="0"/>
                <a:cs typeface="Arial" panose="020B0604020202020204" pitchFamily="34" charset="0"/>
              </a:rPr>
              <a:t>When you don’t expect a very high response</a:t>
            </a:r>
          </a:p>
          <a:p>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4</a:t>
            </a:fld>
            <a:endParaRPr lang="en-US"/>
          </a:p>
        </p:txBody>
      </p:sp>
    </p:spTree>
    <p:extLst>
      <p:ext uri="{BB962C8B-B14F-4D97-AF65-F5344CB8AC3E}">
        <p14:creationId xmlns:p14="http://schemas.microsoft.com/office/powerpoint/2010/main" val="4865215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Eg</a:t>
            </a:r>
            <a:r>
              <a:rPr lang="en-US" dirty="0"/>
              <a:t>:</a:t>
            </a:r>
          </a:p>
          <a:p>
            <a:r>
              <a:rPr lang="en-US" b="1" dirty="0"/>
              <a:t>American Community Survey</a:t>
            </a:r>
          </a:p>
          <a:p>
            <a:r>
              <a:rPr lang="en-IN" sz="1200" b="0" i="0" kern="1200" dirty="0">
                <a:solidFill>
                  <a:schemeClr val="tx1"/>
                </a:solidFill>
                <a:effectLst/>
                <a:latin typeface="+mn-lt"/>
                <a:ea typeface="+mn-ea"/>
                <a:cs typeface="+mn-cs"/>
              </a:rPr>
              <a:t>The </a:t>
            </a:r>
            <a:r>
              <a:rPr lang="en-IN" sz="1200" b="1" i="0" kern="1200" dirty="0">
                <a:solidFill>
                  <a:schemeClr val="tx1"/>
                </a:solidFill>
                <a:effectLst/>
                <a:latin typeface="+mn-lt"/>
                <a:ea typeface="+mn-ea"/>
                <a:cs typeface="+mn-cs"/>
              </a:rPr>
              <a:t>American Community Survey</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ACS</a:t>
            </a:r>
            <a:r>
              <a:rPr lang="en-IN" sz="1200" b="0" i="0" kern="1200" dirty="0">
                <a:solidFill>
                  <a:schemeClr val="tx1"/>
                </a:solidFill>
                <a:effectLst/>
                <a:latin typeface="+mn-lt"/>
                <a:ea typeface="+mn-ea"/>
                <a:cs typeface="+mn-cs"/>
              </a:rPr>
              <a:t>) is an ongoing survey by the </a:t>
            </a:r>
            <a:r>
              <a:rPr lang="en-IN" sz="1200" b="0" i="0" u="none" strike="noStrike" kern="1200" dirty="0">
                <a:solidFill>
                  <a:schemeClr val="tx1"/>
                </a:solidFill>
                <a:effectLst/>
                <a:latin typeface="+mn-lt"/>
                <a:ea typeface="+mn-ea"/>
                <a:cs typeface="+mn-cs"/>
                <a:hlinkClick r:id="rId3" tooltip="U.S. Census Bureau"/>
              </a:rPr>
              <a:t>U.S. Census Bureau</a:t>
            </a:r>
            <a:r>
              <a:rPr lang="en-IN" sz="1200" b="0" i="0" kern="1200" dirty="0">
                <a:solidFill>
                  <a:schemeClr val="tx1"/>
                </a:solidFill>
                <a:effectLst/>
                <a:latin typeface="+mn-lt"/>
                <a:ea typeface="+mn-ea"/>
                <a:cs typeface="+mn-cs"/>
              </a:rPr>
              <a:t>. It regularly gathers information previously contained only in the long form of the </a:t>
            </a:r>
            <a:r>
              <a:rPr lang="en-IN" sz="1200" b="0" i="0" u="none" strike="noStrike" kern="1200" dirty="0">
                <a:solidFill>
                  <a:schemeClr val="tx1"/>
                </a:solidFill>
                <a:effectLst/>
                <a:latin typeface="+mn-lt"/>
                <a:ea typeface="+mn-ea"/>
                <a:cs typeface="+mn-cs"/>
                <a:hlinkClick r:id="rId4" tooltip="United States Census"/>
              </a:rPr>
              <a:t>decennial census</a:t>
            </a:r>
            <a:r>
              <a:rPr lang="en-IN" sz="1200" b="0" i="0" kern="1200" dirty="0">
                <a:solidFill>
                  <a:schemeClr val="tx1"/>
                </a:solidFill>
                <a:effectLst/>
                <a:latin typeface="+mn-lt"/>
                <a:ea typeface="+mn-ea"/>
                <a:cs typeface="+mn-cs"/>
              </a:rPr>
              <a:t>, such as ancestry, citizenship, educational attainment, income, language proficiency, migration, </a:t>
            </a:r>
            <a:r>
              <a:rPr lang="en-IN" sz="1200" b="0" i="0" u="none" strike="noStrike" kern="1200" dirty="0">
                <a:solidFill>
                  <a:schemeClr val="tx1"/>
                </a:solidFill>
                <a:effectLst/>
                <a:latin typeface="+mn-lt"/>
                <a:ea typeface="+mn-ea"/>
                <a:cs typeface="+mn-cs"/>
                <a:hlinkClick r:id="rId5" tooltip="Disability in the United States"/>
              </a:rPr>
              <a:t>disability</a:t>
            </a:r>
            <a:r>
              <a:rPr lang="en-IN" sz="1200" b="0" i="0" kern="1200" dirty="0">
                <a:solidFill>
                  <a:schemeClr val="tx1"/>
                </a:solidFill>
                <a:effectLst/>
                <a:latin typeface="+mn-lt"/>
                <a:ea typeface="+mn-ea"/>
                <a:cs typeface="+mn-cs"/>
              </a:rPr>
              <a:t>, employment, and housing characteristics. These data are used by many </a:t>
            </a:r>
            <a:r>
              <a:rPr lang="en-IN" sz="1200" b="0" i="0" u="none" strike="noStrike" kern="1200" dirty="0">
                <a:solidFill>
                  <a:schemeClr val="tx1"/>
                </a:solidFill>
                <a:effectLst/>
                <a:latin typeface="+mn-lt"/>
                <a:ea typeface="+mn-ea"/>
                <a:cs typeface="+mn-cs"/>
                <a:hlinkClick r:id="rId6" tooltip="Public sector"/>
              </a:rPr>
              <a:t>public-sector</a:t>
            </a:r>
            <a:r>
              <a:rPr lang="en-IN" sz="1200" b="0" i="0" kern="1200" dirty="0">
                <a:solidFill>
                  <a:schemeClr val="tx1"/>
                </a:solidFill>
                <a:effectLst/>
                <a:latin typeface="+mn-lt"/>
                <a:ea typeface="+mn-ea"/>
                <a:cs typeface="+mn-cs"/>
              </a:rPr>
              <a:t>, </a:t>
            </a:r>
            <a:r>
              <a:rPr lang="en-IN" sz="1200" b="0" i="0" u="none" strike="noStrike" kern="1200" dirty="0">
                <a:solidFill>
                  <a:schemeClr val="tx1"/>
                </a:solidFill>
                <a:effectLst/>
                <a:latin typeface="+mn-lt"/>
                <a:ea typeface="+mn-ea"/>
                <a:cs typeface="+mn-cs"/>
                <a:hlinkClick r:id="rId7" tooltip="Private sector"/>
              </a:rPr>
              <a:t>private-sector</a:t>
            </a:r>
            <a:r>
              <a:rPr lang="en-IN" sz="1200" b="0" i="0" kern="1200" dirty="0">
                <a:solidFill>
                  <a:schemeClr val="tx1"/>
                </a:solidFill>
                <a:effectLst/>
                <a:latin typeface="+mn-lt"/>
                <a:ea typeface="+mn-ea"/>
                <a:cs typeface="+mn-cs"/>
              </a:rPr>
              <a:t>, and not-for-profit stakeholders to allocate funding, track shifting demographics, plan for emergencies, and learn about local communities.</a:t>
            </a:r>
            <a:r>
              <a:rPr lang="en-IN" sz="1200" b="0" i="0" u="none" strike="noStrike" kern="1200" baseline="30000" dirty="0">
                <a:solidFill>
                  <a:schemeClr val="tx1"/>
                </a:solidFill>
                <a:effectLst/>
                <a:latin typeface="+mn-lt"/>
                <a:ea typeface="+mn-ea"/>
                <a:cs typeface="+mn-cs"/>
                <a:hlinkClick r:id="rId8"/>
              </a:rPr>
              <a:t>[1]</a:t>
            </a:r>
            <a:r>
              <a:rPr lang="en-IN" sz="1200" b="0" i="0" kern="1200" dirty="0">
                <a:solidFill>
                  <a:schemeClr val="tx1"/>
                </a:solidFill>
                <a:effectLst/>
                <a:latin typeface="+mn-lt"/>
                <a:ea typeface="+mn-ea"/>
                <a:cs typeface="+mn-cs"/>
              </a:rPr>
              <a:t> Sent to approximately 295,000 addresses monthly (or 3.5 million per year), it is the largest household survey that the Census Bureau administers.</a:t>
            </a:r>
            <a:r>
              <a:rPr lang="en-IN" sz="1200" b="0" i="0" u="none" strike="noStrike" kern="1200" baseline="30000" dirty="0">
                <a:solidFill>
                  <a:schemeClr val="tx1"/>
                </a:solidFill>
                <a:effectLst/>
                <a:latin typeface="+mn-lt"/>
                <a:ea typeface="+mn-ea"/>
                <a:cs typeface="+mn-cs"/>
                <a:hlinkClick r:id="rId9"/>
              </a:rPr>
              <a:t>[2]</a:t>
            </a:r>
            <a:endParaRPr lang="en-IN" sz="1200" b="0" i="0" kern="1200" dirty="0">
              <a:solidFill>
                <a:schemeClr val="tx1"/>
              </a:solidFill>
              <a:effectLst/>
              <a:latin typeface="+mn-lt"/>
              <a:ea typeface="+mn-ea"/>
              <a:cs typeface="+mn-cs"/>
            </a:endParaRPr>
          </a:p>
          <a:p>
            <a:br>
              <a:rPr lang="en-IN" dirty="0"/>
            </a:br>
            <a:endParaRPr lang="en-IN" dirty="0"/>
          </a:p>
          <a:p>
            <a:r>
              <a:rPr lang="en-IN" sz="1200" b="0" i="0" kern="1200" dirty="0">
                <a:solidFill>
                  <a:schemeClr val="tx1"/>
                </a:solidFill>
                <a:effectLst/>
                <a:latin typeface="+mn-lt"/>
                <a:ea typeface="+mn-ea"/>
                <a:cs typeface="+mn-cs"/>
              </a:rPr>
              <a:t>The ACS has an initial sample of approximately 3.5 million housing unit addresses and group quarters in the United States. The Census Bureau selects a random sample of addresses to be included in the ACS. Each address has about a 1-in-480 chance of being selected in a given month, and no address should be selected more than once every five years. Data is collected by internet, mail, telephone interviews and in-person interviews. Approximately one third of those who do not respond to the survey by mail or telephone are randomly selected for in-person interviews. About 95 percent of households across all response modes ultimately respond.</a:t>
            </a:r>
            <a:r>
              <a:rPr lang="en-IN" sz="1200" b="0" i="0" u="none" strike="noStrike" kern="1200" baseline="30000" dirty="0">
                <a:solidFill>
                  <a:schemeClr val="tx1"/>
                </a:solidFill>
                <a:effectLst/>
                <a:latin typeface="+mn-lt"/>
                <a:ea typeface="+mn-ea"/>
                <a:cs typeface="+mn-cs"/>
                <a:hlinkClick r:id="rId10"/>
              </a:rPr>
              <a:t>[16]</a:t>
            </a:r>
            <a:endParaRPr lang="en-IN" sz="1200" b="0" i="0" kern="1200" dirty="0">
              <a:solidFill>
                <a:schemeClr val="tx1"/>
              </a:solidFill>
              <a:effectLst/>
              <a:latin typeface="+mn-lt"/>
              <a:ea typeface="+mn-ea"/>
              <a:cs typeface="+mn-cs"/>
            </a:endParaRPr>
          </a:p>
          <a:p>
            <a:br>
              <a:rPr lang="en-IN" dirty="0"/>
            </a:br>
            <a:endParaRPr lang="en-US" b="1" dirty="0"/>
          </a:p>
          <a:p>
            <a:endParaRPr lang="en-US" b="1" dirty="0"/>
          </a:p>
        </p:txBody>
      </p:sp>
      <p:sp>
        <p:nvSpPr>
          <p:cNvPr id="4" name="Slide Number Placeholder 3"/>
          <p:cNvSpPr>
            <a:spLocks noGrp="1"/>
          </p:cNvSpPr>
          <p:nvPr>
            <p:ph type="sldNum" sz="quarter" idx="5"/>
          </p:nvPr>
        </p:nvSpPr>
        <p:spPr/>
        <p:txBody>
          <a:bodyPr/>
          <a:lstStyle/>
          <a:p>
            <a:fld id="{36105C90-1CE8-BF41-8E55-5EDD54F24EA9}" type="slidenum">
              <a:rPr lang="en-US" smtClean="0"/>
              <a:t>5</a:t>
            </a:fld>
            <a:endParaRPr lang="en-US"/>
          </a:p>
        </p:txBody>
      </p:sp>
    </p:spTree>
    <p:extLst>
      <p:ext uri="{BB962C8B-B14F-4D97-AF65-F5344CB8AC3E}">
        <p14:creationId xmlns:p14="http://schemas.microsoft.com/office/powerpoint/2010/main" val="2038377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latin typeface="Arial" panose="020B0604020202020204" pitchFamily="34" charset="0"/>
              </a:rPr>
              <a:t>Two general approaches to sampling are used in social science research. With </a:t>
            </a:r>
            <a:r>
              <a:rPr lang="en-US" altLang="en-US" i="1" dirty="0">
                <a:latin typeface="Arial" panose="020B0604020202020204" pitchFamily="34" charset="0"/>
              </a:rPr>
              <a:t>probability sampling</a:t>
            </a:r>
            <a:r>
              <a:rPr lang="en-US" altLang="en-US" dirty="0">
                <a:latin typeface="Arial" panose="020B0604020202020204" pitchFamily="34" charset="0"/>
              </a:rPr>
              <a:t>, all elements (e.g., persons, households) in the population (</a:t>
            </a:r>
            <a:r>
              <a:rPr lang="en-US" altLang="en-US" b="1" dirty="0">
                <a:latin typeface="Arial" panose="020B0604020202020204" pitchFamily="34" charset="0"/>
              </a:rPr>
              <a:t>to be specific sampling frame</a:t>
            </a:r>
            <a:r>
              <a:rPr lang="en-US" altLang="en-US" dirty="0">
                <a:latin typeface="Arial" panose="020B0604020202020204" pitchFamily="34" charset="0"/>
              </a:rPr>
              <a:t>) have some opportunity of being included in the sample, and the mathematical probability that any one of them will be selected can be calculated. With </a:t>
            </a:r>
            <a:r>
              <a:rPr lang="en-US" altLang="en-US" i="1" dirty="0">
                <a:latin typeface="Arial" panose="020B0604020202020204" pitchFamily="34" charset="0"/>
              </a:rPr>
              <a:t>nonprobability sampling</a:t>
            </a:r>
            <a:r>
              <a:rPr lang="en-US" altLang="en-US" dirty="0">
                <a:latin typeface="Arial" panose="020B0604020202020204" pitchFamily="34" charset="0"/>
              </a:rPr>
              <a:t>, in contrast, population elements are selected on the basis of their availability (e.g., because they volunteered) or because of the researcher's personal judgment that they are representative. The consequence is that an unknown portion of the population is excluded (e.g., those who did not volunteer). One of the most common types of nonprobability sample is called a </a:t>
            </a:r>
            <a:r>
              <a:rPr lang="en-US" altLang="en-US" i="1" dirty="0">
                <a:latin typeface="Arial" panose="020B0604020202020204" pitchFamily="34" charset="0"/>
              </a:rPr>
              <a:t>convenience</a:t>
            </a:r>
            <a:r>
              <a:rPr lang="en-US" altLang="en-US" dirty="0">
                <a:latin typeface="Arial" panose="020B0604020202020204" pitchFamily="34" charset="0"/>
              </a:rPr>
              <a:t> sample – not because such samples are necessarily easy to recruit, but because the researcher uses whatever individuals are available rather than selecting from the entire population. </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Because some members of the population have no chance of being sampled, the extent to which a convenience sample – regardless of its size – actually represents the entire population cannot be known</a:t>
            </a:r>
          </a:p>
          <a:p>
            <a:pPr eaLnBrk="1" hangingPunct="1"/>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6</a:t>
            </a:fld>
            <a:endParaRPr lang="en-US"/>
          </a:p>
        </p:txBody>
      </p:sp>
    </p:spTree>
    <p:extLst>
      <p:ext uri="{BB962C8B-B14F-4D97-AF65-F5344CB8AC3E}">
        <p14:creationId xmlns:p14="http://schemas.microsoft.com/office/powerpoint/2010/main" val="12791626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AD5FEED-732C-46A9-8A11-6E32F7E076B8}" type="slidenum">
              <a:rPr lang="en-IN" smtClean="0"/>
              <a:t>7</a:t>
            </a:fld>
            <a:endParaRPr lang="en-IN"/>
          </a:p>
        </p:txBody>
      </p:sp>
    </p:spTree>
    <p:extLst>
      <p:ext uri="{BB962C8B-B14F-4D97-AF65-F5344CB8AC3E}">
        <p14:creationId xmlns:p14="http://schemas.microsoft.com/office/powerpoint/2010/main" val="484196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accent2"/>
                </a:solidFill>
                <a:latin typeface="Comic Sans MS" panose="030F0902030302020204" pitchFamily="66" charset="0"/>
              </a:rPr>
              <a:t>It involves the selection of elements based on assumptions regarding the population of interest, which forms the criteria for selection. Hence, because the selection of elements is nonrandom, nonprobability sampling not allows the estimation of sampling errors..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i="1" dirty="0">
                <a:solidFill>
                  <a:schemeClr val="accent2"/>
                </a:solidFill>
                <a:latin typeface="Comic Sans MS" panose="030F0902030302020204" pitchFamily="66" charset="0"/>
              </a:rPr>
              <a:t>Example: We visit every household in a given street, and interview the first person to answer the door. In any household with more than one occupant, this is a nonprobability sample, because some people are more likely to answer the door (e.g. an unemployed person who spends most of their time at home is more likely to answer than an employed housemate who might be at work when the interviewer calls) and it's not practical to calculate these probabilities</a:t>
            </a:r>
            <a:r>
              <a:rPr lang="en-US" altLang="en-US" sz="1400" i="1" dirty="0">
                <a:latin typeface="Comic Sans MS" panose="030F0902030302020204" pitchFamily="66"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400" i="1" dirty="0">
              <a:latin typeface="Comic Sans MS" panose="030F0902030302020204" pitchFamily="66" charset="0"/>
            </a:endParaRPr>
          </a:p>
          <a:p>
            <a:pPr eaLnBrk="1" hangingPunct="1">
              <a:buFont typeface="Arial" panose="020B0604020202020204" pitchFamily="34" charset="0"/>
              <a:buChar char="•"/>
            </a:pPr>
            <a:r>
              <a:rPr lang="en-US" altLang="en-US" sz="1400" dirty="0">
                <a:solidFill>
                  <a:schemeClr val="accent2"/>
                </a:solidFill>
                <a:latin typeface="Comic Sans MS" panose="030F0902030302020204" pitchFamily="66" charset="0"/>
              </a:rPr>
              <a:t>Nonprobability Sampling includes: </a:t>
            </a:r>
            <a:r>
              <a:rPr lang="en-US" altLang="en-US" sz="1400" dirty="0">
                <a:solidFill>
                  <a:schemeClr val="accent2"/>
                </a:solidFill>
                <a:latin typeface="Comic Sans MS" panose="030F0902030302020204" pitchFamily="66" charset="0"/>
                <a:hlinkClick r:id="rId3" tooltip="Accidental sampling"/>
              </a:rPr>
              <a:t>Accidental Sampling</a:t>
            </a:r>
            <a:r>
              <a:rPr lang="en-US" altLang="en-US" sz="1400" dirty="0">
                <a:solidFill>
                  <a:schemeClr val="accent2"/>
                </a:solidFill>
                <a:latin typeface="Comic Sans MS" panose="030F0902030302020204" pitchFamily="66" charset="0"/>
              </a:rPr>
              <a:t>, </a:t>
            </a:r>
            <a:r>
              <a:rPr lang="en-US" altLang="en-US" sz="1400" dirty="0">
                <a:solidFill>
                  <a:schemeClr val="accent2"/>
                </a:solidFill>
                <a:latin typeface="Comic Sans MS" panose="030F0902030302020204" pitchFamily="66" charset="0"/>
                <a:hlinkClick r:id="rId4" tooltip="Quota sampling"/>
              </a:rPr>
              <a:t>Quota Sampling</a:t>
            </a:r>
            <a:r>
              <a:rPr lang="en-US" altLang="en-US" sz="1400" dirty="0">
                <a:solidFill>
                  <a:schemeClr val="accent2"/>
                </a:solidFill>
                <a:latin typeface="Comic Sans MS" panose="030F0902030302020204" pitchFamily="66" charset="0"/>
              </a:rPr>
              <a:t> and </a:t>
            </a:r>
            <a:r>
              <a:rPr lang="en-US" altLang="en-US" sz="1400" dirty="0">
                <a:solidFill>
                  <a:schemeClr val="accent2"/>
                </a:solidFill>
                <a:latin typeface="Comic Sans MS" panose="030F0902030302020204" pitchFamily="66" charset="0"/>
                <a:hlinkClick r:id="rId5" tooltip="Purposive sampling"/>
              </a:rPr>
              <a:t>Purposive Sampling</a:t>
            </a:r>
            <a:r>
              <a:rPr lang="en-US" altLang="en-US" sz="1400" dirty="0">
                <a:solidFill>
                  <a:schemeClr val="accent2"/>
                </a:solidFill>
                <a:latin typeface="Comic Sans MS" panose="030F0902030302020204" pitchFamily="66" charset="0"/>
              </a:rPr>
              <a:t>. In addition, nonresponse effects may turn </a:t>
            </a:r>
            <a:r>
              <a:rPr lang="en-US" altLang="en-US" sz="1400" i="1" dirty="0">
                <a:solidFill>
                  <a:schemeClr val="accent2"/>
                </a:solidFill>
                <a:latin typeface="Comic Sans MS" panose="030F0902030302020204" pitchFamily="66" charset="0"/>
              </a:rPr>
              <a:t>any</a:t>
            </a:r>
            <a:r>
              <a:rPr lang="en-US" altLang="en-US" sz="1400" dirty="0">
                <a:solidFill>
                  <a:schemeClr val="accent2"/>
                </a:solidFill>
                <a:latin typeface="Comic Sans MS" panose="030F0902030302020204" pitchFamily="66" charset="0"/>
              </a:rPr>
              <a:t> probability design into a nonprobability design if the characteristics of nonresponse are not well understood, since nonresponse effectively modifies each element's probability of being sampled.</a:t>
            </a:r>
          </a:p>
          <a:p>
            <a:pPr eaLnBrk="1" hangingPunct="1">
              <a:buFont typeface="Arial" panose="020B0604020202020204" pitchFamily="34" charset="0"/>
              <a:buChar char="•"/>
            </a:pPr>
            <a:endParaRPr lang="en-US" altLang="en-US" sz="1400" dirty="0">
              <a:solidFill>
                <a:schemeClr val="accent2"/>
              </a:solidFill>
              <a:latin typeface="Comic Sans MS" panose="030F0902030302020204" pitchFamily="66"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400" dirty="0">
              <a:latin typeface="Comic Sans MS" panose="030F0902030302020204" pitchFamily="66" charset="0"/>
            </a:endParaRPr>
          </a:p>
          <a:p>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9</a:t>
            </a:fld>
            <a:endParaRPr lang="en-US"/>
          </a:p>
        </p:txBody>
      </p:sp>
    </p:spTree>
    <p:extLst>
      <p:ext uri="{BB962C8B-B14F-4D97-AF65-F5344CB8AC3E}">
        <p14:creationId xmlns:p14="http://schemas.microsoft.com/office/powerpoint/2010/main" val="1453457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200" dirty="0">
                <a:solidFill>
                  <a:schemeClr val="accent2"/>
                </a:solidFill>
                <a:latin typeface="Comic Sans MS" panose="030F0902030302020204" pitchFamily="66" charset="0"/>
              </a:rPr>
              <a:t>Simple random sampling is always an EPS (Equal Probability of Selection) design, but not all EPS designs are simple random sampling.</a:t>
            </a:r>
          </a:p>
          <a:p>
            <a:pPr eaLnBrk="1" hangingPunct="1">
              <a:buFont typeface="Arial" panose="020B0604020202020204" pitchFamily="34" charset="0"/>
              <a:buChar char="•"/>
            </a:pPr>
            <a:endParaRPr lang="en-US" altLang="en-US" b="1" dirty="0">
              <a:solidFill>
                <a:schemeClr val="accent2"/>
              </a:solidFill>
              <a:latin typeface="Comic Sans MS" panose="030F0902030302020204" pitchFamily="66" charset="0"/>
            </a:endParaRPr>
          </a:p>
          <a:p>
            <a:pPr eaLnBrk="1" hangingPunct="1">
              <a:buFont typeface="Arial" panose="020B0604020202020204" pitchFamily="34" charset="0"/>
              <a:buChar char="•"/>
            </a:pPr>
            <a:r>
              <a:rPr lang="en-US" altLang="en-US" b="1" dirty="0">
                <a:solidFill>
                  <a:schemeClr val="accent2"/>
                </a:solidFill>
                <a:latin typeface="Comic Sans MS" panose="030F0902030302020204" pitchFamily="66" charset="0"/>
              </a:rPr>
              <a:t>Applicable when population is small, homogeneous &amp; readily available</a:t>
            </a:r>
          </a:p>
          <a:p>
            <a:pPr eaLnBrk="1" hangingPunct="1">
              <a:buFont typeface="Arial" panose="020B0604020202020204" pitchFamily="34" charset="0"/>
              <a:buChar char="•"/>
            </a:pPr>
            <a:r>
              <a:rPr lang="en-US" altLang="en-US" dirty="0">
                <a:solidFill>
                  <a:schemeClr val="accent2"/>
                </a:solidFill>
                <a:latin typeface="Comic Sans MS" panose="030F0902030302020204" pitchFamily="66" charset="0"/>
              </a:rPr>
              <a:t>All subsets of the frame are given an equal probability</a:t>
            </a:r>
            <a:r>
              <a:rPr lang="en-US" altLang="en-US" b="1" dirty="0">
                <a:solidFill>
                  <a:schemeClr val="accent2"/>
                </a:solidFill>
                <a:latin typeface="Comic Sans MS" panose="030F0902030302020204" pitchFamily="66" charset="0"/>
              </a:rPr>
              <a:t>. Each element of the frame thus has an equal probability of selection.</a:t>
            </a:r>
          </a:p>
          <a:p>
            <a:pPr eaLnBrk="1" hangingPunct="1">
              <a:buFont typeface="Arial" panose="020B0604020202020204" pitchFamily="34" charset="0"/>
              <a:buChar char="•"/>
            </a:pPr>
            <a:r>
              <a:rPr lang="en-US" altLang="en-US" dirty="0">
                <a:solidFill>
                  <a:schemeClr val="accent2"/>
                </a:solidFill>
                <a:latin typeface="Comic Sans MS" panose="030F0902030302020204" pitchFamily="66" charset="0"/>
              </a:rPr>
              <a:t>It provides for greatest number of possible samples. This is done by assigning a number to each unit in the sampling frame.</a:t>
            </a:r>
          </a:p>
          <a:p>
            <a:pPr eaLnBrk="1" hangingPunct="1">
              <a:buFont typeface="Arial" panose="020B0604020202020204" pitchFamily="34" charset="0"/>
              <a:buChar char="•"/>
            </a:pPr>
            <a:r>
              <a:rPr lang="en-US" altLang="en-US" dirty="0">
                <a:solidFill>
                  <a:schemeClr val="accent2"/>
                </a:solidFill>
                <a:latin typeface="Comic Sans MS" panose="030F0902030302020204" pitchFamily="66" charset="0"/>
              </a:rPr>
              <a:t>A table of random number or lottery system is used to determine which units are to be selected.</a:t>
            </a:r>
          </a:p>
        </p:txBody>
      </p:sp>
      <p:sp>
        <p:nvSpPr>
          <p:cNvPr id="4" name="Slide Number Placeholder 3"/>
          <p:cNvSpPr>
            <a:spLocks noGrp="1"/>
          </p:cNvSpPr>
          <p:nvPr>
            <p:ph type="sldNum" sz="quarter" idx="5"/>
          </p:nvPr>
        </p:nvSpPr>
        <p:spPr/>
        <p:txBody>
          <a:bodyPr/>
          <a:lstStyle/>
          <a:p>
            <a:fld id="{36105C90-1CE8-BF41-8E55-5EDD54F24EA9}" type="slidenum">
              <a:rPr lang="en-US" smtClean="0"/>
              <a:t>12</a:t>
            </a:fld>
            <a:endParaRPr lang="en-US"/>
          </a:p>
        </p:txBody>
      </p:sp>
    </p:spTree>
    <p:extLst>
      <p:ext uri="{BB962C8B-B14F-4D97-AF65-F5344CB8AC3E}">
        <p14:creationId xmlns:p14="http://schemas.microsoft.com/office/powerpoint/2010/main" val="1114460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Systematic sampling involves a random start and then proceeds with the selection of every kth element from then onwards. In this case, k=(population size/sample size).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 simple example would be to select every 5th name from the telephone directory (an 'every 10th' sample, also referred to as 'sampling with a skip of 10’).</a:t>
            </a:r>
          </a:p>
          <a:p>
            <a:endParaRPr lang="en-US" dirty="0"/>
          </a:p>
          <a:p>
            <a:pPr eaLnBrk="1" hangingPunct="1"/>
            <a:r>
              <a:rPr lang="en-US" altLang="en-US" sz="1200" b="1" dirty="0">
                <a:solidFill>
                  <a:schemeClr val="accent2"/>
                </a:solidFill>
                <a:latin typeface="Comic Sans MS" panose="030F0902030302020204" pitchFamily="66" charset="0"/>
              </a:rPr>
              <a:t>ADVANTAGES:</a:t>
            </a:r>
          </a:p>
          <a:p>
            <a:pPr eaLnBrk="1" hangingPunct="1"/>
            <a:r>
              <a:rPr lang="en-US" altLang="en-US" sz="1200" dirty="0">
                <a:solidFill>
                  <a:schemeClr val="accent2"/>
                </a:solidFill>
                <a:latin typeface="Comic Sans MS" panose="030F0902030302020204" pitchFamily="66" charset="0"/>
              </a:rPr>
              <a:t>Sample easy to select</a:t>
            </a:r>
          </a:p>
          <a:p>
            <a:pPr eaLnBrk="1" hangingPunct="1"/>
            <a:r>
              <a:rPr lang="en-US" altLang="en-US" sz="1200" dirty="0">
                <a:solidFill>
                  <a:schemeClr val="accent2"/>
                </a:solidFill>
                <a:latin typeface="Comic Sans MS" panose="030F0902030302020204" pitchFamily="66" charset="0"/>
              </a:rPr>
              <a:t>Suitable sampling frame can be identified easily</a:t>
            </a:r>
          </a:p>
          <a:p>
            <a:pPr eaLnBrk="1" hangingPunct="1"/>
            <a:r>
              <a:rPr lang="en-US" altLang="en-US" sz="1200" dirty="0">
                <a:solidFill>
                  <a:schemeClr val="accent2"/>
                </a:solidFill>
                <a:latin typeface="Comic Sans MS" panose="030F0902030302020204" pitchFamily="66" charset="0"/>
              </a:rPr>
              <a:t>Sample evenly spread over entire reference population</a:t>
            </a:r>
          </a:p>
          <a:p>
            <a:pPr eaLnBrk="1" hangingPunct="1"/>
            <a:r>
              <a:rPr lang="en-US" altLang="en-US" sz="1200" b="1" dirty="0">
                <a:solidFill>
                  <a:schemeClr val="accent2"/>
                </a:solidFill>
                <a:latin typeface="Comic Sans MS" panose="030F0902030302020204" pitchFamily="66" charset="0"/>
              </a:rPr>
              <a:t>DISADVANTAGES:</a:t>
            </a:r>
          </a:p>
          <a:p>
            <a:pPr eaLnBrk="1" hangingPunct="1"/>
            <a:r>
              <a:rPr lang="en-US" altLang="en-US" sz="1200" dirty="0">
                <a:solidFill>
                  <a:schemeClr val="accent2"/>
                </a:solidFill>
                <a:latin typeface="Comic Sans MS" panose="030F0902030302020204" pitchFamily="66" charset="0"/>
              </a:rPr>
              <a:t>Sample </a:t>
            </a:r>
            <a:r>
              <a:rPr lang="en-US" altLang="en-US" sz="1200" b="1" dirty="0">
                <a:solidFill>
                  <a:schemeClr val="accent2"/>
                </a:solidFill>
                <a:latin typeface="Comic Sans MS" panose="030F0902030302020204" pitchFamily="66" charset="0"/>
              </a:rPr>
              <a:t>may be biased if hidden periodicity in population coincides with that of selection</a:t>
            </a:r>
            <a:r>
              <a:rPr lang="en-US" altLang="en-US" sz="1200" dirty="0">
                <a:solidFill>
                  <a:schemeClr val="accent2"/>
                </a:solidFill>
                <a:latin typeface="Comic Sans MS" panose="030F0902030302020204" pitchFamily="66" charset="0"/>
              </a:rPr>
              <a:t>.</a:t>
            </a:r>
          </a:p>
          <a:p>
            <a:pPr eaLnBrk="1" hangingPunct="1"/>
            <a:r>
              <a:rPr lang="en-US" altLang="en-US" sz="1200" dirty="0">
                <a:solidFill>
                  <a:schemeClr val="accent2"/>
                </a:solidFill>
                <a:latin typeface="Comic Sans MS" panose="030F0902030302020204" pitchFamily="66" charset="0"/>
              </a:rPr>
              <a:t>Difficult to assess precision of estimate from one survey.</a:t>
            </a:r>
          </a:p>
          <a:p>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13</a:t>
            </a:fld>
            <a:endParaRPr lang="en-US"/>
          </a:p>
        </p:txBody>
      </p:sp>
    </p:spTree>
    <p:extLst>
      <p:ext uri="{BB962C8B-B14F-4D97-AF65-F5344CB8AC3E}">
        <p14:creationId xmlns:p14="http://schemas.microsoft.com/office/powerpoint/2010/main" val="2291799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pPr>
            <a:r>
              <a:rPr lang="en-US" altLang="en-US" dirty="0">
                <a:solidFill>
                  <a:schemeClr val="accent2"/>
                </a:solidFill>
                <a:latin typeface="Comic Sans MS" panose="030F0902030302020204" pitchFamily="66" charset="0"/>
              </a:rPr>
              <a:t>Finally, since each stratum is treated as an independent population, different sampling approaches can be applied to different strata.</a:t>
            </a:r>
          </a:p>
          <a:p>
            <a:pPr eaLnBrk="1" hangingPunct="1">
              <a:lnSpc>
                <a:spcPct val="80000"/>
              </a:lnSpc>
            </a:pPr>
            <a:endParaRPr lang="en-US" altLang="en-US" dirty="0">
              <a:solidFill>
                <a:schemeClr val="accent2"/>
              </a:solidFill>
              <a:latin typeface="Comic Sans MS" panose="030F0902030302020204" pitchFamily="66" charset="0"/>
            </a:endParaRPr>
          </a:p>
          <a:p>
            <a:r>
              <a:rPr lang="en-IN" sz="1200" kern="1200" dirty="0">
                <a:solidFill>
                  <a:schemeClr val="tx1"/>
                </a:solidFill>
                <a:effectLst/>
                <a:latin typeface="+mn-lt"/>
                <a:ea typeface="+mn-ea"/>
                <a:cs typeface="+mn-cs"/>
              </a:rPr>
              <a:t>the previous example of selecting 200 firms from a list of 1000 firms, you can start by categorizing the firms based on their size as large (more than 500</a:t>
            </a:r>
          </a:p>
          <a:p>
            <a:r>
              <a:rPr lang="en-IN" sz="1200" kern="1200" dirty="0">
                <a:solidFill>
                  <a:schemeClr val="tx1"/>
                </a:solidFill>
                <a:effectLst/>
                <a:latin typeface="+mn-lt"/>
                <a:ea typeface="+mn-ea"/>
                <a:cs typeface="+mn-cs"/>
              </a:rPr>
              <a:t>employees), medium (between 50 and 500 employees), and small (less than 50 employees). You can then randomly select 67 firms from each subgroup to make up your sample of 200</a:t>
            </a:r>
          </a:p>
          <a:p>
            <a:r>
              <a:rPr lang="en-IN" sz="1200" kern="1200" dirty="0">
                <a:solidFill>
                  <a:schemeClr val="tx1"/>
                </a:solidFill>
                <a:effectLst/>
                <a:latin typeface="+mn-lt"/>
                <a:ea typeface="+mn-ea"/>
                <a:cs typeface="+mn-cs"/>
              </a:rPr>
              <a:t>firms. However, since there are many more small firms in a sampling frame than large firms, having an equal number of small, medium, and large firms will make the sample less</a:t>
            </a:r>
          </a:p>
          <a:p>
            <a:r>
              <a:rPr lang="en-IN" sz="1200" kern="1200" dirty="0">
                <a:solidFill>
                  <a:schemeClr val="tx1"/>
                </a:solidFill>
                <a:effectLst/>
                <a:latin typeface="+mn-lt"/>
                <a:ea typeface="+mn-ea"/>
                <a:cs typeface="+mn-cs"/>
              </a:rPr>
              <a:t>This is called non-proportional stratified sampling because the</a:t>
            </a:r>
          </a:p>
          <a:p>
            <a:r>
              <a:rPr lang="en-IN" sz="1200" kern="1200" dirty="0">
                <a:solidFill>
                  <a:schemeClr val="tx1"/>
                </a:solidFill>
                <a:effectLst/>
                <a:latin typeface="+mn-lt"/>
                <a:ea typeface="+mn-ea"/>
                <a:cs typeface="+mn-cs"/>
              </a:rPr>
              <a:t>proportion of sample within each subgroup does not reflect the proportions in the sampling</a:t>
            </a:r>
          </a:p>
          <a:p>
            <a:r>
              <a:rPr lang="en-IN" sz="1200" kern="1200" dirty="0">
                <a:solidFill>
                  <a:schemeClr val="tx1"/>
                </a:solidFill>
                <a:effectLst/>
                <a:latin typeface="+mn-lt"/>
                <a:ea typeface="+mn-ea"/>
                <a:cs typeface="+mn-cs"/>
              </a:rPr>
              <a:t>frame (or the population of interest), and the smaller subgroup (large-sized firms) is oversampled.</a:t>
            </a:r>
          </a:p>
          <a:p>
            <a:pPr eaLnBrk="1" hangingPunct="1">
              <a:lnSpc>
                <a:spcPct val="80000"/>
              </a:lnSpc>
            </a:pPr>
            <a:endParaRPr lang="en-US" altLang="en-US" dirty="0">
              <a:solidFill>
                <a:schemeClr val="accent2"/>
              </a:solidFill>
              <a:latin typeface="Comic Sans MS" panose="030F0902030302020204" pitchFamily="66" charset="0"/>
            </a:endParaRPr>
          </a:p>
          <a:p>
            <a:pPr eaLnBrk="1" hangingPunct="1">
              <a:lnSpc>
                <a:spcPct val="80000"/>
              </a:lnSpc>
            </a:pPr>
            <a:r>
              <a:rPr lang="en-US" altLang="en-US" b="1" dirty="0">
                <a:solidFill>
                  <a:schemeClr val="accent2"/>
                </a:solidFill>
                <a:latin typeface="Comic Sans MS" panose="030F0902030302020204" pitchFamily="66" charset="0"/>
              </a:rPr>
              <a:t>Drawbacks</a:t>
            </a:r>
            <a:r>
              <a:rPr lang="en-US" altLang="en-US" dirty="0">
                <a:solidFill>
                  <a:schemeClr val="accent2"/>
                </a:solidFill>
                <a:latin typeface="Comic Sans MS" panose="030F0902030302020204" pitchFamily="66" charset="0"/>
              </a:rPr>
              <a:t> to using stratified sampling.</a:t>
            </a:r>
          </a:p>
          <a:p>
            <a:pPr marL="171450" indent="-171450" eaLnBrk="1" hangingPunct="1">
              <a:lnSpc>
                <a:spcPct val="80000"/>
              </a:lnSpc>
              <a:buFont typeface="Arial" panose="020B0604020202020204" pitchFamily="34" charset="0"/>
              <a:buChar char="•"/>
            </a:pPr>
            <a:r>
              <a:rPr lang="en-US" altLang="en-US" dirty="0">
                <a:solidFill>
                  <a:schemeClr val="accent2"/>
                </a:solidFill>
                <a:latin typeface="Comic Sans MS" panose="030F0902030302020204" pitchFamily="66" charset="0"/>
              </a:rPr>
              <a:t>First, sampling frame of entire population has to be prepared separately for each stratum</a:t>
            </a:r>
          </a:p>
          <a:p>
            <a:pPr marL="171450" indent="-171450" eaLnBrk="1" hangingPunct="1">
              <a:lnSpc>
                <a:spcPct val="80000"/>
              </a:lnSpc>
              <a:buFont typeface="Arial" panose="020B0604020202020204" pitchFamily="34" charset="0"/>
              <a:buChar char="•"/>
            </a:pPr>
            <a:r>
              <a:rPr lang="en-US" altLang="en-US" dirty="0">
                <a:solidFill>
                  <a:schemeClr val="accent2"/>
                </a:solidFill>
                <a:latin typeface="Comic Sans MS" panose="030F0902030302020204" pitchFamily="66" charset="0"/>
              </a:rPr>
              <a:t>Second, when examining multiple criteria, stratifying variables may be related to some, but not to others, further complicating the design, and potentially reducing the utility of the strata.</a:t>
            </a:r>
          </a:p>
          <a:p>
            <a:pPr marL="171450" indent="-171450" eaLnBrk="1" hangingPunct="1">
              <a:lnSpc>
                <a:spcPct val="80000"/>
              </a:lnSpc>
              <a:buFont typeface="Arial" panose="020B0604020202020204" pitchFamily="34" charset="0"/>
              <a:buChar char="•"/>
            </a:pPr>
            <a:r>
              <a:rPr lang="en-US" altLang="en-US" dirty="0">
                <a:solidFill>
                  <a:schemeClr val="accent2"/>
                </a:solidFill>
                <a:latin typeface="Comic Sans MS" panose="030F0902030302020204" pitchFamily="66" charset="0"/>
              </a:rPr>
              <a:t>In some cases (such as designs with a large number of strata, or those with a specified minimum sample size per group), stratified sampling can potentially require a larger sample than would other methods</a:t>
            </a:r>
          </a:p>
          <a:p>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14</a:t>
            </a:fld>
            <a:endParaRPr lang="en-US"/>
          </a:p>
        </p:txBody>
      </p:sp>
    </p:spTree>
    <p:extLst>
      <p:ext uri="{BB962C8B-B14F-4D97-AF65-F5344CB8AC3E}">
        <p14:creationId xmlns:p14="http://schemas.microsoft.com/office/powerpoint/2010/main" val="3208920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If you have a population dispersed over a wide geographic region, it may not be feasible to conduct a simple random sampling of the entire population. In such case,</a:t>
            </a:r>
          </a:p>
          <a:p>
            <a:r>
              <a:rPr lang="en-IN" sz="1200" kern="1200" dirty="0">
                <a:solidFill>
                  <a:schemeClr val="tx1"/>
                </a:solidFill>
                <a:effectLst/>
                <a:latin typeface="+mn-lt"/>
                <a:ea typeface="+mn-ea"/>
                <a:cs typeface="+mn-cs"/>
              </a:rPr>
              <a:t>it may be reasonable to divide the population into “clusters” (usually along geographic boundaries), randomly sample a few clusters, and measure all units within that cluster</a:t>
            </a:r>
          </a:p>
          <a:p>
            <a:endParaRPr lang="en-US" dirty="0"/>
          </a:p>
          <a:p>
            <a:pPr eaLnBrk="1" hangingPunct="1">
              <a:lnSpc>
                <a:spcPct val="90000"/>
              </a:lnSpc>
            </a:pPr>
            <a:r>
              <a:rPr lang="en-US" altLang="en-US" b="1" dirty="0">
                <a:latin typeface="Comic Sans MS" panose="030F0902030302020204" pitchFamily="66" charset="0"/>
              </a:rPr>
              <a:t>Advantages :</a:t>
            </a:r>
          </a:p>
          <a:p>
            <a:pPr eaLnBrk="1" hangingPunct="1">
              <a:lnSpc>
                <a:spcPct val="90000"/>
              </a:lnSpc>
            </a:pPr>
            <a:r>
              <a:rPr lang="en-US" altLang="en-US" dirty="0">
                <a:latin typeface="Comic Sans MS" panose="030F0902030302020204" pitchFamily="66" charset="0"/>
              </a:rPr>
              <a:t>Cuts down on the cost of preparing a sampling frame.</a:t>
            </a:r>
          </a:p>
          <a:p>
            <a:pPr eaLnBrk="1" hangingPunct="1">
              <a:lnSpc>
                <a:spcPct val="90000"/>
              </a:lnSpc>
            </a:pPr>
            <a:r>
              <a:rPr lang="en-US" altLang="en-US" dirty="0">
                <a:latin typeface="Comic Sans MS" panose="030F0902030302020204" pitchFamily="66" charset="0"/>
              </a:rPr>
              <a:t>This can reduce travel and other administrative costs.</a:t>
            </a:r>
          </a:p>
          <a:p>
            <a:pPr eaLnBrk="1" hangingPunct="1">
              <a:lnSpc>
                <a:spcPct val="90000"/>
              </a:lnSpc>
            </a:pPr>
            <a:endParaRPr lang="en-US" altLang="en-US" dirty="0">
              <a:latin typeface="Comic Sans MS" panose="030F0902030302020204" pitchFamily="66" charset="0"/>
            </a:endParaRPr>
          </a:p>
          <a:p>
            <a:pPr eaLnBrk="1" hangingPunct="1">
              <a:lnSpc>
                <a:spcPct val="90000"/>
              </a:lnSpc>
            </a:pPr>
            <a:r>
              <a:rPr lang="en-US" altLang="en-US" b="1" dirty="0">
                <a:latin typeface="Comic Sans MS" panose="030F0902030302020204" pitchFamily="66" charset="0"/>
              </a:rPr>
              <a:t>Disadvantages:</a:t>
            </a:r>
            <a:r>
              <a:rPr lang="en-US" altLang="en-US" dirty="0">
                <a:latin typeface="Comic Sans MS" panose="030F0902030302020204" pitchFamily="66" charset="0"/>
              </a:rPr>
              <a:t> sampling error is higher for a simple random sample of same size.</a:t>
            </a:r>
          </a:p>
          <a:p>
            <a:endParaRPr lang="en-US" dirty="0"/>
          </a:p>
          <a:p>
            <a:r>
              <a:rPr lang="en-IN" dirty="0"/>
              <a:t>The NFHS-4 sample is a stratified two-stage sample. The 2011 census served as the sampling frame for the selection of PSUs. PSUs were villages in rural areas and Census Enumeration Blocks (CEBs) in urban areas. PSUs with fewer than 40 households were linked to the nearest PSU. Within each rural stratum, villages were selected from the sampling frame with probability proportional to size (PPS). In each stratum, six approximately equal substrata were created by crossing three substrata, each created based on the estimated number of households in each village, with two substrata, each created based on the percentage of the population belonging to scheduled castes and scheduled tribes (SCs/STs). </a:t>
            </a:r>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16</a:t>
            </a:fld>
            <a:endParaRPr lang="en-US"/>
          </a:p>
        </p:txBody>
      </p:sp>
    </p:spTree>
    <p:extLst>
      <p:ext uri="{BB962C8B-B14F-4D97-AF65-F5344CB8AC3E}">
        <p14:creationId xmlns:p14="http://schemas.microsoft.com/office/powerpoint/2010/main" val="8234367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pPr>
            <a:r>
              <a:rPr lang="en-US" altLang="en-US" sz="1200" dirty="0">
                <a:latin typeface="Comic Sans MS" panose="030F0902030302020204" pitchFamily="66" charset="0"/>
              </a:rPr>
              <a:t>Multi stage sampling: </a:t>
            </a:r>
          </a:p>
          <a:p>
            <a:pPr eaLnBrk="1" hangingPunct="1">
              <a:lnSpc>
                <a:spcPct val="80000"/>
              </a:lnSpc>
            </a:pPr>
            <a:endParaRPr lang="en-US" altLang="en-US" sz="1200" dirty="0">
              <a:latin typeface="Comic Sans MS" panose="030F0902030302020204" pitchFamily="66" charset="0"/>
            </a:endParaRPr>
          </a:p>
          <a:p>
            <a:pPr eaLnBrk="1" hangingPunct="1">
              <a:lnSpc>
                <a:spcPct val="80000"/>
              </a:lnSpc>
            </a:pPr>
            <a:r>
              <a:rPr lang="en-US" altLang="en-US" sz="1200" dirty="0">
                <a:latin typeface="Comic Sans MS" panose="030F0902030302020204" pitchFamily="66" charset="0"/>
              </a:rPr>
              <a:t>Complex form of cluster sampling in which two or more levels of units are embedded one in the other.</a:t>
            </a:r>
          </a:p>
          <a:p>
            <a:pPr eaLnBrk="1" hangingPunct="1">
              <a:lnSpc>
                <a:spcPct val="80000"/>
              </a:lnSpc>
            </a:pPr>
            <a:endParaRPr lang="en-US" altLang="en-US" sz="1200" dirty="0">
              <a:latin typeface="Comic Sans MS" panose="030F0902030302020204" pitchFamily="66" charset="0"/>
            </a:endParaRPr>
          </a:p>
          <a:p>
            <a:pPr eaLnBrk="1" hangingPunct="1">
              <a:lnSpc>
                <a:spcPct val="80000"/>
              </a:lnSpc>
            </a:pPr>
            <a:r>
              <a:rPr lang="en-US" altLang="en-US" sz="1200" dirty="0">
                <a:latin typeface="Comic Sans MS" panose="030F0902030302020204" pitchFamily="66" charset="0"/>
              </a:rPr>
              <a:t> First stage, random number of districts chosen in all  states.</a:t>
            </a:r>
          </a:p>
          <a:p>
            <a:pPr eaLnBrk="1" hangingPunct="1">
              <a:lnSpc>
                <a:spcPct val="80000"/>
              </a:lnSpc>
              <a:buFont typeface="Wingdings" pitchFamily="2" charset="2"/>
              <a:buNone/>
            </a:pPr>
            <a:endParaRPr lang="en-US" altLang="en-US" sz="1200" dirty="0">
              <a:latin typeface="Comic Sans MS" panose="030F0902030302020204" pitchFamily="66" charset="0"/>
            </a:endParaRPr>
          </a:p>
          <a:p>
            <a:pPr eaLnBrk="1" hangingPunct="1">
              <a:lnSpc>
                <a:spcPct val="80000"/>
              </a:lnSpc>
            </a:pPr>
            <a:r>
              <a:rPr lang="en-US" altLang="en-US" sz="1200" dirty="0">
                <a:latin typeface="Comic Sans MS" panose="030F0902030302020204" pitchFamily="66" charset="0"/>
              </a:rPr>
              <a:t> Followed by random number of talukas, villages.</a:t>
            </a:r>
          </a:p>
          <a:p>
            <a:pPr eaLnBrk="1" hangingPunct="1">
              <a:lnSpc>
                <a:spcPct val="80000"/>
              </a:lnSpc>
              <a:buFont typeface="Wingdings" pitchFamily="2" charset="2"/>
              <a:buNone/>
            </a:pPr>
            <a:r>
              <a:rPr lang="en-US" altLang="en-US" sz="1200" dirty="0">
                <a:latin typeface="Comic Sans MS" panose="030F0902030302020204" pitchFamily="66" charset="0"/>
              </a:rPr>
              <a:t> </a:t>
            </a:r>
          </a:p>
          <a:p>
            <a:pPr eaLnBrk="1" hangingPunct="1">
              <a:lnSpc>
                <a:spcPct val="80000"/>
              </a:lnSpc>
            </a:pPr>
            <a:r>
              <a:rPr lang="en-US" altLang="en-US" sz="1200" dirty="0">
                <a:latin typeface="Comic Sans MS" panose="030F0902030302020204" pitchFamily="66" charset="0"/>
              </a:rPr>
              <a:t>Then third stage units will be houses. </a:t>
            </a:r>
          </a:p>
          <a:p>
            <a:pPr eaLnBrk="1" hangingPunct="1">
              <a:lnSpc>
                <a:spcPct val="80000"/>
              </a:lnSpc>
              <a:buFont typeface="Wingdings" pitchFamily="2" charset="2"/>
              <a:buNone/>
            </a:pPr>
            <a:r>
              <a:rPr lang="en-US" altLang="en-US" sz="1200" dirty="0">
                <a:latin typeface="Comic Sans MS" panose="030F0902030302020204" pitchFamily="66" charset="0"/>
              </a:rPr>
              <a:t>     </a:t>
            </a:r>
          </a:p>
          <a:p>
            <a:pPr eaLnBrk="1" hangingPunct="1">
              <a:lnSpc>
                <a:spcPct val="80000"/>
              </a:lnSpc>
            </a:pPr>
            <a:r>
              <a:rPr lang="en-US" altLang="en-US" sz="1200" dirty="0">
                <a:latin typeface="Comic Sans MS" panose="030F0902030302020204" pitchFamily="66" charset="0"/>
              </a:rPr>
              <a:t> All ultimate units  (houses, for instance) selected at last step are surveyed</a:t>
            </a:r>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17</a:t>
            </a:fld>
            <a:endParaRPr lang="en-US"/>
          </a:p>
        </p:txBody>
      </p:sp>
    </p:spTree>
    <p:extLst>
      <p:ext uri="{BB962C8B-B14F-4D97-AF65-F5344CB8AC3E}">
        <p14:creationId xmlns:p14="http://schemas.microsoft.com/office/powerpoint/2010/main" val="32741414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34229336-4B04-FE47-A18E-ECA2D655AB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F3FA7EB-2759-834E-8F75-F64DF9431052}" type="slidenum">
              <a:rPr lang="ar-SA" altLang="en-US"/>
              <a:pPr eaLnBrk="1" hangingPunct="1"/>
              <a:t>18</a:t>
            </a:fld>
            <a:endParaRPr lang="ru-RU" altLang="en-US"/>
          </a:p>
        </p:txBody>
      </p:sp>
      <p:sp>
        <p:nvSpPr>
          <p:cNvPr id="44035" name="Rectangle 2">
            <a:extLst>
              <a:ext uri="{FF2B5EF4-FFF2-40B4-BE49-F238E27FC236}">
                <a16:creationId xmlns:a16="http://schemas.microsoft.com/office/drawing/2014/main" id="{904DC57C-9065-B24C-8A7D-5D747A9E7A95}"/>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3A094698-D828-DC40-AEAC-1004DFF6D36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124696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19</a:t>
            </a:fld>
            <a:endParaRPr lang="en-US"/>
          </a:p>
        </p:txBody>
      </p:sp>
    </p:spTree>
    <p:extLst>
      <p:ext uri="{BB962C8B-B14F-4D97-AF65-F5344CB8AC3E}">
        <p14:creationId xmlns:p14="http://schemas.microsoft.com/office/powerpoint/2010/main" val="30811611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For example, if the interviewer was to conduct a survey at a shopping center early in the morning on a given day, the people that he/she could interview would be limited to those given there at that given time, which would not represent the views of other members of society in such an area, if the survey was to be conducted at different times of day and several times per week.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social science research, snowball sampling is a similar technique, where existing study subjects are used to recruit more subjects into the sample.</a:t>
            </a:r>
          </a:p>
          <a:p>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21</a:t>
            </a:fld>
            <a:endParaRPr lang="en-US"/>
          </a:p>
        </p:txBody>
      </p:sp>
    </p:spTree>
    <p:extLst>
      <p:ext uri="{BB962C8B-B14F-4D97-AF65-F5344CB8AC3E}">
        <p14:creationId xmlns:p14="http://schemas.microsoft.com/office/powerpoint/2010/main" val="34731872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FA4C875-A037-784D-8559-BBB51CAB7AA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Chapter 9</a:t>
            </a:r>
          </a:p>
        </p:txBody>
      </p:sp>
      <p:sp>
        <p:nvSpPr>
          <p:cNvPr id="41987" name="Rectangle 3">
            <a:extLst>
              <a:ext uri="{FF2B5EF4-FFF2-40B4-BE49-F238E27FC236}">
                <a16:creationId xmlns:a16="http://schemas.microsoft.com/office/drawing/2014/main" id="{8D48AD22-5387-6148-9F36-B42DD9D7C29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3E4D31F-6149-B442-8124-F54DC0F1616B}" type="datetime1">
              <a:rPr lang="en-US" altLang="en-US"/>
              <a:pPr eaLnBrk="1" hangingPunct="1"/>
              <a:t>7/6/2026</a:t>
            </a:fld>
            <a:endParaRPr lang="en-US" altLang="en-US"/>
          </a:p>
        </p:txBody>
      </p:sp>
      <p:sp>
        <p:nvSpPr>
          <p:cNvPr id="41988" name="Rectangle 6">
            <a:extLst>
              <a:ext uri="{FF2B5EF4-FFF2-40B4-BE49-F238E27FC236}">
                <a16:creationId xmlns:a16="http://schemas.microsoft.com/office/drawing/2014/main" id="{5357ED3F-4CAC-2C49-8F50-D5C94C3AF4E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Basic Biostat</a:t>
            </a:r>
          </a:p>
        </p:txBody>
      </p:sp>
      <p:sp>
        <p:nvSpPr>
          <p:cNvPr id="41989" name="Rectangle 7">
            <a:extLst>
              <a:ext uri="{FF2B5EF4-FFF2-40B4-BE49-F238E27FC236}">
                <a16:creationId xmlns:a16="http://schemas.microsoft.com/office/drawing/2014/main" id="{81AE2188-85A3-EE4E-B8E2-E9F2E2AD4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9324EA1-1548-AE4C-ACA7-8FEC5D04A8F9}" type="slidenum">
              <a:rPr lang="en-US" altLang="en-US"/>
              <a:pPr eaLnBrk="1" hangingPunct="1"/>
              <a:t>24</a:t>
            </a:fld>
            <a:endParaRPr lang="en-US" altLang="en-US"/>
          </a:p>
        </p:txBody>
      </p:sp>
      <p:sp>
        <p:nvSpPr>
          <p:cNvPr id="41990" name="Rectangle 2">
            <a:extLst>
              <a:ext uri="{FF2B5EF4-FFF2-40B4-BE49-F238E27FC236}">
                <a16:creationId xmlns:a16="http://schemas.microsoft.com/office/drawing/2014/main" id="{83A86E27-F4EE-8B42-BC8A-308BE57840E2}"/>
              </a:ext>
            </a:extLst>
          </p:cNvPr>
          <p:cNvSpPr>
            <a:spLocks noGrp="1" noRot="1" noChangeAspect="1" noChangeArrowheads="1" noTextEdit="1"/>
          </p:cNvSpPr>
          <p:nvPr>
            <p:ph type="sldImg"/>
          </p:nvPr>
        </p:nvSpPr>
        <p:spPr>
          <a:ln/>
        </p:spPr>
      </p:sp>
      <p:sp>
        <p:nvSpPr>
          <p:cNvPr id="41991" name="Rectangle 3">
            <a:extLst>
              <a:ext uri="{FF2B5EF4-FFF2-40B4-BE49-F238E27FC236}">
                <a16:creationId xmlns:a16="http://schemas.microsoft.com/office/drawing/2014/main" id="{EE5552FF-CAB7-3343-A875-28B30926BB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This slide address an other foundation of statistical inference: the difference between parameters and statistics. Parameters and statistics are related, but are not the same thing. </a:t>
            </a: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Over the years teaching statistics, I have derived a hypothesis that explains why some students have difficulty with statistical inference: they fail to distinguish between statistics and parameter. When a student calculates a statistic such as a sample mean, it seems so tangible and real that they view it as a constant. I think they would be better off if they recognized a statistic as merely one example of what might have been had they done the study or experiment at a different time. </a:t>
            </a:r>
          </a:p>
        </p:txBody>
      </p:sp>
    </p:spTree>
    <p:extLst>
      <p:ext uri="{BB962C8B-B14F-4D97-AF65-F5344CB8AC3E}">
        <p14:creationId xmlns:p14="http://schemas.microsoft.com/office/powerpoint/2010/main" val="3147649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B0FE8E39-CD10-CF42-BA87-04788B65231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Chapter 9</a:t>
            </a:r>
          </a:p>
        </p:txBody>
      </p:sp>
      <p:sp>
        <p:nvSpPr>
          <p:cNvPr id="43011" name="Rectangle 3">
            <a:extLst>
              <a:ext uri="{FF2B5EF4-FFF2-40B4-BE49-F238E27FC236}">
                <a16:creationId xmlns:a16="http://schemas.microsoft.com/office/drawing/2014/main" id="{12EF23F8-C25B-6547-ADD3-0CF157DD64B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8DF9851-534D-864A-AD95-C3E2293A30DA}" type="datetime1">
              <a:rPr lang="en-US" altLang="en-US"/>
              <a:pPr eaLnBrk="1" hangingPunct="1"/>
              <a:t>7/6/2026</a:t>
            </a:fld>
            <a:endParaRPr lang="en-US" altLang="en-US"/>
          </a:p>
        </p:txBody>
      </p:sp>
      <p:sp>
        <p:nvSpPr>
          <p:cNvPr id="43012" name="Rectangle 6">
            <a:extLst>
              <a:ext uri="{FF2B5EF4-FFF2-40B4-BE49-F238E27FC236}">
                <a16:creationId xmlns:a16="http://schemas.microsoft.com/office/drawing/2014/main" id="{361F1987-7745-D547-B84A-D93620A164A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Basic Biostat</a:t>
            </a:r>
          </a:p>
        </p:txBody>
      </p:sp>
      <p:sp>
        <p:nvSpPr>
          <p:cNvPr id="43013" name="Rectangle 7">
            <a:extLst>
              <a:ext uri="{FF2B5EF4-FFF2-40B4-BE49-F238E27FC236}">
                <a16:creationId xmlns:a16="http://schemas.microsoft.com/office/drawing/2014/main" id="{30B8AB29-A838-6140-9EF4-EA18DDDE2F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AC83D22-70A2-9B47-9E83-097DD495F0DF}" type="slidenum">
              <a:rPr lang="en-US" altLang="en-US"/>
              <a:pPr eaLnBrk="1" hangingPunct="1"/>
              <a:t>26</a:t>
            </a:fld>
            <a:endParaRPr lang="en-US" altLang="en-US"/>
          </a:p>
        </p:txBody>
      </p:sp>
      <p:sp>
        <p:nvSpPr>
          <p:cNvPr id="43014" name="Rectangle 2">
            <a:extLst>
              <a:ext uri="{FF2B5EF4-FFF2-40B4-BE49-F238E27FC236}">
                <a16:creationId xmlns:a16="http://schemas.microsoft.com/office/drawing/2014/main" id="{0B3C0744-9742-C140-87A3-887AFCB8C9BB}"/>
              </a:ext>
            </a:extLst>
          </p:cNvPr>
          <p:cNvSpPr>
            <a:spLocks noGrp="1" noRot="1" noChangeAspect="1" noChangeArrowheads="1" noTextEdit="1"/>
          </p:cNvSpPr>
          <p:nvPr>
            <p:ph type="sldImg"/>
          </p:nvPr>
        </p:nvSpPr>
        <p:spPr>
          <a:ln/>
        </p:spPr>
      </p:sp>
      <p:sp>
        <p:nvSpPr>
          <p:cNvPr id="43015" name="Rectangle 3">
            <a:extLst>
              <a:ext uri="{FF2B5EF4-FFF2-40B4-BE49-F238E27FC236}">
                <a16:creationId xmlns:a16="http://schemas.microsoft.com/office/drawing/2014/main" id="{2FC89F60-8F5C-2040-AE3C-2B68890C3A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This slide summarize what we’ve learned about the sampling distribution of a mean from a large sample. It is based no three important sampling postulates: the central limit theorem, the law of large numbers (unbiased nature of the sample mean), and square root law. Based on these well established statistical theorems we can say that means based on large samples (and means based in Normal populations) will have a Normal sampling distribution with an expectation equal to the population mean with a standard deviation equal to the standard deviation of the population divided by the square root of the sample size </a:t>
            </a:r>
            <a:r>
              <a:rPr lang="en-US" altLang="en-US" i="1">
                <a:latin typeface="Arial" panose="020B0604020202020204" pitchFamily="34" charset="0"/>
              </a:rPr>
              <a:t>n</a:t>
            </a:r>
            <a:r>
              <a:rPr lang="en-US" altLang="en-US">
                <a:latin typeface="Arial" panose="020B0604020202020204" pitchFamily="34" charset="0"/>
              </a:rPr>
              <a:t>. </a:t>
            </a:r>
          </a:p>
        </p:txBody>
      </p:sp>
    </p:spTree>
    <p:extLst>
      <p:ext uri="{BB962C8B-B14F-4D97-AF65-F5344CB8AC3E}">
        <p14:creationId xmlns:p14="http://schemas.microsoft.com/office/powerpoint/2010/main" val="3028845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AD5FEED-732C-46A9-8A11-6E32F7E076B8}" type="slidenum">
              <a:rPr lang="en-IN" smtClean="0"/>
              <a:t>27</a:t>
            </a:fld>
            <a:endParaRPr lang="en-IN"/>
          </a:p>
        </p:txBody>
      </p:sp>
    </p:spTree>
    <p:extLst>
      <p:ext uri="{BB962C8B-B14F-4D97-AF65-F5344CB8AC3E}">
        <p14:creationId xmlns:p14="http://schemas.microsoft.com/office/powerpoint/2010/main" val="480416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1DABB61-EFB2-4995-A3ED-DB7930B6FEB3}"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F43A97-402A-4B79-8D76-6B31506A449A}"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2207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7" y="335124"/>
            <a:ext cx="9720072" cy="977861"/>
          </a:xfrm>
        </p:spPr>
        <p:txBody>
          <a:bodyPr>
            <a:normAutofit/>
          </a:bodyPr>
          <a:lstStyle>
            <a:lvl1pPr>
              <a:defRPr sz="4200"/>
            </a:lvl1pPr>
          </a:lstStyle>
          <a:p>
            <a:r>
              <a:rPr lang="en-US"/>
              <a:t>Click to edit Master title style</a:t>
            </a:r>
            <a:endParaRPr lang="en-US" dirty="0"/>
          </a:p>
        </p:txBody>
      </p:sp>
      <p:sp>
        <p:nvSpPr>
          <p:cNvPr id="3" name="Content Placeholder 2"/>
          <p:cNvSpPr>
            <a:spLocks noGrp="1"/>
          </p:cNvSpPr>
          <p:nvPr>
            <p:ph idx="1"/>
          </p:nvPr>
        </p:nvSpPr>
        <p:spPr/>
        <p:txBody>
          <a:bodyPr/>
          <a:lstStyle>
            <a:lvl2pPr marL="265176" indent="-137160">
              <a:buFont typeface="Wingdings" panose="05000000000000000000" pitchFamily="2" charset="2"/>
              <a:buChar char="q"/>
              <a:defRPr/>
            </a:lvl2pPr>
            <a:lvl3pPr marL="448056" indent="-137160">
              <a:buFont typeface="Wingdings" panose="05000000000000000000" pitchFamily="2" charset="2"/>
              <a:buChar char="Ø"/>
              <a:defRPr/>
            </a:lvl3pPr>
            <a:lvl4pPr marL="594360" indent="-137160">
              <a:buFont typeface="Courier New" panose="02070309020205020404" pitchFamily="49" charset="0"/>
              <a:buChar char="o"/>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1DABB61-EFB2-4995-A3ED-DB7930B6FEB3}"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F43A97-402A-4B79-8D76-6B31506A449A}" type="slidenum">
              <a:rPr lang="en-IN" smtClean="0"/>
              <a:t>‹#›</a:t>
            </a:fld>
            <a:endParaRPr lang="en-IN"/>
          </a:p>
        </p:txBody>
      </p:sp>
    </p:spTree>
    <p:extLst>
      <p:ext uri="{BB962C8B-B14F-4D97-AF65-F5344CB8AC3E}">
        <p14:creationId xmlns:p14="http://schemas.microsoft.com/office/powerpoint/2010/main" val="1207144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DABB61-EFB2-4995-A3ED-DB7930B6FEB3}"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F43A97-402A-4B79-8D76-6B31506A449A}"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7067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DABB61-EFB2-4995-A3ED-DB7930B6FEB3}" type="datetimeFigureOut">
              <a:rPr lang="en-IN" smtClean="0"/>
              <a:t>06-07-2026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F43A97-402A-4B79-8D76-6B31506A449A}" type="slidenum">
              <a:rPr lang="en-IN" smtClean="0"/>
              <a:t>‹#›</a:t>
            </a:fld>
            <a:endParaRPr lang="en-IN"/>
          </a:p>
        </p:txBody>
      </p:sp>
    </p:spTree>
    <p:extLst>
      <p:ext uri="{BB962C8B-B14F-4D97-AF65-F5344CB8AC3E}">
        <p14:creationId xmlns:p14="http://schemas.microsoft.com/office/powerpoint/2010/main" val="2252074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DABB61-EFB2-4995-A3ED-DB7930B6FEB3}" type="datetimeFigureOut">
              <a:rPr lang="en-IN" smtClean="0"/>
              <a:t>06-07-2026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AF43A97-402A-4B79-8D76-6B31506A449A}" type="slidenum">
              <a:rPr lang="en-IN" smtClean="0"/>
              <a:t>‹#›</a:t>
            </a:fld>
            <a:endParaRPr lang="en-IN"/>
          </a:p>
        </p:txBody>
      </p:sp>
    </p:spTree>
    <p:extLst>
      <p:ext uri="{BB962C8B-B14F-4D97-AF65-F5344CB8AC3E}">
        <p14:creationId xmlns:p14="http://schemas.microsoft.com/office/powerpoint/2010/main" val="2067793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DABB61-EFB2-4995-A3ED-DB7930B6FEB3}" type="datetimeFigureOut">
              <a:rPr lang="en-IN" smtClean="0"/>
              <a:t>06-07-2026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AF43A97-402A-4B79-8D76-6B31506A449A}" type="slidenum">
              <a:rPr lang="en-IN" smtClean="0"/>
              <a:t>‹#›</a:t>
            </a:fld>
            <a:endParaRPr lang="en-IN"/>
          </a:p>
        </p:txBody>
      </p:sp>
    </p:spTree>
    <p:extLst>
      <p:ext uri="{BB962C8B-B14F-4D97-AF65-F5344CB8AC3E}">
        <p14:creationId xmlns:p14="http://schemas.microsoft.com/office/powerpoint/2010/main" val="2185083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DABB61-EFB2-4995-A3ED-DB7930B6FEB3}" type="datetimeFigureOut">
              <a:rPr lang="en-IN" smtClean="0"/>
              <a:t>06-07-2026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AF43A97-402A-4B79-8D76-6B31506A449A}" type="slidenum">
              <a:rPr lang="en-IN" smtClean="0"/>
              <a:t>‹#›</a:t>
            </a:fld>
            <a:endParaRPr lang="en-IN"/>
          </a:p>
        </p:txBody>
      </p:sp>
    </p:spTree>
    <p:extLst>
      <p:ext uri="{BB962C8B-B14F-4D97-AF65-F5344CB8AC3E}">
        <p14:creationId xmlns:p14="http://schemas.microsoft.com/office/powerpoint/2010/main" val="791589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DABB61-EFB2-4995-A3ED-DB7930B6FEB3}" type="datetimeFigureOut">
              <a:rPr lang="en-IN" smtClean="0"/>
              <a:t>06-07-2026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F43A97-402A-4B79-8D76-6B31506A449A}" type="slidenum">
              <a:rPr lang="en-IN" smtClean="0"/>
              <a:t>‹#›</a:t>
            </a:fld>
            <a:endParaRPr lang="en-IN"/>
          </a:p>
        </p:txBody>
      </p:sp>
    </p:spTree>
    <p:extLst>
      <p:ext uri="{BB962C8B-B14F-4D97-AF65-F5344CB8AC3E}">
        <p14:creationId xmlns:p14="http://schemas.microsoft.com/office/powerpoint/2010/main" val="3787668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DABB61-EFB2-4995-A3ED-DB7930B6FEB3}" type="datetimeFigureOut">
              <a:rPr lang="en-IN" smtClean="0"/>
              <a:t>06-07-2026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F43A97-402A-4B79-8D76-6B31506A449A}"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358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DABB61-EFB2-4995-A3ED-DB7930B6FEB3}"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F43A97-402A-4B79-8D76-6B31506A449A}" type="slidenum">
              <a:rPr lang="en-IN" smtClean="0"/>
              <a:t>‹#›</a:t>
            </a:fld>
            <a:endParaRPr lang="en-IN"/>
          </a:p>
        </p:txBody>
      </p:sp>
    </p:spTree>
    <p:extLst>
      <p:ext uri="{BB962C8B-B14F-4D97-AF65-F5344CB8AC3E}">
        <p14:creationId xmlns:p14="http://schemas.microsoft.com/office/powerpoint/2010/main" val="905836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DABB61-EFB2-4995-A3ED-DB7930B6FEB3}"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F43A97-402A-4B79-8D76-6B31506A449A}"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5355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87C5C-F3F2-1D47-B0E5-3F3D36A3B0CF}"/>
              </a:ext>
            </a:extLst>
          </p:cNvPr>
          <p:cNvSpPr>
            <a:spLocks noGrp="1"/>
          </p:cNvSpPr>
          <p:nvPr>
            <p:ph type="title"/>
          </p:nvPr>
        </p:nvSpPr>
        <p:spPr>
          <a:xfrm>
            <a:off x="609600" y="274638"/>
            <a:ext cx="10972800" cy="1143000"/>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6E691BF-314D-4E48-83D0-4CA13E73C637}"/>
              </a:ext>
            </a:extLst>
          </p:cNvPr>
          <p:cNvSpPr>
            <a:spLocks noGrp="1"/>
          </p:cNvSpPr>
          <p:nvPr>
            <p:ph type="body" sz="half" idx="1"/>
          </p:nvPr>
        </p:nvSpPr>
        <p:spPr>
          <a:xfrm>
            <a:off x="609600" y="1600201"/>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0815BD9-49C4-404A-A875-AE061D21A794}"/>
              </a:ext>
            </a:extLst>
          </p:cNvPr>
          <p:cNvSpPr>
            <a:spLocks noGrp="1"/>
          </p:cNvSpPr>
          <p:nvPr>
            <p:ph sz="half" idx="2"/>
          </p:nvPr>
        </p:nvSpPr>
        <p:spPr>
          <a:xfrm>
            <a:off x="6197600" y="1600201"/>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56FE1FA-BE79-8143-8888-7F3078253E63}"/>
              </a:ext>
            </a:extLst>
          </p:cNvPr>
          <p:cNvSpPr>
            <a:spLocks noGrp="1"/>
          </p:cNvSpPr>
          <p:nvPr>
            <p:ph type="dt" sz="half" idx="10"/>
          </p:nvPr>
        </p:nvSpPr>
        <p:spPr>
          <a:xfrm>
            <a:off x="609600" y="6245225"/>
            <a:ext cx="2844800" cy="476250"/>
          </a:xfrm>
        </p:spPr>
        <p:txBody>
          <a:bodyPr/>
          <a:lstStyle>
            <a:lvl1pPr>
              <a:defRPr/>
            </a:lvl1pPr>
          </a:lstStyle>
          <a:p>
            <a:r>
              <a:rPr lang="en-US" altLang="en-US"/>
              <a:t>Basic Biostat</a:t>
            </a:r>
          </a:p>
        </p:txBody>
      </p:sp>
      <p:sp>
        <p:nvSpPr>
          <p:cNvPr id="6" name="Footer Placeholder 5">
            <a:extLst>
              <a:ext uri="{FF2B5EF4-FFF2-40B4-BE49-F238E27FC236}">
                <a16:creationId xmlns:a16="http://schemas.microsoft.com/office/drawing/2014/main" id="{DE21D049-594A-114A-B7A8-66DEF38CE027}"/>
              </a:ext>
            </a:extLst>
          </p:cNvPr>
          <p:cNvSpPr>
            <a:spLocks noGrp="1"/>
          </p:cNvSpPr>
          <p:nvPr>
            <p:ph type="ftr" sz="quarter" idx="11"/>
          </p:nvPr>
        </p:nvSpPr>
        <p:spPr>
          <a:xfrm>
            <a:off x="4165600" y="6245225"/>
            <a:ext cx="3860800" cy="476250"/>
          </a:xfrm>
        </p:spPr>
        <p:txBody>
          <a:bodyPr/>
          <a:lstStyle>
            <a:lvl1pPr>
              <a:defRPr/>
            </a:lvl1pPr>
          </a:lstStyle>
          <a:p>
            <a:r>
              <a:rPr lang="en-US" altLang="en-US"/>
              <a:t>8: Intro to Statistical Inference</a:t>
            </a:r>
          </a:p>
        </p:txBody>
      </p:sp>
      <p:sp>
        <p:nvSpPr>
          <p:cNvPr id="7" name="Slide Number Placeholder 6">
            <a:extLst>
              <a:ext uri="{FF2B5EF4-FFF2-40B4-BE49-F238E27FC236}">
                <a16:creationId xmlns:a16="http://schemas.microsoft.com/office/drawing/2014/main" id="{F8699DD8-6EE6-2544-A35C-916063278D1E}"/>
              </a:ext>
            </a:extLst>
          </p:cNvPr>
          <p:cNvSpPr>
            <a:spLocks noGrp="1"/>
          </p:cNvSpPr>
          <p:nvPr>
            <p:ph type="sldNum" sz="quarter" idx="12"/>
          </p:nvPr>
        </p:nvSpPr>
        <p:spPr>
          <a:xfrm>
            <a:off x="8737600" y="6245225"/>
            <a:ext cx="2844800" cy="476250"/>
          </a:xfrm>
        </p:spPr>
        <p:txBody>
          <a:bodyPr/>
          <a:lstStyle>
            <a:lvl1pPr>
              <a:defRPr/>
            </a:lvl1pPr>
          </a:lstStyle>
          <a:p>
            <a:fld id="{811A615E-2E6A-2848-952F-D3B4E9D96BC0}" type="slidenum">
              <a:rPr lang="en-US" altLang="en-US"/>
              <a:pPr/>
              <a:t>‹#›</a:t>
            </a:fld>
            <a:endParaRPr lang="en-US" altLang="en-US"/>
          </a:p>
        </p:txBody>
      </p:sp>
    </p:spTree>
    <p:extLst>
      <p:ext uri="{BB962C8B-B14F-4D97-AF65-F5344CB8AC3E}">
        <p14:creationId xmlns:p14="http://schemas.microsoft.com/office/powerpoint/2010/main" val="559180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1DABB61-EFB2-4995-A3ED-DB7930B6FEB3}" type="datetimeFigureOut">
              <a:rPr lang="en-IN" smtClean="0"/>
              <a:t>06-07-2026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AF43A97-402A-4B79-8D76-6B31506A449A}"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373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7.xml"/><Relationship Id="rId1" Type="http://schemas.openxmlformats.org/officeDocument/2006/relationships/video" Target="https://www.youtube.com/embed/pTuj57uXWlk?feature=oembed"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7.xml"/><Relationship Id="rId1" Type="http://schemas.openxmlformats.org/officeDocument/2006/relationships/video" Target="https://www.youtube.com/embed/be9e-Q-jC-0?feature=oembed"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tattrek.com/Help/Glossary.aspx?Target=Strata"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hyperlink" Target="http://stattrek.com/Help/Glossary.aspx?Target=Heterogeneous" TargetMode="External"/><Relationship Id="rId4" Type="http://schemas.openxmlformats.org/officeDocument/2006/relationships/hyperlink" Target="http://stattrek.com/Help/Glossary.aspx?Target=Homogeneou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10.emf"/><Relationship Id="rId4" Type="http://schemas.openxmlformats.org/officeDocument/2006/relationships/oleObject" Target="../embeddings/oleObject1.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9B0-43DD-35BD-EB8A-B372A00F78F9}"/>
              </a:ext>
            </a:extLst>
          </p:cNvPr>
          <p:cNvSpPr>
            <a:spLocks noGrp="1"/>
          </p:cNvSpPr>
          <p:nvPr>
            <p:ph type="ctrTitle"/>
          </p:nvPr>
        </p:nvSpPr>
        <p:spPr>
          <a:xfrm>
            <a:off x="1845790" y="1793137"/>
            <a:ext cx="7650617" cy="2278485"/>
          </a:xfrm>
        </p:spPr>
        <p:txBody>
          <a:bodyPr>
            <a:normAutofit/>
          </a:bodyPr>
          <a:lstStyle/>
          <a:p>
            <a:r>
              <a:rPr lang="en-IN" dirty="0">
                <a:highlight>
                  <a:srgbClr val="FFFF00"/>
                </a:highlight>
              </a:rPr>
              <a:t>STAT 221-FUNDAMENTALS OF STATISTICAL DATA ANALYSIS</a:t>
            </a:r>
            <a:br>
              <a:rPr lang="en-IN" dirty="0">
                <a:highlight>
                  <a:srgbClr val="FFFF00"/>
                </a:highlight>
              </a:rPr>
            </a:br>
            <a:endParaRPr lang="en-IN" sz="1800" dirty="0">
              <a:highlight>
                <a:srgbClr val="FFFF00"/>
              </a:highlight>
            </a:endParaRPr>
          </a:p>
        </p:txBody>
      </p:sp>
      <p:sp>
        <p:nvSpPr>
          <p:cNvPr id="3" name="Subtitle 2">
            <a:extLst>
              <a:ext uri="{FF2B5EF4-FFF2-40B4-BE49-F238E27FC236}">
                <a16:creationId xmlns:a16="http://schemas.microsoft.com/office/drawing/2014/main" id="{00ACD515-2431-B084-4B1B-3B5938342A14}"/>
              </a:ext>
            </a:extLst>
          </p:cNvPr>
          <p:cNvSpPr>
            <a:spLocks noGrp="1"/>
          </p:cNvSpPr>
          <p:nvPr>
            <p:ph type="subTitle" idx="1"/>
          </p:nvPr>
        </p:nvSpPr>
        <p:spPr>
          <a:xfrm>
            <a:off x="1303787" y="5064745"/>
            <a:ext cx="7099678" cy="1320802"/>
          </a:xfrm>
        </p:spPr>
        <p:txBody>
          <a:bodyPr>
            <a:noAutofit/>
          </a:bodyPr>
          <a:lstStyle/>
          <a:p>
            <a:pPr algn="ctr"/>
            <a:r>
              <a:rPr lang="en-IN" sz="2400" dirty="0">
                <a:solidFill>
                  <a:srgbClr val="FF0000"/>
                </a:solidFill>
              </a:rPr>
              <a:t>Week-12: Sampling and Statistical Inference- 1</a:t>
            </a:r>
          </a:p>
        </p:txBody>
      </p:sp>
      <p:sp>
        <p:nvSpPr>
          <p:cNvPr id="5" name="TextBox 4">
            <a:extLst>
              <a:ext uri="{FF2B5EF4-FFF2-40B4-BE49-F238E27FC236}">
                <a16:creationId xmlns:a16="http://schemas.microsoft.com/office/drawing/2014/main" id="{091CC985-F26E-10E0-3AB3-D1293D9322C3}"/>
              </a:ext>
            </a:extLst>
          </p:cNvPr>
          <p:cNvSpPr txBox="1"/>
          <p:nvPr/>
        </p:nvSpPr>
        <p:spPr>
          <a:xfrm>
            <a:off x="6448912" y="5460967"/>
            <a:ext cx="6094990" cy="369332"/>
          </a:xfrm>
          <a:prstGeom prst="rect">
            <a:avLst/>
          </a:prstGeom>
          <a:noFill/>
        </p:spPr>
        <p:txBody>
          <a:bodyPr wrap="square">
            <a:spAutoFit/>
          </a:bodyPr>
          <a:lstStyle/>
          <a:p>
            <a:pPr algn="ctr"/>
            <a:r>
              <a:rPr lang="en-IN" sz="1800" b="1" dirty="0">
                <a:solidFill>
                  <a:srgbClr val="0070C0"/>
                </a:solidFill>
              </a:rPr>
              <a:t>Shivakumar Jolad</a:t>
            </a:r>
          </a:p>
        </p:txBody>
      </p:sp>
    </p:spTree>
    <p:extLst>
      <p:ext uri="{BB962C8B-B14F-4D97-AF65-F5344CB8AC3E}">
        <p14:creationId xmlns:p14="http://schemas.microsoft.com/office/powerpoint/2010/main" val="3045451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7ED44C-71C3-844A-9480-A6EF20A3B7CA}"/>
              </a:ext>
            </a:extLst>
          </p:cNvPr>
          <p:cNvSpPr>
            <a:spLocks noGrp="1"/>
          </p:cNvSpPr>
          <p:nvPr>
            <p:ph type="title"/>
          </p:nvPr>
        </p:nvSpPr>
        <p:spPr>
          <a:xfrm>
            <a:off x="457200" y="5021097"/>
            <a:ext cx="7772400" cy="1463040"/>
          </a:xfrm>
        </p:spPr>
        <p:txBody>
          <a:bodyPr/>
          <a:lstStyle/>
          <a:p>
            <a:r>
              <a:rPr lang="en-US" dirty="0"/>
              <a:t>SAMPLING</a:t>
            </a:r>
          </a:p>
        </p:txBody>
      </p:sp>
      <p:sp>
        <p:nvSpPr>
          <p:cNvPr id="5" name="Text Placeholder 4">
            <a:extLst>
              <a:ext uri="{FF2B5EF4-FFF2-40B4-BE49-F238E27FC236}">
                <a16:creationId xmlns:a16="http://schemas.microsoft.com/office/drawing/2014/main" id="{A49DF58D-C1DF-7B45-9CB2-BEA06E196111}"/>
              </a:ext>
            </a:extLst>
          </p:cNvPr>
          <p:cNvSpPr>
            <a:spLocks noGrp="1"/>
          </p:cNvSpPr>
          <p:nvPr>
            <p:ph type="body" idx="1"/>
          </p:nvPr>
        </p:nvSpPr>
        <p:spPr/>
        <p:txBody>
          <a:bodyPr/>
          <a:lstStyle/>
          <a:p>
            <a:endParaRPr lang="en-US"/>
          </a:p>
        </p:txBody>
      </p:sp>
      <p:pic>
        <p:nvPicPr>
          <p:cNvPr id="1026" name="Picture 2" descr="What is Sample Size? Definition - Omniconvert">
            <a:extLst>
              <a:ext uri="{FF2B5EF4-FFF2-40B4-BE49-F238E27FC236}">
                <a16:creationId xmlns:a16="http://schemas.microsoft.com/office/drawing/2014/main" id="{DE11C7E2-456D-A3AF-8714-47FF735299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9779" y="15240"/>
            <a:ext cx="8395855" cy="4556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9920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2F55DC-B905-5648-9E9F-B01F100F6DCA}"/>
              </a:ext>
            </a:extLst>
          </p:cNvPr>
          <p:cNvSpPr>
            <a:spLocks noGrp="1"/>
          </p:cNvSpPr>
          <p:nvPr>
            <p:ph type="title"/>
          </p:nvPr>
        </p:nvSpPr>
        <p:spPr>
          <a:xfrm>
            <a:off x="1344167" y="479012"/>
            <a:ext cx="9720072" cy="977861"/>
          </a:xfrm>
        </p:spPr>
        <p:txBody>
          <a:bodyPr/>
          <a:lstStyle/>
          <a:p>
            <a:r>
              <a:rPr lang="en-US" dirty="0"/>
              <a:t>Sampling process</a:t>
            </a:r>
          </a:p>
        </p:txBody>
      </p:sp>
      <p:pic>
        <p:nvPicPr>
          <p:cNvPr id="5" name="Picture 4">
            <a:extLst>
              <a:ext uri="{FF2B5EF4-FFF2-40B4-BE49-F238E27FC236}">
                <a16:creationId xmlns:a16="http://schemas.microsoft.com/office/drawing/2014/main" id="{93700336-72B9-0947-9FDF-AA600BE0E2E2}"/>
              </a:ext>
            </a:extLst>
          </p:cNvPr>
          <p:cNvPicPr>
            <a:picLocks noChangeAspect="1"/>
          </p:cNvPicPr>
          <p:nvPr/>
        </p:nvPicPr>
        <p:blipFill rotWithShape="1">
          <a:blip r:embed="rId3"/>
          <a:srcRect l="11689" r="5498"/>
          <a:stretch/>
        </p:blipFill>
        <p:spPr>
          <a:xfrm>
            <a:off x="526739" y="1456873"/>
            <a:ext cx="6589986" cy="4791184"/>
          </a:xfrm>
          <a:prstGeom prst="rect">
            <a:avLst/>
          </a:prstGeom>
        </p:spPr>
      </p:pic>
      <p:sp>
        <p:nvSpPr>
          <p:cNvPr id="8" name="Content Placeholder 7">
            <a:extLst>
              <a:ext uri="{FF2B5EF4-FFF2-40B4-BE49-F238E27FC236}">
                <a16:creationId xmlns:a16="http://schemas.microsoft.com/office/drawing/2014/main" id="{778F6CF0-155B-DB46-9805-937792990098}"/>
              </a:ext>
            </a:extLst>
          </p:cNvPr>
          <p:cNvSpPr>
            <a:spLocks noGrp="1"/>
          </p:cNvSpPr>
          <p:nvPr>
            <p:ph idx="1"/>
          </p:nvPr>
        </p:nvSpPr>
        <p:spPr>
          <a:xfrm>
            <a:off x="7116725" y="1121734"/>
            <a:ext cx="4548536" cy="4578026"/>
          </a:xfrm>
        </p:spPr>
        <p:txBody>
          <a:bodyPr>
            <a:noAutofit/>
          </a:bodyPr>
          <a:lstStyle/>
          <a:p>
            <a:pPr>
              <a:lnSpc>
                <a:spcPct val="80000"/>
              </a:lnSpc>
            </a:pPr>
            <a:r>
              <a:rPr lang="en-US" altLang="en-US" sz="2400" dirty="0">
                <a:latin typeface="Arial" panose="020B0604020202020204" pitchFamily="34" charset="0"/>
                <a:cs typeface="Arial" panose="020B0604020202020204" pitchFamily="34" charset="0"/>
              </a:rPr>
              <a:t>A </a:t>
            </a:r>
            <a:r>
              <a:rPr lang="en-US" altLang="en-US" sz="2400" dirty="0">
                <a:solidFill>
                  <a:srgbClr val="0091DA"/>
                </a:solidFill>
                <a:latin typeface="Arial" panose="020B0604020202020204" pitchFamily="34" charset="0"/>
                <a:cs typeface="Arial" panose="020B0604020202020204" pitchFamily="34" charset="0"/>
              </a:rPr>
              <a:t>sample</a:t>
            </a:r>
            <a:r>
              <a:rPr lang="en-US" altLang="en-US" sz="2400" dirty="0">
                <a:latin typeface="Arial" panose="020B0604020202020204" pitchFamily="34" charset="0"/>
                <a:cs typeface="Arial" panose="020B0604020202020204" pitchFamily="34" charset="0"/>
              </a:rPr>
              <a:t> is “a smaller (but hopefully representative) collection of units from a population used to determine truths about that population”</a:t>
            </a:r>
          </a:p>
          <a:p>
            <a:pPr>
              <a:lnSpc>
                <a:spcPct val="80000"/>
              </a:lnSpc>
            </a:pPr>
            <a:endParaRPr lang="en-US" altLang="en-US" sz="2400" dirty="0">
              <a:latin typeface="Arial" panose="020B0604020202020204" pitchFamily="34" charset="0"/>
              <a:cs typeface="Arial" panose="020B0604020202020204" pitchFamily="34" charset="0"/>
            </a:endParaRPr>
          </a:p>
          <a:p>
            <a:pPr>
              <a:lnSpc>
                <a:spcPct val="80000"/>
              </a:lnSpc>
            </a:pPr>
            <a:r>
              <a:rPr lang="en-US" altLang="en-US" sz="2400" dirty="0">
                <a:latin typeface="Arial" panose="020B0604020202020204" pitchFamily="34" charset="0"/>
                <a:cs typeface="Arial" panose="020B0604020202020204" pitchFamily="34" charset="0"/>
              </a:rPr>
              <a:t>Why sample?</a:t>
            </a:r>
          </a:p>
          <a:p>
            <a:pPr lvl="1">
              <a:lnSpc>
                <a:spcPct val="80000"/>
              </a:lnSpc>
            </a:pPr>
            <a:r>
              <a:rPr lang="en-US" altLang="en-US" dirty="0">
                <a:latin typeface="Arial" panose="020B0604020202020204" pitchFamily="34" charset="0"/>
                <a:cs typeface="Arial" panose="020B0604020202020204" pitchFamily="34" charset="0"/>
              </a:rPr>
              <a:t>Resources (time, money) and workload</a:t>
            </a:r>
          </a:p>
          <a:p>
            <a:pPr marL="128016" lvl="1" indent="0">
              <a:lnSpc>
                <a:spcPct val="80000"/>
              </a:lnSpc>
              <a:buNone/>
            </a:pPr>
            <a:endParaRPr lang="en-US" altLang="en-US" dirty="0">
              <a:latin typeface="Arial" panose="020B0604020202020204" pitchFamily="34" charset="0"/>
              <a:cs typeface="Arial" panose="020B0604020202020204" pitchFamily="34" charset="0"/>
            </a:endParaRPr>
          </a:p>
          <a:p>
            <a:pPr lvl="1">
              <a:lnSpc>
                <a:spcPct val="80000"/>
              </a:lnSpc>
            </a:pPr>
            <a:r>
              <a:rPr lang="en-US" altLang="en-US" dirty="0">
                <a:latin typeface="Arial" panose="020B0604020202020204" pitchFamily="34" charset="0"/>
                <a:cs typeface="Arial" panose="020B0604020202020204" pitchFamily="34" charset="0"/>
              </a:rPr>
              <a:t>Gives results with known accuracy that can be calculated mathematically</a:t>
            </a:r>
          </a:p>
          <a:p>
            <a:endParaRPr lang="en-US" sz="2400" dirty="0"/>
          </a:p>
        </p:txBody>
      </p:sp>
      <p:sp>
        <p:nvSpPr>
          <p:cNvPr id="9" name="Rectangle 8">
            <a:extLst>
              <a:ext uri="{FF2B5EF4-FFF2-40B4-BE49-F238E27FC236}">
                <a16:creationId xmlns:a16="http://schemas.microsoft.com/office/drawing/2014/main" id="{5F076022-EC77-CF47-85AD-EAEBC2FC25EA}"/>
              </a:ext>
            </a:extLst>
          </p:cNvPr>
          <p:cNvSpPr/>
          <p:nvPr/>
        </p:nvSpPr>
        <p:spPr>
          <a:xfrm>
            <a:off x="180593" y="6275419"/>
            <a:ext cx="12047219" cy="307777"/>
          </a:xfrm>
          <a:prstGeom prst="rect">
            <a:avLst/>
          </a:prstGeom>
        </p:spPr>
        <p:txBody>
          <a:bodyPr wrap="square">
            <a:spAutoFit/>
          </a:bodyPr>
          <a:lstStyle/>
          <a:p>
            <a:r>
              <a:rPr lang="en-IN" sz="1400" dirty="0">
                <a:latin typeface="Helvetica" pitchFamily="2" charset="0"/>
              </a:rPr>
              <a:t>Ch 8, </a:t>
            </a:r>
            <a:r>
              <a:rPr lang="en-IN" sz="1400" dirty="0" err="1">
                <a:latin typeface="Helvetica" pitchFamily="2" charset="0"/>
              </a:rPr>
              <a:t>Bhattacherjee</a:t>
            </a:r>
            <a:r>
              <a:rPr lang="en-IN" sz="1400" dirty="0">
                <a:latin typeface="Helvetica" pitchFamily="2" charset="0"/>
              </a:rPr>
              <a:t>, </a:t>
            </a:r>
            <a:r>
              <a:rPr lang="en-IN" sz="1400" dirty="0" err="1">
                <a:latin typeface="Helvetica" pitchFamily="2" charset="0"/>
              </a:rPr>
              <a:t>Anol</a:t>
            </a:r>
            <a:r>
              <a:rPr lang="en-IN" sz="1400" dirty="0">
                <a:latin typeface="Helvetica" pitchFamily="2" charset="0"/>
              </a:rPr>
              <a:t>, "Social Science Research: Principles, Methods, and Practices" (2012). </a:t>
            </a:r>
            <a:r>
              <a:rPr lang="en-IN" sz="1400" dirty="0">
                <a:solidFill>
                  <a:srgbClr val="3E75A3"/>
                </a:solidFill>
                <a:latin typeface="Helvetica" pitchFamily="2" charset="0"/>
              </a:rPr>
              <a:t>http://</a:t>
            </a:r>
            <a:r>
              <a:rPr lang="en-IN" sz="1400" dirty="0" err="1">
                <a:solidFill>
                  <a:srgbClr val="3E75A3"/>
                </a:solidFill>
                <a:latin typeface="Helvetica" pitchFamily="2" charset="0"/>
              </a:rPr>
              <a:t>scholarcommons.usf.edu</a:t>
            </a:r>
            <a:r>
              <a:rPr lang="en-IN" sz="1400" dirty="0">
                <a:solidFill>
                  <a:srgbClr val="3E75A3"/>
                </a:solidFill>
                <a:latin typeface="Helvetica" pitchFamily="2" charset="0"/>
              </a:rPr>
              <a:t>/</a:t>
            </a:r>
            <a:r>
              <a:rPr lang="en-IN" sz="1400" dirty="0" err="1">
                <a:solidFill>
                  <a:srgbClr val="3E75A3"/>
                </a:solidFill>
                <a:latin typeface="Helvetica" pitchFamily="2" charset="0"/>
              </a:rPr>
              <a:t>oa_textbooks</a:t>
            </a:r>
            <a:r>
              <a:rPr lang="en-IN" sz="1400" dirty="0">
                <a:solidFill>
                  <a:srgbClr val="3E75A3"/>
                </a:solidFill>
                <a:latin typeface="Helvetica" pitchFamily="2" charset="0"/>
              </a:rPr>
              <a:t>/3</a:t>
            </a:r>
            <a:endParaRPr lang="en-IN" sz="1400" dirty="0">
              <a:solidFill>
                <a:srgbClr val="3E75A3"/>
              </a:solidFill>
              <a:effectLst/>
              <a:latin typeface="Helvetica" pitchFamily="2" charset="0"/>
            </a:endParaRPr>
          </a:p>
        </p:txBody>
      </p:sp>
      <p:sp>
        <p:nvSpPr>
          <p:cNvPr id="3" name="TextBox 2">
            <a:extLst>
              <a:ext uri="{FF2B5EF4-FFF2-40B4-BE49-F238E27FC236}">
                <a16:creationId xmlns:a16="http://schemas.microsoft.com/office/drawing/2014/main" id="{DD97970E-7F20-5E47-9290-B269D88497E0}"/>
              </a:ext>
            </a:extLst>
          </p:cNvPr>
          <p:cNvSpPr txBox="1"/>
          <p:nvPr/>
        </p:nvSpPr>
        <p:spPr>
          <a:xfrm>
            <a:off x="2468496" y="4713655"/>
            <a:ext cx="8595743" cy="369332"/>
          </a:xfrm>
          <a:prstGeom prst="rect">
            <a:avLst/>
          </a:prstGeom>
          <a:noFill/>
        </p:spPr>
        <p:txBody>
          <a:bodyPr wrap="square">
            <a:spAutoFit/>
          </a:bodyPr>
          <a:lstStyle/>
          <a:p>
            <a:r>
              <a:rPr lang="en-US" altLang="en-US" sz="1800" b="1" dirty="0">
                <a:latin typeface="Comic Sans MS" panose="030F0902030302020204" pitchFamily="66" charset="0"/>
              </a:rPr>
              <a:t>The sampling frame must be representative of the population</a:t>
            </a:r>
            <a:endParaRPr lang="en-IN" dirty="0"/>
          </a:p>
        </p:txBody>
      </p:sp>
    </p:spTree>
    <p:extLst>
      <p:ext uri="{BB962C8B-B14F-4D97-AF65-F5344CB8AC3E}">
        <p14:creationId xmlns:p14="http://schemas.microsoft.com/office/powerpoint/2010/main" val="1610927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EAB458-1CA7-0B44-8059-3EABA5B1F04F}"/>
              </a:ext>
            </a:extLst>
          </p:cNvPr>
          <p:cNvSpPr>
            <a:spLocks noGrp="1"/>
          </p:cNvSpPr>
          <p:nvPr>
            <p:ph type="title"/>
          </p:nvPr>
        </p:nvSpPr>
        <p:spPr>
          <a:xfrm>
            <a:off x="1115567" y="754224"/>
            <a:ext cx="9720072" cy="977861"/>
          </a:xfrm>
        </p:spPr>
        <p:txBody>
          <a:bodyPr/>
          <a:lstStyle/>
          <a:p>
            <a:r>
              <a:rPr lang="en-US" dirty="0"/>
              <a:t>Population and sample</a:t>
            </a:r>
          </a:p>
        </p:txBody>
      </p:sp>
      <p:sp>
        <p:nvSpPr>
          <p:cNvPr id="4" name="Content Placeholder 3">
            <a:extLst>
              <a:ext uri="{FF2B5EF4-FFF2-40B4-BE49-F238E27FC236}">
                <a16:creationId xmlns:a16="http://schemas.microsoft.com/office/drawing/2014/main" id="{2E657C35-0A38-F143-9E57-DB6A33D5604E}"/>
              </a:ext>
            </a:extLst>
          </p:cNvPr>
          <p:cNvSpPr>
            <a:spLocks noGrp="1"/>
          </p:cNvSpPr>
          <p:nvPr>
            <p:ph idx="1"/>
          </p:nvPr>
        </p:nvSpPr>
        <p:spPr>
          <a:xfrm>
            <a:off x="246886" y="1889760"/>
            <a:ext cx="9720073" cy="4023360"/>
          </a:xfrm>
        </p:spPr>
        <p:txBody>
          <a:bodyPr>
            <a:normAutofit lnSpcReduction="10000"/>
          </a:bodyPr>
          <a:lstStyle/>
          <a:p>
            <a:r>
              <a:rPr lang="en-US" sz="2800" dirty="0"/>
              <a:t>What is your population of interest?</a:t>
            </a:r>
          </a:p>
          <a:p>
            <a:endParaRPr lang="en-US" sz="2800" dirty="0"/>
          </a:p>
          <a:p>
            <a:r>
              <a:rPr lang="en-US" sz="2800" dirty="0"/>
              <a:t>To whom do you want to generalize your results?</a:t>
            </a:r>
          </a:p>
          <a:p>
            <a:pPr lvl="1"/>
            <a:r>
              <a:rPr lang="en-US" sz="2400" dirty="0"/>
              <a:t>All doctors</a:t>
            </a:r>
          </a:p>
          <a:p>
            <a:pPr lvl="1"/>
            <a:r>
              <a:rPr lang="en-US" sz="2400" dirty="0"/>
              <a:t>School children</a:t>
            </a:r>
          </a:p>
          <a:p>
            <a:pPr lvl="1"/>
            <a:r>
              <a:rPr lang="en-US" sz="2400" dirty="0"/>
              <a:t>Indians</a:t>
            </a:r>
          </a:p>
          <a:p>
            <a:pPr lvl="1"/>
            <a:r>
              <a:rPr lang="en-US" sz="2400" dirty="0"/>
              <a:t>Women aged 15-45 years</a:t>
            </a:r>
          </a:p>
          <a:p>
            <a:pPr lvl="1"/>
            <a:r>
              <a:rPr lang="en-US" sz="2400" dirty="0"/>
              <a:t>Other</a:t>
            </a:r>
          </a:p>
          <a:p>
            <a:r>
              <a:rPr lang="en-US" sz="2800" dirty="0"/>
              <a:t>Can you sample the entire population?</a:t>
            </a:r>
          </a:p>
          <a:p>
            <a:endParaRPr lang="en-US" sz="2800" dirty="0"/>
          </a:p>
        </p:txBody>
      </p:sp>
      <p:sp>
        <p:nvSpPr>
          <p:cNvPr id="5" name="TextBox 4">
            <a:extLst>
              <a:ext uri="{FF2B5EF4-FFF2-40B4-BE49-F238E27FC236}">
                <a16:creationId xmlns:a16="http://schemas.microsoft.com/office/drawing/2014/main" id="{978F1ED7-E2F5-6345-AE2D-763E25D82806}"/>
              </a:ext>
            </a:extLst>
          </p:cNvPr>
          <p:cNvSpPr txBox="1"/>
          <p:nvPr/>
        </p:nvSpPr>
        <p:spPr>
          <a:xfrm>
            <a:off x="1266972" y="5849654"/>
            <a:ext cx="7466468" cy="584775"/>
          </a:xfrm>
          <a:prstGeom prst="rect">
            <a:avLst/>
          </a:prstGeom>
          <a:noFill/>
        </p:spPr>
        <p:txBody>
          <a:bodyPr wrap="none" rtlCol="0">
            <a:spAutoFit/>
          </a:bodyPr>
          <a:lstStyle/>
          <a:p>
            <a:r>
              <a:rPr lang="en-US" sz="1600" dirty="0" err="1"/>
              <a:t>Supercourse</a:t>
            </a:r>
            <a:r>
              <a:rPr lang="en-US" sz="1600" dirty="0"/>
              <a:t> on Epidemiology, Internet and Global Health, Sampling Methods</a:t>
            </a:r>
            <a:endParaRPr lang="en-US" sz="1600" i="1" dirty="0"/>
          </a:p>
          <a:p>
            <a:r>
              <a:rPr lang="en-US" sz="1600" dirty="0"/>
              <a:t> Dr. Kanupriya Chaturvedi , University of Pittsburgh,</a:t>
            </a:r>
          </a:p>
        </p:txBody>
      </p:sp>
      <p:sp>
        <p:nvSpPr>
          <p:cNvPr id="6" name="TextBox 5">
            <a:extLst>
              <a:ext uri="{FF2B5EF4-FFF2-40B4-BE49-F238E27FC236}">
                <a16:creationId xmlns:a16="http://schemas.microsoft.com/office/drawing/2014/main" id="{5918DE7C-9C35-7556-BCC8-B1DC77DD13F0}"/>
              </a:ext>
            </a:extLst>
          </p:cNvPr>
          <p:cNvSpPr txBox="1"/>
          <p:nvPr/>
        </p:nvSpPr>
        <p:spPr>
          <a:xfrm>
            <a:off x="5975603" y="3810625"/>
            <a:ext cx="6096000" cy="1446550"/>
          </a:xfrm>
          <a:prstGeom prst="rect">
            <a:avLst/>
          </a:prstGeom>
          <a:noFill/>
        </p:spPr>
        <p:txBody>
          <a:bodyPr wrap="square">
            <a:spAutoFit/>
          </a:bodyPr>
          <a:lstStyle/>
          <a:p>
            <a:pPr eaLnBrk="1" hangingPunct="1">
              <a:lnSpc>
                <a:spcPct val="80000"/>
              </a:lnSpc>
            </a:pPr>
            <a:r>
              <a:rPr lang="en-US" altLang="en-US" sz="2800" dirty="0">
                <a:latin typeface="Arial" panose="020B0604020202020204" pitchFamily="34" charset="0"/>
                <a:cs typeface="Arial" panose="020B0604020202020204" pitchFamily="34" charset="0"/>
              </a:rPr>
              <a:t>When might you sample the entire population?</a:t>
            </a:r>
          </a:p>
          <a:p>
            <a:pPr lvl="2" eaLnBrk="1" hangingPunct="1">
              <a:lnSpc>
                <a:spcPct val="80000"/>
              </a:lnSpc>
            </a:pPr>
            <a:r>
              <a:rPr lang="en-US" altLang="en-US" dirty="0">
                <a:latin typeface="Arial" panose="020B0604020202020204" pitchFamily="34" charset="0"/>
                <a:cs typeface="Arial" panose="020B0604020202020204" pitchFamily="34" charset="0"/>
              </a:rPr>
              <a:t>When your population is very small</a:t>
            </a:r>
          </a:p>
          <a:p>
            <a:pPr lvl="2" eaLnBrk="1" hangingPunct="1">
              <a:lnSpc>
                <a:spcPct val="80000"/>
              </a:lnSpc>
            </a:pPr>
            <a:r>
              <a:rPr lang="en-US" altLang="en-US" dirty="0">
                <a:latin typeface="Arial" panose="020B0604020202020204" pitchFamily="34" charset="0"/>
                <a:cs typeface="Arial" panose="020B0604020202020204" pitchFamily="34" charset="0"/>
              </a:rPr>
              <a:t>When you have extensive resources</a:t>
            </a:r>
          </a:p>
          <a:p>
            <a:pPr lvl="2" eaLnBrk="1" hangingPunct="1">
              <a:lnSpc>
                <a:spcPct val="80000"/>
              </a:lnSpc>
            </a:pPr>
            <a:r>
              <a:rPr lang="en-US" altLang="en-US" dirty="0">
                <a:latin typeface="Arial" panose="020B0604020202020204" pitchFamily="34" charset="0"/>
                <a:cs typeface="Arial" panose="020B0604020202020204" pitchFamily="34" charset="0"/>
              </a:rPr>
              <a:t>When you don’t expect a very high response</a:t>
            </a:r>
          </a:p>
        </p:txBody>
      </p:sp>
    </p:spTree>
    <p:extLst>
      <p:ext uri="{BB962C8B-B14F-4D97-AF65-F5344CB8AC3E}">
        <p14:creationId xmlns:p14="http://schemas.microsoft.com/office/powerpoint/2010/main" val="771974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ampterm">
            <a:extLst>
              <a:ext uri="{FF2B5EF4-FFF2-40B4-BE49-F238E27FC236}">
                <a16:creationId xmlns:a16="http://schemas.microsoft.com/office/drawing/2014/main" id="{2D6AE5FB-9675-FB4A-9EBE-94966ADCA2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497" y="266515"/>
            <a:ext cx="8904890" cy="6324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EAB8BE29-E4B4-C843-9699-56E0FAA2609F}"/>
              </a:ext>
            </a:extLst>
          </p:cNvPr>
          <p:cNvSpPr/>
          <p:nvPr/>
        </p:nvSpPr>
        <p:spPr>
          <a:xfrm>
            <a:off x="7607973" y="6406818"/>
            <a:ext cx="2625334" cy="338554"/>
          </a:xfrm>
          <a:prstGeom prst="rect">
            <a:avLst/>
          </a:prstGeom>
        </p:spPr>
        <p:txBody>
          <a:bodyPr wrap="none">
            <a:spAutoFit/>
          </a:bodyPr>
          <a:lstStyle/>
          <a:p>
            <a:r>
              <a:rPr lang="en-US" sz="1600" dirty="0"/>
              <a:t>Dr. Kanupriya Chaturvedi </a:t>
            </a:r>
          </a:p>
        </p:txBody>
      </p:sp>
    </p:spTree>
    <p:extLst>
      <p:ext uri="{BB962C8B-B14F-4D97-AF65-F5344CB8AC3E}">
        <p14:creationId xmlns:p14="http://schemas.microsoft.com/office/powerpoint/2010/main" val="3244757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CEC55-998C-F44D-83F0-FC36D3646C38}"/>
              </a:ext>
            </a:extLst>
          </p:cNvPr>
          <p:cNvSpPr>
            <a:spLocks noGrp="1"/>
          </p:cNvSpPr>
          <p:nvPr>
            <p:ph type="title"/>
          </p:nvPr>
        </p:nvSpPr>
        <p:spPr/>
        <p:txBody>
          <a:bodyPr/>
          <a:lstStyle/>
          <a:p>
            <a:r>
              <a:rPr lang="en-US" dirty="0"/>
              <a:t>Types of Samples</a:t>
            </a:r>
          </a:p>
        </p:txBody>
      </p:sp>
      <p:sp>
        <p:nvSpPr>
          <p:cNvPr id="4" name="Text Placeholder 3">
            <a:extLst>
              <a:ext uri="{FF2B5EF4-FFF2-40B4-BE49-F238E27FC236}">
                <a16:creationId xmlns:a16="http://schemas.microsoft.com/office/drawing/2014/main" id="{863F4392-0B5F-20A3-8F90-7C8AA18C19AE}"/>
              </a:ext>
            </a:extLst>
          </p:cNvPr>
          <p:cNvSpPr>
            <a:spLocks noGrp="1"/>
          </p:cNvSpPr>
          <p:nvPr>
            <p:ph type="body" idx="1"/>
          </p:nvPr>
        </p:nvSpPr>
        <p:spPr/>
        <p:txBody>
          <a:bodyPr/>
          <a:lstStyle/>
          <a:p>
            <a:r>
              <a:rPr lang="en-US" altLang="en-US" dirty="0">
                <a:solidFill>
                  <a:srgbClr val="0091DA"/>
                </a:solidFill>
                <a:latin typeface="Comic Sans MS" panose="030F0902030302020204" pitchFamily="66" charset="0"/>
              </a:rPr>
              <a:t>Probability (Random) Samples</a:t>
            </a:r>
            <a:endParaRPr lang="en-US" altLang="en-US" dirty="0">
              <a:solidFill>
                <a:srgbClr val="0091DA"/>
              </a:solidFill>
              <a:latin typeface="Comic Sans MS" panose="030F0902030302020204" pitchFamily="66" charset="0"/>
              <a:sym typeface="Wingdings" pitchFamily="2" charset="2"/>
            </a:endParaRPr>
          </a:p>
        </p:txBody>
      </p:sp>
      <p:sp>
        <p:nvSpPr>
          <p:cNvPr id="3" name="Content Placeholder 2">
            <a:extLst>
              <a:ext uri="{FF2B5EF4-FFF2-40B4-BE49-F238E27FC236}">
                <a16:creationId xmlns:a16="http://schemas.microsoft.com/office/drawing/2014/main" id="{447A2015-F53D-7144-9FC3-5F192803A19D}"/>
              </a:ext>
            </a:extLst>
          </p:cNvPr>
          <p:cNvSpPr>
            <a:spLocks noGrp="1"/>
          </p:cNvSpPr>
          <p:nvPr>
            <p:ph sz="half" idx="2"/>
          </p:nvPr>
        </p:nvSpPr>
        <p:spPr/>
        <p:txBody>
          <a:bodyPr>
            <a:normAutofit/>
          </a:bodyPr>
          <a:lstStyle/>
          <a:p>
            <a:pPr lvl="1"/>
            <a:r>
              <a:rPr lang="en-US" sz="2400" b="1" dirty="0"/>
              <a:t>Simple random sample</a:t>
            </a:r>
          </a:p>
          <a:p>
            <a:pPr lvl="1"/>
            <a:r>
              <a:rPr lang="en-US" sz="2400" b="1" dirty="0"/>
              <a:t>Systematic random sample</a:t>
            </a:r>
          </a:p>
          <a:p>
            <a:pPr lvl="1"/>
            <a:r>
              <a:rPr lang="en-US" sz="2400" b="1" dirty="0"/>
              <a:t>Stratified random sample</a:t>
            </a:r>
          </a:p>
          <a:p>
            <a:pPr lvl="1"/>
            <a:r>
              <a:rPr lang="en-US" sz="2400" dirty="0"/>
              <a:t>Multistage sample</a:t>
            </a:r>
          </a:p>
          <a:p>
            <a:pPr lvl="1"/>
            <a:r>
              <a:rPr lang="en-US" sz="2400" b="1" dirty="0"/>
              <a:t>Multiphase sample</a:t>
            </a:r>
          </a:p>
          <a:p>
            <a:pPr lvl="1"/>
            <a:r>
              <a:rPr lang="en-US" sz="2400" b="1" dirty="0"/>
              <a:t>Cluster sample</a:t>
            </a:r>
          </a:p>
          <a:p>
            <a:endParaRPr lang="en-US" sz="2400" dirty="0"/>
          </a:p>
        </p:txBody>
      </p:sp>
      <p:sp>
        <p:nvSpPr>
          <p:cNvPr id="5" name="Text Placeholder 4">
            <a:extLst>
              <a:ext uri="{FF2B5EF4-FFF2-40B4-BE49-F238E27FC236}">
                <a16:creationId xmlns:a16="http://schemas.microsoft.com/office/drawing/2014/main" id="{2526C604-8B21-8CFD-F862-D436B11D3EB7}"/>
              </a:ext>
            </a:extLst>
          </p:cNvPr>
          <p:cNvSpPr>
            <a:spLocks noGrp="1"/>
          </p:cNvSpPr>
          <p:nvPr>
            <p:ph type="body" sz="quarter" idx="3"/>
          </p:nvPr>
        </p:nvSpPr>
        <p:spPr/>
        <p:txBody>
          <a:bodyPr/>
          <a:lstStyle/>
          <a:p>
            <a:r>
              <a:rPr lang="en-US" altLang="en-US" dirty="0">
                <a:solidFill>
                  <a:srgbClr val="0091DA"/>
                </a:solidFill>
                <a:latin typeface="Comic Sans MS" panose="030F0902030302020204" pitchFamily="66" charset="0"/>
              </a:rPr>
              <a:t>Non-Probability Samples</a:t>
            </a:r>
          </a:p>
        </p:txBody>
      </p:sp>
      <p:sp>
        <p:nvSpPr>
          <p:cNvPr id="6" name="Content Placeholder 5">
            <a:extLst>
              <a:ext uri="{FF2B5EF4-FFF2-40B4-BE49-F238E27FC236}">
                <a16:creationId xmlns:a16="http://schemas.microsoft.com/office/drawing/2014/main" id="{9DFCABB2-D2F6-40D7-680B-1DD4581F0FB1}"/>
              </a:ext>
            </a:extLst>
          </p:cNvPr>
          <p:cNvSpPr>
            <a:spLocks noGrp="1"/>
          </p:cNvSpPr>
          <p:nvPr>
            <p:ph sz="quarter" idx="4"/>
          </p:nvPr>
        </p:nvSpPr>
        <p:spPr/>
        <p:txBody>
          <a:bodyPr>
            <a:normAutofit/>
          </a:bodyPr>
          <a:lstStyle/>
          <a:p>
            <a:pPr lvl="1"/>
            <a:r>
              <a:rPr lang="en-US" sz="2400" dirty="0"/>
              <a:t>Convenience sample</a:t>
            </a:r>
          </a:p>
          <a:p>
            <a:pPr lvl="1"/>
            <a:r>
              <a:rPr lang="en-US" sz="2400" dirty="0"/>
              <a:t>Purposive sample</a:t>
            </a:r>
          </a:p>
          <a:p>
            <a:pPr lvl="1"/>
            <a:r>
              <a:rPr lang="en-US" sz="2400" dirty="0"/>
              <a:t>Quota</a:t>
            </a:r>
          </a:p>
          <a:p>
            <a:pPr marL="0" indent="0">
              <a:buNone/>
            </a:pPr>
            <a:endParaRPr lang="en-IN" sz="2400" dirty="0"/>
          </a:p>
        </p:txBody>
      </p:sp>
    </p:spTree>
    <p:extLst>
      <p:ext uri="{BB962C8B-B14F-4D97-AF65-F5344CB8AC3E}">
        <p14:creationId xmlns:p14="http://schemas.microsoft.com/office/powerpoint/2010/main" val="1367732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6956D-76B3-6E47-AD68-07B1F87D9B18}"/>
              </a:ext>
            </a:extLst>
          </p:cNvPr>
          <p:cNvSpPr>
            <a:spLocks noGrp="1"/>
          </p:cNvSpPr>
          <p:nvPr>
            <p:ph type="title"/>
          </p:nvPr>
        </p:nvSpPr>
        <p:spPr>
          <a:xfrm>
            <a:off x="1235964" y="777084"/>
            <a:ext cx="9720072" cy="977861"/>
          </a:xfrm>
        </p:spPr>
        <p:txBody>
          <a:bodyPr/>
          <a:lstStyle/>
          <a:p>
            <a:r>
              <a:rPr lang="en-US" dirty="0"/>
              <a:t>SAMPLING Process </a:t>
            </a:r>
          </a:p>
        </p:txBody>
      </p:sp>
      <p:sp>
        <p:nvSpPr>
          <p:cNvPr id="3" name="Content Placeholder 2">
            <a:extLst>
              <a:ext uri="{FF2B5EF4-FFF2-40B4-BE49-F238E27FC236}">
                <a16:creationId xmlns:a16="http://schemas.microsoft.com/office/drawing/2014/main" id="{924B5FFA-9D1F-4F4A-8907-24446BF01206}"/>
              </a:ext>
            </a:extLst>
          </p:cNvPr>
          <p:cNvSpPr>
            <a:spLocks noGrp="1"/>
          </p:cNvSpPr>
          <p:nvPr>
            <p:ph idx="1"/>
          </p:nvPr>
        </p:nvSpPr>
        <p:spPr>
          <a:xfrm>
            <a:off x="719327" y="2335345"/>
            <a:ext cx="5574793" cy="3053275"/>
          </a:xfrm>
        </p:spPr>
        <p:txBody>
          <a:bodyPr>
            <a:normAutofit/>
          </a:bodyPr>
          <a:lstStyle/>
          <a:p>
            <a:endParaRPr lang="en-US" altLang="en-US" b="1" dirty="0"/>
          </a:p>
          <a:p>
            <a:pPr lvl="1"/>
            <a:r>
              <a:rPr lang="en-US" altLang="en-US" sz="2400" dirty="0"/>
              <a:t>Defining the population of concern </a:t>
            </a:r>
          </a:p>
          <a:p>
            <a:pPr lvl="1"/>
            <a:endParaRPr lang="en-US" altLang="en-US" sz="2400" dirty="0"/>
          </a:p>
          <a:p>
            <a:pPr lvl="1"/>
            <a:r>
              <a:rPr lang="en-US" altLang="en-US" sz="2400" b="1" dirty="0"/>
              <a:t>Specifying a sampling frame (a set of items or events possible to measure )</a:t>
            </a:r>
          </a:p>
          <a:p>
            <a:pPr lvl="1"/>
            <a:endParaRPr lang="en-US" altLang="en-US" sz="2400" dirty="0"/>
          </a:p>
          <a:p>
            <a:pPr lvl="1"/>
            <a:r>
              <a:rPr lang="en-US" altLang="en-US" sz="2400" dirty="0"/>
              <a:t>Specifying a sampling method</a:t>
            </a:r>
          </a:p>
        </p:txBody>
      </p:sp>
      <p:sp>
        <p:nvSpPr>
          <p:cNvPr id="4" name="Content Placeholder 2">
            <a:extLst>
              <a:ext uri="{FF2B5EF4-FFF2-40B4-BE49-F238E27FC236}">
                <a16:creationId xmlns:a16="http://schemas.microsoft.com/office/drawing/2014/main" id="{2B4F38C2-93F1-808C-AF2D-1D558951EDB0}"/>
              </a:ext>
            </a:extLst>
          </p:cNvPr>
          <p:cNvSpPr txBox="1">
            <a:spLocks/>
          </p:cNvSpPr>
          <p:nvPr/>
        </p:nvSpPr>
        <p:spPr>
          <a:xfrm>
            <a:off x="6649975" y="2335345"/>
            <a:ext cx="5336285" cy="3158675"/>
          </a:xfrm>
          <a:prstGeom prst="rect">
            <a:avLst/>
          </a:prstGeom>
        </p:spPr>
        <p:txBody>
          <a:bodyPr vert="horz" lIns="45720" tIns="45720" rIns="4572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panose="05000000000000000000" pitchFamily="2" charset="2"/>
              <a:buChar char="q"/>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panose="05000000000000000000" pitchFamily="2" charset="2"/>
              <a:buChar char="Ø"/>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altLang="en-US" b="1" dirty="0"/>
          </a:p>
          <a:p>
            <a:pPr lvl="1"/>
            <a:r>
              <a:rPr lang="en-US" altLang="en-US" sz="2400" dirty="0"/>
              <a:t>Determining the sample size </a:t>
            </a:r>
          </a:p>
          <a:p>
            <a:pPr lvl="1"/>
            <a:endParaRPr lang="en-US" altLang="en-US" sz="2400" dirty="0"/>
          </a:p>
          <a:p>
            <a:pPr lvl="1"/>
            <a:r>
              <a:rPr lang="en-US" altLang="en-US" sz="2400" dirty="0"/>
              <a:t>Implementing the sampling plan </a:t>
            </a:r>
          </a:p>
          <a:p>
            <a:pPr lvl="1"/>
            <a:endParaRPr lang="en-US" altLang="en-US" sz="2400" dirty="0"/>
          </a:p>
          <a:p>
            <a:pPr lvl="1"/>
            <a:r>
              <a:rPr lang="en-US" altLang="en-US" sz="2400" dirty="0"/>
              <a:t>Sampling and data collecting </a:t>
            </a:r>
          </a:p>
          <a:p>
            <a:pPr lvl="1"/>
            <a:endParaRPr lang="en-US" altLang="en-US" sz="2400" dirty="0"/>
          </a:p>
          <a:p>
            <a:pPr lvl="1"/>
            <a:r>
              <a:rPr lang="en-US" altLang="en-US" sz="2400" dirty="0"/>
              <a:t>Reviewing the sampling process </a:t>
            </a:r>
          </a:p>
        </p:txBody>
      </p:sp>
    </p:spTree>
    <p:extLst>
      <p:ext uri="{BB962C8B-B14F-4D97-AF65-F5344CB8AC3E}">
        <p14:creationId xmlns:p14="http://schemas.microsoft.com/office/powerpoint/2010/main" val="2163609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399AC-4881-3044-B32A-66C7BBFF7FD7}"/>
              </a:ext>
            </a:extLst>
          </p:cNvPr>
          <p:cNvSpPr>
            <a:spLocks noGrp="1"/>
          </p:cNvSpPr>
          <p:nvPr>
            <p:ph type="title"/>
          </p:nvPr>
        </p:nvSpPr>
        <p:spPr>
          <a:xfrm>
            <a:off x="1107947" y="746604"/>
            <a:ext cx="9720072" cy="977861"/>
          </a:xfrm>
        </p:spPr>
        <p:txBody>
          <a:bodyPr/>
          <a:lstStyle/>
          <a:p>
            <a:r>
              <a:rPr lang="en-US" altLang="en-US" dirty="0">
                <a:solidFill>
                  <a:schemeClr val="tx1"/>
                </a:solidFill>
              </a:rPr>
              <a:t>PROBABILITY SAMPLING</a:t>
            </a:r>
            <a:endParaRPr lang="en-US" dirty="0">
              <a:solidFill>
                <a:schemeClr val="tx1"/>
              </a:solidFill>
            </a:endParaRPr>
          </a:p>
        </p:txBody>
      </p:sp>
      <p:sp>
        <p:nvSpPr>
          <p:cNvPr id="3" name="Content Placeholder 2">
            <a:extLst>
              <a:ext uri="{FF2B5EF4-FFF2-40B4-BE49-F238E27FC236}">
                <a16:creationId xmlns:a16="http://schemas.microsoft.com/office/drawing/2014/main" id="{2D869A8C-AF8F-A147-857C-21D09AFBAB08}"/>
              </a:ext>
            </a:extLst>
          </p:cNvPr>
          <p:cNvSpPr>
            <a:spLocks noGrp="1"/>
          </p:cNvSpPr>
          <p:nvPr>
            <p:ph idx="1"/>
          </p:nvPr>
        </p:nvSpPr>
        <p:spPr>
          <a:xfrm>
            <a:off x="1235964" y="1914299"/>
            <a:ext cx="9720072" cy="3656077"/>
          </a:xfrm>
        </p:spPr>
        <p:txBody>
          <a:bodyPr/>
          <a:lstStyle/>
          <a:p>
            <a:r>
              <a:rPr lang="en-US" altLang="en-US" dirty="0"/>
              <a:t>A </a:t>
            </a:r>
            <a:r>
              <a:rPr lang="en-US" altLang="en-US" b="1" dirty="0"/>
              <a:t>probability sampling</a:t>
            </a:r>
            <a:r>
              <a:rPr lang="en-US" altLang="en-US" dirty="0"/>
              <a:t> scheme is one in which every unit in the population has a chance (greater than zero) of being selected in the sample, and this probability can be accurately determined. </a:t>
            </a:r>
          </a:p>
          <a:p>
            <a:r>
              <a:rPr lang="en-US" altLang="en-US" b="1" dirty="0"/>
              <a:t>EPS: </a:t>
            </a:r>
            <a:r>
              <a:rPr lang="en-US" altLang="en-US" dirty="0"/>
              <a:t>When every element in the population </a:t>
            </a:r>
            <a:r>
              <a:rPr lang="en-US" altLang="en-US" i="1" dirty="0"/>
              <a:t>does</a:t>
            </a:r>
            <a:r>
              <a:rPr lang="en-US" altLang="en-US" dirty="0"/>
              <a:t> have the same probability of selection, this is known as an </a:t>
            </a:r>
            <a:r>
              <a:rPr lang="en-US" altLang="en-US" b="1" dirty="0"/>
              <a:t>'equal probability of selection' (EPS) design</a:t>
            </a:r>
            <a:r>
              <a:rPr lang="en-US" altLang="en-US" dirty="0"/>
              <a:t>. Such designs are also referred to as 'self-weighting' because all sampled units are given the same weight</a:t>
            </a:r>
            <a:r>
              <a:rPr lang="en-US" altLang="en-US" sz="3200" dirty="0"/>
              <a:t>.</a:t>
            </a:r>
          </a:p>
          <a:p>
            <a:r>
              <a:rPr lang="en-US" dirty="0"/>
              <a:t>Simple Random Sampling, Systematic Sampling, Stratified Random Sampling,  Cluster Sampling, Multistage Sampling, Multiphase sampling</a:t>
            </a:r>
          </a:p>
        </p:txBody>
      </p:sp>
      <p:sp>
        <p:nvSpPr>
          <p:cNvPr id="4" name="TextBox 3">
            <a:extLst>
              <a:ext uri="{FF2B5EF4-FFF2-40B4-BE49-F238E27FC236}">
                <a16:creationId xmlns:a16="http://schemas.microsoft.com/office/drawing/2014/main" id="{7B3F625E-B7D2-8C46-BAE4-2D0772C153C7}"/>
              </a:ext>
            </a:extLst>
          </p:cNvPr>
          <p:cNvSpPr txBox="1"/>
          <p:nvPr/>
        </p:nvSpPr>
        <p:spPr>
          <a:xfrm>
            <a:off x="1562100" y="6076692"/>
            <a:ext cx="7780415" cy="523220"/>
          </a:xfrm>
          <a:prstGeom prst="rect">
            <a:avLst/>
          </a:prstGeom>
          <a:noFill/>
        </p:spPr>
        <p:txBody>
          <a:bodyPr wrap="square" rtlCol="0">
            <a:spAutoFit/>
          </a:bodyPr>
          <a:lstStyle/>
          <a:p>
            <a:r>
              <a:rPr lang="en-US" sz="1400" dirty="0" err="1"/>
              <a:t>Supercourse</a:t>
            </a:r>
            <a:r>
              <a:rPr lang="en-US" sz="1400" dirty="0"/>
              <a:t> on Epidemiology, Internet and Global Health, Sampling Methods</a:t>
            </a:r>
            <a:endParaRPr lang="en-US" sz="1400" i="1" dirty="0"/>
          </a:p>
          <a:p>
            <a:r>
              <a:rPr lang="en-US" sz="1400" dirty="0"/>
              <a:t> Dr. Kanupriya Chaturvedi , University of Pittsburgh,</a:t>
            </a:r>
          </a:p>
        </p:txBody>
      </p:sp>
    </p:spTree>
    <p:extLst>
      <p:ext uri="{BB962C8B-B14F-4D97-AF65-F5344CB8AC3E}">
        <p14:creationId xmlns:p14="http://schemas.microsoft.com/office/powerpoint/2010/main" val="2704938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01B55-66A5-4A49-97CF-24C6487BA395}"/>
              </a:ext>
            </a:extLst>
          </p:cNvPr>
          <p:cNvSpPr>
            <a:spLocks noGrp="1"/>
          </p:cNvSpPr>
          <p:nvPr>
            <p:ph type="title"/>
          </p:nvPr>
        </p:nvSpPr>
        <p:spPr>
          <a:xfrm>
            <a:off x="1284668" y="708073"/>
            <a:ext cx="9720072" cy="977861"/>
          </a:xfrm>
        </p:spPr>
        <p:txBody>
          <a:bodyPr/>
          <a:lstStyle/>
          <a:p>
            <a:r>
              <a:rPr lang="en-US" dirty="0"/>
              <a:t>NON-PROBABILITY SAMPLING</a:t>
            </a:r>
          </a:p>
        </p:txBody>
      </p:sp>
      <p:sp>
        <p:nvSpPr>
          <p:cNvPr id="3" name="Content Placeholder 2">
            <a:extLst>
              <a:ext uri="{FF2B5EF4-FFF2-40B4-BE49-F238E27FC236}">
                <a16:creationId xmlns:a16="http://schemas.microsoft.com/office/drawing/2014/main" id="{F0B91F63-7673-AE44-A774-6F156CDF4D7C}"/>
              </a:ext>
            </a:extLst>
          </p:cNvPr>
          <p:cNvSpPr>
            <a:spLocks noGrp="1"/>
          </p:cNvSpPr>
          <p:nvPr>
            <p:ph idx="1"/>
          </p:nvPr>
        </p:nvSpPr>
        <p:spPr>
          <a:xfrm>
            <a:off x="1284668" y="1849049"/>
            <a:ext cx="9459531" cy="4018352"/>
          </a:xfrm>
        </p:spPr>
        <p:txBody>
          <a:bodyPr/>
          <a:lstStyle/>
          <a:p>
            <a:r>
              <a:rPr lang="en-US" dirty="0"/>
              <a:t>Any sampling method where some elements of population have no chance of selection (these are sometimes referred to as 'out of coverage'/'</a:t>
            </a:r>
            <a:r>
              <a:rPr lang="en-US" dirty="0" err="1"/>
              <a:t>undercovered</a:t>
            </a:r>
            <a:r>
              <a:rPr lang="en-US" dirty="0"/>
              <a:t>'), or where the probability of selection can't be accurately determined.</a:t>
            </a:r>
          </a:p>
          <a:p>
            <a:endParaRPr lang="en-US" dirty="0"/>
          </a:p>
          <a:p>
            <a:r>
              <a:rPr lang="en-IN" dirty="0"/>
              <a:t>Because selection is non-random, nonprobability sampling does not allow the estimation of sampling errors, and may be subjected to a sampling bias. Therefore, information from a sample cannot be generalized back to the population. </a:t>
            </a:r>
          </a:p>
          <a:p>
            <a:endParaRPr lang="en-IN" dirty="0"/>
          </a:p>
          <a:p>
            <a:r>
              <a:rPr lang="en-IN" dirty="0"/>
              <a:t>Types: </a:t>
            </a:r>
            <a:r>
              <a:rPr lang="en-IN" b="1" dirty="0"/>
              <a:t>Convenient, Quota, Purposive, Snowball</a:t>
            </a:r>
          </a:p>
          <a:p>
            <a:endParaRPr lang="en-US" dirty="0"/>
          </a:p>
        </p:txBody>
      </p:sp>
      <p:sp>
        <p:nvSpPr>
          <p:cNvPr id="4" name="Rectangle 3">
            <a:extLst>
              <a:ext uri="{FF2B5EF4-FFF2-40B4-BE49-F238E27FC236}">
                <a16:creationId xmlns:a16="http://schemas.microsoft.com/office/drawing/2014/main" id="{172AADB9-CFA7-6D4E-B013-9DE516B2CA9C}"/>
              </a:ext>
            </a:extLst>
          </p:cNvPr>
          <p:cNvSpPr/>
          <p:nvPr/>
        </p:nvSpPr>
        <p:spPr>
          <a:xfrm>
            <a:off x="7734097" y="6519446"/>
            <a:ext cx="3205045" cy="338554"/>
          </a:xfrm>
          <a:prstGeom prst="rect">
            <a:avLst/>
          </a:prstGeom>
        </p:spPr>
        <p:txBody>
          <a:bodyPr wrap="none">
            <a:spAutoFit/>
          </a:bodyPr>
          <a:lstStyle/>
          <a:p>
            <a:r>
              <a:rPr lang="en-US" sz="1600" dirty="0"/>
              <a:t>From: Dr. Kanupriya Chaturvedi </a:t>
            </a:r>
          </a:p>
        </p:txBody>
      </p:sp>
    </p:spTree>
    <p:extLst>
      <p:ext uri="{BB962C8B-B14F-4D97-AF65-F5344CB8AC3E}">
        <p14:creationId xmlns:p14="http://schemas.microsoft.com/office/powerpoint/2010/main" val="94675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Types of Sampling Methods (4.1)">
            <a:hlinkClick r:id="" action="ppaction://media"/>
            <a:extLst>
              <a:ext uri="{FF2B5EF4-FFF2-40B4-BE49-F238E27FC236}">
                <a16:creationId xmlns:a16="http://schemas.microsoft.com/office/drawing/2014/main" id="{53FFD946-E4C2-B875-409B-63016CADA75A}"/>
              </a:ext>
            </a:extLst>
          </p:cNvPr>
          <p:cNvPicPr>
            <a:picLocks noGrp="1" noRot="1" noChangeAspect="1"/>
          </p:cNvPicPr>
          <p:nvPr>
            <p:ph idx="4294967295"/>
            <a:videoFile r:link="rId1"/>
          </p:nvPr>
        </p:nvPicPr>
        <p:blipFill>
          <a:blip r:embed="rId3"/>
          <a:stretch>
            <a:fillRect/>
          </a:stretch>
        </p:blipFill>
        <p:spPr>
          <a:xfrm>
            <a:off x="1735138" y="587693"/>
            <a:ext cx="9009062" cy="5089525"/>
          </a:xfrm>
          <a:prstGeom prst="rect">
            <a:avLst/>
          </a:prstGeom>
        </p:spPr>
      </p:pic>
      <p:sp>
        <p:nvSpPr>
          <p:cNvPr id="7" name="TextBox 6">
            <a:extLst>
              <a:ext uri="{FF2B5EF4-FFF2-40B4-BE49-F238E27FC236}">
                <a16:creationId xmlns:a16="http://schemas.microsoft.com/office/drawing/2014/main" id="{8AA3D916-E795-6B8F-E3D5-ACEA091067E5}"/>
              </a:ext>
            </a:extLst>
          </p:cNvPr>
          <p:cNvSpPr txBox="1"/>
          <p:nvPr/>
        </p:nvSpPr>
        <p:spPr>
          <a:xfrm>
            <a:off x="2644140" y="6088118"/>
            <a:ext cx="6096000" cy="369332"/>
          </a:xfrm>
          <a:prstGeom prst="rect">
            <a:avLst/>
          </a:prstGeom>
          <a:noFill/>
        </p:spPr>
        <p:txBody>
          <a:bodyPr wrap="square">
            <a:spAutoFit/>
          </a:bodyPr>
          <a:lstStyle/>
          <a:p>
            <a:r>
              <a:rPr lang="en-IN" dirty="0"/>
              <a:t>https://www.youtube.com/watch?v=pTuj57uXWlk</a:t>
            </a:r>
          </a:p>
        </p:txBody>
      </p:sp>
    </p:spTree>
    <p:extLst>
      <p:ext uri="{BB962C8B-B14F-4D97-AF65-F5344CB8AC3E}">
        <p14:creationId xmlns:p14="http://schemas.microsoft.com/office/powerpoint/2010/main" val="3354656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99A725-3557-7CEF-EB62-ADA6185A2EA9}"/>
              </a:ext>
            </a:extLst>
          </p:cNvPr>
          <p:cNvSpPr txBox="1"/>
          <p:nvPr/>
        </p:nvSpPr>
        <p:spPr>
          <a:xfrm>
            <a:off x="2392680" y="5934194"/>
            <a:ext cx="6096000" cy="369332"/>
          </a:xfrm>
          <a:prstGeom prst="rect">
            <a:avLst/>
          </a:prstGeom>
          <a:noFill/>
        </p:spPr>
        <p:txBody>
          <a:bodyPr wrap="square">
            <a:spAutoFit/>
          </a:bodyPr>
          <a:lstStyle/>
          <a:p>
            <a:r>
              <a:rPr lang="en-IN" dirty="0"/>
              <a:t>https://www.youtube.com/watch?v=be9e-Q-jC-0</a:t>
            </a:r>
          </a:p>
        </p:txBody>
      </p:sp>
      <p:pic>
        <p:nvPicPr>
          <p:cNvPr id="4" name="Online Media 3" title="Sampling: Simple Random, Convenience, systematic, cluster, stratified - Statistics Help">
            <a:hlinkClick r:id="" action="ppaction://media"/>
            <a:extLst>
              <a:ext uri="{FF2B5EF4-FFF2-40B4-BE49-F238E27FC236}">
                <a16:creationId xmlns:a16="http://schemas.microsoft.com/office/drawing/2014/main" id="{3332E663-72A7-252C-6444-39BF3A8B3F49}"/>
              </a:ext>
            </a:extLst>
          </p:cNvPr>
          <p:cNvPicPr>
            <a:picLocks noRot="1" noChangeAspect="1"/>
          </p:cNvPicPr>
          <p:nvPr>
            <a:videoFile r:link="rId1"/>
          </p:nvPr>
        </p:nvPicPr>
        <p:blipFill>
          <a:blip r:embed="rId3"/>
          <a:stretch>
            <a:fillRect/>
          </a:stretch>
        </p:blipFill>
        <p:spPr>
          <a:xfrm>
            <a:off x="2004060" y="260985"/>
            <a:ext cx="7414260" cy="5560695"/>
          </a:xfrm>
          <a:prstGeom prst="rect">
            <a:avLst/>
          </a:prstGeom>
        </p:spPr>
      </p:pic>
      <p:sp>
        <p:nvSpPr>
          <p:cNvPr id="6" name="TextBox 5">
            <a:extLst>
              <a:ext uri="{FF2B5EF4-FFF2-40B4-BE49-F238E27FC236}">
                <a16:creationId xmlns:a16="http://schemas.microsoft.com/office/drawing/2014/main" id="{001FF0FC-DFEC-E4B1-1EE1-27783C82BD68}"/>
              </a:ext>
            </a:extLst>
          </p:cNvPr>
          <p:cNvSpPr txBox="1"/>
          <p:nvPr/>
        </p:nvSpPr>
        <p:spPr>
          <a:xfrm>
            <a:off x="2004060" y="6210300"/>
            <a:ext cx="6096000" cy="646331"/>
          </a:xfrm>
          <a:prstGeom prst="rect">
            <a:avLst/>
          </a:prstGeom>
          <a:noFill/>
        </p:spPr>
        <p:txBody>
          <a:bodyPr wrap="square">
            <a:spAutoFit/>
          </a:bodyPr>
          <a:lstStyle/>
          <a:p>
            <a:pPr algn="l"/>
            <a:r>
              <a:rPr lang="en-GB" b="1" i="0" dirty="0">
                <a:solidFill>
                  <a:srgbClr val="0F0F0F"/>
                </a:solidFill>
                <a:effectLst/>
                <a:latin typeface="YouTube Sans"/>
              </a:rPr>
              <a:t>Sampling: Simple Random, Convenience, systematic, cluster, stratified</a:t>
            </a:r>
            <a:endParaRPr lang="en-IN" dirty="0"/>
          </a:p>
        </p:txBody>
      </p:sp>
    </p:spTree>
    <p:extLst>
      <p:ext uri="{BB962C8B-B14F-4D97-AF65-F5344CB8AC3E}">
        <p14:creationId xmlns:p14="http://schemas.microsoft.com/office/powerpoint/2010/main" val="908064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748B-8143-D042-A5AF-14AAB42EC197}"/>
              </a:ext>
            </a:extLst>
          </p:cNvPr>
          <p:cNvSpPr>
            <a:spLocks noGrp="1"/>
          </p:cNvSpPr>
          <p:nvPr>
            <p:ph type="title"/>
          </p:nvPr>
        </p:nvSpPr>
        <p:spPr>
          <a:xfrm>
            <a:off x="1092707" y="799944"/>
            <a:ext cx="9720072" cy="977861"/>
          </a:xfrm>
        </p:spPr>
        <p:txBody>
          <a:bodyPr/>
          <a:lstStyle/>
          <a:p>
            <a:r>
              <a:rPr lang="en-US" dirty="0"/>
              <a:t>Simple random sampling</a:t>
            </a:r>
          </a:p>
        </p:txBody>
      </p:sp>
      <p:sp>
        <p:nvSpPr>
          <p:cNvPr id="3" name="Content Placeholder 2">
            <a:extLst>
              <a:ext uri="{FF2B5EF4-FFF2-40B4-BE49-F238E27FC236}">
                <a16:creationId xmlns:a16="http://schemas.microsoft.com/office/drawing/2014/main" id="{FD502BB5-427E-1B48-BFF4-7AC8D9F840F7}"/>
              </a:ext>
            </a:extLst>
          </p:cNvPr>
          <p:cNvSpPr>
            <a:spLocks noGrp="1"/>
          </p:cNvSpPr>
          <p:nvPr>
            <p:ph idx="1"/>
          </p:nvPr>
        </p:nvSpPr>
        <p:spPr>
          <a:xfrm>
            <a:off x="987134" y="1628042"/>
            <a:ext cx="10846726" cy="5108038"/>
          </a:xfrm>
        </p:spPr>
        <p:txBody>
          <a:bodyPr>
            <a:normAutofit lnSpcReduction="10000"/>
          </a:bodyPr>
          <a:lstStyle/>
          <a:p>
            <a:pPr>
              <a:buFont typeface="Wingdings" panose="05000000000000000000" pitchFamily="2" charset="2"/>
              <a:buChar char="q"/>
            </a:pPr>
            <a:r>
              <a:rPr lang="en-IN" sz="2400" dirty="0"/>
              <a:t>In this technique, all possible subsets of a population (more accurately, of a sampling frame) are given an equal probability of being selected.</a:t>
            </a:r>
          </a:p>
          <a:p>
            <a:pPr>
              <a:buFont typeface="Wingdings" panose="05000000000000000000" pitchFamily="2" charset="2"/>
              <a:buChar char="q"/>
            </a:pPr>
            <a:r>
              <a:rPr lang="en-IN" sz="2400" b="1" dirty="0"/>
              <a:t>The probability of selecting any set of </a:t>
            </a:r>
            <a:r>
              <a:rPr lang="en-IN" sz="2400" b="1" i="1" dirty="0"/>
              <a:t>n</a:t>
            </a:r>
            <a:r>
              <a:rPr lang="en-IN" sz="2400" b="1" dirty="0"/>
              <a:t> units out of a total of </a:t>
            </a:r>
            <a:r>
              <a:rPr lang="en-IN" sz="2400" b="1" i="1" dirty="0"/>
              <a:t>N</a:t>
            </a:r>
            <a:r>
              <a:rPr lang="en-IN" sz="2400" b="1" dirty="0"/>
              <a:t> units in a sampling frame is </a:t>
            </a:r>
            <a:r>
              <a:rPr lang="en-IN" sz="2400" b="1" baseline="30000" dirty="0" err="1"/>
              <a:t>N</a:t>
            </a:r>
            <a:r>
              <a:rPr lang="en-IN" sz="2400" b="1" dirty="0" err="1"/>
              <a:t>C</a:t>
            </a:r>
            <a:r>
              <a:rPr lang="en-IN" sz="2400" b="1" baseline="-25000" dirty="0" err="1"/>
              <a:t>n</a:t>
            </a:r>
            <a:r>
              <a:rPr lang="en-IN" sz="2400" b="1" dirty="0"/>
              <a:t>.</a:t>
            </a:r>
          </a:p>
          <a:p>
            <a:pPr>
              <a:buFont typeface="Wingdings" panose="05000000000000000000" pitchFamily="2" charset="2"/>
              <a:buChar char="q"/>
            </a:pPr>
            <a:r>
              <a:rPr lang="en-IN" sz="2400" dirty="0"/>
              <a:t>Table of Random numbers (old time), Computer generated random numbers (most common)</a:t>
            </a:r>
          </a:p>
          <a:p>
            <a:pPr>
              <a:buFont typeface="Wingdings" panose="05000000000000000000" pitchFamily="2" charset="2"/>
              <a:buChar char="q"/>
            </a:pPr>
            <a:r>
              <a:rPr lang="en-IN" sz="2400" dirty="0"/>
              <a:t>Sampling with Replacement (SWR)- and Sampling without Replacement (</a:t>
            </a:r>
            <a:r>
              <a:rPr lang="en-IN" sz="2400" dirty="0" err="1"/>
              <a:t>SWoR</a:t>
            </a:r>
            <a:r>
              <a:rPr lang="en-IN" sz="2400" dirty="0"/>
              <a:t>)</a:t>
            </a:r>
          </a:p>
          <a:p>
            <a:pPr marL="0" indent="0">
              <a:buNone/>
            </a:pPr>
            <a:endParaRPr lang="en-IN" sz="2400" dirty="0"/>
          </a:p>
          <a:p>
            <a:pPr>
              <a:buFont typeface="Wingdings" panose="05000000000000000000" pitchFamily="2" charset="2"/>
              <a:buChar char="q"/>
            </a:pPr>
            <a:r>
              <a:rPr lang="en-IN" sz="2400" dirty="0"/>
              <a:t>Disadvantages :</a:t>
            </a:r>
          </a:p>
          <a:p>
            <a:pPr lvl="1">
              <a:buFont typeface="Wingdings" panose="05000000000000000000" pitchFamily="2" charset="2"/>
              <a:buChar char="Ø"/>
            </a:pPr>
            <a:r>
              <a:rPr lang="en-IN" sz="2400" b="1" dirty="0"/>
              <a:t>If sampling frame large, this method impracticable.</a:t>
            </a:r>
          </a:p>
          <a:p>
            <a:pPr lvl="1">
              <a:buFont typeface="Wingdings" panose="05000000000000000000" pitchFamily="2" charset="2"/>
              <a:buChar char="Ø"/>
            </a:pPr>
            <a:r>
              <a:rPr lang="en-IN" sz="2400" b="1" dirty="0"/>
              <a:t>Minority subgroups of interest in population may not be present in sample in sufficient numbers for study.</a:t>
            </a:r>
          </a:p>
          <a:p>
            <a:endParaRPr lang="en-US" sz="2400" dirty="0"/>
          </a:p>
        </p:txBody>
      </p:sp>
      <p:sp>
        <p:nvSpPr>
          <p:cNvPr id="4" name="Rectangle 3">
            <a:extLst>
              <a:ext uri="{FF2B5EF4-FFF2-40B4-BE49-F238E27FC236}">
                <a16:creationId xmlns:a16="http://schemas.microsoft.com/office/drawing/2014/main" id="{C68E9B91-646D-2241-8BE6-AA0D703D7A40}"/>
              </a:ext>
            </a:extLst>
          </p:cNvPr>
          <p:cNvSpPr/>
          <p:nvPr/>
        </p:nvSpPr>
        <p:spPr>
          <a:xfrm>
            <a:off x="7919917" y="6476801"/>
            <a:ext cx="2133918" cy="369332"/>
          </a:xfrm>
          <a:prstGeom prst="rect">
            <a:avLst/>
          </a:prstGeom>
        </p:spPr>
        <p:txBody>
          <a:bodyPr wrap="none">
            <a:spAutoFit/>
          </a:bodyPr>
          <a:lstStyle/>
          <a:p>
            <a:r>
              <a:rPr lang="en-IN" dirty="0" err="1">
                <a:latin typeface="Helvetica" pitchFamily="2" charset="0"/>
              </a:rPr>
              <a:t>Anol</a:t>
            </a:r>
            <a:r>
              <a:rPr lang="en-IN" dirty="0">
                <a:latin typeface="Helvetica" pitchFamily="2" charset="0"/>
              </a:rPr>
              <a:t> </a:t>
            </a:r>
            <a:r>
              <a:rPr lang="en-IN" dirty="0" err="1">
                <a:latin typeface="Helvetica" pitchFamily="2" charset="0"/>
              </a:rPr>
              <a:t>Bhattacherjee</a:t>
            </a:r>
            <a:endParaRPr lang="en-US" dirty="0"/>
          </a:p>
        </p:txBody>
      </p:sp>
    </p:spTree>
    <p:extLst>
      <p:ext uri="{BB962C8B-B14F-4D97-AF65-F5344CB8AC3E}">
        <p14:creationId xmlns:p14="http://schemas.microsoft.com/office/powerpoint/2010/main" val="2228300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22E69-ABC7-A84E-ABB7-1A35636CD376}"/>
              </a:ext>
            </a:extLst>
          </p:cNvPr>
          <p:cNvSpPr>
            <a:spLocks noGrp="1"/>
          </p:cNvSpPr>
          <p:nvPr>
            <p:ph type="title"/>
          </p:nvPr>
        </p:nvSpPr>
        <p:spPr/>
        <p:txBody>
          <a:bodyPr/>
          <a:lstStyle/>
          <a:p>
            <a:r>
              <a:rPr lang="en-US" dirty="0"/>
              <a:t>SYSTEMATIC SAMPLING</a:t>
            </a:r>
          </a:p>
        </p:txBody>
      </p:sp>
      <p:sp>
        <p:nvSpPr>
          <p:cNvPr id="3" name="Content Placeholder 2">
            <a:extLst>
              <a:ext uri="{FF2B5EF4-FFF2-40B4-BE49-F238E27FC236}">
                <a16:creationId xmlns:a16="http://schemas.microsoft.com/office/drawing/2014/main" id="{3F6ACCEE-6972-B04B-B00C-7A59AA317D81}"/>
              </a:ext>
            </a:extLst>
          </p:cNvPr>
          <p:cNvSpPr>
            <a:spLocks noGrp="1"/>
          </p:cNvSpPr>
          <p:nvPr>
            <p:ph idx="1"/>
          </p:nvPr>
        </p:nvSpPr>
        <p:spPr>
          <a:xfrm>
            <a:off x="1024127" y="1289303"/>
            <a:ext cx="10784245" cy="4906545"/>
          </a:xfrm>
        </p:spPr>
        <p:txBody>
          <a:bodyPr>
            <a:noAutofit/>
          </a:bodyPr>
          <a:lstStyle/>
          <a:p>
            <a:r>
              <a:rPr lang="en-US" sz="2400" b="1" dirty="0"/>
              <a:t>Systematic sampling</a:t>
            </a:r>
            <a:r>
              <a:rPr lang="en-US" sz="2400" dirty="0"/>
              <a:t> relies on </a:t>
            </a:r>
            <a:r>
              <a:rPr lang="en-US" sz="2400" b="1" dirty="0"/>
              <a:t>arranging the target population according to some ordering scheme</a:t>
            </a:r>
            <a:r>
              <a:rPr lang="en-US" sz="2400" dirty="0"/>
              <a:t> </a:t>
            </a:r>
            <a:r>
              <a:rPr lang="en-US" sz="2400" b="1" dirty="0"/>
              <a:t>and then selecting elements at regular intervals through that ordered list. </a:t>
            </a:r>
          </a:p>
          <a:p>
            <a:endParaRPr lang="en-US" sz="2400" b="1" dirty="0"/>
          </a:p>
          <a:p>
            <a:r>
              <a:rPr lang="en-US" sz="2400" dirty="0"/>
              <a:t>It is important that the starting point is not automatically the first in the list,  but is instead randomly chosen from within the first to the kth element in the list. </a:t>
            </a:r>
          </a:p>
          <a:p>
            <a:endParaRPr lang="en-US" sz="2400" dirty="0"/>
          </a:p>
          <a:p>
            <a:r>
              <a:rPr lang="en-US" sz="2400" dirty="0" err="1"/>
              <a:t>Eg</a:t>
            </a:r>
            <a:r>
              <a:rPr lang="en-US" sz="2400" dirty="0"/>
              <a:t>: </a:t>
            </a:r>
            <a:r>
              <a:rPr lang="en-US" sz="2400" b="1" dirty="0"/>
              <a:t>ASER Survey: </a:t>
            </a:r>
            <a:r>
              <a:rPr lang="en-US" sz="2400" dirty="0"/>
              <a:t>Every fifth household in a village</a:t>
            </a:r>
          </a:p>
          <a:p>
            <a:endParaRPr lang="en-US" sz="2400" dirty="0"/>
          </a:p>
          <a:p>
            <a:r>
              <a:rPr lang="en-US" sz="2400" dirty="0"/>
              <a:t>It is </a:t>
            </a:r>
            <a:r>
              <a:rPr lang="en-US" sz="2400" b="1" i="1" dirty="0"/>
              <a:t>not 'simple random sampling' </a:t>
            </a:r>
            <a:r>
              <a:rPr lang="en-US" sz="2400" dirty="0"/>
              <a:t>because different subsets of the same size have different selection probabilities - e.g. the set {4,14,24,...,994} has a one-in-ten probability of selection, but the set {4,13,24,34,...} has zero probability of selection.</a:t>
            </a:r>
          </a:p>
        </p:txBody>
      </p:sp>
    </p:spTree>
    <p:extLst>
      <p:ext uri="{BB962C8B-B14F-4D97-AF65-F5344CB8AC3E}">
        <p14:creationId xmlns:p14="http://schemas.microsoft.com/office/powerpoint/2010/main" val="2576356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ACC5A-D998-5045-AACC-8F155FB305FB}"/>
              </a:ext>
            </a:extLst>
          </p:cNvPr>
          <p:cNvSpPr>
            <a:spLocks noGrp="1"/>
          </p:cNvSpPr>
          <p:nvPr>
            <p:ph type="title"/>
          </p:nvPr>
        </p:nvSpPr>
        <p:spPr/>
        <p:txBody>
          <a:bodyPr/>
          <a:lstStyle/>
          <a:p>
            <a:r>
              <a:rPr lang="en-US" dirty="0"/>
              <a:t>Stratified sampling </a:t>
            </a:r>
          </a:p>
        </p:txBody>
      </p:sp>
      <p:sp>
        <p:nvSpPr>
          <p:cNvPr id="3" name="Content Placeholder 2">
            <a:extLst>
              <a:ext uri="{FF2B5EF4-FFF2-40B4-BE49-F238E27FC236}">
                <a16:creationId xmlns:a16="http://schemas.microsoft.com/office/drawing/2014/main" id="{1E765508-60F2-EE41-9AFC-6C4A84A0182A}"/>
              </a:ext>
            </a:extLst>
          </p:cNvPr>
          <p:cNvSpPr>
            <a:spLocks noGrp="1"/>
          </p:cNvSpPr>
          <p:nvPr>
            <p:ph idx="1"/>
          </p:nvPr>
        </p:nvSpPr>
        <p:spPr>
          <a:xfrm>
            <a:off x="1024127" y="1469199"/>
            <a:ext cx="10414702" cy="4421061"/>
          </a:xfrm>
        </p:spPr>
        <p:txBody>
          <a:bodyPr>
            <a:noAutofit/>
          </a:bodyPr>
          <a:lstStyle/>
          <a:p>
            <a:r>
              <a:rPr lang="en-US" sz="2400" dirty="0"/>
              <a:t>Where population embraces a number of </a:t>
            </a:r>
            <a:r>
              <a:rPr lang="en-US" sz="2400" b="1" dirty="0"/>
              <a:t>distinct categories, the frame can be organized into separate "strata." </a:t>
            </a:r>
            <a:r>
              <a:rPr lang="en-US" sz="2400" dirty="0"/>
              <a:t>Each stratum is then sampled as an independent sub-population, out of which individual elements can be randomly selected. </a:t>
            </a:r>
          </a:p>
          <a:p>
            <a:r>
              <a:rPr lang="en-US" sz="2400" dirty="0"/>
              <a:t>Every unit in a stratum has same chance of being selected.</a:t>
            </a:r>
          </a:p>
          <a:p>
            <a:r>
              <a:rPr lang="en-US" sz="2400" dirty="0"/>
              <a:t>Using same sampling fraction for all strata ensures proportionate representation in the sample.</a:t>
            </a:r>
          </a:p>
          <a:p>
            <a:r>
              <a:rPr lang="en-US" sz="2400" b="1" dirty="0"/>
              <a:t>Adequate representation of minority subgroups of interest can be ensured by stratification </a:t>
            </a:r>
            <a:r>
              <a:rPr lang="en-US" sz="2400" dirty="0"/>
              <a:t>&amp; varying sampling fraction between strata as required.</a:t>
            </a:r>
          </a:p>
          <a:p>
            <a:r>
              <a:rPr lang="en-US" sz="2400" dirty="0"/>
              <a:t>Issue of Bias in sampling- </a:t>
            </a:r>
            <a:r>
              <a:rPr lang="en-US" sz="2400" b="1" dirty="0"/>
              <a:t>Non proportional stratification</a:t>
            </a:r>
          </a:p>
          <a:p>
            <a:r>
              <a:rPr lang="en-US" sz="2400" b="1" dirty="0"/>
              <a:t>Proportional stratification</a:t>
            </a:r>
          </a:p>
        </p:txBody>
      </p:sp>
    </p:spTree>
    <p:extLst>
      <p:ext uri="{BB962C8B-B14F-4D97-AF65-F5344CB8AC3E}">
        <p14:creationId xmlns:p14="http://schemas.microsoft.com/office/powerpoint/2010/main" val="1950780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833F86D-0A3C-2F4C-8A9A-6EB15A8D0137}"/>
              </a:ext>
            </a:extLst>
          </p:cNvPr>
          <p:cNvSpPr>
            <a:spLocks noGrp="1" noChangeArrowheads="1"/>
          </p:cNvSpPr>
          <p:nvPr>
            <p:ph type="title"/>
          </p:nvPr>
        </p:nvSpPr>
        <p:spPr>
          <a:xfrm>
            <a:off x="1303282" y="594650"/>
            <a:ext cx="7543800" cy="952500"/>
          </a:xfrm>
        </p:spPr>
        <p:txBody>
          <a:bodyPr>
            <a:normAutofit/>
          </a:bodyPr>
          <a:lstStyle/>
          <a:p>
            <a:pPr eaLnBrk="1" hangingPunct="1"/>
            <a:r>
              <a:rPr lang="en-US" altLang="ko-KR" sz="4800" dirty="0">
                <a:ea typeface="굴림" panose="020B0600000101010101" pitchFamily="34" charset="-127"/>
              </a:rPr>
              <a:t>STRATIFIED SAMPLING</a:t>
            </a:r>
            <a:endParaRPr lang="en-US" altLang="en-US" sz="4800" dirty="0"/>
          </a:p>
        </p:txBody>
      </p:sp>
      <p:sp>
        <p:nvSpPr>
          <p:cNvPr id="29698" name="Slide Number Placeholder 5">
            <a:extLst>
              <a:ext uri="{FF2B5EF4-FFF2-40B4-BE49-F238E27FC236}">
                <a16:creationId xmlns:a16="http://schemas.microsoft.com/office/drawing/2014/main" id="{48F42FE5-4C37-9D46-B9B3-CF7E705EF82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589FB4D-4D5C-184D-8B6E-F6F67EF623AA}" type="slidenum">
              <a:rPr lang="en-US" altLang="en-US">
                <a:solidFill>
                  <a:srgbClr val="FFFFFF"/>
                </a:solidFill>
                <a:latin typeface="Franklin Gothic Book" panose="020B0503020102020204" pitchFamily="34" charset="0"/>
              </a:rPr>
              <a:pPr eaLnBrk="1" hangingPunct="1"/>
              <a:t>15</a:t>
            </a:fld>
            <a:endParaRPr lang="en-US" altLang="en-US">
              <a:solidFill>
                <a:srgbClr val="FFFFFF"/>
              </a:solidFill>
              <a:latin typeface="Franklin Gothic Book" panose="020B0503020102020204" pitchFamily="34" charset="0"/>
            </a:endParaRPr>
          </a:p>
        </p:txBody>
      </p:sp>
      <p:pic>
        <p:nvPicPr>
          <p:cNvPr id="32772" name="Picture 78" descr="1_Stra">
            <a:extLst>
              <a:ext uri="{FF2B5EF4-FFF2-40B4-BE49-F238E27FC236}">
                <a16:creationId xmlns:a16="http://schemas.microsoft.com/office/drawing/2014/main" id="{8366F2DB-B6F3-7E45-B70E-7AD8D839DD40}"/>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781300" y="2655889"/>
            <a:ext cx="7086600" cy="2155825"/>
          </a:xfrm>
          <a:noFill/>
        </p:spPr>
      </p:pic>
      <p:sp>
        <p:nvSpPr>
          <p:cNvPr id="32773" name="Rectangle 4">
            <a:extLst>
              <a:ext uri="{FF2B5EF4-FFF2-40B4-BE49-F238E27FC236}">
                <a16:creationId xmlns:a16="http://schemas.microsoft.com/office/drawing/2014/main" id="{292FAA30-AB58-614D-A027-8F514090D3AF}"/>
              </a:ext>
            </a:extLst>
          </p:cNvPr>
          <p:cNvSpPr>
            <a:spLocks noChangeArrowheads="1"/>
          </p:cNvSpPr>
          <p:nvPr/>
        </p:nvSpPr>
        <p:spPr bwMode="auto">
          <a:xfrm>
            <a:off x="2133600" y="1676401"/>
            <a:ext cx="6248400" cy="1090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3" eaLnBrk="1" hangingPunct="1"/>
            <a:endParaRPr lang="en-US" altLang="ko-KR" sz="2000" u="sng">
              <a:ea typeface="굴림" panose="020B0600000101010101" pitchFamily="34" charset="-127"/>
              <a:cs typeface="Arial" panose="020B0604020202020204" pitchFamily="34" charset="0"/>
            </a:endParaRPr>
          </a:p>
          <a:p>
            <a:pPr lvl="4" eaLnBrk="1" hangingPunct="1"/>
            <a:r>
              <a:rPr lang="en-US" altLang="ko-KR" sz="2000">
                <a:latin typeface="Comic Sans MS" panose="030F0902030302020204" pitchFamily="66" charset="0"/>
                <a:ea typeface="굴림" panose="020B0600000101010101" pitchFamily="34" charset="-127"/>
                <a:cs typeface="Arial" panose="020B0604020202020204" pitchFamily="34" charset="0"/>
              </a:rPr>
              <a:t>Draw a sample from each stratum</a:t>
            </a:r>
          </a:p>
          <a:p>
            <a:pPr lvl="4" eaLnBrk="1" hangingPunct="1">
              <a:lnSpc>
                <a:spcPct val="80000"/>
              </a:lnSpc>
              <a:spcBef>
                <a:spcPct val="50000"/>
              </a:spcBef>
            </a:pPr>
            <a:endParaRPr lang="en-US" altLang="ko-KR" sz="1900" u="sng">
              <a:latin typeface="Comic Sans MS" panose="030F0902030302020204" pitchFamily="66" charset="0"/>
              <a:ea typeface="굴림" panose="020B0600000101010101" pitchFamily="34" charset="-127"/>
              <a:cs typeface="Arial" panose="020B0604020202020204" pitchFamily="34" charset="0"/>
            </a:endParaRPr>
          </a:p>
        </p:txBody>
      </p:sp>
      <p:sp>
        <p:nvSpPr>
          <p:cNvPr id="6" name="TextBox 5">
            <a:extLst>
              <a:ext uri="{FF2B5EF4-FFF2-40B4-BE49-F238E27FC236}">
                <a16:creationId xmlns:a16="http://schemas.microsoft.com/office/drawing/2014/main" id="{C69178E3-C97C-6944-A18C-E8C1F193484C}"/>
              </a:ext>
            </a:extLst>
          </p:cNvPr>
          <p:cNvSpPr txBox="1"/>
          <p:nvPr/>
        </p:nvSpPr>
        <p:spPr>
          <a:xfrm>
            <a:off x="2780462" y="6076692"/>
            <a:ext cx="6562053" cy="523220"/>
          </a:xfrm>
          <a:prstGeom prst="rect">
            <a:avLst/>
          </a:prstGeom>
          <a:noFill/>
        </p:spPr>
        <p:txBody>
          <a:bodyPr wrap="none" rtlCol="0">
            <a:spAutoFit/>
          </a:bodyPr>
          <a:lstStyle/>
          <a:p>
            <a:r>
              <a:rPr lang="en-US" sz="1400" dirty="0" err="1"/>
              <a:t>Supercourse</a:t>
            </a:r>
            <a:r>
              <a:rPr lang="en-US" sz="1400" dirty="0"/>
              <a:t> on Epidemiology, Internet and Global Health, Sampling Methods</a:t>
            </a:r>
            <a:endParaRPr lang="en-US" sz="1400" i="1" dirty="0"/>
          </a:p>
          <a:p>
            <a:r>
              <a:rPr lang="en-US" sz="1400" dirty="0"/>
              <a:t> Dr. Kanupriya Chaturvedi , University of Pittsburgh,</a:t>
            </a:r>
          </a:p>
        </p:txBody>
      </p:sp>
    </p:spTree>
    <p:extLst>
      <p:ext uri="{BB962C8B-B14F-4D97-AF65-F5344CB8AC3E}">
        <p14:creationId xmlns:p14="http://schemas.microsoft.com/office/powerpoint/2010/main" val="3637566247"/>
      </p:ext>
    </p:extLst>
  </p:cSld>
  <p:clrMapOvr>
    <a:masterClrMapping/>
  </p:clrMapOvr>
  <p:transition advTm="452"/>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7D9DA-3330-4747-83E8-46B8D5023946}"/>
              </a:ext>
            </a:extLst>
          </p:cNvPr>
          <p:cNvSpPr>
            <a:spLocks noGrp="1"/>
          </p:cNvSpPr>
          <p:nvPr>
            <p:ph type="title"/>
          </p:nvPr>
        </p:nvSpPr>
        <p:spPr>
          <a:xfrm>
            <a:off x="1024127" y="309919"/>
            <a:ext cx="9720072" cy="977861"/>
          </a:xfrm>
        </p:spPr>
        <p:txBody>
          <a:bodyPr/>
          <a:lstStyle/>
          <a:p>
            <a:r>
              <a:rPr lang="en-US" dirty="0"/>
              <a:t>Cluster sampling</a:t>
            </a:r>
          </a:p>
        </p:txBody>
      </p:sp>
      <p:sp>
        <p:nvSpPr>
          <p:cNvPr id="3" name="Content Placeholder 2">
            <a:extLst>
              <a:ext uri="{FF2B5EF4-FFF2-40B4-BE49-F238E27FC236}">
                <a16:creationId xmlns:a16="http://schemas.microsoft.com/office/drawing/2014/main" id="{84968671-3238-FD43-98A1-18B54A144882}"/>
              </a:ext>
            </a:extLst>
          </p:cNvPr>
          <p:cNvSpPr>
            <a:spLocks noGrp="1"/>
          </p:cNvSpPr>
          <p:nvPr>
            <p:ph idx="1"/>
          </p:nvPr>
        </p:nvSpPr>
        <p:spPr>
          <a:xfrm>
            <a:off x="1235964" y="1792223"/>
            <a:ext cx="9720072" cy="3777997"/>
          </a:xfrm>
        </p:spPr>
        <p:txBody>
          <a:bodyPr/>
          <a:lstStyle/>
          <a:p>
            <a:r>
              <a:rPr lang="en-US" b="1" dirty="0"/>
              <a:t>Population divided into clusters of homogeneous units, usually based on geographical contiguity.</a:t>
            </a:r>
          </a:p>
          <a:p>
            <a:endParaRPr lang="en-US" dirty="0"/>
          </a:p>
          <a:p>
            <a:r>
              <a:rPr lang="en-US" dirty="0"/>
              <a:t>Cluster sampling is an example of 'two-stage sampling' . </a:t>
            </a:r>
          </a:p>
          <a:p>
            <a:pPr lvl="1"/>
            <a:r>
              <a:rPr lang="en-US" dirty="0"/>
              <a:t>First stage a sample of areas is chosen;</a:t>
            </a:r>
          </a:p>
          <a:p>
            <a:pPr lvl="1"/>
            <a:r>
              <a:rPr lang="en-US" dirty="0"/>
              <a:t> Second stage a sample of respondents within those areas is selected.</a:t>
            </a:r>
          </a:p>
          <a:p>
            <a:pPr lvl="1"/>
            <a:endParaRPr lang="en-US" dirty="0"/>
          </a:p>
          <a:p>
            <a:r>
              <a:rPr lang="en-US" dirty="0"/>
              <a:t>Sampling units are groups rather than individuals.</a:t>
            </a:r>
          </a:p>
          <a:p>
            <a:pPr lvl="1"/>
            <a:r>
              <a:rPr lang="en-US" dirty="0"/>
              <a:t>A sample of such clusters is then selected.</a:t>
            </a:r>
          </a:p>
          <a:p>
            <a:pPr lvl="1"/>
            <a:r>
              <a:rPr lang="en-US" dirty="0"/>
              <a:t>All units from the selected clusters are studied.</a:t>
            </a:r>
          </a:p>
          <a:p>
            <a:endParaRPr lang="en-US" dirty="0"/>
          </a:p>
        </p:txBody>
      </p:sp>
    </p:spTree>
    <p:extLst>
      <p:ext uri="{BB962C8B-B14F-4D97-AF65-F5344CB8AC3E}">
        <p14:creationId xmlns:p14="http://schemas.microsoft.com/office/powerpoint/2010/main" val="1278675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80694748-BBA5-B746-B718-4ACB82D5F757}"/>
              </a:ext>
            </a:extLst>
          </p:cNvPr>
          <p:cNvSpPr>
            <a:spLocks noGrp="1" noChangeArrowheads="1"/>
          </p:cNvSpPr>
          <p:nvPr>
            <p:ph type="title"/>
          </p:nvPr>
        </p:nvSpPr>
        <p:spPr>
          <a:xfrm>
            <a:off x="1117261" y="892651"/>
            <a:ext cx="9720072" cy="977861"/>
          </a:xfrm>
        </p:spPr>
        <p:txBody>
          <a:bodyPr/>
          <a:lstStyle/>
          <a:p>
            <a:pPr eaLnBrk="1" hangingPunct="1"/>
            <a:r>
              <a:rPr lang="en-US" altLang="en-US" dirty="0"/>
              <a:t>CLUSTER SAMPLING…….</a:t>
            </a:r>
          </a:p>
        </p:txBody>
      </p:sp>
      <p:sp>
        <p:nvSpPr>
          <p:cNvPr id="35842" name="Slide Number Placeholder 5">
            <a:extLst>
              <a:ext uri="{FF2B5EF4-FFF2-40B4-BE49-F238E27FC236}">
                <a16:creationId xmlns:a16="http://schemas.microsoft.com/office/drawing/2014/main" id="{F9EA6AAD-A4B4-AC46-B353-DDCE5EFF3DB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E74ACE-5BAE-AE49-B8AC-E6E148290BD1}" type="slidenum">
              <a:rPr lang="en-US" altLang="en-US">
                <a:solidFill>
                  <a:srgbClr val="FFFFFF"/>
                </a:solidFill>
                <a:latin typeface="Franklin Gothic Book" panose="020B0503020102020204" pitchFamily="34" charset="0"/>
              </a:rPr>
              <a:pPr eaLnBrk="1" hangingPunct="1"/>
              <a:t>17</a:t>
            </a:fld>
            <a:endParaRPr lang="en-US" altLang="en-US">
              <a:solidFill>
                <a:srgbClr val="FFFFFF"/>
              </a:solidFill>
              <a:latin typeface="Franklin Gothic Book" panose="020B0503020102020204" pitchFamily="34" charset="0"/>
            </a:endParaRPr>
          </a:p>
        </p:txBody>
      </p:sp>
      <p:sp>
        <p:nvSpPr>
          <p:cNvPr id="38916" name="Rectangle 3">
            <a:extLst>
              <a:ext uri="{FF2B5EF4-FFF2-40B4-BE49-F238E27FC236}">
                <a16:creationId xmlns:a16="http://schemas.microsoft.com/office/drawing/2014/main" id="{FEFAA0F0-FD64-4F44-BC2D-AD0E505103C4}"/>
              </a:ext>
            </a:extLst>
          </p:cNvPr>
          <p:cNvSpPr>
            <a:spLocks noGrp="1" noChangeArrowheads="1"/>
          </p:cNvSpPr>
          <p:nvPr>
            <p:ph sz="quarter" idx="1"/>
          </p:nvPr>
        </p:nvSpPr>
        <p:spPr/>
        <p:txBody>
          <a:bodyPr/>
          <a:lstStyle/>
          <a:p>
            <a:pPr eaLnBrk="1" hangingPunct="1">
              <a:buFont typeface="Wingdings" pitchFamily="2" charset="2"/>
              <a:buNone/>
            </a:pPr>
            <a:r>
              <a:rPr lang="en-US" altLang="en-US" dirty="0"/>
              <a:t>Two types of cluster sampling methods. </a:t>
            </a:r>
          </a:p>
          <a:p>
            <a:pPr eaLnBrk="1" hangingPunct="1">
              <a:buFont typeface="Wingdings" pitchFamily="2" charset="2"/>
              <a:buNone/>
            </a:pPr>
            <a:r>
              <a:rPr lang="en-US" altLang="en-US" b="1" dirty="0"/>
              <a:t>One-stage sampling</a:t>
            </a:r>
            <a:r>
              <a:rPr lang="en-US" altLang="en-US" dirty="0"/>
              <a:t>. All of the elements within selected clusters are included in the sample.</a:t>
            </a:r>
          </a:p>
          <a:p>
            <a:pPr eaLnBrk="1" hangingPunct="1">
              <a:buFont typeface="Wingdings" pitchFamily="2" charset="2"/>
              <a:buNone/>
            </a:pPr>
            <a:endParaRPr lang="en-US" altLang="en-US" dirty="0"/>
          </a:p>
          <a:p>
            <a:pPr eaLnBrk="1" hangingPunct="1">
              <a:buFont typeface="Wingdings" pitchFamily="2" charset="2"/>
              <a:buNone/>
            </a:pPr>
            <a:r>
              <a:rPr lang="en-US" altLang="en-US" b="1" dirty="0">
                <a:solidFill>
                  <a:srgbClr val="FF0000"/>
                </a:solidFill>
              </a:rPr>
              <a:t>Two-stage sampling</a:t>
            </a:r>
            <a:r>
              <a:rPr lang="en-US" altLang="en-US" dirty="0">
                <a:solidFill>
                  <a:srgbClr val="FF0000"/>
                </a:solidFill>
              </a:rPr>
              <a:t>.</a:t>
            </a:r>
            <a:r>
              <a:rPr lang="en-US" altLang="en-US" dirty="0"/>
              <a:t> A subset of elements within selected clusters are randomly selected for inclusion in the sample.  </a:t>
            </a:r>
          </a:p>
        </p:txBody>
      </p:sp>
      <p:sp>
        <p:nvSpPr>
          <p:cNvPr id="38917" name="Rectangle 4">
            <a:extLst>
              <a:ext uri="{FF2B5EF4-FFF2-40B4-BE49-F238E27FC236}">
                <a16:creationId xmlns:a16="http://schemas.microsoft.com/office/drawing/2014/main" id="{E818719B-2217-6147-B0C5-726D0B47391A}"/>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38918" name="Rectangle 5">
            <a:extLst>
              <a:ext uri="{FF2B5EF4-FFF2-40B4-BE49-F238E27FC236}">
                <a16:creationId xmlns:a16="http://schemas.microsoft.com/office/drawing/2014/main" id="{6AC2EF38-C09A-F54C-91F6-193778AF13E3}"/>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38919" name="Rectangle 6">
            <a:extLst>
              <a:ext uri="{FF2B5EF4-FFF2-40B4-BE49-F238E27FC236}">
                <a16:creationId xmlns:a16="http://schemas.microsoft.com/office/drawing/2014/main" id="{5139323F-59DC-8C4B-A6B8-CF1DBEC5C2CA}"/>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38920" name="Rectangle 7">
            <a:extLst>
              <a:ext uri="{FF2B5EF4-FFF2-40B4-BE49-F238E27FC236}">
                <a16:creationId xmlns:a16="http://schemas.microsoft.com/office/drawing/2014/main" id="{0DC3A373-081D-3548-A873-503AB0F260E8}"/>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38921" name="Rectangle 8">
            <a:extLst>
              <a:ext uri="{FF2B5EF4-FFF2-40B4-BE49-F238E27FC236}">
                <a16:creationId xmlns:a16="http://schemas.microsoft.com/office/drawing/2014/main" id="{D0E995AA-B5AB-FB45-B231-4B090E6DCBFB}"/>
              </a:ext>
            </a:extLst>
          </p:cNvPr>
          <p:cNvSpPr>
            <a:spLocks noChangeArrowheads="1"/>
          </p:cNvSpPr>
          <p:nvPr/>
        </p:nvSpPr>
        <p:spPr bwMode="auto">
          <a:xfrm>
            <a:off x="1524001" y="-2361"/>
            <a:ext cx="65" cy="553998"/>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10" name="TextBox 9">
            <a:extLst>
              <a:ext uri="{FF2B5EF4-FFF2-40B4-BE49-F238E27FC236}">
                <a16:creationId xmlns:a16="http://schemas.microsoft.com/office/drawing/2014/main" id="{C806C1D6-AEA4-1741-BEC9-3E6EA692BAD6}"/>
              </a:ext>
            </a:extLst>
          </p:cNvPr>
          <p:cNvSpPr txBox="1"/>
          <p:nvPr/>
        </p:nvSpPr>
        <p:spPr>
          <a:xfrm>
            <a:off x="2780462" y="6076692"/>
            <a:ext cx="6562053" cy="523220"/>
          </a:xfrm>
          <a:prstGeom prst="rect">
            <a:avLst/>
          </a:prstGeom>
          <a:noFill/>
        </p:spPr>
        <p:txBody>
          <a:bodyPr wrap="none" rtlCol="0">
            <a:spAutoFit/>
          </a:bodyPr>
          <a:lstStyle/>
          <a:p>
            <a:r>
              <a:rPr lang="en-US" sz="1400" dirty="0" err="1"/>
              <a:t>Supercourse</a:t>
            </a:r>
            <a:r>
              <a:rPr lang="en-US" sz="1400" dirty="0"/>
              <a:t> on Epidemiology, Internet and Global Health, Sampling Methods</a:t>
            </a:r>
            <a:endParaRPr lang="en-US" sz="1400" i="1" dirty="0"/>
          </a:p>
          <a:p>
            <a:r>
              <a:rPr lang="en-US" sz="1400" dirty="0"/>
              <a:t> Dr. Kanupriya Chaturvedi , University of Pittsburgh,</a:t>
            </a:r>
          </a:p>
        </p:txBody>
      </p:sp>
    </p:spTree>
    <p:extLst>
      <p:ext uri="{BB962C8B-B14F-4D97-AF65-F5344CB8AC3E}">
        <p14:creationId xmlns:p14="http://schemas.microsoft.com/office/powerpoint/2010/main" val="3461431451"/>
      </p:ext>
    </p:extLst>
  </p:cSld>
  <p:clrMapOvr>
    <a:masterClrMapping/>
  </p:clrMapOvr>
  <p:transition advTm="858"/>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4A44B936-A7E0-5746-9F22-C951FD1B87B6}"/>
              </a:ext>
            </a:extLst>
          </p:cNvPr>
          <p:cNvSpPr>
            <a:spLocks noGrp="1" noChangeArrowheads="1"/>
          </p:cNvSpPr>
          <p:nvPr>
            <p:ph type="title"/>
          </p:nvPr>
        </p:nvSpPr>
        <p:spPr>
          <a:xfrm>
            <a:off x="1014413" y="155733"/>
            <a:ext cx="7772400" cy="1143001"/>
          </a:xfrm>
        </p:spPr>
        <p:txBody>
          <a:bodyPr/>
          <a:lstStyle/>
          <a:p>
            <a:pPr eaLnBrk="1" hangingPunct="1">
              <a:defRPr/>
            </a:pPr>
            <a:r>
              <a:rPr lang="en-GB" dirty="0"/>
              <a:t>Cluster sampling</a:t>
            </a:r>
          </a:p>
        </p:txBody>
      </p:sp>
      <p:grpSp>
        <p:nvGrpSpPr>
          <p:cNvPr id="25603" name="Group 3">
            <a:extLst>
              <a:ext uri="{FF2B5EF4-FFF2-40B4-BE49-F238E27FC236}">
                <a16:creationId xmlns:a16="http://schemas.microsoft.com/office/drawing/2014/main" id="{1555837B-532C-0B46-901E-25F76CDCD873}"/>
              </a:ext>
            </a:extLst>
          </p:cNvPr>
          <p:cNvGrpSpPr>
            <a:grpSpLocks/>
          </p:cNvGrpSpPr>
          <p:nvPr/>
        </p:nvGrpSpPr>
        <p:grpSpPr bwMode="auto">
          <a:xfrm>
            <a:off x="2209801" y="1225868"/>
            <a:ext cx="7270749" cy="5223509"/>
            <a:chOff x="428" y="640"/>
            <a:chExt cx="4895" cy="3591"/>
          </a:xfrm>
        </p:grpSpPr>
        <p:sp>
          <p:nvSpPr>
            <p:cNvPr id="26200" name="Rectangle 4">
              <a:extLst>
                <a:ext uri="{FF2B5EF4-FFF2-40B4-BE49-F238E27FC236}">
                  <a16:creationId xmlns:a16="http://schemas.microsoft.com/office/drawing/2014/main" id="{8ED8831F-6034-8E4E-A908-74409142E870}"/>
                </a:ext>
              </a:extLst>
            </p:cNvPr>
            <p:cNvSpPr>
              <a:spLocks noChangeArrowheads="1"/>
            </p:cNvSpPr>
            <p:nvPr/>
          </p:nvSpPr>
          <p:spPr bwMode="auto">
            <a:xfrm>
              <a:off x="1475" y="648"/>
              <a:ext cx="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a:endParaRPr lang="en-US" altLang="en-US" sz="2400">
                <a:latin typeface="Times New Roman" panose="02020603050405020304" pitchFamily="18" charset="0"/>
              </a:endParaRPr>
            </a:p>
          </p:txBody>
        </p:sp>
        <p:sp>
          <p:nvSpPr>
            <p:cNvPr id="26201" name="Freeform 5">
              <a:extLst>
                <a:ext uri="{FF2B5EF4-FFF2-40B4-BE49-F238E27FC236}">
                  <a16:creationId xmlns:a16="http://schemas.microsoft.com/office/drawing/2014/main" id="{3041F10D-ECB1-D946-993A-4CC36BE95A2B}"/>
                </a:ext>
              </a:extLst>
            </p:cNvPr>
            <p:cNvSpPr>
              <a:spLocks/>
            </p:cNvSpPr>
            <p:nvPr/>
          </p:nvSpPr>
          <p:spPr bwMode="auto">
            <a:xfrm>
              <a:off x="2779" y="3692"/>
              <a:ext cx="116" cy="105"/>
            </a:xfrm>
            <a:custGeom>
              <a:avLst/>
              <a:gdLst>
                <a:gd name="T0" fmla="*/ 246 w 348"/>
                <a:gd name="T1" fmla="*/ 277 h 315"/>
                <a:gd name="T2" fmla="*/ 198 w 348"/>
                <a:gd name="T3" fmla="*/ 249 h 315"/>
                <a:gd name="T4" fmla="*/ 174 w 348"/>
                <a:gd name="T5" fmla="*/ 219 h 315"/>
                <a:gd name="T6" fmla="*/ 168 w 348"/>
                <a:gd name="T7" fmla="*/ 181 h 315"/>
                <a:gd name="T8" fmla="*/ 127 w 348"/>
                <a:gd name="T9" fmla="*/ 150 h 315"/>
                <a:gd name="T10" fmla="*/ 67 w 348"/>
                <a:gd name="T11" fmla="*/ 123 h 315"/>
                <a:gd name="T12" fmla="*/ 40 w 348"/>
                <a:gd name="T13" fmla="*/ 81 h 315"/>
                <a:gd name="T14" fmla="*/ 15 w 348"/>
                <a:gd name="T15" fmla="*/ 32 h 315"/>
                <a:gd name="T16" fmla="*/ 14 w 348"/>
                <a:gd name="T17" fmla="*/ 17 h 315"/>
                <a:gd name="T18" fmla="*/ 38 w 348"/>
                <a:gd name="T19" fmla="*/ 47 h 315"/>
                <a:gd name="T20" fmla="*/ 61 w 348"/>
                <a:gd name="T21" fmla="*/ 97 h 315"/>
                <a:gd name="T22" fmla="*/ 84 w 348"/>
                <a:gd name="T23" fmla="*/ 100 h 315"/>
                <a:gd name="T24" fmla="*/ 104 w 348"/>
                <a:gd name="T25" fmla="*/ 62 h 315"/>
                <a:gd name="T26" fmla="*/ 115 w 348"/>
                <a:gd name="T27" fmla="*/ 21 h 315"/>
                <a:gd name="T28" fmla="*/ 112 w 348"/>
                <a:gd name="T29" fmla="*/ 2 h 315"/>
                <a:gd name="T30" fmla="*/ 124 w 348"/>
                <a:gd name="T31" fmla="*/ 9 h 315"/>
                <a:gd name="T32" fmla="*/ 120 w 348"/>
                <a:gd name="T33" fmla="*/ 35 h 315"/>
                <a:gd name="T34" fmla="*/ 109 w 348"/>
                <a:gd name="T35" fmla="*/ 79 h 315"/>
                <a:gd name="T36" fmla="*/ 99 w 348"/>
                <a:gd name="T37" fmla="*/ 108 h 315"/>
                <a:gd name="T38" fmla="*/ 117 w 348"/>
                <a:gd name="T39" fmla="*/ 117 h 315"/>
                <a:gd name="T40" fmla="*/ 152 w 348"/>
                <a:gd name="T41" fmla="*/ 119 h 315"/>
                <a:gd name="T42" fmla="*/ 182 w 348"/>
                <a:gd name="T43" fmla="*/ 138 h 315"/>
                <a:gd name="T44" fmla="*/ 199 w 348"/>
                <a:gd name="T45" fmla="*/ 128 h 315"/>
                <a:gd name="T46" fmla="*/ 225 w 348"/>
                <a:gd name="T47" fmla="*/ 113 h 315"/>
                <a:gd name="T48" fmla="*/ 250 w 348"/>
                <a:gd name="T49" fmla="*/ 91 h 315"/>
                <a:gd name="T50" fmla="*/ 261 w 348"/>
                <a:gd name="T51" fmla="*/ 83 h 315"/>
                <a:gd name="T52" fmla="*/ 243 w 348"/>
                <a:gd name="T53" fmla="*/ 112 h 315"/>
                <a:gd name="T54" fmla="*/ 213 w 348"/>
                <a:gd name="T55" fmla="*/ 133 h 315"/>
                <a:gd name="T56" fmla="*/ 208 w 348"/>
                <a:gd name="T57" fmla="*/ 147 h 315"/>
                <a:gd name="T58" fmla="*/ 247 w 348"/>
                <a:gd name="T59" fmla="*/ 157 h 315"/>
                <a:gd name="T60" fmla="*/ 266 w 348"/>
                <a:gd name="T61" fmla="*/ 176 h 315"/>
                <a:gd name="T62" fmla="*/ 272 w 348"/>
                <a:gd name="T63" fmla="*/ 162 h 315"/>
                <a:gd name="T64" fmla="*/ 289 w 348"/>
                <a:gd name="T65" fmla="*/ 130 h 315"/>
                <a:gd name="T66" fmla="*/ 294 w 348"/>
                <a:gd name="T67" fmla="*/ 74 h 315"/>
                <a:gd name="T68" fmla="*/ 288 w 348"/>
                <a:gd name="T69" fmla="*/ 37 h 315"/>
                <a:gd name="T70" fmla="*/ 289 w 348"/>
                <a:gd name="T71" fmla="*/ 22 h 315"/>
                <a:gd name="T72" fmla="*/ 299 w 348"/>
                <a:gd name="T73" fmla="*/ 39 h 315"/>
                <a:gd name="T74" fmla="*/ 304 w 348"/>
                <a:gd name="T75" fmla="*/ 71 h 315"/>
                <a:gd name="T76" fmla="*/ 306 w 348"/>
                <a:gd name="T77" fmla="*/ 113 h 315"/>
                <a:gd name="T78" fmla="*/ 319 w 348"/>
                <a:gd name="T79" fmla="*/ 130 h 315"/>
                <a:gd name="T80" fmla="*/ 331 w 348"/>
                <a:gd name="T81" fmla="*/ 93 h 315"/>
                <a:gd name="T82" fmla="*/ 330 w 348"/>
                <a:gd name="T83" fmla="*/ 60 h 315"/>
                <a:gd name="T84" fmla="*/ 342 w 348"/>
                <a:gd name="T85" fmla="*/ 34 h 315"/>
                <a:gd name="T86" fmla="*/ 345 w 348"/>
                <a:gd name="T87" fmla="*/ 62 h 315"/>
                <a:gd name="T88" fmla="*/ 345 w 348"/>
                <a:gd name="T89" fmla="*/ 117 h 315"/>
                <a:gd name="T90" fmla="*/ 326 w 348"/>
                <a:gd name="T91" fmla="*/ 170 h 315"/>
                <a:gd name="T92" fmla="*/ 323 w 348"/>
                <a:gd name="T93" fmla="*/ 229 h 315"/>
                <a:gd name="T94" fmla="*/ 344 w 348"/>
                <a:gd name="T95" fmla="*/ 271 h 31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48"/>
                <a:gd name="T145" fmla="*/ 0 h 315"/>
                <a:gd name="T146" fmla="*/ 348 w 348"/>
                <a:gd name="T147" fmla="*/ 315 h 31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48" h="315">
                  <a:moveTo>
                    <a:pt x="258" y="315"/>
                  </a:moveTo>
                  <a:lnTo>
                    <a:pt x="253" y="291"/>
                  </a:lnTo>
                  <a:lnTo>
                    <a:pt x="246" y="277"/>
                  </a:lnTo>
                  <a:lnTo>
                    <a:pt x="232" y="266"/>
                  </a:lnTo>
                  <a:lnTo>
                    <a:pt x="215" y="258"/>
                  </a:lnTo>
                  <a:lnTo>
                    <a:pt x="198" y="249"/>
                  </a:lnTo>
                  <a:lnTo>
                    <a:pt x="184" y="240"/>
                  </a:lnTo>
                  <a:lnTo>
                    <a:pt x="178" y="231"/>
                  </a:lnTo>
                  <a:lnTo>
                    <a:pt x="174" y="219"/>
                  </a:lnTo>
                  <a:lnTo>
                    <a:pt x="173" y="201"/>
                  </a:lnTo>
                  <a:lnTo>
                    <a:pt x="171" y="190"/>
                  </a:lnTo>
                  <a:lnTo>
                    <a:pt x="168" y="181"/>
                  </a:lnTo>
                  <a:lnTo>
                    <a:pt x="159" y="170"/>
                  </a:lnTo>
                  <a:lnTo>
                    <a:pt x="143" y="158"/>
                  </a:lnTo>
                  <a:lnTo>
                    <a:pt x="127" y="150"/>
                  </a:lnTo>
                  <a:lnTo>
                    <a:pt x="106" y="142"/>
                  </a:lnTo>
                  <a:lnTo>
                    <a:pt x="85" y="134"/>
                  </a:lnTo>
                  <a:lnTo>
                    <a:pt x="67" y="123"/>
                  </a:lnTo>
                  <a:lnTo>
                    <a:pt x="57" y="113"/>
                  </a:lnTo>
                  <a:lnTo>
                    <a:pt x="48" y="100"/>
                  </a:lnTo>
                  <a:lnTo>
                    <a:pt x="40" y="81"/>
                  </a:lnTo>
                  <a:lnTo>
                    <a:pt x="32" y="58"/>
                  </a:lnTo>
                  <a:lnTo>
                    <a:pt x="24" y="43"/>
                  </a:lnTo>
                  <a:lnTo>
                    <a:pt x="15" y="32"/>
                  </a:lnTo>
                  <a:lnTo>
                    <a:pt x="6" y="24"/>
                  </a:lnTo>
                  <a:lnTo>
                    <a:pt x="0" y="20"/>
                  </a:lnTo>
                  <a:lnTo>
                    <a:pt x="14" y="17"/>
                  </a:lnTo>
                  <a:lnTo>
                    <a:pt x="22" y="24"/>
                  </a:lnTo>
                  <a:lnTo>
                    <a:pt x="30" y="34"/>
                  </a:lnTo>
                  <a:lnTo>
                    <a:pt x="38" y="47"/>
                  </a:lnTo>
                  <a:lnTo>
                    <a:pt x="45" y="66"/>
                  </a:lnTo>
                  <a:lnTo>
                    <a:pt x="54" y="83"/>
                  </a:lnTo>
                  <a:lnTo>
                    <a:pt x="61" y="97"/>
                  </a:lnTo>
                  <a:lnTo>
                    <a:pt x="73" y="108"/>
                  </a:lnTo>
                  <a:lnTo>
                    <a:pt x="81" y="113"/>
                  </a:lnTo>
                  <a:lnTo>
                    <a:pt x="84" y="100"/>
                  </a:lnTo>
                  <a:lnTo>
                    <a:pt x="90" y="88"/>
                  </a:lnTo>
                  <a:lnTo>
                    <a:pt x="97" y="75"/>
                  </a:lnTo>
                  <a:lnTo>
                    <a:pt x="104" y="62"/>
                  </a:lnTo>
                  <a:lnTo>
                    <a:pt x="108" y="48"/>
                  </a:lnTo>
                  <a:lnTo>
                    <a:pt x="111" y="34"/>
                  </a:lnTo>
                  <a:lnTo>
                    <a:pt x="115" y="21"/>
                  </a:lnTo>
                  <a:lnTo>
                    <a:pt x="116" y="14"/>
                  </a:lnTo>
                  <a:lnTo>
                    <a:pt x="115" y="9"/>
                  </a:lnTo>
                  <a:lnTo>
                    <a:pt x="112" y="2"/>
                  </a:lnTo>
                  <a:lnTo>
                    <a:pt x="119" y="0"/>
                  </a:lnTo>
                  <a:lnTo>
                    <a:pt x="124" y="9"/>
                  </a:lnTo>
                  <a:lnTo>
                    <a:pt x="124" y="14"/>
                  </a:lnTo>
                  <a:lnTo>
                    <a:pt x="124" y="22"/>
                  </a:lnTo>
                  <a:lnTo>
                    <a:pt x="120" y="35"/>
                  </a:lnTo>
                  <a:lnTo>
                    <a:pt x="117" y="50"/>
                  </a:lnTo>
                  <a:lnTo>
                    <a:pt x="115" y="66"/>
                  </a:lnTo>
                  <a:lnTo>
                    <a:pt x="109" y="79"/>
                  </a:lnTo>
                  <a:lnTo>
                    <a:pt x="103" y="92"/>
                  </a:lnTo>
                  <a:lnTo>
                    <a:pt x="99" y="102"/>
                  </a:lnTo>
                  <a:lnTo>
                    <a:pt x="99" y="108"/>
                  </a:lnTo>
                  <a:lnTo>
                    <a:pt x="101" y="112"/>
                  </a:lnTo>
                  <a:lnTo>
                    <a:pt x="106" y="115"/>
                  </a:lnTo>
                  <a:lnTo>
                    <a:pt x="117" y="117"/>
                  </a:lnTo>
                  <a:lnTo>
                    <a:pt x="131" y="116"/>
                  </a:lnTo>
                  <a:lnTo>
                    <a:pt x="145" y="116"/>
                  </a:lnTo>
                  <a:lnTo>
                    <a:pt x="152" y="119"/>
                  </a:lnTo>
                  <a:lnTo>
                    <a:pt x="161" y="125"/>
                  </a:lnTo>
                  <a:lnTo>
                    <a:pt x="170" y="130"/>
                  </a:lnTo>
                  <a:lnTo>
                    <a:pt x="182" y="138"/>
                  </a:lnTo>
                  <a:lnTo>
                    <a:pt x="195" y="146"/>
                  </a:lnTo>
                  <a:lnTo>
                    <a:pt x="196" y="136"/>
                  </a:lnTo>
                  <a:lnTo>
                    <a:pt x="199" y="128"/>
                  </a:lnTo>
                  <a:lnTo>
                    <a:pt x="206" y="123"/>
                  </a:lnTo>
                  <a:lnTo>
                    <a:pt x="215" y="117"/>
                  </a:lnTo>
                  <a:lnTo>
                    <a:pt x="225" y="113"/>
                  </a:lnTo>
                  <a:lnTo>
                    <a:pt x="236" y="107"/>
                  </a:lnTo>
                  <a:lnTo>
                    <a:pt x="243" y="100"/>
                  </a:lnTo>
                  <a:lnTo>
                    <a:pt x="250" y="91"/>
                  </a:lnTo>
                  <a:lnTo>
                    <a:pt x="253" y="81"/>
                  </a:lnTo>
                  <a:lnTo>
                    <a:pt x="261" y="83"/>
                  </a:lnTo>
                  <a:lnTo>
                    <a:pt x="258" y="92"/>
                  </a:lnTo>
                  <a:lnTo>
                    <a:pt x="252" y="103"/>
                  </a:lnTo>
                  <a:lnTo>
                    <a:pt x="243" y="112"/>
                  </a:lnTo>
                  <a:lnTo>
                    <a:pt x="232" y="119"/>
                  </a:lnTo>
                  <a:lnTo>
                    <a:pt x="219" y="126"/>
                  </a:lnTo>
                  <a:lnTo>
                    <a:pt x="213" y="133"/>
                  </a:lnTo>
                  <a:lnTo>
                    <a:pt x="206" y="142"/>
                  </a:lnTo>
                  <a:lnTo>
                    <a:pt x="206" y="145"/>
                  </a:lnTo>
                  <a:lnTo>
                    <a:pt x="208" y="147"/>
                  </a:lnTo>
                  <a:lnTo>
                    <a:pt x="219" y="150"/>
                  </a:lnTo>
                  <a:lnTo>
                    <a:pt x="235" y="153"/>
                  </a:lnTo>
                  <a:lnTo>
                    <a:pt x="247" y="157"/>
                  </a:lnTo>
                  <a:lnTo>
                    <a:pt x="255" y="161"/>
                  </a:lnTo>
                  <a:lnTo>
                    <a:pt x="262" y="168"/>
                  </a:lnTo>
                  <a:lnTo>
                    <a:pt x="266" y="176"/>
                  </a:lnTo>
                  <a:lnTo>
                    <a:pt x="270" y="192"/>
                  </a:lnTo>
                  <a:lnTo>
                    <a:pt x="271" y="168"/>
                  </a:lnTo>
                  <a:lnTo>
                    <a:pt x="272" y="162"/>
                  </a:lnTo>
                  <a:lnTo>
                    <a:pt x="274" y="156"/>
                  </a:lnTo>
                  <a:lnTo>
                    <a:pt x="282" y="146"/>
                  </a:lnTo>
                  <a:lnTo>
                    <a:pt x="289" y="130"/>
                  </a:lnTo>
                  <a:lnTo>
                    <a:pt x="295" y="111"/>
                  </a:lnTo>
                  <a:lnTo>
                    <a:pt x="295" y="91"/>
                  </a:lnTo>
                  <a:lnTo>
                    <a:pt x="294" y="74"/>
                  </a:lnTo>
                  <a:lnTo>
                    <a:pt x="294" y="71"/>
                  </a:lnTo>
                  <a:lnTo>
                    <a:pt x="292" y="49"/>
                  </a:lnTo>
                  <a:lnTo>
                    <a:pt x="288" y="37"/>
                  </a:lnTo>
                  <a:lnTo>
                    <a:pt x="284" y="26"/>
                  </a:lnTo>
                  <a:lnTo>
                    <a:pt x="277" y="17"/>
                  </a:lnTo>
                  <a:lnTo>
                    <a:pt x="289" y="22"/>
                  </a:lnTo>
                  <a:lnTo>
                    <a:pt x="294" y="29"/>
                  </a:lnTo>
                  <a:lnTo>
                    <a:pt x="299" y="39"/>
                  </a:lnTo>
                  <a:lnTo>
                    <a:pt x="301" y="54"/>
                  </a:lnTo>
                  <a:lnTo>
                    <a:pt x="304" y="71"/>
                  </a:lnTo>
                  <a:lnTo>
                    <a:pt x="304" y="82"/>
                  </a:lnTo>
                  <a:lnTo>
                    <a:pt x="306" y="97"/>
                  </a:lnTo>
                  <a:lnTo>
                    <a:pt x="306" y="113"/>
                  </a:lnTo>
                  <a:lnTo>
                    <a:pt x="307" y="125"/>
                  </a:lnTo>
                  <a:lnTo>
                    <a:pt x="310" y="142"/>
                  </a:lnTo>
                  <a:lnTo>
                    <a:pt x="319" y="130"/>
                  </a:lnTo>
                  <a:lnTo>
                    <a:pt x="325" y="118"/>
                  </a:lnTo>
                  <a:lnTo>
                    <a:pt x="329" y="107"/>
                  </a:lnTo>
                  <a:lnTo>
                    <a:pt x="331" y="93"/>
                  </a:lnTo>
                  <a:lnTo>
                    <a:pt x="331" y="78"/>
                  </a:lnTo>
                  <a:lnTo>
                    <a:pt x="331" y="66"/>
                  </a:lnTo>
                  <a:lnTo>
                    <a:pt x="330" y="60"/>
                  </a:lnTo>
                  <a:lnTo>
                    <a:pt x="328" y="43"/>
                  </a:lnTo>
                  <a:lnTo>
                    <a:pt x="326" y="34"/>
                  </a:lnTo>
                  <a:lnTo>
                    <a:pt x="342" y="34"/>
                  </a:lnTo>
                  <a:lnTo>
                    <a:pt x="343" y="48"/>
                  </a:lnTo>
                  <a:lnTo>
                    <a:pt x="345" y="62"/>
                  </a:lnTo>
                  <a:lnTo>
                    <a:pt x="348" y="80"/>
                  </a:lnTo>
                  <a:lnTo>
                    <a:pt x="348" y="96"/>
                  </a:lnTo>
                  <a:lnTo>
                    <a:pt x="345" y="117"/>
                  </a:lnTo>
                  <a:lnTo>
                    <a:pt x="340" y="135"/>
                  </a:lnTo>
                  <a:lnTo>
                    <a:pt x="331" y="154"/>
                  </a:lnTo>
                  <a:lnTo>
                    <a:pt x="326" y="170"/>
                  </a:lnTo>
                  <a:lnTo>
                    <a:pt x="322" y="187"/>
                  </a:lnTo>
                  <a:lnTo>
                    <a:pt x="321" y="207"/>
                  </a:lnTo>
                  <a:lnTo>
                    <a:pt x="323" y="229"/>
                  </a:lnTo>
                  <a:lnTo>
                    <a:pt x="328" y="246"/>
                  </a:lnTo>
                  <a:lnTo>
                    <a:pt x="335" y="262"/>
                  </a:lnTo>
                  <a:lnTo>
                    <a:pt x="344" y="271"/>
                  </a:lnTo>
                  <a:lnTo>
                    <a:pt x="258" y="315"/>
                  </a:lnTo>
                  <a:close/>
                </a:path>
              </a:pathLst>
            </a:custGeom>
            <a:solidFill>
              <a:srgbClr val="008080"/>
            </a:solidFill>
            <a:ln w="0">
              <a:solidFill>
                <a:srgbClr val="8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02" name="Freeform 6">
              <a:extLst>
                <a:ext uri="{FF2B5EF4-FFF2-40B4-BE49-F238E27FC236}">
                  <a16:creationId xmlns:a16="http://schemas.microsoft.com/office/drawing/2014/main" id="{1BA8E256-8532-B54F-94B2-436ECF84C37A}"/>
                </a:ext>
              </a:extLst>
            </p:cNvPr>
            <p:cNvSpPr>
              <a:spLocks/>
            </p:cNvSpPr>
            <p:nvPr/>
          </p:nvSpPr>
          <p:spPr bwMode="auto">
            <a:xfrm>
              <a:off x="2833" y="3782"/>
              <a:ext cx="101" cy="160"/>
            </a:xfrm>
            <a:custGeom>
              <a:avLst/>
              <a:gdLst>
                <a:gd name="T0" fmla="*/ 211 w 304"/>
                <a:gd name="T1" fmla="*/ 42 h 479"/>
                <a:gd name="T2" fmla="*/ 213 w 304"/>
                <a:gd name="T3" fmla="*/ 67 h 479"/>
                <a:gd name="T4" fmla="*/ 229 w 304"/>
                <a:gd name="T5" fmla="*/ 93 h 479"/>
                <a:gd name="T6" fmla="*/ 238 w 304"/>
                <a:gd name="T7" fmla="*/ 129 h 479"/>
                <a:gd name="T8" fmla="*/ 233 w 304"/>
                <a:gd name="T9" fmla="*/ 162 h 479"/>
                <a:gd name="T10" fmla="*/ 230 w 304"/>
                <a:gd name="T11" fmla="*/ 184 h 479"/>
                <a:gd name="T12" fmla="*/ 239 w 304"/>
                <a:gd name="T13" fmla="*/ 214 h 479"/>
                <a:gd name="T14" fmla="*/ 240 w 304"/>
                <a:gd name="T15" fmla="*/ 254 h 479"/>
                <a:gd name="T16" fmla="*/ 241 w 304"/>
                <a:gd name="T17" fmla="*/ 292 h 479"/>
                <a:gd name="T18" fmla="*/ 235 w 304"/>
                <a:gd name="T19" fmla="*/ 329 h 479"/>
                <a:gd name="T20" fmla="*/ 234 w 304"/>
                <a:gd name="T21" fmla="*/ 380 h 479"/>
                <a:gd name="T22" fmla="*/ 244 w 304"/>
                <a:gd name="T23" fmla="*/ 416 h 479"/>
                <a:gd name="T24" fmla="*/ 269 w 304"/>
                <a:gd name="T25" fmla="*/ 439 h 479"/>
                <a:gd name="T26" fmla="*/ 285 w 304"/>
                <a:gd name="T27" fmla="*/ 453 h 479"/>
                <a:gd name="T28" fmla="*/ 246 w 304"/>
                <a:gd name="T29" fmla="*/ 453 h 479"/>
                <a:gd name="T30" fmla="*/ 208 w 304"/>
                <a:gd name="T31" fmla="*/ 462 h 479"/>
                <a:gd name="T32" fmla="*/ 183 w 304"/>
                <a:gd name="T33" fmla="*/ 462 h 479"/>
                <a:gd name="T34" fmla="*/ 167 w 304"/>
                <a:gd name="T35" fmla="*/ 445 h 479"/>
                <a:gd name="T36" fmla="*/ 162 w 304"/>
                <a:gd name="T37" fmla="*/ 445 h 479"/>
                <a:gd name="T38" fmla="*/ 167 w 304"/>
                <a:gd name="T39" fmla="*/ 475 h 479"/>
                <a:gd name="T40" fmla="*/ 159 w 304"/>
                <a:gd name="T41" fmla="*/ 471 h 479"/>
                <a:gd name="T42" fmla="*/ 140 w 304"/>
                <a:gd name="T43" fmla="*/ 448 h 479"/>
                <a:gd name="T44" fmla="*/ 112 w 304"/>
                <a:gd name="T45" fmla="*/ 434 h 479"/>
                <a:gd name="T46" fmla="*/ 74 w 304"/>
                <a:gd name="T47" fmla="*/ 433 h 479"/>
                <a:gd name="T48" fmla="*/ 37 w 304"/>
                <a:gd name="T49" fmla="*/ 438 h 479"/>
                <a:gd name="T50" fmla="*/ 0 w 304"/>
                <a:gd name="T51" fmla="*/ 445 h 479"/>
                <a:gd name="T52" fmla="*/ 31 w 304"/>
                <a:gd name="T53" fmla="*/ 427 h 479"/>
                <a:gd name="T54" fmla="*/ 43 w 304"/>
                <a:gd name="T55" fmla="*/ 412 h 479"/>
                <a:gd name="T56" fmla="*/ 64 w 304"/>
                <a:gd name="T57" fmla="*/ 367 h 479"/>
                <a:gd name="T58" fmla="*/ 78 w 304"/>
                <a:gd name="T59" fmla="*/ 324 h 479"/>
                <a:gd name="T60" fmla="*/ 104 w 304"/>
                <a:gd name="T61" fmla="*/ 280 h 479"/>
                <a:gd name="T62" fmla="*/ 144 w 304"/>
                <a:gd name="T63" fmla="*/ 218 h 479"/>
                <a:gd name="T64" fmla="*/ 146 w 304"/>
                <a:gd name="T65" fmla="*/ 179 h 479"/>
                <a:gd name="T66" fmla="*/ 139 w 304"/>
                <a:gd name="T67" fmla="*/ 144 h 479"/>
                <a:gd name="T68" fmla="*/ 121 w 304"/>
                <a:gd name="T69" fmla="*/ 112 h 479"/>
                <a:gd name="T70" fmla="*/ 109 w 304"/>
                <a:gd name="T71" fmla="*/ 88 h 479"/>
                <a:gd name="T72" fmla="*/ 97 w 304"/>
                <a:gd name="T73" fmla="*/ 44 h 479"/>
                <a:gd name="T74" fmla="*/ 216 w 304"/>
                <a:gd name="T75" fmla="*/ 28 h 47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4"/>
                <a:gd name="T115" fmla="*/ 0 h 479"/>
                <a:gd name="T116" fmla="*/ 304 w 304"/>
                <a:gd name="T117" fmla="*/ 479 h 47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4" h="479">
                  <a:moveTo>
                    <a:pt x="216" y="28"/>
                  </a:moveTo>
                  <a:lnTo>
                    <a:pt x="211" y="42"/>
                  </a:lnTo>
                  <a:lnTo>
                    <a:pt x="208" y="55"/>
                  </a:lnTo>
                  <a:lnTo>
                    <a:pt x="213" y="67"/>
                  </a:lnTo>
                  <a:lnTo>
                    <a:pt x="221" y="79"/>
                  </a:lnTo>
                  <a:lnTo>
                    <a:pt x="229" y="93"/>
                  </a:lnTo>
                  <a:lnTo>
                    <a:pt x="236" y="110"/>
                  </a:lnTo>
                  <a:lnTo>
                    <a:pt x="238" y="129"/>
                  </a:lnTo>
                  <a:lnTo>
                    <a:pt x="237" y="146"/>
                  </a:lnTo>
                  <a:lnTo>
                    <a:pt x="233" y="162"/>
                  </a:lnTo>
                  <a:lnTo>
                    <a:pt x="229" y="174"/>
                  </a:lnTo>
                  <a:lnTo>
                    <a:pt x="230" y="184"/>
                  </a:lnTo>
                  <a:lnTo>
                    <a:pt x="236" y="198"/>
                  </a:lnTo>
                  <a:lnTo>
                    <a:pt x="239" y="214"/>
                  </a:lnTo>
                  <a:lnTo>
                    <a:pt x="241" y="230"/>
                  </a:lnTo>
                  <a:lnTo>
                    <a:pt x="240" y="254"/>
                  </a:lnTo>
                  <a:lnTo>
                    <a:pt x="241" y="275"/>
                  </a:lnTo>
                  <a:lnTo>
                    <a:pt x="241" y="292"/>
                  </a:lnTo>
                  <a:lnTo>
                    <a:pt x="237" y="313"/>
                  </a:lnTo>
                  <a:lnTo>
                    <a:pt x="235" y="329"/>
                  </a:lnTo>
                  <a:lnTo>
                    <a:pt x="233" y="350"/>
                  </a:lnTo>
                  <a:lnTo>
                    <a:pt x="234" y="380"/>
                  </a:lnTo>
                  <a:lnTo>
                    <a:pt x="238" y="400"/>
                  </a:lnTo>
                  <a:lnTo>
                    <a:pt x="244" y="416"/>
                  </a:lnTo>
                  <a:lnTo>
                    <a:pt x="255" y="428"/>
                  </a:lnTo>
                  <a:lnTo>
                    <a:pt x="269" y="439"/>
                  </a:lnTo>
                  <a:lnTo>
                    <a:pt x="304" y="459"/>
                  </a:lnTo>
                  <a:lnTo>
                    <a:pt x="285" y="453"/>
                  </a:lnTo>
                  <a:lnTo>
                    <a:pt x="267" y="452"/>
                  </a:lnTo>
                  <a:lnTo>
                    <a:pt x="246" y="453"/>
                  </a:lnTo>
                  <a:lnTo>
                    <a:pt x="226" y="457"/>
                  </a:lnTo>
                  <a:lnTo>
                    <a:pt x="208" y="462"/>
                  </a:lnTo>
                  <a:lnTo>
                    <a:pt x="194" y="464"/>
                  </a:lnTo>
                  <a:lnTo>
                    <a:pt x="183" y="462"/>
                  </a:lnTo>
                  <a:lnTo>
                    <a:pt x="174" y="456"/>
                  </a:lnTo>
                  <a:lnTo>
                    <a:pt x="167" y="445"/>
                  </a:lnTo>
                  <a:lnTo>
                    <a:pt x="158" y="426"/>
                  </a:lnTo>
                  <a:lnTo>
                    <a:pt x="162" y="445"/>
                  </a:lnTo>
                  <a:lnTo>
                    <a:pt x="164" y="460"/>
                  </a:lnTo>
                  <a:lnTo>
                    <a:pt x="167" y="475"/>
                  </a:lnTo>
                  <a:lnTo>
                    <a:pt x="167" y="479"/>
                  </a:lnTo>
                  <a:lnTo>
                    <a:pt x="159" y="471"/>
                  </a:lnTo>
                  <a:lnTo>
                    <a:pt x="150" y="459"/>
                  </a:lnTo>
                  <a:lnTo>
                    <a:pt x="140" y="448"/>
                  </a:lnTo>
                  <a:lnTo>
                    <a:pt x="126" y="439"/>
                  </a:lnTo>
                  <a:lnTo>
                    <a:pt x="112" y="434"/>
                  </a:lnTo>
                  <a:lnTo>
                    <a:pt x="92" y="432"/>
                  </a:lnTo>
                  <a:lnTo>
                    <a:pt x="74" y="433"/>
                  </a:lnTo>
                  <a:lnTo>
                    <a:pt x="54" y="434"/>
                  </a:lnTo>
                  <a:lnTo>
                    <a:pt x="37" y="438"/>
                  </a:lnTo>
                  <a:lnTo>
                    <a:pt x="17" y="442"/>
                  </a:lnTo>
                  <a:lnTo>
                    <a:pt x="0" y="445"/>
                  </a:lnTo>
                  <a:lnTo>
                    <a:pt x="17" y="438"/>
                  </a:lnTo>
                  <a:lnTo>
                    <a:pt x="31" y="427"/>
                  </a:lnTo>
                  <a:lnTo>
                    <a:pt x="38" y="419"/>
                  </a:lnTo>
                  <a:lnTo>
                    <a:pt x="43" y="412"/>
                  </a:lnTo>
                  <a:lnTo>
                    <a:pt x="56" y="389"/>
                  </a:lnTo>
                  <a:lnTo>
                    <a:pt x="64" y="367"/>
                  </a:lnTo>
                  <a:lnTo>
                    <a:pt x="70" y="346"/>
                  </a:lnTo>
                  <a:lnTo>
                    <a:pt x="78" y="324"/>
                  </a:lnTo>
                  <a:lnTo>
                    <a:pt x="89" y="304"/>
                  </a:lnTo>
                  <a:lnTo>
                    <a:pt x="104" y="280"/>
                  </a:lnTo>
                  <a:lnTo>
                    <a:pt x="125" y="250"/>
                  </a:lnTo>
                  <a:lnTo>
                    <a:pt x="144" y="218"/>
                  </a:lnTo>
                  <a:lnTo>
                    <a:pt x="146" y="197"/>
                  </a:lnTo>
                  <a:lnTo>
                    <a:pt x="146" y="179"/>
                  </a:lnTo>
                  <a:lnTo>
                    <a:pt x="144" y="160"/>
                  </a:lnTo>
                  <a:lnTo>
                    <a:pt x="139" y="144"/>
                  </a:lnTo>
                  <a:lnTo>
                    <a:pt x="131" y="126"/>
                  </a:lnTo>
                  <a:lnTo>
                    <a:pt x="121" y="112"/>
                  </a:lnTo>
                  <a:lnTo>
                    <a:pt x="113" y="100"/>
                  </a:lnTo>
                  <a:lnTo>
                    <a:pt x="109" y="88"/>
                  </a:lnTo>
                  <a:lnTo>
                    <a:pt x="103" y="62"/>
                  </a:lnTo>
                  <a:lnTo>
                    <a:pt x="97" y="44"/>
                  </a:lnTo>
                  <a:lnTo>
                    <a:pt x="183" y="0"/>
                  </a:lnTo>
                  <a:lnTo>
                    <a:pt x="216" y="28"/>
                  </a:lnTo>
                  <a:close/>
                </a:path>
              </a:pathLst>
            </a:custGeom>
            <a:solidFill>
              <a:srgbClr val="008080"/>
            </a:solidFill>
            <a:ln w="0">
              <a:solidFill>
                <a:srgbClr val="8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03" name="Freeform 7">
              <a:extLst>
                <a:ext uri="{FF2B5EF4-FFF2-40B4-BE49-F238E27FC236}">
                  <a16:creationId xmlns:a16="http://schemas.microsoft.com/office/drawing/2014/main" id="{0098C776-6A7B-8948-A34F-DBD0D8D299AF}"/>
                </a:ext>
              </a:extLst>
            </p:cNvPr>
            <p:cNvSpPr>
              <a:spLocks/>
            </p:cNvSpPr>
            <p:nvPr/>
          </p:nvSpPr>
          <p:spPr bwMode="auto">
            <a:xfrm>
              <a:off x="2894" y="3690"/>
              <a:ext cx="228" cy="101"/>
            </a:xfrm>
            <a:custGeom>
              <a:avLst/>
              <a:gdLst>
                <a:gd name="T0" fmla="*/ 89 w 684"/>
                <a:gd name="T1" fmla="*/ 263 h 303"/>
                <a:gd name="T2" fmla="*/ 179 w 684"/>
                <a:gd name="T3" fmla="*/ 235 h 303"/>
                <a:gd name="T4" fmla="*/ 246 w 684"/>
                <a:gd name="T5" fmla="*/ 196 h 303"/>
                <a:gd name="T6" fmla="*/ 309 w 684"/>
                <a:gd name="T7" fmla="*/ 146 h 303"/>
                <a:gd name="T8" fmla="*/ 388 w 684"/>
                <a:gd name="T9" fmla="*/ 137 h 303"/>
                <a:gd name="T10" fmla="*/ 484 w 684"/>
                <a:gd name="T11" fmla="*/ 150 h 303"/>
                <a:gd name="T12" fmla="*/ 560 w 684"/>
                <a:gd name="T13" fmla="*/ 130 h 303"/>
                <a:gd name="T14" fmla="*/ 619 w 684"/>
                <a:gd name="T15" fmla="*/ 93 h 303"/>
                <a:gd name="T16" fmla="*/ 675 w 684"/>
                <a:gd name="T17" fmla="*/ 72 h 303"/>
                <a:gd name="T18" fmla="*/ 673 w 684"/>
                <a:gd name="T19" fmla="*/ 61 h 303"/>
                <a:gd name="T20" fmla="*/ 614 w 684"/>
                <a:gd name="T21" fmla="*/ 85 h 303"/>
                <a:gd name="T22" fmla="*/ 593 w 684"/>
                <a:gd name="T23" fmla="*/ 67 h 303"/>
                <a:gd name="T24" fmla="*/ 585 w 684"/>
                <a:gd name="T25" fmla="*/ 20 h 303"/>
                <a:gd name="T26" fmla="*/ 580 w 684"/>
                <a:gd name="T27" fmla="*/ 84 h 303"/>
                <a:gd name="T28" fmla="*/ 541 w 684"/>
                <a:gd name="T29" fmla="*/ 109 h 303"/>
                <a:gd name="T30" fmla="*/ 508 w 684"/>
                <a:gd name="T31" fmla="*/ 108 h 303"/>
                <a:gd name="T32" fmla="*/ 547 w 684"/>
                <a:gd name="T33" fmla="*/ 60 h 303"/>
                <a:gd name="T34" fmla="*/ 542 w 684"/>
                <a:gd name="T35" fmla="*/ 22 h 303"/>
                <a:gd name="T36" fmla="*/ 532 w 684"/>
                <a:gd name="T37" fmla="*/ 71 h 303"/>
                <a:gd name="T38" fmla="*/ 479 w 684"/>
                <a:gd name="T39" fmla="*/ 111 h 303"/>
                <a:gd name="T40" fmla="*/ 408 w 684"/>
                <a:gd name="T41" fmla="*/ 96 h 303"/>
                <a:gd name="T42" fmla="*/ 334 w 684"/>
                <a:gd name="T43" fmla="*/ 96 h 303"/>
                <a:gd name="T44" fmla="*/ 396 w 684"/>
                <a:gd name="T45" fmla="*/ 58 h 303"/>
                <a:gd name="T46" fmla="*/ 417 w 684"/>
                <a:gd name="T47" fmla="*/ 33 h 303"/>
                <a:gd name="T48" fmla="*/ 434 w 684"/>
                <a:gd name="T49" fmla="*/ 3 h 303"/>
                <a:gd name="T50" fmla="*/ 416 w 684"/>
                <a:gd name="T51" fmla="*/ 19 h 303"/>
                <a:gd name="T52" fmla="*/ 391 w 684"/>
                <a:gd name="T53" fmla="*/ 50 h 303"/>
                <a:gd name="T54" fmla="*/ 329 w 684"/>
                <a:gd name="T55" fmla="*/ 84 h 303"/>
                <a:gd name="T56" fmla="*/ 317 w 684"/>
                <a:gd name="T57" fmla="*/ 54 h 303"/>
                <a:gd name="T58" fmla="*/ 314 w 684"/>
                <a:gd name="T59" fmla="*/ 20 h 303"/>
                <a:gd name="T60" fmla="*/ 303 w 684"/>
                <a:gd name="T61" fmla="*/ 42 h 303"/>
                <a:gd name="T62" fmla="*/ 294 w 684"/>
                <a:gd name="T63" fmla="*/ 103 h 303"/>
                <a:gd name="T64" fmla="*/ 228 w 684"/>
                <a:gd name="T65" fmla="*/ 137 h 303"/>
                <a:gd name="T66" fmla="*/ 182 w 684"/>
                <a:gd name="T67" fmla="*/ 163 h 303"/>
                <a:gd name="T68" fmla="*/ 99 w 684"/>
                <a:gd name="T69" fmla="*/ 195 h 303"/>
                <a:gd name="T70" fmla="*/ 63 w 684"/>
                <a:gd name="T71" fmla="*/ 212 h 303"/>
                <a:gd name="T72" fmla="*/ 100 w 684"/>
                <a:gd name="T73" fmla="*/ 168 h 303"/>
                <a:gd name="T74" fmla="*/ 124 w 684"/>
                <a:gd name="T75" fmla="*/ 120 h 303"/>
                <a:gd name="T76" fmla="*/ 115 w 684"/>
                <a:gd name="T77" fmla="*/ 76 h 303"/>
                <a:gd name="T78" fmla="*/ 153 w 684"/>
                <a:gd name="T79" fmla="*/ 34 h 303"/>
                <a:gd name="T80" fmla="*/ 122 w 684"/>
                <a:gd name="T81" fmla="*/ 51 h 303"/>
                <a:gd name="T82" fmla="*/ 106 w 684"/>
                <a:gd name="T83" fmla="*/ 96 h 303"/>
                <a:gd name="T84" fmla="*/ 81 w 684"/>
                <a:gd name="T85" fmla="*/ 42 h 303"/>
                <a:gd name="T86" fmla="*/ 69 w 684"/>
                <a:gd name="T87" fmla="*/ 50 h 303"/>
                <a:gd name="T88" fmla="*/ 97 w 684"/>
                <a:gd name="T89" fmla="*/ 112 h 303"/>
                <a:gd name="T90" fmla="*/ 88 w 684"/>
                <a:gd name="T91" fmla="*/ 161 h 303"/>
                <a:gd name="T92" fmla="*/ 38 w 684"/>
                <a:gd name="T93" fmla="*/ 212 h 303"/>
                <a:gd name="T94" fmla="*/ 5 w 684"/>
                <a:gd name="T95" fmla="*/ 263 h 30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84"/>
                <a:gd name="T145" fmla="*/ 0 h 303"/>
                <a:gd name="T146" fmla="*/ 684 w 684"/>
                <a:gd name="T147" fmla="*/ 303 h 30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84" h="303">
                  <a:moveTo>
                    <a:pt x="33" y="303"/>
                  </a:moveTo>
                  <a:lnTo>
                    <a:pt x="43" y="292"/>
                  </a:lnTo>
                  <a:lnTo>
                    <a:pt x="65" y="277"/>
                  </a:lnTo>
                  <a:lnTo>
                    <a:pt x="89" y="263"/>
                  </a:lnTo>
                  <a:lnTo>
                    <a:pt x="117" y="251"/>
                  </a:lnTo>
                  <a:lnTo>
                    <a:pt x="140" y="244"/>
                  </a:lnTo>
                  <a:lnTo>
                    <a:pt x="159" y="241"/>
                  </a:lnTo>
                  <a:lnTo>
                    <a:pt x="179" y="235"/>
                  </a:lnTo>
                  <a:lnTo>
                    <a:pt x="199" y="228"/>
                  </a:lnTo>
                  <a:lnTo>
                    <a:pt x="217" y="218"/>
                  </a:lnTo>
                  <a:lnTo>
                    <a:pt x="230" y="209"/>
                  </a:lnTo>
                  <a:lnTo>
                    <a:pt x="246" y="196"/>
                  </a:lnTo>
                  <a:lnTo>
                    <a:pt x="262" y="179"/>
                  </a:lnTo>
                  <a:lnTo>
                    <a:pt x="280" y="162"/>
                  </a:lnTo>
                  <a:lnTo>
                    <a:pt x="293" y="153"/>
                  </a:lnTo>
                  <a:lnTo>
                    <a:pt x="309" y="146"/>
                  </a:lnTo>
                  <a:lnTo>
                    <a:pt x="326" y="140"/>
                  </a:lnTo>
                  <a:lnTo>
                    <a:pt x="346" y="138"/>
                  </a:lnTo>
                  <a:lnTo>
                    <a:pt x="367" y="135"/>
                  </a:lnTo>
                  <a:lnTo>
                    <a:pt x="388" y="137"/>
                  </a:lnTo>
                  <a:lnTo>
                    <a:pt x="413" y="139"/>
                  </a:lnTo>
                  <a:lnTo>
                    <a:pt x="437" y="141"/>
                  </a:lnTo>
                  <a:lnTo>
                    <a:pt x="460" y="146"/>
                  </a:lnTo>
                  <a:lnTo>
                    <a:pt x="484" y="150"/>
                  </a:lnTo>
                  <a:lnTo>
                    <a:pt x="505" y="150"/>
                  </a:lnTo>
                  <a:lnTo>
                    <a:pt x="526" y="146"/>
                  </a:lnTo>
                  <a:lnTo>
                    <a:pt x="543" y="140"/>
                  </a:lnTo>
                  <a:lnTo>
                    <a:pt x="560" y="130"/>
                  </a:lnTo>
                  <a:lnTo>
                    <a:pt x="575" y="118"/>
                  </a:lnTo>
                  <a:lnTo>
                    <a:pt x="589" y="107"/>
                  </a:lnTo>
                  <a:lnTo>
                    <a:pt x="604" y="98"/>
                  </a:lnTo>
                  <a:lnTo>
                    <a:pt x="619" y="93"/>
                  </a:lnTo>
                  <a:lnTo>
                    <a:pt x="638" y="87"/>
                  </a:lnTo>
                  <a:lnTo>
                    <a:pt x="657" y="82"/>
                  </a:lnTo>
                  <a:lnTo>
                    <a:pt x="668" y="77"/>
                  </a:lnTo>
                  <a:lnTo>
                    <a:pt x="675" y="72"/>
                  </a:lnTo>
                  <a:lnTo>
                    <a:pt x="679" y="66"/>
                  </a:lnTo>
                  <a:lnTo>
                    <a:pt x="684" y="53"/>
                  </a:lnTo>
                  <a:lnTo>
                    <a:pt x="676" y="51"/>
                  </a:lnTo>
                  <a:lnTo>
                    <a:pt x="673" y="61"/>
                  </a:lnTo>
                  <a:lnTo>
                    <a:pt x="668" y="67"/>
                  </a:lnTo>
                  <a:lnTo>
                    <a:pt x="660" y="72"/>
                  </a:lnTo>
                  <a:lnTo>
                    <a:pt x="638" y="78"/>
                  </a:lnTo>
                  <a:lnTo>
                    <a:pt x="614" y="85"/>
                  </a:lnTo>
                  <a:lnTo>
                    <a:pt x="597" y="88"/>
                  </a:lnTo>
                  <a:lnTo>
                    <a:pt x="592" y="90"/>
                  </a:lnTo>
                  <a:lnTo>
                    <a:pt x="593" y="79"/>
                  </a:lnTo>
                  <a:lnTo>
                    <a:pt x="593" y="67"/>
                  </a:lnTo>
                  <a:lnTo>
                    <a:pt x="593" y="51"/>
                  </a:lnTo>
                  <a:lnTo>
                    <a:pt x="592" y="33"/>
                  </a:lnTo>
                  <a:lnTo>
                    <a:pt x="592" y="20"/>
                  </a:lnTo>
                  <a:lnTo>
                    <a:pt x="585" y="20"/>
                  </a:lnTo>
                  <a:lnTo>
                    <a:pt x="586" y="31"/>
                  </a:lnTo>
                  <a:lnTo>
                    <a:pt x="586" y="50"/>
                  </a:lnTo>
                  <a:lnTo>
                    <a:pt x="584" y="69"/>
                  </a:lnTo>
                  <a:lnTo>
                    <a:pt x="580" y="84"/>
                  </a:lnTo>
                  <a:lnTo>
                    <a:pt x="573" y="92"/>
                  </a:lnTo>
                  <a:lnTo>
                    <a:pt x="565" y="97"/>
                  </a:lnTo>
                  <a:lnTo>
                    <a:pt x="554" y="104"/>
                  </a:lnTo>
                  <a:lnTo>
                    <a:pt x="541" y="109"/>
                  </a:lnTo>
                  <a:lnTo>
                    <a:pt x="526" y="114"/>
                  </a:lnTo>
                  <a:lnTo>
                    <a:pt x="508" y="117"/>
                  </a:lnTo>
                  <a:lnTo>
                    <a:pt x="496" y="117"/>
                  </a:lnTo>
                  <a:lnTo>
                    <a:pt x="508" y="108"/>
                  </a:lnTo>
                  <a:lnTo>
                    <a:pt x="522" y="97"/>
                  </a:lnTo>
                  <a:lnTo>
                    <a:pt x="533" y="86"/>
                  </a:lnTo>
                  <a:lnTo>
                    <a:pt x="542" y="72"/>
                  </a:lnTo>
                  <a:lnTo>
                    <a:pt x="547" y="60"/>
                  </a:lnTo>
                  <a:lnTo>
                    <a:pt x="550" y="44"/>
                  </a:lnTo>
                  <a:lnTo>
                    <a:pt x="551" y="33"/>
                  </a:lnTo>
                  <a:lnTo>
                    <a:pt x="550" y="22"/>
                  </a:lnTo>
                  <a:lnTo>
                    <a:pt x="542" y="22"/>
                  </a:lnTo>
                  <a:lnTo>
                    <a:pt x="542" y="30"/>
                  </a:lnTo>
                  <a:lnTo>
                    <a:pt x="542" y="44"/>
                  </a:lnTo>
                  <a:lnTo>
                    <a:pt x="539" y="59"/>
                  </a:lnTo>
                  <a:lnTo>
                    <a:pt x="532" y="71"/>
                  </a:lnTo>
                  <a:lnTo>
                    <a:pt x="521" y="84"/>
                  </a:lnTo>
                  <a:lnTo>
                    <a:pt x="509" y="95"/>
                  </a:lnTo>
                  <a:lnTo>
                    <a:pt x="494" y="104"/>
                  </a:lnTo>
                  <a:lnTo>
                    <a:pt x="479" y="111"/>
                  </a:lnTo>
                  <a:lnTo>
                    <a:pt x="464" y="112"/>
                  </a:lnTo>
                  <a:lnTo>
                    <a:pt x="448" y="108"/>
                  </a:lnTo>
                  <a:lnTo>
                    <a:pt x="429" y="101"/>
                  </a:lnTo>
                  <a:lnTo>
                    <a:pt x="408" y="96"/>
                  </a:lnTo>
                  <a:lnTo>
                    <a:pt x="385" y="90"/>
                  </a:lnTo>
                  <a:lnTo>
                    <a:pt x="371" y="90"/>
                  </a:lnTo>
                  <a:lnTo>
                    <a:pt x="355" y="92"/>
                  </a:lnTo>
                  <a:lnTo>
                    <a:pt x="334" y="96"/>
                  </a:lnTo>
                  <a:lnTo>
                    <a:pt x="355" y="79"/>
                  </a:lnTo>
                  <a:lnTo>
                    <a:pt x="367" y="71"/>
                  </a:lnTo>
                  <a:lnTo>
                    <a:pt x="382" y="63"/>
                  </a:lnTo>
                  <a:lnTo>
                    <a:pt x="396" y="58"/>
                  </a:lnTo>
                  <a:lnTo>
                    <a:pt x="404" y="52"/>
                  </a:lnTo>
                  <a:lnTo>
                    <a:pt x="409" y="48"/>
                  </a:lnTo>
                  <a:lnTo>
                    <a:pt x="412" y="44"/>
                  </a:lnTo>
                  <a:lnTo>
                    <a:pt x="417" y="33"/>
                  </a:lnTo>
                  <a:lnTo>
                    <a:pt x="422" y="24"/>
                  </a:lnTo>
                  <a:lnTo>
                    <a:pt x="426" y="15"/>
                  </a:lnTo>
                  <a:lnTo>
                    <a:pt x="434" y="3"/>
                  </a:lnTo>
                  <a:lnTo>
                    <a:pt x="428" y="0"/>
                  </a:lnTo>
                  <a:lnTo>
                    <a:pt x="420" y="10"/>
                  </a:lnTo>
                  <a:lnTo>
                    <a:pt x="416" y="19"/>
                  </a:lnTo>
                  <a:lnTo>
                    <a:pt x="412" y="28"/>
                  </a:lnTo>
                  <a:lnTo>
                    <a:pt x="408" y="36"/>
                  </a:lnTo>
                  <a:lnTo>
                    <a:pt x="401" y="44"/>
                  </a:lnTo>
                  <a:lnTo>
                    <a:pt x="391" y="50"/>
                  </a:lnTo>
                  <a:lnTo>
                    <a:pt x="375" y="58"/>
                  </a:lnTo>
                  <a:lnTo>
                    <a:pt x="358" y="65"/>
                  </a:lnTo>
                  <a:lnTo>
                    <a:pt x="341" y="75"/>
                  </a:lnTo>
                  <a:lnTo>
                    <a:pt x="329" y="84"/>
                  </a:lnTo>
                  <a:lnTo>
                    <a:pt x="313" y="96"/>
                  </a:lnTo>
                  <a:lnTo>
                    <a:pt x="317" y="79"/>
                  </a:lnTo>
                  <a:lnTo>
                    <a:pt x="320" y="66"/>
                  </a:lnTo>
                  <a:lnTo>
                    <a:pt x="317" y="54"/>
                  </a:lnTo>
                  <a:lnTo>
                    <a:pt x="314" y="41"/>
                  </a:lnTo>
                  <a:lnTo>
                    <a:pt x="313" y="29"/>
                  </a:lnTo>
                  <a:lnTo>
                    <a:pt x="314" y="20"/>
                  </a:lnTo>
                  <a:lnTo>
                    <a:pt x="302" y="24"/>
                  </a:lnTo>
                  <a:lnTo>
                    <a:pt x="302" y="29"/>
                  </a:lnTo>
                  <a:lnTo>
                    <a:pt x="303" y="42"/>
                  </a:lnTo>
                  <a:lnTo>
                    <a:pt x="306" y="59"/>
                  </a:lnTo>
                  <a:lnTo>
                    <a:pt x="306" y="71"/>
                  </a:lnTo>
                  <a:lnTo>
                    <a:pt x="302" y="87"/>
                  </a:lnTo>
                  <a:lnTo>
                    <a:pt x="294" y="103"/>
                  </a:lnTo>
                  <a:lnTo>
                    <a:pt x="287" y="112"/>
                  </a:lnTo>
                  <a:lnTo>
                    <a:pt x="275" y="121"/>
                  </a:lnTo>
                  <a:lnTo>
                    <a:pt x="259" y="127"/>
                  </a:lnTo>
                  <a:lnTo>
                    <a:pt x="228" y="137"/>
                  </a:lnTo>
                  <a:lnTo>
                    <a:pt x="205" y="146"/>
                  </a:lnTo>
                  <a:lnTo>
                    <a:pt x="198" y="152"/>
                  </a:lnTo>
                  <a:lnTo>
                    <a:pt x="190" y="160"/>
                  </a:lnTo>
                  <a:lnTo>
                    <a:pt x="182" y="163"/>
                  </a:lnTo>
                  <a:lnTo>
                    <a:pt x="175" y="167"/>
                  </a:lnTo>
                  <a:lnTo>
                    <a:pt x="144" y="177"/>
                  </a:lnTo>
                  <a:lnTo>
                    <a:pt x="119" y="186"/>
                  </a:lnTo>
                  <a:lnTo>
                    <a:pt x="99" y="195"/>
                  </a:lnTo>
                  <a:lnTo>
                    <a:pt x="75" y="208"/>
                  </a:lnTo>
                  <a:lnTo>
                    <a:pt x="63" y="217"/>
                  </a:lnTo>
                  <a:lnTo>
                    <a:pt x="63" y="212"/>
                  </a:lnTo>
                  <a:lnTo>
                    <a:pt x="67" y="205"/>
                  </a:lnTo>
                  <a:lnTo>
                    <a:pt x="75" y="191"/>
                  </a:lnTo>
                  <a:lnTo>
                    <a:pt x="88" y="179"/>
                  </a:lnTo>
                  <a:lnTo>
                    <a:pt x="100" y="168"/>
                  </a:lnTo>
                  <a:lnTo>
                    <a:pt x="110" y="160"/>
                  </a:lnTo>
                  <a:lnTo>
                    <a:pt x="118" y="150"/>
                  </a:lnTo>
                  <a:lnTo>
                    <a:pt x="123" y="135"/>
                  </a:lnTo>
                  <a:lnTo>
                    <a:pt x="124" y="120"/>
                  </a:lnTo>
                  <a:lnTo>
                    <a:pt x="122" y="104"/>
                  </a:lnTo>
                  <a:lnTo>
                    <a:pt x="118" y="90"/>
                  </a:lnTo>
                  <a:lnTo>
                    <a:pt x="117" y="83"/>
                  </a:lnTo>
                  <a:lnTo>
                    <a:pt x="115" y="76"/>
                  </a:lnTo>
                  <a:lnTo>
                    <a:pt x="119" y="67"/>
                  </a:lnTo>
                  <a:lnTo>
                    <a:pt x="123" y="62"/>
                  </a:lnTo>
                  <a:lnTo>
                    <a:pt x="137" y="50"/>
                  </a:lnTo>
                  <a:lnTo>
                    <a:pt x="153" y="34"/>
                  </a:lnTo>
                  <a:lnTo>
                    <a:pt x="143" y="33"/>
                  </a:lnTo>
                  <a:lnTo>
                    <a:pt x="133" y="42"/>
                  </a:lnTo>
                  <a:lnTo>
                    <a:pt x="122" y="51"/>
                  </a:lnTo>
                  <a:lnTo>
                    <a:pt x="115" y="59"/>
                  </a:lnTo>
                  <a:lnTo>
                    <a:pt x="108" y="67"/>
                  </a:lnTo>
                  <a:lnTo>
                    <a:pt x="106" y="78"/>
                  </a:lnTo>
                  <a:lnTo>
                    <a:pt x="106" y="96"/>
                  </a:lnTo>
                  <a:lnTo>
                    <a:pt x="99" y="83"/>
                  </a:lnTo>
                  <a:lnTo>
                    <a:pt x="91" y="69"/>
                  </a:lnTo>
                  <a:lnTo>
                    <a:pt x="86" y="53"/>
                  </a:lnTo>
                  <a:lnTo>
                    <a:pt x="81" y="42"/>
                  </a:lnTo>
                  <a:lnTo>
                    <a:pt x="76" y="32"/>
                  </a:lnTo>
                  <a:lnTo>
                    <a:pt x="69" y="36"/>
                  </a:lnTo>
                  <a:lnTo>
                    <a:pt x="64" y="41"/>
                  </a:lnTo>
                  <a:lnTo>
                    <a:pt x="69" y="50"/>
                  </a:lnTo>
                  <a:lnTo>
                    <a:pt x="76" y="65"/>
                  </a:lnTo>
                  <a:lnTo>
                    <a:pt x="83" y="82"/>
                  </a:lnTo>
                  <a:lnTo>
                    <a:pt x="90" y="99"/>
                  </a:lnTo>
                  <a:lnTo>
                    <a:pt x="97" y="112"/>
                  </a:lnTo>
                  <a:lnTo>
                    <a:pt x="100" y="124"/>
                  </a:lnTo>
                  <a:lnTo>
                    <a:pt x="100" y="138"/>
                  </a:lnTo>
                  <a:lnTo>
                    <a:pt x="96" y="150"/>
                  </a:lnTo>
                  <a:lnTo>
                    <a:pt x="88" y="161"/>
                  </a:lnTo>
                  <a:lnTo>
                    <a:pt x="76" y="171"/>
                  </a:lnTo>
                  <a:lnTo>
                    <a:pt x="64" y="184"/>
                  </a:lnTo>
                  <a:lnTo>
                    <a:pt x="50" y="199"/>
                  </a:lnTo>
                  <a:lnTo>
                    <a:pt x="38" y="212"/>
                  </a:lnTo>
                  <a:lnTo>
                    <a:pt x="24" y="228"/>
                  </a:lnTo>
                  <a:lnTo>
                    <a:pt x="17" y="240"/>
                  </a:lnTo>
                  <a:lnTo>
                    <a:pt x="10" y="251"/>
                  </a:lnTo>
                  <a:lnTo>
                    <a:pt x="5" y="263"/>
                  </a:lnTo>
                  <a:lnTo>
                    <a:pt x="0" y="275"/>
                  </a:lnTo>
                  <a:lnTo>
                    <a:pt x="33" y="303"/>
                  </a:lnTo>
                  <a:close/>
                </a:path>
              </a:pathLst>
            </a:custGeom>
            <a:solidFill>
              <a:srgbClr val="FFFFFF"/>
            </a:solidFill>
            <a:ln w="0">
              <a:solidFill>
                <a:srgbClr val="FFFFFF"/>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04" name="Freeform 8">
              <a:extLst>
                <a:ext uri="{FF2B5EF4-FFF2-40B4-BE49-F238E27FC236}">
                  <a16:creationId xmlns:a16="http://schemas.microsoft.com/office/drawing/2014/main" id="{42088E1F-4F62-834C-B9FC-D2E93F45F54E}"/>
                </a:ext>
              </a:extLst>
            </p:cNvPr>
            <p:cNvSpPr>
              <a:spLocks/>
            </p:cNvSpPr>
            <p:nvPr/>
          </p:nvSpPr>
          <p:spPr bwMode="auto">
            <a:xfrm>
              <a:off x="2881" y="3842"/>
              <a:ext cx="5" cy="13"/>
            </a:xfrm>
            <a:custGeom>
              <a:avLst/>
              <a:gdLst>
                <a:gd name="T0" fmla="*/ 0 w 14"/>
                <a:gd name="T1" fmla="*/ 39 h 39"/>
                <a:gd name="T2" fmla="*/ 5 w 14"/>
                <a:gd name="T3" fmla="*/ 25 h 39"/>
                <a:gd name="T4" fmla="*/ 12 w 14"/>
                <a:gd name="T5" fmla="*/ 16 h 39"/>
                <a:gd name="T6" fmla="*/ 14 w 14"/>
                <a:gd name="T7" fmla="*/ 8 h 39"/>
                <a:gd name="T8" fmla="*/ 14 w 14"/>
                <a:gd name="T9" fmla="*/ 0 h 39"/>
                <a:gd name="T10" fmla="*/ 0 60000 65536"/>
                <a:gd name="T11" fmla="*/ 0 60000 65536"/>
                <a:gd name="T12" fmla="*/ 0 60000 65536"/>
                <a:gd name="T13" fmla="*/ 0 60000 65536"/>
                <a:gd name="T14" fmla="*/ 0 60000 65536"/>
                <a:gd name="T15" fmla="*/ 0 w 14"/>
                <a:gd name="T16" fmla="*/ 0 h 39"/>
                <a:gd name="T17" fmla="*/ 14 w 14"/>
                <a:gd name="T18" fmla="*/ 39 h 39"/>
              </a:gdLst>
              <a:ahLst/>
              <a:cxnLst>
                <a:cxn ang="T10">
                  <a:pos x="T0" y="T1"/>
                </a:cxn>
                <a:cxn ang="T11">
                  <a:pos x="T2" y="T3"/>
                </a:cxn>
                <a:cxn ang="T12">
                  <a:pos x="T4" y="T5"/>
                </a:cxn>
                <a:cxn ang="T13">
                  <a:pos x="T6" y="T7"/>
                </a:cxn>
                <a:cxn ang="T14">
                  <a:pos x="T8" y="T9"/>
                </a:cxn>
              </a:cxnLst>
              <a:rect l="T15" t="T16" r="T17" b="T18"/>
              <a:pathLst>
                <a:path w="14" h="39">
                  <a:moveTo>
                    <a:pt x="0" y="39"/>
                  </a:moveTo>
                  <a:lnTo>
                    <a:pt x="5" y="25"/>
                  </a:lnTo>
                  <a:lnTo>
                    <a:pt x="12" y="16"/>
                  </a:lnTo>
                  <a:lnTo>
                    <a:pt x="14" y="8"/>
                  </a:lnTo>
                  <a:lnTo>
                    <a:pt x="14"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05" name="Freeform 9">
              <a:extLst>
                <a:ext uri="{FF2B5EF4-FFF2-40B4-BE49-F238E27FC236}">
                  <a16:creationId xmlns:a16="http://schemas.microsoft.com/office/drawing/2014/main" id="{D81003F3-1D48-0947-B39F-68D091A764A5}"/>
                </a:ext>
              </a:extLst>
            </p:cNvPr>
            <p:cNvSpPr>
              <a:spLocks/>
            </p:cNvSpPr>
            <p:nvPr/>
          </p:nvSpPr>
          <p:spPr bwMode="auto">
            <a:xfrm>
              <a:off x="3006" y="3692"/>
              <a:ext cx="69" cy="36"/>
            </a:xfrm>
            <a:custGeom>
              <a:avLst/>
              <a:gdLst>
                <a:gd name="T0" fmla="*/ 207 w 207"/>
                <a:gd name="T1" fmla="*/ 20 h 108"/>
                <a:gd name="T2" fmla="*/ 207 w 207"/>
                <a:gd name="T3" fmla="*/ 27 h 108"/>
                <a:gd name="T4" fmla="*/ 207 w 207"/>
                <a:gd name="T5" fmla="*/ 41 h 108"/>
                <a:gd name="T6" fmla="*/ 204 w 207"/>
                <a:gd name="T7" fmla="*/ 55 h 108"/>
                <a:gd name="T8" fmla="*/ 197 w 207"/>
                <a:gd name="T9" fmla="*/ 67 h 108"/>
                <a:gd name="T10" fmla="*/ 186 w 207"/>
                <a:gd name="T11" fmla="*/ 80 h 108"/>
                <a:gd name="T12" fmla="*/ 174 w 207"/>
                <a:gd name="T13" fmla="*/ 91 h 108"/>
                <a:gd name="T14" fmla="*/ 159 w 207"/>
                <a:gd name="T15" fmla="*/ 100 h 108"/>
                <a:gd name="T16" fmla="*/ 144 w 207"/>
                <a:gd name="T17" fmla="*/ 107 h 108"/>
                <a:gd name="T18" fmla="*/ 129 w 207"/>
                <a:gd name="T19" fmla="*/ 108 h 108"/>
                <a:gd name="T20" fmla="*/ 113 w 207"/>
                <a:gd name="T21" fmla="*/ 104 h 108"/>
                <a:gd name="T22" fmla="*/ 95 w 207"/>
                <a:gd name="T23" fmla="*/ 97 h 108"/>
                <a:gd name="T24" fmla="*/ 74 w 207"/>
                <a:gd name="T25" fmla="*/ 92 h 108"/>
                <a:gd name="T26" fmla="*/ 51 w 207"/>
                <a:gd name="T27" fmla="*/ 86 h 108"/>
                <a:gd name="T28" fmla="*/ 37 w 207"/>
                <a:gd name="T29" fmla="*/ 86 h 108"/>
                <a:gd name="T30" fmla="*/ 21 w 207"/>
                <a:gd name="T31" fmla="*/ 88 h 108"/>
                <a:gd name="T32" fmla="*/ 0 w 207"/>
                <a:gd name="T33" fmla="*/ 92 h 108"/>
                <a:gd name="T34" fmla="*/ 21 w 207"/>
                <a:gd name="T35" fmla="*/ 75 h 108"/>
                <a:gd name="T36" fmla="*/ 33 w 207"/>
                <a:gd name="T37" fmla="*/ 67 h 108"/>
                <a:gd name="T38" fmla="*/ 48 w 207"/>
                <a:gd name="T39" fmla="*/ 59 h 108"/>
                <a:gd name="T40" fmla="*/ 62 w 207"/>
                <a:gd name="T41" fmla="*/ 54 h 108"/>
                <a:gd name="T42" fmla="*/ 70 w 207"/>
                <a:gd name="T43" fmla="*/ 49 h 108"/>
                <a:gd name="T44" fmla="*/ 76 w 207"/>
                <a:gd name="T45" fmla="*/ 45 h 108"/>
                <a:gd name="T46" fmla="*/ 78 w 207"/>
                <a:gd name="T47" fmla="*/ 41 h 108"/>
                <a:gd name="T48" fmla="*/ 83 w 207"/>
                <a:gd name="T49" fmla="*/ 30 h 108"/>
                <a:gd name="T50" fmla="*/ 88 w 207"/>
                <a:gd name="T51" fmla="*/ 21 h 108"/>
                <a:gd name="T52" fmla="*/ 92 w 207"/>
                <a:gd name="T53" fmla="*/ 12 h 108"/>
                <a:gd name="T54" fmla="*/ 100 w 207"/>
                <a:gd name="T55" fmla="*/ 0 h 10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07"/>
                <a:gd name="T85" fmla="*/ 0 h 108"/>
                <a:gd name="T86" fmla="*/ 207 w 207"/>
                <a:gd name="T87" fmla="*/ 108 h 10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07" h="108">
                  <a:moveTo>
                    <a:pt x="207" y="20"/>
                  </a:moveTo>
                  <a:lnTo>
                    <a:pt x="207" y="27"/>
                  </a:lnTo>
                  <a:lnTo>
                    <a:pt x="207" y="41"/>
                  </a:lnTo>
                  <a:lnTo>
                    <a:pt x="204" y="55"/>
                  </a:lnTo>
                  <a:lnTo>
                    <a:pt x="197" y="67"/>
                  </a:lnTo>
                  <a:lnTo>
                    <a:pt x="186" y="80"/>
                  </a:lnTo>
                  <a:lnTo>
                    <a:pt x="174" y="91"/>
                  </a:lnTo>
                  <a:lnTo>
                    <a:pt x="159" y="100"/>
                  </a:lnTo>
                  <a:lnTo>
                    <a:pt x="144" y="107"/>
                  </a:lnTo>
                  <a:lnTo>
                    <a:pt x="129" y="108"/>
                  </a:lnTo>
                  <a:lnTo>
                    <a:pt x="113" y="104"/>
                  </a:lnTo>
                  <a:lnTo>
                    <a:pt x="95" y="97"/>
                  </a:lnTo>
                  <a:lnTo>
                    <a:pt x="74" y="92"/>
                  </a:lnTo>
                  <a:lnTo>
                    <a:pt x="51" y="86"/>
                  </a:lnTo>
                  <a:lnTo>
                    <a:pt x="37" y="86"/>
                  </a:lnTo>
                  <a:lnTo>
                    <a:pt x="21" y="88"/>
                  </a:lnTo>
                  <a:lnTo>
                    <a:pt x="0" y="92"/>
                  </a:lnTo>
                  <a:lnTo>
                    <a:pt x="21" y="75"/>
                  </a:lnTo>
                  <a:lnTo>
                    <a:pt x="33" y="67"/>
                  </a:lnTo>
                  <a:lnTo>
                    <a:pt x="48" y="59"/>
                  </a:lnTo>
                  <a:lnTo>
                    <a:pt x="62" y="54"/>
                  </a:lnTo>
                  <a:lnTo>
                    <a:pt x="70" y="49"/>
                  </a:lnTo>
                  <a:lnTo>
                    <a:pt x="76" y="45"/>
                  </a:lnTo>
                  <a:lnTo>
                    <a:pt x="78" y="41"/>
                  </a:lnTo>
                  <a:lnTo>
                    <a:pt x="83" y="30"/>
                  </a:lnTo>
                  <a:lnTo>
                    <a:pt x="88" y="21"/>
                  </a:lnTo>
                  <a:lnTo>
                    <a:pt x="92" y="12"/>
                  </a:lnTo>
                  <a:lnTo>
                    <a:pt x="10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06" name="Freeform 10">
              <a:extLst>
                <a:ext uri="{FF2B5EF4-FFF2-40B4-BE49-F238E27FC236}">
                  <a16:creationId xmlns:a16="http://schemas.microsoft.com/office/drawing/2014/main" id="{791CCD6C-A90E-784E-B434-5528F8221B7F}"/>
                </a:ext>
              </a:extLst>
            </p:cNvPr>
            <p:cNvSpPr>
              <a:spLocks/>
            </p:cNvSpPr>
            <p:nvPr/>
          </p:nvSpPr>
          <p:spPr bwMode="auto">
            <a:xfrm>
              <a:off x="3059" y="3697"/>
              <a:ext cx="30" cy="32"/>
            </a:xfrm>
            <a:custGeom>
              <a:avLst/>
              <a:gdLst>
                <a:gd name="T0" fmla="*/ 54 w 90"/>
                <a:gd name="T1" fmla="*/ 4 h 97"/>
                <a:gd name="T2" fmla="*/ 55 w 90"/>
                <a:gd name="T3" fmla="*/ 13 h 97"/>
                <a:gd name="T4" fmla="*/ 54 w 90"/>
                <a:gd name="T5" fmla="*/ 24 h 97"/>
                <a:gd name="T6" fmla="*/ 51 w 90"/>
                <a:gd name="T7" fmla="*/ 41 h 97"/>
                <a:gd name="T8" fmla="*/ 46 w 90"/>
                <a:gd name="T9" fmla="*/ 52 h 97"/>
                <a:gd name="T10" fmla="*/ 37 w 90"/>
                <a:gd name="T11" fmla="*/ 66 h 97"/>
                <a:gd name="T12" fmla="*/ 28 w 90"/>
                <a:gd name="T13" fmla="*/ 77 h 97"/>
                <a:gd name="T14" fmla="*/ 12 w 90"/>
                <a:gd name="T15" fmla="*/ 88 h 97"/>
                <a:gd name="T16" fmla="*/ 0 w 90"/>
                <a:gd name="T17" fmla="*/ 97 h 97"/>
                <a:gd name="T18" fmla="*/ 12 w 90"/>
                <a:gd name="T19" fmla="*/ 97 h 97"/>
                <a:gd name="T20" fmla="*/ 30 w 90"/>
                <a:gd name="T21" fmla="*/ 94 h 97"/>
                <a:gd name="T22" fmla="*/ 45 w 90"/>
                <a:gd name="T23" fmla="*/ 89 h 97"/>
                <a:gd name="T24" fmla="*/ 58 w 90"/>
                <a:gd name="T25" fmla="*/ 84 h 97"/>
                <a:gd name="T26" fmla="*/ 69 w 90"/>
                <a:gd name="T27" fmla="*/ 77 h 97"/>
                <a:gd name="T28" fmla="*/ 77 w 90"/>
                <a:gd name="T29" fmla="*/ 72 h 97"/>
                <a:gd name="T30" fmla="*/ 84 w 90"/>
                <a:gd name="T31" fmla="*/ 64 h 97"/>
                <a:gd name="T32" fmla="*/ 88 w 90"/>
                <a:gd name="T33" fmla="*/ 49 h 97"/>
                <a:gd name="T34" fmla="*/ 90 w 90"/>
                <a:gd name="T35" fmla="*/ 30 h 97"/>
                <a:gd name="T36" fmla="*/ 90 w 90"/>
                <a:gd name="T37" fmla="*/ 12 h 97"/>
                <a:gd name="T38" fmla="*/ 89 w 90"/>
                <a:gd name="T39" fmla="*/ 0 h 9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0"/>
                <a:gd name="T61" fmla="*/ 0 h 97"/>
                <a:gd name="T62" fmla="*/ 90 w 90"/>
                <a:gd name="T63" fmla="*/ 97 h 9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0" h="97">
                  <a:moveTo>
                    <a:pt x="54" y="4"/>
                  </a:moveTo>
                  <a:lnTo>
                    <a:pt x="55" y="13"/>
                  </a:lnTo>
                  <a:lnTo>
                    <a:pt x="54" y="24"/>
                  </a:lnTo>
                  <a:lnTo>
                    <a:pt x="51" y="41"/>
                  </a:lnTo>
                  <a:lnTo>
                    <a:pt x="46" y="52"/>
                  </a:lnTo>
                  <a:lnTo>
                    <a:pt x="37" y="66"/>
                  </a:lnTo>
                  <a:lnTo>
                    <a:pt x="28" y="77"/>
                  </a:lnTo>
                  <a:lnTo>
                    <a:pt x="12" y="88"/>
                  </a:lnTo>
                  <a:lnTo>
                    <a:pt x="0" y="97"/>
                  </a:lnTo>
                  <a:lnTo>
                    <a:pt x="12" y="97"/>
                  </a:lnTo>
                  <a:lnTo>
                    <a:pt x="30" y="94"/>
                  </a:lnTo>
                  <a:lnTo>
                    <a:pt x="45" y="89"/>
                  </a:lnTo>
                  <a:lnTo>
                    <a:pt x="58" y="84"/>
                  </a:lnTo>
                  <a:lnTo>
                    <a:pt x="69" y="77"/>
                  </a:lnTo>
                  <a:lnTo>
                    <a:pt x="77" y="72"/>
                  </a:lnTo>
                  <a:lnTo>
                    <a:pt x="84" y="64"/>
                  </a:lnTo>
                  <a:lnTo>
                    <a:pt x="88" y="49"/>
                  </a:lnTo>
                  <a:lnTo>
                    <a:pt x="90" y="30"/>
                  </a:lnTo>
                  <a:lnTo>
                    <a:pt x="90" y="12"/>
                  </a:lnTo>
                  <a:lnTo>
                    <a:pt x="89"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07" name="Freeform 11">
              <a:extLst>
                <a:ext uri="{FF2B5EF4-FFF2-40B4-BE49-F238E27FC236}">
                  <a16:creationId xmlns:a16="http://schemas.microsoft.com/office/drawing/2014/main" id="{7C6EBF09-897D-6D4E-A256-46AAD2E4134B}"/>
                </a:ext>
              </a:extLst>
            </p:cNvPr>
            <p:cNvSpPr>
              <a:spLocks/>
            </p:cNvSpPr>
            <p:nvPr/>
          </p:nvSpPr>
          <p:spPr bwMode="auto">
            <a:xfrm>
              <a:off x="3092" y="3697"/>
              <a:ext cx="27" cy="23"/>
            </a:xfrm>
            <a:custGeom>
              <a:avLst/>
              <a:gdLst>
                <a:gd name="T0" fmla="*/ 0 w 83"/>
                <a:gd name="T1" fmla="*/ 0 h 70"/>
                <a:gd name="T2" fmla="*/ 0 w 83"/>
                <a:gd name="T3" fmla="*/ 13 h 70"/>
                <a:gd name="T4" fmla="*/ 0 w 83"/>
                <a:gd name="T5" fmla="*/ 31 h 70"/>
                <a:gd name="T6" fmla="*/ 0 w 83"/>
                <a:gd name="T7" fmla="*/ 47 h 70"/>
                <a:gd name="T8" fmla="*/ 0 w 83"/>
                <a:gd name="T9" fmla="*/ 59 h 70"/>
                <a:gd name="T10" fmla="*/ 0 w 83"/>
                <a:gd name="T11" fmla="*/ 70 h 70"/>
                <a:gd name="T12" fmla="*/ 4 w 83"/>
                <a:gd name="T13" fmla="*/ 68 h 70"/>
                <a:gd name="T14" fmla="*/ 21 w 83"/>
                <a:gd name="T15" fmla="*/ 65 h 70"/>
                <a:gd name="T16" fmla="*/ 45 w 83"/>
                <a:gd name="T17" fmla="*/ 58 h 70"/>
                <a:gd name="T18" fmla="*/ 67 w 83"/>
                <a:gd name="T19" fmla="*/ 52 h 70"/>
                <a:gd name="T20" fmla="*/ 75 w 83"/>
                <a:gd name="T21" fmla="*/ 47 h 70"/>
                <a:gd name="T22" fmla="*/ 80 w 83"/>
                <a:gd name="T23" fmla="*/ 41 h 70"/>
                <a:gd name="T24" fmla="*/ 83 w 83"/>
                <a:gd name="T25" fmla="*/ 31 h 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3"/>
                <a:gd name="T40" fmla="*/ 0 h 70"/>
                <a:gd name="T41" fmla="*/ 83 w 83"/>
                <a:gd name="T42" fmla="*/ 70 h 7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3" h="70">
                  <a:moveTo>
                    <a:pt x="0" y="0"/>
                  </a:moveTo>
                  <a:lnTo>
                    <a:pt x="0" y="13"/>
                  </a:lnTo>
                  <a:lnTo>
                    <a:pt x="0" y="31"/>
                  </a:lnTo>
                  <a:lnTo>
                    <a:pt x="0" y="47"/>
                  </a:lnTo>
                  <a:lnTo>
                    <a:pt x="0" y="59"/>
                  </a:lnTo>
                  <a:lnTo>
                    <a:pt x="0" y="70"/>
                  </a:lnTo>
                  <a:lnTo>
                    <a:pt x="4" y="68"/>
                  </a:lnTo>
                  <a:lnTo>
                    <a:pt x="21" y="65"/>
                  </a:lnTo>
                  <a:lnTo>
                    <a:pt x="45" y="58"/>
                  </a:lnTo>
                  <a:lnTo>
                    <a:pt x="67" y="52"/>
                  </a:lnTo>
                  <a:lnTo>
                    <a:pt x="75" y="47"/>
                  </a:lnTo>
                  <a:lnTo>
                    <a:pt x="80" y="41"/>
                  </a:lnTo>
                  <a:lnTo>
                    <a:pt x="83" y="31"/>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08" name="Freeform 12">
              <a:extLst>
                <a:ext uri="{FF2B5EF4-FFF2-40B4-BE49-F238E27FC236}">
                  <a16:creationId xmlns:a16="http://schemas.microsoft.com/office/drawing/2014/main" id="{587A6023-963F-524B-A095-D9E46090767E}"/>
                </a:ext>
              </a:extLst>
            </p:cNvPr>
            <p:cNvSpPr>
              <a:spLocks/>
            </p:cNvSpPr>
            <p:nvPr/>
          </p:nvSpPr>
          <p:spPr bwMode="auto">
            <a:xfrm>
              <a:off x="2999" y="3690"/>
              <a:ext cx="38" cy="32"/>
            </a:xfrm>
            <a:custGeom>
              <a:avLst/>
              <a:gdLst>
                <a:gd name="T0" fmla="*/ 114 w 114"/>
                <a:gd name="T1" fmla="*/ 0 h 96"/>
                <a:gd name="T2" fmla="*/ 106 w 114"/>
                <a:gd name="T3" fmla="*/ 11 h 96"/>
                <a:gd name="T4" fmla="*/ 102 w 114"/>
                <a:gd name="T5" fmla="*/ 19 h 96"/>
                <a:gd name="T6" fmla="*/ 98 w 114"/>
                <a:gd name="T7" fmla="*/ 28 h 96"/>
                <a:gd name="T8" fmla="*/ 94 w 114"/>
                <a:gd name="T9" fmla="*/ 36 h 96"/>
                <a:gd name="T10" fmla="*/ 87 w 114"/>
                <a:gd name="T11" fmla="*/ 44 h 96"/>
                <a:gd name="T12" fmla="*/ 77 w 114"/>
                <a:gd name="T13" fmla="*/ 50 h 96"/>
                <a:gd name="T14" fmla="*/ 61 w 114"/>
                <a:gd name="T15" fmla="*/ 58 h 96"/>
                <a:gd name="T16" fmla="*/ 44 w 114"/>
                <a:gd name="T17" fmla="*/ 65 h 96"/>
                <a:gd name="T18" fmla="*/ 29 w 114"/>
                <a:gd name="T19" fmla="*/ 75 h 96"/>
                <a:gd name="T20" fmla="*/ 15 w 114"/>
                <a:gd name="T21" fmla="*/ 84 h 96"/>
                <a:gd name="T22" fmla="*/ 0 w 114"/>
                <a:gd name="T23" fmla="*/ 96 h 96"/>
                <a:gd name="T24" fmla="*/ 3 w 114"/>
                <a:gd name="T25" fmla="*/ 79 h 96"/>
                <a:gd name="T26" fmla="*/ 6 w 114"/>
                <a:gd name="T27" fmla="*/ 66 h 96"/>
                <a:gd name="T28" fmla="*/ 3 w 114"/>
                <a:gd name="T29" fmla="*/ 54 h 96"/>
                <a:gd name="T30" fmla="*/ 1 w 114"/>
                <a:gd name="T31" fmla="*/ 41 h 96"/>
                <a:gd name="T32" fmla="*/ 0 w 114"/>
                <a:gd name="T33" fmla="*/ 29 h 96"/>
                <a:gd name="T34" fmla="*/ 1 w 114"/>
                <a:gd name="T35" fmla="*/ 20 h 9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4"/>
                <a:gd name="T55" fmla="*/ 0 h 96"/>
                <a:gd name="T56" fmla="*/ 114 w 114"/>
                <a:gd name="T57" fmla="*/ 96 h 9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4" h="96">
                  <a:moveTo>
                    <a:pt x="114" y="0"/>
                  </a:moveTo>
                  <a:lnTo>
                    <a:pt x="106" y="11"/>
                  </a:lnTo>
                  <a:lnTo>
                    <a:pt x="102" y="19"/>
                  </a:lnTo>
                  <a:lnTo>
                    <a:pt x="98" y="28"/>
                  </a:lnTo>
                  <a:lnTo>
                    <a:pt x="94" y="36"/>
                  </a:lnTo>
                  <a:lnTo>
                    <a:pt x="87" y="44"/>
                  </a:lnTo>
                  <a:lnTo>
                    <a:pt x="77" y="50"/>
                  </a:lnTo>
                  <a:lnTo>
                    <a:pt x="61" y="58"/>
                  </a:lnTo>
                  <a:lnTo>
                    <a:pt x="44" y="65"/>
                  </a:lnTo>
                  <a:lnTo>
                    <a:pt x="29" y="75"/>
                  </a:lnTo>
                  <a:lnTo>
                    <a:pt x="15" y="84"/>
                  </a:lnTo>
                  <a:lnTo>
                    <a:pt x="0" y="96"/>
                  </a:lnTo>
                  <a:lnTo>
                    <a:pt x="3" y="79"/>
                  </a:lnTo>
                  <a:lnTo>
                    <a:pt x="6" y="66"/>
                  </a:lnTo>
                  <a:lnTo>
                    <a:pt x="3" y="54"/>
                  </a:lnTo>
                  <a:lnTo>
                    <a:pt x="1" y="41"/>
                  </a:lnTo>
                  <a:lnTo>
                    <a:pt x="0" y="29"/>
                  </a:lnTo>
                  <a:lnTo>
                    <a:pt x="1" y="2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09" name="Freeform 13">
              <a:extLst>
                <a:ext uri="{FF2B5EF4-FFF2-40B4-BE49-F238E27FC236}">
                  <a16:creationId xmlns:a16="http://schemas.microsoft.com/office/drawing/2014/main" id="{1EA27499-9B82-3E47-80F9-F4DA7ABBBBB6}"/>
                </a:ext>
              </a:extLst>
            </p:cNvPr>
            <p:cNvSpPr>
              <a:spLocks/>
            </p:cNvSpPr>
            <p:nvPr/>
          </p:nvSpPr>
          <p:spPr bwMode="auto">
            <a:xfrm>
              <a:off x="2919" y="3701"/>
              <a:ext cx="23" cy="21"/>
            </a:xfrm>
            <a:custGeom>
              <a:avLst/>
              <a:gdLst>
                <a:gd name="T0" fmla="*/ 0 w 67"/>
                <a:gd name="T1" fmla="*/ 0 h 64"/>
                <a:gd name="T2" fmla="*/ 5 w 67"/>
                <a:gd name="T3" fmla="*/ 10 h 64"/>
                <a:gd name="T4" fmla="*/ 10 w 67"/>
                <a:gd name="T5" fmla="*/ 21 h 64"/>
                <a:gd name="T6" fmla="*/ 15 w 67"/>
                <a:gd name="T7" fmla="*/ 37 h 64"/>
                <a:gd name="T8" fmla="*/ 23 w 67"/>
                <a:gd name="T9" fmla="*/ 51 h 64"/>
                <a:gd name="T10" fmla="*/ 30 w 67"/>
                <a:gd name="T11" fmla="*/ 64 h 64"/>
                <a:gd name="T12" fmla="*/ 30 w 67"/>
                <a:gd name="T13" fmla="*/ 46 h 64"/>
                <a:gd name="T14" fmla="*/ 32 w 67"/>
                <a:gd name="T15" fmla="*/ 35 h 64"/>
                <a:gd name="T16" fmla="*/ 39 w 67"/>
                <a:gd name="T17" fmla="*/ 27 h 64"/>
                <a:gd name="T18" fmla="*/ 46 w 67"/>
                <a:gd name="T19" fmla="*/ 19 h 64"/>
                <a:gd name="T20" fmla="*/ 57 w 67"/>
                <a:gd name="T21" fmla="*/ 10 h 64"/>
                <a:gd name="T22" fmla="*/ 67 w 67"/>
                <a:gd name="T23" fmla="*/ 1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7"/>
                <a:gd name="T37" fmla="*/ 0 h 64"/>
                <a:gd name="T38" fmla="*/ 67 w 67"/>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7" h="64">
                  <a:moveTo>
                    <a:pt x="0" y="0"/>
                  </a:moveTo>
                  <a:lnTo>
                    <a:pt x="5" y="10"/>
                  </a:lnTo>
                  <a:lnTo>
                    <a:pt x="10" y="21"/>
                  </a:lnTo>
                  <a:lnTo>
                    <a:pt x="15" y="37"/>
                  </a:lnTo>
                  <a:lnTo>
                    <a:pt x="23" y="51"/>
                  </a:lnTo>
                  <a:lnTo>
                    <a:pt x="30" y="64"/>
                  </a:lnTo>
                  <a:lnTo>
                    <a:pt x="30" y="46"/>
                  </a:lnTo>
                  <a:lnTo>
                    <a:pt x="32" y="35"/>
                  </a:lnTo>
                  <a:lnTo>
                    <a:pt x="39" y="27"/>
                  </a:lnTo>
                  <a:lnTo>
                    <a:pt x="46" y="19"/>
                  </a:lnTo>
                  <a:lnTo>
                    <a:pt x="57" y="10"/>
                  </a:lnTo>
                  <a:lnTo>
                    <a:pt x="67" y="1"/>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10" name="Freeform 14">
              <a:extLst>
                <a:ext uri="{FF2B5EF4-FFF2-40B4-BE49-F238E27FC236}">
                  <a16:creationId xmlns:a16="http://schemas.microsoft.com/office/drawing/2014/main" id="{D930DDDA-AF07-DD4A-9872-76EEE29C0653}"/>
                </a:ext>
              </a:extLst>
            </p:cNvPr>
            <p:cNvSpPr>
              <a:spLocks/>
            </p:cNvSpPr>
            <p:nvPr/>
          </p:nvSpPr>
          <p:spPr bwMode="auto">
            <a:xfrm>
              <a:off x="2915" y="3699"/>
              <a:ext cx="81" cy="64"/>
            </a:xfrm>
            <a:custGeom>
              <a:avLst/>
              <a:gdLst>
                <a:gd name="T0" fmla="*/ 90 w 243"/>
                <a:gd name="T1" fmla="*/ 11 h 192"/>
                <a:gd name="T2" fmla="*/ 74 w 243"/>
                <a:gd name="T3" fmla="*/ 26 h 192"/>
                <a:gd name="T4" fmla="*/ 60 w 243"/>
                <a:gd name="T5" fmla="*/ 38 h 192"/>
                <a:gd name="T6" fmla="*/ 56 w 243"/>
                <a:gd name="T7" fmla="*/ 42 h 192"/>
                <a:gd name="T8" fmla="*/ 52 w 243"/>
                <a:gd name="T9" fmla="*/ 52 h 192"/>
                <a:gd name="T10" fmla="*/ 54 w 243"/>
                <a:gd name="T11" fmla="*/ 59 h 192"/>
                <a:gd name="T12" fmla="*/ 55 w 243"/>
                <a:gd name="T13" fmla="*/ 67 h 192"/>
                <a:gd name="T14" fmla="*/ 59 w 243"/>
                <a:gd name="T15" fmla="*/ 80 h 192"/>
                <a:gd name="T16" fmla="*/ 61 w 243"/>
                <a:gd name="T17" fmla="*/ 95 h 192"/>
                <a:gd name="T18" fmla="*/ 60 w 243"/>
                <a:gd name="T19" fmla="*/ 110 h 192"/>
                <a:gd name="T20" fmla="*/ 55 w 243"/>
                <a:gd name="T21" fmla="*/ 125 h 192"/>
                <a:gd name="T22" fmla="*/ 47 w 243"/>
                <a:gd name="T23" fmla="*/ 135 h 192"/>
                <a:gd name="T24" fmla="*/ 37 w 243"/>
                <a:gd name="T25" fmla="*/ 143 h 192"/>
                <a:gd name="T26" fmla="*/ 25 w 243"/>
                <a:gd name="T27" fmla="*/ 154 h 192"/>
                <a:gd name="T28" fmla="*/ 12 w 243"/>
                <a:gd name="T29" fmla="*/ 166 h 192"/>
                <a:gd name="T30" fmla="*/ 4 w 243"/>
                <a:gd name="T31" fmla="*/ 180 h 192"/>
                <a:gd name="T32" fmla="*/ 0 w 243"/>
                <a:gd name="T33" fmla="*/ 187 h 192"/>
                <a:gd name="T34" fmla="*/ 0 w 243"/>
                <a:gd name="T35" fmla="*/ 192 h 192"/>
                <a:gd name="T36" fmla="*/ 12 w 243"/>
                <a:gd name="T37" fmla="*/ 183 h 192"/>
                <a:gd name="T38" fmla="*/ 36 w 243"/>
                <a:gd name="T39" fmla="*/ 170 h 192"/>
                <a:gd name="T40" fmla="*/ 56 w 243"/>
                <a:gd name="T41" fmla="*/ 161 h 192"/>
                <a:gd name="T42" fmla="*/ 81 w 243"/>
                <a:gd name="T43" fmla="*/ 152 h 192"/>
                <a:gd name="T44" fmla="*/ 112 w 243"/>
                <a:gd name="T45" fmla="*/ 142 h 192"/>
                <a:gd name="T46" fmla="*/ 119 w 243"/>
                <a:gd name="T47" fmla="*/ 138 h 192"/>
                <a:gd name="T48" fmla="*/ 127 w 243"/>
                <a:gd name="T49" fmla="*/ 135 h 192"/>
                <a:gd name="T50" fmla="*/ 135 w 243"/>
                <a:gd name="T51" fmla="*/ 127 h 192"/>
                <a:gd name="T52" fmla="*/ 142 w 243"/>
                <a:gd name="T53" fmla="*/ 121 h 192"/>
                <a:gd name="T54" fmla="*/ 165 w 243"/>
                <a:gd name="T55" fmla="*/ 112 h 192"/>
                <a:gd name="T56" fmla="*/ 196 w 243"/>
                <a:gd name="T57" fmla="*/ 102 h 192"/>
                <a:gd name="T58" fmla="*/ 212 w 243"/>
                <a:gd name="T59" fmla="*/ 96 h 192"/>
                <a:gd name="T60" fmla="*/ 224 w 243"/>
                <a:gd name="T61" fmla="*/ 89 h 192"/>
                <a:gd name="T62" fmla="*/ 231 w 243"/>
                <a:gd name="T63" fmla="*/ 79 h 192"/>
                <a:gd name="T64" fmla="*/ 239 w 243"/>
                <a:gd name="T65" fmla="*/ 63 h 192"/>
                <a:gd name="T66" fmla="*/ 243 w 243"/>
                <a:gd name="T67" fmla="*/ 47 h 192"/>
                <a:gd name="T68" fmla="*/ 243 w 243"/>
                <a:gd name="T69" fmla="*/ 35 h 192"/>
                <a:gd name="T70" fmla="*/ 240 w 243"/>
                <a:gd name="T71" fmla="*/ 18 h 192"/>
                <a:gd name="T72" fmla="*/ 239 w 243"/>
                <a:gd name="T73" fmla="*/ 5 h 192"/>
                <a:gd name="T74" fmla="*/ 239 w 243"/>
                <a:gd name="T75" fmla="*/ 0 h 19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3"/>
                <a:gd name="T115" fmla="*/ 0 h 192"/>
                <a:gd name="T116" fmla="*/ 243 w 243"/>
                <a:gd name="T117" fmla="*/ 192 h 19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3" h="192">
                  <a:moveTo>
                    <a:pt x="90" y="11"/>
                  </a:moveTo>
                  <a:lnTo>
                    <a:pt x="74" y="26"/>
                  </a:lnTo>
                  <a:lnTo>
                    <a:pt x="60" y="38"/>
                  </a:lnTo>
                  <a:lnTo>
                    <a:pt x="56" y="42"/>
                  </a:lnTo>
                  <a:lnTo>
                    <a:pt x="52" y="52"/>
                  </a:lnTo>
                  <a:lnTo>
                    <a:pt x="54" y="59"/>
                  </a:lnTo>
                  <a:lnTo>
                    <a:pt x="55" y="67"/>
                  </a:lnTo>
                  <a:lnTo>
                    <a:pt x="59" y="80"/>
                  </a:lnTo>
                  <a:lnTo>
                    <a:pt x="61" y="95"/>
                  </a:lnTo>
                  <a:lnTo>
                    <a:pt x="60" y="110"/>
                  </a:lnTo>
                  <a:lnTo>
                    <a:pt x="55" y="125"/>
                  </a:lnTo>
                  <a:lnTo>
                    <a:pt x="47" y="135"/>
                  </a:lnTo>
                  <a:lnTo>
                    <a:pt x="37" y="143"/>
                  </a:lnTo>
                  <a:lnTo>
                    <a:pt x="25" y="154"/>
                  </a:lnTo>
                  <a:lnTo>
                    <a:pt x="12" y="166"/>
                  </a:lnTo>
                  <a:lnTo>
                    <a:pt x="4" y="180"/>
                  </a:lnTo>
                  <a:lnTo>
                    <a:pt x="0" y="187"/>
                  </a:lnTo>
                  <a:lnTo>
                    <a:pt x="0" y="192"/>
                  </a:lnTo>
                  <a:lnTo>
                    <a:pt x="12" y="183"/>
                  </a:lnTo>
                  <a:lnTo>
                    <a:pt x="36" y="170"/>
                  </a:lnTo>
                  <a:lnTo>
                    <a:pt x="56" y="161"/>
                  </a:lnTo>
                  <a:lnTo>
                    <a:pt x="81" y="152"/>
                  </a:lnTo>
                  <a:lnTo>
                    <a:pt x="112" y="142"/>
                  </a:lnTo>
                  <a:lnTo>
                    <a:pt x="119" y="138"/>
                  </a:lnTo>
                  <a:lnTo>
                    <a:pt x="127" y="135"/>
                  </a:lnTo>
                  <a:lnTo>
                    <a:pt x="135" y="127"/>
                  </a:lnTo>
                  <a:lnTo>
                    <a:pt x="142" y="121"/>
                  </a:lnTo>
                  <a:lnTo>
                    <a:pt x="165" y="112"/>
                  </a:lnTo>
                  <a:lnTo>
                    <a:pt x="196" y="102"/>
                  </a:lnTo>
                  <a:lnTo>
                    <a:pt x="212" y="96"/>
                  </a:lnTo>
                  <a:lnTo>
                    <a:pt x="224" y="89"/>
                  </a:lnTo>
                  <a:lnTo>
                    <a:pt x="231" y="79"/>
                  </a:lnTo>
                  <a:lnTo>
                    <a:pt x="239" y="63"/>
                  </a:lnTo>
                  <a:lnTo>
                    <a:pt x="243" y="47"/>
                  </a:lnTo>
                  <a:lnTo>
                    <a:pt x="243" y="35"/>
                  </a:lnTo>
                  <a:lnTo>
                    <a:pt x="240" y="18"/>
                  </a:lnTo>
                  <a:lnTo>
                    <a:pt x="239" y="5"/>
                  </a:lnTo>
                  <a:lnTo>
                    <a:pt x="239" y="0"/>
                  </a:lnTo>
                </a:path>
              </a:pathLst>
            </a:custGeom>
            <a:noFill/>
            <a:ln w="0">
              <a:solidFill>
                <a:srgbClr val="8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11" name="Freeform 15">
              <a:extLst>
                <a:ext uri="{FF2B5EF4-FFF2-40B4-BE49-F238E27FC236}">
                  <a16:creationId xmlns:a16="http://schemas.microsoft.com/office/drawing/2014/main" id="{F07D1C87-27F5-3049-88EA-3BF1ABE259CF}"/>
                </a:ext>
              </a:extLst>
            </p:cNvPr>
            <p:cNvSpPr>
              <a:spLocks/>
            </p:cNvSpPr>
            <p:nvPr/>
          </p:nvSpPr>
          <p:spPr bwMode="auto">
            <a:xfrm>
              <a:off x="2812" y="3692"/>
              <a:ext cx="52" cy="48"/>
            </a:xfrm>
            <a:custGeom>
              <a:avLst/>
              <a:gdLst>
                <a:gd name="T0" fmla="*/ 21 w 154"/>
                <a:gd name="T1" fmla="*/ 0 h 146"/>
                <a:gd name="T2" fmla="*/ 26 w 154"/>
                <a:gd name="T3" fmla="*/ 9 h 146"/>
                <a:gd name="T4" fmla="*/ 26 w 154"/>
                <a:gd name="T5" fmla="*/ 15 h 146"/>
                <a:gd name="T6" fmla="*/ 26 w 154"/>
                <a:gd name="T7" fmla="*/ 22 h 146"/>
                <a:gd name="T8" fmla="*/ 23 w 154"/>
                <a:gd name="T9" fmla="*/ 36 h 146"/>
                <a:gd name="T10" fmla="*/ 18 w 154"/>
                <a:gd name="T11" fmla="*/ 51 h 146"/>
                <a:gd name="T12" fmla="*/ 17 w 154"/>
                <a:gd name="T13" fmla="*/ 67 h 146"/>
                <a:gd name="T14" fmla="*/ 10 w 154"/>
                <a:gd name="T15" fmla="*/ 79 h 146"/>
                <a:gd name="T16" fmla="*/ 5 w 154"/>
                <a:gd name="T17" fmla="*/ 92 h 146"/>
                <a:gd name="T18" fmla="*/ 0 w 154"/>
                <a:gd name="T19" fmla="*/ 102 h 146"/>
                <a:gd name="T20" fmla="*/ 0 w 154"/>
                <a:gd name="T21" fmla="*/ 108 h 146"/>
                <a:gd name="T22" fmla="*/ 3 w 154"/>
                <a:gd name="T23" fmla="*/ 112 h 146"/>
                <a:gd name="T24" fmla="*/ 8 w 154"/>
                <a:gd name="T25" fmla="*/ 115 h 146"/>
                <a:gd name="T26" fmla="*/ 18 w 154"/>
                <a:gd name="T27" fmla="*/ 117 h 146"/>
                <a:gd name="T28" fmla="*/ 34 w 154"/>
                <a:gd name="T29" fmla="*/ 116 h 146"/>
                <a:gd name="T30" fmla="*/ 47 w 154"/>
                <a:gd name="T31" fmla="*/ 116 h 146"/>
                <a:gd name="T32" fmla="*/ 53 w 154"/>
                <a:gd name="T33" fmla="*/ 119 h 146"/>
                <a:gd name="T34" fmla="*/ 63 w 154"/>
                <a:gd name="T35" fmla="*/ 125 h 146"/>
                <a:gd name="T36" fmla="*/ 72 w 154"/>
                <a:gd name="T37" fmla="*/ 130 h 146"/>
                <a:gd name="T38" fmla="*/ 83 w 154"/>
                <a:gd name="T39" fmla="*/ 138 h 146"/>
                <a:gd name="T40" fmla="*/ 96 w 154"/>
                <a:gd name="T41" fmla="*/ 146 h 146"/>
                <a:gd name="T42" fmla="*/ 97 w 154"/>
                <a:gd name="T43" fmla="*/ 136 h 146"/>
                <a:gd name="T44" fmla="*/ 100 w 154"/>
                <a:gd name="T45" fmla="*/ 128 h 146"/>
                <a:gd name="T46" fmla="*/ 107 w 154"/>
                <a:gd name="T47" fmla="*/ 123 h 146"/>
                <a:gd name="T48" fmla="*/ 116 w 154"/>
                <a:gd name="T49" fmla="*/ 117 h 146"/>
                <a:gd name="T50" fmla="*/ 126 w 154"/>
                <a:gd name="T51" fmla="*/ 113 h 146"/>
                <a:gd name="T52" fmla="*/ 137 w 154"/>
                <a:gd name="T53" fmla="*/ 107 h 146"/>
                <a:gd name="T54" fmla="*/ 144 w 154"/>
                <a:gd name="T55" fmla="*/ 100 h 146"/>
                <a:gd name="T56" fmla="*/ 151 w 154"/>
                <a:gd name="T57" fmla="*/ 91 h 146"/>
                <a:gd name="T58" fmla="*/ 154 w 154"/>
                <a:gd name="T59" fmla="*/ 81 h 14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54"/>
                <a:gd name="T91" fmla="*/ 0 h 146"/>
                <a:gd name="T92" fmla="*/ 154 w 154"/>
                <a:gd name="T93" fmla="*/ 146 h 14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54" h="146">
                  <a:moveTo>
                    <a:pt x="21" y="0"/>
                  </a:moveTo>
                  <a:lnTo>
                    <a:pt x="26" y="9"/>
                  </a:lnTo>
                  <a:lnTo>
                    <a:pt x="26" y="15"/>
                  </a:lnTo>
                  <a:lnTo>
                    <a:pt x="26" y="22"/>
                  </a:lnTo>
                  <a:lnTo>
                    <a:pt x="23" y="36"/>
                  </a:lnTo>
                  <a:lnTo>
                    <a:pt x="18" y="51"/>
                  </a:lnTo>
                  <a:lnTo>
                    <a:pt x="17" y="67"/>
                  </a:lnTo>
                  <a:lnTo>
                    <a:pt x="10" y="79"/>
                  </a:lnTo>
                  <a:lnTo>
                    <a:pt x="5" y="92"/>
                  </a:lnTo>
                  <a:lnTo>
                    <a:pt x="0" y="102"/>
                  </a:lnTo>
                  <a:lnTo>
                    <a:pt x="0" y="108"/>
                  </a:lnTo>
                  <a:lnTo>
                    <a:pt x="3" y="112"/>
                  </a:lnTo>
                  <a:lnTo>
                    <a:pt x="8" y="115"/>
                  </a:lnTo>
                  <a:lnTo>
                    <a:pt x="18" y="117"/>
                  </a:lnTo>
                  <a:lnTo>
                    <a:pt x="34" y="116"/>
                  </a:lnTo>
                  <a:lnTo>
                    <a:pt x="47" y="116"/>
                  </a:lnTo>
                  <a:lnTo>
                    <a:pt x="53" y="119"/>
                  </a:lnTo>
                  <a:lnTo>
                    <a:pt x="63" y="125"/>
                  </a:lnTo>
                  <a:lnTo>
                    <a:pt x="72" y="130"/>
                  </a:lnTo>
                  <a:lnTo>
                    <a:pt x="83" y="138"/>
                  </a:lnTo>
                  <a:lnTo>
                    <a:pt x="96" y="146"/>
                  </a:lnTo>
                  <a:lnTo>
                    <a:pt x="97" y="136"/>
                  </a:lnTo>
                  <a:lnTo>
                    <a:pt x="100" y="128"/>
                  </a:lnTo>
                  <a:lnTo>
                    <a:pt x="107" y="123"/>
                  </a:lnTo>
                  <a:lnTo>
                    <a:pt x="116" y="117"/>
                  </a:lnTo>
                  <a:lnTo>
                    <a:pt x="126" y="113"/>
                  </a:lnTo>
                  <a:lnTo>
                    <a:pt x="137" y="107"/>
                  </a:lnTo>
                  <a:lnTo>
                    <a:pt x="144" y="100"/>
                  </a:lnTo>
                  <a:lnTo>
                    <a:pt x="151" y="91"/>
                  </a:lnTo>
                  <a:lnTo>
                    <a:pt x="154" y="81"/>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12" name="Freeform 16">
              <a:extLst>
                <a:ext uri="{FF2B5EF4-FFF2-40B4-BE49-F238E27FC236}">
                  <a16:creationId xmlns:a16="http://schemas.microsoft.com/office/drawing/2014/main" id="{C8332480-A041-764B-8FBF-72A835F865A1}"/>
                </a:ext>
              </a:extLst>
            </p:cNvPr>
            <p:cNvSpPr>
              <a:spLocks/>
            </p:cNvSpPr>
            <p:nvPr/>
          </p:nvSpPr>
          <p:spPr bwMode="auto">
            <a:xfrm>
              <a:off x="2784" y="3693"/>
              <a:ext cx="34" cy="36"/>
            </a:xfrm>
            <a:custGeom>
              <a:avLst/>
              <a:gdLst>
                <a:gd name="T0" fmla="*/ 0 w 102"/>
                <a:gd name="T1" fmla="*/ 14 h 110"/>
                <a:gd name="T2" fmla="*/ 8 w 102"/>
                <a:gd name="T3" fmla="*/ 21 h 110"/>
                <a:gd name="T4" fmla="*/ 16 w 102"/>
                <a:gd name="T5" fmla="*/ 32 h 110"/>
                <a:gd name="T6" fmla="*/ 25 w 102"/>
                <a:gd name="T7" fmla="*/ 44 h 110"/>
                <a:gd name="T8" fmla="*/ 32 w 102"/>
                <a:gd name="T9" fmla="*/ 63 h 110"/>
                <a:gd name="T10" fmla="*/ 41 w 102"/>
                <a:gd name="T11" fmla="*/ 80 h 110"/>
                <a:gd name="T12" fmla="*/ 48 w 102"/>
                <a:gd name="T13" fmla="*/ 94 h 110"/>
                <a:gd name="T14" fmla="*/ 59 w 102"/>
                <a:gd name="T15" fmla="*/ 105 h 110"/>
                <a:gd name="T16" fmla="*/ 67 w 102"/>
                <a:gd name="T17" fmla="*/ 110 h 110"/>
                <a:gd name="T18" fmla="*/ 70 w 102"/>
                <a:gd name="T19" fmla="*/ 97 h 110"/>
                <a:gd name="T20" fmla="*/ 76 w 102"/>
                <a:gd name="T21" fmla="*/ 85 h 110"/>
                <a:gd name="T22" fmla="*/ 83 w 102"/>
                <a:gd name="T23" fmla="*/ 72 h 110"/>
                <a:gd name="T24" fmla="*/ 90 w 102"/>
                <a:gd name="T25" fmla="*/ 59 h 110"/>
                <a:gd name="T26" fmla="*/ 94 w 102"/>
                <a:gd name="T27" fmla="*/ 45 h 110"/>
                <a:gd name="T28" fmla="*/ 97 w 102"/>
                <a:gd name="T29" fmla="*/ 32 h 110"/>
                <a:gd name="T30" fmla="*/ 101 w 102"/>
                <a:gd name="T31" fmla="*/ 18 h 110"/>
                <a:gd name="T32" fmla="*/ 102 w 102"/>
                <a:gd name="T33" fmla="*/ 12 h 110"/>
                <a:gd name="T34" fmla="*/ 101 w 102"/>
                <a:gd name="T35" fmla="*/ 7 h 110"/>
                <a:gd name="T36" fmla="*/ 98 w 102"/>
                <a:gd name="T37" fmla="*/ 0 h 11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2"/>
                <a:gd name="T58" fmla="*/ 0 h 110"/>
                <a:gd name="T59" fmla="*/ 102 w 102"/>
                <a:gd name="T60" fmla="*/ 110 h 11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2" h="110">
                  <a:moveTo>
                    <a:pt x="0" y="14"/>
                  </a:moveTo>
                  <a:lnTo>
                    <a:pt x="8" y="21"/>
                  </a:lnTo>
                  <a:lnTo>
                    <a:pt x="16" y="32"/>
                  </a:lnTo>
                  <a:lnTo>
                    <a:pt x="25" y="44"/>
                  </a:lnTo>
                  <a:lnTo>
                    <a:pt x="32" y="63"/>
                  </a:lnTo>
                  <a:lnTo>
                    <a:pt x="41" y="80"/>
                  </a:lnTo>
                  <a:lnTo>
                    <a:pt x="48" y="94"/>
                  </a:lnTo>
                  <a:lnTo>
                    <a:pt x="59" y="105"/>
                  </a:lnTo>
                  <a:lnTo>
                    <a:pt x="67" y="110"/>
                  </a:lnTo>
                  <a:lnTo>
                    <a:pt x="70" y="97"/>
                  </a:lnTo>
                  <a:lnTo>
                    <a:pt x="76" y="85"/>
                  </a:lnTo>
                  <a:lnTo>
                    <a:pt x="83" y="72"/>
                  </a:lnTo>
                  <a:lnTo>
                    <a:pt x="90" y="59"/>
                  </a:lnTo>
                  <a:lnTo>
                    <a:pt x="94" y="45"/>
                  </a:lnTo>
                  <a:lnTo>
                    <a:pt x="97" y="32"/>
                  </a:lnTo>
                  <a:lnTo>
                    <a:pt x="101" y="18"/>
                  </a:lnTo>
                  <a:lnTo>
                    <a:pt x="102" y="12"/>
                  </a:lnTo>
                  <a:lnTo>
                    <a:pt x="101" y="7"/>
                  </a:lnTo>
                  <a:lnTo>
                    <a:pt x="98"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13" name="Freeform 17">
              <a:extLst>
                <a:ext uri="{FF2B5EF4-FFF2-40B4-BE49-F238E27FC236}">
                  <a16:creationId xmlns:a16="http://schemas.microsoft.com/office/drawing/2014/main" id="{D8A99183-7F8E-E44C-B6C8-C84A1BB698A0}"/>
                </a:ext>
              </a:extLst>
            </p:cNvPr>
            <p:cNvSpPr>
              <a:spLocks/>
            </p:cNvSpPr>
            <p:nvPr/>
          </p:nvSpPr>
          <p:spPr bwMode="auto">
            <a:xfrm>
              <a:off x="2779" y="3698"/>
              <a:ext cx="343" cy="244"/>
            </a:xfrm>
            <a:custGeom>
              <a:avLst/>
              <a:gdLst>
                <a:gd name="T0" fmla="*/ 15 w 1028"/>
                <a:gd name="T1" fmla="*/ 12 h 730"/>
                <a:gd name="T2" fmla="*/ 40 w 1028"/>
                <a:gd name="T3" fmla="*/ 61 h 730"/>
                <a:gd name="T4" fmla="*/ 67 w 1028"/>
                <a:gd name="T5" fmla="*/ 103 h 730"/>
                <a:gd name="T6" fmla="*/ 127 w 1028"/>
                <a:gd name="T7" fmla="*/ 130 h 730"/>
                <a:gd name="T8" fmla="*/ 168 w 1028"/>
                <a:gd name="T9" fmla="*/ 161 h 730"/>
                <a:gd name="T10" fmla="*/ 174 w 1028"/>
                <a:gd name="T11" fmla="*/ 199 h 730"/>
                <a:gd name="T12" fmla="*/ 198 w 1028"/>
                <a:gd name="T13" fmla="*/ 229 h 730"/>
                <a:gd name="T14" fmla="*/ 246 w 1028"/>
                <a:gd name="T15" fmla="*/ 257 h 730"/>
                <a:gd name="T16" fmla="*/ 264 w 1028"/>
                <a:gd name="T17" fmla="*/ 313 h 730"/>
                <a:gd name="T18" fmla="*/ 282 w 1028"/>
                <a:gd name="T19" fmla="*/ 363 h 730"/>
                <a:gd name="T20" fmla="*/ 305 w 1028"/>
                <a:gd name="T21" fmla="*/ 411 h 730"/>
                <a:gd name="T22" fmla="*/ 305 w 1028"/>
                <a:gd name="T23" fmla="*/ 469 h 730"/>
                <a:gd name="T24" fmla="*/ 250 w 1028"/>
                <a:gd name="T25" fmla="*/ 555 h 730"/>
                <a:gd name="T26" fmla="*/ 225 w 1028"/>
                <a:gd name="T27" fmla="*/ 618 h 730"/>
                <a:gd name="T28" fmla="*/ 199 w 1028"/>
                <a:gd name="T29" fmla="*/ 670 h 730"/>
                <a:gd name="T30" fmla="*/ 161 w 1028"/>
                <a:gd name="T31" fmla="*/ 696 h 730"/>
                <a:gd name="T32" fmla="*/ 215 w 1028"/>
                <a:gd name="T33" fmla="*/ 685 h 730"/>
                <a:gd name="T34" fmla="*/ 273 w 1028"/>
                <a:gd name="T35" fmla="*/ 685 h 730"/>
                <a:gd name="T36" fmla="*/ 311 w 1028"/>
                <a:gd name="T37" fmla="*/ 710 h 730"/>
                <a:gd name="T38" fmla="*/ 328 w 1028"/>
                <a:gd name="T39" fmla="*/ 726 h 730"/>
                <a:gd name="T40" fmla="*/ 319 w 1028"/>
                <a:gd name="T41" fmla="*/ 677 h 730"/>
                <a:gd name="T42" fmla="*/ 344 w 1028"/>
                <a:gd name="T43" fmla="*/ 713 h 730"/>
                <a:gd name="T44" fmla="*/ 387 w 1028"/>
                <a:gd name="T45" fmla="*/ 708 h 730"/>
                <a:gd name="T46" fmla="*/ 446 w 1028"/>
                <a:gd name="T47" fmla="*/ 704 h 730"/>
                <a:gd name="T48" fmla="*/ 416 w 1028"/>
                <a:gd name="T49" fmla="*/ 679 h 730"/>
                <a:gd name="T50" fmla="*/ 395 w 1028"/>
                <a:gd name="T51" fmla="*/ 631 h 730"/>
                <a:gd name="T52" fmla="*/ 398 w 1028"/>
                <a:gd name="T53" fmla="*/ 564 h 730"/>
                <a:gd name="T54" fmla="*/ 401 w 1028"/>
                <a:gd name="T55" fmla="*/ 505 h 730"/>
                <a:gd name="T56" fmla="*/ 397 w 1028"/>
                <a:gd name="T57" fmla="*/ 449 h 730"/>
                <a:gd name="T58" fmla="*/ 394 w 1028"/>
                <a:gd name="T59" fmla="*/ 413 h 730"/>
                <a:gd name="T60" fmla="*/ 397 w 1028"/>
                <a:gd name="T61" fmla="*/ 361 h 730"/>
                <a:gd name="T62" fmla="*/ 374 w 1028"/>
                <a:gd name="T63" fmla="*/ 318 h 730"/>
                <a:gd name="T64" fmla="*/ 377 w 1028"/>
                <a:gd name="T65" fmla="*/ 279 h 730"/>
                <a:gd name="T66" fmla="*/ 433 w 1028"/>
                <a:gd name="T67" fmla="*/ 239 h 730"/>
                <a:gd name="T68" fmla="*/ 503 w 1028"/>
                <a:gd name="T69" fmla="*/ 217 h 730"/>
                <a:gd name="T70" fmla="*/ 561 w 1028"/>
                <a:gd name="T71" fmla="*/ 194 h 730"/>
                <a:gd name="T72" fmla="*/ 606 w 1028"/>
                <a:gd name="T73" fmla="*/ 155 h 730"/>
                <a:gd name="T74" fmla="*/ 653 w 1028"/>
                <a:gd name="T75" fmla="*/ 122 h 730"/>
                <a:gd name="T76" fmla="*/ 711 w 1028"/>
                <a:gd name="T77" fmla="*/ 111 h 730"/>
                <a:gd name="T78" fmla="*/ 781 w 1028"/>
                <a:gd name="T79" fmla="*/ 117 h 730"/>
                <a:gd name="T80" fmla="*/ 849 w 1028"/>
                <a:gd name="T81" fmla="*/ 126 h 730"/>
                <a:gd name="T82" fmla="*/ 904 w 1028"/>
                <a:gd name="T83" fmla="*/ 106 h 730"/>
                <a:gd name="T84" fmla="*/ 948 w 1028"/>
                <a:gd name="T85" fmla="*/ 74 h 730"/>
                <a:gd name="T86" fmla="*/ 1001 w 1028"/>
                <a:gd name="T87" fmla="*/ 58 h 730"/>
                <a:gd name="T88" fmla="*/ 1023 w 1028"/>
                <a:gd name="T89" fmla="*/ 42 h 73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028"/>
                <a:gd name="T136" fmla="*/ 0 h 730"/>
                <a:gd name="T137" fmla="*/ 1028 w 1028"/>
                <a:gd name="T138" fmla="*/ 730 h 73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028" h="730">
                  <a:moveTo>
                    <a:pt x="0" y="0"/>
                  </a:moveTo>
                  <a:lnTo>
                    <a:pt x="6" y="4"/>
                  </a:lnTo>
                  <a:lnTo>
                    <a:pt x="15" y="12"/>
                  </a:lnTo>
                  <a:lnTo>
                    <a:pt x="24" y="23"/>
                  </a:lnTo>
                  <a:lnTo>
                    <a:pt x="32" y="38"/>
                  </a:lnTo>
                  <a:lnTo>
                    <a:pt x="40" y="61"/>
                  </a:lnTo>
                  <a:lnTo>
                    <a:pt x="48" y="80"/>
                  </a:lnTo>
                  <a:lnTo>
                    <a:pt x="57" y="93"/>
                  </a:lnTo>
                  <a:lnTo>
                    <a:pt x="67" y="103"/>
                  </a:lnTo>
                  <a:lnTo>
                    <a:pt x="85" y="114"/>
                  </a:lnTo>
                  <a:lnTo>
                    <a:pt x="106" y="122"/>
                  </a:lnTo>
                  <a:lnTo>
                    <a:pt x="127" y="130"/>
                  </a:lnTo>
                  <a:lnTo>
                    <a:pt x="143" y="138"/>
                  </a:lnTo>
                  <a:lnTo>
                    <a:pt x="159" y="150"/>
                  </a:lnTo>
                  <a:lnTo>
                    <a:pt x="168" y="161"/>
                  </a:lnTo>
                  <a:lnTo>
                    <a:pt x="171" y="170"/>
                  </a:lnTo>
                  <a:lnTo>
                    <a:pt x="173" y="181"/>
                  </a:lnTo>
                  <a:lnTo>
                    <a:pt x="174" y="199"/>
                  </a:lnTo>
                  <a:lnTo>
                    <a:pt x="178" y="211"/>
                  </a:lnTo>
                  <a:lnTo>
                    <a:pt x="184" y="220"/>
                  </a:lnTo>
                  <a:lnTo>
                    <a:pt x="198" y="229"/>
                  </a:lnTo>
                  <a:lnTo>
                    <a:pt x="215" y="238"/>
                  </a:lnTo>
                  <a:lnTo>
                    <a:pt x="232" y="246"/>
                  </a:lnTo>
                  <a:lnTo>
                    <a:pt x="246" y="257"/>
                  </a:lnTo>
                  <a:lnTo>
                    <a:pt x="253" y="271"/>
                  </a:lnTo>
                  <a:lnTo>
                    <a:pt x="258" y="295"/>
                  </a:lnTo>
                  <a:lnTo>
                    <a:pt x="264" y="313"/>
                  </a:lnTo>
                  <a:lnTo>
                    <a:pt x="270" y="339"/>
                  </a:lnTo>
                  <a:lnTo>
                    <a:pt x="274" y="351"/>
                  </a:lnTo>
                  <a:lnTo>
                    <a:pt x="282" y="363"/>
                  </a:lnTo>
                  <a:lnTo>
                    <a:pt x="292" y="377"/>
                  </a:lnTo>
                  <a:lnTo>
                    <a:pt x="300" y="395"/>
                  </a:lnTo>
                  <a:lnTo>
                    <a:pt x="305" y="411"/>
                  </a:lnTo>
                  <a:lnTo>
                    <a:pt x="307" y="430"/>
                  </a:lnTo>
                  <a:lnTo>
                    <a:pt x="307" y="448"/>
                  </a:lnTo>
                  <a:lnTo>
                    <a:pt x="305" y="469"/>
                  </a:lnTo>
                  <a:lnTo>
                    <a:pt x="286" y="501"/>
                  </a:lnTo>
                  <a:lnTo>
                    <a:pt x="265" y="531"/>
                  </a:lnTo>
                  <a:lnTo>
                    <a:pt x="250" y="555"/>
                  </a:lnTo>
                  <a:lnTo>
                    <a:pt x="239" y="575"/>
                  </a:lnTo>
                  <a:lnTo>
                    <a:pt x="231" y="597"/>
                  </a:lnTo>
                  <a:lnTo>
                    <a:pt x="225" y="618"/>
                  </a:lnTo>
                  <a:lnTo>
                    <a:pt x="217" y="640"/>
                  </a:lnTo>
                  <a:lnTo>
                    <a:pt x="204" y="663"/>
                  </a:lnTo>
                  <a:lnTo>
                    <a:pt x="199" y="670"/>
                  </a:lnTo>
                  <a:lnTo>
                    <a:pt x="192" y="678"/>
                  </a:lnTo>
                  <a:lnTo>
                    <a:pt x="178" y="689"/>
                  </a:lnTo>
                  <a:lnTo>
                    <a:pt x="161" y="696"/>
                  </a:lnTo>
                  <a:lnTo>
                    <a:pt x="178" y="693"/>
                  </a:lnTo>
                  <a:lnTo>
                    <a:pt x="198" y="689"/>
                  </a:lnTo>
                  <a:lnTo>
                    <a:pt x="215" y="685"/>
                  </a:lnTo>
                  <a:lnTo>
                    <a:pt x="235" y="684"/>
                  </a:lnTo>
                  <a:lnTo>
                    <a:pt x="253" y="683"/>
                  </a:lnTo>
                  <a:lnTo>
                    <a:pt x="273" y="685"/>
                  </a:lnTo>
                  <a:lnTo>
                    <a:pt x="287" y="690"/>
                  </a:lnTo>
                  <a:lnTo>
                    <a:pt x="301" y="699"/>
                  </a:lnTo>
                  <a:lnTo>
                    <a:pt x="311" y="710"/>
                  </a:lnTo>
                  <a:lnTo>
                    <a:pt x="320" y="722"/>
                  </a:lnTo>
                  <a:lnTo>
                    <a:pt x="328" y="730"/>
                  </a:lnTo>
                  <a:lnTo>
                    <a:pt x="328" y="726"/>
                  </a:lnTo>
                  <a:lnTo>
                    <a:pt x="325" y="711"/>
                  </a:lnTo>
                  <a:lnTo>
                    <a:pt x="323" y="696"/>
                  </a:lnTo>
                  <a:lnTo>
                    <a:pt x="319" y="677"/>
                  </a:lnTo>
                  <a:lnTo>
                    <a:pt x="328" y="696"/>
                  </a:lnTo>
                  <a:lnTo>
                    <a:pt x="335" y="707"/>
                  </a:lnTo>
                  <a:lnTo>
                    <a:pt x="344" y="713"/>
                  </a:lnTo>
                  <a:lnTo>
                    <a:pt x="355" y="715"/>
                  </a:lnTo>
                  <a:lnTo>
                    <a:pt x="369" y="713"/>
                  </a:lnTo>
                  <a:lnTo>
                    <a:pt x="387" y="708"/>
                  </a:lnTo>
                  <a:lnTo>
                    <a:pt x="407" y="704"/>
                  </a:lnTo>
                  <a:lnTo>
                    <a:pt x="428" y="703"/>
                  </a:lnTo>
                  <a:lnTo>
                    <a:pt x="446" y="704"/>
                  </a:lnTo>
                  <a:lnTo>
                    <a:pt x="465" y="710"/>
                  </a:lnTo>
                  <a:lnTo>
                    <a:pt x="430" y="690"/>
                  </a:lnTo>
                  <a:lnTo>
                    <a:pt x="416" y="679"/>
                  </a:lnTo>
                  <a:lnTo>
                    <a:pt x="405" y="667"/>
                  </a:lnTo>
                  <a:lnTo>
                    <a:pt x="399" y="651"/>
                  </a:lnTo>
                  <a:lnTo>
                    <a:pt x="395" y="631"/>
                  </a:lnTo>
                  <a:lnTo>
                    <a:pt x="394" y="601"/>
                  </a:lnTo>
                  <a:lnTo>
                    <a:pt x="396" y="580"/>
                  </a:lnTo>
                  <a:lnTo>
                    <a:pt x="398" y="564"/>
                  </a:lnTo>
                  <a:lnTo>
                    <a:pt x="402" y="543"/>
                  </a:lnTo>
                  <a:lnTo>
                    <a:pt x="402" y="526"/>
                  </a:lnTo>
                  <a:lnTo>
                    <a:pt x="401" y="505"/>
                  </a:lnTo>
                  <a:lnTo>
                    <a:pt x="402" y="481"/>
                  </a:lnTo>
                  <a:lnTo>
                    <a:pt x="400" y="465"/>
                  </a:lnTo>
                  <a:lnTo>
                    <a:pt x="397" y="449"/>
                  </a:lnTo>
                  <a:lnTo>
                    <a:pt x="391" y="435"/>
                  </a:lnTo>
                  <a:lnTo>
                    <a:pt x="390" y="425"/>
                  </a:lnTo>
                  <a:lnTo>
                    <a:pt x="394" y="413"/>
                  </a:lnTo>
                  <a:lnTo>
                    <a:pt x="398" y="397"/>
                  </a:lnTo>
                  <a:lnTo>
                    <a:pt x="399" y="380"/>
                  </a:lnTo>
                  <a:lnTo>
                    <a:pt x="397" y="361"/>
                  </a:lnTo>
                  <a:lnTo>
                    <a:pt x="390" y="344"/>
                  </a:lnTo>
                  <a:lnTo>
                    <a:pt x="382" y="330"/>
                  </a:lnTo>
                  <a:lnTo>
                    <a:pt x="374" y="318"/>
                  </a:lnTo>
                  <a:lnTo>
                    <a:pt x="369" y="306"/>
                  </a:lnTo>
                  <a:lnTo>
                    <a:pt x="372" y="293"/>
                  </a:lnTo>
                  <a:lnTo>
                    <a:pt x="377" y="279"/>
                  </a:lnTo>
                  <a:lnTo>
                    <a:pt x="387" y="268"/>
                  </a:lnTo>
                  <a:lnTo>
                    <a:pt x="409" y="253"/>
                  </a:lnTo>
                  <a:lnTo>
                    <a:pt x="433" y="239"/>
                  </a:lnTo>
                  <a:lnTo>
                    <a:pt x="461" y="227"/>
                  </a:lnTo>
                  <a:lnTo>
                    <a:pt x="484" y="220"/>
                  </a:lnTo>
                  <a:lnTo>
                    <a:pt x="503" y="217"/>
                  </a:lnTo>
                  <a:lnTo>
                    <a:pt x="523" y="211"/>
                  </a:lnTo>
                  <a:lnTo>
                    <a:pt x="543" y="204"/>
                  </a:lnTo>
                  <a:lnTo>
                    <a:pt x="561" y="194"/>
                  </a:lnTo>
                  <a:lnTo>
                    <a:pt x="574" y="185"/>
                  </a:lnTo>
                  <a:lnTo>
                    <a:pt x="590" y="172"/>
                  </a:lnTo>
                  <a:lnTo>
                    <a:pt x="606" y="155"/>
                  </a:lnTo>
                  <a:lnTo>
                    <a:pt x="624" y="138"/>
                  </a:lnTo>
                  <a:lnTo>
                    <a:pt x="637" y="129"/>
                  </a:lnTo>
                  <a:lnTo>
                    <a:pt x="653" y="122"/>
                  </a:lnTo>
                  <a:lnTo>
                    <a:pt x="670" y="116"/>
                  </a:lnTo>
                  <a:lnTo>
                    <a:pt x="690" y="114"/>
                  </a:lnTo>
                  <a:lnTo>
                    <a:pt x="711" y="111"/>
                  </a:lnTo>
                  <a:lnTo>
                    <a:pt x="732" y="113"/>
                  </a:lnTo>
                  <a:lnTo>
                    <a:pt x="757" y="115"/>
                  </a:lnTo>
                  <a:lnTo>
                    <a:pt x="781" y="117"/>
                  </a:lnTo>
                  <a:lnTo>
                    <a:pt x="804" y="122"/>
                  </a:lnTo>
                  <a:lnTo>
                    <a:pt x="828" y="126"/>
                  </a:lnTo>
                  <a:lnTo>
                    <a:pt x="849" y="126"/>
                  </a:lnTo>
                  <a:lnTo>
                    <a:pt x="870" y="122"/>
                  </a:lnTo>
                  <a:lnTo>
                    <a:pt x="887" y="116"/>
                  </a:lnTo>
                  <a:lnTo>
                    <a:pt x="904" y="106"/>
                  </a:lnTo>
                  <a:lnTo>
                    <a:pt x="919" y="94"/>
                  </a:lnTo>
                  <a:lnTo>
                    <a:pt x="933" y="83"/>
                  </a:lnTo>
                  <a:lnTo>
                    <a:pt x="948" y="74"/>
                  </a:lnTo>
                  <a:lnTo>
                    <a:pt x="963" y="69"/>
                  </a:lnTo>
                  <a:lnTo>
                    <a:pt x="982" y="63"/>
                  </a:lnTo>
                  <a:lnTo>
                    <a:pt x="1001" y="58"/>
                  </a:lnTo>
                  <a:lnTo>
                    <a:pt x="1012" y="53"/>
                  </a:lnTo>
                  <a:lnTo>
                    <a:pt x="1019" y="48"/>
                  </a:lnTo>
                  <a:lnTo>
                    <a:pt x="1023" y="42"/>
                  </a:lnTo>
                  <a:lnTo>
                    <a:pt x="1028" y="29"/>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14" name="Freeform 18">
              <a:extLst>
                <a:ext uri="{FF2B5EF4-FFF2-40B4-BE49-F238E27FC236}">
                  <a16:creationId xmlns:a16="http://schemas.microsoft.com/office/drawing/2014/main" id="{96C3AD96-5C2B-8D40-B9CA-BED88A1BF306}"/>
                </a:ext>
              </a:extLst>
            </p:cNvPr>
            <p:cNvSpPr>
              <a:spLocks/>
            </p:cNvSpPr>
            <p:nvPr/>
          </p:nvSpPr>
          <p:spPr bwMode="auto">
            <a:xfrm>
              <a:off x="2848" y="3698"/>
              <a:ext cx="30" cy="58"/>
            </a:xfrm>
            <a:custGeom>
              <a:avLst/>
              <a:gdLst>
                <a:gd name="T0" fmla="*/ 55 w 89"/>
                <a:gd name="T1" fmla="*/ 66 h 174"/>
                <a:gd name="T2" fmla="*/ 52 w 89"/>
                <a:gd name="T3" fmla="*/ 75 h 174"/>
                <a:gd name="T4" fmla="*/ 46 w 89"/>
                <a:gd name="T5" fmla="*/ 86 h 174"/>
                <a:gd name="T6" fmla="*/ 37 w 89"/>
                <a:gd name="T7" fmla="*/ 94 h 174"/>
                <a:gd name="T8" fmla="*/ 26 w 89"/>
                <a:gd name="T9" fmla="*/ 101 h 174"/>
                <a:gd name="T10" fmla="*/ 14 w 89"/>
                <a:gd name="T11" fmla="*/ 108 h 174"/>
                <a:gd name="T12" fmla="*/ 7 w 89"/>
                <a:gd name="T13" fmla="*/ 115 h 174"/>
                <a:gd name="T14" fmla="*/ 0 w 89"/>
                <a:gd name="T15" fmla="*/ 124 h 174"/>
                <a:gd name="T16" fmla="*/ 0 w 89"/>
                <a:gd name="T17" fmla="*/ 127 h 174"/>
                <a:gd name="T18" fmla="*/ 2 w 89"/>
                <a:gd name="T19" fmla="*/ 129 h 174"/>
                <a:gd name="T20" fmla="*/ 14 w 89"/>
                <a:gd name="T21" fmla="*/ 132 h 174"/>
                <a:gd name="T22" fmla="*/ 29 w 89"/>
                <a:gd name="T23" fmla="*/ 135 h 174"/>
                <a:gd name="T24" fmla="*/ 42 w 89"/>
                <a:gd name="T25" fmla="*/ 139 h 174"/>
                <a:gd name="T26" fmla="*/ 49 w 89"/>
                <a:gd name="T27" fmla="*/ 143 h 174"/>
                <a:gd name="T28" fmla="*/ 56 w 89"/>
                <a:gd name="T29" fmla="*/ 150 h 174"/>
                <a:gd name="T30" fmla="*/ 60 w 89"/>
                <a:gd name="T31" fmla="*/ 158 h 174"/>
                <a:gd name="T32" fmla="*/ 64 w 89"/>
                <a:gd name="T33" fmla="*/ 174 h 174"/>
                <a:gd name="T34" fmla="*/ 65 w 89"/>
                <a:gd name="T35" fmla="*/ 150 h 174"/>
                <a:gd name="T36" fmla="*/ 66 w 89"/>
                <a:gd name="T37" fmla="*/ 144 h 174"/>
                <a:gd name="T38" fmla="*/ 68 w 89"/>
                <a:gd name="T39" fmla="*/ 138 h 174"/>
                <a:gd name="T40" fmla="*/ 76 w 89"/>
                <a:gd name="T41" fmla="*/ 128 h 174"/>
                <a:gd name="T42" fmla="*/ 83 w 89"/>
                <a:gd name="T43" fmla="*/ 112 h 174"/>
                <a:gd name="T44" fmla="*/ 89 w 89"/>
                <a:gd name="T45" fmla="*/ 93 h 174"/>
                <a:gd name="T46" fmla="*/ 89 w 89"/>
                <a:gd name="T47" fmla="*/ 74 h 174"/>
                <a:gd name="T48" fmla="*/ 88 w 89"/>
                <a:gd name="T49" fmla="*/ 57 h 174"/>
                <a:gd name="T50" fmla="*/ 88 w 89"/>
                <a:gd name="T51" fmla="*/ 53 h 174"/>
                <a:gd name="T52" fmla="*/ 86 w 89"/>
                <a:gd name="T53" fmla="*/ 31 h 174"/>
                <a:gd name="T54" fmla="*/ 82 w 89"/>
                <a:gd name="T55" fmla="*/ 20 h 174"/>
                <a:gd name="T56" fmla="*/ 78 w 89"/>
                <a:gd name="T57" fmla="*/ 9 h 174"/>
                <a:gd name="T58" fmla="*/ 71 w 89"/>
                <a:gd name="T59" fmla="*/ 0 h 17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9"/>
                <a:gd name="T91" fmla="*/ 0 h 174"/>
                <a:gd name="T92" fmla="*/ 89 w 89"/>
                <a:gd name="T93" fmla="*/ 174 h 17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9" h="174">
                  <a:moveTo>
                    <a:pt x="55" y="66"/>
                  </a:moveTo>
                  <a:lnTo>
                    <a:pt x="52" y="75"/>
                  </a:lnTo>
                  <a:lnTo>
                    <a:pt x="46" y="86"/>
                  </a:lnTo>
                  <a:lnTo>
                    <a:pt x="37" y="94"/>
                  </a:lnTo>
                  <a:lnTo>
                    <a:pt x="26" y="101"/>
                  </a:lnTo>
                  <a:lnTo>
                    <a:pt x="14" y="108"/>
                  </a:lnTo>
                  <a:lnTo>
                    <a:pt x="7" y="115"/>
                  </a:lnTo>
                  <a:lnTo>
                    <a:pt x="0" y="124"/>
                  </a:lnTo>
                  <a:lnTo>
                    <a:pt x="0" y="127"/>
                  </a:lnTo>
                  <a:lnTo>
                    <a:pt x="2" y="129"/>
                  </a:lnTo>
                  <a:lnTo>
                    <a:pt x="14" y="132"/>
                  </a:lnTo>
                  <a:lnTo>
                    <a:pt x="29" y="135"/>
                  </a:lnTo>
                  <a:lnTo>
                    <a:pt x="42" y="139"/>
                  </a:lnTo>
                  <a:lnTo>
                    <a:pt x="49" y="143"/>
                  </a:lnTo>
                  <a:lnTo>
                    <a:pt x="56" y="150"/>
                  </a:lnTo>
                  <a:lnTo>
                    <a:pt x="60" y="158"/>
                  </a:lnTo>
                  <a:lnTo>
                    <a:pt x="64" y="174"/>
                  </a:lnTo>
                  <a:lnTo>
                    <a:pt x="65" y="150"/>
                  </a:lnTo>
                  <a:lnTo>
                    <a:pt x="66" y="144"/>
                  </a:lnTo>
                  <a:lnTo>
                    <a:pt x="68" y="138"/>
                  </a:lnTo>
                  <a:lnTo>
                    <a:pt x="76" y="128"/>
                  </a:lnTo>
                  <a:lnTo>
                    <a:pt x="83" y="112"/>
                  </a:lnTo>
                  <a:lnTo>
                    <a:pt x="89" y="93"/>
                  </a:lnTo>
                  <a:lnTo>
                    <a:pt x="89" y="74"/>
                  </a:lnTo>
                  <a:lnTo>
                    <a:pt x="88" y="57"/>
                  </a:lnTo>
                  <a:lnTo>
                    <a:pt x="88" y="53"/>
                  </a:lnTo>
                  <a:lnTo>
                    <a:pt x="86" y="31"/>
                  </a:lnTo>
                  <a:lnTo>
                    <a:pt x="82" y="20"/>
                  </a:lnTo>
                  <a:lnTo>
                    <a:pt x="78" y="9"/>
                  </a:lnTo>
                  <a:lnTo>
                    <a:pt x="71"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15" name="Freeform 19">
              <a:extLst>
                <a:ext uri="{FF2B5EF4-FFF2-40B4-BE49-F238E27FC236}">
                  <a16:creationId xmlns:a16="http://schemas.microsoft.com/office/drawing/2014/main" id="{FB59B8A9-C917-8546-8F3B-11C9FB1DF9E9}"/>
                </a:ext>
              </a:extLst>
            </p:cNvPr>
            <p:cNvSpPr>
              <a:spLocks/>
            </p:cNvSpPr>
            <p:nvPr/>
          </p:nvSpPr>
          <p:spPr bwMode="auto">
            <a:xfrm>
              <a:off x="2876" y="3699"/>
              <a:ext cx="14" cy="40"/>
            </a:xfrm>
            <a:custGeom>
              <a:avLst/>
              <a:gdLst>
                <a:gd name="T0" fmla="*/ 0 w 42"/>
                <a:gd name="T1" fmla="*/ 0 h 119"/>
                <a:gd name="T2" fmla="*/ 5 w 42"/>
                <a:gd name="T3" fmla="*/ 7 h 119"/>
                <a:gd name="T4" fmla="*/ 10 w 42"/>
                <a:gd name="T5" fmla="*/ 17 h 119"/>
                <a:gd name="T6" fmla="*/ 12 w 42"/>
                <a:gd name="T7" fmla="*/ 32 h 119"/>
                <a:gd name="T8" fmla="*/ 15 w 42"/>
                <a:gd name="T9" fmla="*/ 49 h 119"/>
                <a:gd name="T10" fmla="*/ 15 w 42"/>
                <a:gd name="T11" fmla="*/ 49 h 119"/>
                <a:gd name="T12" fmla="*/ 15 w 42"/>
                <a:gd name="T13" fmla="*/ 59 h 119"/>
                <a:gd name="T14" fmla="*/ 17 w 42"/>
                <a:gd name="T15" fmla="*/ 74 h 119"/>
                <a:gd name="T16" fmla="*/ 17 w 42"/>
                <a:gd name="T17" fmla="*/ 90 h 119"/>
                <a:gd name="T18" fmla="*/ 18 w 42"/>
                <a:gd name="T19" fmla="*/ 102 h 119"/>
                <a:gd name="T20" fmla="*/ 21 w 42"/>
                <a:gd name="T21" fmla="*/ 119 h 119"/>
                <a:gd name="T22" fmla="*/ 30 w 42"/>
                <a:gd name="T23" fmla="*/ 107 h 119"/>
                <a:gd name="T24" fmla="*/ 36 w 42"/>
                <a:gd name="T25" fmla="*/ 95 h 119"/>
                <a:gd name="T26" fmla="*/ 40 w 42"/>
                <a:gd name="T27" fmla="*/ 84 h 119"/>
                <a:gd name="T28" fmla="*/ 42 w 42"/>
                <a:gd name="T29" fmla="*/ 70 h 119"/>
                <a:gd name="T30" fmla="*/ 42 w 42"/>
                <a:gd name="T31" fmla="*/ 56 h 119"/>
                <a:gd name="T32" fmla="*/ 42 w 42"/>
                <a:gd name="T33" fmla="*/ 44 h 119"/>
                <a:gd name="T34" fmla="*/ 41 w 42"/>
                <a:gd name="T35" fmla="*/ 38 h 119"/>
                <a:gd name="T36" fmla="*/ 39 w 42"/>
                <a:gd name="T37" fmla="*/ 21 h 119"/>
                <a:gd name="T38" fmla="*/ 37 w 42"/>
                <a:gd name="T39" fmla="*/ 12 h 11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2"/>
                <a:gd name="T61" fmla="*/ 0 h 119"/>
                <a:gd name="T62" fmla="*/ 42 w 42"/>
                <a:gd name="T63" fmla="*/ 119 h 11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2" h="119">
                  <a:moveTo>
                    <a:pt x="0" y="0"/>
                  </a:moveTo>
                  <a:lnTo>
                    <a:pt x="5" y="7"/>
                  </a:lnTo>
                  <a:lnTo>
                    <a:pt x="10" y="17"/>
                  </a:lnTo>
                  <a:lnTo>
                    <a:pt x="12" y="32"/>
                  </a:lnTo>
                  <a:lnTo>
                    <a:pt x="15" y="49"/>
                  </a:lnTo>
                  <a:lnTo>
                    <a:pt x="15" y="59"/>
                  </a:lnTo>
                  <a:lnTo>
                    <a:pt x="17" y="74"/>
                  </a:lnTo>
                  <a:lnTo>
                    <a:pt x="17" y="90"/>
                  </a:lnTo>
                  <a:lnTo>
                    <a:pt x="18" y="102"/>
                  </a:lnTo>
                  <a:lnTo>
                    <a:pt x="21" y="119"/>
                  </a:lnTo>
                  <a:lnTo>
                    <a:pt x="30" y="107"/>
                  </a:lnTo>
                  <a:lnTo>
                    <a:pt x="36" y="95"/>
                  </a:lnTo>
                  <a:lnTo>
                    <a:pt x="40" y="84"/>
                  </a:lnTo>
                  <a:lnTo>
                    <a:pt x="42" y="70"/>
                  </a:lnTo>
                  <a:lnTo>
                    <a:pt x="42" y="56"/>
                  </a:lnTo>
                  <a:lnTo>
                    <a:pt x="42" y="44"/>
                  </a:lnTo>
                  <a:lnTo>
                    <a:pt x="41" y="38"/>
                  </a:lnTo>
                  <a:lnTo>
                    <a:pt x="39" y="21"/>
                  </a:lnTo>
                  <a:lnTo>
                    <a:pt x="37" y="1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16" name="Freeform 20">
              <a:extLst>
                <a:ext uri="{FF2B5EF4-FFF2-40B4-BE49-F238E27FC236}">
                  <a16:creationId xmlns:a16="http://schemas.microsoft.com/office/drawing/2014/main" id="{EC5EB8E3-DEE9-4148-8298-872055234F2D}"/>
                </a:ext>
              </a:extLst>
            </p:cNvPr>
            <p:cNvSpPr>
              <a:spLocks/>
            </p:cNvSpPr>
            <p:nvPr/>
          </p:nvSpPr>
          <p:spPr bwMode="auto">
            <a:xfrm>
              <a:off x="2887" y="3703"/>
              <a:ext cx="40" cy="79"/>
            </a:xfrm>
            <a:custGeom>
              <a:avLst/>
              <a:gdLst>
                <a:gd name="T0" fmla="*/ 21 w 122"/>
                <a:gd name="T1" fmla="*/ 0 h 237"/>
                <a:gd name="T2" fmla="*/ 22 w 122"/>
                <a:gd name="T3" fmla="*/ 14 h 237"/>
                <a:gd name="T4" fmla="*/ 23 w 122"/>
                <a:gd name="T5" fmla="*/ 28 h 237"/>
                <a:gd name="T6" fmla="*/ 23 w 122"/>
                <a:gd name="T7" fmla="*/ 28 h 237"/>
                <a:gd name="T8" fmla="*/ 27 w 122"/>
                <a:gd name="T9" fmla="*/ 46 h 237"/>
                <a:gd name="T10" fmla="*/ 27 w 122"/>
                <a:gd name="T11" fmla="*/ 62 h 237"/>
                <a:gd name="T12" fmla="*/ 23 w 122"/>
                <a:gd name="T13" fmla="*/ 83 h 237"/>
                <a:gd name="T14" fmla="*/ 18 w 122"/>
                <a:gd name="T15" fmla="*/ 101 h 237"/>
                <a:gd name="T16" fmla="*/ 10 w 122"/>
                <a:gd name="T17" fmla="*/ 120 h 237"/>
                <a:gd name="T18" fmla="*/ 4 w 122"/>
                <a:gd name="T19" fmla="*/ 136 h 237"/>
                <a:gd name="T20" fmla="*/ 1 w 122"/>
                <a:gd name="T21" fmla="*/ 153 h 237"/>
                <a:gd name="T22" fmla="*/ 0 w 122"/>
                <a:gd name="T23" fmla="*/ 173 h 237"/>
                <a:gd name="T24" fmla="*/ 3 w 122"/>
                <a:gd name="T25" fmla="*/ 195 h 237"/>
                <a:gd name="T26" fmla="*/ 7 w 122"/>
                <a:gd name="T27" fmla="*/ 212 h 237"/>
                <a:gd name="T28" fmla="*/ 13 w 122"/>
                <a:gd name="T29" fmla="*/ 228 h 237"/>
                <a:gd name="T30" fmla="*/ 22 w 122"/>
                <a:gd name="T31" fmla="*/ 237 h 237"/>
                <a:gd name="T32" fmla="*/ 28 w 122"/>
                <a:gd name="T33" fmla="*/ 225 h 237"/>
                <a:gd name="T34" fmla="*/ 33 w 122"/>
                <a:gd name="T35" fmla="*/ 213 h 237"/>
                <a:gd name="T36" fmla="*/ 39 w 122"/>
                <a:gd name="T37" fmla="*/ 202 h 237"/>
                <a:gd name="T38" fmla="*/ 47 w 122"/>
                <a:gd name="T39" fmla="*/ 190 h 237"/>
                <a:gd name="T40" fmla="*/ 60 w 122"/>
                <a:gd name="T41" fmla="*/ 174 h 237"/>
                <a:gd name="T42" fmla="*/ 72 w 122"/>
                <a:gd name="T43" fmla="*/ 161 h 237"/>
                <a:gd name="T44" fmla="*/ 86 w 122"/>
                <a:gd name="T45" fmla="*/ 146 h 237"/>
                <a:gd name="T46" fmla="*/ 98 w 122"/>
                <a:gd name="T47" fmla="*/ 133 h 237"/>
                <a:gd name="T48" fmla="*/ 110 w 122"/>
                <a:gd name="T49" fmla="*/ 123 h 237"/>
                <a:gd name="T50" fmla="*/ 118 w 122"/>
                <a:gd name="T51" fmla="*/ 112 h 237"/>
                <a:gd name="T52" fmla="*/ 122 w 122"/>
                <a:gd name="T53" fmla="*/ 100 h 237"/>
                <a:gd name="T54" fmla="*/ 122 w 122"/>
                <a:gd name="T55" fmla="*/ 86 h 237"/>
                <a:gd name="T56" fmla="*/ 119 w 122"/>
                <a:gd name="T57" fmla="*/ 74 h 237"/>
                <a:gd name="T58" fmla="*/ 112 w 122"/>
                <a:gd name="T59" fmla="*/ 61 h 237"/>
                <a:gd name="T60" fmla="*/ 105 w 122"/>
                <a:gd name="T61" fmla="*/ 44 h 237"/>
                <a:gd name="T62" fmla="*/ 98 w 122"/>
                <a:gd name="T63" fmla="*/ 27 h 237"/>
                <a:gd name="T64" fmla="*/ 91 w 122"/>
                <a:gd name="T65" fmla="*/ 12 h 237"/>
                <a:gd name="T66" fmla="*/ 86 w 122"/>
                <a:gd name="T67" fmla="*/ 3 h 23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2"/>
                <a:gd name="T103" fmla="*/ 0 h 237"/>
                <a:gd name="T104" fmla="*/ 122 w 122"/>
                <a:gd name="T105" fmla="*/ 237 h 23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2" h="237">
                  <a:moveTo>
                    <a:pt x="21" y="0"/>
                  </a:moveTo>
                  <a:lnTo>
                    <a:pt x="22" y="14"/>
                  </a:lnTo>
                  <a:lnTo>
                    <a:pt x="23" y="28"/>
                  </a:lnTo>
                  <a:lnTo>
                    <a:pt x="27" y="46"/>
                  </a:lnTo>
                  <a:lnTo>
                    <a:pt x="27" y="62"/>
                  </a:lnTo>
                  <a:lnTo>
                    <a:pt x="23" y="83"/>
                  </a:lnTo>
                  <a:lnTo>
                    <a:pt x="18" y="101"/>
                  </a:lnTo>
                  <a:lnTo>
                    <a:pt x="10" y="120"/>
                  </a:lnTo>
                  <a:lnTo>
                    <a:pt x="4" y="136"/>
                  </a:lnTo>
                  <a:lnTo>
                    <a:pt x="1" y="153"/>
                  </a:lnTo>
                  <a:lnTo>
                    <a:pt x="0" y="173"/>
                  </a:lnTo>
                  <a:lnTo>
                    <a:pt x="3" y="195"/>
                  </a:lnTo>
                  <a:lnTo>
                    <a:pt x="7" y="212"/>
                  </a:lnTo>
                  <a:lnTo>
                    <a:pt x="13" y="228"/>
                  </a:lnTo>
                  <a:lnTo>
                    <a:pt x="22" y="237"/>
                  </a:lnTo>
                  <a:lnTo>
                    <a:pt x="28" y="225"/>
                  </a:lnTo>
                  <a:lnTo>
                    <a:pt x="33" y="213"/>
                  </a:lnTo>
                  <a:lnTo>
                    <a:pt x="39" y="202"/>
                  </a:lnTo>
                  <a:lnTo>
                    <a:pt x="47" y="190"/>
                  </a:lnTo>
                  <a:lnTo>
                    <a:pt x="60" y="174"/>
                  </a:lnTo>
                  <a:lnTo>
                    <a:pt x="72" y="161"/>
                  </a:lnTo>
                  <a:lnTo>
                    <a:pt x="86" y="146"/>
                  </a:lnTo>
                  <a:lnTo>
                    <a:pt x="98" y="133"/>
                  </a:lnTo>
                  <a:lnTo>
                    <a:pt x="110" y="123"/>
                  </a:lnTo>
                  <a:lnTo>
                    <a:pt x="118" y="112"/>
                  </a:lnTo>
                  <a:lnTo>
                    <a:pt x="122" y="100"/>
                  </a:lnTo>
                  <a:lnTo>
                    <a:pt x="122" y="86"/>
                  </a:lnTo>
                  <a:lnTo>
                    <a:pt x="119" y="74"/>
                  </a:lnTo>
                  <a:lnTo>
                    <a:pt x="112" y="61"/>
                  </a:lnTo>
                  <a:lnTo>
                    <a:pt x="105" y="44"/>
                  </a:lnTo>
                  <a:lnTo>
                    <a:pt x="98" y="27"/>
                  </a:lnTo>
                  <a:lnTo>
                    <a:pt x="91" y="12"/>
                  </a:lnTo>
                  <a:lnTo>
                    <a:pt x="86" y="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17" name="Freeform 21">
              <a:extLst>
                <a:ext uri="{FF2B5EF4-FFF2-40B4-BE49-F238E27FC236}">
                  <a16:creationId xmlns:a16="http://schemas.microsoft.com/office/drawing/2014/main" id="{9F4F1DD3-674C-7D4B-8334-D582E483D3FA}"/>
                </a:ext>
              </a:extLst>
            </p:cNvPr>
            <p:cNvSpPr>
              <a:spLocks/>
            </p:cNvSpPr>
            <p:nvPr/>
          </p:nvSpPr>
          <p:spPr bwMode="auto">
            <a:xfrm>
              <a:off x="2716" y="3591"/>
              <a:ext cx="219" cy="112"/>
            </a:xfrm>
            <a:custGeom>
              <a:avLst/>
              <a:gdLst>
                <a:gd name="T0" fmla="*/ 236 w 659"/>
                <a:gd name="T1" fmla="*/ 14 h 337"/>
                <a:gd name="T2" fmla="*/ 212 w 659"/>
                <a:gd name="T3" fmla="*/ 3 h 337"/>
                <a:gd name="T4" fmla="*/ 190 w 659"/>
                <a:gd name="T5" fmla="*/ 0 h 337"/>
                <a:gd name="T6" fmla="*/ 170 w 659"/>
                <a:gd name="T7" fmla="*/ 9 h 337"/>
                <a:gd name="T8" fmla="*/ 156 w 659"/>
                <a:gd name="T9" fmla="*/ 38 h 337"/>
                <a:gd name="T10" fmla="*/ 138 w 659"/>
                <a:gd name="T11" fmla="*/ 77 h 337"/>
                <a:gd name="T12" fmla="*/ 125 w 659"/>
                <a:gd name="T13" fmla="*/ 94 h 337"/>
                <a:gd name="T14" fmla="*/ 99 w 659"/>
                <a:gd name="T15" fmla="*/ 107 h 337"/>
                <a:gd name="T16" fmla="*/ 55 w 659"/>
                <a:gd name="T17" fmla="*/ 132 h 337"/>
                <a:gd name="T18" fmla="*/ 23 w 659"/>
                <a:gd name="T19" fmla="*/ 162 h 337"/>
                <a:gd name="T20" fmla="*/ 2 w 659"/>
                <a:gd name="T21" fmla="*/ 204 h 337"/>
                <a:gd name="T22" fmla="*/ 1 w 659"/>
                <a:gd name="T23" fmla="*/ 249 h 337"/>
                <a:gd name="T24" fmla="*/ 12 w 659"/>
                <a:gd name="T25" fmla="*/ 280 h 337"/>
                <a:gd name="T26" fmla="*/ 35 w 659"/>
                <a:gd name="T27" fmla="*/ 301 h 337"/>
                <a:gd name="T28" fmla="*/ 68 w 659"/>
                <a:gd name="T29" fmla="*/ 310 h 337"/>
                <a:gd name="T30" fmla="*/ 89 w 659"/>
                <a:gd name="T31" fmla="*/ 319 h 337"/>
                <a:gd name="T32" fmla="*/ 113 w 659"/>
                <a:gd name="T33" fmla="*/ 333 h 337"/>
                <a:gd name="T34" fmla="*/ 140 w 659"/>
                <a:gd name="T35" fmla="*/ 335 h 337"/>
                <a:gd name="T36" fmla="*/ 191 w 659"/>
                <a:gd name="T37" fmla="*/ 323 h 337"/>
                <a:gd name="T38" fmla="*/ 219 w 659"/>
                <a:gd name="T39" fmla="*/ 320 h 337"/>
                <a:gd name="T40" fmla="*/ 250 w 659"/>
                <a:gd name="T41" fmla="*/ 320 h 337"/>
                <a:gd name="T42" fmla="*/ 286 w 659"/>
                <a:gd name="T43" fmla="*/ 308 h 337"/>
                <a:gd name="T44" fmla="*/ 319 w 659"/>
                <a:gd name="T45" fmla="*/ 299 h 337"/>
                <a:gd name="T46" fmla="*/ 350 w 659"/>
                <a:gd name="T47" fmla="*/ 290 h 337"/>
                <a:gd name="T48" fmla="*/ 382 w 659"/>
                <a:gd name="T49" fmla="*/ 286 h 337"/>
                <a:gd name="T50" fmla="*/ 410 w 659"/>
                <a:gd name="T51" fmla="*/ 295 h 337"/>
                <a:gd name="T52" fmla="*/ 443 w 659"/>
                <a:gd name="T53" fmla="*/ 312 h 337"/>
                <a:gd name="T54" fmla="*/ 468 w 659"/>
                <a:gd name="T55" fmla="*/ 320 h 337"/>
                <a:gd name="T56" fmla="*/ 497 w 659"/>
                <a:gd name="T57" fmla="*/ 330 h 337"/>
                <a:gd name="T58" fmla="*/ 517 w 659"/>
                <a:gd name="T59" fmla="*/ 337 h 337"/>
                <a:gd name="T60" fmla="*/ 533 w 659"/>
                <a:gd name="T61" fmla="*/ 337 h 337"/>
                <a:gd name="T62" fmla="*/ 567 w 659"/>
                <a:gd name="T63" fmla="*/ 326 h 337"/>
                <a:gd name="T64" fmla="*/ 597 w 659"/>
                <a:gd name="T65" fmla="*/ 303 h 337"/>
                <a:gd name="T66" fmla="*/ 615 w 659"/>
                <a:gd name="T67" fmla="*/ 273 h 337"/>
                <a:gd name="T68" fmla="*/ 629 w 659"/>
                <a:gd name="T69" fmla="*/ 227 h 337"/>
                <a:gd name="T70" fmla="*/ 647 w 659"/>
                <a:gd name="T71" fmla="*/ 190 h 337"/>
                <a:gd name="T72" fmla="*/ 659 w 659"/>
                <a:gd name="T73" fmla="*/ 158 h 337"/>
                <a:gd name="T74" fmla="*/ 655 w 659"/>
                <a:gd name="T75" fmla="*/ 130 h 337"/>
                <a:gd name="T76" fmla="*/ 636 w 659"/>
                <a:gd name="T77" fmla="*/ 100 h 337"/>
                <a:gd name="T78" fmla="*/ 611 w 659"/>
                <a:gd name="T79" fmla="*/ 78 h 337"/>
                <a:gd name="T80" fmla="*/ 593 w 659"/>
                <a:gd name="T81" fmla="*/ 59 h 337"/>
                <a:gd name="T82" fmla="*/ 562 w 659"/>
                <a:gd name="T83" fmla="*/ 49 h 337"/>
                <a:gd name="T84" fmla="*/ 514 w 659"/>
                <a:gd name="T85" fmla="*/ 50 h 337"/>
                <a:gd name="T86" fmla="*/ 435 w 659"/>
                <a:gd name="T87" fmla="*/ 60 h 337"/>
                <a:gd name="T88" fmla="*/ 382 w 659"/>
                <a:gd name="T89" fmla="*/ 57 h 337"/>
                <a:gd name="T90" fmla="*/ 329 w 659"/>
                <a:gd name="T91" fmla="*/ 45 h 337"/>
                <a:gd name="T92" fmla="*/ 288 w 659"/>
                <a:gd name="T93" fmla="*/ 32 h 337"/>
                <a:gd name="T94" fmla="*/ 261 w 659"/>
                <a:gd name="T95" fmla="*/ 19 h 33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59"/>
                <a:gd name="T145" fmla="*/ 0 h 337"/>
                <a:gd name="T146" fmla="*/ 659 w 659"/>
                <a:gd name="T147" fmla="*/ 337 h 33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59" h="337">
                  <a:moveTo>
                    <a:pt x="251" y="15"/>
                  </a:moveTo>
                  <a:lnTo>
                    <a:pt x="236" y="14"/>
                  </a:lnTo>
                  <a:lnTo>
                    <a:pt x="225" y="10"/>
                  </a:lnTo>
                  <a:lnTo>
                    <a:pt x="212" y="3"/>
                  </a:lnTo>
                  <a:lnTo>
                    <a:pt x="201" y="0"/>
                  </a:lnTo>
                  <a:lnTo>
                    <a:pt x="190" y="0"/>
                  </a:lnTo>
                  <a:lnTo>
                    <a:pt x="178" y="3"/>
                  </a:lnTo>
                  <a:lnTo>
                    <a:pt x="170" y="9"/>
                  </a:lnTo>
                  <a:lnTo>
                    <a:pt x="162" y="21"/>
                  </a:lnTo>
                  <a:lnTo>
                    <a:pt x="156" y="38"/>
                  </a:lnTo>
                  <a:lnTo>
                    <a:pt x="146" y="62"/>
                  </a:lnTo>
                  <a:lnTo>
                    <a:pt x="138" y="77"/>
                  </a:lnTo>
                  <a:lnTo>
                    <a:pt x="132" y="89"/>
                  </a:lnTo>
                  <a:lnTo>
                    <a:pt x="125" y="94"/>
                  </a:lnTo>
                  <a:lnTo>
                    <a:pt x="116" y="100"/>
                  </a:lnTo>
                  <a:lnTo>
                    <a:pt x="99" y="107"/>
                  </a:lnTo>
                  <a:lnTo>
                    <a:pt x="77" y="118"/>
                  </a:lnTo>
                  <a:lnTo>
                    <a:pt x="55" y="132"/>
                  </a:lnTo>
                  <a:lnTo>
                    <a:pt x="39" y="144"/>
                  </a:lnTo>
                  <a:lnTo>
                    <a:pt x="23" y="162"/>
                  </a:lnTo>
                  <a:lnTo>
                    <a:pt x="10" y="181"/>
                  </a:lnTo>
                  <a:lnTo>
                    <a:pt x="2" y="204"/>
                  </a:lnTo>
                  <a:lnTo>
                    <a:pt x="0" y="226"/>
                  </a:lnTo>
                  <a:lnTo>
                    <a:pt x="1" y="249"/>
                  </a:lnTo>
                  <a:lnTo>
                    <a:pt x="4" y="265"/>
                  </a:lnTo>
                  <a:lnTo>
                    <a:pt x="12" y="280"/>
                  </a:lnTo>
                  <a:lnTo>
                    <a:pt x="22" y="292"/>
                  </a:lnTo>
                  <a:lnTo>
                    <a:pt x="35" y="301"/>
                  </a:lnTo>
                  <a:lnTo>
                    <a:pt x="51" y="307"/>
                  </a:lnTo>
                  <a:lnTo>
                    <a:pt x="68" y="310"/>
                  </a:lnTo>
                  <a:lnTo>
                    <a:pt x="80" y="314"/>
                  </a:lnTo>
                  <a:lnTo>
                    <a:pt x="89" y="319"/>
                  </a:lnTo>
                  <a:lnTo>
                    <a:pt x="102" y="328"/>
                  </a:lnTo>
                  <a:lnTo>
                    <a:pt x="113" y="333"/>
                  </a:lnTo>
                  <a:lnTo>
                    <a:pt x="126" y="336"/>
                  </a:lnTo>
                  <a:lnTo>
                    <a:pt x="140" y="335"/>
                  </a:lnTo>
                  <a:lnTo>
                    <a:pt x="162" y="329"/>
                  </a:lnTo>
                  <a:lnTo>
                    <a:pt x="191" y="323"/>
                  </a:lnTo>
                  <a:lnTo>
                    <a:pt x="205" y="320"/>
                  </a:lnTo>
                  <a:lnTo>
                    <a:pt x="219" y="320"/>
                  </a:lnTo>
                  <a:lnTo>
                    <a:pt x="236" y="323"/>
                  </a:lnTo>
                  <a:lnTo>
                    <a:pt x="250" y="320"/>
                  </a:lnTo>
                  <a:lnTo>
                    <a:pt x="264" y="315"/>
                  </a:lnTo>
                  <a:lnTo>
                    <a:pt x="286" y="308"/>
                  </a:lnTo>
                  <a:lnTo>
                    <a:pt x="303" y="305"/>
                  </a:lnTo>
                  <a:lnTo>
                    <a:pt x="319" y="299"/>
                  </a:lnTo>
                  <a:lnTo>
                    <a:pt x="331" y="296"/>
                  </a:lnTo>
                  <a:lnTo>
                    <a:pt x="350" y="290"/>
                  </a:lnTo>
                  <a:lnTo>
                    <a:pt x="364" y="286"/>
                  </a:lnTo>
                  <a:lnTo>
                    <a:pt x="382" y="286"/>
                  </a:lnTo>
                  <a:lnTo>
                    <a:pt x="396" y="288"/>
                  </a:lnTo>
                  <a:lnTo>
                    <a:pt x="410" y="295"/>
                  </a:lnTo>
                  <a:lnTo>
                    <a:pt x="427" y="304"/>
                  </a:lnTo>
                  <a:lnTo>
                    <a:pt x="443" y="312"/>
                  </a:lnTo>
                  <a:lnTo>
                    <a:pt x="457" y="316"/>
                  </a:lnTo>
                  <a:lnTo>
                    <a:pt x="468" y="320"/>
                  </a:lnTo>
                  <a:lnTo>
                    <a:pt x="480" y="325"/>
                  </a:lnTo>
                  <a:lnTo>
                    <a:pt x="497" y="330"/>
                  </a:lnTo>
                  <a:lnTo>
                    <a:pt x="506" y="335"/>
                  </a:lnTo>
                  <a:lnTo>
                    <a:pt x="517" y="337"/>
                  </a:lnTo>
                  <a:lnTo>
                    <a:pt x="533" y="337"/>
                  </a:lnTo>
                  <a:lnTo>
                    <a:pt x="550" y="332"/>
                  </a:lnTo>
                  <a:lnTo>
                    <a:pt x="567" y="326"/>
                  </a:lnTo>
                  <a:lnTo>
                    <a:pt x="584" y="315"/>
                  </a:lnTo>
                  <a:lnTo>
                    <a:pt x="597" y="303"/>
                  </a:lnTo>
                  <a:lnTo>
                    <a:pt x="609" y="286"/>
                  </a:lnTo>
                  <a:lnTo>
                    <a:pt x="615" y="273"/>
                  </a:lnTo>
                  <a:lnTo>
                    <a:pt x="623" y="246"/>
                  </a:lnTo>
                  <a:lnTo>
                    <a:pt x="629" y="227"/>
                  </a:lnTo>
                  <a:lnTo>
                    <a:pt x="637" y="207"/>
                  </a:lnTo>
                  <a:lnTo>
                    <a:pt x="647" y="190"/>
                  </a:lnTo>
                  <a:lnTo>
                    <a:pt x="656" y="174"/>
                  </a:lnTo>
                  <a:lnTo>
                    <a:pt x="659" y="158"/>
                  </a:lnTo>
                  <a:lnTo>
                    <a:pt x="658" y="144"/>
                  </a:lnTo>
                  <a:lnTo>
                    <a:pt x="655" y="130"/>
                  </a:lnTo>
                  <a:lnTo>
                    <a:pt x="646" y="115"/>
                  </a:lnTo>
                  <a:lnTo>
                    <a:pt x="636" y="100"/>
                  </a:lnTo>
                  <a:lnTo>
                    <a:pt x="623" y="88"/>
                  </a:lnTo>
                  <a:lnTo>
                    <a:pt x="611" y="78"/>
                  </a:lnTo>
                  <a:lnTo>
                    <a:pt x="603" y="67"/>
                  </a:lnTo>
                  <a:lnTo>
                    <a:pt x="593" y="59"/>
                  </a:lnTo>
                  <a:lnTo>
                    <a:pt x="579" y="53"/>
                  </a:lnTo>
                  <a:lnTo>
                    <a:pt x="562" y="49"/>
                  </a:lnTo>
                  <a:lnTo>
                    <a:pt x="544" y="48"/>
                  </a:lnTo>
                  <a:lnTo>
                    <a:pt x="514" y="50"/>
                  </a:lnTo>
                  <a:lnTo>
                    <a:pt x="476" y="56"/>
                  </a:lnTo>
                  <a:lnTo>
                    <a:pt x="435" y="60"/>
                  </a:lnTo>
                  <a:lnTo>
                    <a:pt x="411" y="60"/>
                  </a:lnTo>
                  <a:lnTo>
                    <a:pt x="382" y="57"/>
                  </a:lnTo>
                  <a:lnTo>
                    <a:pt x="353" y="51"/>
                  </a:lnTo>
                  <a:lnTo>
                    <a:pt x="329" y="45"/>
                  </a:lnTo>
                  <a:lnTo>
                    <a:pt x="308" y="39"/>
                  </a:lnTo>
                  <a:lnTo>
                    <a:pt x="288" y="32"/>
                  </a:lnTo>
                  <a:lnTo>
                    <a:pt x="272" y="23"/>
                  </a:lnTo>
                  <a:lnTo>
                    <a:pt x="261" y="19"/>
                  </a:lnTo>
                  <a:lnTo>
                    <a:pt x="251" y="15"/>
                  </a:lnTo>
                  <a:close/>
                </a:path>
              </a:pathLst>
            </a:custGeom>
            <a:solidFill>
              <a:srgbClr val="00C000"/>
            </a:solidFill>
            <a:ln w="0">
              <a:solidFill>
                <a:srgbClr val="0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18" name="Freeform 22">
              <a:extLst>
                <a:ext uri="{FF2B5EF4-FFF2-40B4-BE49-F238E27FC236}">
                  <a16:creationId xmlns:a16="http://schemas.microsoft.com/office/drawing/2014/main" id="{9749064E-6345-C84D-A35D-009B945C1B1F}"/>
                </a:ext>
              </a:extLst>
            </p:cNvPr>
            <p:cNvSpPr>
              <a:spLocks/>
            </p:cNvSpPr>
            <p:nvPr/>
          </p:nvSpPr>
          <p:spPr bwMode="auto">
            <a:xfrm>
              <a:off x="2799" y="3556"/>
              <a:ext cx="287" cy="156"/>
            </a:xfrm>
            <a:custGeom>
              <a:avLst/>
              <a:gdLst>
                <a:gd name="T0" fmla="*/ 283 w 859"/>
                <a:gd name="T1" fmla="*/ 456 h 470"/>
                <a:gd name="T2" fmla="*/ 285 w 859"/>
                <a:gd name="T3" fmla="*/ 470 h 470"/>
                <a:gd name="T4" fmla="*/ 324 w 859"/>
                <a:gd name="T5" fmla="*/ 462 h 470"/>
                <a:gd name="T6" fmla="*/ 348 w 859"/>
                <a:gd name="T7" fmla="*/ 445 h 470"/>
                <a:gd name="T8" fmla="*/ 353 w 859"/>
                <a:gd name="T9" fmla="*/ 440 h 470"/>
                <a:gd name="T10" fmla="*/ 360 w 859"/>
                <a:gd name="T11" fmla="*/ 436 h 470"/>
                <a:gd name="T12" fmla="*/ 388 w 859"/>
                <a:gd name="T13" fmla="*/ 437 h 470"/>
                <a:gd name="T14" fmla="*/ 427 w 859"/>
                <a:gd name="T15" fmla="*/ 437 h 470"/>
                <a:gd name="T16" fmla="*/ 449 w 859"/>
                <a:gd name="T17" fmla="*/ 442 h 470"/>
                <a:gd name="T18" fmla="*/ 484 w 859"/>
                <a:gd name="T19" fmla="*/ 446 h 470"/>
                <a:gd name="T20" fmla="*/ 538 w 859"/>
                <a:gd name="T21" fmla="*/ 437 h 470"/>
                <a:gd name="T22" fmla="*/ 586 w 859"/>
                <a:gd name="T23" fmla="*/ 428 h 470"/>
                <a:gd name="T24" fmla="*/ 613 w 859"/>
                <a:gd name="T25" fmla="*/ 419 h 470"/>
                <a:gd name="T26" fmla="*/ 651 w 859"/>
                <a:gd name="T27" fmla="*/ 406 h 470"/>
                <a:gd name="T28" fmla="*/ 692 w 859"/>
                <a:gd name="T29" fmla="*/ 390 h 470"/>
                <a:gd name="T30" fmla="*/ 719 w 859"/>
                <a:gd name="T31" fmla="*/ 370 h 470"/>
                <a:gd name="T32" fmla="*/ 753 w 859"/>
                <a:gd name="T33" fmla="*/ 340 h 470"/>
                <a:gd name="T34" fmla="*/ 795 w 859"/>
                <a:gd name="T35" fmla="*/ 320 h 470"/>
                <a:gd name="T36" fmla="*/ 835 w 859"/>
                <a:gd name="T37" fmla="*/ 300 h 470"/>
                <a:gd name="T38" fmla="*/ 855 w 859"/>
                <a:gd name="T39" fmla="*/ 269 h 470"/>
                <a:gd name="T40" fmla="*/ 859 w 859"/>
                <a:gd name="T41" fmla="*/ 220 h 470"/>
                <a:gd name="T42" fmla="*/ 848 w 859"/>
                <a:gd name="T43" fmla="*/ 176 h 470"/>
                <a:gd name="T44" fmla="*/ 838 w 859"/>
                <a:gd name="T45" fmla="*/ 158 h 470"/>
                <a:gd name="T46" fmla="*/ 806 w 859"/>
                <a:gd name="T47" fmla="*/ 125 h 470"/>
                <a:gd name="T48" fmla="*/ 763 w 859"/>
                <a:gd name="T49" fmla="*/ 104 h 470"/>
                <a:gd name="T50" fmla="*/ 700 w 859"/>
                <a:gd name="T51" fmla="*/ 87 h 470"/>
                <a:gd name="T52" fmla="*/ 651 w 859"/>
                <a:gd name="T53" fmla="*/ 66 h 470"/>
                <a:gd name="T54" fmla="*/ 605 w 859"/>
                <a:gd name="T55" fmla="*/ 32 h 470"/>
                <a:gd name="T56" fmla="*/ 555 w 859"/>
                <a:gd name="T57" fmla="*/ 8 h 470"/>
                <a:gd name="T58" fmla="*/ 493 w 859"/>
                <a:gd name="T59" fmla="*/ 0 h 470"/>
                <a:gd name="T60" fmla="*/ 426 w 859"/>
                <a:gd name="T61" fmla="*/ 4 h 470"/>
                <a:gd name="T62" fmla="*/ 367 w 859"/>
                <a:gd name="T63" fmla="*/ 12 h 470"/>
                <a:gd name="T64" fmla="*/ 318 w 859"/>
                <a:gd name="T65" fmla="*/ 17 h 470"/>
                <a:gd name="T66" fmla="*/ 248 w 859"/>
                <a:gd name="T67" fmla="*/ 41 h 470"/>
                <a:gd name="T68" fmla="*/ 200 w 859"/>
                <a:gd name="T69" fmla="*/ 46 h 470"/>
                <a:gd name="T70" fmla="*/ 150 w 859"/>
                <a:gd name="T71" fmla="*/ 37 h 470"/>
                <a:gd name="T72" fmla="*/ 109 w 859"/>
                <a:gd name="T73" fmla="*/ 41 h 470"/>
                <a:gd name="T74" fmla="*/ 66 w 859"/>
                <a:gd name="T75" fmla="*/ 61 h 470"/>
                <a:gd name="T76" fmla="*/ 6 w 859"/>
                <a:gd name="T77" fmla="*/ 104 h 470"/>
                <a:gd name="T78" fmla="*/ 0 w 859"/>
                <a:gd name="T79" fmla="*/ 120 h 470"/>
                <a:gd name="T80" fmla="*/ 21 w 859"/>
                <a:gd name="T81" fmla="*/ 128 h 470"/>
                <a:gd name="T82" fmla="*/ 57 w 859"/>
                <a:gd name="T83" fmla="*/ 144 h 470"/>
                <a:gd name="T84" fmla="*/ 102 w 859"/>
                <a:gd name="T85" fmla="*/ 156 h 470"/>
                <a:gd name="T86" fmla="*/ 160 w 859"/>
                <a:gd name="T87" fmla="*/ 165 h 470"/>
                <a:gd name="T88" fmla="*/ 225 w 859"/>
                <a:gd name="T89" fmla="*/ 161 h 470"/>
                <a:gd name="T90" fmla="*/ 293 w 859"/>
                <a:gd name="T91" fmla="*/ 153 h 470"/>
                <a:gd name="T92" fmla="*/ 328 w 859"/>
                <a:gd name="T93" fmla="*/ 158 h 470"/>
                <a:gd name="T94" fmla="*/ 352 w 859"/>
                <a:gd name="T95" fmla="*/ 172 h 470"/>
                <a:gd name="T96" fmla="*/ 372 w 859"/>
                <a:gd name="T97" fmla="*/ 193 h 470"/>
                <a:gd name="T98" fmla="*/ 395 w 859"/>
                <a:gd name="T99" fmla="*/ 220 h 470"/>
                <a:gd name="T100" fmla="*/ 407 w 859"/>
                <a:gd name="T101" fmla="*/ 249 h 470"/>
                <a:gd name="T102" fmla="*/ 405 w 859"/>
                <a:gd name="T103" fmla="*/ 279 h 470"/>
                <a:gd name="T104" fmla="*/ 386 w 859"/>
                <a:gd name="T105" fmla="*/ 312 h 470"/>
                <a:gd name="T106" fmla="*/ 372 w 859"/>
                <a:gd name="T107" fmla="*/ 351 h 470"/>
                <a:gd name="T108" fmla="*/ 358 w 859"/>
                <a:gd name="T109" fmla="*/ 391 h 470"/>
                <a:gd name="T110" fmla="*/ 333 w 859"/>
                <a:gd name="T111" fmla="*/ 420 h 470"/>
                <a:gd name="T112" fmla="*/ 299 w 859"/>
                <a:gd name="T113" fmla="*/ 437 h 4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59"/>
                <a:gd name="T172" fmla="*/ 0 h 470"/>
                <a:gd name="T173" fmla="*/ 859 w 859"/>
                <a:gd name="T174" fmla="*/ 470 h 47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59" h="470">
                  <a:moveTo>
                    <a:pt x="282" y="442"/>
                  </a:moveTo>
                  <a:lnTo>
                    <a:pt x="283" y="456"/>
                  </a:lnTo>
                  <a:lnTo>
                    <a:pt x="285" y="470"/>
                  </a:lnTo>
                  <a:lnTo>
                    <a:pt x="306" y="467"/>
                  </a:lnTo>
                  <a:lnTo>
                    <a:pt x="324" y="462"/>
                  </a:lnTo>
                  <a:lnTo>
                    <a:pt x="338" y="453"/>
                  </a:lnTo>
                  <a:lnTo>
                    <a:pt x="348" y="445"/>
                  </a:lnTo>
                  <a:lnTo>
                    <a:pt x="353" y="440"/>
                  </a:lnTo>
                  <a:lnTo>
                    <a:pt x="360" y="436"/>
                  </a:lnTo>
                  <a:lnTo>
                    <a:pt x="374" y="435"/>
                  </a:lnTo>
                  <a:lnTo>
                    <a:pt x="388" y="437"/>
                  </a:lnTo>
                  <a:lnTo>
                    <a:pt x="412" y="435"/>
                  </a:lnTo>
                  <a:lnTo>
                    <a:pt x="427" y="437"/>
                  </a:lnTo>
                  <a:lnTo>
                    <a:pt x="437" y="438"/>
                  </a:lnTo>
                  <a:lnTo>
                    <a:pt x="449" y="442"/>
                  </a:lnTo>
                  <a:lnTo>
                    <a:pt x="465" y="445"/>
                  </a:lnTo>
                  <a:lnTo>
                    <a:pt x="484" y="446"/>
                  </a:lnTo>
                  <a:lnTo>
                    <a:pt x="511" y="443"/>
                  </a:lnTo>
                  <a:lnTo>
                    <a:pt x="538" y="437"/>
                  </a:lnTo>
                  <a:lnTo>
                    <a:pt x="563" y="432"/>
                  </a:lnTo>
                  <a:lnTo>
                    <a:pt x="586" y="428"/>
                  </a:lnTo>
                  <a:lnTo>
                    <a:pt x="598" y="424"/>
                  </a:lnTo>
                  <a:lnTo>
                    <a:pt x="613" y="419"/>
                  </a:lnTo>
                  <a:lnTo>
                    <a:pt x="632" y="411"/>
                  </a:lnTo>
                  <a:lnTo>
                    <a:pt x="651" y="406"/>
                  </a:lnTo>
                  <a:lnTo>
                    <a:pt x="672" y="399"/>
                  </a:lnTo>
                  <a:lnTo>
                    <a:pt x="692" y="390"/>
                  </a:lnTo>
                  <a:lnTo>
                    <a:pt x="706" y="381"/>
                  </a:lnTo>
                  <a:lnTo>
                    <a:pt x="719" y="370"/>
                  </a:lnTo>
                  <a:lnTo>
                    <a:pt x="736" y="354"/>
                  </a:lnTo>
                  <a:lnTo>
                    <a:pt x="753" y="340"/>
                  </a:lnTo>
                  <a:lnTo>
                    <a:pt x="774" y="329"/>
                  </a:lnTo>
                  <a:lnTo>
                    <a:pt x="795" y="320"/>
                  </a:lnTo>
                  <a:lnTo>
                    <a:pt x="819" y="310"/>
                  </a:lnTo>
                  <a:lnTo>
                    <a:pt x="835" y="300"/>
                  </a:lnTo>
                  <a:lnTo>
                    <a:pt x="846" y="286"/>
                  </a:lnTo>
                  <a:lnTo>
                    <a:pt x="855" y="269"/>
                  </a:lnTo>
                  <a:lnTo>
                    <a:pt x="859" y="246"/>
                  </a:lnTo>
                  <a:lnTo>
                    <a:pt x="859" y="220"/>
                  </a:lnTo>
                  <a:lnTo>
                    <a:pt x="856" y="197"/>
                  </a:lnTo>
                  <a:lnTo>
                    <a:pt x="848" y="176"/>
                  </a:lnTo>
                  <a:lnTo>
                    <a:pt x="838" y="158"/>
                  </a:lnTo>
                  <a:lnTo>
                    <a:pt x="824" y="140"/>
                  </a:lnTo>
                  <a:lnTo>
                    <a:pt x="806" y="125"/>
                  </a:lnTo>
                  <a:lnTo>
                    <a:pt x="785" y="111"/>
                  </a:lnTo>
                  <a:lnTo>
                    <a:pt x="763" y="104"/>
                  </a:lnTo>
                  <a:lnTo>
                    <a:pt x="733" y="95"/>
                  </a:lnTo>
                  <a:lnTo>
                    <a:pt x="700" y="87"/>
                  </a:lnTo>
                  <a:lnTo>
                    <a:pt x="676" y="77"/>
                  </a:lnTo>
                  <a:lnTo>
                    <a:pt x="651" y="66"/>
                  </a:lnTo>
                  <a:lnTo>
                    <a:pt x="630" y="52"/>
                  </a:lnTo>
                  <a:lnTo>
                    <a:pt x="605" y="32"/>
                  </a:lnTo>
                  <a:lnTo>
                    <a:pt x="582" y="18"/>
                  </a:lnTo>
                  <a:lnTo>
                    <a:pt x="555" y="8"/>
                  </a:lnTo>
                  <a:lnTo>
                    <a:pt x="526" y="2"/>
                  </a:lnTo>
                  <a:lnTo>
                    <a:pt x="493" y="0"/>
                  </a:lnTo>
                  <a:lnTo>
                    <a:pt x="464" y="0"/>
                  </a:lnTo>
                  <a:lnTo>
                    <a:pt x="426" y="4"/>
                  </a:lnTo>
                  <a:lnTo>
                    <a:pt x="394" y="8"/>
                  </a:lnTo>
                  <a:lnTo>
                    <a:pt x="367" y="12"/>
                  </a:lnTo>
                  <a:lnTo>
                    <a:pt x="340" y="13"/>
                  </a:lnTo>
                  <a:lnTo>
                    <a:pt x="318" y="17"/>
                  </a:lnTo>
                  <a:lnTo>
                    <a:pt x="283" y="31"/>
                  </a:lnTo>
                  <a:lnTo>
                    <a:pt x="248" y="41"/>
                  </a:lnTo>
                  <a:lnTo>
                    <a:pt x="222" y="46"/>
                  </a:lnTo>
                  <a:lnTo>
                    <a:pt x="200" y="46"/>
                  </a:lnTo>
                  <a:lnTo>
                    <a:pt x="172" y="40"/>
                  </a:lnTo>
                  <a:lnTo>
                    <a:pt x="150" y="37"/>
                  </a:lnTo>
                  <a:lnTo>
                    <a:pt x="131" y="37"/>
                  </a:lnTo>
                  <a:lnTo>
                    <a:pt x="109" y="41"/>
                  </a:lnTo>
                  <a:lnTo>
                    <a:pt x="92" y="48"/>
                  </a:lnTo>
                  <a:lnTo>
                    <a:pt x="66" y="61"/>
                  </a:lnTo>
                  <a:lnTo>
                    <a:pt x="23" y="88"/>
                  </a:lnTo>
                  <a:lnTo>
                    <a:pt x="6" y="104"/>
                  </a:lnTo>
                  <a:lnTo>
                    <a:pt x="0" y="113"/>
                  </a:lnTo>
                  <a:lnTo>
                    <a:pt x="0" y="120"/>
                  </a:lnTo>
                  <a:lnTo>
                    <a:pt x="10" y="124"/>
                  </a:lnTo>
                  <a:lnTo>
                    <a:pt x="21" y="128"/>
                  </a:lnTo>
                  <a:lnTo>
                    <a:pt x="37" y="137"/>
                  </a:lnTo>
                  <a:lnTo>
                    <a:pt x="57" y="144"/>
                  </a:lnTo>
                  <a:lnTo>
                    <a:pt x="78" y="150"/>
                  </a:lnTo>
                  <a:lnTo>
                    <a:pt x="102" y="156"/>
                  </a:lnTo>
                  <a:lnTo>
                    <a:pt x="131" y="162"/>
                  </a:lnTo>
                  <a:lnTo>
                    <a:pt x="160" y="165"/>
                  </a:lnTo>
                  <a:lnTo>
                    <a:pt x="184" y="165"/>
                  </a:lnTo>
                  <a:lnTo>
                    <a:pt x="225" y="161"/>
                  </a:lnTo>
                  <a:lnTo>
                    <a:pt x="263" y="155"/>
                  </a:lnTo>
                  <a:lnTo>
                    <a:pt x="293" y="153"/>
                  </a:lnTo>
                  <a:lnTo>
                    <a:pt x="311" y="154"/>
                  </a:lnTo>
                  <a:lnTo>
                    <a:pt x="328" y="158"/>
                  </a:lnTo>
                  <a:lnTo>
                    <a:pt x="342" y="164"/>
                  </a:lnTo>
                  <a:lnTo>
                    <a:pt x="352" y="172"/>
                  </a:lnTo>
                  <a:lnTo>
                    <a:pt x="360" y="183"/>
                  </a:lnTo>
                  <a:lnTo>
                    <a:pt x="372" y="193"/>
                  </a:lnTo>
                  <a:lnTo>
                    <a:pt x="385" y="205"/>
                  </a:lnTo>
                  <a:lnTo>
                    <a:pt x="395" y="220"/>
                  </a:lnTo>
                  <a:lnTo>
                    <a:pt x="404" y="235"/>
                  </a:lnTo>
                  <a:lnTo>
                    <a:pt x="407" y="249"/>
                  </a:lnTo>
                  <a:lnTo>
                    <a:pt x="408" y="263"/>
                  </a:lnTo>
                  <a:lnTo>
                    <a:pt x="405" y="279"/>
                  </a:lnTo>
                  <a:lnTo>
                    <a:pt x="396" y="295"/>
                  </a:lnTo>
                  <a:lnTo>
                    <a:pt x="386" y="312"/>
                  </a:lnTo>
                  <a:lnTo>
                    <a:pt x="378" y="332"/>
                  </a:lnTo>
                  <a:lnTo>
                    <a:pt x="372" y="351"/>
                  </a:lnTo>
                  <a:lnTo>
                    <a:pt x="364" y="378"/>
                  </a:lnTo>
                  <a:lnTo>
                    <a:pt x="358" y="391"/>
                  </a:lnTo>
                  <a:lnTo>
                    <a:pt x="346" y="408"/>
                  </a:lnTo>
                  <a:lnTo>
                    <a:pt x="333" y="420"/>
                  </a:lnTo>
                  <a:lnTo>
                    <a:pt x="316" y="431"/>
                  </a:lnTo>
                  <a:lnTo>
                    <a:pt x="299" y="437"/>
                  </a:lnTo>
                  <a:lnTo>
                    <a:pt x="282" y="442"/>
                  </a:lnTo>
                  <a:close/>
                </a:path>
              </a:pathLst>
            </a:custGeom>
            <a:solidFill>
              <a:srgbClr val="00C000"/>
            </a:solidFill>
            <a:ln w="0">
              <a:solidFill>
                <a:srgbClr val="0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19" name="Freeform 23">
              <a:extLst>
                <a:ext uri="{FF2B5EF4-FFF2-40B4-BE49-F238E27FC236}">
                  <a16:creationId xmlns:a16="http://schemas.microsoft.com/office/drawing/2014/main" id="{D2F8E631-22C7-244C-B1A6-987A1B86005F}"/>
                </a:ext>
              </a:extLst>
            </p:cNvPr>
            <p:cNvSpPr>
              <a:spLocks/>
            </p:cNvSpPr>
            <p:nvPr/>
          </p:nvSpPr>
          <p:spPr bwMode="auto">
            <a:xfrm>
              <a:off x="3030" y="3609"/>
              <a:ext cx="159" cy="104"/>
            </a:xfrm>
            <a:custGeom>
              <a:avLst/>
              <a:gdLst>
                <a:gd name="T0" fmla="*/ 172 w 478"/>
                <a:gd name="T1" fmla="*/ 8 h 310"/>
                <a:gd name="T2" fmla="*/ 200 w 478"/>
                <a:gd name="T3" fmla="*/ 1 h 310"/>
                <a:gd name="T4" fmla="*/ 230 w 478"/>
                <a:gd name="T5" fmla="*/ 1 h 310"/>
                <a:gd name="T6" fmla="*/ 259 w 478"/>
                <a:gd name="T7" fmla="*/ 6 h 310"/>
                <a:gd name="T8" fmla="*/ 291 w 478"/>
                <a:gd name="T9" fmla="*/ 23 h 310"/>
                <a:gd name="T10" fmla="*/ 316 w 478"/>
                <a:gd name="T11" fmla="*/ 47 h 310"/>
                <a:gd name="T12" fmla="*/ 336 w 478"/>
                <a:gd name="T13" fmla="*/ 71 h 310"/>
                <a:gd name="T14" fmla="*/ 372 w 478"/>
                <a:gd name="T15" fmla="*/ 79 h 310"/>
                <a:gd name="T16" fmla="*/ 426 w 478"/>
                <a:gd name="T17" fmla="*/ 84 h 310"/>
                <a:gd name="T18" fmla="*/ 445 w 478"/>
                <a:gd name="T19" fmla="*/ 94 h 310"/>
                <a:gd name="T20" fmla="*/ 453 w 478"/>
                <a:gd name="T21" fmla="*/ 113 h 310"/>
                <a:gd name="T22" fmla="*/ 458 w 478"/>
                <a:gd name="T23" fmla="*/ 137 h 310"/>
                <a:gd name="T24" fmla="*/ 472 w 478"/>
                <a:gd name="T25" fmla="*/ 166 h 310"/>
                <a:gd name="T26" fmla="*/ 478 w 478"/>
                <a:gd name="T27" fmla="*/ 192 h 310"/>
                <a:gd name="T28" fmla="*/ 470 w 478"/>
                <a:gd name="T29" fmla="*/ 212 h 310"/>
                <a:gd name="T30" fmla="*/ 444 w 478"/>
                <a:gd name="T31" fmla="*/ 228 h 310"/>
                <a:gd name="T32" fmla="*/ 411 w 478"/>
                <a:gd name="T33" fmla="*/ 247 h 310"/>
                <a:gd name="T34" fmla="*/ 394 w 478"/>
                <a:gd name="T35" fmla="*/ 267 h 310"/>
                <a:gd name="T36" fmla="*/ 376 w 478"/>
                <a:gd name="T37" fmla="*/ 298 h 310"/>
                <a:gd name="T38" fmla="*/ 355 w 478"/>
                <a:gd name="T39" fmla="*/ 309 h 310"/>
                <a:gd name="T40" fmla="*/ 317 w 478"/>
                <a:gd name="T41" fmla="*/ 309 h 310"/>
                <a:gd name="T42" fmla="*/ 276 w 478"/>
                <a:gd name="T43" fmla="*/ 296 h 310"/>
                <a:gd name="T44" fmla="*/ 268 w 478"/>
                <a:gd name="T45" fmla="*/ 294 h 310"/>
                <a:gd name="T46" fmla="*/ 238 w 478"/>
                <a:gd name="T47" fmla="*/ 285 h 310"/>
                <a:gd name="T48" fmla="*/ 210 w 478"/>
                <a:gd name="T49" fmla="*/ 270 h 310"/>
                <a:gd name="T50" fmla="*/ 184 w 478"/>
                <a:gd name="T51" fmla="*/ 263 h 310"/>
                <a:gd name="T52" fmla="*/ 177 w 478"/>
                <a:gd name="T53" fmla="*/ 263 h 310"/>
                <a:gd name="T54" fmla="*/ 142 w 478"/>
                <a:gd name="T55" fmla="*/ 265 h 310"/>
                <a:gd name="T56" fmla="*/ 134 w 478"/>
                <a:gd name="T57" fmla="*/ 265 h 310"/>
                <a:gd name="T58" fmla="*/ 112 w 478"/>
                <a:gd name="T59" fmla="*/ 268 h 310"/>
                <a:gd name="T60" fmla="*/ 72 w 478"/>
                <a:gd name="T61" fmla="*/ 265 h 310"/>
                <a:gd name="T62" fmla="*/ 50 w 478"/>
                <a:gd name="T63" fmla="*/ 254 h 310"/>
                <a:gd name="T64" fmla="*/ 31 w 478"/>
                <a:gd name="T65" fmla="*/ 247 h 310"/>
                <a:gd name="T66" fmla="*/ 20 w 478"/>
                <a:gd name="T67" fmla="*/ 243 h 310"/>
                <a:gd name="T68" fmla="*/ 12 w 478"/>
                <a:gd name="T69" fmla="*/ 242 h 310"/>
                <a:gd name="T70" fmla="*/ 1 w 478"/>
                <a:gd name="T71" fmla="*/ 234 h 310"/>
                <a:gd name="T72" fmla="*/ 14 w 478"/>
                <a:gd name="T73" fmla="*/ 220 h 310"/>
                <a:gd name="T74" fmla="*/ 44 w 478"/>
                <a:gd name="T75" fmla="*/ 193 h 310"/>
                <a:gd name="T76" fmla="*/ 82 w 478"/>
                <a:gd name="T77" fmla="*/ 168 h 310"/>
                <a:gd name="T78" fmla="*/ 127 w 478"/>
                <a:gd name="T79" fmla="*/ 149 h 310"/>
                <a:gd name="T80" fmla="*/ 154 w 478"/>
                <a:gd name="T81" fmla="*/ 125 h 310"/>
                <a:gd name="T82" fmla="*/ 167 w 478"/>
                <a:gd name="T83" fmla="*/ 85 h 310"/>
                <a:gd name="T84" fmla="*/ 164 w 478"/>
                <a:gd name="T85" fmla="*/ 36 h 3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78"/>
                <a:gd name="T130" fmla="*/ 0 h 310"/>
                <a:gd name="T131" fmla="*/ 478 w 478"/>
                <a:gd name="T132" fmla="*/ 310 h 31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78" h="310">
                  <a:moveTo>
                    <a:pt x="156" y="15"/>
                  </a:moveTo>
                  <a:lnTo>
                    <a:pt x="172" y="8"/>
                  </a:lnTo>
                  <a:lnTo>
                    <a:pt x="185" y="3"/>
                  </a:lnTo>
                  <a:lnTo>
                    <a:pt x="200" y="1"/>
                  </a:lnTo>
                  <a:lnTo>
                    <a:pt x="213" y="0"/>
                  </a:lnTo>
                  <a:lnTo>
                    <a:pt x="230" y="1"/>
                  </a:lnTo>
                  <a:lnTo>
                    <a:pt x="244" y="2"/>
                  </a:lnTo>
                  <a:lnTo>
                    <a:pt x="259" y="6"/>
                  </a:lnTo>
                  <a:lnTo>
                    <a:pt x="277" y="14"/>
                  </a:lnTo>
                  <a:lnTo>
                    <a:pt x="291" y="23"/>
                  </a:lnTo>
                  <a:lnTo>
                    <a:pt x="305" y="35"/>
                  </a:lnTo>
                  <a:lnTo>
                    <a:pt x="316" y="47"/>
                  </a:lnTo>
                  <a:lnTo>
                    <a:pt x="328" y="63"/>
                  </a:lnTo>
                  <a:lnTo>
                    <a:pt x="336" y="71"/>
                  </a:lnTo>
                  <a:lnTo>
                    <a:pt x="348" y="76"/>
                  </a:lnTo>
                  <a:lnTo>
                    <a:pt x="372" y="79"/>
                  </a:lnTo>
                  <a:lnTo>
                    <a:pt x="414" y="82"/>
                  </a:lnTo>
                  <a:lnTo>
                    <a:pt x="426" y="84"/>
                  </a:lnTo>
                  <a:lnTo>
                    <a:pt x="437" y="89"/>
                  </a:lnTo>
                  <a:lnTo>
                    <a:pt x="445" y="94"/>
                  </a:lnTo>
                  <a:lnTo>
                    <a:pt x="450" y="102"/>
                  </a:lnTo>
                  <a:lnTo>
                    <a:pt x="453" y="113"/>
                  </a:lnTo>
                  <a:lnTo>
                    <a:pt x="456" y="125"/>
                  </a:lnTo>
                  <a:lnTo>
                    <a:pt x="458" y="137"/>
                  </a:lnTo>
                  <a:lnTo>
                    <a:pt x="463" y="148"/>
                  </a:lnTo>
                  <a:lnTo>
                    <a:pt x="472" y="166"/>
                  </a:lnTo>
                  <a:lnTo>
                    <a:pt x="476" y="179"/>
                  </a:lnTo>
                  <a:lnTo>
                    <a:pt x="478" y="192"/>
                  </a:lnTo>
                  <a:lnTo>
                    <a:pt x="475" y="202"/>
                  </a:lnTo>
                  <a:lnTo>
                    <a:pt x="470" y="212"/>
                  </a:lnTo>
                  <a:lnTo>
                    <a:pt x="463" y="218"/>
                  </a:lnTo>
                  <a:lnTo>
                    <a:pt x="444" y="228"/>
                  </a:lnTo>
                  <a:lnTo>
                    <a:pt x="424" y="237"/>
                  </a:lnTo>
                  <a:lnTo>
                    <a:pt x="411" y="247"/>
                  </a:lnTo>
                  <a:lnTo>
                    <a:pt x="401" y="256"/>
                  </a:lnTo>
                  <a:lnTo>
                    <a:pt x="394" y="267"/>
                  </a:lnTo>
                  <a:lnTo>
                    <a:pt x="384" y="287"/>
                  </a:lnTo>
                  <a:lnTo>
                    <a:pt x="376" y="298"/>
                  </a:lnTo>
                  <a:lnTo>
                    <a:pt x="366" y="305"/>
                  </a:lnTo>
                  <a:lnTo>
                    <a:pt x="355" y="309"/>
                  </a:lnTo>
                  <a:lnTo>
                    <a:pt x="337" y="310"/>
                  </a:lnTo>
                  <a:lnTo>
                    <a:pt x="317" y="309"/>
                  </a:lnTo>
                  <a:lnTo>
                    <a:pt x="298" y="305"/>
                  </a:lnTo>
                  <a:lnTo>
                    <a:pt x="276" y="296"/>
                  </a:lnTo>
                  <a:lnTo>
                    <a:pt x="268" y="294"/>
                  </a:lnTo>
                  <a:lnTo>
                    <a:pt x="254" y="290"/>
                  </a:lnTo>
                  <a:lnTo>
                    <a:pt x="238" y="285"/>
                  </a:lnTo>
                  <a:lnTo>
                    <a:pt x="227" y="280"/>
                  </a:lnTo>
                  <a:lnTo>
                    <a:pt x="210" y="270"/>
                  </a:lnTo>
                  <a:lnTo>
                    <a:pt x="199" y="265"/>
                  </a:lnTo>
                  <a:lnTo>
                    <a:pt x="184" y="263"/>
                  </a:lnTo>
                  <a:lnTo>
                    <a:pt x="177" y="263"/>
                  </a:lnTo>
                  <a:lnTo>
                    <a:pt x="161" y="263"/>
                  </a:lnTo>
                  <a:lnTo>
                    <a:pt x="142" y="265"/>
                  </a:lnTo>
                  <a:lnTo>
                    <a:pt x="134" y="265"/>
                  </a:lnTo>
                  <a:lnTo>
                    <a:pt x="112" y="268"/>
                  </a:lnTo>
                  <a:lnTo>
                    <a:pt x="84" y="267"/>
                  </a:lnTo>
                  <a:lnTo>
                    <a:pt x="72" y="265"/>
                  </a:lnTo>
                  <a:lnTo>
                    <a:pt x="60" y="261"/>
                  </a:lnTo>
                  <a:lnTo>
                    <a:pt x="50" y="254"/>
                  </a:lnTo>
                  <a:lnTo>
                    <a:pt x="41" y="250"/>
                  </a:lnTo>
                  <a:lnTo>
                    <a:pt x="31" y="247"/>
                  </a:lnTo>
                  <a:lnTo>
                    <a:pt x="26" y="246"/>
                  </a:lnTo>
                  <a:lnTo>
                    <a:pt x="20" y="243"/>
                  </a:lnTo>
                  <a:lnTo>
                    <a:pt x="12" y="242"/>
                  </a:lnTo>
                  <a:lnTo>
                    <a:pt x="6" y="239"/>
                  </a:lnTo>
                  <a:lnTo>
                    <a:pt x="1" y="234"/>
                  </a:lnTo>
                  <a:lnTo>
                    <a:pt x="0" y="229"/>
                  </a:lnTo>
                  <a:lnTo>
                    <a:pt x="14" y="220"/>
                  </a:lnTo>
                  <a:lnTo>
                    <a:pt x="27" y="209"/>
                  </a:lnTo>
                  <a:lnTo>
                    <a:pt x="44" y="193"/>
                  </a:lnTo>
                  <a:lnTo>
                    <a:pt x="61" y="179"/>
                  </a:lnTo>
                  <a:lnTo>
                    <a:pt x="82" y="168"/>
                  </a:lnTo>
                  <a:lnTo>
                    <a:pt x="103" y="159"/>
                  </a:lnTo>
                  <a:lnTo>
                    <a:pt x="127" y="149"/>
                  </a:lnTo>
                  <a:lnTo>
                    <a:pt x="143" y="139"/>
                  </a:lnTo>
                  <a:lnTo>
                    <a:pt x="154" y="125"/>
                  </a:lnTo>
                  <a:lnTo>
                    <a:pt x="163" y="108"/>
                  </a:lnTo>
                  <a:lnTo>
                    <a:pt x="167" y="85"/>
                  </a:lnTo>
                  <a:lnTo>
                    <a:pt x="167" y="59"/>
                  </a:lnTo>
                  <a:lnTo>
                    <a:pt x="164" y="36"/>
                  </a:lnTo>
                  <a:lnTo>
                    <a:pt x="156" y="15"/>
                  </a:lnTo>
                  <a:close/>
                </a:path>
              </a:pathLst>
            </a:custGeom>
            <a:solidFill>
              <a:srgbClr val="00C000"/>
            </a:solidFill>
            <a:ln w="0">
              <a:solidFill>
                <a:srgbClr val="0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20" name="Freeform 24">
              <a:extLst>
                <a:ext uri="{FF2B5EF4-FFF2-40B4-BE49-F238E27FC236}">
                  <a16:creationId xmlns:a16="http://schemas.microsoft.com/office/drawing/2014/main" id="{0BA5C6B7-6298-EE45-9886-3287D96C20E4}"/>
                </a:ext>
              </a:extLst>
            </p:cNvPr>
            <p:cNvSpPr>
              <a:spLocks/>
            </p:cNvSpPr>
            <p:nvPr/>
          </p:nvSpPr>
          <p:spPr bwMode="auto">
            <a:xfrm>
              <a:off x="2822" y="3686"/>
              <a:ext cx="55" cy="33"/>
            </a:xfrm>
            <a:custGeom>
              <a:avLst/>
              <a:gdLst>
                <a:gd name="T0" fmla="*/ 0 w 165"/>
                <a:gd name="T1" fmla="*/ 13 h 100"/>
                <a:gd name="T2" fmla="*/ 7 w 165"/>
                <a:gd name="T3" fmla="*/ 17 h 100"/>
                <a:gd name="T4" fmla="*/ 19 w 165"/>
                <a:gd name="T5" fmla="*/ 19 h 100"/>
                <a:gd name="T6" fmla="*/ 31 w 165"/>
                <a:gd name="T7" fmla="*/ 26 h 100"/>
                <a:gd name="T8" fmla="*/ 49 w 165"/>
                <a:gd name="T9" fmla="*/ 38 h 100"/>
                <a:gd name="T10" fmla="*/ 72 w 165"/>
                <a:gd name="T11" fmla="*/ 58 h 100"/>
                <a:gd name="T12" fmla="*/ 92 w 165"/>
                <a:gd name="T13" fmla="*/ 78 h 100"/>
                <a:gd name="T14" fmla="*/ 111 w 165"/>
                <a:gd name="T15" fmla="*/ 92 h 100"/>
                <a:gd name="T16" fmla="*/ 124 w 165"/>
                <a:gd name="T17" fmla="*/ 98 h 100"/>
                <a:gd name="T18" fmla="*/ 124 w 165"/>
                <a:gd name="T19" fmla="*/ 98 h 100"/>
                <a:gd name="T20" fmla="*/ 132 w 165"/>
                <a:gd name="T21" fmla="*/ 100 h 100"/>
                <a:gd name="T22" fmla="*/ 132 w 165"/>
                <a:gd name="T23" fmla="*/ 100 h 100"/>
                <a:gd name="T24" fmla="*/ 140 w 165"/>
                <a:gd name="T25" fmla="*/ 99 h 100"/>
                <a:gd name="T26" fmla="*/ 147 w 165"/>
                <a:gd name="T27" fmla="*/ 98 h 100"/>
                <a:gd name="T28" fmla="*/ 155 w 165"/>
                <a:gd name="T29" fmla="*/ 95 h 100"/>
                <a:gd name="T30" fmla="*/ 165 w 165"/>
                <a:gd name="T31" fmla="*/ 91 h 100"/>
                <a:gd name="T32" fmla="*/ 165 w 165"/>
                <a:gd name="T33" fmla="*/ 88 h 100"/>
                <a:gd name="T34" fmla="*/ 163 w 165"/>
                <a:gd name="T35" fmla="*/ 66 h 100"/>
                <a:gd name="T36" fmla="*/ 159 w 165"/>
                <a:gd name="T37" fmla="*/ 54 h 100"/>
                <a:gd name="T38" fmla="*/ 155 w 165"/>
                <a:gd name="T39" fmla="*/ 43 h 100"/>
                <a:gd name="T40" fmla="*/ 148 w 165"/>
                <a:gd name="T41" fmla="*/ 35 h 100"/>
                <a:gd name="T42" fmla="*/ 137 w 165"/>
                <a:gd name="T43" fmla="*/ 31 h 100"/>
                <a:gd name="T44" fmla="*/ 123 w 165"/>
                <a:gd name="T45" fmla="*/ 26 h 100"/>
                <a:gd name="T46" fmla="*/ 107 w 165"/>
                <a:gd name="T47" fmla="*/ 18 h 100"/>
                <a:gd name="T48" fmla="*/ 90 w 165"/>
                <a:gd name="T49" fmla="*/ 10 h 100"/>
                <a:gd name="T50" fmla="*/ 76 w 165"/>
                <a:gd name="T51" fmla="*/ 4 h 100"/>
                <a:gd name="T52" fmla="*/ 63 w 165"/>
                <a:gd name="T53" fmla="*/ 0 h 100"/>
                <a:gd name="T54" fmla="*/ 45 w 165"/>
                <a:gd name="T55" fmla="*/ 0 h 100"/>
                <a:gd name="T56" fmla="*/ 31 w 165"/>
                <a:gd name="T57" fmla="*/ 5 h 100"/>
                <a:gd name="T58" fmla="*/ 12 w 165"/>
                <a:gd name="T59" fmla="*/ 11 h 100"/>
                <a:gd name="T60" fmla="*/ 0 w 165"/>
                <a:gd name="T61" fmla="*/ 13 h 10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5"/>
                <a:gd name="T94" fmla="*/ 0 h 100"/>
                <a:gd name="T95" fmla="*/ 165 w 165"/>
                <a:gd name="T96" fmla="*/ 100 h 10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5" h="100">
                  <a:moveTo>
                    <a:pt x="0" y="13"/>
                  </a:moveTo>
                  <a:lnTo>
                    <a:pt x="7" y="17"/>
                  </a:lnTo>
                  <a:lnTo>
                    <a:pt x="19" y="19"/>
                  </a:lnTo>
                  <a:lnTo>
                    <a:pt x="31" y="26"/>
                  </a:lnTo>
                  <a:lnTo>
                    <a:pt x="49" y="38"/>
                  </a:lnTo>
                  <a:lnTo>
                    <a:pt x="72" y="58"/>
                  </a:lnTo>
                  <a:lnTo>
                    <a:pt x="92" y="78"/>
                  </a:lnTo>
                  <a:lnTo>
                    <a:pt x="111" y="92"/>
                  </a:lnTo>
                  <a:lnTo>
                    <a:pt x="124" y="98"/>
                  </a:lnTo>
                  <a:lnTo>
                    <a:pt x="132" y="100"/>
                  </a:lnTo>
                  <a:lnTo>
                    <a:pt x="140" y="99"/>
                  </a:lnTo>
                  <a:lnTo>
                    <a:pt x="147" y="98"/>
                  </a:lnTo>
                  <a:lnTo>
                    <a:pt x="155" y="95"/>
                  </a:lnTo>
                  <a:lnTo>
                    <a:pt x="165" y="91"/>
                  </a:lnTo>
                  <a:lnTo>
                    <a:pt x="165" y="88"/>
                  </a:lnTo>
                  <a:lnTo>
                    <a:pt x="163" y="66"/>
                  </a:lnTo>
                  <a:lnTo>
                    <a:pt x="159" y="54"/>
                  </a:lnTo>
                  <a:lnTo>
                    <a:pt x="155" y="43"/>
                  </a:lnTo>
                  <a:lnTo>
                    <a:pt x="148" y="35"/>
                  </a:lnTo>
                  <a:lnTo>
                    <a:pt x="137" y="31"/>
                  </a:lnTo>
                  <a:lnTo>
                    <a:pt x="123" y="26"/>
                  </a:lnTo>
                  <a:lnTo>
                    <a:pt x="107" y="18"/>
                  </a:lnTo>
                  <a:lnTo>
                    <a:pt x="90" y="10"/>
                  </a:lnTo>
                  <a:lnTo>
                    <a:pt x="76" y="4"/>
                  </a:lnTo>
                  <a:lnTo>
                    <a:pt x="63" y="0"/>
                  </a:lnTo>
                  <a:lnTo>
                    <a:pt x="45" y="0"/>
                  </a:lnTo>
                  <a:lnTo>
                    <a:pt x="31" y="5"/>
                  </a:lnTo>
                  <a:lnTo>
                    <a:pt x="12" y="11"/>
                  </a:lnTo>
                  <a:lnTo>
                    <a:pt x="0" y="13"/>
                  </a:lnTo>
                  <a:close/>
                </a:path>
              </a:pathLst>
            </a:custGeom>
            <a:solidFill>
              <a:srgbClr val="00C000"/>
            </a:solidFill>
            <a:ln w="0">
              <a:solidFill>
                <a:srgbClr val="0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21" name="Freeform 25">
              <a:extLst>
                <a:ext uri="{FF2B5EF4-FFF2-40B4-BE49-F238E27FC236}">
                  <a16:creationId xmlns:a16="http://schemas.microsoft.com/office/drawing/2014/main" id="{9E20F21C-882F-8B4A-B258-38710CD1A2B9}"/>
                </a:ext>
              </a:extLst>
            </p:cNvPr>
            <p:cNvSpPr>
              <a:spLocks/>
            </p:cNvSpPr>
            <p:nvPr/>
          </p:nvSpPr>
          <p:spPr bwMode="auto">
            <a:xfrm>
              <a:off x="3030" y="3615"/>
              <a:ext cx="56" cy="71"/>
            </a:xfrm>
            <a:custGeom>
              <a:avLst/>
              <a:gdLst>
                <a:gd name="T0" fmla="*/ 0 w 166"/>
                <a:gd name="T1" fmla="*/ 213 h 213"/>
                <a:gd name="T2" fmla="*/ 14 w 166"/>
                <a:gd name="T3" fmla="*/ 204 h 213"/>
                <a:gd name="T4" fmla="*/ 27 w 166"/>
                <a:gd name="T5" fmla="*/ 193 h 213"/>
                <a:gd name="T6" fmla="*/ 44 w 166"/>
                <a:gd name="T7" fmla="*/ 177 h 213"/>
                <a:gd name="T8" fmla="*/ 60 w 166"/>
                <a:gd name="T9" fmla="*/ 163 h 213"/>
                <a:gd name="T10" fmla="*/ 81 w 166"/>
                <a:gd name="T11" fmla="*/ 152 h 213"/>
                <a:gd name="T12" fmla="*/ 102 w 166"/>
                <a:gd name="T13" fmla="*/ 143 h 213"/>
                <a:gd name="T14" fmla="*/ 126 w 166"/>
                <a:gd name="T15" fmla="*/ 133 h 213"/>
                <a:gd name="T16" fmla="*/ 142 w 166"/>
                <a:gd name="T17" fmla="*/ 123 h 213"/>
                <a:gd name="T18" fmla="*/ 153 w 166"/>
                <a:gd name="T19" fmla="*/ 109 h 213"/>
                <a:gd name="T20" fmla="*/ 162 w 166"/>
                <a:gd name="T21" fmla="*/ 94 h 213"/>
                <a:gd name="T22" fmla="*/ 166 w 166"/>
                <a:gd name="T23" fmla="*/ 71 h 213"/>
                <a:gd name="T24" fmla="*/ 166 w 166"/>
                <a:gd name="T25" fmla="*/ 44 h 213"/>
                <a:gd name="T26" fmla="*/ 163 w 166"/>
                <a:gd name="T27" fmla="*/ 21 h 213"/>
                <a:gd name="T28" fmla="*/ 155 w 166"/>
                <a:gd name="T29" fmla="*/ 0 h 2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6"/>
                <a:gd name="T46" fmla="*/ 0 h 213"/>
                <a:gd name="T47" fmla="*/ 166 w 166"/>
                <a:gd name="T48" fmla="*/ 213 h 2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6" h="213">
                  <a:moveTo>
                    <a:pt x="0" y="213"/>
                  </a:moveTo>
                  <a:lnTo>
                    <a:pt x="14" y="204"/>
                  </a:lnTo>
                  <a:lnTo>
                    <a:pt x="27" y="193"/>
                  </a:lnTo>
                  <a:lnTo>
                    <a:pt x="44" y="177"/>
                  </a:lnTo>
                  <a:lnTo>
                    <a:pt x="60" y="163"/>
                  </a:lnTo>
                  <a:lnTo>
                    <a:pt x="81" y="152"/>
                  </a:lnTo>
                  <a:lnTo>
                    <a:pt x="102" y="143"/>
                  </a:lnTo>
                  <a:lnTo>
                    <a:pt x="126" y="133"/>
                  </a:lnTo>
                  <a:lnTo>
                    <a:pt x="142" y="123"/>
                  </a:lnTo>
                  <a:lnTo>
                    <a:pt x="153" y="109"/>
                  </a:lnTo>
                  <a:lnTo>
                    <a:pt x="162" y="94"/>
                  </a:lnTo>
                  <a:lnTo>
                    <a:pt x="166" y="71"/>
                  </a:lnTo>
                  <a:lnTo>
                    <a:pt x="166" y="44"/>
                  </a:lnTo>
                  <a:lnTo>
                    <a:pt x="163" y="21"/>
                  </a:lnTo>
                  <a:lnTo>
                    <a:pt x="155"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22" name="Freeform 26">
              <a:extLst>
                <a:ext uri="{FF2B5EF4-FFF2-40B4-BE49-F238E27FC236}">
                  <a16:creationId xmlns:a16="http://schemas.microsoft.com/office/drawing/2014/main" id="{0596EFAE-BC1D-9E4A-AD18-06C09EB7567B}"/>
                </a:ext>
              </a:extLst>
            </p:cNvPr>
            <p:cNvSpPr>
              <a:spLocks/>
            </p:cNvSpPr>
            <p:nvPr/>
          </p:nvSpPr>
          <p:spPr bwMode="auto">
            <a:xfrm>
              <a:off x="3009" y="2533"/>
              <a:ext cx="116" cy="105"/>
            </a:xfrm>
            <a:custGeom>
              <a:avLst/>
              <a:gdLst>
                <a:gd name="T0" fmla="*/ 102 w 348"/>
                <a:gd name="T1" fmla="*/ 278 h 315"/>
                <a:gd name="T2" fmla="*/ 149 w 348"/>
                <a:gd name="T3" fmla="*/ 249 h 315"/>
                <a:gd name="T4" fmla="*/ 173 w 348"/>
                <a:gd name="T5" fmla="*/ 220 h 315"/>
                <a:gd name="T6" fmla="*/ 180 w 348"/>
                <a:gd name="T7" fmla="*/ 180 h 315"/>
                <a:gd name="T8" fmla="*/ 220 w 348"/>
                <a:gd name="T9" fmla="*/ 150 h 315"/>
                <a:gd name="T10" fmla="*/ 281 w 348"/>
                <a:gd name="T11" fmla="*/ 123 h 315"/>
                <a:gd name="T12" fmla="*/ 307 w 348"/>
                <a:gd name="T13" fmla="*/ 81 h 315"/>
                <a:gd name="T14" fmla="*/ 332 w 348"/>
                <a:gd name="T15" fmla="*/ 31 h 315"/>
                <a:gd name="T16" fmla="*/ 333 w 348"/>
                <a:gd name="T17" fmla="*/ 17 h 315"/>
                <a:gd name="T18" fmla="*/ 309 w 348"/>
                <a:gd name="T19" fmla="*/ 47 h 315"/>
                <a:gd name="T20" fmla="*/ 286 w 348"/>
                <a:gd name="T21" fmla="*/ 98 h 315"/>
                <a:gd name="T22" fmla="*/ 263 w 348"/>
                <a:gd name="T23" fmla="*/ 99 h 315"/>
                <a:gd name="T24" fmla="*/ 243 w 348"/>
                <a:gd name="T25" fmla="*/ 63 h 315"/>
                <a:gd name="T26" fmla="*/ 232 w 348"/>
                <a:gd name="T27" fmla="*/ 21 h 315"/>
                <a:gd name="T28" fmla="*/ 236 w 348"/>
                <a:gd name="T29" fmla="*/ 2 h 315"/>
                <a:gd name="T30" fmla="*/ 224 w 348"/>
                <a:gd name="T31" fmla="*/ 8 h 315"/>
                <a:gd name="T32" fmla="*/ 227 w 348"/>
                <a:gd name="T33" fmla="*/ 34 h 315"/>
                <a:gd name="T34" fmla="*/ 238 w 348"/>
                <a:gd name="T35" fmla="*/ 79 h 315"/>
                <a:gd name="T36" fmla="*/ 249 w 348"/>
                <a:gd name="T37" fmla="*/ 108 h 315"/>
                <a:gd name="T38" fmla="*/ 230 w 348"/>
                <a:gd name="T39" fmla="*/ 116 h 315"/>
                <a:gd name="T40" fmla="*/ 195 w 348"/>
                <a:gd name="T41" fmla="*/ 119 h 315"/>
                <a:gd name="T42" fmla="*/ 165 w 348"/>
                <a:gd name="T43" fmla="*/ 137 h 315"/>
                <a:gd name="T44" fmla="*/ 148 w 348"/>
                <a:gd name="T45" fmla="*/ 129 h 315"/>
                <a:gd name="T46" fmla="*/ 123 w 348"/>
                <a:gd name="T47" fmla="*/ 113 h 315"/>
                <a:gd name="T48" fmla="*/ 97 w 348"/>
                <a:gd name="T49" fmla="*/ 90 h 315"/>
                <a:gd name="T50" fmla="*/ 87 w 348"/>
                <a:gd name="T51" fmla="*/ 84 h 315"/>
                <a:gd name="T52" fmla="*/ 104 w 348"/>
                <a:gd name="T53" fmla="*/ 112 h 315"/>
                <a:gd name="T54" fmla="*/ 135 w 348"/>
                <a:gd name="T55" fmla="*/ 132 h 315"/>
                <a:gd name="T56" fmla="*/ 139 w 348"/>
                <a:gd name="T57" fmla="*/ 147 h 315"/>
                <a:gd name="T58" fmla="*/ 101 w 348"/>
                <a:gd name="T59" fmla="*/ 156 h 315"/>
                <a:gd name="T60" fmla="*/ 81 w 348"/>
                <a:gd name="T61" fmla="*/ 177 h 315"/>
                <a:gd name="T62" fmla="*/ 76 w 348"/>
                <a:gd name="T63" fmla="*/ 161 h 315"/>
                <a:gd name="T64" fmla="*/ 58 w 348"/>
                <a:gd name="T65" fmla="*/ 130 h 315"/>
                <a:gd name="T66" fmla="*/ 54 w 348"/>
                <a:gd name="T67" fmla="*/ 74 h 315"/>
                <a:gd name="T68" fmla="*/ 59 w 348"/>
                <a:gd name="T69" fmla="*/ 36 h 315"/>
                <a:gd name="T70" fmla="*/ 58 w 348"/>
                <a:gd name="T71" fmla="*/ 21 h 315"/>
                <a:gd name="T72" fmla="*/ 48 w 348"/>
                <a:gd name="T73" fmla="*/ 40 h 315"/>
                <a:gd name="T74" fmla="*/ 44 w 348"/>
                <a:gd name="T75" fmla="*/ 71 h 315"/>
                <a:gd name="T76" fmla="*/ 42 w 348"/>
                <a:gd name="T77" fmla="*/ 113 h 315"/>
                <a:gd name="T78" fmla="*/ 28 w 348"/>
                <a:gd name="T79" fmla="*/ 131 h 315"/>
                <a:gd name="T80" fmla="*/ 16 w 348"/>
                <a:gd name="T81" fmla="*/ 92 h 315"/>
                <a:gd name="T82" fmla="*/ 17 w 348"/>
                <a:gd name="T83" fmla="*/ 59 h 315"/>
                <a:gd name="T84" fmla="*/ 5 w 348"/>
                <a:gd name="T85" fmla="*/ 34 h 315"/>
                <a:gd name="T86" fmla="*/ 2 w 348"/>
                <a:gd name="T87" fmla="*/ 63 h 315"/>
                <a:gd name="T88" fmla="*/ 2 w 348"/>
                <a:gd name="T89" fmla="*/ 116 h 315"/>
                <a:gd name="T90" fmla="*/ 22 w 348"/>
                <a:gd name="T91" fmla="*/ 170 h 315"/>
                <a:gd name="T92" fmla="*/ 24 w 348"/>
                <a:gd name="T93" fmla="*/ 228 h 315"/>
                <a:gd name="T94" fmla="*/ 3 w 348"/>
                <a:gd name="T95" fmla="*/ 271 h 31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48"/>
                <a:gd name="T145" fmla="*/ 0 h 315"/>
                <a:gd name="T146" fmla="*/ 348 w 348"/>
                <a:gd name="T147" fmla="*/ 315 h 31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48" h="315">
                  <a:moveTo>
                    <a:pt x="90" y="315"/>
                  </a:moveTo>
                  <a:lnTo>
                    <a:pt x="94" y="290"/>
                  </a:lnTo>
                  <a:lnTo>
                    <a:pt x="102" y="278"/>
                  </a:lnTo>
                  <a:lnTo>
                    <a:pt x="115" y="267"/>
                  </a:lnTo>
                  <a:lnTo>
                    <a:pt x="133" y="258"/>
                  </a:lnTo>
                  <a:lnTo>
                    <a:pt x="149" y="249"/>
                  </a:lnTo>
                  <a:lnTo>
                    <a:pt x="163" y="239"/>
                  </a:lnTo>
                  <a:lnTo>
                    <a:pt x="170" y="232"/>
                  </a:lnTo>
                  <a:lnTo>
                    <a:pt x="173" y="220"/>
                  </a:lnTo>
                  <a:lnTo>
                    <a:pt x="174" y="200"/>
                  </a:lnTo>
                  <a:lnTo>
                    <a:pt x="176" y="190"/>
                  </a:lnTo>
                  <a:lnTo>
                    <a:pt x="180" y="180"/>
                  </a:lnTo>
                  <a:lnTo>
                    <a:pt x="189" y="169"/>
                  </a:lnTo>
                  <a:lnTo>
                    <a:pt x="204" y="158"/>
                  </a:lnTo>
                  <a:lnTo>
                    <a:pt x="220" y="150"/>
                  </a:lnTo>
                  <a:lnTo>
                    <a:pt x="241" y="142"/>
                  </a:lnTo>
                  <a:lnTo>
                    <a:pt x="262" y="133"/>
                  </a:lnTo>
                  <a:lnTo>
                    <a:pt x="281" y="123"/>
                  </a:lnTo>
                  <a:lnTo>
                    <a:pt x="291" y="112"/>
                  </a:lnTo>
                  <a:lnTo>
                    <a:pt x="299" y="100"/>
                  </a:lnTo>
                  <a:lnTo>
                    <a:pt x="307" y="81"/>
                  </a:lnTo>
                  <a:lnTo>
                    <a:pt x="316" y="58"/>
                  </a:lnTo>
                  <a:lnTo>
                    <a:pt x="323" y="42"/>
                  </a:lnTo>
                  <a:lnTo>
                    <a:pt x="332" y="31"/>
                  </a:lnTo>
                  <a:lnTo>
                    <a:pt x="341" y="23"/>
                  </a:lnTo>
                  <a:lnTo>
                    <a:pt x="348" y="19"/>
                  </a:lnTo>
                  <a:lnTo>
                    <a:pt x="333" y="17"/>
                  </a:lnTo>
                  <a:lnTo>
                    <a:pt x="326" y="23"/>
                  </a:lnTo>
                  <a:lnTo>
                    <a:pt x="317" y="34"/>
                  </a:lnTo>
                  <a:lnTo>
                    <a:pt x="309" y="47"/>
                  </a:lnTo>
                  <a:lnTo>
                    <a:pt x="303" y="66"/>
                  </a:lnTo>
                  <a:lnTo>
                    <a:pt x="294" y="84"/>
                  </a:lnTo>
                  <a:lnTo>
                    <a:pt x="286" y="98"/>
                  </a:lnTo>
                  <a:lnTo>
                    <a:pt x="274" y="108"/>
                  </a:lnTo>
                  <a:lnTo>
                    <a:pt x="266" y="112"/>
                  </a:lnTo>
                  <a:lnTo>
                    <a:pt x="263" y="99"/>
                  </a:lnTo>
                  <a:lnTo>
                    <a:pt x="258" y="88"/>
                  </a:lnTo>
                  <a:lnTo>
                    <a:pt x="250" y="75"/>
                  </a:lnTo>
                  <a:lnTo>
                    <a:pt x="243" y="63"/>
                  </a:lnTo>
                  <a:lnTo>
                    <a:pt x="239" y="48"/>
                  </a:lnTo>
                  <a:lnTo>
                    <a:pt x="237" y="34"/>
                  </a:lnTo>
                  <a:lnTo>
                    <a:pt x="232" y="21"/>
                  </a:lnTo>
                  <a:lnTo>
                    <a:pt x="231" y="14"/>
                  </a:lnTo>
                  <a:lnTo>
                    <a:pt x="232" y="8"/>
                  </a:lnTo>
                  <a:lnTo>
                    <a:pt x="236" y="2"/>
                  </a:lnTo>
                  <a:lnTo>
                    <a:pt x="228" y="0"/>
                  </a:lnTo>
                  <a:lnTo>
                    <a:pt x="224" y="8"/>
                  </a:lnTo>
                  <a:lnTo>
                    <a:pt x="224" y="14"/>
                  </a:lnTo>
                  <a:lnTo>
                    <a:pt x="224" y="21"/>
                  </a:lnTo>
                  <a:lnTo>
                    <a:pt x="227" y="34"/>
                  </a:lnTo>
                  <a:lnTo>
                    <a:pt x="230" y="51"/>
                  </a:lnTo>
                  <a:lnTo>
                    <a:pt x="232" y="66"/>
                  </a:lnTo>
                  <a:lnTo>
                    <a:pt x="238" y="79"/>
                  </a:lnTo>
                  <a:lnTo>
                    <a:pt x="244" y="91"/>
                  </a:lnTo>
                  <a:lnTo>
                    <a:pt x="249" y="102"/>
                  </a:lnTo>
                  <a:lnTo>
                    <a:pt x="249" y="108"/>
                  </a:lnTo>
                  <a:lnTo>
                    <a:pt x="247" y="111"/>
                  </a:lnTo>
                  <a:lnTo>
                    <a:pt x="241" y="114"/>
                  </a:lnTo>
                  <a:lnTo>
                    <a:pt x="230" y="116"/>
                  </a:lnTo>
                  <a:lnTo>
                    <a:pt x="216" y="115"/>
                  </a:lnTo>
                  <a:lnTo>
                    <a:pt x="203" y="116"/>
                  </a:lnTo>
                  <a:lnTo>
                    <a:pt x="195" y="119"/>
                  </a:lnTo>
                  <a:lnTo>
                    <a:pt x="186" y="124"/>
                  </a:lnTo>
                  <a:lnTo>
                    <a:pt x="178" y="131"/>
                  </a:lnTo>
                  <a:lnTo>
                    <a:pt x="165" y="137"/>
                  </a:lnTo>
                  <a:lnTo>
                    <a:pt x="152" y="145"/>
                  </a:lnTo>
                  <a:lnTo>
                    <a:pt x="151" y="136"/>
                  </a:lnTo>
                  <a:lnTo>
                    <a:pt x="148" y="129"/>
                  </a:lnTo>
                  <a:lnTo>
                    <a:pt x="141" y="123"/>
                  </a:lnTo>
                  <a:lnTo>
                    <a:pt x="133" y="116"/>
                  </a:lnTo>
                  <a:lnTo>
                    <a:pt x="123" y="113"/>
                  </a:lnTo>
                  <a:lnTo>
                    <a:pt x="112" y="108"/>
                  </a:lnTo>
                  <a:lnTo>
                    <a:pt x="104" y="99"/>
                  </a:lnTo>
                  <a:lnTo>
                    <a:pt x="97" y="90"/>
                  </a:lnTo>
                  <a:lnTo>
                    <a:pt x="94" y="81"/>
                  </a:lnTo>
                  <a:lnTo>
                    <a:pt x="87" y="84"/>
                  </a:lnTo>
                  <a:lnTo>
                    <a:pt x="90" y="91"/>
                  </a:lnTo>
                  <a:lnTo>
                    <a:pt x="95" y="102"/>
                  </a:lnTo>
                  <a:lnTo>
                    <a:pt x="104" y="112"/>
                  </a:lnTo>
                  <a:lnTo>
                    <a:pt x="115" y="120"/>
                  </a:lnTo>
                  <a:lnTo>
                    <a:pt x="128" y="126"/>
                  </a:lnTo>
                  <a:lnTo>
                    <a:pt x="135" y="132"/>
                  </a:lnTo>
                  <a:lnTo>
                    <a:pt x="141" y="142"/>
                  </a:lnTo>
                  <a:lnTo>
                    <a:pt x="141" y="144"/>
                  </a:lnTo>
                  <a:lnTo>
                    <a:pt x="139" y="147"/>
                  </a:lnTo>
                  <a:lnTo>
                    <a:pt x="128" y="150"/>
                  </a:lnTo>
                  <a:lnTo>
                    <a:pt x="113" y="153"/>
                  </a:lnTo>
                  <a:lnTo>
                    <a:pt x="101" y="156"/>
                  </a:lnTo>
                  <a:lnTo>
                    <a:pt x="92" y="160"/>
                  </a:lnTo>
                  <a:lnTo>
                    <a:pt x="85" y="168"/>
                  </a:lnTo>
                  <a:lnTo>
                    <a:pt x="81" y="177"/>
                  </a:lnTo>
                  <a:lnTo>
                    <a:pt x="78" y="191"/>
                  </a:lnTo>
                  <a:lnTo>
                    <a:pt x="77" y="167"/>
                  </a:lnTo>
                  <a:lnTo>
                    <a:pt x="76" y="161"/>
                  </a:lnTo>
                  <a:lnTo>
                    <a:pt x="73" y="156"/>
                  </a:lnTo>
                  <a:lnTo>
                    <a:pt x="66" y="146"/>
                  </a:lnTo>
                  <a:lnTo>
                    <a:pt x="58" y="130"/>
                  </a:lnTo>
                  <a:lnTo>
                    <a:pt x="52" y="110"/>
                  </a:lnTo>
                  <a:lnTo>
                    <a:pt x="52" y="90"/>
                  </a:lnTo>
                  <a:lnTo>
                    <a:pt x="54" y="74"/>
                  </a:lnTo>
                  <a:lnTo>
                    <a:pt x="54" y="70"/>
                  </a:lnTo>
                  <a:lnTo>
                    <a:pt x="56" y="48"/>
                  </a:lnTo>
                  <a:lnTo>
                    <a:pt x="59" y="36"/>
                  </a:lnTo>
                  <a:lnTo>
                    <a:pt x="63" y="25"/>
                  </a:lnTo>
                  <a:lnTo>
                    <a:pt x="70" y="17"/>
                  </a:lnTo>
                  <a:lnTo>
                    <a:pt x="58" y="21"/>
                  </a:lnTo>
                  <a:lnTo>
                    <a:pt x="54" y="29"/>
                  </a:lnTo>
                  <a:lnTo>
                    <a:pt x="48" y="40"/>
                  </a:lnTo>
                  <a:lnTo>
                    <a:pt x="46" y="54"/>
                  </a:lnTo>
                  <a:lnTo>
                    <a:pt x="44" y="71"/>
                  </a:lnTo>
                  <a:lnTo>
                    <a:pt x="44" y="81"/>
                  </a:lnTo>
                  <a:lnTo>
                    <a:pt x="42" y="98"/>
                  </a:lnTo>
                  <a:lnTo>
                    <a:pt x="42" y="113"/>
                  </a:lnTo>
                  <a:lnTo>
                    <a:pt x="40" y="125"/>
                  </a:lnTo>
                  <a:lnTo>
                    <a:pt x="37" y="142"/>
                  </a:lnTo>
                  <a:lnTo>
                    <a:pt x="28" y="131"/>
                  </a:lnTo>
                  <a:lnTo>
                    <a:pt x="23" y="119"/>
                  </a:lnTo>
                  <a:lnTo>
                    <a:pt x="18" y="108"/>
                  </a:lnTo>
                  <a:lnTo>
                    <a:pt x="16" y="92"/>
                  </a:lnTo>
                  <a:lnTo>
                    <a:pt x="16" y="78"/>
                  </a:lnTo>
                  <a:lnTo>
                    <a:pt x="16" y="66"/>
                  </a:lnTo>
                  <a:lnTo>
                    <a:pt x="17" y="59"/>
                  </a:lnTo>
                  <a:lnTo>
                    <a:pt x="20" y="43"/>
                  </a:lnTo>
                  <a:lnTo>
                    <a:pt x="22" y="34"/>
                  </a:lnTo>
                  <a:lnTo>
                    <a:pt x="5" y="34"/>
                  </a:lnTo>
                  <a:lnTo>
                    <a:pt x="4" y="47"/>
                  </a:lnTo>
                  <a:lnTo>
                    <a:pt x="2" y="63"/>
                  </a:lnTo>
                  <a:lnTo>
                    <a:pt x="0" y="79"/>
                  </a:lnTo>
                  <a:lnTo>
                    <a:pt x="0" y="96"/>
                  </a:lnTo>
                  <a:lnTo>
                    <a:pt x="2" y="116"/>
                  </a:lnTo>
                  <a:lnTo>
                    <a:pt x="8" y="134"/>
                  </a:lnTo>
                  <a:lnTo>
                    <a:pt x="16" y="154"/>
                  </a:lnTo>
                  <a:lnTo>
                    <a:pt x="22" y="170"/>
                  </a:lnTo>
                  <a:lnTo>
                    <a:pt x="25" y="188"/>
                  </a:lnTo>
                  <a:lnTo>
                    <a:pt x="26" y="206"/>
                  </a:lnTo>
                  <a:lnTo>
                    <a:pt x="24" y="228"/>
                  </a:lnTo>
                  <a:lnTo>
                    <a:pt x="20" y="246"/>
                  </a:lnTo>
                  <a:lnTo>
                    <a:pt x="12" y="262"/>
                  </a:lnTo>
                  <a:lnTo>
                    <a:pt x="3" y="271"/>
                  </a:lnTo>
                  <a:lnTo>
                    <a:pt x="90" y="315"/>
                  </a:lnTo>
                  <a:close/>
                </a:path>
              </a:pathLst>
            </a:custGeom>
            <a:solidFill>
              <a:srgbClr val="008080"/>
            </a:solidFill>
            <a:ln w="0">
              <a:solidFill>
                <a:srgbClr val="8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23" name="Freeform 27">
              <a:extLst>
                <a:ext uri="{FF2B5EF4-FFF2-40B4-BE49-F238E27FC236}">
                  <a16:creationId xmlns:a16="http://schemas.microsoft.com/office/drawing/2014/main" id="{CADD572B-BC9C-B449-A3B2-2C29BBA48A8D}"/>
                </a:ext>
              </a:extLst>
            </p:cNvPr>
            <p:cNvSpPr>
              <a:spLocks/>
            </p:cNvSpPr>
            <p:nvPr/>
          </p:nvSpPr>
          <p:spPr bwMode="auto">
            <a:xfrm>
              <a:off x="2970" y="2623"/>
              <a:ext cx="101" cy="160"/>
            </a:xfrm>
            <a:custGeom>
              <a:avLst/>
              <a:gdLst>
                <a:gd name="T0" fmla="*/ 94 w 304"/>
                <a:gd name="T1" fmla="*/ 42 h 479"/>
                <a:gd name="T2" fmla="*/ 92 w 304"/>
                <a:gd name="T3" fmla="*/ 66 h 479"/>
                <a:gd name="T4" fmla="*/ 75 w 304"/>
                <a:gd name="T5" fmla="*/ 93 h 479"/>
                <a:gd name="T6" fmla="*/ 66 w 304"/>
                <a:gd name="T7" fmla="*/ 128 h 479"/>
                <a:gd name="T8" fmla="*/ 72 w 304"/>
                <a:gd name="T9" fmla="*/ 163 h 479"/>
                <a:gd name="T10" fmla="*/ 74 w 304"/>
                <a:gd name="T11" fmla="*/ 183 h 479"/>
                <a:gd name="T12" fmla="*/ 65 w 304"/>
                <a:gd name="T13" fmla="*/ 213 h 479"/>
                <a:gd name="T14" fmla="*/ 64 w 304"/>
                <a:gd name="T15" fmla="*/ 255 h 479"/>
                <a:gd name="T16" fmla="*/ 63 w 304"/>
                <a:gd name="T17" fmla="*/ 292 h 479"/>
                <a:gd name="T18" fmla="*/ 70 w 304"/>
                <a:gd name="T19" fmla="*/ 329 h 479"/>
                <a:gd name="T20" fmla="*/ 71 w 304"/>
                <a:gd name="T21" fmla="*/ 380 h 479"/>
                <a:gd name="T22" fmla="*/ 61 w 304"/>
                <a:gd name="T23" fmla="*/ 416 h 479"/>
                <a:gd name="T24" fmla="*/ 36 w 304"/>
                <a:gd name="T25" fmla="*/ 439 h 479"/>
                <a:gd name="T26" fmla="*/ 19 w 304"/>
                <a:gd name="T27" fmla="*/ 453 h 479"/>
                <a:gd name="T28" fmla="*/ 59 w 304"/>
                <a:gd name="T29" fmla="*/ 453 h 479"/>
                <a:gd name="T30" fmla="*/ 96 w 304"/>
                <a:gd name="T31" fmla="*/ 462 h 479"/>
                <a:gd name="T32" fmla="*/ 121 w 304"/>
                <a:gd name="T33" fmla="*/ 462 h 479"/>
                <a:gd name="T34" fmla="*/ 138 w 304"/>
                <a:gd name="T35" fmla="*/ 446 h 479"/>
                <a:gd name="T36" fmla="*/ 142 w 304"/>
                <a:gd name="T37" fmla="*/ 446 h 479"/>
                <a:gd name="T38" fmla="*/ 138 w 304"/>
                <a:gd name="T39" fmla="*/ 475 h 479"/>
                <a:gd name="T40" fmla="*/ 145 w 304"/>
                <a:gd name="T41" fmla="*/ 471 h 479"/>
                <a:gd name="T42" fmla="*/ 164 w 304"/>
                <a:gd name="T43" fmla="*/ 448 h 479"/>
                <a:gd name="T44" fmla="*/ 192 w 304"/>
                <a:gd name="T45" fmla="*/ 434 h 479"/>
                <a:gd name="T46" fmla="*/ 231 w 304"/>
                <a:gd name="T47" fmla="*/ 432 h 479"/>
                <a:gd name="T48" fmla="*/ 267 w 304"/>
                <a:gd name="T49" fmla="*/ 438 h 479"/>
                <a:gd name="T50" fmla="*/ 304 w 304"/>
                <a:gd name="T51" fmla="*/ 446 h 479"/>
                <a:gd name="T52" fmla="*/ 274 w 304"/>
                <a:gd name="T53" fmla="*/ 427 h 479"/>
                <a:gd name="T54" fmla="*/ 262 w 304"/>
                <a:gd name="T55" fmla="*/ 412 h 479"/>
                <a:gd name="T56" fmla="*/ 241 w 304"/>
                <a:gd name="T57" fmla="*/ 368 h 479"/>
                <a:gd name="T58" fmla="*/ 226 w 304"/>
                <a:gd name="T59" fmla="*/ 324 h 479"/>
                <a:gd name="T60" fmla="*/ 200 w 304"/>
                <a:gd name="T61" fmla="*/ 279 h 479"/>
                <a:gd name="T62" fmla="*/ 161 w 304"/>
                <a:gd name="T63" fmla="*/ 217 h 479"/>
                <a:gd name="T64" fmla="*/ 158 w 304"/>
                <a:gd name="T65" fmla="*/ 179 h 479"/>
                <a:gd name="T66" fmla="*/ 165 w 304"/>
                <a:gd name="T67" fmla="*/ 144 h 479"/>
                <a:gd name="T68" fmla="*/ 184 w 304"/>
                <a:gd name="T69" fmla="*/ 111 h 479"/>
                <a:gd name="T70" fmla="*/ 196 w 304"/>
                <a:gd name="T71" fmla="*/ 88 h 479"/>
                <a:gd name="T72" fmla="*/ 208 w 304"/>
                <a:gd name="T73" fmla="*/ 44 h 479"/>
                <a:gd name="T74" fmla="*/ 88 w 304"/>
                <a:gd name="T75" fmla="*/ 29 h 47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4"/>
                <a:gd name="T115" fmla="*/ 0 h 479"/>
                <a:gd name="T116" fmla="*/ 304 w 304"/>
                <a:gd name="T117" fmla="*/ 479 h 47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4" h="479">
                  <a:moveTo>
                    <a:pt x="88" y="29"/>
                  </a:moveTo>
                  <a:lnTo>
                    <a:pt x="94" y="42"/>
                  </a:lnTo>
                  <a:lnTo>
                    <a:pt x="96" y="55"/>
                  </a:lnTo>
                  <a:lnTo>
                    <a:pt x="92" y="66"/>
                  </a:lnTo>
                  <a:lnTo>
                    <a:pt x="84" y="79"/>
                  </a:lnTo>
                  <a:lnTo>
                    <a:pt x="75" y="93"/>
                  </a:lnTo>
                  <a:lnTo>
                    <a:pt x="68" y="110"/>
                  </a:lnTo>
                  <a:lnTo>
                    <a:pt x="66" y="128"/>
                  </a:lnTo>
                  <a:lnTo>
                    <a:pt x="67" y="146"/>
                  </a:lnTo>
                  <a:lnTo>
                    <a:pt x="72" y="163"/>
                  </a:lnTo>
                  <a:lnTo>
                    <a:pt x="75" y="175"/>
                  </a:lnTo>
                  <a:lnTo>
                    <a:pt x="74" y="183"/>
                  </a:lnTo>
                  <a:lnTo>
                    <a:pt x="68" y="199"/>
                  </a:lnTo>
                  <a:lnTo>
                    <a:pt x="65" y="213"/>
                  </a:lnTo>
                  <a:lnTo>
                    <a:pt x="63" y="231"/>
                  </a:lnTo>
                  <a:lnTo>
                    <a:pt x="64" y="255"/>
                  </a:lnTo>
                  <a:lnTo>
                    <a:pt x="63" y="274"/>
                  </a:lnTo>
                  <a:lnTo>
                    <a:pt x="63" y="292"/>
                  </a:lnTo>
                  <a:lnTo>
                    <a:pt x="67" y="313"/>
                  </a:lnTo>
                  <a:lnTo>
                    <a:pt x="70" y="329"/>
                  </a:lnTo>
                  <a:lnTo>
                    <a:pt x="72" y="350"/>
                  </a:lnTo>
                  <a:lnTo>
                    <a:pt x="71" y="380"/>
                  </a:lnTo>
                  <a:lnTo>
                    <a:pt x="66" y="400"/>
                  </a:lnTo>
                  <a:lnTo>
                    <a:pt x="61" y="416"/>
                  </a:lnTo>
                  <a:lnTo>
                    <a:pt x="50" y="428"/>
                  </a:lnTo>
                  <a:lnTo>
                    <a:pt x="36" y="439"/>
                  </a:lnTo>
                  <a:lnTo>
                    <a:pt x="0" y="458"/>
                  </a:lnTo>
                  <a:lnTo>
                    <a:pt x="19" y="453"/>
                  </a:lnTo>
                  <a:lnTo>
                    <a:pt x="38" y="451"/>
                  </a:lnTo>
                  <a:lnTo>
                    <a:pt x="59" y="453"/>
                  </a:lnTo>
                  <a:lnTo>
                    <a:pt x="78" y="458"/>
                  </a:lnTo>
                  <a:lnTo>
                    <a:pt x="96" y="462"/>
                  </a:lnTo>
                  <a:lnTo>
                    <a:pt x="110" y="464"/>
                  </a:lnTo>
                  <a:lnTo>
                    <a:pt x="121" y="462"/>
                  </a:lnTo>
                  <a:lnTo>
                    <a:pt x="130" y="456"/>
                  </a:lnTo>
                  <a:lnTo>
                    <a:pt x="138" y="446"/>
                  </a:lnTo>
                  <a:lnTo>
                    <a:pt x="146" y="426"/>
                  </a:lnTo>
                  <a:lnTo>
                    <a:pt x="142" y="446"/>
                  </a:lnTo>
                  <a:lnTo>
                    <a:pt x="141" y="459"/>
                  </a:lnTo>
                  <a:lnTo>
                    <a:pt x="138" y="475"/>
                  </a:lnTo>
                  <a:lnTo>
                    <a:pt x="138" y="479"/>
                  </a:lnTo>
                  <a:lnTo>
                    <a:pt x="145" y="471"/>
                  </a:lnTo>
                  <a:lnTo>
                    <a:pt x="154" y="459"/>
                  </a:lnTo>
                  <a:lnTo>
                    <a:pt x="164" y="448"/>
                  </a:lnTo>
                  <a:lnTo>
                    <a:pt x="178" y="438"/>
                  </a:lnTo>
                  <a:lnTo>
                    <a:pt x="192" y="434"/>
                  </a:lnTo>
                  <a:lnTo>
                    <a:pt x="212" y="432"/>
                  </a:lnTo>
                  <a:lnTo>
                    <a:pt x="231" y="432"/>
                  </a:lnTo>
                  <a:lnTo>
                    <a:pt x="251" y="435"/>
                  </a:lnTo>
                  <a:lnTo>
                    <a:pt x="267" y="438"/>
                  </a:lnTo>
                  <a:lnTo>
                    <a:pt x="288" y="441"/>
                  </a:lnTo>
                  <a:lnTo>
                    <a:pt x="304" y="446"/>
                  </a:lnTo>
                  <a:lnTo>
                    <a:pt x="288" y="438"/>
                  </a:lnTo>
                  <a:lnTo>
                    <a:pt x="274" y="427"/>
                  </a:lnTo>
                  <a:lnTo>
                    <a:pt x="266" y="419"/>
                  </a:lnTo>
                  <a:lnTo>
                    <a:pt x="262" y="412"/>
                  </a:lnTo>
                  <a:lnTo>
                    <a:pt x="248" y="390"/>
                  </a:lnTo>
                  <a:lnTo>
                    <a:pt x="241" y="368"/>
                  </a:lnTo>
                  <a:lnTo>
                    <a:pt x="234" y="346"/>
                  </a:lnTo>
                  <a:lnTo>
                    <a:pt x="226" y="324"/>
                  </a:lnTo>
                  <a:lnTo>
                    <a:pt x="215" y="304"/>
                  </a:lnTo>
                  <a:lnTo>
                    <a:pt x="200" y="279"/>
                  </a:lnTo>
                  <a:lnTo>
                    <a:pt x="179" y="250"/>
                  </a:lnTo>
                  <a:lnTo>
                    <a:pt x="161" y="217"/>
                  </a:lnTo>
                  <a:lnTo>
                    <a:pt x="158" y="198"/>
                  </a:lnTo>
                  <a:lnTo>
                    <a:pt x="158" y="179"/>
                  </a:lnTo>
                  <a:lnTo>
                    <a:pt x="161" y="159"/>
                  </a:lnTo>
                  <a:lnTo>
                    <a:pt x="165" y="144"/>
                  </a:lnTo>
                  <a:lnTo>
                    <a:pt x="174" y="125"/>
                  </a:lnTo>
                  <a:lnTo>
                    <a:pt x="184" y="111"/>
                  </a:lnTo>
                  <a:lnTo>
                    <a:pt x="191" y="99"/>
                  </a:lnTo>
                  <a:lnTo>
                    <a:pt x="196" y="88"/>
                  </a:lnTo>
                  <a:lnTo>
                    <a:pt x="201" y="62"/>
                  </a:lnTo>
                  <a:lnTo>
                    <a:pt x="208" y="44"/>
                  </a:lnTo>
                  <a:lnTo>
                    <a:pt x="121" y="0"/>
                  </a:lnTo>
                  <a:lnTo>
                    <a:pt x="88" y="29"/>
                  </a:lnTo>
                  <a:close/>
                </a:path>
              </a:pathLst>
            </a:custGeom>
            <a:solidFill>
              <a:srgbClr val="008080"/>
            </a:solidFill>
            <a:ln w="0">
              <a:solidFill>
                <a:srgbClr val="8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24" name="Freeform 28">
              <a:extLst>
                <a:ext uri="{FF2B5EF4-FFF2-40B4-BE49-F238E27FC236}">
                  <a16:creationId xmlns:a16="http://schemas.microsoft.com/office/drawing/2014/main" id="{785FFFE2-DB0C-5442-9790-BD46DF37C19B}"/>
                </a:ext>
              </a:extLst>
            </p:cNvPr>
            <p:cNvSpPr>
              <a:spLocks/>
            </p:cNvSpPr>
            <p:nvPr/>
          </p:nvSpPr>
          <p:spPr bwMode="auto">
            <a:xfrm>
              <a:off x="2783" y="2532"/>
              <a:ext cx="228" cy="101"/>
            </a:xfrm>
            <a:custGeom>
              <a:avLst/>
              <a:gdLst>
                <a:gd name="T0" fmla="*/ 594 w 683"/>
                <a:gd name="T1" fmla="*/ 261 h 303"/>
                <a:gd name="T2" fmla="*/ 504 w 683"/>
                <a:gd name="T3" fmla="*/ 235 h 303"/>
                <a:gd name="T4" fmla="*/ 437 w 683"/>
                <a:gd name="T5" fmla="*/ 194 h 303"/>
                <a:gd name="T6" fmla="*/ 375 w 683"/>
                <a:gd name="T7" fmla="*/ 145 h 303"/>
                <a:gd name="T8" fmla="*/ 296 w 683"/>
                <a:gd name="T9" fmla="*/ 135 h 303"/>
                <a:gd name="T10" fmla="*/ 199 w 683"/>
                <a:gd name="T11" fmla="*/ 149 h 303"/>
                <a:gd name="T12" fmla="*/ 124 w 683"/>
                <a:gd name="T13" fmla="*/ 129 h 303"/>
                <a:gd name="T14" fmla="*/ 64 w 683"/>
                <a:gd name="T15" fmla="*/ 92 h 303"/>
                <a:gd name="T16" fmla="*/ 9 w 683"/>
                <a:gd name="T17" fmla="*/ 70 h 303"/>
                <a:gd name="T18" fmla="*/ 11 w 683"/>
                <a:gd name="T19" fmla="*/ 59 h 303"/>
                <a:gd name="T20" fmla="*/ 70 w 683"/>
                <a:gd name="T21" fmla="*/ 84 h 303"/>
                <a:gd name="T22" fmla="*/ 91 w 683"/>
                <a:gd name="T23" fmla="*/ 66 h 303"/>
                <a:gd name="T24" fmla="*/ 98 w 683"/>
                <a:gd name="T25" fmla="*/ 18 h 303"/>
                <a:gd name="T26" fmla="*/ 104 w 683"/>
                <a:gd name="T27" fmla="*/ 82 h 303"/>
                <a:gd name="T28" fmla="*/ 142 w 683"/>
                <a:gd name="T29" fmla="*/ 108 h 303"/>
                <a:gd name="T30" fmla="*/ 175 w 683"/>
                <a:gd name="T31" fmla="*/ 106 h 303"/>
                <a:gd name="T32" fmla="*/ 137 w 683"/>
                <a:gd name="T33" fmla="*/ 58 h 303"/>
                <a:gd name="T34" fmla="*/ 141 w 683"/>
                <a:gd name="T35" fmla="*/ 22 h 303"/>
                <a:gd name="T36" fmla="*/ 151 w 683"/>
                <a:gd name="T37" fmla="*/ 70 h 303"/>
                <a:gd name="T38" fmla="*/ 205 w 683"/>
                <a:gd name="T39" fmla="*/ 110 h 303"/>
                <a:gd name="T40" fmla="*/ 275 w 683"/>
                <a:gd name="T41" fmla="*/ 94 h 303"/>
                <a:gd name="T42" fmla="*/ 350 w 683"/>
                <a:gd name="T43" fmla="*/ 94 h 303"/>
                <a:gd name="T44" fmla="*/ 287 w 683"/>
                <a:gd name="T45" fmla="*/ 56 h 303"/>
                <a:gd name="T46" fmla="*/ 266 w 683"/>
                <a:gd name="T47" fmla="*/ 33 h 303"/>
                <a:gd name="T48" fmla="*/ 250 w 683"/>
                <a:gd name="T49" fmla="*/ 1 h 303"/>
                <a:gd name="T50" fmla="*/ 267 w 683"/>
                <a:gd name="T51" fmla="*/ 18 h 303"/>
                <a:gd name="T52" fmla="*/ 293 w 683"/>
                <a:gd name="T53" fmla="*/ 49 h 303"/>
                <a:gd name="T54" fmla="*/ 354 w 683"/>
                <a:gd name="T55" fmla="*/ 82 h 303"/>
                <a:gd name="T56" fmla="*/ 366 w 683"/>
                <a:gd name="T57" fmla="*/ 54 h 303"/>
                <a:gd name="T58" fmla="*/ 369 w 683"/>
                <a:gd name="T59" fmla="*/ 18 h 303"/>
                <a:gd name="T60" fmla="*/ 380 w 683"/>
                <a:gd name="T61" fmla="*/ 40 h 303"/>
                <a:gd name="T62" fmla="*/ 389 w 683"/>
                <a:gd name="T63" fmla="*/ 102 h 303"/>
                <a:gd name="T64" fmla="*/ 455 w 683"/>
                <a:gd name="T65" fmla="*/ 135 h 303"/>
                <a:gd name="T66" fmla="*/ 501 w 683"/>
                <a:gd name="T67" fmla="*/ 162 h 303"/>
                <a:gd name="T68" fmla="*/ 584 w 683"/>
                <a:gd name="T69" fmla="*/ 194 h 303"/>
                <a:gd name="T70" fmla="*/ 621 w 683"/>
                <a:gd name="T71" fmla="*/ 212 h 303"/>
                <a:gd name="T72" fmla="*/ 583 w 683"/>
                <a:gd name="T73" fmla="*/ 168 h 303"/>
                <a:gd name="T74" fmla="*/ 559 w 683"/>
                <a:gd name="T75" fmla="*/ 118 h 303"/>
                <a:gd name="T76" fmla="*/ 568 w 683"/>
                <a:gd name="T77" fmla="*/ 74 h 303"/>
                <a:gd name="T78" fmla="*/ 531 w 683"/>
                <a:gd name="T79" fmla="*/ 34 h 303"/>
                <a:gd name="T80" fmla="*/ 561 w 683"/>
                <a:gd name="T81" fmla="*/ 49 h 303"/>
                <a:gd name="T82" fmla="*/ 578 w 683"/>
                <a:gd name="T83" fmla="*/ 94 h 303"/>
                <a:gd name="T84" fmla="*/ 602 w 683"/>
                <a:gd name="T85" fmla="*/ 42 h 303"/>
                <a:gd name="T86" fmla="*/ 614 w 683"/>
                <a:gd name="T87" fmla="*/ 48 h 303"/>
                <a:gd name="T88" fmla="*/ 587 w 683"/>
                <a:gd name="T89" fmla="*/ 111 h 303"/>
                <a:gd name="T90" fmla="*/ 595 w 683"/>
                <a:gd name="T91" fmla="*/ 159 h 303"/>
                <a:gd name="T92" fmla="*/ 646 w 683"/>
                <a:gd name="T93" fmla="*/ 211 h 303"/>
                <a:gd name="T94" fmla="*/ 679 w 683"/>
                <a:gd name="T95" fmla="*/ 261 h 30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83"/>
                <a:gd name="T145" fmla="*/ 0 h 303"/>
                <a:gd name="T146" fmla="*/ 683 w 683"/>
                <a:gd name="T147" fmla="*/ 303 h 30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83" h="303">
                  <a:moveTo>
                    <a:pt x="650" y="303"/>
                  </a:moveTo>
                  <a:lnTo>
                    <a:pt x="640" y="292"/>
                  </a:lnTo>
                  <a:lnTo>
                    <a:pt x="618" y="275"/>
                  </a:lnTo>
                  <a:lnTo>
                    <a:pt x="594" y="261"/>
                  </a:lnTo>
                  <a:lnTo>
                    <a:pt x="567" y="249"/>
                  </a:lnTo>
                  <a:lnTo>
                    <a:pt x="544" y="243"/>
                  </a:lnTo>
                  <a:lnTo>
                    <a:pt x="524" y="239"/>
                  </a:lnTo>
                  <a:lnTo>
                    <a:pt x="504" y="235"/>
                  </a:lnTo>
                  <a:lnTo>
                    <a:pt x="485" y="227"/>
                  </a:lnTo>
                  <a:lnTo>
                    <a:pt x="466" y="217"/>
                  </a:lnTo>
                  <a:lnTo>
                    <a:pt x="454" y="208"/>
                  </a:lnTo>
                  <a:lnTo>
                    <a:pt x="437" y="194"/>
                  </a:lnTo>
                  <a:lnTo>
                    <a:pt x="421" y="178"/>
                  </a:lnTo>
                  <a:lnTo>
                    <a:pt x="403" y="161"/>
                  </a:lnTo>
                  <a:lnTo>
                    <a:pt x="390" y="151"/>
                  </a:lnTo>
                  <a:lnTo>
                    <a:pt x="375" y="145"/>
                  </a:lnTo>
                  <a:lnTo>
                    <a:pt x="357" y="139"/>
                  </a:lnTo>
                  <a:lnTo>
                    <a:pt x="338" y="136"/>
                  </a:lnTo>
                  <a:lnTo>
                    <a:pt x="317" y="135"/>
                  </a:lnTo>
                  <a:lnTo>
                    <a:pt x="296" y="135"/>
                  </a:lnTo>
                  <a:lnTo>
                    <a:pt x="271" y="137"/>
                  </a:lnTo>
                  <a:lnTo>
                    <a:pt x="247" y="140"/>
                  </a:lnTo>
                  <a:lnTo>
                    <a:pt x="224" y="146"/>
                  </a:lnTo>
                  <a:lnTo>
                    <a:pt x="199" y="149"/>
                  </a:lnTo>
                  <a:lnTo>
                    <a:pt x="179" y="148"/>
                  </a:lnTo>
                  <a:lnTo>
                    <a:pt x="158" y="145"/>
                  </a:lnTo>
                  <a:lnTo>
                    <a:pt x="140" y="139"/>
                  </a:lnTo>
                  <a:lnTo>
                    <a:pt x="124" y="129"/>
                  </a:lnTo>
                  <a:lnTo>
                    <a:pt x="108" y="116"/>
                  </a:lnTo>
                  <a:lnTo>
                    <a:pt x="94" y="105"/>
                  </a:lnTo>
                  <a:lnTo>
                    <a:pt x="80" y="97"/>
                  </a:lnTo>
                  <a:lnTo>
                    <a:pt x="64" y="92"/>
                  </a:lnTo>
                  <a:lnTo>
                    <a:pt x="46" y="87"/>
                  </a:lnTo>
                  <a:lnTo>
                    <a:pt x="26" y="80"/>
                  </a:lnTo>
                  <a:lnTo>
                    <a:pt x="15" y="76"/>
                  </a:lnTo>
                  <a:lnTo>
                    <a:pt x="9" y="70"/>
                  </a:lnTo>
                  <a:lnTo>
                    <a:pt x="4" y="66"/>
                  </a:lnTo>
                  <a:lnTo>
                    <a:pt x="0" y="51"/>
                  </a:lnTo>
                  <a:lnTo>
                    <a:pt x="7" y="49"/>
                  </a:lnTo>
                  <a:lnTo>
                    <a:pt x="11" y="59"/>
                  </a:lnTo>
                  <a:lnTo>
                    <a:pt x="15" y="67"/>
                  </a:lnTo>
                  <a:lnTo>
                    <a:pt x="24" y="70"/>
                  </a:lnTo>
                  <a:lnTo>
                    <a:pt x="46" y="77"/>
                  </a:lnTo>
                  <a:lnTo>
                    <a:pt x="70" y="84"/>
                  </a:lnTo>
                  <a:lnTo>
                    <a:pt x="86" y="88"/>
                  </a:lnTo>
                  <a:lnTo>
                    <a:pt x="92" y="90"/>
                  </a:lnTo>
                  <a:lnTo>
                    <a:pt x="91" y="79"/>
                  </a:lnTo>
                  <a:lnTo>
                    <a:pt x="91" y="66"/>
                  </a:lnTo>
                  <a:lnTo>
                    <a:pt x="91" y="49"/>
                  </a:lnTo>
                  <a:lnTo>
                    <a:pt x="92" y="32"/>
                  </a:lnTo>
                  <a:lnTo>
                    <a:pt x="92" y="18"/>
                  </a:lnTo>
                  <a:lnTo>
                    <a:pt x="98" y="18"/>
                  </a:lnTo>
                  <a:lnTo>
                    <a:pt x="97" y="31"/>
                  </a:lnTo>
                  <a:lnTo>
                    <a:pt x="97" y="49"/>
                  </a:lnTo>
                  <a:lnTo>
                    <a:pt x="100" y="67"/>
                  </a:lnTo>
                  <a:lnTo>
                    <a:pt x="104" y="82"/>
                  </a:lnTo>
                  <a:lnTo>
                    <a:pt x="111" y="91"/>
                  </a:lnTo>
                  <a:lnTo>
                    <a:pt x="118" y="96"/>
                  </a:lnTo>
                  <a:lnTo>
                    <a:pt x="129" y="103"/>
                  </a:lnTo>
                  <a:lnTo>
                    <a:pt x="142" y="108"/>
                  </a:lnTo>
                  <a:lnTo>
                    <a:pt x="158" y="112"/>
                  </a:lnTo>
                  <a:lnTo>
                    <a:pt x="175" y="115"/>
                  </a:lnTo>
                  <a:lnTo>
                    <a:pt x="187" y="115"/>
                  </a:lnTo>
                  <a:lnTo>
                    <a:pt x="175" y="106"/>
                  </a:lnTo>
                  <a:lnTo>
                    <a:pt x="161" y="95"/>
                  </a:lnTo>
                  <a:lnTo>
                    <a:pt x="150" y="84"/>
                  </a:lnTo>
                  <a:lnTo>
                    <a:pt x="141" y="70"/>
                  </a:lnTo>
                  <a:lnTo>
                    <a:pt x="137" y="58"/>
                  </a:lnTo>
                  <a:lnTo>
                    <a:pt x="134" y="43"/>
                  </a:lnTo>
                  <a:lnTo>
                    <a:pt x="132" y="32"/>
                  </a:lnTo>
                  <a:lnTo>
                    <a:pt x="134" y="21"/>
                  </a:lnTo>
                  <a:lnTo>
                    <a:pt x="141" y="22"/>
                  </a:lnTo>
                  <a:lnTo>
                    <a:pt x="141" y="28"/>
                  </a:lnTo>
                  <a:lnTo>
                    <a:pt x="141" y="44"/>
                  </a:lnTo>
                  <a:lnTo>
                    <a:pt x="145" y="58"/>
                  </a:lnTo>
                  <a:lnTo>
                    <a:pt x="151" y="70"/>
                  </a:lnTo>
                  <a:lnTo>
                    <a:pt x="162" y="82"/>
                  </a:lnTo>
                  <a:lnTo>
                    <a:pt x="174" y="93"/>
                  </a:lnTo>
                  <a:lnTo>
                    <a:pt x="190" y="102"/>
                  </a:lnTo>
                  <a:lnTo>
                    <a:pt x="205" y="110"/>
                  </a:lnTo>
                  <a:lnTo>
                    <a:pt x="219" y="112"/>
                  </a:lnTo>
                  <a:lnTo>
                    <a:pt x="236" y="106"/>
                  </a:lnTo>
                  <a:lnTo>
                    <a:pt x="254" y="100"/>
                  </a:lnTo>
                  <a:lnTo>
                    <a:pt x="275" y="94"/>
                  </a:lnTo>
                  <a:lnTo>
                    <a:pt x="298" y="90"/>
                  </a:lnTo>
                  <a:lnTo>
                    <a:pt x="312" y="90"/>
                  </a:lnTo>
                  <a:lnTo>
                    <a:pt x="329" y="91"/>
                  </a:lnTo>
                  <a:lnTo>
                    <a:pt x="350" y="94"/>
                  </a:lnTo>
                  <a:lnTo>
                    <a:pt x="329" y="78"/>
                  </a:lnTo>
                  <a:lnTo>
                    <a:pt x="317" y="69"/>
                  </a:lnTo>
                  <a:lnTo>
                    <a:pt x="301" y="61"/>
                  </a:lnTo>
                  <a:lnTo>
                    <a:pt x="287" y="56"/>
                  </a:lnTo>
                  <a:lnTo>
                    <a:pt x="279" y="50"/>
                  </a:lnTo>
                  <a:lnTo>
                    <a:pt x="274" y="47"/>
                  </a:lnTo>
                  <a:lnTo>
                    <a:pt x="272" y="43"/>
                  </a:lnTo>
                  <a:lnTo>
                    <a:pt x="266" y="33"/>
                  </a:lnTo>
                  <a:lnTo>
                    <a:pt x="262" y="22"/>
                  </a:lnTo>
                  <a:lnTo>
                    <a:pt x="258" y="13"/>
                  </a:lnTo>
                  <a:lnTo>
                    <a:pt x="250" y="1"/>
                  </a:lnTo>
                  <a:lnTo>
                    <a:pt x="255" y="0"/>
                  </a:lnTo>
                  <a:lnTo>
                    <a:pt x="263" y="10"/>
                  </a:lnTo>
                  <a:lnTo>
                    <a:pt x="267" y="18"/>
                  </a:lnTo>
                  <a:lnTo>
                    <a:pt x="272" y="27"/>
                  </a:lnTo>
                  <a:lnTo>
                    <a:pt x="275" y="35"/>
                  </a:lnTo>
                  <a:lnTo>
                    <a:pt x="283" y="43"/>
                  </a:lnTo>
                  <a:lnTo>
                    <a:pt x="293" y="49"/>
                  </a:lnTo>
                  <a:lnTo>
                    <a:pt x="308" y="57"/>
                  </a:lnTo>
                  <a:lnTo>
                    <a:pt x="326" y="63"/>
                  </a:lnTo>
                  <a:lnTo>
                    <a:pt x="342" y="74"/>
                  </a:lnTo>
                  <a:lnTo>
                    <a:pt x="354" y="82"/>
                  </a:lnTo>
                  <a:lnTo>
                    <a:pt x="371" y="94"/>
                  </a:lnTo>
                  <a:lnTo>
                    <a:pt x="366" y="78"/>
                  </a:lnTo>
                  <a:lnTo>
                    <a:pt x="364" y="65"/>
                  </a:lnTo>
                  <a:lnTo>
                    <a:pt x="366" y="54"/>
                  </a:lnTo>
                  <a:lnTo>
                    <a:pt x="369" y="40"/>
                  </a:lnTo>
                  <a:lnTo>
                    <a:pt x="371" y="28"/>
                  </a:lnTo>
                  <a:lnTo>
                    <a:pt x="369" y="18"/>
                  </a:lnTo>
                  <a:lnTo>
                    <a:pt x="382" y="23"/>
                  </a:lnTo>
                  <a:lnTo>
                    <a:pt x="382" y="27"/>
                  </a:lnTo>
                  <a:lnTo>
                    <a:pt x="380" y="40"/>
                  </a:lnTo>
                  <a:lnTo>
                    <a:pt x="377" y="57"/>
                  </a:lnTo>
                  <a:lnTo>
                    <a:pt x="377" y="70"/>
                  </a:lnTo>
                  <a:lnTo>
                    <a:pt x="382" y="85"/>
                  </a:lnTo>
                  <a:lnTo>
                    <a:pt x="389" y="102"/>
                  </a:lnTo>
                  <a:lnTo>
                    <a:pt x="397" y="112"/>
                  </a:lnTo>
                  <a:lnTo>
                    <a:pt x="409" y="119"/>
                  </a:lnTo>
                  <a:lnTo>
                    <a:pt x="424" y="126"/>
                  </a:lnTo>
                  <a:lnTo>
                    <a:pt x="455" y="135"/>
                  </a:lnTo>
                  <a:lnTo>
                    <a:pt x="478" y="145"/>
                  </a:lnTo>
                  <a:lnTo>
                    <a:pt x="486" y="150"/>
                  </a:lnTo>
                  <a:lnTo>
                    <a:pt x="493" y="158"/>
                  </a:lnTo>
                  <a:lnTo>
                    <a:pt x="501" y="162"/>
                  </a:lnTo>
                  <a:lnTo>
                    <a:pt x="509" y="166"/>
                  </a:lnTo>
                  <a:lnTo>
                    <a:pt x="540" y="175"/>
                  </a:lnTo>
                  <a:lnTo>
                    <a:pt x="565" y="185"/>
                  </a:lnTo>
                  <a:lnTo>
                    <a:pt x="584" y="194"/>
                  </a:lnTo>
                  <a:lnTo>
                    <a:pt x="609" y="206"/>
                  </a:lnTo>
                  <a:lnTo>
                    <a:pt x="621" y="216"/>
                  </a:lnTo>
                  <a:lnTo>
                    <a:pt x="621" y="212"/>
                  </a:lnTo>
                  <a:lnTo>
                    <a:pt x="616" y="203"/>
                  </a:lnTo>
                  <a:lnTo>
                    <a:pt x="609" y="191"/>
                  </a:lnTo>
                  <a:lnTo>
                    <a:pt x="595" y="178"/>
                  </a:lnTo>
                  <a:lnTo>
                    <a:pt x="583" y="168"/>
                  </a:lnTo>
                  <a:lnTo>
                    <a:pt x="574" y="159"/>
                  </a:lnTo>
                  <a:lnTo>
                    <a:pt x="566" y="148"/>
                  </a:lnTo>
                  <a:lnTo>
                    <a:pt x="560" y="135"/>
                  </a:lnTo>
                  <a:lnTo>
                    <a:pt x="559" y="118"/>
                  </a:lnTo>
                  <a:lnTo>
                    <a:pt x="561" y="102"/>
                  </a:lnTo>
                  <a:lnTo>
                    <a:pt x="566" y="90"/>
                  </a:lnTo>
                  <a:lnTo>
                    <a:pt x="567" y="82"/>
                  </a:lnTo>
                  <a:lnTo>
                    <a:pt x="568" y="74"/>
                  </a:lnTo>
                  <a:lnTo>
                    <a:pt x="565" y="67"/>
                  </a:lnTo>
                  <a:lnTo>
                    <a:pt x="560" y="60"/>
                  </a:lnTo>
                  <a:lnTo>
                    <a:pt x="546" y="49"/>
                  </a:lnTo>
                  <a:lnTo>
                    <a:pt x="531" y="34"/>
                  </a:lnTo>
                  <a:lnTo>
                    <a:pt x="541" y="32"/>
                  </a:lnTo>
                  <a:lnTo>
                    <a:pt x="550" y="42"/>
                  </a:lnTo>
                  <a:lnTo>
                    <a:pt x="561" y="49"/>
                  </a:lnTo>
                  <a:lnTo>
                    <a:pt x="568" y="57"/>
                  </a:lnTo>
                  <a:lnTo>
                    <a:pt x="576" y="67"/>
                  </a:lnTo>
                  <a:lnTo>
                    <a:pt x="578" y="77"/>
                  </a:lnTo>
                  <a:lnTo>
                    <a:pt x="578" y="94"/>
                  </a:lnTo>
                  <a:lnTo>
                    <a:pt x="584" y="82"/>
                  </a:lnTo>
                  <a:lnTo>
                    <a:pt x="592" y="68"/>
                  </a:lnTo>
                  <a:lnTo>
                    <a:pt x="598" y="52"/>
                  </a:lnTo>
                  <a:lnTo>
                    <a:pt x="602" y="42"/>
                  </a:lnTo>
                  <a:lnTo>
                    <a:pt x="608" y="32"/>
                  </a:lnTo>
                  <a:lnTo>
                    <a:pt x="614" y="34"/>
                  </a:lnTo>
                  <a:lnTo>
                    <a:pt x="620" y="39"/>
                  </a:lnTo>
                  <a:lnTo>
                    <a:pt x="614" y="48"/>
                  </a:lnTo>
                  <a:lnTo>
                    <a:pt x="608" y="63"/>
                  </a:lnTo>
                  <a:lnTo>
                    <a:pt x="601" y="80"/>
                  </a:lnTo>
                  <a:lnTo>
                    <a:pt x="593" y="97"/>
                  </a:lnTo>
                  <a:lnTo>
                    <a:pt x="587" y="111"/>
                  </a:lnTo>
                  <a:lnTo>
                    <a:pt x="583" y="123"/>
                  </a:lnTo>
                  <a:lnTo>
                    <a:pt x="583" y="136"/>
                  </a:lnTo>
                  <a:lnTo>
                    <a:pt x="588" y="149"/>
                  </a:lnTo>
                  <a:lnTo>
                    <a:pt x="595" y="159"/>
                  </a:lnTo>
                  <a:lnTo>
                    <a:pt x="608" y="170"/>
                  </a:lnTo>
                  <a:lnTo>
                    <a:pt x="620" y="183"/>
                  </a:lnTo>
                  <a:lnTo>
                    <a:pt x="634" y="198"/>
                  </a:lnTo>
                  <a:lnTo>
                    <a:pt x="646" y="211"/>
                  </a:lnTo>
                  <a:lnTo>
                    <a:pt x="659" y="226"/>
                  </a:lnTo>
                  <a:lnTo>
                    <a:pt x="667" y="238"/>
                  </a:lnTo>
                  <a:lnTo>
                    <a:pt x="673" y="249"/>
                  </a:lnTo>
                  <a:lnTo>
                    <a:pt x="679" y="261"/>
                  </a:lnTo>
                  <a:lnTo>
                    <a:pt x="683" y="274"/>
                  </a:lnTo>
                  <a:lnTo>
                    <a:pt x="650" y="303"/>
                  </a:lnTo>
                  <a:close/>
                </a:path>
              </a:pathLst>
            </a:custGeom>
            <a:solidFill>
              <a:srgbClr val="FFFFFF"/>
            </a:solidFill>
            <a:ln w="0">
              <a:solidFill>
                <a:srgbClr val="FFFFFF"/>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25" name="Freeform 29">
              <a:extLst>
                <a:ext uri="{FF2B5EF4-FFF2-40B4-BE49-F238E27FC236}">
                  <a16:creationId xmlns:a16="http://schemas.microsoft.com/office/drawing/2014/main" id="{67B03338-35A8-4C49-8E39-AF280C118340}"/>
                </a:ext>
              </a:extLst>
            </p:cNvPr>
            <p:cNvSpPr>
              <a:spLocks/>
            </p:cNvSpPr>
            <p:nvPr/>
          </p:nvSpPr>
          <p:spPr bwMode="auto">
            <a:xfrm>
              <a:off x="3019" y="2683"/>
              <a:ext cx="5" cy="12"/>
            </a:xfrm>
            <a:custGeom>
              <a:avLst/>
              <a:gdLst>
                <a:gd name="T0" fmla="*/ 15 w 15"/>
                <a:gd name="T1" fmla="*/ 38 h 38"/>
                <a:gd name="T2" fmla="*/ 9 w 15"/>
                <a:gd name="T3" fmla="*/ 25 h 38"/>
                <a:gd name="T4" fmla="*/ 3 w 15"/>
                <a:gd name="T5" fmla="*/ 16 h 38"/>
                <a:gd name="T6" fmla="*/ 0 w 15"/>
                <a:gd name="T7" fmla="*/ 9 h 38"/>
                <a:gd name="T8" fmla="*/ 0 w 15"/>
                <a:gd name="T9" fmla="*/ 0 h 38"/>
                <a:gd name="T10" fmla="*/ 0 60000 65536"/>
                <a:gd name="T11" fmla="*/ 0 60000 65536"/>
                <a:gd name="T12" fmla="*/ 0 60000 65536"/>
                <a:gd name="T13" fmla="*/ 0 60000 65536"/>
                <a:gd name="T14" fmla="*/ 0 60000 65536"/>
                <a:gd name="T15" fmla="*/ 0 w 15"/>
                <a:gd name="T16" fmla="*/ 0 h 38"/>
                <a:gd name="T17" fmla="*/ 15 w 15"/>
                <a:gd name="T18" fmla="*/ 38 h 38"/>
              </a:gdLst>
              <a:ahLst/>
              <a:cxnLst>
                <a:cxn ang="T10">
                  <a:pos x="T0" y="T1"/>
                </a:cxn>
                <a:cxn ang="T11">
                  <a:pos x="T2" y="T3"/>
                </a:cxn>
                <a:cxn ang="T12">
                  <a:pos x="T4" y="T5"/>
                </a:cxn>
                <a:cxn ang="T13">
                  <a:pos x="T6" y="T7"/>
                </a:cxn>
                <a:cxn ang="T14">
                  <a:pos x="T8" y="T9"/>
                </a:cxn>
              </a:cxnLst>
              <a:rect l="T15" t="T16" r="T17" b="T18"/>
              <a:pathLst>
                <a:path w="15" h="38">
                  <a:moveTo>
                    <a:pt x="15" y="38"/>
                  </a:moveTo>
                  <a:lnTo>
                    <a:pt x="9" y="25"/>
                  </a:lnTo>
                  <a:lnTo>
                    <a:pt x="3" y="16"/>
                  </a:lnTo>
                  <a:lnTo>
                    <a:pt x="0" y="9"/>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26" name="Freeform 30">
              <a:extLst>
                <a:ext uri="{FF2B5EF4-FFF2-40B4-BE49-F238E27FC236}">
                  <a16:creationId xmlns:a16="http://schemas.microsoft.com/office/drawing/2014/main" id="{121F24D1-826B-404F-BE6E-7F58EB5B6322}"/>
                </a:ext>
              </a:extLst>
            </p:cNvPr>
            <p:cNvSpPr>
              <a:spLocks/>
            </p:cNvSpPr>
            <p:nvPr/>
          </p:nvSpPr>
          <p:spPr bwMode="auto">
            <a:xfrm>
              <a:off x="2830" y="2533"/>
              <a:ext cx="69" cy="36"/>
            </a:xfrm>
            <a:custGeom>
              <a:avLst/>
              <a:gdLst>
                <a:gd name="T0" fmla="*/ 0 w 208"/>
                <a:gd name="T1" fmla="*/ 20 h 110"/>
                <a:gd name="T2" fmla="*/ 0 w 208"/>
                <a:gd name="T3" fmla="*/ 27 h 110"/>
                <a:gd name="T4" fmla="*/ 0 w 208"/>
                <a:gd name="T5" fmla="*/ 42 h 110"/>
                <a:gd name="T6" fmla="*/ 4 w 208"/>
                <a:gd name="T7" fmla="*/ 56 h 110"/>
                <a:gd name="T8" fmla="*/ 10 w 208"/>
                <a:gd name="T9" fmla="*/ 68 h 110"/>
                <a:gd name="T10" fmla="*/ 21 w 208"/>
                <a:gd name="T11" fmla="*/ 80 h 110"/>
                <a:gd name="T12" fmla="*/ 33 w 208"/>
                <a:gd name="T13" fmla="*/ 91 h 110"/>
                <a:gd name="T14" fmla="*/ 49 w 208"/>
                <a:gd name="T15" fmla="*/ 100 h 110"/>
                <a:gd name="T16" fmla="*/ 64 w 208"/>
                <a:gd name="T17" fmla="*/ 108 h 110"/>
                <a:gd name="T18" fmla="*/ 78 w 208"/>
                <a:gd name="T19" fmla="*/ 110 h 110"/>
                <a:gd name="T20" fmla="*/ 95 w 208"/>
                <a:gd name="T21" fmla="*/ 104 h 110"/>
                <a:gd name="T22" fmla="*/ 112 w 208"/>
                <a:gd name="T23" fmla="*/ 98 h 110"/>
                <a:gd name="T24" fmla="*/ 133 w 208"/>
                <a:gd name="T25" fmla="*/ 92 h 110"/>
                <a:gd name="T26" fmla="*/ 157 w 208"/>
                <a:gd name="T27" fmla="*/ 88 h 110"/>
                <a:gd name="T28" fmla="*/ 170 w 208"/>
                <a:gd name="T29" fmla="*/ 88 h 110"/>
                <a:gd name="T30" fmla="*/ 187 w 208"/>
                <a:gd name="T31" fmla="*/ 89 h 110"/>
                <a:gd name="T32" fmla="*/ 208 w 208"/>
                <a:gd name="T33" fmla="*/ 92 h 110"/>
                <a:gd name="T34" fmla="*/ 187 w 208"/>
                <a:gd name="T35" fmla="*/ 76 h 110"/>
                <a:gd name="T36" fmla="*/ 175 w 208"/>
                <a:gd name="T37" fmla="*/ 67 h 110"/>
                <a:gd name="T38" fmla="*/ 159 w 208"/>
                <a:gd name="T39" fmla="*/ 59 h 110"/>
                <a:gd name="T40" fmla="*/ 145 w 208"/>
                <a:gd name="T41" fmla="*/ 54 h 110"/>
                <a:gd name="T42" fmla="*/ 137 w 208"/>
                <a:gd name="T43" fmla="*/ 48 h 110"/>
                <a:gd name="T44" fmla="*/ 132 w 208"/>
                <a:gd name="T45" fmla="*/ 45 h 110"/>
                <a:gd name="T46" fmla="*/ 130 w 208"/>
                <a:gd name="T47" fmla="*/ 41 h 110"/>
                <a:gd name="T48" fmla="*/ 124 w 208"/>
                <a:gd name="T49" fmla="*/ 32 h 110"/>
                <a:gd name="T50" fmla="*/ 120 w 208"/>
                <a:gd name="T51" fmla="*/ 20 h 110"/>
                <a:gd name="T52" fmla="*/ 115 w 208"/>
                <a:gd name="T53" fmla="*/ 12 h 110"/>
                <a:gd name="T54" fmla="*/ 108 w 208"/>
                <a:gd name="T55" fmla="*/ 0 h 11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08"/>
                <a:gd name="T85" fmla="*/ 0 h 110"/>
                <a:gd name="T86" fmla="*/ 208 w 208"/>
                <a:gd name="T87" fmla="*/ 110 h 11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08" h="110">
                  <a:moveTo>
                    <a:pt x="0" y="20"/>
                  </a:moveTo>
                  <a:lnTo>
                    <a:pt x="0" y="27"/>
                  </a:lnTo>
                  <a:lnTo>
                    <a:pt x="0" y="42"/>
                  </a:lnTo>
                  <a:lnTo>
                    <a:pt x="4" y="56"/>
                  </a:lnTo>
                  <a:lnTo>
                    <a:pt x="10" y="68"/>
                  </a:lnTo>
                  <a:lnTo>
                    <a:pt x="21" y="80"/>
                  </a:lnTo>
                  <a:lnTo>
                    <a:pt x="33" y="91"/>
                  </a:lnTo>
                  <a:lnTo>
                    <a:pt x="49" y="100"/>
                  </a:lnTo>
                  <a:lnTo>
                    <a:pt x="64" y="108"/>
                  </a:lnTo>
                  <a:lnTo>
                    <a:pt x="78" y="110"/>
                  </a:lnTo>
                  <a:lnTo>
                    <a:pt x="95" y="104"/>
                  </a:lnTo>
                  <a:lnTo>
                    <a:pt x="112" y="98"/>
                  </a:lnTo>
                  <a:lnTo>
                    <a:pt x="133" y="92"/>
                  </a:lnTo>
                  <a:lnTo>
                    <a:pt x="157" y="88"/>
                  </a:lnTo>
                  <a:lnTo>
                    <a:pt x="170" y="88"/>
                  </a:lnTo>
                  <a:lnTo>
                    <a:pt x="187" y="89"/>
                  </a:lnTo>
                  <a:lnTo>
                    <a:pt x="208" y="92"/>
                  </a:lnTo>
                  <a:lnTo>
                    <a:pt x="187" y="76"/>
                  </a:lnTo>
                  <a:lnTo>
                    <a:pt x="175" y="67"/>
                  </a:lnTo>
                  <a:lnTo>
                    <a:pt x="159" y="59"/>
                  </a:lnTo>
                  <a:lnTo>
                    <a:pt x="145" y="54"/>
                  </a:lnTo>
                  <a:lnTo>
                    <a:pt x="137" y="48"/>
                  </a:lnTo>
                  <a:lnTo>
                    <a:pt x="132" y="45"/>
                  </a:lnTo>
                  <a:lnTo>
                    <a:pt x="130" y="41"/>
                  </a:lnTo>
                  <a:lnTo>
                    <a:pt x="124" y="32"/>
                  </a:lnTo>
                  <a:lnTo>
                    <a:pt x="120" y="20"/>
                  </a:lnTo>
                  <a:lnTo>
                    <a:pt x="115" y="12"/>
                  </a:lnTo>
                  <a:lnTo>
                    <a:pt x="108"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27" name="Freeform 31">
              <a:extLst>
                <a:ext uri="{FF2B5EF4-FFF2-40B4-BE49-F238E27FC236}">
                  <a16:creationId xmlns:a16="http://schemas.microsoft.com/office/drawing/2014/main" id="{2B895E8B-AF77-4E40-8296-72109F93EBAC}"/>
                </a:ext>
              </a:extLst>
            </p:cNvPr>
            <p:cNvSpPr>
              <a:spLocks/>
            </p:cNvSpPr>
            <p:nvPr/>
          </p:nvSpPr>
          <p:spPr bwMode="auto">
            <a:xfrm>
              <a:off x="2815" y="2538"/>
              <a:ext cx="30" cy="32"/>
            </a:xfrm>
            <a:custGeom>
              <a:avLst/>
              <a:gdLst>
                <a:gd name="T0" fmla="*/ 37 w 90"/>
                <a:gd name="T1" fmla="*/ 4 h 97"/>
                <a:gd name="T2" fmla="*/ 35 w 90"/>
                <a:gd name="T3" fmla="*/ 14 h 97"/>
                <a:gd name="T4" fmla="*/ 37 w 90"/>
                <a:gd name="T5" fmla="*/ 25 h 97"/>
                <a:gd name="T6" fmla="*/ 40 w 90"/>
                <a:gd name="T7" fmla="*/ 41 h 97"/>
                <a:gd name="T8" fmla="*/ 44 w 90"/>
                <a:gd name="T9" fmla="*/ 52 h 97"/>
                <a:gd name="T10" fmla="*/ 53 w 90"/>
                <a:gd name="T11" fmla="*/ 66 h 97"/>
                <a:gd name="T12" fmla="*/ 63 w 90"/>
                <a:gd name="T13" fmla="*/ 77 h 97"/>
                <a:gd name="T14" fmla="*/ 78 w 90"/>
                <a:gd name="T15" fmla="*/ 88 h 97"/>
                <a:gd name="T16" fmla="*/ 90 w 90"/>
                <a:gd name="T17" fmla="*/ 97 h 97"/>
                <a:gd name="T18" fmla="*/ 78 w 90"/>
                <a:gd name="T19" fmla="*/ 97 h 97"/>
                <a:gd name="T20" fmla="*/ 61 w 90"/>
                <a:gd name="T21" fmla="*/ 94 h 97"/>
                <a:gd name="T22" fmla="*/ 45 w 90"/>
                <a:gd name="T23" fmla="*/ 90 h 97"/>
                <a:gd name="T24" fmla="*/ 32 w 90"/>
                <a:gd name="T25" fmla="*/ 85 h 97"/>
                <a:gd name="T26" fmla="*/ 21 w 90"/>
                <a:gd name="T27" fmla="*/ 78 h 97"/>
                <a:gd name="T28" fmla="*/ 14 w 90"/>
                <a:gd name="T29" fmla="*/ 73 h 97"/>
                <a:gd name="T30" fmla="*/ 7 w 90"/>
                <a:gd name="T31" fmla="*/ 64 h 97"/>
                <a:gd name="T32" fmla="*/ 3 w 90"/>
                <a:gd name="T33" fmla="*/ 49 h 97"/>
                <a:gd name="T34" fmla="*/ 0 w 90"/>
                <a:gd name="T35" fmla="*/ 32 h 97"/>
                <a:gd name="T36" fmla="*/ 0 w 90"/>
                <a:gd name="T37" fmla="*/ 13 h 97"/>
                <a:gd name="T38" fmla="*/ 1 w 90"/>
                <a:gd name="T39" fmla="*/ 0 h 9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0"/>
                <a:gd name="T61" fmla="*/ 0 h 97"/>
                <a:gd name="T62" fmla="*/ 90 w 90"/>
                <a:gd name="T63" fmla="*/ 97 h 9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0" h="97">
                  <a:moveTo>
                    <a:pt x="37" y="4"/>
                  </a:moveTo>
                  <a:lnTo>
                    <a:pt x="35" y="14"/>
                  </a:lnTo>
                  <a:lnTo>
                    <a:pt x="37" y="25"/>
                  </a:lnTo>
                  <a:lnTo>
                    <a:pt x="40" y="41"/>
                  </a:lnTo>
                  <a:lnTo>
                    <a:pt x="44" y="52"/>
                  </a:lnTo>
                  <a:lnTo>
                    <a:pt x="53" y="66"/>
                  </a:lnTo>
                  <a:lnTo>
                    <a:pt x="63" y="77"/>
                  </a:lnTo>
                  <a:lnTo>
                    <a:pt x="78" y="88"/>
                  </a:lnTo>
                  <a:lnTo>
                    <a:pt x="90" y="97"/>
                  </a:lnTo>
                  <a:lnTo>
                    <a:pt x="78" y="97"/>
                  </a:lnTo>
                  <a:lnTo>
                    <a:pt x="61" y="94"/>
                  </a:lnTo>
                  <a:lnTo>
                    <a:pt x="45" y="90"/>
                  </a:lnTo>
                  <a:lnTo>
                    <a:pt x="32" y="85"/>
                  </a:lnTo>
                  <a:lnTo>
                    <a:pt x="21" y="78"/>
                  </a:lnTo>
                  <a:lnTo>
                    <a:pt x="14" y="73"/>
                  </a:lnTo>
                  <a:lnTo>
                    <a:pt x="7" y="64"/>
                  </a:lnTo>
                  <a:lnTo>
                    <a:pt x="3" y="49"/>
                  </a:lnTo>
                  <a:lnTo>
                    <a:pt x="0" y="32"/>
                  </a:lnTo>
                  <a:lnTo>
                    <a:pt x="0" y="13"/>
                  </a:lnTo>
                  <a:lnTo>
                    <a:pt x="1"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28" name="Freeform 32">
              <a:extLst>
                <a:ext uri="{FF2B5EF4-FFF2-40B4-BE49-F238E27FC236}">
                  <a16:creationId xmlns:a16="http://schemas.microsoft.com/office/drawing/2014/main" id="{DCC68E11-BC85-7A4C-9D05-91CD43A09C28}"/>
                </a:ext>
              </a:extLst>
            </p:cNvPr>
            <p:cNvSpPr>
              <a:spLocks/>
            </p:cNvSpPr>
            <p:nvPr/>
          </p:nvSpPr>
          <p:spPr bwMode="auto">
            <a:xfrm>
              <a:off x="2785" y="2538"/>
              <a:ext cx="28" cy="24"/>
            </a:xfrm>
            <a:custGeom>
              <a:avLst/>
              <a:gdLst>
                <a:gd name="T0" fmla="*/ 84 w 84"/>
                <a:gd name="T1" fmla="*/ 0 h 72"/>
                <a:gd name="T2" fmla="*/ 84 w 84"/>
                <a:gd name="T3" fmla="*/ 14 h 72"/>
                <a:gd name="T4" fmla="*/ 84 w 84"/>
                <a:gd name="T5" fmla="*/ 31 h 72"/>
                <a:gd name="T6" fmla="*/ 84 w 84"/>
                <a:gd name="T7" fmla="*/ 48 h 72"/>
                <a:gd name="T8" fmla="*/ 84 w 84"/>
                <a:gd name="T9" fmla="*/ 61 h 72"/>
                <a:gd name="T10" fmla="*/ 84 w 84"/>
                <a:gd name="T11" fmla="*/ 72 h 72"/>
                <a:gd name="T12" fmla="*/ 79 w 84"/>
                <a:gd name="T13" fmla="*/ 70 h 72"/>
                <a:gd name="T14" fmla="*/ 63 w 84"/>
                <a:gd name="T15" fmla="*/ 66 h 72"/>
                <a:gd name="T16" fmla="*/ 39 w 84"/>
                <a:gd name="T17" fmla="*/ 59 h 72"/>
                <a:gd name="T18" fmla="*/ 17 w 84"/>
                <a:gd name="T19" fmla="*/ 52 h 72"/>
                <a:gd name="T20" fmla="*/ 8 w 84"/>
                <a:gd name="T21" fmla="*/ 49 h 72"/>
                <a:gd name="T22" fmla="*/ 4 w 84"/>
                <a:gd name="T23" fmla="*/ 41 h 72"/>
                <a:gd name="T24" fmla="*/ 0 w 84"/>
                <a:gd name="T25" fmla="*/ 31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4"/>
                <a:gd name="T40" fmla="*/ 0 h 72"/>
                <a:gd name="T41" fmla="*/ 84 w 84"/>
                <a:gd name="T42" fmla="*/ 72 h 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4" h="72">
                  <a:moveTo>
                    <a:pt x="84" y="0"/>
                  </a:moveTo>
                  <a:lnTo>
                    <a:pt x="84" y="14"/>
                  </a:lnTo>
                  <a:lnTo>
                    <a:pt x="84" y="31"/>
                  </a:lnTo>
                  <a:lnTo>
                    <a:pt x="84" y="48"/>
                  </a:lnTo>
                  <a:lnTo>
                    <a:pt x="84" y="61"/>
                  </a:lnTo>
                  <a:lnTo>
                    <a:pt x="84" y="72"/>
                  </a:lnTo>
                  <a:lnTo>
                    <a:pt x="79" y="70"/>
                  </a:lnTo>
                  <a:lnTo>
                    <a:pt x="63" y="66"/>
                  </a:lnTo>
                  <a:lnTo>
                    <a:pt x="39" y="59"/>
                  </a:lnTo>
                  <a:lnTo>
                    <a:pt x="17" y="52"/>
                  </a:lnTo>
                  <a:lnTo>
                    <a:pt x="8" y="49"/>
                  </a:lnTo>
                  <a:lnTo>
                    <a:pt x="4" y="41"/>
                  </a:lnTo>
                  <a:lnTo>
                    <a:pt x="0" y="31"/>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29" name="Freeform 33">
              <a:extLst>
                <a:ext uri="{FF2B5EF4-FFF2-40B4-BE49-F238E27FC236}">
                  <a16:creationId xmlns:a16="http://schemas.microsoft.com/office/drawing/2014/main" id="{C0F7CEA1-59DA-E14E-B349-58D3BBA8E43F}"/>
                </a:ext>
              </a:extLst>
            </p:cNvPr>
            <p:cNvSpPr>
              <a:spLocks/>
            </p:cNvSpPr>
            <p:nvPr/>
          </p:nvSpPr>
          <p:spPr bwMode="auto">
            <a:xfrm>
              <a:off x="2868" y="2532"/>
              <a:ext cx="38" cy="31"/>
            </a:xfrm>
            <a:custGeom>
              <a:avLst/>
              <a:gdLst>
                <a:gd name="T0" fmla="*/ 0 w 114"/>
                <a:gd name="T1" fmla="*/ 0 h 94"/>
                <a:gd name="T2" fmla="*/ 8 w 114"/>
                <a:gd name="T3" fmla="*/ 10 h 94"/>
                <a:gd name="T4" fmla="*/ 12 w 114"/>
                <a:gd name="T5" fmla="*/ 20 h 94"/>
                <a:gd name="T6" fmla="*/ 17 w 114"/>
                <a:gd name="T7" fmla="*/ 27 h 94"/>
                <a:gd name="T8" fmla="*/ 20 w 114"/>
                <a:gd name="T9" fmla="*/ 35 h 94"/>
                <a:gd name="T10" fmla="*/ 28 w 114"/>
                <a:gd name="T11" fmla="*/ 44 h 94"/>
                <a:gd name="T12" fmla="*/ 38 w 114"/>
                <a:gd name="T13" fmla="*/ 49 h 94"/>
                <a:gd name="T14" fmla="*/ 53 w 114"/>
                <a:gd name="T15" fmla="*/ 57 h 94"/>
                <a:gd name="T16" fmla="*/ 71 w 114"/>
                <a:gd name="T17" fmla="*/ 63 h 94"/>
                <a:gd name="T18" fmla="*/ 86 w 114"/>
                <a:gd name="T19" fmla="*/ 74 h 94"/>
                <a:gd name="T20" fmla="*/ 99 w 114"/>
                <a:gd name="T21" fmla="*/ 82 h 94"/>
                <a:gd name="T22" fmla="*/ 114 w 114"/>
                <a:gd name="T23" fmla="*/ 94 h 94"/>
                <a:gd name="T24" fmla="*/ 111 w 114"/>
                <a:gd name="T25" fmla="*/ 78 h 94"/>
                <a:gd name="T26" fmla="*/ 109 w 114"/>
                <a:gd name="T27" fmla="*/ 65 h 94"/>
                <a:gd name="T28" fmla="*/ 111 w 114"/>
                <a:gd name="T29" fmla="*/ 54 h 94"/>
                <a:gd name="T30" fmla="*/ 113 w 114"/>
                <a:gd name="T31" fmla="*/ 40 h 94"/>
                <a:gd name="T32" fmla="*/ 114 w 114"/>
                <a:gd name="T33" fmla="*/ 28 h 94"/>
                <a:gd name="T34" fmla="*/ 113 w 114"/>
                <a:gd name="T35" fmla="*/ 20 h 9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4"/>
                <a:gd name="T55" fmla="*/ 0 h 94"/>
                <a:gd name="T56" fmla="*/ 114 w 114"/>
                <a:gd name="T57" fmla="*/ 94 h 9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4" h="94">
                  <a:moveTo>
                    <a:pt x="0" y="0"/>
                  </a:moveTo>
                  <a:lnTo>
                    <a:pt x="8" y="10"/>
                  </a:lnTo>
                  <a:lnTo>
                    <a:pt x="12" y="20"/>
                  </a:lnTo>
                  <a:lnTo>
                    <a:pt x="17" y="27"/>
                  </a:lnTo>
                  <a:lnTo>
                    <a:pt x="20" y="35"/>
                  </a:lnTo>
                  <a:lnTo>
                    <a:pt x="28" y="44"/>
                  </a:lnTo>
                  <a:lnTo>
                    <a:pt x="38" y="49"/>
                  </a:lnTo>
                  <a:lnTo>
                    <a:pt x="53" y="57"/>
                  </a:lnTo>
                  <a:lnTo>
                    <a:pt x="71" y="63"/>
                  </a:lnTo>
                  <a:lnTo>
                    <a:pt x="86" y="74"/>
                  </a:lnTo>
                  <a:lnTo>
                    <a:pt x="99" y="82"/>
                  </a:lnTo>
                  <a:lnTo>
                    <a:pt x="114" y="94"/>
                  </a:lnTo>
                  <a:lnTo>
                    <a:pt x="111" y="78"/>
                  </a:lnTo>
                  <a:lnTo>
                    <a:pt x="109" y="65"/>
                  </a:lnTo>
                  <a:lnTo>
                    <a:pt x="111" y="54"/>
                  </a:lnTo>
                  <a:lnTo>
                    <a:pt x="113" y="40"/>
                  </a:lnTo>
                  <a:lnTo>
                    <a:pt x="114" y="28"/>
                  </a:lnTo>
                  <a:lnTo>
                    <a:pt x="113" y="2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30" name="Freeform 34">
              <a:extLst>
                <a:ext uri="{FF2B5EF4-FFF2-40B4-BE49-F238E27FC236}">
                  <a16:creationId xmlns:a16="http://schemas.microsoft.com/office/drawing/2014/main" id="{2A86D241-6698-7A43-A2BE-BA9ADBF7243A}"/>
                </a:ext>
              </a:extLst>
            </p:cNvPr>
            <p:cNvSpPr>
              <a:spLocks/>
            </p:cNvSpPr>
            <p:nvPr/>
          </p:nvSpPr>
          <p:spPr bwMode="auto">
            <a:xfrm>
              <a:off x="2963" y="2543"/>
              <a:ext cx="22" cy="20"/>
            </a:xfrm>
            <a:custGeom>
              <a:avLst/>
              <a:gdLst>
                <a:gd name="T0" fmla="*/ 66 w 66"/>
                <a:gd name="T1" fmla="*/ 0 h 62"/>
                <a:gd name="T2" fmla="*/ 61 w 66"/>
                <a:gd name="T3" fmla="*/ 10 h 62"/>
                <a:gd name="T4" fmla="*/ 57 w 66"/>
                <a:gd name="T5" fmla="*/ 20 h 62"/>
                <a:gd name="T6" fmla="*/ 51 w 66"/>
                <a:gd name="T7" fmla="*/ 36 h 62"/>
                <a:gd name="T8" fmla="*/ 43 w 66"/>
                <a:gd name="T9" fmla="*/ 50 h 62"/>
                <a:gd name="T10" fmla="*/ 37 w 66"/>
                <a:gd name="T11" fmla="*/ 62 h 62"/>
                <a:gd name="T12" fmla="*/ 37 w 66"/>
                <a:gd name="T13" fmla="*/ 45 h 62"/>
                <a:gd name="T14" fmla="*/ 35 w 66"/>
                <a:gd name="T15" fmla="*/ 35 h 62"/>
                <a:gd name="T16" fmla="*/ 27 w 66"/>
                <a:gd name="T17" fmla="*/ 25 h 62"/>
                <a:gd name="T18" fmla="*/ 20 w 66"/>
                <a:gd name="T19" fmla="*/ 17 h 62"/>
                <a:gd name="T20" fmla="*/ 9 w 66"/>
                <a:gd name="T21" fmla="*/ 10 h 62"/>
                <a:gd name="T22" fmla="*/ 0 w 66"/>
                <a:gd name="T23" fmla="*/ 0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6"/>
                <a:gd name="T37" fmla="*/ 0 h 62"/>
                <a:gd name="T38" fmla="*/ 66 w 66"/>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6" h="62">
                  <a:moveTo>
                    <a:pt x="66" y="0"/>
                  </a:moveTo>
                  <a:lnTo>
                    <a:pt x="61" y="10"/>
                  </a:lnTo>
                  <a:lnTo>
                    <a:pt x="57" y="20"/>
                  </a:lnTo>
                  <a:lnTo>
                    <a:pt x="51" y="36"/>
                  </a:lnTo>
                  <a:lnTo>
                    <a:pt x="43" y="50"/>
                  </a:lnTo>
                  <a:lnTo>
                    <a:pt x="37" y="62"/>
                  </a:lnTo>
                  <a:lnTo>
                    <a:pt x="37" y="45"/>
                  </a:lnTo>
                  <a:lnTo>
                    <a:pt x="35" y="35"/>
                  </a:lnTo>
                  <a:lnTo>
                    <a:pt x="27" y="25"/>
                  </a:lnTo>
                  <a:lnTo>
                    <a:pt x="20" y="17"/>
                  </a:lnTo>
                  <a:lnTo>
                    <a:pt x="9" y="10"/>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31" name="Freeform 35">
              <a:extLst>
                <a:ext uri="{FF2B5EF4-FFF2-40B4-BE49-F238E27FC236}">
                  <a16:creationId xmlns:a16="http://schemas.microsoft.com/office/drawing/2014/main" id="{6912ACAE-7C3D-AD4B-999F-B667FDFE3B46}"/>
                </a:ext>
              </a:extLst>
            </p:cNvPr>
            <p:cNvSpPr>
              <a:spLocks/>
            </p:cNvSpPr>
            <p:nvPr/>
          </p:nvSpPr>
          <p:spPr bwMode="auto">
            <a:xfrm>
              <a:off x="2909" y="2540"/>
              <a:ext cx="81" cy="64"/>
            </a:xfrm>
            <a:custGeom>
              <a:avLst/>
              <a:gdLst>
                <a:gd name="T0" fmla="*/ 154 w 244"/>
                <a:gd name="T1" fmla="*/ 11 h 192"/>
                <a:gd name="T2" fmla="*/ 169 w 244"/>
                <a:gd name="T3" fmla="*/ 26 h 192"/>
                <a:gd name="T4" fmla="*/ 183 w 244"/>
                <a:gd name="T5" fmla="*/ 37 h 192"/>
                <a:gd name="T6" fmla="*/ 188 w 244"/>
                <a:gd name="T7" fmla="*/ 43 h 192"/>
                <a:gd name="T8" fmla="*/ 191 w 244"/>
                <a:gd name="T9" fmla="*/ 52 h 192"/>
                <a:gd name="T10" fmla="*/ 190 w 244"/>
                <a:gd name="T11" fmla="*/ 59 h 192"/>
                <a:gd name="T12" fmla="*/ 189 w 244"/>
                <a:gd name="T13" fmla="*/ 67 h 192"/>
                <a:gd name="T14" fmla="*/ 184 w 244"/>
                <a:gd name="T15" fmla="*/ 79 h 192"/>
                <a:gd name="T16" fmla="*/ 182 w 244"/>
                <a:gd name="T17" fmla="*/ 95 h 192"/>
                <a:gd name="T18" fmla="*/ 183 w 244"/>
                <a:gd name="T19" fmla="*/ 111 h 192"/>
                <a:gd name="T20" fmla="*/ 189 w 244"/>
                <a:gd name="T21" fmla="*/ 124 h 192"/>
                <a:gd name="T22" fmla="*/ 197 w 244"/>
                <a:gd name="T23" fmla="*/ 135 h 192"/>
                <a:gd name="T24" fmla="*/ 206 w 244"/>
                <a:gd name="T25" fmla="*/ 144 h 192"/>
                <a:gd name="T26" fmla="*/ 218 w 244"/>
                <a:gd name="T27" fmla="*/ 154 h 192"/>
                <a:gd name="T28" fmla="*/ 232 w 244"/>
                <a:gd name="T29" fmla="*/ 167 h 192"/>
                <a:gd name="T30" fmla="*/ 239 w 244"/>
                <a:gd name="T31" fmla="*/ 179 h 192"/>
                <a:gd name="T32" fmla="*/ 244 w 244"/>
                <a:gd name="T33" fmla="*/ 188 h 192"/>
                <a:gd name="T34" fmla="*/ 244 w 244"/>
                <a:gd name="T35" fmla="*/ 192 h 192"/>
                <a:gd name="T36" fmla="*/ 232 w 244"/>
                <a:gd name="T37" fmla="*/ 182 h 192"/>
                <a:gd name="T38" fmla="*/ 207 w 244"/>
                <a:gd name="T39" fmla="*/ 170 h 192"/>
                <a:gd name="T40" fmla="*/ 188 w 244"/>
                <a:gd name="T41" fmla="*/ 161 h 192"/>
                <a:gd name="T42" fmla="*/ 163 w 244"/>
                <a:gd name="T43" fmla="*/ 151 h 192"/>
                <a:gd name="T44" fmla="*/ 132 w 244"/>
                <a:gd name="T45" fmla="*/ 142 h 192"/>
                <a:gd name="T46" fmla="*/ 124 w 244"/>
                <a:gd name="T47" fmla="*/ 138 h 192"/>
                <a:gd name="T48" fmla="*/ 116 w 244"/>
                <a:gd name="T49" fmla="*/ 134 h 192"/>
                <a:gd name="T50" fmla="*/ 109 w 244"/>
                <a:gd name="T51" fmla="*/ 126 h 192"/>
                <a:gd name="T52" fmla="*/ 101 w 244"/>
                <a:gd name="T53" fmla="*/ 121 h 192"/>
                <a:gd name="T54" fmla="*/ 78 w 244"/>
                <a:gd name="T55" fmla="*/ 111 h 192"/>
                <a:gd name="T56" fmla="*/ 47 w 244"/>
                <a:gd name="T57" fmla="*/ 102 h 192"/>
                <a:gd name="T58" fmla="*/ 32 w 244"/>
                <a:gd name="T59" fmla="*/ 95 h 192"/>
                <a:gd name="T60" fmla="*/ 20 w 244"/>
                <a:gd name="T61" fmla="*/ 89 h 192"/>
                <a:gd name="T62" fmla="*/ 12 w 244"/>
                <a:gd name="T63" fmla="*/ 79 h 192"/>
                <a:gd name="T64" fmla="*/ 5 w 244"/>
                <a:gd name="T65" fmla="*/ 63 h 192"/>
                <a:gd name="T66" fmla="*/ 0 w 244"/>
                <a:gd name="T67" fmla="*/ 47 h 192"/>
                <a:gd name="T68" fmla="*/ 0 w 244"/>
                <a:gd name="T69" fmla="*/ 34 h 192"/>
                <a:gd name="T70" fmla="*/ 3 w 244"/>
                <a:gd name="T71" fmla="*/ 18 h 192"/>
                <a:gd name="T72" fmla="*/ 5 w 244"/>
                <a:gd name="T73" fmla="*/ 4 h 192"/>
                <a:gd name="T74" fmla="*/ 5 w 244"/>
                <a:gd name="T75" fmla="*/ 0 h 19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4"/>
                <a:gd name="T115" fmla="*/ 0 h 192"/>
                <a:gd name="T116" fmla="*/ 244 w 244"/>
                <a:gd name="T117" fmla="*/ 192 h 19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4" h="192">
                  <a:moveTo>
                    <a:pt x="154" y="11"/>
                  </a:moveTo>
                  <a:lnTo>
                    <a:pt x="169" y="26"/>
                  </a:lnTo>
                  <a:lnTo>
                    <a:pt x="183" y="37"/>
                  </a:lnTo>
                  <a:lnTo>
                    <a:pt x="188" y="43"/>
                  </a:lnTo>
                  <a:lnTo>
                    <a:pt x="191" y="52"/>
                  </a:lnTo>
                  <a:lnTo>
                    <a:pt x="190" y="59"/>
                  </a:lnTo>
                  <a:lnTo>
                    <a:pt x="189" y="67"/>
                  </a:lnTo>
                  <a:lnTo>
                    <a:pt x="184" y="79"/>
                  </a:lnTo>
                  <a:lnTo>
                    <a:pt x="182" y="95"/>
                  </a:lnTo>
                  <a:lnTo>
                    <a:pt x="183" y="111"/>
                  </a:lnTo>
                  <a:lnTo>
                    <a:pt x="189" y="124"/>
                  </a:lnTo>
                  <a:lnTo>
                    <a:pt x="197" y="135"/>
                  </a:lnTo>
                  <a:lnTo>
                    <a:pt x="206" y="144"/>
                  </a:lnTo>
                  <a:lnTo>
                    <a:pt x="218" y="154"/>
                  </a:lnTo>
                  <a:lnTo>
                    <a:pt x="232" y="167"/>
                  </a:lnTo>
                  <a:lnTo>
                    <a:pt x="239" y="179"/>
                  </a:lnTo>
                  <a:lnTo>
                    <a:pt x="244" y="188"/>
                  </a:lnTo>
                  <a:lnTo>
                    <a:pt x="244" y="192"/>
                  </a:lnTo>
                  <a:lnTo>
                    <a:pt x="232" y="182"/>
                  </a:lnTo>
                  <a:lnTo>
                    <a:pt x="207" y="170"/>
                  </a:lnTo>
                  <a:lnTo>
                    <a:pt x="188" y="161"/>
                  </a:lnTo>
                  <a:lnTo>
                    <a:pt x="163" y="151"/>
                  </a:lnTo>
                  <a:lnTo>
                    <a:pt x="132" y="142"/>
                  </a:lnTo>
                  <a:lnTo>
                    <a:pt x="124" y="138"/>
                  </a:lnTo>
                  <a:lnTo>
                    <a:pt x="116" y="134"/>
                  </a:lnTo>
                  <a:lnTo>
                    <a:pt x="109" y="126"/>
                  </a:lnTo>
                  <a:lnTo>
                    <a:pt x="101" y="121"/>
                  </a:lnTo>
                  <a:lnTo>
                    <a:pt x="78" y="111"/>
                  </a:lnTo>
                  <a:lnTo>
                    <a:pt x="47" y="102"/>
                  </a:lnTo>
                  <a:lnTo>
                    <a:pt x="32" y="95"/>
                  </a:lnTo>
                  <a:lnTo>
                    <a:pt x="20" y="89"/>
                  </a:lnTo>
                  <a:lnTo>
                    <a:pt x="12" y="79"/>
                  </a:lnTo>
                  <a:lnTo>
                    <a:pt x="5" y="63"/>
                  </a:lnTo>
                  <a:lnTo>
                    <a:pt x="0" y="47"/>
                  </a:lnTo>
                  <a:lnTo>
                    <a:pt x="0" y="34"/>
                  </a:lnTo>
                  <a:lnTo>
                    <a:pt x="3" y="18"/>
                  </a:lnTo>
                  <a:lnTo>
                    <a:pt x="5" y="4"/>
                  </a:lnTo>
                  <a:lnTo>
                    <a:pt x="5" y="0"/>
                  </a:lnTo>
                </a:path>
              </a:pathLst>
            </a:custGeom>
            <a:noFill/>
            <a:ln w="0">
              <a:solidFill>
                <a:srgbClr val="8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32" name="Freeform 36">
              <a:extLst>
                <a:ext uri="{FF2B5EF4-FFF2-40B4-BE49-F238E27FC236}">
                  <a16:creationId xmlns:a16="http://schemas.microsoft.com/office/drawing/2014/main" id="{010D526E-8D7D-3E45-AC58-2D842A496268}"/>
                </a:ext>
              </a:extLst>
            </p:cNvPr>
            <p:cNvSpPr>
              <a:spLocks/>
            </p:cNvSpPr>
            <p:nvPr/>
          </p:nvSpPr>
          <p:spPr bwMode="auto">
            <a:xfrm>
              <a:off x="3041" y="2533"/>
              <a:ext cx="51" cy="48"/>
            </a:xfrm>
            <a:custGeom>
              <a:avLst/>
              <a:gdLst>
                <a:gd name="T0" fmla="*/ 133 w 155"/>
                <a:gd name="T1" fmla="*/ 0 h 144"/>
                <a:gd name="T2" fmla="*/ 129 w 155"/>
                <a:gd name="T3" fmla="*/ 8 h 144"/>
                <a:gd name="T4" fmla="*/ 129 w 155"/>
                <a:gd name="T5" fmla="*/ 14 h 144"/>
                <a:gd name="T6" fmla="*/ 129 w 155"/>
                <a:gd name="T7" fmla="*/ 21 h 144"/>
                <a:gd name="T8" fmla="*/ 132 w 155"/>
                <a:gd name="T9" fmla="*/ 34 h 144"/>
                <a:gd name="T10" fmla="*/ 136 w 155"/>
                <a:gd name="T11" fmla="*/ 51 h 144"/>
                <a:gd name="T12" fmla="*/ 137 w 155"/>
                <a:gd name="T13" fmla="*/ 66 h 144"/>
                <a:gd name="T14" fmla="*/ 144 w 155"/>
                <a:gd name="T15" fmla="*/ 78 h 144"/>
                <a:gd name="T16" fmla="*/ 149 w 155"/>
                <a:gd name="T17" fmla="*/ 90 h 144"/>
                <a:gd name="T18" fmla="*/ 155 w 155"/>
                <a:gd name="T19" fmla="*/ 101 h 144"/>
                <a:gd name="T20" fmla="*/ 155 w 155"/>
                <a:gd name="T21" fmla="*/ 107 h 144"/>
                <a:gd name="T22" fmla="*/ 152 w 155"/>
                <a:gd name="T23" fmla="*/ 110 h 144"/>
                <a:gd name="T24" fmla="*/ 146 w 155"/>
                <a:gd name="T25" fmla="*/ 113 h 144"/>
                <a:gd name="T26" fmla="*/ 136 w 155"/>
                <a:gd name="T27" fmla="*/ 115 h 144"/>
                <a:gd name="T28" fmla="*/ 121 w 155"/>
                <a:gd name="T29" fmla="*/ 114 h 144"/>
                <a:gd name="T30" fmla="*/ 108 w 155"/>
                <a:gd name="T31" fmla="*/ 115 h 144"/>
                <a:gd name="T32" fmla="*/ 101 w 155"/>
                <a:gd name="T33" fmla="*/ 118 h 144"/>
                <a:gd name="T34" fmla="*/ 91 w 155"/>
                <a:gd name="T35" fmla="*/ 123 h 144"/>
                <a:gd name="T36" fmla="*/ 82 w 155"/>
                <a:gd name="T37" fmla="*/ 130 h 144"/>
                <a:gd name="T38" fmla="*/ 71 w 155"/>
                <a:gd name="T39" fmla="*/ 136 h 144"/>
                <a:gd name="T40" fmla="*/ 58 w 155"/>
                <a:gd name="T41" fmla="*/ 144 h 144"/>
                <a:gd name="T42" fmla="*/ 57 w 155"/>
                <a:gd name="T43" fmla="*/ 135 h 144"/>
                <a:gd name="T44" fmla="*/ 54 w 155"/>
                <a:gd name="T45" fmla="*/ 128 h 144"/>
                <a:gd name="T46" fmla="*/ 47 w 155"/>
                <a:gd name="T47" fmla="*/ 122 h 144"/>
                <a:gd name="T48" fmla="*/ 39 w 155"/>
                <a:gd name="T49" fmla="*/ 115 h 144"/>
                <a:gd name="T50" fmla="*/ 29 w 155"/>
                <a:gd name="T51" fmla="*/ 112 h 144"/>
                <a:gd name="T52" fmla="*/ 18 w 155"/>
                <a:gd name="T53" fmla="*/ 107 h 144"/>
                <a:gd name="T54" fmla="*/ 10 w 155"/>
                <a:gd name="T55" fmla="*/ 98 h 144"/>
                <a:gd name="T56" fmla="*/ 3 w 155"/>
                <a:gd name="T57" fmla="*/ 89 h 144"/>
                <a:gd name="T58" fmla="*/ 0 w 155"/>
                <a:gd name="T59" fmla="*/ 80 h 14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55"/>
                <a:gd name="T91" fmla="*/ 0 h 144"/>
                <a:gd name="T92" fmla="*/ 155 w 155"/>
                <a:gd name="T93" fmla="*/ 144 h 14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55" h="144">
                  <a:moveTo>
                    <a:pt x="133" y="0"/>
                  </a:moveTo>
                  <a:lnTo>
                    <a:pt x="129" y="8"/>
                  </a:lnTo>
                  <a:lnTo>
                    <a:pt x="129" y="14"/>
                  </a:lnTo>
                  <a:lnTo>
                    <a:pt x="129" y="21"/>
                  </a:lnTo>
                  <a:lnTo>
                    <a:pt x="132" y="34"/>
                  </a:lnTo>
                  <a:lnTo>
                    <a:pt x="136" y="51"/>
                  </a:lnTo>
                  <a:lnTo>
                    <a:pt x="137" y="66"/>
                  </a:lnTo>
                  <a:lnTo>
                    <a:pt x="144" y="78"/>
                  </a:lnTo>
                  <a:lnTo>
                    <a:pt x="149" y="90"/>
                  </a:lnTo>
                  <a:lnTo>
                    <a:pt x="155" y="101"/>
                  </a:lnTo>
                  <a:lnTo>
                    <a:pt x="155" y="107"/>
                  </a:lnTo>
                  <a:lnTo>
                    <a:pt x="152" y="110"/>
                  </a:lnTo>
                  <a:lnTo>
                    <a:pt x="146" y="113"/>
                  </a:lnTo>
                  <a:lnTo>
                    <a:pt x="136" y="115"/>
                  </a:lnTo>
                  <a:lnTo>
                    <a:pt x="121" y="114"/>
                  </a:lnTo>
                  <a:lnTo>
                    <a:pt x="108" y="115"/>
                  </a:lnTo>
                  <a:lnTo>
                    <a:pt x="101" y="118"/>
                  </a:lnTo>
                  <a:lnTo>
                    <a:pt x="91" y="123"/>
                  </a:lnTo>
                  <a:lnTo>
                    <a:pt x="82" y="130"/>
                  </a:lnTo>
                  <a:lnTo>
                    <a:pt x="71" y="136"/>
                  </a:lnTo>
                  <a:lnTo>
                    <a:pt x="58" y="144"/>
                  </a:lnTo>
                  <a:lnTo>
                    <a:pt x="57" y="135"/>
                  </a:lnTo>
                  <a:lnTo>
                    <a:pt x="54" y="128"/>
                  </a:lnTo>
                  <a:lnTo>
                    <a:pt x="47" y="122"/>
                  </a:lnTo>
                  <a:lnTo>
                    <a:pt x="39" y="115"/>
                  </a:lnTo>
                  <a:lnTo>
                    <a:pt x="29" y="112"/>
                  </a:lnTo>
                  <a:lnTo>
                    <a:pt x="18" y="107"/>
                  </a:lnTo>
                  <a:lnTo>
                    <a:pt x="10" y="98"/>
                  </a:lnTo>
                  <a:lnTo>
                    <a:pt x="3" y="89"/>
                  </a:lnTo>
                  <a:lnTo>
                    <a:pt x="0" y="80"/>
                  </a:lnTo>
                </a:path>
              </a:pathLst>
            </a:custGeom>
            <a:noFill/>
            <a:ln w="0">
              <a:solidFill>
                <a:srgbClr val="8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33" name="Freeform 37">
              <a:extLst>
                <a:ext uri="{FF2B5EF4-FFF2-40B4-BE49-F238E27FC236}">
                  <a16:creationId xmlns:a16="http://schemas.microsoft.com/office/drawing/2014/main" id="{5E019335-E446-B14C-A402-812AD727C583}"/>
                </a:ext>
              </a:extLst>
            </p:cNvPr>
            <p:cNvSpPr>
              <a:spLocks/>
            </p:cNvSpPr>
            <p:nvPr/>
          </p:nvSpPr>
          <p:spPr bwMode="auto">
            <a:xfrm>
              <a:off x="3086" y="2534"/>
              <a:ext cx="34" cy="36"/>
            </a:xfrm>
            <a:custGeom>
              <a:avLst/>
              <a:gdLst>
                <a:gd name="T0" fmla="*/ 102 w 102"/>
                <a:gd name="T1" fmla="*/ 15 h 109"/>
                <a:gd name="T2" fmla="*/ 95 w 102"/>
                <a:gd name="T3" fmla="*/ 21 h 109"/>
                <a:gd name="T4" fmla="*/ 86 w 102"/>
                <a:gd name="T5" fmla="*/ 32 h 109"/>
                <a:gd name="T6" fmla="*/ 77 w 102"/>
                <a:gd name="T7" fmla="*/ 45 h 109"/>
                <a:gd name="T8" fmla="*/ 71 w 102"/>
                <a:gd name="T9" fmla="*/ 63 h 109"/>
                <a:gd name="T10" fmla="*/ 62 w 102"/>
                <a:gd name="T11" fmla="*/ 81 h 109"/>
                <a:gd name="T12" fmla="*/ 54 w 102"/>
                <a:gd name="T13" fmla="*/ 95 h 109"/>
                <a:gd name="T14" fmla="*/ 43 w 102"/>
                <a:gd name="T15" fmla="*/ 105 h 109"/>
                <a:gd name="T16" fmla="*/ 35 w 102"/>
                <a:gd name="T17" fmla="*/ 109 h 109"/>
                <a:gd name="T18" fmla="*/ 32 w 102"/>
                <a:gd name="T19" fmla="*/ 96 h 109"/>
                <a:gd name="T20" fmla="*/ 27 w 102"/>
                <a:gd name="T21" fmla="*/ 85 h 109"/>
                <a:gd name="T22" fmla="*/ 19 w 102"/>
                <a:gd name="T23" fmla="*/ 72 h 109"/>
                <a:gd name="T24" fmla="*/ 12 w 102"/>
                <a:gd name="T25" fmla="*/ 60 h 109"/>
                <a:gd name="T26" fmla="*/ 8 w 102"/>
                <a:gd name="T27" fmla="*/ 46 h 109"/>
                <a:gd name="T28" fmla="*/ 6 w 102"/>
                <a:gd name="T29" fmla="*/ 32 h 109"/>
                <a:gd name="T30" fmla="*/ 1 w 102"/>
                <a:gd name="T31" fmla="*/ 19 h 109"/>
                <a:gd name="T32" fmla="*/ 0 w 102"/>
                <a:gd name="T33" fmla="*/ 12 h 109"/>
                <a:gd name="T34" fmla="*/ 1 w 102"/>
                <a:gd name="T35" fmla="*/ 6 h 109"/>
                <a:gd name="T36" fmla="*/ 5 w 102"/>
                <a:gd name="T37" fmla="*/ 0 h 1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2"/>
                <a:gd name="T58" fmla="*/ 0 h 109"/>
                <a:gd name="T59" fmla="*/ 102 w 102"/>
                <a:gd name="T60" fmla="*/ 109 h 10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2" h="109">
                  <a:moveTo>
                    <a:pt x="102" y="15"/>
                  </a:moveTo>
                  <a:lnTo>
                    <a:pt x="95" y="21"/>
                  </a:lnTo>
                  <a:lnTo>
                    <a:pt x="86" y="32"/>
                  </a:lnTo>
                  <a:lnTo>
                    <a:pt x="77" y="45"/>
                  </a:lnTo>
                  <a:lnTo>
                    <a:pt x="71" y="63"/>
                  </a:lnTo>
                  <a:lnTo>
                    <a:pt x="62" y="81"/>
                  </a:lnTo>
                  <a:lnTo>
                    <a:pt x="54" y="95"/>
                  </a:lnTo>
                  <a:lnTo>
                    <a:pt x="43" y="105"/>
                  </a:lnTo>
                  <a:lnTo>
                    <a:pt x="35" y="109"/>
                  </a:lnTo>
                  <a:lnTo>
                    <a:pt x="32" y="96"/>
                  </a:lnTo>
                  <a:lnTo>
                    <a:pt x="27" y="85"/>
                  </a:lnTo>
                  <a:lnTo>
                    <a:pt x="19" y="72"/>
                  </a:lnTo>
                  <a:lnTo>
                    <a:pt x="12" y="60"/>
                  </a:lnTo>
                  <a:lnTo>
                    <a:pt x="8" y="46"/>
                  </a:lnTo>
                  <a:lnTo>
                    <a:pt x="6" y="32"/>
                  </a:lnTo>
                  <a:lnTo>
                    <a:pt x="1" y="19"/>
                  </a:lnTo>
                  <a:lnTo>
                    <a:pt x="0" y="12"/>
                  </a:lnTo>
                  <a:lnTo>
                    <a:pt x="1" y="6"/>
                  </a:lnTo>
                  <a:lnTo>
                    <a:pt x="5"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34" name="Freeform 38">
              <a:extLst>
                <a:ext uri="{FF2B5EF4-FFF2-40B4-BE49-F238E27FC236}">
                  <a16:creationId xmlns:a16="http://schemas.microsoft.com/office/drawing/2014/main" id="{AA8FF1B8-881A-B644-9606-43AC88C044E9}"/>
                </a:ext>
              </a:extLst>
            </p:cNvPr>
            <p:cNvSpPr>
              <a:spLocks/>
            </p:cNvSpPr>
            <p:nvPr/>
          </p:nvSpPr>
          <p:spPr bwMode="auto">
            <a:xfrm>
              <a:off x="2783" y="2539"/>
              <a:ext cx="342" cy="244"/>
            </a:xfrm>
            <a:custGeom>
              <a:avLst/>
              <a:gdLst>
                <a:gd name="T0" fmla="*/ 1012 w 1028"/>
                <a:gd name="T1" fmla="*/ 12 h 731"/>
                <a:gd name="T2" fmla="*/ 987 w 1028"/>
                <a:gd name="T3" fmla="*/ 62 h 731"/>
                <a:gd name="T4" fmla="*/ 961 w 1028"/>
                <a:gd name="T5" fmla="*/ 104 h 731"/>
                <a:gd name="T6" fmla="*/ 900 w 1028"/>
                <a:gd name="T7" fmla="*/ 131 h 731"/>
                <a:gd name="T8" fmla="*/ 860 w 1028"/>
                <a:gd name="T9" fmla="*/ 161 h 731"/>
                <a:gd name="T10" fmla="*/ 853 w 1028"/>
                <a:gd name="T11" fmla="*/ 201 h 731"/>
                <a:gd name="T12" fmla="*/ 829 w 1028"/>
                <a:gd name="T13" fmla="*/ 230 h 731"/>
                <a:gd name="T14" fmla="*/ 782 w 1028"/>
                <a:gd name="T15" fmla="*/ 259 h 731"/>
                <a:gd name="T16" fmla="*/ 763 w 1028"/>
                <a:gd name="T17" fmla="*/ 314 h 731"/>
                <a:gd name="T18" fmla="*/ 746 w 1028"/>
                <a:gd name="T19" fmla="*/ 363 h 731"/>
                <a:gd name="T20" fmla="*/ 723 w 1028"/>
                <a:gd name="T21" fmla="*/ 411 h 731"/>
                <a:gd name="T22" fmla="*/ 723 w 1028"/>
                <a:gd name="T23" fmla="*/ 469 h 731"/>
                <a:gd name="T24" fmla="*/ 777 w 1028"/>
                <a:gd name="T25" fmla="*/ 556 h 731"/>
                <a:gd name="T26" fmla="*/ 803 w 1028"/>
                <a:gd name="T27" fmla="*/ 620 h 731"/>
                <a:gd name="T28" fmla="*/ 828 w 1028"/>
                <a:gd name="T29" fmla="*/ 671 h 731"/>
                <a:gd name="T30" fmla="*/ 866 w 1028"/>
                <a:gd name="T31" fmla="*/ 698 h 731"/>
                <a:gd name="T32" fmla="*/ 813 w 1028"/>
                <a:gd name="T33" fmla="*/ 687 h 731"/>
                <a:gd name="T34" fmla="*/ 754 w 1028"/>
                <a:gd name="T35" fmla="*/ 686 h 731"/>
                <a:gd name="T36" fmla="*/ 716 w 1028"/>
                <a:gd name="T37" fmla="*/ 711 h 731"/>
                <a:gd name="T38" fmla="*/ 700 w 1028"/>
                <a:gd name="T39" fmla="*/ 727 h 731"/>
                <a:gd name="T40" fmla="*/ 708 w 1028"/>
                <a:gd name="T41" fmla="*/ 678 h 731"/>
                <a:gd name="T42" fmla="*/ 683 w 1028"/>
                <a:gd name="T43" fmla="*/ 714 h 731"/>
                <a:gd name="T44" fmla="*/ 640 w 1028"/>
                <a:gd name="T45" fmla="*/ 710 h 731"/>
                <a:gd name="T46" fmla="*/ 581 w 1028"/>
                <a:gd name="T47" fmla="*/ 705 h 731"/>
                <a:gd name="T48" fmla="*/ 612 w 1028"/>
                <a:gd name="T49" fmla="*/ 680 h 731"/>
                <a:gd name="T50" fmla="*/ 633 w 1028"/>
                <a:gd name="T51" fmla="*/ 632 h 731"/>
                <a:gd name="T52" fmla="*/ 629 w 1028"/>
                <a:gd name="T53" fmla="*/ 565 h 731"/>
                <a:gd name="T54" fmla="*/ 626 w 1028"/>
                <a:gd name="T55" fmla="*/ 507 h 731"/>
                <a:gd name="T56" fmla="*/ 630 w 1028"/>
                <a:gd name="T57" fmla="*/ 451 h 731"/>
                <a:gd name="T58" fmla="*/ 634 w 1028"/>
                <a:gd name="T59" fmla="*/ 415 h 731"/>
                <a:gd name="T60" fmla="*/ 630 w 1028"/>
                <a:gd name="T61" fmla="*/ 362 h 731"/>
                <a:gd name="T62" fmla="*/ 654 w 1028"/>
                <a:gd name="T63" fmla="*/ 318 h 731"/>
                <a:gd name="T64" fmla="*/ 650 w 1028"/>
                <a:gd name="T65" fmla="*/ 281 h 731"/>
                <a:gd name="T66" fmla="*/ 594 w 1028"/>
                <a:gd name="T67" fmla="*/ 239 h 731"/>
                <a:gd name="T68" fmla="*/ 524 w 1028"/>
                <a:gd name="T69" fmla="*/ 217 h 731"/>
                <a:gd name="T70" fmla="*/ 466 w 1028"/>
                <a:gd name="T71" fmla="*/ 195 h 731"/>
                <a:gd name="T72" fmla="*/ 421 w 1028"/>
                <a:gd name="T73" fmla="*/ 156 h 731"/>
                <a:gd name="T74" fmla="*/ 375 w 1028"/>
                <a:gd name="T75" fmla="*/ 123 h 731"/>
                <a:gd name="T76" fmla="*/ 317 w 1028"/>
                <a:gd name="T77" fmla="*/ 113 h 731"/>
                <a:gd name="T78" fmla="*/ 246 w 1028"/>
                <a:gd name="T79" fmla="*/ 118 h 731"/>
                <a:gd name="T80" fmla="*/ 178 w 1028"/>
                <a:gd name="T81" fmla="*/ 126 h 731"/>
                <a:gd name="T82" fmla="*/ 124 w 1028"/>
                <a:gd name="T83" fmla="*/ 107 h 731"/>
                <a:gd name="T84" fmla="*/ 80 w 1028"/>
                <a:gd name="T85" fmla="*/ 75 h 731"/>
                <a:gd name="T86" fmla="*/ 26 w 1028"/>
                <a:gd name="T87" fmla="*/ 58 h 731"/>
                <a:gd name="T88" fmla="*/ 4 w 1028"/>
                <a:gd name="T89" fmla="*/ 44 h 7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028"/>
                <a:gd name="T136" fmla="*/ 0 h 731"/>
                <a:gd name="T137" fmla="*/ 1028 w 1028"/>
                <a:gd name="T138" fmla="*/ 731 h 73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028" h="731">
                  <a:moveTo>
                    <a:pt x="1028" y="0"/>
                  </a:moveTo>
                  <a:lnTo>
                    <a:pt x="1021" y="4"/>
                  </a:lnTo>
                  <a:lnTo>
                    <a:pt x="1012" y="12"/>
                  </a:lnTo>
                  <a:lnTo>
                    <a:pt x="1003" y="23"/>
                  </a:lnTo>
                  <a:lnTo>
                    <a:pt x="996" y="39"/>
                  </a:lnTo>
                  <a:lnTo>
                    <a:pt x="987" y="62"/>
                  </a:lnTo>
                  <a:lnTo>
                    <a:pt x="979" y="81"/>
                  </a:lnTo>
                  <a:lnTo>
                    <a:pt x="971" y="93"/>
                  </a:lnTo>
                  <a:lnTo>
                    <a:pt x="961" y="104"/>
                  </a:lnTo>
                  <a:lnTo>
                    <a:pt x="942" y="114"/>
                  </a:lnTo>
                  <a:lnTo>
                    <a:pt x="921" y="123"/>
                  </a:lnTo>
                  <a:lnTo>
                    <a:pt x="900" y="131"/>
                  </a:lnTo>
                  <a:lnTo>
                    <a:pt x="884" y="139"/>
                  </a:lnTo>
                  <a:lnTo>
                    <a:pt x="869" y="150"/>
                  </a:lnTo>
                  <a:lnTo>
                    <a:pt x="860" y="161"/>
                  </a:lnTo>
                  <a:lnTo>
                    <a:pt x="856" y="171"/>
                  </a:lnTo>
                  <a:lnTo>
                    <a:pt x="854" y="181"/>
                  </a:lnTo>
                  <a:lnTo>
                    <a:pt x="853" y="201"/>
                  </a:lnTo>
                  <a:lnTo>
                    <a:pt x="850" y="213"/>
                  </a:lnTo>
                  <a:lnTo>
                    <a:pt x="843" y="220"/>
                  </a:lnTo>
                  <a:lnTo>
                    <a:pt x="829" y="230"/>
                  </a:lnTo>
                  <a:lnTo>
                    <a:pt x="813" y="239"/>
                  </a:lnTo>
                  <a:lnTo>
                    <a:pt x="795" y="248"/>
                  </a:lnTo>
                  <a:lnTo>
                    <a:pt x="782" y="259"/>
                  </a:lnTo>
                  <a:lnTo>
                    <a:pt x="774" y="271"/>
                  </a:lnTo>
                  <a:lnTo>
                    <a:pt x="770" y="296"/>
                  </a:lnTo>
                  <a:lnTo>
                    <a:pt x="763" y="314"/>
                  </a:lnTo>
                  <a:lnTo>
                    <a:pt x="758" y="340"/>
                  </a:lnTo>
                  <a:lnTo>
                    <a:pt x="753" y="351"/>
                  </a:lnTo>
                  <a:lnTo>
                    <a:pt x="746" y="363"/>
                  </a:lnTo>
                  <a:lnTo>
                    <a:pt x="736" y="377"/>
                  </a:lnTo>
                  <a:lnTo>
                    <a:pt x="727" y="396"/>
                  </a:lnTo>
                  <a:lnTo>
                    <a:pt x="723" y="411"/>
                  </a:lnTo>
                  <a:lnTo>
                    <a:pt x="720" y="431"/>
                  </a:lnTo>
                  <a:lnTo>
                    <a:pt x="720" y="450"/>
                  </a:lnTo>
                  <a:lnTo>
                    <a:pt x="723" y="469"/>
                  </a:lnTo>
                  <a:lnTo>
                    <a:pt x="741" y="502"/>
                  </a:lnTo>
                  <a:lnTo>
                    <a:pt x="762" y="531"/>
                  </a:lnTo>
                  <a:lnTo>
                    <a:pt x="777" y="556"/>
                  </a:lnTo>
                  <a:lnTo>
                    <a:pt x="788" y="576"/>
                  </a:lnTo>
                  <a:lnTo>
                    <a:pt x="796" y="598"/>
                  </a:lnTo>
                  <a:lnTo>
                    <a:pt x="803" y="620"/>
                  </a:lnTo>
                  <a:lnTo>
                    <a:pt x="810" y="642"/>
                  </a:lnTo>
                  <a:lnTo>
                    <a:pt x="824" y="664"/>
                  </a:lnTo>
                  <a:lnTo>
                    <a:pt x="828" y="671"/>
                  </a:lnTo>
                  <a:lnTo>
                    <a:pt x="836" y="679"/>
                  </a:lnTo>
                  <a:lnTo>
                    <a:pt x="850" y="690"/>
                  </a:lnTo>
                  <a:lnTo>
                    <a:pt x="866" y="698"/>
                  </a:lnTo>
                  <a:lnTo>
                    <a:pt x="850" y="693"/>
                  </a:lnTo>
                  <a:lnTo>
                    <a:pt x="829" y="690"/>
                  </a:lnTo>
                  <a:lnTo>
                    <a:pt x="813" y="687"/>
                  </a:lnTo>
                  <a:lnTo>
                    <a:pt x="793" y="684"/>
                  </a:lnTo>
                  <a:lnTo>
                    <a:pt x="774" y="684"/>
                  </a:lnTo>
                  <a:lnTo>
                    <a:pt x="754" y="686"/>
                  </a:lnTo>
                  <a:lnTo>
                    <a:pt x="740" y="690"/>
                  </a:lnTo>
                  <a:lnTo>
                    <a:pt x="726" y="700"/>
                  </a:lnTo>
                  <a:lnTo>
                    <a:pt x="716" y="711"/>
                  </a:lnTo>
                  <a:lnTo>
                    <a:pt x="707" y="723"/>
                  </a:lnTo>
                  <a:lnTo>
                    <a:pt x="700" y="731"/>
                  </a:lnTo>
                  <a:lnTo>
                    <a:pt x="700" y="727"/>
                  </a:lnTo>
                  <a:lnTo>
                    <a:pt x="703" y="711"/>
                  </a:lnTo>
                  <a:lnTo>
                    <a:pt x="704" y="698"/>
                  </a:lnTo>
                  <a:lnTo>
                    <a:pt x="708" y="678"/>
                  </a:lnTo>
                  <a:lnTo>
                    <a:pt x="700" y="698"/>
                  </a:lnTo>
                  <a:lnTo>
                    <a:pt x="692" y="708"/>
                  </a:lnTo>
                  <a:lnTo>
                    <a:pt x="683" y="714"/>
                  </a:lnTo>
                  <a:lnTo>
                    <a:pt x="672" y="716"/>
                  </a:lnTo>
                  <a:lnTo>
                    <a:pt x="658" y="714"/>
                  </a:lnTo>
                  <a:lnTo>
                    <a:pt x="640" y="710"/>
                  </a:lnTo>
                  <a:lnTo>
                    <a:pt x="621" y="705"/>
                  </a:lnTo>
                  <a:lnTo>
                    <a:pt x="600" y="703"/>
                  </a:lnTo>
                  <a:lnTo>
                    <a:pt x="581" y="705"/>
                  </a:lnTo>
                  <a:lnTo>
                    <a:pt x="562" y="710"/>
                  </a:lnTo>
                  <a:lnTo>
                    <a:pt x="598" y="691"/>
                  </a:lnTo>
                  <a:lnTo>
                    <a:pt x="612" y="680"/>
                  </a:lnTo>
                  <a:lnTo>
                    <a:pt x="623" y="668"/>
                  </a:lnTo>
                  <a:lnTo>
                    <a:pt x="628" y="652"/>
                  </a:lnTo>
                  <a:lnTo>
                    <a:pt x="633" y="632"/>
                  </a:lnTo>
                  <a:lnTo>
                    <a:pt x="634" y="602"/>
                  </a:lnTo>
                  <a:lnTo>
                    <a:pt x="632" y="581"/>
                  </a:lnTo>
                  <a:lnTo>
                    <a:pt x="629" y="565"/>
                  </a:lnTo>
                  <a:lnTo>
                    <a:pt x="625" y="544"/>
                  </a:lnTo>
                  <a:lnTo>
                    <a:pt x="625" y="526"/>
                  </a:lnTo>
                  <a:lnTo>
                    <a:pt x="626" y="507"/>
                  </a:lnTo>
                  <a:lnTo>
                    <a:pt x="625" y="483"/>
                  </a:lnTo>
                  <a:lnTo>
                    <a:pt x="627" y="465"/>
                  </a:lnTo>
                  <a:lnTo>
                    <a:pt x="630" y="451"/>
                  </a:lnTo>
                  <a:lnTo>
                    <a:pt x="636" y="435"/>
                  </a:lnTo>
                  <a:lnTo>
                    <a:pt x="637" y="427"/>
                  </a:lnTo>
                  <a:lnTo>
                    <a:pt x="634" y="415"/>
                  </a:lnTo>
                  <a:lnTo>
                    <a:pt x="629" y="398"/>
                  </a:lnTo>
                  <a:lnTo>
                    <a:pt x="628" y="380"/>
                  </a:lnTo>
                  <a:lnTo>
                    <a:pt x="630" y="362"/>
                  </a:lnTo>
                  <a:lnTo>
                    <a:pt x="637" y="345"/>
                  </a:lnTo>
                  <a:lnTo>
                    <a:pt x="646" y="331"/>
                  </a:lnTo>
                  <a:lnTo>
                    <a:pt x="654" y="318"/>
                  </a:lnTo>
                  <a:lnTo>
                    <a:pt x="658" y="307"/>
                  </a:lnTo>
                  <a:lnTo>
                    <a:pt x="656" y="294"/>
                  </a:lnTo>
                  <a:lnTo>
                    <a:pt x="650" y="281"/>
                  </a:lnTo>
                  <a:lnTo>
                    <a:pt x="640" y="270"/>
                  </a:lnTo>
                  <a:lnTo>
                    <a:pt x="618" y="253"/>
                  </a:lnTo>
                  <a:lnTo>
                    <a:pt x="594" y="239"/>
                  </a:lnTo>
                  <a:lnTo>
                    <a:pt x="567" y="227"/>
                  </a:lnTo>
                  <a:lnTo>
                    <a:pt x="544" y="221"/>
                  </a:lnTo>
                  <a:lnTo>
                    <a:pt x="524" y="217"/>
                  </a:lnTo>
                  <a:lnTo>
                    <a:pt x="504" y="213"/>
                  </a:lnTo>
                  <a:lnTo>
                    <a:pt x="485" y="205"/>
                  </a:lnTo>
                  <a:lnTo>
                    <a:pt x="466" y="195"/>
                  </a:lnTo>
                  <a:lnTo>
                    <a:pt x="454" y="186"/>
                  </a:lnTo>
                  <a:lnTo>
                    <a:pt x="437" y="172"/>
                  </a:lnTo>
                  <a:lnTo>
                    <a:pt x="421" y="156"/>
                  </a:lnTo>
                  <a:lnTo>
                    <a:pt x="403" y="139"/>
                  </a:lnTo>
                  <a:lnTo>
                    <a:pt x="390" y="129"/>
                  </a:lnTo>
                  <a:lnTo>
                    <a:pt x="375" y="123"/>
                  </a:lnTo>
                  <a:lnTo>
                    <a:pt x="357" y="117"/>
                  </a:lnTo>
                  <a:lnTo>
                    <a:pt x="338" y="114"/>
                  </a:lnTo>
                  <a:lnTo>
                    <a:pt x="317" y="113"/>
                  </a:lnTo>
                  <a:lnTo>
                    <a:pt x="296" y="113"/>
                  </a:lnTo>
                  <a:lnTo>
                    <a:pt x="271" y="115"/>
                  </a:lnTo>
                  <a:lnTo>
                    <a:pt x="246" y="118"/>
                  </a:lnTo>
                  <a:lnTo>
                    <a:pt x="223" y="124"/>
                  </a:lnTo>
                  <a:lnTo>
                    <a:pt x="199" y="127"/>
                  </a:lnTo>
                  <a:lnTo>
                    <a:pt x="178" y="126"/>
                  </a:lnTo>
                  <a:lnTo>
                    <a:pt x="158" y="123"/>
                  </a:lnTo>
                  <a:lnTo>
                    <a:pt x="140" y="117"/>
                  </a:lnTo>
                  <a:lnTo>
                    <a:pt x="124" y="107"/>
                  </a:lnTo>
                  <a:lnTo>
                    <a:pt x="108" y="94"/>
                  </a:lnTo>
                  <a:lnTo>
                    <a:pt x="94" y="83"/>
                  </a:lnTo>
                  <a:lnTo>
                    <a:pt x="80" y="75"/>
                  </a:lnTo>
                  <a:lnTo>
                    <a:pt x="64" y="70"/>
                  </a:lnTo>
                  <a:lnTo>
                    <a:pt x="46" y="64"/>
                  </a:lnTo>
                  <a:lnTo>
                    <a:pt x="26" y="58"/>
                  </a:lnTo>
                  <a:lnTo>
                    <a:pt x="15" y="53"/>
                  </a:lnTo>
                  <a:lnTo>
                    <a:pt x="8" y="48"/>
                  </a:lnTo>
                  <a:lnTo>
                    <a:pt x="4" y="44"/>
                  </a:lnTo>
                  <a:lnTo>
                    <a:pt x="0" y="29"/>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35" name="Freeform 39">
              <a:extLst>
                <a:ext uri="{FF2B5EF4-FFF2-40B4-BE49-F238E27FC236}">
                  <a16:creationId xmlns:a16="http://schemas.microsoft.com/office/drawing/2014/main" id="{8DFFF1D6-99FE-E14C-B61A-2961D7759FDE}"/>
                </a:ext>
              </a:extLst>
            </p:cNvPr>
            <p:cNvSpPr>
              <a:spLocks/>
            </p:cNvSpPr>
            <p:nvPr/>
          </p:nvSpPr>
          <p:spPr bwMode="auto">
            <a:xfrm>
              <a:off x="3027" y="2539"/>
              <a:ext cx="29" cy="58"/>
            </a:xfrm>
            <a:custGeom>
              <a:avLst/>
              <a:gdLst>
                <a:gd name="T0" fmla="*/ 35 w 89"/>
                <a:gd name="T1" fmla="*/ 66 h 173"/>
                <a:gd name="T2" fmla="*/ 38 w 89"/>
                <a:gd name="T3" fmla="*/ 74 h 173"/>
                <a:gd name="T4" fmla="*/ 43 w 89"/>
                <a:gd name="T5" fmla="*/ 85 h 173"/>
                <a:gd name="T6" fmla="*/ 52 w 89"/>
                <a:gd name="T7" fmla="*/ 94 h 173"/>
                <a:gd name="T8" fmla="*/ 63 w 89"/>
                <a:gd name="T9" fmla="*/ 102 h 173"/>
                <a:gd name="T10" fmla="*/ 75 w 89"/>
                <a:gd name="T11" fmla="*/ 108 h 173"/>
                <a:gd name="T12" fmla="*/ 83 w 89"/>
                <a:gd name="T13" fmla="*/ 114 h 173"/>
                <a:gd name="T14" fmla="*/ 89 w 89"/>
                <a:gd name="T15" fmla="*/ 124 h 173"/>
                <a:gd name="T16" fmla="*/ 89 w 89"/>
                <a:gd name="T17" fmla="*/ 126 h 173"/>
                <a:gd name="T18" fmla="*/ 87 w 89"/>
                <a:gd name="T19" fmla="*/ 129 h 173"/>
                <a:gd name="T20" fmla="*/ 75 w 89"/>
                <a:gd name="T21" fmla="*/ 132 h 173"/>
                <a:gd name="T22" fmla="*/ 61 w 89"/>
                <a:gd name="T23" fmla="*/ 135 h 173"/>
                <a:gd name="T24" fmla="*/ 48 w 89"/>
                <a:gd name="T25" fmla="*/ 138 h 173"/>
                <a:gd name="T26" fmla="*/ 40 w 89"/>
                <a:gd name="T27" fmla="*/ 142 h 173"/>
                <a:gd name="T28" fmla="*/ 33 w 89"/>
                <a:gd name="T29" fmla="*/ 150 h 173"/>
                <a:gd name="T30" fmla="*/ 29 w 89"/>
                <a:gd name="T31" fmla="*/ 159 h 173"/>
                <a:gd name="T32" fmla="*/ 26 w 89"/>
                <a:gd name="T33" fmla="*/ 173 h 173"/>
                <a:gd name="T34" fmla="*/ 25 w 89"/>
                <a:gd name="T35" fmla="*/ 149 h 173"/>
                <a:gd name="T36" fmla="*/ 24 w 89"/>
                <a:gd name="T37" fmla="*/ 143 h 173"/>
                <a:gd name="T38" fmla="*/ 21 w 89"/>
                <a:gd name="T39" fmla="*/ 138 h 173"/>
                <a:gd name="T40" fmla="*/ 14 w 89"/>
                <a:gd name="T41" fmla="*/ 128 h 173"/>
                <a:gd name="T42" fmla="*/ 6 w 89"/>
                <a:gd name="T43" fmla="*/ 112 h 173"/>
                <a:gd name="T44" fmla="*/ 0 w 89"/>
                <a:gd name="T45" fmla="*/ 92 h 173"/>
                <a:gd name="T46" fmla="*/ 0 w 89"/>
                <a:gd name="T47" fmla="*/ 73 h 173"/>
                <a:gd name="T48" fmla="*/ 2 w 89"/>
                <a:gd name="T49" fmla="*/ 57 h 173"/>
                <a:gd name="T50" fmla="*/ 2 w 89"/>
                <a:gd name="T51" fmla="*/ 52 h 173"/>
                <a:gd name="T52" fmla="*/ 4 w 89"/>
                <a:gd name="T53" fmla="*/ 30 h 173"/>
                <a:gd name="T54" fmla="*/ 7 w 89"/>
                <a:gd name="T55" fmla="*/ 19 h 173"/>
                <a:gd name="T56" fmla="*/ 11 w 89"/>
                <a:gd name="T57" fmla="*/ 8 h 173"/>
                <a:gd name="T58" fmla="*/ 18 w 89"/>
                <a:gd name="T59" fmla="*/ 0 h 17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9"/>
                <a:gd name="T91" fmla="*/ 0 h 173"/>
                <a:gd name="T92" fmla="*/ 89 w 89"/>
                <a:gd name="T93" fmla="*/ 173 h 17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9" h="173">
                  <a:moveTo>
                    <a:pt x="35" y="66"/>
                  </a:moveTo>
                  <a:lnTo>
                    <a:pt x="38" y="74"/>
                  </a:lnTo>
                  <a:lnTo>
                    <a:pt x="43" y="85"/>
                  </a:lnTo>
                  <a:lnTo>
                    <a:pt x="52" y="94"/>
                  </a:lnTo>
                  <a:lnTo>
                    <a:pt x="63" y="102"/>
                  </a:lnTo>
                  <a:lnTo>
                    <a:pt x="75" y="108"/>
                  </a:lnTo>
                  <a:lnTo>
                    <a:pt x="83" y="114"/>
                  </a:lnTo>
                  <a:lnTo>
                    <a:pt x="89" y="124"/>
                  </a:lnTo>
                  <a:lnTo>
                    <a:pt x="89" y="126"/>
                  </a:lnTo>
                  <a:lnTo>
                    <a:pt x="87" y="129"/>
                  </a:lnTo>
                  <a:lnTo>
                    <a:pt x="75" y="132"/>
                  </a:lnTo>
                  <a:lnTo>
                    <a:pt x="61" y="135"/>
                  </a:lnTo>
                  <a:lnTo>
                    <a:pt x="48" y="138"/>
                  </a:lnTo>
                  <a:lnTo>
                    <a:pt x="40" y="142"/>
                  </a:lnTo>
                  <a:lnTo>
                    <a:pt x="33" y="150"/>
                  </a:lnTo>
                  <a:lnTo>
                    <a:pt x="29" y="159"/>
                  </a:lnTo>
                  <a:lnTo>
                    <a:pt x="26" y="173"/>
                  </a:lnTo>
                  <a:lnTo>
                    <a:pt x="25" y="149"/>
                  </a:lnTo>
                  <a:lnTo>
                    <a:pt x="24" y="143"/>
                  </a:lnTo>
                  <a:lnTo>
                    <a:pt x="21" y="138"/>
                  </a:lnTo>
                  <a:lnTo>
                    <a:pt x="14" y="128"/>
                  </a:lnTo>
                  <a:lnTo>
                    <a:pt x="6" y="112"/>
                  </a:lnTo>
                  <a:lnTo>
                    <a:pt x="0" y="92"/>
                  </a:lnTo>
                  <a:lnTo>
                    <a:pt x="0" y="73"/>
                  </a:lnTo>
                  <a:lnTo>
                    <a:pt x="2" y="57"/>
                  </a:lnTo>
                  <a:lnTo>
                    <a:pt x="2" y="52"/>
                  </a:lnTo>
                  <a:lnTo>
                    <a:pt x="4" y="30"/>
                  </a:lnTo>
                  <a:lnTo>
                    <a:pt x="7" y="19"/>
                  </a:lnTo>
                  <a:lnTo>
                    <a:pt x="11" y="8"/>
                  </a:lnTo>
                  <a:lnTo>
                    <a:pt x="18" y="0"/>
                  </a:lnTo>
                </a:path>
              </a:pathLst>
            </a:custGeom>
            <a:noFill/>
            <a:ln w="0">
              <a:solidFill>
                <a:srgbClr val="8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36" name="Freeform 40">
              <a:extLst>
                <a:ext uri="{FF2B5EF4-FFF2-40B4-BE49-F238E27FC236}">
                  <a16:creationId xmlns:a16="http://schemas.microsoft.com/office/drawing/2014/main" id="{8BE161C5-23DF-9847-BB14-C3E6E8DAE844}"/>
                </a:ext>
              </a:extLst>
            </p:cNvPr>
            <p:cNvSpPr>
              <a:spLocks/>
            </p:cNvSpPr>
            <p:nvPr/>
          </p:nvSpPr>
          <p:spPr bwMode="auto">
            <a:xfrm>
              <a:off x="3015" y="2540"/>
              <a:ext cx="14" cy="40"/>
            </a:xfrm>
            <a:custGeom>
              <a:avLst/>
              <a:gdLst>
                <a:gd name="T0" fmla="*/ 42 w 42"/>
                <a:gd name="T1" fmla="*/ 0 h 120"/>
                <a:gd name="T2" fmla="*/ 38 w 42"/>
                <a:gd name="T3" fmla="*/ 8 h 120"/>
                <a:gd name="T4" fmla="*/ 32 w 42"/>
                <a:gd name="T5" fmla="*/ 19 h 120"/>
                <a:gd name="T6" fmla="*/ 30 w 42"/>
                <a:gd name="T7" fmla="*/ 33 h 120"/>
                <a:gd name="T8" fmla="*/ 28 w 42"/>
                <a:gd name="T9" fmla="*/ 51 h 120"/>
                <a:gd name="T10" fmla="*/ 28 w 42"/>
                <a:gd name="T11" fmla="*/ 51 h 120"/>
                <a:gd name="T12" fmla="*/ 28 w 42"/>
                <a:gd name="T13" fmla="*/ 59 h 120"/>
                <a:gd name="T14" fmla="*/ 26 w 42"/>
                <a:gd name="T15" fmla="*/ 76 h 120"/>
                <a:gd name="T16" fmla="*/ 26 w 42"/>
                <a:gd name="T17" fmla="*/ 91 h 120"/>
                <a:gd name="T18" fmla="*/ 24 w 42"/>
                <a:gd name="T19" fmla="*/ 103 h 120"/>
                <a:gd name="T20" fmla="*/ 21 w 42"/>
                <a:gd name="T21" fmla="*/ 120 h 120"/>
                <a:gd name="T22" fmla="*/ 12 w 42"/>
                <a:gd name="T23" fmla="*/ 109 h 120"/>
                <a:gd name="T24" fmla="*/ 7 w 42"/>
                <a:gd name="T25" fmla="*/ 97 h 120"/>
                <a:gd name="T26" fmla="*/ 2 w 42"/>
                <a:gd name="T27" fmla="*/ 86 h 120"/>
                <a:gd name="T28" fmla="*/ 0 w 42"/>
                <a:gd name="T29" fmla="*/ 70 h 120"/>
                <a:gd name="T30" fmla="*/ 0 w 42"/>
                <a:gd name="T31" fmla="*/ 57 h 120"/>
                <a:gd name="T32" fmla="*/ 0 w 42"/>
                <a:gd name="T33" fmla="*/ 45 h 120"/>
                <a:gd name="T34" fmla="*/ 1 w 42"/>
                <a:gd name="T35" fmla="*/ 38 h 120"/>
                <a:gd name="T36" fmla="*/ 4 w 42"/>
                <a:gd name="T37" fmla="*/ 21 h 120"/>
                <a:gd name="T38" fmla="*/ 6 w 42"/>
                <a:gd name="T39" fmla="*/ 13 h 1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2"/>
                <a:gd name="T61" fmla="*/ 0 h 120"/>
                <a:gd name="T62" fmla="*/ 42 w 42"/>
                <a:gd name="T63" fmla="*/ 120 h 12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2" h="120">
                  <a:moveTo>
                    <a:pt x="42" y="0"/>
                  </a:moveTo>
                  <a:lnTo>
                    <a:pt x="38" y="8"/>
                  </a:lnTo>
                  <a:lnTo>
                    <a:pt x="32" y="19"/>
                  </a:lnTo>
                  <a:lnTo>
                    <a:pt x="30" y="33"/>
                  </a:lnTo>
                  <a:lnTo>
                    <a:pt x="28" y="51"/>
                  </a:lnTo>
                  <a:lnTo>
                    <a:pt x="28" y="59"/>
                  </a:lnTo>
                  <a:lnTo>
                    <a:pt x="26" y="76"/>
                  </a:lnTo>
                  <a:lnTo>
                    <a:pt x="26" y="91"/>
                  </a:lnTo>
                  <a:lnTo>
                    <a:pt x="24" y="103"/>
                  </a:lnTo>
                  <a:lnTo>
                    <a:pt x="21" y="120"/>
                  </a:lnTo>
                  <a:lnTo>
                    <a:pt x="12" y="109"/>
                  </a:lnTo>
                  <a:lnTo>
                    <a:pt x="7" y="97"/>
                  </a:lnTo>
                  <a:lnTo>
                    <a:pt x="2" y="86"/>
                  </a:lnTo>
                  <a:lnTo>
                    <a:pt x="0" y="70"/>
                  </a:lnTo>
                  <a:lnTo>
                    <a:pt x="0" y="57"/>
                  </a:lnTo>
                  <a:lnTo>
                    <a:pt x="0" y="45"/>
                  </a:lnTo>
                  <a:lnTo>
                    <a:pt x="1" y="38"/>
                  </a:lnTo>
                  <a:lnTo>
                    <a:pt x="4" y="21"/>
                  </a:lnTo>
                  <a:lnTo>
                    <a:pt x="6" y="1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37" name="Freeform 41">
              <a:extLst>
                <a:ext uri="{FF2B5EF4-FFF2-40B4-BE49-F238E27FC236}">
                  <a16:creationId xmlns:a16="http://schemas.microsoft.com/office/drawing/2014/main" id="{4DC8F5FE-EFD2-064D-BC21-E4AB5FC1714D}"/>
                </a:ext>
              </a:extLst>
            </p:cNvPr>
            <p:cNvSpPr>
              <a:spLocks/>
            </p:cNvSpPr>
            <p:nvPr/>
          </p:nvSpPr>
          <p:spPr bwMode="auto">
            <a:xfrm>
              <a:off x="2977" y="2544"/>
              <a:ext cx="41" cy="79"/>
            </a:xfrm>
            <a:custGeom>
              <a:avLst/>
              <a:gdLst>
                <a:gd name="T0" fmla="*/ 101 w 122"/>
                <a:gd name="T1" fmla="*/ 0 h 237"/>
                <a:gd name="T2" fmla="*/ 100 w 122"/>
                <a:gd name="T3" fmla="*/ 13 h 237"/>
                <a:gd name="T4" fmla="*/ 99 w 122"/>
                <a:gd name="T5" fmla="*/ 29 h 237"/>
                <a:gd name="T6" fmla="*/ 99 w 122"/>
                <a:gd name="T7" fmla="*/ 29 h 237"/>
                <a:gd name="T8" fmla="*/ 96 w 122"/>
                <a:gd name="T9" fmla="*/ 45 h 237"/>
                <a:gd name="T10" fmla="*/ 96 w 122"/>
                <a:gd name="T11" fmla="*/ 62 h 237"/>
                <a:gd name="T12" fmla="*/ 99 w 122"/>
                <a:gd name="T13" fmla="*/ 82 h 237"/>
                <a:gd name="T14" fmla="*/ 105 w 122"/>
                <a:gd name="T15" fmla="*/ 100 h 237"/>
                <a:gd name="T16" fmla="*/ 112 w 122"/>
                <a:gd name="T17" fmla="*/ 120 h 237"/>
                <a:gd name="T18" fmla="*/ 119 w 122"/>
                <a:gd name="T19" fmla="*/ 136 h 237"/>
                <a:gd name="T20" fmla="*/ 121 w 122"/>
                <a:gd name="T21" fmla="*/ 154 h 237"/>
                <a:gd name="T22" fmla="*/ 122 w 122"/>
                <a:gd name="T23" fmla="*/ 172 h 237"/>
                <a:gd name="T24" fmla="*/ 120 w 122"/>
                <a:gd name="T25" fmla="*/ 194 h 237"/>
                <a:gd name="T26" fmla="*/ 115 w 122"/>
                <a:gd name="T27" fmla="*/ 212 h 237"/>
                <a:gd name="T28" fmla="*/ 109 w 122"/>
                <a:gd name="T29" fmla="*/ 228 h 237"/>
                <a:gd name="T30" fmla="*/ 100 w 122"/>
                <a:gd name="T31" fmla="*/ 237 h 237"/>
                <a:gd name="T32" fmla="*/ 95 w 122"/>
                <a:gd name="T33" fmla="*/ 224 h 237"/>
                <a:gd name="T34" fmla="*/ 89 w 122"/>
                <a:gd name="T35" fmla="*/ 212 h 237"/>
                <a:gd name="T36" fmla="*/ 84 w 122"/>
                <a:gd name="T37" fmla="*/ 201 h 237"/>
                <a:gd name="T38" fmla="*/ 75 w 122"/>
                <a:gd name="T39" fmla="*/ 189 h 237"/>
                <a:gd name="T40" fmla="*/ 63 w 122"/>
                <a:gd name="T41" fmla="*/ 174 h 237"/>
                <a:gd name="T42" fmla="*/ 51 w 122"/>
                <a:gd name="T43" fmla="*/ 161 h 237"/>
                <a:gd name="T44" fmla="*/ 36 w 122"/>
                <a:gd name="T45" fmla="*/ 146 h 237"/>
                <a:gd name="T46" fmla="*/ 24 w 122"/>
                <a:gd name="T47" fmla="*/ 133 h 237"/>
                <a:gd name="T48" fmla="*/ 12 w 122"/>
                <a:gd name="T49" fmla="*/ 122 h 237"/>
                <a:gd name="T50" fmla="*/ 5 w 122"/>
                <a:gd name="T51" fmla="*/ 112 h 237"/>
                <a:gd name="T52" fmla="*/ 0 w 122"/>
                <a:gd name="T53" fmla="*/ 99 h 237"/>
                <a:gd name="T54" fmla="*/ 0 w 122"/>
                <a:gd name="T55" fmla="*/ 86 h 237"/>
                <a:gd name="T56" fmla="*/ 4 w 122"/>
                <a:gd name="T57" fmla="*/ 74 h 237"/>
                <a:gd name="T58" fmla="*/ 10 w 122"/>
                <a:gd name="T59" fmla="*/ 60 h 237"/>
                <a:gd name="T60" fmla="*/ 18 w 122"/>
                <a:gd name="T61" fmla="*/ 43 h 237"/>
                <a:gd name="T62" fmla="*/ 24 w 122"/>
                <a:gd name="T63" fmla="*/ 26 h 237"/>
                <a:gd name="T64" fmla="*/ 31 w 122"/>
                <a:gd name="T65" fmla="*/ 11 h 237"/>
                <a:gd name="T66" fmla="*/ 36 w 122"/>
                <a:gd name="T67" fmla="*/ 2 h 23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2"/>
                <a:gd name="T103" fmla="*/ 0 h 237"/>
                <a:gd name="T104" fmla="*/ 122 w 122"/>
                <a:gd name="T105" fmla="*/ 237 h 23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2" h="237">
                  <a:moveTo>
                    <a:pt x="101" y="0"/>
                  </a:moveTo>
                  <a:lnTo>
                    <a:pt x="100" y="13"/>
                  </a:lnTo>
                  <a:lnTo>
                    <a:pt x="99" y="29"/>
                  </a:lnTo>
                  <a:lnTo>
                    <a:pt x="96" y="45"/>
                  </a:lnTo>
                  <a:lnTo>
                    <a:pt x="96" y="62"/>
                  </a:lnTo>
                  <a:lnTo>
                    <a:pt x="99" y="82"/>
                  </a:lnTo>
                  <a:lnTo>
                    <a:pt x="105" y="100"/>
                  </a:lnTo>
                  <a:lnTo>
                    <a:pt x="112" y="120"/>
                  </a:lnTo>
                  <a:lnTo>
                    <a:pt x="119" y="136"/>
                  </a:lnTo>
                  <a:lnTo>
                    <a:pt x="121" y="154"/>
                  </a:lnTo>
                  <a:lnTo>
                    <a:pt x="122" y="172"/>
                  </a:lnTo>
                  <a:lnTo>
                    <a:pt x="120" y="194"/>
                  </a:lnTo>
                  <a:lnTo>
                    <a:pt x="115" y="212"/>
                  </a:lnTo>
                  <a:lnTo>
                    <a:pt x="109" y="228"/>
                  </a:lnTo>
                  <a:lnTo>
                    <a:pt x="100" y="237"/>
                  </a:lnTo>
                  <a:lnTo>
                    <a:pt x="95" y="224"/>
                  </a:lnTo>
                  <a:lnTo>
                    <a:pt x="89" y="212"/>
                  </a:lnTo>
                  <a:lnTo>
                    <a:pt x="84" y="201"/>
                  </a:lnTo>
                  <a:lnTo>
                    <a:pt x="75" y="189"/>
                  </a:lnTo>
                  <a:lnTo>
                    <a:pt x="63" y="174"/>
                  </a:lnTo>
                  <a:lnTo>
                    <a:pt x="51" y="161"/>
                  </a:lnTo>
                  <a:lnTo>
                    <a:pt x="36" y="146"/>
                  </a:lnTo>
                  <a:lnTo>
                    <a:pt x="24" y="133"/>
                  </a:lnTo>
                  <a:lnTo>
                    <a:pt x="12" y="122"/>
                  </a:lnTo>
                  <a:lnTo>
                    <a:pt x="5" y="112"/>
                  </a:lnTo>
                  <a:lnTo>
                    <a:pt x="0" y="99"/>
                  </a:lnTo>
                  <a:lnTo>
                    <a:pt x="0" y="86"/>
                  </a:lnTo>
                  <a:lnTo>
                    <a:pt x="4" y="74"/>
                  </a:lnTo>
                  <a:lnTo>
                    <a:pt x="10" y="60"/>
                  </a:lnTo>
                  <a:lnTo>
                    <a:pt x="18" y="43"/>
                  </a:lnTo>
                  <a:lnTo>
                    <a:pt x="24" y="26"/>
                  </a:lnTo>
                  <a:lnTo>
                    <a:pt x="31" y="11"/>
                  </a:lnTo>
                  <a:lnTo>
                    <a:pt x="36" y="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38" name="Freeform 42">
              <a:extLst>
                <a:ext uri="{FF2B5EF4-FFF2-40B4-BE49-F238E27FC236}">
                  <a16:creationId xmlns:a16="http://schemas.microsoft.com/office/drawing/2014/main" id="{942F74E5-984B-AB41-AEAA-659808F2E9C2}"/>
                </a:ext>
              </a:extLst>
            </p:cNvPr>
            <p:cNvSpPr>
              <a:spLocks/>
            </p:cNvSpPr>
            <p:nvPr/>
          </p:nvSpPr>
          <p:spPr bwMode="auto">
            <a:xfrm>
              <a:off x="2969" y="2432"/>
              <a:ext cx="220" cy="112"/>
            </a:xfrm>
            <a:custGeom>
              <a:avLst/>
              <a:gdLst>
                <a:gd name="T0" fmla="*/ 424 w 659"/>
                <a:gd name="T1" fmla="*/ 14 h 338"/>
                <a:gd name="T2" fmla="*/ 448 w 659"/>
                <a:gd name="T3" fmla="*/ 5 h 338"/>
                <a:gd name="T4" fmla="*/ 470 w 659"/>
                <a:gd name="T5" fmla="*/ 0 h 338"/>
                <a:gd name="T6" fmla="*/ 489 w 659"/>
                <a:gd name="T7" fmla="*/ 10 h 338"/>
                <a:gd name="T8" fmla="*/ 504 w 659"/>
                <a:gd name="T9" fmla="*/ 39 h 338"/>
                <a:gd name="T10" fmla="*/ 521 w 659"/>
                <a:gd name="T11" fmla="*/ 78 h 338"/>
                <a:gd name="T12" fmla="*/ 534 w 659"/>
                <a:gd name="T13" fmla="*/ 94 h 338"/>
                <a:gd name="T14" fmla="*/ 561 w 659"/>
                <a:gd name="T15" fmla="*/ 109 h 338"/>
                <a:gd name="T16" fmla="*/ 605 w 659"/>
                <a:gd name="T17" fmla="*/ 132 h 338"/>
                <a:gd name="T18" fmla="*/ 636 w 659"/>
                <a:gd name="T19" fmla="*/ 164 h 338"/>
                <a:gd name="T20" fmla="*/ 657 w 659"/>
                <a:gd name="T21" fmla="*/ 205 h 338"/>
                <a:gd name="T22" fmla="*/ 658 w 659"/>
                <a:gd name="T23" fmla="*/ 249 h 338"/>
                <a:gd name="T24" fmla="*/ 647 w 659"/>
                <a:gd name="T25" fmla="*/ 281 h 338"/>
                <a:gd name="T26" fmla="*/ 624 w 659"/>
                <a:gd name="T27" fmla="*/ 302 h 338"/>
                <a:gd name="T28" fmla="*/ 591 w 659"/>
                <a:gd name="T29" fmla="*/ 311 h 338"/>
                <a:gd name="T30" fmla="*/ 571 w 659"/>
                <a:gd name="T31" fmla="*/ 321 h 338"/>
                <a:gd name="T32" fmla="*/ 546 w 659"/>
                <a:gd name="T33" fmla="*/ 334 h 338"/>
                <a:gd name="T34" fmla="*/ 519 w 659"/>
                <a:gd name="T35" fmla="*/ 336 h 338"/>
                <a:gd name="T36" fmla="*/ 469 w 659"/>
                <a:gd name="T37" fmla="*/ 323 h 338"/>
                <a:gd name="T38" fmla="*/ 440 w 659"/>
                <a:gd name="T39" fmla="*/ 321 h 338"/>
                <a:gd name="T40" fmla="*/ 409 w 659"/>
                <a:gd name="T41" fmla="*/ 321 h 338"/>
                <a:gd name="T42" fmla="*/ 373 w 659"/>
                <a:gd name="T43" fmla="*/ 310 h 338"/>
                <a:gd name="T44" fmla="*/ 340 w 659"/>
                <a:gd name="T45" fmla="*/ 301 h 338"/>
                <a:gd name="T46" fmla="*/ 310 w 659"/>
                <a:gd name="T47" fmla="*/ 291 h 338"/>
                <a:gd name="T48" fmla="*/ 278 w 659"/>
                <a:gd name="T49" fmla="*/ 288 h 338"/>
                <a:gd name="T50" fmla="*/ 249 w 659"/>
                <a:gd name="T51" fmla="*/ 295 h 338"/>
                <a:gd name="T52" fmla="*/ 216 w 659"/>
                <a:gd name="T53" fmla="*/ 312 h 338"/>
                <a:gd name="T54" fmla="*/ 191 w 659"/>
                <a:gd name="T55" fmla="*/ 321 h 338"/>
                <a:gd name="T56" fmla="*/ 163 w 659"/>
                <a:gd name="T57" fmla="*/ 332 h 338"/>
                <a:gd name="T58" fmla="*/ 143 w 659"/>
                <a:gd name="T59" fmla="*/ 338 h 338"/>
                <a:gd name="T60" fmla="*/ 126 w 659"/>
                <a:gd name="T61" fmla="*/ 338 h 338"/>
                <a:gd name="T62" fmla="*/ 92 w 659"/>
                <a:gd name="T63" fmla="*/ 327 h 338"/>
                <a:gd name="T64" fmla="*/ 63 w 659"/>
                <a:gd name="T65" fmla="*/ 304 h 338"/>
                <a:gd name="T66" fmla="*/ 44 w 659"/>
                <a:gd name="T67" fmla="*/ 273 h 338"/>
                <a:gd name="T68" fmla="*/ 31 w 659"/>
                <a:gd name="T69" fmla="*/ 228 h 338"/>
                <a:gd name="T70" fmla="*/ 12 w 659"/>
                <a:gd name="T71" fmla="*/ 191 h 338"/>
                <a:gd name="T72" fmla="*/ 0 w 659"/>
                <a:gd name="T73" fmla="*/ 159 h 338"/>
                <a:gd name="T74" fmla="*/ 5 w 659"/>
                <a:gd name="T75" fmla="*/ 131 h 338"/>
                <a:gd name="T76" fmla="*/ 23 w 659"/>
                <a:gd name="T77" fmla="*/ 101 h 338"/>
                <a:gd name="T78" fmla="*/ 48 w 659"/>
                <a:gd name="T79" fmla="*/ 78 h 338"/>
                <a:gd name="T80" fmla="*/ 66 w 659"/>
                <a:gd name="T81" fmla="*/ 60 h 338"/>
                <a:gd name="T82" fmla="*/ 98 w 659"/>
                <a:gd name="T83" fmla="*/ 51 h 338"/>
                <a:gd name="T84" fmla="*/ 145 w 659"/>
                <a:gd name="T85" fmla="*/ 52 h 338"/>
                <a:gd name="T86" fmla="*/ 224 w 659"/>
                <a:gd name="T87" fmla="*/ 60 h 338"/>
                <a:gd name="T88" fmla="*/ 278 w 659"/>
                <a:gd name="T89" fmla="*/ 57 h 338"/>
                <a:gd name="T90" fmla="*/ 330 w 659"/>
                <a:gd name="T91" fmla="*/ 46 h 338"/>
                <a:gd name="T92" fmla="*/ 371 w 659"/>
                <a:gd name="T93" fmla="*/ 32 h 338"/>
                <a:gd name="T94" fmla="*/ 398 w 659"/>
                <a:gd name="T95" fmla="*/ 19 h 3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59"/>
                <a:gd name="T145" fmla="*/ 0 h 338"/>
                <a:gd name="T146" fmla="*/ 659 w 659"/>
                <a:gd name="T147" fmla="*/ 338 h 3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59" h="338">
                  <a:moveTo>
                    <a:pt x="408" y="17"/>
                  </a:moveTo>
                  <a:lnTo>
                    <a:pt x="424" y="14"/>
                  </a:lnTo>
                  <a:lnTo>
                    <a:pt x="435" y="11"/>
                  </a:lnTo>
                  <a:lnTo>
                    <a:pt x="448" y="5"/>
                  </a:lnTo>
                  <a:lnTo>
                    <a:pt x="459" y="1"/>
                  </a:lnTo>
                  <a:lnTo>
                    <a:pt x="470" y="0"/>
                  </a:lnTo>
                  <a:lnTo>
                    <a:pt x="482" y="3"/>
                  </a:lnTo>
                  <a:lnTo>
                    <a:pt x="489" y="10"/>
                  </a:lnTo>
                  <a:lnTo>
                    <a:pt x="497" y="22"/>
                  </a:lnTo>
                  <a:lnTo>
                    <a:pt x="504" y="39"/>
                  </a:lnTo>
                  <a:lnTo>
                    <a:pt x="514" y="63"/>
                  </a:lnTo>
                  <a:lnTo>
                    <a:pt x="521" y="78"/>
                  </a:lnTo>
                  <a:lnTo>
                    <a:pt x="528" y="89"/>
                  </a:lnTo>
                  <a:lnTo>
                    <a:pt x="534" y="94"/>
                  </a:lnTo>
                  <a:lnTo>
                    <a:pt x="543" y="100"/>
                  </a:lnTo>
                  <a:lnTo>
                    <a:pt x="561" y="109"/>
                  </a:lnTo>
                  <a:lnTo>
                    <a:pt x="583" y="119"/>
                  </a:lnTo>
                  <a:lnTo>
                    <a:pt x="605" y="132"/>
                  </a:lnTo>
                  <a:lnTo>
                    <a:pt x="620" y="145"/>
                  </a:lnTo>
                  <a:lnTo>
                    <a:pt x="636" y="164"/>
                  </a:lnTo>
                  <a:lnTo>
                    <a:pt x="650" y="182"/>
                  </a:lnTo>
                  <a:lnTo>
                    <a:pt x="657" y="205"/>
                  </a:lnTo>
                  <a:lnTo>
                    <a:pt x="659" y="227"/>
                  </a:lnTo>
                  <a:lnTo>
                    <a:pt x="658" y="249"/>
                  </a:lnTo>
                  <a:lnTo>
                    <a:pt x="655" y="267"/>
                  </a:lnTo>
                  <a:lnTo>
                    <a:pt x="647" y="281"/>
                  </a:lnTo>
                  <a:lnTo>
                    <a:pt x="638" y="293"/>
                  </a:lnTo>
                  <a:lnTo>
                    <a:pt x="624" y="302"/>
                  </a:lnTo>
                  <a:lnTo>
                    <a:pt x="608" y="308"/>
                  </a:lnTo>
                  <a:lnTo>
                    <a:pt x="591" y="311"/>
                  </a:lnTo>
                  <a:lnTo>
                    <a:pt x="579" y="315"/>
                  </a:lnTo>
                  <a:lnTo>
                    <a:pt x="571" y="321"/>
                  </a:lnTo>
                  <a:lnTo>
                    <a:pt x="557" y="329"/>
                  </a:lnTo>
                  <a:lnTo>
                    <a:pt x="546" y="334"/>
                  </a:lnTo>
                  <a:lnTo>
                    <a:pt x="533" y="337"/>
                  </a:lnTo>
                  <a:lnTo>
                    <a:pt x="519" y="336"/>
                  </a:lnTo>
                  <a:lnTo>
                    <a:pt x="497" y="329"/>
                  </a:lnTo>
                  <a:lnTo>
                    <a:pt x="469" y="323"/>
                  </a:lnTo>
                  <a:lnTo>
                    <a:pt x="454" y="321"/>
                  </a:lnTo>
                  <a:lnTo>
                    <a:pt x="440" y="321"/>
                  </a:lnTo>
                  <a:lnTo>
                    <a:pt x="424" y="323"/>
                  </a:lnTo>
                  <a:lnTo>
                    <a:pt x="409" y="321"/>
                  </a:lnTo>
                  <a:lnTo>
                    <a:pt x="395" y="316"/>
                  </a:lnTo>
                  <a:lnTo>
                    <a:pt x="373" y="310"/>
                  </a:lnTo>
                  <a:lnTo>
                    <a:pt x="357" y="306"/>
                  </a:lnTo>
                  <a:lnTo>
                    <a:pt x="340" y="301"/>
                  </a:lnTo>
                  <a:lnTo>
                    <a:pt x="328" y="296"/>
                  </a:lnTo>
                  <a:lnTo>
                    <a:pt x="310" y="291"/>
                  </a:lnTo>
                  <a:lnTo>
                    <a:pt x="295" y="288"/>
                  </a:lnTo>
                  <a:lnTo>
                    <a:pt x="278" y="288"/>
                  </a:lnTo>
                  <a:lnTo>
                    <a:pt x="263" y="290"/>
                  </a:lnTo>
                  <a:lnTo>
                    <a:pt x="249" y="295"/>
                  </a:lnTo>
                  <a:lnTo>
                    <a:pt x="233" y="305"/>
                  </a:lnTo>
                  <a:lnTo>
                    <a:pt x="216" y="312"/>
                  </a:lnTo>
                  <a:lnTo>
                    <a:pt x="202" y="317"/>
                  </a:lnTo>
                  <a:lnTo>
                    <a:pt x="191" y="321"/>
                  </a:lnTo>
                  <a:lnTo>
                    <a:pt x="179" y="325"/>
                  </a:lnTo>
                  <a:lnTo>
                    <a:pt x="163" y="332"/>
                  </a:lnTo>
                  <a:lnTo>
                    <a:pt x="154" y="335"/>
                  </a:lnTo>
                  <a:lnTo>
                    <a:pt x="143" y="338"/>
                  </a:lnTo>
                  <a:lnTo>
                    <a:pt x="126" y="338"/>
                  </a:lnTo>
                  <a:lnTo>
                    <a:pt x="110" y="334"/>
                  </a:lnTo>
                  <a:lnTo>
                    <a:pt x="92" y="327"/>
                  </a:lnTo>
                  <a:lnTo>
                    <a:pt x="76" y="315"/>
                  </a:lnTo>
                  <a:lnTo>
                    <a:pt x="63" y="304"/>
                  </a:lnTo>
                  <a:lnTo>
                    <a:pt x="51" y="288"/>
                  </a:lnTo>
                  <a:lnTo>
                    <a:pt x="44" y="273"/>
                  </a:lnTo>
                  <a:lnTo>
                    <a:pt x="36" y="247"/>
                  </a:lnTo>
                  <a:lnTo>
                    <a:pt x="31" y="228"/>
                  </a:lnTo>
                  <a:lnTo>
                    <a:pt x="22" y="208"/>
                  </a:lnTo>
                  <a:lnTo>
                    <a:pt x="12" y="191"/>
                  </a:lnTo>
                  <a:lnTo>
                    <a:pt x="3" y="176"/>
                  </a:lnTo>
                  <a:lnTo>
                    <a:pt x="0" y="159"/>
                  </a:lnTo>
                  <a:lnTo>
                    <a:pt x="1" y="144"/>
                  </a:lnTo>
                  <a:lnTo>
                    <a:pt x="5" y="131"/>
                  </a:lnTo>
                  <a:lnTo>
                    <a:pt x="13" y="115"/>
                  </a:lnTo>
                  <a:lnTo>
                    <a:pt x="23" y="101"/>
                  </a:lnTo>
                  <a:lnTo>
                    <a:pt x="36" y="88"/>
                  </a:lnTo>
                  <a:lnTo>
                    <a:pt x="48" y="78"/>
                  </a:lnTo>
                  <a:lnTo>
                    <a:pt x="56" y="68"/>
                  </a:lnTo>
                  <a:lnTo>
                    <a:pt x="66" y="60"/>
                  </a:lnTo>
                  <a:lnTo>
                    <a:pt x="80" y="54"/>
                  </a:lnTo>
                  <a:lnTo>
                    <a:pt x="98" y="51"/>
                  </a:lnTo>
                  <a:lnTo>
                    <a:pt x="115" y="49"/>
                  </a:lnTo>
                  <a:lnTo>
                    <a:pt x="145" y="52"/>
                  </a:lnTo>
                  <a:lnTo>
                    <a:pt x="183" y="57"/>
                  </a:lnTo>
                  <a:lnTo>
                    <a:pt x="224" y="60"/>
                  </a:lnTo>
                  <a:lnTo>
                    <a:pt x="248" y="60"/>
                  </a:lnTo>
                  <a:lnTo>
                    <a:pt x="278" y="57"/>
                  </a:lnTo>
                  <a:lnTo>
                    <a:pt x="306" y="52"/>
                  </a:lnTo>
                  <a:lnTo>
                    <a:pt x="330" y="46"/>
                  </a:lnTo>
                  <a:lnTo>
                    <a:pt x="351" y="40"/>
                  </a:lnTo>
                  <a:lnTo>
                    <a:pt x="371" y="32"/>
                  </a:lnTo>
                  <a:lnTo>
                    <a:pt x="387" y="23"/>
                  </a:lnTo>
                  <a:lnTo>
                    <a:pt x="398" y="19"/>
                  </a:lnTo>
                  <a:lnTo>
                    <a:pt x="408" y="17"/>
                  </a:lnTo>
                  <a:close/>
                </a:path>
              </a:pathLst>
            </a:custGeom>
            <a:solidFill>
              <a:srgbClr val="00C000"/>
            </a:solidFill>
            <a:ln w="0">
              <a:solidFill>
                <a:srgbClr val="0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39" name="Freeform 43">
              <a:extLst>
                <a:ext uri="{FF2B5EF4-FFF2-40B4-BE49-F238E27FC236}">
                  <a16:creationId xmlns:a16="http://schemas.microsoft.com/office/drawing/2014/main" id="{C49C5879-DED4-734B-B4E4-0277FF956C9D}"/>
                </a:ext>
              </a:extLst>
            </p:cNvPr>
            <p:cNvSpPr>
              <a:spLocks/>
            </p:cNvSpPr>
            <p:nvPr/>
          </p:nvSpPr>
          <p:spPr bwMode="auto">
            <a:xfrm>
              <a:off x="2819" y="2397"/>
              <a:ext cx="286" cy="157"/>
            </a:xfrm>
            <a:custGeom>
              <a:avLst/>
              <a:gdLst>
                <a:gd name="T0" fmla="*/ 576 w 859"/>
                <a:gd name="T1" fmla="*/ 456 h 472"/>
                <a:gd name="T2" fmla="*/ 574 w 859"/>
                <a:gd name="T3" fmla="*/ 472 h 472"/>
                <a:gd name="T4" fmla="*/ 536 w 859"/>
                <a:gd name="T5" fmla="*/ 462 h 472"/>
                <a:gd name="T6" fmla="*/ 511 w 859"/>
                <a:gd name="T7" fmla="*/ 445 h 472"/>
                <a:gd name="T8" fmla="*/ 506 w 859"/>
                <a:gd name="T9" fmla="*/ 440 h 472"/>
                <a:gd name="T10" fmla="*/ 499 w 859"/>
                <a:gd name="T11" fmla="*/ 438 h 472"/>
                <a:gd name="T12" fmla="*/ 471 w 859"/>
                <a:gd name="T13" fmla="*/ 439 h 472"/>
                <a:gd name="T14" fmla="*/ 433 w 859"/>
                <a:gd name="T15" fmla="*/ 438 h 472"/>
                <a:gd name="T16" fmla="*/ 411 w 859"/>
                <a:gd name="T17" fmla="*/ 443 h 472"/>
                <a:gd name="T18" fmla="*/ 375 w 859"/>
                <a:gd name="T19" fmla="*/ 446 h 472"/>
                <a:gd name="T20" fmla="*/ 322 w 859"/>
                <a:gd name="T21" fmla="*/ 439 h 472"/>
                <a:gd name="T22" fmla="*/ 273 w 859"/>
                <a:gd name="T23" fmla="*/ 429 h 472"/>
                <a:gd name="T24" fmla="*/ 246 w 859"/>
                <a:gd name="T25" fmla="*/ 420 h 472"/>
                <a:gd name="T26" fmla="*/ 209 w 859"/>
                <a:gd name="T27" fmla="*/ 407 h 472"/>
                <a:gd name="T28" fmla="*/ 167 w 859"/>
                <a:gd name="T29" fmla="*/ 390 h 472"/>
                <a:gd name="T30" fmla="*/ 141 w 859"/>
                <a:gd name="T31" fmla="*/ 372 h 472"/>
                <a:gd name="T32" fmla="*/ 107 w 859"/>
                <a:gd name="T33" fmla="*/ 341 h 472"/>
                <a:gd name="T34" fmla="*/ 64 w 859"/>
                <a:gd name="T35" fmla="*/ 321 h 472"/>
                <a:gd name="T36" fmla="*/ 24 w 859"/>
                <a:gd name="T37" fmla="*/ 300 h 472"/>
                <a:gd name="T38" fmla="*/ 5 w 859"/>
                <a:gd name="T39" fmla="*/ 271 h 472"/>
                <a:gd name="T40" fmla="*/ 0 w 859"/>
                <a:gd name="T41" fmla="*/ 221 h 472"/>
                <a:gd name="T42" fmla="*/ 11 w 859"/>
                <a:gd name="T43" fmla="*/ 176 h 472"/>
                <a:gd name="T44" fmla="*/ 21 w 859"/>
                <a:gd name="T45" fmla="*/ 159 h 472"/>
                <a:gd name="T46" fmla="*/ 53 w 859"/>
                <a:gd name="T47" fmla="*/ 125 h 472"/>
                <a:gd name="T48" fmla="*/ 97 w 859"/>
                <a:gd name="T49" fmla="*/ 104 h 472"/>
                <a:gd name="T50" fmla="*/ 159 w 859"/>
                <a:gd name="T51" fmla="*/ 88 h 472"/>
                <a:gd name="T52" fmla="*/ 209 w 859"/>
                <a:gd name="T53" fmla="*/ 67 h 472"/>
                <a:gd name="T54" fmla="*/ 255 w 859"/>
                <a:gd name="T55" fmla="*/ 34 h 472"/>
                <a:gd name="T56" fmla="*/ 304 w 859"/>
                <a:gd name="T57" fmla="*/ 10 h 472"/>
                <a:gd name="T58" fmla="*/ 367 w 859"/>
                <a:gd name="T59" fmla="*/ 1 h 472"/>
                <a:gd name="T60" fmla="*/ 434 w 859"/>
                <a:gd name="T61" fmla="*/ 4 h 472"/>
                <a:gd name="T62" fmla="*/ 493 w 859"/>
                <a:gd name="T63" fmla="*/ 12 h 472"/>
                <a:gd name="T64" fmla="*/ 541 w 859"/>
                <a:gd name="T65" fmla="*/ 18 h 472"/>
                <a:gd name="T66" fmla="*/ 611 w 859"/>
                <a:gd name="T67" fmla="*/ 41 h 472"/>
                <a:gd name="T68" fmla="*/ 660 w 859"/>
                <a:gd name="T69" fmla="*/ 46 h 472"/>
                <a:gd name="T70" fmla="*/ 709 w 859"/>
                <a:gd name="T71" fmla="*/ 38 h 472"/>
                <a:gd name="T72" fmla="*/ 751 w 859"/>
                <a:gd name="T73" fmla="*/ 41 h 472"/>
                <a:gd name="T74" fmla="*/ 793 w 859"/>
                <a:gd name="T75" fmla="*/ 62 h 472"/>
                <a:gd name="T76" fmla="*/ 854 w 859"/>
                <a:gd name="T77" fmla="*/ 105 h 472"/>
                <a:gd name="T78" fmla="*/ 859 w 859"/>
                <a:gd name="T79" fmla="*/ 122 h 472"/>
                <a:gd name="T80" fmla="*/ 838 w 859"/>
                <a:gd name="T81" fmla="*/ 128 h 472"/>
                <a:gd name="T82" fmla="*/ 802 w 859"/>
                <a:gd name="T83" fmla="*/ 145 h 472"/>
                <a:gd name="T84" fmla="*/ 757 w 859"/>
                <a:gd name="T85" fmla="*/ 157 h 472"/>
                <a:gd name="T86" fmla="*/ 699 w 859"/>
                <a:gd name="T87" fmla="*/ 165 h 472"/>
                <a:gd name="T88" fmla="*/ 634 w 859"/>
                <a:gd name="T89" fmla="*/ 162 h 472"/>
                <a:gd name="T90" fmla="*/ 566 w 859"/>
                <a:gd name="T91" fmla="*/ 154 h 472"/>
                <a:gd name="T92" fmla="*/ 531 w 859"/>
                <a:gd name="T93" fmla="*/ 159 h 472"/>
                <a:gd name="T94" fmla="*/ 507 w 859"/>
                <a:gd name="T95" fmla="*/ 173 h 472"/>
                <a:gd name="T96" fmla="*/ 487 w 859"/>
                <a:gd name="T97" fmla="*/ 193 h 472"/>
                <a:gd name="T98" fmla="*/ 464 w 859"/>
                <a:gd name="T99" fmla="*/ 220 h 472"/>
                <a:gd name="T100" fmla="*/ 452 w 859"/>
                <a:gd name="T101" fmla="*/ 249 h 472"/>
                <a:gd name="T102" fmla="*/ 454 w 859"/>
                <a:gd name="T103" fmla="*/ 281 h 472"/>
                <a:gd name="T104" fmla="*/ 473 w 859"/>
                <a:gd name="T105" fmla="*/ 313 h 472"/>
                <a:gd name="T106" fmla="*/ 487 w 859"/>
                <a:gd name="T107" fmla="*/ 352 h 472"/>
                <a:gd name="T108" fmla="*/ 502 w 859"/>
                <a:gd name="T109" fmla="*/ 393 h 472"/>
                <a:gd name="T110" fmla="*/ 527 w 859"/>
                <a:gd name="T111" fmla="*/ 420 h 472"/>
                <a:gd name="T112" fmla="*/ 561 w 859"/>
                <a:gd name="T113" fmla="*/ 439 h 47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59"/>
                <a:gd name="T172" fmla="*/ 0 h 472"/>
                <a:gd name="T173" fmla="*/ 859 w 859"/>
                <a:gd name="T174" fmla="*/ 472 h 47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59" h="472">
                  <a:moveTo>
                    <a:pt x="577" y="443"/>
                  </a:moveTo>
                  <a:lnTo>
                    <a:pt x="576" y="456"/>
                  </a:lnTo>
                  <a:lnTo>
                    <a:pt x="574" y="472"/>
                  </a:lnTo>
                  <a:lnTo>
                    <a:pt x="553" y="467"/>
                  </a:lnTo>
                  <a:lnTo>
                    <a:pt x="536" y="462"/>
                  </a:lnTo>
                  <a:lnTo>
                    <a:pt x="521" y="453"/>
                  </a:lnTo>
                  <a:lnTo>
                    <a:pt x="511" y="445"/>
                  </a:lnTo>
                  <a:lnTo>
                    <a:pt x="506" y="440"/>
                  </a:lnTo>
                  <a:lnTo>
                    <a:pt x="499" y="438"/>
                  </a:lnTo>
                  <a:lnTo>
                    <a:pt x="485" y="437"/>
                  </a:lnTo>
                  <a:lnTo>
                    <a:pt x="471" y="439"/>
                  </a:lnTo>
                  <a:lnTo>
                    <a:pt x="448" y="437"/>
                  </a:lnTo>
                  <a:lnTo>
                    <a:pt x="433" y="438"/>
                  </a:lnTo>
                  <a:lnTo>
                    <a:pt x="423" y="440"/>
                  </a:lnTo>
                  <a:lnTo>
                    <a:pt x="411" y="443"/>
                  </a:lnTo>
                  <a:lnTo>
                    <a:pt x="394" y="445"/>
                  </a:lnTo>
                  <a:lnTo>
                    <a:pt x="375" y="446"/>
                  </a:lnTo>
                  <a:lnTo>
                    <a:pt x="348" y="444"/>
                  </a:lnTo>
                  <a:lnTo>
                    <a:pt x="322" y="439"/>
                  </a:lnTo>
                  <a:lnTo>
                    <a:pt x="296" y="433"/>
                  </a:lnTo>
                  <a:lnTo>
                    <a:pt x="273" y="429"/>
                  </a:lnTo>
                  <a:lnTo>
                    <a:pt x="261" y="424"/>
                  </a:lnTo>
                  <a:lnTo>
                    <a:pt x="246" y="420"/>
                  </a:lnTo>
                  <a:lnTo>
                    <a:pt x="227" y="412"/>
                  </a:lnTo>
                  <a:lnTo>
                    <a:pt x="209" y="407"/>
                  </a:lnTo>
                  <a:lnTo>
                    <a:pt x="188" y="400"/>
                  </a:lnTo>
                  <a:lnTo>
                    <a:pt x="167" y="390"/>
                  </a:lnTo>
                  <a:lnTo>
                    <a:pt x="154" y="382"/>
                  </a:lnTo>
                  <a:lnTo>
                    <a:pt x="141" y="372"/>
                  </a:lnTo>
                  <a:lnTo>
                    <a:pt x="123" y="355"/>
                  </a:lnTo>
                  <a:lnTo>
                    <a:pt x="107" y="341"/>
                  </a:lnTo>
                  <a:lnTo>
                    <a:pt x="86" y="329"/>
                  </a:lnTo>
                  <a:lnTo>
                    <a:pt x="64" y="321"/>
                  </a:lnTo>
                  <a:lnTo>
                    <a:pt x="41" y="311"/>
                  </a:lnTo>
                  <a:lnTo>
                    <a:pt x="24" y="300"/>
                  </a:lnTo>
                  <a:lnTo>
                    <a:pt x="13" y="287"/>
                  </a:lnTo>
                  <a:lnTo>
                    <a:pt x="5" y="271"/>
                  </a:lnTo>
                  <a:lnTo>
                    <a:pt x="0" y="247"/>
                  </a:lnTo>
                  <a:lnTo>
                    <a:pt x="0" y="221"/>
                  </a:lnTo>
                  <a:lnTo>
                    <a:pt x="4" y="197"/>
                  </a:lnTo>
                  <a:lnTo>
                    <a:pt x="11" y="176"/>
                  </a:lnTo>
                  <a:lnTo>
                    <a:pt x="21" y="159"/>
                  </a:lnTo>
                  <a:lnTo>
                    <a:pt x="35" y="140"/>
                  </a:lnTo>
                  <a:lnTo>
                    <a:pt x="53" y="125"/>
                  </a:lnTo>
                  <a:lnTo>
                    <a:pt x="75" y="113"/>
                  </a:lnTo>
                  <a:lnTo>
                    <a:pt x="97" y="104"/>
                  </a:lnTo>
                  <a:lnTo>
                    <a:pt x="126" y="96"/>
                  </a:lnTo>
                  <a:lnTo>
                    <a:pt x="159" y="88"/>
                  </a:lnTo>
                  <a:lnTo>
                    <a:pt x="183" y="78"/>
                  </a:lnTo>
                  <a:lnTo>
                    <a:pt x="209" y="67"/>
                  </a:lnTo>
                  <a:lnTo>
                    <a:pt x="230" y="54"/>
                  </a:lnTo>
                  <a:lnTo>
                    <a:pt x="255" y="34"/>
                  </a:lnTo>
                  <a:lnTo>
                    <a:pt x="278" y="18"/>
                  </a:lnTo>
                  <a:lnTo>
                    <a:pt x="304" y="10"/>
                  </a:lnTo>
                  <a:lnTo>
                    <a:pt x="334" y="3"/>
                  </a:lnTo>
                  <a:lnTo>
                    <a:pt x="367" y="1"/>
                  </a:lnTo>
                  <a:lnTo>
                    <a:pt x="395" y="0"/>
                  </a:lnTo>
                  <a:lnTo>
                    <a:pt x="434" y="4"/>
                  </a:lnTo>
                  <a:lnTo>
                    <a:pt x="465" y="10"/>
                  </a:lnTo>
                  <a:lnTo>
                    <a:pt x="493" y="12"/>
                  </a:lnTo>
                  <a:lnTo>
                    <a:pt x="519" y="13"/>
                  </a:lnTo>
                  <a:lnTo>
                    <a:pt x="541" y="18"/>
                  </a:lnTo>
                  <a:lnTo>
                    <a:pt x="576" y="32"/>
                  </a:lnTo>
                  <a:lnTo>
                    <a:pt x="611" y="41"/>
                  </a:lnTo>
                  <a:lnTo>
                    <a:pt x="638" y="47"/>
                  </a:lnTo>
                  <a:lnTo>
                    <a:pt x="660" y="46"/>
                  </a:lnTo>
                  <a:lnTo>
                    <a:pt x="687" y="41"/>
                  </a:lnTo>
                  <a:lnTo>
                    <a:pt x="709" y="38"/>
                  </a:lnTo>
                  <a:lnTo>
                    <a:pt x="729" y="38"/>
                  </a:lnTo>
                  <a:lnTo>
                    <a:pt x="751" y="41"/>
                  </a:lnTo>
                  <a:lnTo>
                    <a:pt x="767" y="48"/>
                  </a:lnTo>
                  <a:lnTo>
                    <a:pt x="793" y="62"/>
                  </a:lnTo>
                  <a:lnTo>
                    <a:pt x="836" y="90"/>
                  </a:lnTo>
                  <a:lnTo>
                    <a:pt x="854" y="105"/>
                  </a:lnTo>
                  <a:lnTo>
                    <a:pt x="859" y="113"/>
                  </a:lnTo>
                  <a:lnTo>
                    <a:pt x="859" y="122"/>
                  </a:lnTo>
                  <a:lnTo>
                    <a:pt x="849" y="124"/>
                  </a:lnTo>
                  <a:lnTo>
                    <a:pt x="838" y="128"/>
                  </a:lnTo>
                  <a:lnTo>
                    <a:pt x="822" y="137"/>
                  </a:lnTo>
                  <a:lnTo>
                    <a:pt x="802" y="145"/>
                  </a:lnTo>
                  <a:lnTo>
                    <a:pt x="781" y="151"/>
                  </a:lnTo>
                  <a:lnTo>
                    <a:pt x="757" y="157"/>
                  </a:lnTo>
                  <a:lnTo>
                    <a:pt x="729" y="162"/>
                  </a:lnTo>
                  <a:lnTo>
                    <a:pt x="699" y="165"/>
                  </a:lnTo>
                  <a:lnTo>
                    <a:pt x="675" y="165"/>
                  </a:lnTo>
                  <a:lnTo>
                    <a:pt x="634" y="162"/>
                  </a:lnTo>
                  <a:lnTo>
                    <a:pt x="596" y="157"/>
                  </a:lnTo>
                  <a:lnTo>
                    <a:pt x="566" y="154"/>
                  </a:lnTo>
                  <a:lnTo>
                    <a:pt x="549" y="156"/>
                  </a:lnTo>
                  <a:lnTo>
                    <a:pt x="531" y="159"/>
                  </a:lnTo>
                  <a:lnTo>
                    <a:pt x="517" y="165"/>
                  </a:lnTo>
                  <a:lnTo>
                    <a:pt x="507" y="173"/>
                  </a:lnTo>
                  <a:lnTo>
                    <a:pt x="499" y="183"/>
                  </a:lnTo>
                  <a:lnTo>
                    <a:pt x="487" y="193"/>
                  </a:lnTo>
                  <a:lnTo>
                    <a:pt x="474" y="206"/>
                  </a:lnTo>
                  <a:lnTo>
                    <a:pt x="464" y="220"/>
                  </a:lnTo>
                  <a:lnTo>
                    <a:pt x="456" y="236"/>
                  </a:lnTo>
                  <a:lnTo>
                    <a:pt x="452" y="249"/>
                  </a:lnTo>
                  <a:lnTo>
                    <a:pt x="451" y="264"/>
                  </a:lnTo>
                  <a:lnTo>
                    <a:pt x="454" y="281"/>
                  </a:lnTo>
                  <a:lnTo>
                    <a:pt x="463" y="296"/>
                  </a:lnTo>
                  <a:lnTo>
                    <a:pt x="473" y="313"/>
                  </a:lnTo>
                  <a:lnTo>
                    <a:pt x="482" y="333"/>
                  </a:lnTo>
                  <a:lnTo>
                    <a:pt x="487" y="352"/>
                  </a:lnTo>
                  <a:lnTo>
                    <a:pt x="495" y="378"/>
                  </a:lnTo>
                  <a:lnTo>
                    <a:pt x="502" y="393"/>
                  </a:lnTo>
                  <a:lnTo>
                    <a:pt x="514" y="409"/>
                  </a:lnTo>
                  <a:lnTo>
                    <a:pt x="527" y="420"/>
                  </a:lnTo>
                  <a:lnTo>
                    <a:pt x="543" y="432"/>
                  </a:lnTo>
                  <a:lnTo>
                    <a:pt x="561" y="439"/>
                  </a:lnTo>
                  <a:lnTo>
                    <a:pt x="577" y="443"/>
                  </a:lnTo>
                  <a:close/>
                </a:path>
              </a:pathLst>
            </a:custGeom>
            <a:solidFill>
              <a:srgbClr val="00C000"/>
            </a:solidFill>
            <a:ln w="0">
              <a:solidFill>
                <a:srgbClr val="0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40" name="Freeform 44">
              <a:extLst>
                <a:ext uri="{FF2B5EF4-FFF2-40B4-BE49-F238E27FC236}">
                  <a16:creationId xmlns:a16="http://schemas.microsoft.com/office/drawing/2014/main" id="{8971BF6E-1A27-8348-B35E-E24B5A4F5546}"/>
                </a:ext>
              </a:extLst>
            </p:cNvPr>
            <p:cNvSpPr>
              <a:spLocks/>
            </p:cNvSpPr>
            <p:nvPr/>
          </p:nvSpPr>
          <p:spPr bwMode="auto">
            <a:xfrm>
              <a:off x="2716" y="2450"/>
              <a:ext cx="159" cy="104"/>
            </a:xfrm>
            <a:custGeom>
              <a:avLst/>
              <a:gdLst>
                <a:gd name="T0" fmla="*/ 306 w 477"/>
                <a:gd name="T1" fmla="*/ 8 h 312"/>
                <a:gd name="T2" fmla="*/ 277 w 477"/>
                <a:gd name="T3" fmla="*/ 1 h 312"/>
                <a:gd name="T4" fmla="*/ 248 w 477"/>
                <a:gd name="T5" fmla="*/ 1 h 312"/>
                <a:gd name="T6" fmla="*/ 218 w 477"/>
                <a:gd name="T7" fmla="*/ 7 h 312"/>
                <a:gd name="T8" fmla="*/ 186 w 477"/>
                <a:gd name="T9" fmla="*/ 23 h 312"/>
                <a:gd name="T10" fmla="*/ 161 w 477"/>
                <a:gd name="T11" fmla="*/ 47 h 312"/>
                <a:gd name="T12" fmla="*/ 141 w 477"/>
                <a:gd name="T13" fmla="*/ 71 h 312"/>
                <a:gd name="T14" fmla="*/ 105 w 477"/>
                <a:gd name="T15" fmla="*/ 80 h 312"/>
                <a:gd name="T16" fmla="*/ 51 w 477"/>
                <a:gd name="T17" fmla="*/ 86 h 312"/>
                <a:gd name="T18" fmla="*/ 33 w 477"/>
                <a:gd name="T19" fmla="*/ 94 h 312"/>
                <a:gd name="T20" fmla="*/ 24 w 477"/>
                <a:gd name="T21" fmla="*/ 114 h 312"/>
                <a:gd name="T22" fmla="*/ 20 w 477"/>
                <a:gd name="T23" fmla="*/ 137 h 312"/>
                <a:gd name="T24" fmla="*/ 5 w 477"/>
                <a:gd name="T25" fmla="*/ 166 h 312"/>
                <a:gd name="T26" fmla="*/ 0 w 477"/>
                <a:gd name="T27" fmla="*/ 192 h 312"/>
                <a:gd name="T28" fmla="*/ 8 w 477"/>
                <a:gd name="T29" fmla="*/ 212 h 312"/>
                <a:gd name="T30" fmla="*/ 34 w 477"/>
                <a:gd name="T31" fmla="*/ 229 h 312"/>
                <a:gd name="T32" fmla="*/ 67 w 477"/>
                <a:gd name="T33" fmla="*/ 247 h 312"/>
                <a:gd name="T34" fmla="*/ 83 w 477"/>
                <a:gd name="T35" fmla="*/ 267 h 312"/>
                <a:gd name="T36" fmla="*/ 102 w 477"/>
                <a:gd name="T37" fmla="*/ 300 h 312"/>
                <a:gd name="T38" fmla="*/ 123 w 477"/>
                <a:gd name="T39" fmla="*/ 311 h 312"/>
                <a:gd name="T40" fmla="*/ 160 w 477"/>
                <a:gd name="T41" fmla="*/ 311 h 312"/>
                <a:gd name="T42" fmla="*/ 202 w 477"/>
                <a:gd name="T43" fmla="*/ 296 h 312"/>
                <a:gd name="T44" fmla="*/ 209 w 477"/>
                <a:gd name="T45" fmla="*/ 294 h 312"/>
                <a:gd name="T46" fmla="*/ 239 w 477"/>
                <a:gd name="T47" fmla="*/ 285 h 312"/>
                <a:gd name="T48" fmla="*/ 268 w 477"/>
                <a:gd name="T49" fmla="*/ 270 h 312"/>
                <a:gd name="T50" fmla="*/ 294 w 477"/>
                <a:gd name="T51" fmla="*/ 263 h 312"/>
                <a:gd name="T52" fmla="*/ 300 w 477"/>
                <a:gd name="T53" fmla="*/ 263 h 312"/>
                <a:gd name="T54" fmla="*/ 336 w 477"/>
                <a:gd name="T55" fmla="*/ 266 h 312"/>
                <a:gd name="T56" fmla="*/ 343 w 477"/>
                <a:gd name="T57" fmla="*/ 267 h 312"/>
                <a:gd name="T58" fmla="*/ 365 w 477"/>
                <a:gd name="T59" fmla="*/ 268 h 312"/>
                <a:gd name="T60" fmla="*/ 406 w 477"/>
                <a:gd name="T61" fmla="*/ 267 h 312"/>
                <a:gd name="T62" fmla="*/ 428 w 477"/>
                <a:gd name="T63" fmla="*/ 256 h 312"/>
                <a:gd name="T64" fmla="*/ 446 w 477"/>
                <a:gd name="T65" fmla="*/ 247 h 312"/>
                <a:gd name="T66" fmla="*/ 457 w 477"/>
                <a:gd name="T67" fmla="*/ 245 h 312"/>
                <a:gd name="T68" fmla="*/ 465 w 477"/>
                <a:gd name="T69" fmla="*/ 244 h 312"/>
                <a:gd name="T70" fmla="*/ 476 w 477"/>
                <a:gd name="T71" fmla="*/ 235 h 312"/>
                <a:gd name="T72" fmla="*/ 464 w 477"/>
                <a:gd name="T73" fmla="*/ 221 h 312"/>
                <a:gd name="T74" fmla="*/ 433 w 477"/>
                <a:gd name="T75" fmla="*/ 194 h 312"/>
                <a:gd name="T76" fmla="*/ 396 w 477"/>
                <a:gd name="T77" fmla="*/ 168 h 312"/>
                <a:gd name="T78" fmla="*/ 351 w 477"/>
                <a:gd name="T79" fmla="*/ 150 h 312"/>
                <a:gd name="T80" fmla="*/ 324 w 477"/>
                <a:gd name="T81" fmla="*/ 126 h 312"/>
                <a:gd name="T82" fmla="*/ 310 w 477"/>
                <a:gd name="T83" fmla="*/ 86 h 312"/>
                <a:gd name="T84" fmla="*/ 314 w 477"/>
                <a:gd name="T85" fmla="*/ 36 h 31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77"/>
                <a:gd name="T130" fmla="*/ 0 h 312"/>
                <a:gd name="T131" fmla="*/ 477 w 477"/>
                <a:gd name="T132" fmla="*/ 312 h 31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77" h="312">
                  <a:moveTo>
                    <a:pt x="321" y="15"/>
                  </a:moveTo>
                  <a:lnTo>
                    <a:pt x="306" y="8"/>
                  </a:lnTo>
                  <a:lnTo>
                    <a:pt x="293" y="3"/>
                  </a:lnTo>
                  <a:lnTo>
                    <a:pt x="277" y="1"/>
                  </a:lnTo>
                  <a:lnTo>
                    <a:pt x="264" y="0"/>
                  </a:lnTo>
                  <a:lnTo>
                    <a:pt x="248" y="1"/>
                  </a:lnTo>
                  <a:lnTo>
                    <a:pt x="234" y="3"/>
                  </a:lnTo>
                  <a:lnTo>
                    <a:pt x="218" y="7"/>
                  </a:lnTo>
                  <a:lnTo>
                    <a:pt x="201" y="15"/>
                  </a:lnTo>
                  <a:lnTo>
                    <a:pt x="186" y="23"/>
                  </a:lnTo>
                  <a:lnTo>
                    <a:pt x="172" y="35"/>
                  </a:lnTo>
                  <a:lnTo>
                    <a:pt x="161" y="47"/>
                  </a:lnTo>
                  <a:lnTo>
                    <a:pt x="149" y="65"/>
                  </a:lnTo>
                  <a:lnTo>
                    <a:pt x="141" y="71"/>
                  </a:lnTo>
                  <a:lnTo>
                    <a:pt x="129" y="77"/>
                  </a:lnTo>
                  <a:lnTo>
                    <a:pt x="105" y="80"/>
                  </a:lnTo>
                  <a:lnTo>
                    <a:pt x="64" y="83"/>
                  </a:lnTo>
                  <a:lnTo>
                    <a:pt x="51" y="86"/>
                  </a:lnTo>
                  <a:lnTo>
                    <a:pt x="40" y="89"/>
                  </a:lnTo>
                  <a:lnTo>
                    <a:pt x="33" y="94"/>
                  </a:lnTo>
                  <a:lnTo>
                    <a:pt x="27" y="103"/>
                  </a:lnTo>
                  <a:lnTo>
                    <a:pt x="24" y="114"/>
                  </a:lnTo>
                  <a:lnTo>
                    <a:pt x="22" y="125"/>
                  </a:lnTo>
                  <a:lnTo>
                    <a:pt x="20" y="137"/>
                  </a:lnTo>
                  <a:lnTo>
                    <a:pt x="14" y="149"/>
                  </a:lnTo>
                  <a:lnTo>
                    <a:pt x="5" y="166"/>
                  </a:lnTo>
                  <a:lnTo>
                    <a:pt x="1" y="179"/>
                  </a:lnTo>
                  <a:lnTo>
                    <a:pt x="0" y="192"/>
                  </a:lnTo>
                  <a:lnTo>
                    <a:pt x="2" y="203"/>
                  </a:lnTo>
                  <a:lnTo>
                    <a:pt x="8" y="212"/>
                  </a:lnTo>
                  <a:lnTo>
                    <a:pt x="14" y="218"/>
                  </a:lnTo>
                  <a:lnTo>
                    <a:pt x="34" y="229"/>
                  </a:lnTo>
                  <a:lnTo>
                    <a:pt x="54" y="238"/>
                  </a:lnTo>
                  <a:lnTo>
                    <a:pt x="67" y="247"/>
                  </a:lnTo>
                  <a:lnTo>
                    <a:pt x="77" y="256"/>
                  </a:lnTo>
                  <a:lnTo>
                    <a:pt x="83" y="267"/>
                  </a:lnTo>
                  <a:lnTo>
                    <a:pt x="93" y="289"/>
                  </a:lnTo>
                  <a:lnTo>
                    <a:pt x="102" y="300"/>
                  </a:lnTo>
                  <a:lnTo>
                    <a:pt x="112" y="306"/>
                  </a:lnTo>
                  <a:lnTo>
                    <a:pt x="123" y="311"/>
                  </a:lnTo>
                  <a:lnTo>
                    <a:pt x="140" y="312"/>
                  </a:lnTo>
                  <a:lnTo>
                    <a:pt x="160" y="311"/>
                  </a:lnTo>
                  <a:lnTo>
                    <a:pt x="180" y="306"/>
                  </a:lnTo>
                  <a:lnTo>
                    <a:pt x="202" y="296"/>
                  </a:lnTo>
                  <a:lnTo>
                    <a:pt x="209" y="294"/>
                  </a:lnTo>
                  <a:lnTo>
                    <a:pt x="224" y="291"/>
                  </a:lnTo>
                  <a:lnTo>
                    <a:pt x="239" y="285"/>
                  </a:lnTo>
                  <a:lnTo>
                    <a:pt x="250" y="281"/>
                  </a:lnTo>
                  <a:lnTo>
                    <a:pt x="268" y="270"/>
                  </a:lnTo>
                  <a:lnTo>
                    <a:pt x="279" y="267"/>
                  </a:lnTo>
                  <a:lnTo>
                    <a:pt x="294" y="263"/>
                  </a:lnTo>
                  <a:lnTo>
                    <a:pt x="300" y="263"/>
                  </a:lnTo>
                  <a:lnTo>
                    <a:pt x="317" y="263"/>
                  </a:lnTo>
                  <a:lnTo>
                    <a:pt x="336" y="266"/>
                  </a:lnTo>
                  <a:lnTo>
                    <a:pt x="343" y="267"/>
                  </a:lnTo>
                  <a:lnTo>
                    <a:pt x="365" y="268"/>
                  </a:lnTo>
                  <a:lnTo>
                    <a:pt x="394" y="268"/>
                  </a:lnTo>
                  <a:lnTo>
                    <a:pt x="406" y="267"/>
                  </a:lnTo>
                  <a:lnTo>
                    <a:pt x="418" y="261"/>
                  </a:lnTo>
                  <a:lnTo>
                    <a:pt x="428" y="256"/>
                  </a:lnTo>
                  <a:lnTo>
                    <a:pt x="437" y="250"/>
                  </a:lnTo>
                  <a:lnTo>
                    <a:pt x="446" y="247"/>
                  </a:lnTo>
                  <a:lnTo>
                    <a:pt x="452" y="246"/>
                  </a:lnTo>
                  <a:lnTo>
                    <a:pt x="457" y="245"/>
                  </a:lnTo>
                  <a:lnTo>
                    <a:pt x="465" y="244"/>
                  </a:lnTo>
                  <a:lnTo>
                    <a:pt x="472" y="240"/>
                  </a:lnTo>
                  <a:lnTo>
                    <a:pt x="476" y="235"/>
                  </a:lnTo>
                  <a:lnTo>
                    <a:pt x="477" y="229"/>
                  </a:lnTo>
                  <a:lnTo>
                    <a:pt x="464" y="221"/>
                  </a:lnTo>
                  <a:lnTo>
                    <a:pt x="451" y="211"/>
                  </a:lnTo>
                  <a:lnTo>
                    <a:pt x="433" y="194"/>
                  </a:lnTo>
                  <a:lnTo>
                    <a:pt x="417" y="180"/>
                  </a:lnTo>
                  <a:lnTo>
                    <a:pt x="396" y="168"/>
                  </a:lnTo>
                  <a:lnTo>
                    <a:pt x="374" y="160"/>
                  </a:lnTo>
                  <a:lnTo>
                    <a:pt x="351" y="150"/>
                  </a:lnTo>
                  <a:lnTo>
                    <a:pt x="334" y="139"/>
                  </a:lnTo>
                  <a:lnTo>
                    <a:pt x="324" y="126"/>
                  </a:lnTo>
                  <a:lnTo>
                    <a:pt x="315" y="110"/>
                  </a:lnTo>
                  <a:lnTo>
                    <a:pt x="310" y="86"/>
                  </a:lnTo>
                  <a:lnTo>
                    <a:pt x="310" y="60"/>
                  </a:lnTo>
                  <a:lnTo>
                    <a:pt x="314" y="36"/>
                  </a:lnTo>
                  <a:lnTo>
                    <a:pt x="321" y="15"/>
                  </a:lnTo>
                  <a:close/>
                </a:path>
              </a:pathLst>
            </a:custGeom>
            <a:solidFill>
              <a:srgbClr val="00C000"/>
            </a:solidFill>
            <a:ln w="0">
              <a:solidFill>
                <a:srgbClr val="0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41" name="Freeform 45">
              <a:extLst>
                <a:ext uri="{FF2B5EF4-FFF2-40B4-BE49-F238E27FC236}">
                  <a16:creationId xmlns:a16="http://schemas.microsoft.com/office/drawing/2014/main" id="{22F9FD40-304D-974D-BA77-EF3A312C64BA}"/>
                </a:ext>
              </a:extLst>
            </p:cNvPr>
            <p:cNvSpPr>
              <a:spLocks/>
            </p:cNvSpPr>
            <p:nvPr/>
          </p:nvSpPr>
          <p:spPr bwMode="auto">
            <a:xfrm>
              <a:off x="3027" y="2528"/>
              <a:ext cx="55" cy="33"/>
            </a:xfrm>
            <a:custGeom>
              <a:avLst/>
              <a:gdLst>
                <a:gd name="T0" fmla="*/ 164 w 164"/>
                <a:gd name="T1" fmla="*/ 13 h 100"/>
                <a:gd name="T2" fmla="*/ 158 w 164"/>
                <a:gd name="T3" fmla="*/ 14 h 100"/>
                <a:gd name="T4" fmla="*/ 146 w 164"/>
                <a:gd name="T5" fmla="*/ 17 h 100"/>
                <a:gd name="T6" fmla="*/ 133 w 164"/>
                <a:gd name="T7" fmla="*/ 24 h 100"/>
                <a:gd name="T8" fmla="*/ 116 w 164"/>
                <a:gd name="T9" fmla="*/ 37 h 100"/>
                <a:gd name="T10" fmla="*/ 93 w 164"/>
                <a:gd name="T11" fmla="*/ 58 h 100"/>
                <a:gd name="T12" fmla="*/ 72 w 164"/>
                <a:gd name="T13" fmla="*/ 78 h 100"/>
                <a:gd name="T14" fmla="*/ 53 w 164"/>
                <a:gd name="T15" fmla="*/ 91 h 100"/>
                <a:gd name="T16" fmla="*/ 40 w 164"/>
                <a:gd name="T17" fmla="*/ 97 h 100"/>
                <a:gd name="T18" fmla="*/ 40 w 164"/>
                <a:gd name="T19" fmla="*/ 97 h 100"/>
                <a:gd name="T20" fmla="*/ 33 w 164"/>
                <a:gd name="T21" fmla="*/ 100 h 100"/>
                <a:gd name="T22" fmla="*/ 33 w 164"/>
                <a:gd name="T23" fmla="*/ 100 h 100"/>
                <a:gd name="T24" fmla="*/ 25 w 164"/>
                <a:gd name="T25" fmla="*/ 98 h 100"/>
                <a:gd name="T26" fmla="*/ 17 w 164"/>
                <a:gd name="T27" fmla="*/ 96 h 100"/>
                <a:gd name="T28" fmla="*/ 9 w 164"/>
                <a:gd name="T29" fmla="*/ 94 h 100"/>
                <a:gd name="T30" fmla="*/ 0 w 164"/>
                <a:gd name="T31" fmla="*/ 90 h 100"/>
                <a:gd name="T32" fmla="*/ 0 w 164"/>
                <a:gd name="T33" fmla="*/ 86 h 100"/>
                <a:gd name="T34" fmla="*/ 2 w 164"/>
                <a:gd name="T35" fmla="*/ 64 h 100"/>
                <a:gd name="T36" fmla="*/ 5 w 164"/>
                <a:gd name="T37" fmla="*/ 52 h 100"/>
                <a:gd name="T38" fmla="*/ 9 w 164"/>
                <a:gd name="T39" fmla="*/ 42 h 100"/>
                <a:gd name="T40" fmla="*/ 16 w 164"/>
                <a:gd name="T41" fmla="*/ 33 h 100"/>
                <a:gd name="T42" fmla="*/ 27 w 164"/>
                <a:gd name="T43" fmla="*/ 30 h 100"/>
                <a:gd name="T44" fmla="*/ 41 w 164"/>
                <a:gd name="T45" fmla="*/ 24 h 100"/>
                <a:gd name="T46" fmla="*/ 58 w 164"/>
                <a:gd name="T47" fmla="*/ 17 h 100"/>
                <a:gd name="T48" fmla="*/ 74 w 164"/>
                <a:gd name="T49" fmla="*/ 7 h 100"/>
                <a:gd name="T50" fmla="*/ 88 w 164"/>
                <a:gd name="T51" fmla="*/ 3 h 100"/>
                <a:gd name="T52" fmla="*/ 102 w 164"/>
                <a:gd name="T53" fmla="*/ 0 h 100"/>
                <a:gd name="T54" fmla="*/ 119 w 164"/>
                <a:gd name="T55" fmla="*/ 0 h 100"/>
                <a:gd name="T56" fmla="*/ 133 w 164"/>
                <a:gd name="T57" fmla="*/ 4 h 100"/>
                <a:gd name="T58" fmla="*/ 152 w 164"/>
                <a:gd name="T59" fmla="*/ 10 h 100"/>
                <a:gd name="T60" fmla="*/ 164 w 164"/>
                <a:gd name="T61" fmla="*/ 13 h 10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4"/>
                <a:gd name="T94" fmla="*/ 0 h 100"/>
                <a:gd name="T95" fmla="*/ 164 w 164"/>
                <a:gd name="T96" fmla="*/ 100 h 10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4" h="100">
                  <a:moveTo>
                    <a:pt x="164" y="13"/>
                  </a:moveTo>
                  <a:lnTo>
                    <a:pt x="158" y="14"/>
                  </a:lnTo>
                  <a:lnTo>
                    <a:pt x="146" y="17"/>
                  </a:lnTo>
                  <a:lnTo>
                    <a:pt x="133" y="24"/>
                  </a:lnTo>
                  <a:lnTo>
                    <a:pt x="116" y="37"/>
                  </a:lnTo>
                  <a:lnTo>
                    <a:pt x="93" y="58"/>
                  </a:lnTo>
                  <a:lnTo>
                    <a:pt x="72" y="78"/>
                  </a:lnTo>
                  <a:lnTo>
                    <a:pt x="53" y="91"/>
                  </a:lnTo>
                  <a:lnTo>
                    <a:pt x="40" y="97"/>
                  </a:lnTo>
                  <a:lnTo>
                    <a:pt x="33" y="100"/>
                  </a:lnTo>
                  <a:lnTo>
                    <a:pt x="25" y="98"/>
                  </a:lnTo>
                  <a:lnTo>
                    <a:pt x="17" y="96"/>
                  </a:lnTo>
                  <a:lnTo>
                    <a:pt x="9" y="94"/>
                  </a:lnTo>
                  <a:lnTo>
                    <a:pt x="0" y="90"/>
                  </a:lnTo>
                  <a:lnTo>
                    <a:pt x="0" y="86"/>
                  </a:lnTo>
                  <a:lnTo>
                    <a:pt x="2" y="64"/>
                  </a:lnTo>
                  <a:lnTo>
                    <a:pt x="5" y="52"/>
                  </a:lnTo>
                  <a:lnTo>
                    <a:pt x="9" y="42"/>
                  </a:lnTo>
                  <a:lnTo>
                    <a:pt x="16" y="33"/>
                  </a:lnTo>
                  <a:lnTo>
                    <a:pt x="27" y="30"/>
                  </a:lnTo>
                  <a:lnTo>
                    <a:pt x="41" y="24"/>
                  </a:lnTo>
                  <a:lnTo>
                    <a:pt x="58" y="17"/>
                  </a:lnTo>
                  <a:lnTo>
                    <a:pt x="74" y="7"/>
                  </a:lnTo>
                  <a:lnTo>
                    <a:pt x="88" y="3"/>
                  </a:lnTo>
                  <a:lnTo>
                    <a:pt x="102" y="0"/>
                  </a:lnTo>
                  <a:lnTo>
                    <a:pt x="119" y="0"/>
                  </a:lnTo>
                  <a:lnTo>
                    <a:pt x="133" y="4"/>
                  </a:lnTo>
                  <a:lnTo>
                    <a:pt x="152" y="10"/>
                  </a:lnTo>
                  <a:lnTo>
                    <a:pt x="164" y="13"/>
                  </a:lnTo>
                  <a:close/>
                </a:path>
              </a:pathLst>
            </a:custGeom>
            <a:solidFill>
              <a:srgbClr val="00C000"/>
            </a:solidFill>
            <a:ln w="0">
              <a:solidFill>
                <a:srgbClr val="0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42" name="Freeform 46">
              <a:extLst>
                <a:ext uri="{FF2B5EF4-FFF2-40B4-BE49-F238E27FC236}">
                  <a16:creationId xmlns:a16="http://schemas.microsoft.com/office/drawing/2014/main" id="{F27D8F9A-2F5E-B442-9725-9D6D0D81024C}"/>
                </a:ext>
              </a:extLst>
            </p:cNvPr>
            <p:cNvSpPr>
              <a:spLocks/>
            </p:cNvSpPr>
            <p:nvPr/>
          </p:nvSpPr>
          <p:spPr bwMode="auto">
            <a:xfrm>
              <a:off x="2819" y="2456"/>
              <a:ext cx="55" cy="71"/>
            </a:xfrm>
            <a:custGeom>
              <a:avLst/>
              <a:gdLst>
                <a:gd name="T0" fmla="*/ 166 w 166"/>
                <a:gd name="T1" fmla="*/ 212 h 212"/>
                <a:gd name="T2" fmla="*/ 153 w 166"/>
                <a:gd name="T3" fmla="*/ 204 h 212"/>
                <a:gd name="T4" fmla="*/ 140 w 166"/>
                <a:gd name="T5" fmla="*/ 194 h 212"/>
                <a:gd name="T6" fmla="*/ 122 w 166"/>
                <a:gd name="T7" fmla="*/ 177 h 212"/>
                <a:gd name="T8" fmla="*/ 107 w 166"/>
                <a:gd name="T9" fmla="*/ 163 h 212"/>
                <a:gd name="T10" fmla="*/ 86 w 166"/>
                <a:gd name="T11" fmla="*/ 151 h 212"/>
                <a:gd name="T12" fmla="*/ 64 w 166"/>
                <a:gd name="T13" fmla="*/ 143 h 212"/>
                <a:gd name="T14" fmla="*/ 41 w 166"/>
                <a:gd name="T15" fmla="*/ 133 h 212"/>
                <a:gd name="T16" fmla="*/ 24 w 166"/>
                <a:gd name="T17" fmla="*/ 122 h 212"/>
                <a:gd name="T18" fmla="*/ 14 w 166"/>
                <a:gd name="T19" fmla="*/ 109 h 212"/>
                <a:gd name="T20" fmla="*/ 5 w 166"/>
                <a:gd name="T21" fmla="*/ 94 h 212"/>
                <a:gd name="T22" fmla="*/ 0 w 166"/>
                <a:gd name="T23" fmla="*/ 70 h 212"/>
                <a:gd name="T24" fmla="*/ 0 w 166"/>
                <a:gd name="T25" fmla="*/ 45 h 212"/>
                <a:gd name="T26" fmla="*/ 4 w 166"/>
                <a:gd name="T27" fmla="*/ 20 h 212"/>
                <a:gd name="T28" fmla="*/ 11 w 166"/>
                <a:gd name="T29" fmla="*/ 0 h 2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6"/>
                <a:gd name="T46" fmla="*/ 0 h 212"/>
                <a:gd name="T47" fmla="*/ 166 w 166"/>
                <a:gd name="T48" fmla="*/ 212 h 2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6" h="212">
                  <a:moveTo>
                    <a:pt x="166" y="212"/>
                  </a:moveTo>
                  <a:lnTo>
                    <a:pt x="153" y="204"/>
                  </a:lnTo>
                  <a:lnTo>
                    <a:pt x="140" y="194"/>
                  </a:lnTo>
                  <a:lnTo>
                    <a:pt x="122" y="177"/>
                  </a:lnTo>
                  <a:lnTo>
                    <a:pt x="107" y="163"/>
                  </a:lnTo>
                  <a:lnTo>
                    <a:pt x="86" y="151"/>
                  </a:lnTo>
                  <a:lnTo>
                    <a:pt x="64" y="143"/>
                  </a:lnTo>
                  <a:lnTo>
                    <a:pt x="41" y="133"/>
                  </a:lnTo>
                  <a:lnTo>
                    <a:pt x="24" y="122"/>
                  </a:lnTo>
                  <a:lnTo>
                    <a:pt x="14" y="109"/>
                  </a:lnTo>
                  <a:lnTo>
                    <a:pt x="5" y="94"/>
                  </a:lnTo>
                  <a:lnTo>
                    <a:pt x="0" y="70"/>
                  </a:lnTo>
                  <a:lnTo>
                    <a:pt x="0" y="45"/>
                  </a:lnTo>
                  <a:lnTo>
                    <a:pt x="4" y="20"/>
                  </a:lnTo>
                  <a:lnTo>
                    <a:pt x="11"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43" name="Freeform 47">
              <a:extLst>
                <a:ext uri="{FF2B5EF4-FFF2-40B4-BE49-F238E27FC236}">
                  <a16:creationId xmlns:a16="http://schemas.microsoft.com/office/drawing/2014/main" id="{BA11D842-EE1C-4849-92B1-5C41B2B1D5FB}"/>
                </a:ext>
              </a:extLst>
            </p:cNvPr>
            <p:cNvSpPr>
              <a:spLocks/>
            </p:cNvSpPr>
            <p:nvPr/>
          </p:nvSpPr>
          <p:spPr bwMode="auto">
            <a:xfrm>
              <a:off x="428" y="3094"/>
              <a:ext cx="482" cy="284"/>
            </a:xfrm>
            <a:custGeom>
              <a:avLst/>
              <a:gdLst>
                <a:gd name="T0" fmla="*/ 386 w 1448"/>
                <a:gd name="T1" fmla="*/ 768 h 853"/>
                <a:gd name="T2" fmla="*/ 358 w 1448"/>
                <a:gd name="T3" fmla="*/ 772 h 853"/>
                <a:gd name="T4" fmla="*/ 228 w 1448"/>
                <a:gd name="T5" fmla="*/ 805 h 853"/>
                <a:gd name="T6" fmla="*/ 69 w 1448"/>
                <a:gd name="T7" fmla="*/ 772 h 853"/>
                <a:gd name="T8" fmla="*/ 0 w 1448"/>
                <a:gd name="T9" fmla="*/ 708 h 853"/>
                <a:gd name="T10" fmla="*/ 41 w 1448"/>
                <a:gd name="T11" fmla="*/ 655 h 853"/>
                <a:gd name="T12" fmla="*/ 75 w 1448"/>
                <a:gd name="T13" fmla="*/ 639 h 853"/>
                <a:gd name="T14" fmla="*/ 34 w 1448"/>
                <a:gd name="T15" fmla="*/ 558 h 853"/>
                <a:gd name="T16" fmla="*/ 20 w 1448"/>
                <a:gd name="T17" fmla="*/ 435 h 853"/>
                <a:gd name="T18" fmla="*/ 109 w 1448"/>
                <a:gd name="T19" fmla="*/ 354 h 853"/>
                <a:gd name="T20" fmla="*/ 213 w 1448"/>
                <a:gd name="T21" fmla="*/ 343 h 853"/>
                <a:gd name="T22" fmla="*/ 193 w 1448"/>
                <a:gd name="T23" fmla="*/ 328 h 853"/>
                <a:gd name="T24" fmla="*/ 199 w 1448"/>
                <a:gd name="T25" fmla="*/ 242 h 853"/>
                <a:gd name="T26" fmla="*/ 317 w 1448"/>
                <a:gd name="T27" fmla="*/ 134 h 853"/>
                <a:gd name="T28" fmla="*/ 517 w 1448"/>
                <a:gd name="T29" fmla="*/ 75 h 853"/>
                <a:gd name="T30" fmla="*/ 613 w 1448"/>
                <a:gd name="T31" fmla="*/ 81 h 853"/>
                <a:gd name="T32" fmla="*/ 613 w 1448"/>
                <a:gd name="T33" fmla="*/ 81 h 853"/>
                <a:gd name="T34" fmla="*/ 669 w 1448"/>
                <a:gd name="T35" fmla="*/ 38 h 853"/>
                <a:gd name="T36" fmla="*/ 855 w 1448"/>
                <a:gd name="T37" fmla="*/ 0 h 853"/>
                <a:gd name="T38" fmla="*/ 1027 w 1448"/>
                <a:gd name="T39" fmla="*/ 27 h 853"/>
                <a:gd name="T40" fmla="*/ 1041 w 1448"/>
                <a:gd name="T41" fmla="*/ 103 h 853"/>
                <a:gd name="T42" fmla="*/ 1021 w 1448"/>
                <a:gd name="T43" fmla="*/ 140 h 853"/>
                <a:gd name="T44" fmla="*/ 1158 w 1448"/>
                <a:gd name="T45" fmla="*/ 144 h 853"/>
                <a:gd name="T46" fmla="*/ 1269 w 1448"/>
                <a:gd name="T47" fmla="*/ 209 h 853"/>
                <a:gd name="T48" fmla="*/ 1261 w 1448"/>
                <a:gd name="T49" fmla="*/ 338 h 853"/>
                <a:gd name="T50" fmla="*/ 1221 w 1448"/>
                <a:gd name="T51" fmla="*/ 422 h 853"/>
                <a:gd name="T52" fmla="*/ 1224 w 1448"/>
                <a:gd name="T53" fmla="*/ 432 h 853"/>
                <a:gd name="T54" fmla="*/ 1365 w 1448"/>
                <a:gd name="T55" fmla="*/ 473 h 853"/>
                <a:gd name="T56" fmla="*/ 1448 w 1448"/>
                <a:gd name="T57" fmla="*/ 526 h 853"/>
                <a:gd name="T58" fmla="*/ 1358 w 1448"/>
                <a:gd name="T59" fmla="*/ 639 h 853"/>
                <a:gd name="T60" fmla="*/ 1245 w 1448"/>
                <a:gd name="T61" fmla="*/ 692 h 853"/>
                <a:gd name="T62" fmla="*/ 1345 w 1448"/>
                <a:gd name="T63" fmla="*/ 740 h 853"/>
                <a:gd name="T64" fmla="*/ 1414 w 1448"/>
                <a:gd name="T65" fmla="*/ 794 h 853"/>
                <a:gd name="T66" fmla="*/ 1261 w 1448"/>
                <a:gd name="T67" fmla="*/ 842 h 853"/>
                <a:gd name="T68" fmla="*/ 1089 w 1448"/>
                <a:gd name="T69" fmla="*/ 842 h 853"/>
                <a:gd name="T70" fmla="*/ 1082 w 1448"/>
                <a:gd name="T71" fmla="*/ 826 h 853"/>
                <a:gd name="T72" fmla="*/ 392 w 1448"/>
                <a:gd name="T73" fmla="*/ 768 h 85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448"/>
                <a:gd name="T112" fmla="*/ 0 h 853"/>
                <a:gd name="T113" fmla="*/ 1448 w 1448"/>
                <a:gd name="T114" fmla="*/ 853 h 853"/>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448" h="853">
                  <a:moveTo>
                    <a:pt x="392" y="768"/>
                  </a:moveTo>
                  <a:lnTo>
                    <a:pt x="386" y="768"/>
                  </a:lnTo>
                  <a:lnTo>
                    <a:pt x="379" y="768"/>
                  </a:lnTo>
                  <a:lnTo>
                    <a:pt x="358" y="772"/>
                  </a:lnTo>
                  <a:lnTo>
                    <a:pt x="303" y="794"/>
                  </a:lnTo>
                  <a:lnTo>
                    <a:pt x="228" y="805"/>
                  </a:lnTo>
                  <a:lnTo>
                    <a:pt x="138" y="794"/>
                  </a:lnTo>
                  <a:lnTo>
                    <a:pt x="69" y="772"/>
                  </a:lnTo>
                  <a:lnTo>
                    <a:pt x="20" y="746"/>
                  </a:lnTo>
                  <a:lnTo>
                    <a:pt x="0" y="708"/>
                  </a:lnTo>
                  <a:lnTo>
                    <a:pt x="6" y="681"/>
                  </a:lnTo>
                  <a:lnTo>
                    <a:pt x="41" y="655"/>
                  </a:lnTo>
                  <a:lnTo>
                    <a:pt x="75" y="644"/>
                  </a:lnTo>
                  <a:lnTo>
                    <a:pt x="75" y="639"/>
                  </a:lnTo>
                  <a:lnTo>
                    <a:pt x="48" y="606"/>
                  </a:lnTo>
                  <a:lnTo>
                    <a:pt x="34" y="558"/>
                  </a:lnTo>
                  <a:lnTo>
                    <a:pt x="20" y="494"/>
                  </a:lnTo>
                  <a:lnTo>
                    <a:pt x="20" y="435"/>
                  </a:lnTo>
                  <a:lnTo>
                    <a:pt x="54" y="387"/>
                  </a:lnTo>
                  <a:lnTo>
                    <a:pt x="109" y="354"/>
                  </a:lnTo>
                  <a:lnTo>
                    <a:pt x="172" y="338"/>
                  </a:lnTo>
                  <a:lnTo>
                    <a:pt x="213" y="343"/>
                  </a:lnTo>
                  <a:lnTo>
                    <a:pt x="241" y="354"/>
                  </a:lnTo>
                  <a:lnTo>
                    <a:pt x="193" y="328"/>
                  </a:lnTo>
                  <a:lnTo>
                    <a:pt x="186" y="290"/>
                  </a:lnTo>
                  <a:lnTo>
                    <a:pt x="199" y="242"/>
                  </a:lnTo>
                  <a:lnTo>
                    <a:pt x="247" y="188"/>
                  </a:lnTo>
                  <a:lnTo>
                    <a:pt x="317" y="134"/>
                  </a:lnTo>
                  <a:lnTo>
                    <a:pt x="420" y="97"/>
                  </a:lnTo>
                  <a:lnTo>
                    <a:pt x="517" y="75"/>
                  </a:lnTo>
                  <a:lnTo>
                    <a:pt x="593" y="75"/>
                  </a:lnTo>
                  <a:lnTo>
                    <a:pt x="613" y="81"/>
                  </a:lnTo>
                  <a:lnTo>
                    <a:pt x="613" y="64"/>
                  </a:lnTo>
                  <a:lnTo>
                    <a:pt x="669" y="38"/>
                  </a:lnTo>
                  <a:lnTo>
                    <a:pt x="758" y="10"/>
                  </a:lnTo>
                  <a:lnTo>
                    <a:pt x="855" y="0"/>
                  </a:lnTo>
                  <a:lnTo>
                    <a:pt x="944" y="0"/>
                  </a:lnTo>
                  <a:lnTo>
                    <a:pt x="1027" y="27"/>
                  </a:lnTo>
                  <a:lnTo>
                    <a:pt x="1055" y="64"/>
                  </a:lnTo>
                  <a:lnTo>
                    <a:pt x="1041" y="103"/>
                  </a:lnTo>
                  <a:lnTo>
                    <a:pt x="1013" y="134"/>
                  </a:lnTo>
                  <a:lnTo>
                    <a:pt x="1021" y="140"/>
                  </a:lnTo>
                  <a:lnTo>
                    <a:pt x="1082" y="144"/>
                  </a:lnTo>
                  <a:lnTo>
                    <a:pt x="1158" y="144"/>
                  </a:lnTo>
                  <a:lnTo>
                    <a:pt x="1227" y="166"/>
                  </a:lnTo>
                  <a:lnTo>
                    <a:pt x="1269" y="209"/>
                  </a:lnTo>
                  <a:lnTo>
                    <a:pt x="1282" y="268"/>
                  </a:lnTo>
                  <a:lnTo>
                    <a:pt x="1261" y="338"/>
                  </a:lnTo>
                  <a:lnTo>
                    <a:pt x="1227" y="392"/>
                  </a:lnTo>
                  <a:lnTo>
                    <a:pt x="1221" y="422"/>
                  </a:lnTo>
                  <a:lnTo>
                    <a:pt x="1169" y="437"/>
                  </a:lnTo>
                  <a:lnTo>
                    <a:pt x="1224" y="432"/>
                  </a:lnTo>
                  <a:lnTo>
                    <a:pt x="1269" y="456"/>
                  </a:lnTo>
                  <a:lnTo>
                    <a:pt x="1365" y="473"/>
                  </a:lnTo>
                  <a:lnTo>
                    <a:pt x="1427" y="494"/>
                  </a:lnTo>
                  <a:lnTo>
                    <a:pt x="1448" y="526"/>
                  </a:lnTo>
                  <a:lnTo>
                    <a:pt x="1427" y="580"/>
                  </a:lnTo>
                  <a:lnTo>
                    <a:pt x="1358" y="639"/>
                  </a:lnTo>
                  <a:lnTo>
                    <a:pt x="1303" y="687"/>
                  </a:lnTo>
                  <a:lnTo>
                    <a:pt x="1245" y="692"/>
                  </a:lnTo>
                  <a:lnTo>
                    <a:pt x="1311" y="700"/>
                  </a:lnTo>
                  <a:lnTo>
                    <a:pt x="1345" y="740"/>
                  </a:lnTo>
                  <a:lnTo>
                    <a:pt x="1406" y="762"/>
                  </a:lnTo>
                  <a:lnTo>
                    <a:pt x="1414" y="794"/>
                  </a:lnTo>
                  <a:lnTo>
                    <a:pt x="1365" y="826"/>
                  </a:lnTo>
                  <a:lnTo>
                    <a:pt x="1261" y="842"/>
                  </a:lnTo>
                  <a:lnTo>
                    <a:pt x="1151" y="853"/>
                  </a:lnTo>
                  <a:lnTo>
                    <a:pt x="1089" y="842"/>
                  </a:lnTo>
                  <a:lnTo>
                    <a:pt x="1082" y="837"/>
                  </a:lnTo>
                  <a:lnTo>
                    <a:pt x="1082" y="826"/>
                  </a:lnTo>
                  <a:lnTo>
                    <a:pt x="1089" y="820"/>
                  </a:lnTo>
                  <a:lnTo>
                    <a:pt x="392" y="768"/>
                  </a:lnTo>
                  <a:close/>
                </a:path>
              </a:pathLst>
            </a:custGeom>
            <a:solidFill>
              <a:srgbClr val="00C000"/>
            </a:solidFill>
            <a:ln w="0">
              <a:solidFill>
                <a:srgbClr val="00C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44" name="Freeform 48">
              <a:extLst>
                <a:ext uri="{FF2B5EF4-FFF2-40B4-BE49-F238E27FC236}">
                  <a16:creationId xmlns:a16="http://schemas.microsoft.com/office/drawing/2014/main" id="{C39A2A83-E22F-7842-9B8B-87E90229E2FE}"/>
                </a:ext>
              </a:extLst>
            </p:cNvPr>
            <p:cNvSpPr>
              <a:spLocks/>
            </p:cNvSpPr>
            <p:nvPr/>
          </p:nvSpPr>
          <p:spPr bwMode="auto">
            <a:xfrm>
              <a:off x="497" y="3156"/>
              <a:ext cx="359" cy="325"/>
            </a:xfrm>
            <a:custGeom>
              <a:avLst/>
              <a:gdLst>
                <a:gd name="T0" fmla="*/ 455 w 1078"/>
                <a:gd name="T1" fmla="*/ 552 h 974"/>
                <a:gd name="T2" fmla="*/ 433 w 1078"/>
                <a:gd name="T3" fmla="*/ 640 h 974"/>
                <a:gd name="T4" fmla="*/ 423 w 1078"/>
                <a:gd name="T5" fmla="*/ 839 h 974"/>
                <a:gd name="T6" fmla="*/ 361 w 1078"/>
                <a:gd name="T7" fmla="*/ 907 h 974"/>
                <a:gd name="T8" fmla="*/ 119 w 1078"/>
                <a:gd name="T9" fmla="*/ 974 h 974"/>
                <a:gd name="T10" fmla="*/ 890 w 1078"/>
                <a:gd name="T11" fmla="*/ 946 h 974"/>
                <a:gd name="T12" fmla="*/ 779 w 1078"/>
                <a:gd name="T13" fmla="*/ 944 h 974"/>
                <a:gd name="T14" fmla="*/ 686 w 1078"/>
                <a:gd name="T15" fmla="*/ 845 h 974"/>
                <a:gd name="T16" fmla="*/ 647 w 1078"/>
                <a:gd name="T17" fmla="*/ 554 h 974"/>
                <a:gd name="T18" fmla="*/ 869 w 1078"/>
                <a:gd name="T19" fmla="*/ 409 h 974"/>
                <a:gd name="T20" fmla="*/ 1020 w 1078"/>
                <a:gd name="T21" fmla="*/ 348 h 974"/>
                <a:gd name="T22" fmla="*/ 1007 w 1078"/>
                <a:gd name="T23" fmla="*/ 318 h 974"/>
                <a:gd name="T24" fmla="*/ 848 w 1078"/>
                <a:gd name="T25" fmla="*/ 389 h 974"/>
                <a:gd name="T26" fmla="*/ 702 w 1078"/>
                <a:gd name="T27" fmla="*/ 426 h 974"/>
                <a:gd name="T28" fmla="*/ 565 w 1078"/>
                <a:gd name="T29" fmla="*/ 426 h 974"/>
                <a:gd name="T30" fmla="*/ 751 w 1078"/>
                <a:gd name="T31" fmla="*/ 265 h 974"/>
                <a:gd name="T32" fmla="*/ 848 w 1078"/>
                <a:gd name="T33" fmla="*/ 152 h 974"/>
                <a:gd name="T34" fmla="*/ 689 w 1078"/>
                <a:gd name="T35" fmla="*/ 265 h 974"/>
                <a:gd name="T36" fmla="*/ 517 w 1078"/>
                <a:gd name="T37" fmla="*/ 378 h 974"/>
                <a:gd name="T38" fmla="*/ 496 w 1078"/>
                <a:gd name="T39" fmla="*/ 201 h 974"/>
                <a:gd name="T40" fmla="*/ 475 w 1078"/>
                <a:gd name="T41" fmla="*/ 71 h 974"/>
                <a:gd name="T42" fmla="*/ 438 w 1078"/>
                <a:gd name="T43" fmla="*/ 0 h 974"/>
                <a:gd name="T44" fmla="*/ 421 w 1078"/>
                <a:gd name="T45" fmla="*/ 168 h 974"/>
                <a:gd name="T46" fmla="*/ 354 w 1078"/>
                <a:gd name="T47" fmla="*/ 184 h 974"/>
                <a:gd name="T48" fmla="*/ 140 w 1078"/>
                <a:gd name="T49" fmla="*/ 138 h 974"/>
                <a:gd name="T50" fmla="*/ 209 w 1078"/>
                <a:gd name="T51" fmla="*/ 214 h 974"/>
                <a:gd name="T52" fmla="*/ 427 w 1078"/>
                <a:gd name="T53" fmla="*/ 292 h 974"/>
                <a:gd name="T54" fmla="*/ 427 w 1078"/>
                <a:gd name="T55" fmla="*/ 409 h 974"/>
                <a:gd name="T56" fmla="*/ 406 w 1078"/>
                <a:gd name="T57" fmla="*/ 420 h 974"/>
                <a:gd name="T58" fmla="*/ 220 w 1078"/>
                <a:gd name="T59" fmla="*/ 420 h 974"/>
                <a:gd name="T60" fmla="*/ 82 w 1078"/>
                <a:gd name="T61" fmla="*/ 404 h 974"/>
                <a:gd name="T62" fmla="*/ 0 w 1078"/>
                <a:gd name="T63" fmla="*/ 420 h 974"/>
                <a:gd name="T64" fmla="*/ 172 w 1078"/>
                <a:gd name="T65" fmla="*/ 441 h 974"/>
                <a:gd name="T66" fmla="*/ 365 w 1078"/>
                <a:gd name="T67" fmla="*/ 474 h 97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078"/>
                <a:gd name="T103" fmla="*/ 0 h 974"/>
                <a:gd name="T104" fmla="*/ 1078 w 1078"/>
                <a:gd name="T105" fmla="*/ 974 h 97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078" h="974">
                  <a:moveTo>
                    <a:pt x="430" y="498"/>
                  </a:moveTo>
                  <a:lnTo>
                    <a:pt x="455" y="552"/>
                  </a:lnTo>
                  <a:lnTo>
                    <a:pt x="441" y="586"/>
                  </a:lnTo>
                  <a:lnTo>
                    <a:pt x="433" y="640"/>
                  </a:lnTo>
                  <a:lnTo>
                    <a:pt x="433" y="764"/>
                  </a:lnTo>
                  <a:lnTo>
                    <a:pt x="423" y="839"/>
                  </a:lnTo>
                  <a:lnTo>
                    <a:pt x="406" y="864"/>
                  </a:lnTo>
                  <a:lnTo>
                    <a:pt x="361" y="907"/>
                  </a:lnTo>
                  <a:lnTo>
                    <a:pt x="272" y="938"/>
                  </a:lnTo>
                  <a:lnTo>
                    <a:pt x="119" y="974"/>
                  </a:lnTo>
                  <a:lnTo>
                    <a:pt x="965" y="974"/>
                  </a:lnTo>
                  <a:lnTo>
                    <a:pt x="890" y="946"/>
                  </a:lnTo>
                  <a:lnTo>
                    <a:pt x="840" y="938"/>
                  </a:lnTo>
                  <a:lnTo>
                    <a:pt x="779" y="944"/>
                  </a:lnTo>
                  <a:lnTo>
                    <a:pt x="727" y="909"/>
                  </a:lnTo>
                  <a:lnTo>
                    <a:pt x="686" y="845"/>
                  </a:lnTo>
                  <a:lnTo>
                    <a:pt x="655" y="675"/>
                  </a:lnTo>
                  <a:lnTo>
                    <a:pt x="647" y="554"/>
                  </a:lnTo>
                  <a:lnTo>
                    <a:pt x="621" y="498"/>
                  </a:lnTo>
                  <a:lnTo>
                    <a:pt x="869" y="409"/>
                  </a:lnTo>
                  <a:lnTo>
                    <a:pt x="938" y="394"/>
                  </a:lnTo>
                  <a:lnTo>
                    <a:pt x="1020" y="348"/>
                  </a:lnTo>
                  <a:lnTo>
                    <a:pt x="1078" y="318"/>
                  </a:lnTo>
                  <a:lnTo>
                    <a:pt x="1007" y="318"/>
                  </a:lnTo>
                  <a:lnTo>
                    <a:pt x="916" y="361"/>
                  </a:lnTo>
                  <a:lnTo>
                    <a:pt x="848" y="389"/>
                  </a:lnTo>
                  <a:lnTo>
                    <a:pt x="758" y="415"/>
                  </a:lnTo>
                  <a:lnTo>
                    <a:pt x="702" y="426"/>
                  </a:lnTo>
                  <a:lnTo>
                    <a:pt x="603" y="448"/>
                  </a:lnTo>
                  <a:lnTo>
                    <a:pt x="565" y="426"/>
                  </a:lnTo>
                  <a:lnTo>
                    <a:pt x="641" y="391"/>
                  </a:lnTo>
                  <a:lnTo>
                    <a:pt x="751" y="265"/>
                  </a:lnTo>
                  <a:lnTo>
                    <a:pt x="796" y="222"/>
                  </a:lnTo>
                  <a:lnTo>
                    <a:pt x="848" y="152"/>
                  </a:lnTo>
                  <a:lnTo>
                    <a:pt x="854" y="88"/>
                  </a:lnTo>
                  <a:lnTo>
                    <a:pt x="689" y="265"/>
                  </a:lnTo>
                  <a:lnTo>
                    <a:pt x="655" y="303"/>
                  </a:lnTo>
                  <a:lnTo>
                    <a:pt x="517" y="378"/>
                  </a:lnTo>
                  <a:lnTo>
                    <a:pt x="506" y="259"/>
                  </a:lnTo>
                  <a:lnTo>
                    <a:pt x="496" y="201"/>
                  </a:lnTo>
                  <a:lnTo>
                    <a:pt x="483" y="163"/>
                  </a:lnTo>
                  <a:lnTo>
                    <a:pt x="475" y="71"/>
                  </a:lnTo>
                  <a:lnTo>
                    <a:pt x="468" y="34"/>
                  </a:lnTo>
                  <a:lnTo>
                    <a:pt x="438" y="0"/>
                  </a:lnTo>
                  <a:lnTo>
                    <a:pt x="427" y="104"/>
                  </a:lnTo>
                  <a:lnTo>
                    <a:pt x="421" y="168"/>
                  </a:lnTo>
                  <a:lnTo>
                    <a:pt x="441" y="227"/>
                  </a:lnTo>
                  <a:lnTo>
                    <a:pt x="354" y="184"/>
                  </a:lnTo>
                  <a:lnTo>
                    <a:pt x="209" y="179"/>
                  </a:lnTo>
                  <a:lnTo>
                    <a:pt x="140" y="138"/>
                  </a:lnTo>
                  <a:lnTo>
                    <a:pt x="137" y="179"/>
                  </a:lnTo>
                  <a:lnTo>
                    <a:pt x="209" y="214"/>
                  </a:lnTo>
                  <a:lnTo>
                    <a:pt x="333" y="216"/>
                  </a:lnTo>
                  <a:lnTo>
                    <a:pt x="427" y="292"/>
                  </a:lnTo>
                  <a:lnTo>
                    <a:pt x="433" y="389"/>
                  </a:lnTo>
                  <a:lnTo>
                    <a:pt x="427" y="409"/>
                  </a:lnTo>
                  <a:lnTo>
                    <a:pt x="406" y="420"/>
                  </a:lnTo>
                  <a:lnTo>
                    <a:pt x="317" y="431"/>
                  </a:lnTo>
                  <a:lnTo>
                    <a:pt x="220" y="420"/>
                  </a:lnTo>
                  <a:lnTo>
                    <a:pt x="137" y="409"/>
                  </a:lnTo>
                  <a:lnTo>
                    <a:pt x="82" y="404"/>
                  </a:lnTo>
                  <a:lnTo>
                    <a:pt x="13" y="400"/>
                  </a:lnTo>
                  <a:lnTo>
                    <a:pt x="0" y="420"/>
                  </a:lnTo>
                  <a:lnTo>
                    <a:pt x="76" y="426"/>
                  </a:lnTo>
                  <a:lnTo>
                    <a:pt x="172" y="441"/>
                  </a:lnTo>
                  <a:lnTo>
                    <a:pt x="269" y="458"/>
                  </a:lnTo>
                  <a:lnTo>
                    <a:pt x="365" y="474"/>
                  </a:lnTo>
                  <a:lnTo>
                    <a:pt x="430" y="498"/>
                  </a:lnTo>
                  <a:close/>
                </a:path>
              </a:pathLst>
            </a:custGeom>
            <a:solidFill>
              <a:srgbClr val="008080"/>
            </a:solidFill>
            <a:ln w="0">
              <a:solidFill>
                <a:srgbClr val="8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45" name="Freeform 49">
              <a:extLst>
                <a:ext uri="{FF2B5EF4-FFF2-40B4-BE49-F238E27FC236}">
                  <a16:creationId xmlns:a16="http://schemas.microsoft.com/office/drawing/2014/main" id="{F79040F6-5345-B845-8708-999DDD7F6DB8}"/>
                </a:ext>
              </a:extLst>
            </p:cNvPr>
            <p:cNvSpPr>
              <a:spLocks/>
            </p:cNvSpPr>
            <p:nvPr/>
          </p:nvSpPr>
          <p:spPr bwMode="auto">
            <a:xfrm>
              <a:off x="4454" y="3362"/>
              <a:ext cx="482" cy="285"/>
            </a:xfrm>
            <a:custGeom>
              <a:avLst/>
              <a:gdLst>
                <a:gd name="T0" fmla="*/ 385 w 1448"/>
                <a:gd name="T1" fmla="*/ 767 h 853"/>
                <a:gd name="T2" fmla="*/ 359 w 1448"/>
                <a:gd name="T3" fmla="*/ 773 h 853"/>
                <a:gd name="T4" fmla="*/ 227 w 1448"/>
                <a:gd name="T5" fmla="*/ 804 h 853"/>
                <a:gd name="T6" fmla="*/ 69 w 1448"/>
                <a:gd name="T7" fmla="*/ 773 h 853"/>
                <a:gd name="T8" fmla="*/ 0 w 1448"/>
                <a:gd name="T9" fmla="*/ 708 h 853"/>
                <a:gd name="T10" fmla="*/ 41 w 1448"/>
                <a:gd name="T11" fmla="*/ 654 h 853"/>
                <a:gd name="T12" fmla="*/ 76 w 1448"/>
                <a:gd name="T13" fmla="*/ 639 h 853"/>
                <a:gd name="T14" fmla="*/ 34 w 1448"/>
                <a:gd name="T15" fmla="*/ 558 h 853"/>
                <a:gd name="T16" fmla="*/ 20 w 1448"/>
                <a:gd name="T17" fmla="*/ 435 h 853"/>
                <a:gd name="T18" fmla="*/ 110 w 1448"/>
                <a:gd name="T19" fmla="*/ 353 h 853"/>
                <a:gd name="T20" fmla="*/ 214 w 1448"/>
                <a:gd name="T21" fmla="*/ 344 h 853"/>
                <a:gd name="T22" fmla="*/ 192 w 1448"/>
                <a:gd name="T23" fmla="*/ 327 h 853"/>
                <a:gd name="T24" fmla="*/ 200 w 1448"/>
                <a:gd name="T25" fmla="*/ 241 h 853"/>
                <a:gd name="T26" fmla="*/ 316 w 1448"/>
                <a:gd name="T27" fmla="*/ 134 h 853"/>
                <a:gd name="T28" fmla="*/ 517 w 1448"/>
                <a:gd name="T29" fmla="*/ 75 h 853"/>
                <a:gd name="T30" fmla="*/ 614 w 1448"/>
                <a:gd name="T31" fmla="*/ 80 h 853"/>
                <a:gd name="T32" fmla="*/ 614 w 1448"/>
                <a:gd name="T33" fmla="*/ 80 h 853"/>
                <a:gd name="T34" fmla="*/ 668 w 1448"/>
                <a:gd name="T35" fmla="*/ 37 h 853"/>
                <a:gd name="T36" fmla="*/ 855 w 1448"/>
                <a:gd name="T37" fmla="*/ 0 h 853"/>
                <a:gd name="T38" fmla="*/ 1027 w 1448"/>
                <a:gd name="T39" fmla="*/ 26 h 853"/>
                <a:gd name="T40" fmla="*/ 1041 w 1448"/>
                <a:gd name="T41" fmla="*/ 102 h 853"/>
                <a:gd name="T42" fmla="*/ 1021 w 1448"/>
                <a:gd name="T43" fmla="*/ 139 h 853"/>
                <a:gd name="T44" fmla="*/ 1159 w 1448"/>
                <a:gd name="T45" fmla="*/ 145 h 853"/>
                <a:gd name="T46" fmla="*/ 1268 w 1448"/>
                <a:gd name="T47" fmla="*/ 209 h 853"/>
                <a:gd name="T48" fmla="*/ 1262 w 1448"/>
                <a:gd name="T49" fmla="*/ 338 h 853"/>
                <a:gd name="T50" fmla="*/ 1220 w 1448"/>
                <a:gd name="T51" fmla="*/ 421 h 853"/>
                <a:gd name="T52" fmla="*/ 1223 w 1448"/>
                <a:gd name="T53" fmla="*/ 432 h 853"/>
                <a:gd name="T54" fmla="*/ 1365 w 1448"/>
                <a:gd name="T55" fmla="*/ 472 h 853"/>
                <a:gd name="T56" fmla="*/ 1448 w 1448"/>
                <a:gd name="T57" fmla="*/ 526 h 853"/>
                <a:gd name="T58" fmla="*/ 1358 w 1448"/>
                <a:gd name="T59" fmla="*/ 639 h 853"/>
                <a:gd name="T60" fmla="*/ 1244 w 1448"/>
                <a:gd name="T61" fmla="*/ 691 h 853"/>
                <a:gd name="T62" fmla="*/ 1344 w 1448"/>
                <a:gd name="T63" fmla="*/ 740 h 853"/>
                <a:gd name="T64" fmla="*/ 1413 w 1448"/>
                <a:gd name="T65" fmla="*/ 794 h 853"/>
                <a:gd name="T66" fmla="*/ 1262 w 1448"/>
                <a:gd name="T67" fmla="*/ 842 h 853"/>
                <a:gd name="T68" fmla="*/ 1090 w 1448"/>
                <a:gd name="T69" fmla="*/ 842 h 853"/>
                <a:gd name="T70" fmla="*/ 1083 w 1448"/>
                <a:gd name="T71" fmla="*/ 826 h 853"/>
                <a:gd name="T72" fmla="*/ 393 w 1448"/>
                <a:gd name="T73" fmla="*/ 767 h 85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448"/>
                <a:gd name="T112" fmla="*/ 0 h 853"/>
                <a:gd name="T113" fmla="*/ 1448 w 1448"/>
                <a:gd name="T114" fmla="*/ 853 h 853"/>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448" h="853">
                  <a:moveTo>
                    <a:pt x="393" y="767"/>
                  </a:moveTo>
                  <a:lnTo>
                    <a:pt x="385" y="767"/>
                  </a:lnTo>
                  <a:lnTo>
                    <a:pt x="379" y="767"/>
                  </a:lnTo>
                  <a:lnTo>
                    <a:pt x="359" y="773"/>
                  </a:lnTo>
                  <a:lnTo>
                    <a:pt x="303" y="794"/>
                  </a:lnTo>
                  <a:lnTo>
                    <a:pt x="227" y="804"/>
                  </a:lnTo>
                  <a:lnTo>
                    <a:pt x="137" y="794"/>
                  </a:lnTo>
                  <a:lnTo>
                    <a:pt x="69" y="773"/>
                  </a:lnTo>
                  <a:lnTo>
                    <a:pt x="20" y="745"/>
                  </a:lnTo>
                  <a:lnTo>
                    <a:pt x="0" y="708"/>
                  </a:lnTo>
                  <a:lnTo>
                    <a:pt x="7" y="682"/>
                  </a:lnTo>
                  <a:lnTo>
                    <a:pt x="41" y="654"/>
                  </a:lnTo>
                  <a:lnTo>
                    <a:pt x="76" y="644"/>
                  </a:lnTo>
                  <a:lnTo>
                    <a:pt x="76" y="639"/>
                  </a:lnTo>
                  <a:lnTo>
                    <a:pt x="47" y="606"/>
                  </a:lnTo>
                  <a:lnTo>
                    <a:pt x="34" y="558"/>
                  </a:lnTo>
                  <a:lnTo>
                    <a:pt x="20" y="494"/>
                  </a:lnTo>
                  <a:lnTo>
                    <a:pt x="20" y="435"/>
                  </a:lnTo>
                  <a:lnTo>
                    <a:pt x="55" y="386"/>
                  </a:lnTo>
                  <a:lnTo>
                    <a:pt x="110" y="353"/>
                  </a:lnTo>
                  <a:lnTo>
                    <a:pt x="171" y="338"/>
                  </a:lnTo>
                  <a:lnTo>
                    <a:pt x="214" y="344"/>
                  </a:lnTo>
                  <a:lnTo>
                    <a:pt x="241" y="353"/>
                  </a:lnTo>
                  <a:lnTo>
                    <a:pt x="192" y="327"/>
                  </a:lnTo>
                  <a:lnTo>
                    <a:pt x="186" y="290"/>
                  </a:lnTo>
                  <a:lnTo>
                    <a:pt x="200" y="241"/>
                  </a:lnTo>
                  <a:lnTo>
                    <a:pt x="247" y="188"/>
                  </a:lnTo>
                  <a:lnTo>
                    <a:pt x="316" y="134"/>
                  </a:lnTo>
                  <a:lnTo>
                    <a:pt x="420" y="97"/>
                  </a:lnTo>
                  <a:lnTo>
                    <a:pt x="517" y="75"/>
                  </a:lnTo>
                  <a:lnTo>
                    <a:pt x="593" y="75"/>
                  </a:lnTo>
                  <a:lnTo>
                    <a:pt x="614" y="80"/>
                  </a:lnTo>
                  <a:lnTo>
                    <a:pt x="614" y="64"/>
                  </a:lnTo>
                  <a:lnTo>
                    <a:pt x="668" y="37"/>
                  </a:lnTo>
                  <a:lnTo>
                    <a:pt x="758" y="10"/>
                  </a:lnTo>
                  <a:lnTo>
                    <a:pt x="855" y="0"/>
                  </a:lnTo>
                  <a:lnTo>
                    <a:pt x="945" y="0"/>
                  </a:lnTo>
                  <a:lnTo>
                    <a:pt x="1027" y="26"/>
                  </a:lnTo>
                  <a:lnTo>
                    <a:pt x="1055" y="64"/>
                  </a:lnTo>
                  <a:lnTo>
                    <a:pt x="1041" y="102"/>
                  </a:lnTo>
                  <a:lnTo>
                    <a:pt x="1013" y="134"/>
                  </a:lnTo>
                  <a:lnTo>
                    <a:pt x="1021" y="139"/>
                  </a:lnTo>
                  <a:lnTo>
                    <a:pt x="1083" y="145"/>
                  </a:lnTo>
                  <a:lnTo>
                    <a:pt x="1159" y="145"/>
                  </a:lnTo>
                  <a:lnTo>
                    <a:pt x="1227" y="166"/>
                  </a:lnTo>
                  <a:lnTo>
                    <a:pt x="1268" y="209"/>
                  </a:lnTo>
                  <a:lnTo>
                    <a:pt x="1283" y="268"/>
                  </a:lnTo>
                  <a:lnTo>
                    <a:pt x="1262" y="338"/>
                  </a:lnTo>
                  <a:lnTo>
                    <a:pt x="1227" y="392"/>
                  </a:lnTo>
                  <a:lnTo>
                    <a:pt x="1220" y="421"/>
                  </a:lnTo>
                  <a:lnTo>
                    <a:pt x="1169" y="437"/>
                  </a:lnTo>
                  <a:lnTo>
                    <a:pt x="1223" y="432"/>
                  </a:lnTo>
                  <a:lnTo>
                    <a:pt x="1268" y="455"/>
                  </a:lnTo>
                  <a:lnTo>
                    <a:pt x="1365" y="472"/>
                  </a:lnTo>
                  <a:lnTo>
                    <a:pt x="1426" y="494"/>
                  </a:lnTo>
                  <a:lnTo>
                    <a:pt x="1448" y="526"/>
                  </a:lnTo>
                  <a:lnTo>
                    <a:pt x="1426" y="580"/>
                  </a:lnTo>
                  <a:lnTo>
                    <a:pt x="1358" y="639"/>
                  </a:lnTo>
                  <a:lnTo>
                    <a:pt x="1302" y="686"/>
                  </a:lnTo>
                  <a:lnTo>
                    <a:pt x="1244" y="691"/>
                  </a:lnTo>
                  <a:lnTo>
                    <a:pt x="1310" y="700"/>
                  </a:lnTo>
                  <a:lnTo>
                    <a:pt x="1344" y="740"/>
                  </a:lnTo>
                  <a:lnTo>
                    <a:pt x="1407" y="762"/>
                  </a:lnTo>
                  <a:lnTo>
                    <a:pt x="1413" y="794"/>
                  </a:lnTo>
                  <a:lnTo>
                    <a:pt x="1365" y="826"/>
                  </a:lnTo>
                  <a:lnTo>
                    <a:pt x="1262" y="842"/>
                  </a:lnTo>
                  <a:lnTo>
                    <a:pt x="1151" y="853"/>
                  </a:lnTo>
                  <a:lnTo>
                    <a:pt x="1090" y="842"/>
                  </a:lnTo>
                  <a:lnTo>
                    <a:pt x="1083" y="836"/>
                  </a:lnTo>
                  <a:lnTo>
                    <a:pt x="1083" y="826"/>
                  </a:lnTo>
                  <a:lnTo>
                    <a:pt x="1090" y="820"/>
                  </a:lnTo>
                  <a:lnTo>
                    <a:pt x="393" y="767"/>
                  </a:lnTo>
                  <a:close/>
                </a:path>
              </a:pathLst>
            </a:custGeom>
            <a:solidFill>
              <a:srgbClr val="00C000"/>
            </a:solidFill>
            <a:ln w="0">
              <a:solidFill>
                <a:srgbClr val="00C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46" name="Freeform 50">
              <a:extLst>
                <a:ext uri="{FF2B5EF4-FFF2-40B4-BE49-F238E27FC236}">
                  <a16:creationId xmlns:a16="http://schemas.microsoft.com/office/drawing/2014/main" id="{78636BE4-60E0-0C4C-A319-6C0747859543}"/>
                </a:ext>
              </a:extLst>
            </p:cNvPr>
            <p:cNvSpPr>
              <a:spLocks/>
            </p:cNvSpPr>
            <p:nvPr/>
          </p:nvSpPr>
          <p:spPr bwMode="auto">
            <a:xfrm>
              <a:off x="4523" y="3424"/>
              <a:ext cx="359" cy="325"/>
            </a:xfrm>
            <a:custGeom>
              <a:avLst/>
              <a:gdLst>
                <a:gd name="T0" fmla="*/ 455 w 1079"/>
                <a:gd name="T1" fmla="*/ 552 h 973"/>
                <a:gd name="T2" fmla="*/ 434 w 1079"/>
                <a:gd name="T3" fmla="*/ 640 h 973"/>
                <a:gd name="T4" fmla="*/ 424 w 1079"/>
                <a:gd name="T5" fmla="*/ 839 h 973"/>
                <a:gd name="T6" fmla="*/ 362 w 1079"/>
                <a:gd name="T7" fmla="*/ 906 h 973"/>
                <a:gd name="T8" fmla="*/ 120 w 1079"/>
                <a:gd name="T9" fmla="*/ 973 h 973"/>
                <a:gd name="T10" fmla="*/ 889 w 1079"/>
                <a:gd name="T11" fmla="*/ 946 h 973"/>
                <a:gd name="T12" fmla="*/ 778 w 1079"/>
                <a:gd name="T13" fmla="*/ 943 h 973"/>
                <a:gd name="T14" fmla="*/ 685 w 1079"/>
                <a:gd name="T15" fmla="*/ 845 h 973"/>
                <a:gd name="T16" fmla="*/ 648 w 1079"/>
                <a:gd name="T17" fmla="*/ 554 h 973"/>
                <a:gd name="T18" fmla="*/ 868 w 1079"/>
                <a:gd name="T19" fmla="*/ 410 h 973"/>
                <a:gd name="T20" fmla="*/ 1020 w 1079"/>
                <a:gd name="T21" fmla="*/ 347 h 973"/>
                <a:gd name="T22" fmla="*/ 1007 w 1079"/>
                <a:gd name="T23" fmla="*/ 318 h 973"/>
                <a:gd name="T24" fmla="*/ 848 w 1079"/>
                <a:gd name="T25" fmla="*/ 388 h 973"/>
                <a:gd name="T26" fmla="*/ 703 w 1079"/>
                <a:gd name="T27" fmla="*/ 425 h 973"/>
                <a:gd name="T28" fmla="*/ 566 w 1079"/>
                <a:gd name="T29" fmla="*/ 425 h 973"/>
                <a:gd name="T30" fmla="*/ 751 w 1079"/>
                <a:gd name="T31" fmla="*/ 265 h 973"/>
                <a:gd name="T32" fmla="*/ 848 w 1079"/>
                <a:gd name="T33" fmla="*/ 152 h 973"/>
                <a:gd name="T34" fmla="*/ 688 w 1079"/>
                <a:gd name="T35" fmla="*/ 265 h 973"/>
                <a:gd name="T36" fmla="*/ 517 w 1079"/>
                <a:gd name="T37" fmla="*/ 377 h 973"/>
                <a:gd name="T38" fmla="*/ 495 w 1079"/>
                <a:gd name="T39" fmla="*/ 200 h 973"/>
                <a:gd name="T40" fmla="*/ 476 w 1079"/>
                <a:gd name="T41" fmla="*/ 71 h 973"/>
                <a:gd name="T42" fmla="*/ 437 w 1079"/>
                <a:gd name="T43" fmla="*/ 0 h 973"/>
                <a:gd name="T44" fmla="*/ 421 w 1079"/>
                <a:gd name="T45" fmla="*/ 167 h 973"/>
                <a:gd name="T46" fmla="*/ 355 w 1079"/>
                <a:gd name="T47" fmla="*/ 184 h 973"/>
                <a:gd name="T48" fmla="*/ 141 w 1079"/>
                <a:gd name="T49" fmla="*/ 139 h 973"/>
                <a:gd name="T50" fmla="*/ 210 w 1079"/>
                <a:gd name="T51" fmla="*/ 214 h 973"/>
                <a:gd name="T52" fmla="*/ 427 w 1079"/>
                <a:gd name="T53" fmla="*/ 291 h 973"/>
                <a:gd name="T54" fmla="*/ 427 w 1079"/>
                <a:gd name="T55" fmla="*/ 410 h 973"/>
                <a:gd name="T56" fmla="*/ 407 w 1079"/>
                <a:gd name="T57" fmla="*/ 420 h 973"/>
                <a:gd name="T58" fmla="*/ 220 w 1079"/>
                <a:gd name="T59" fmla="*/ 420 h 973"/>
                <a:gd name="T60" fmla="*/ 82 w 1079"/>
                <a:gd name="T61" fmla="*/ 404 h 973"/>
                <a:gd name="T62" fmla="*/ 0 w 1079"/>
                <a:gd name="T63" fmla="*/ 420 h 973"/>
                <a:gd name="T64" fmla="*/ 172 w 1079"/>
                <a:gd name="T65" fmla="*/ 442 h 973"/>
                <a:gd name="T66" fmla="*/ 366 w 1079"/>
                <a:gd name="T67" fmla="*/ 474 h 9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079"/>
                <a:gd name="T103" fmla="*/ 0 h 973"/>
                <a:gd name="T104" fmla="*/ 1079 w 1079"/>
                <a:gd name="T105" fmla="*/ 973 h 97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079" h="973">
                  <a:moveTo>
                    <a:pt x="431" y="498"/>
                  </a:moveTo>
                  <a:lnTo>
                    <a:pt x="455" y="552"/>
                  </a:lnTo>
                  <a:lnTo>
                    <a:pt x="441" y="587"/>
                  </a:lnTo>
                  <a:lnTo>
                    <a:pt x="434" y="640"/>
                  </a:lnTo>
                  <a:lnTo>
                    <a:pt x="434" y="764"/>
                  </a:lnTo>
                  <a:lnTo>
                    <a:pt x="424" y="839"/>
                  </a:lnTo>
                  <a:lnTo>
                    <a:pt x="407" y="863"/>
                  </a:lnTo>
                  <a:lnTo>
                    <a:pt x="362" y="906"/>
                  </a:lnTo>
                  <a:lnTo>
                    <a:pt x="272" y="938"/>
                  </a:lnTo>
                  <a:lnTo>
                    <a:pt x="120" y="973"/>
                  </a:lnTo>
                  <a:lnTo>
                    <a:pt x="965" y="973"/>
                  </a:lnTo>
                  <a:lnTo>
                    <a:pt x="889" y="946"/>
                  </a:lnTo>
                  <a:lnTo>
                    <a:pt x="841" y="938"/>
                  </a:lnTo>
                  <a:lnTo>
                    <a:pt x="778" y="943"/>
                  </a:lnTo>
                  <a:lnTo>
                    <a:pt x="727" y="908"/>
                  </a:lnTo>
                  <a:lnTo>
                    <a:pt x="685" y="845"/>
                  </a:lnTo>
                  <a:lnTo>
                    <a:pt x="656" y="676"/>
                  </a:lnTo>
                  <a:lnTo>
                    <a:pt x="648" y="554"/>
                  </a:lnTo>
                  <a:lnTo>
                    <a:pt x="620" y="498"/>
                  </a:lnTo>
                  <a:lnTo>
                    <a:pt x="868" y="410"/>
                  </a:lnTo>
                  <a:lnTo>
                    <a:pt x="938" y="394"/>
                  </a:lnTo>
                  <a:lnTo>
                    <a:pt x="1020" y="347"/>
                  </a:lnTo>
                  <a:lnTo>
                    <a:pt x="1079" y="319"/>
                  </a:lnTo>
                  <a:lnTo>
                    <a:pt x="1007" y="318"/>
                  </a:lnTo>
                  <a:lnTo>
                    <a:pt x="917" y="361"/>
                  </a:lnTo>
                  <a:lnTo>
                    <a:pt x="848" y="388"/>
                  </a:lnTo>
                  <a:lnTo>
                    <a:pt x="758" y="414"/>
                  </a:lnTo>
                  <a:lnTo>
                    <a:pt x="703" y="425"/>
                  </a:lnTo>
                  <a:lnTo>
                    <a:pt x="603" y="447"/>
                  </a:lnTo>
                  <a:lnTo>
                    <a:pt x="566" y="425"/>
                  </a:lnTo>
                  <a:lnTo>
                    <a:pt x="641" y="390"/>
                  </a:lnTo>
                  <a:lnTo>
                    <a:pt x="751" y="265"/>
                  </a:lnTo>
                  <a:lnTo>
                    <a:pt x="796" y="221"/>
                  </a:lnTo>
                  <a:lnTo>
                    <a:pt x="848" y="152"/>
                  </a:lnTo>
                  <a:lnTo>
                    <a:pt x="855" y="87"/>
                  </a:lnTo>
                  <a:lnTo>
                    <a:pt x="688" y="265"/>
                  </a:lnTo>
                  <a:lnTo>
                    <a:pt x="656" y="302"/>
                  </a:lnTo>
                  <a:lnTo>
                    <a:pt x="517" y="377"/>
                  </a:lnTo>
                  <a:lnTo>
                    <a:pt x="506" y="260"/>
                  </a:lnTo>
                  <a:lnTo>
                    <a:pt x="495" y="200"/>
                  </a:lnTo>
                  <a:lnTo>
                    <a:pt x="482" y="162"/>
                  </a:lnTo>
                  <a:lnTo>
                    <a:pt x="476" y="71"/>
                  </a:lnTo>
                  <a:lnTo>
                    <a:pt x="468" y="34"/>
                  </a:lnTo>
                  <a:lnTo>
                    <a:pt x="437" y="0"/>
                  </a:lnTo>
                  <a:lnTo>
                    <a:pt x="427" y="104"/>
                  </a:lnTo>
                  <a:lnTo>
                    <a:pt x="421" y="167"/>
                  </a:lnTo>
                  <a:lnTo>
                    <a:pt x="441" y="228"/>
                  </a:lnTo>
                  <a:lnTo>
                    <a:pt x="355" y="184"/>
                  </a:lnTo>
                  <a:lnTo>
                    <a:pt x="210" y="178"/>
                  </a:lnTo>
                  <a:lnTo>
                    <a:pt x="141" y="139"/>
                  </a:lnTo>
                  <a:lnTo>
                    <a:pt x="138" y="178"/>
                  </a:lnTo>
                  <a:lnTo>
                    <a:pt x="210" y="214"/>
                  </a:lnTo>
                  <a:lnTo>
                    <a:pt x="334" y="216"/>
                  </a:lnTo>
                  <a:lnTo>
                    <a:pt x="427" y="291"/>
                  </a:lnTo>
                  <a:lnTo>
                    <a:pt x="434" y="388"/>
                  </a:lnTo>
                  <a:lnTo>
                    <a:pt x="427" y="410"/>
                  </a:lnTo>
                  <a:lnTo>
                    <a:pt x="407" y="420"/>
                  </a:lnTo>
                  <a:lnTo>
                    <a:pt x="317" y="431"/>
                  </a:lnTo>
                  <a:lnTo>
                    <a:pt x="220" y="420"/>
                  </a:lnTo>
                  <a:lnTo>
                    <a:pt x="138" y="410"/>
                  </a:lnTo>
                  <a:lnTo>
                    <a:pt x="82" y="404"/>
                  </a:lnTo>
                  <a:lnTo>
                    <a:pt x="14" y="399"/>
                  </a:lnTo>
                  <a:lnTo>
                    <a:pt x="0" y="420"/>
                  </a:lnTo>
                  <a:lnTo>
                    <a:pt x="75" y="425"/>
                  </a:lnTo>
                  <a:lnTo>
                    <a:pt x="172" y="442"/>
                  </a:lnTo>
                  <a:lnTo>
                    <a:pt x="268" y="458"/>
                  </a:lnTo>
                  <a:lnTo>
                    <a:pt x="366" y="474"/>
                  </a:lnTo>
                  <a:lnTo>
                    <a:pt x="431" y="498"/>
                  </a:lnTo>
                  <a:close/>
                </a:path>
              </a:pathLst>
            </a:custGeom>
            <a:solidFill>
              <a:srgbClr val="008080"/>
            </a:solidFill>
            <a:ln w="0">
              <a:solidFill>
                <a:srgbClr val="8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47" name="Freeform 51">
              <a:extLst>
                <a:ext uri="{FF2B5EF4-FFF2-40B4-BE49-F238E27FC236}">
                  <a16:creationId xmlns:a16="http://schemas.microsoft.com/office/drawing/2014/main" id="{BE4720BD-000F-8147-88C7-D113A13AA4D5}"/>
                </a:ext>
              </a:extLst>
            </p:cNvPr>
            <p:cNvSpPr>
              <a:spLocks/>
            </p:cNvSpPr>
            <p:nvPr/>
          </p:nvSpPr>
          <p:spPr bwMode="auto">
            <a:xfrm>
              <a:off x="495" y="1989"/>
              <a:ext cx="1761" cy="2242"/>
            </a:xfrm>
            <a:custGeom>
              <a:avLst/>
              <a:gdLst>
                <a:gd name="T0" fmla="*/ 0 w 5284"/>
                <a:gd name="T1" fmla="*/ 1223 h 6728"/>
                <a:gd name="T2" fmla="*/ 40 w 5284"/>
                <a:gd name="T3" fmla="*/ 1169 h 6728"/>
                <a:gd name="T4" fmla="*/ 154 w 5284"/>
                <a:gd name="T5" fmla="*/ 1031 h 6728"/>
                <a:gd name="T6" fmla="*/ 336 w 5284"/>
                <a:gd name="T7" fmla="*/ 844 h 6728"/>
                <a:gd name="T8" fmla="*/ 450 w 5284"/>
                <a:gd name="T9" fmla="*/ 743 h 6728"/>
                <a:gd name="T10" fmla="*/ 580 w 5284"/>
                <a:gd name="T11" fmla="*/ 643 h 6728"/>
                <a:gd name="T12" fmla="*/ 744 w 5284"/>
                <a:gd name="T13" fmla="*/ 528 h 6728"/>
                <a:gd name="T14" fmla="*/ 852 w 5284"/>
                <a:gd name="T15" fmla="*/ 467 h 6728"/>
                <a:gd name="T16" fmla="*/ 968 w 5284"/>
                <a:gd name="T17" fmla="*/ 422 h 6728"/>
                <a:gd name="T18" fmla="*/ 1159 w 5284"/>
                <a:gd name="T19" fmla="*/ 353 h 6728"/>
                <a:gd name="T20" fmla="*/ 1508 w 5284"/>
                <a:gd name="T21" fmla="*/ 223 h 6728"/>
                <a:gd name="T22" fmla="*/ 1725 w 5284"/>
                <a:gd name="T23" fmla="*/ 153 h 6728"/>
                <a:gd name="T24" fmla="*/ 1949 w 5284"/>
                <a:gd name="T25" fmla="*/ 110 h 6728"/>
                <a:gd name="T26" fmla="*/ 2317 w 5284"/>
                <a:gd name="T27" fmla="*/ 64 h 6728"/>
                <a:gd name="T28" fmla="*/ 2584 w 5284"/>
                <a:gd name="T29" fmla="*/ 39 h 6728"/>
                <a:gd name="T30" fmla="*/ 2749 w 5284"/>
                <a:gd name="T31" fmla="*/ 42 h 6728"/>
                <a:gd name="T32" fmla="*/ 2913 w 5284"/>
                <a:gd name="T33" fmla="*/ 55 h 6728"/>
                <a:gd name="T34" fmla="*/ 3186 w 5284"/>
                <a:gd name="T35" fmla="*/ 64 h 6728"/>
                <a:gd name="T36" fmla="*/ 3395 w 5284"/>
                <a:gd name="T37" fmla="*/ 57 h 6728"/>
                <a:gd name="T38" fmla="*/ 3552 w 5284"/>
                <a:gd name="T39" fmla="*/ 43 h 6728"/>
                <a:gd name="T40" fmla="*/ 3778 w 5284"/>
                <a:gd name="T41" fmla="*/ 10 h 6728"/>
                <a:gd name="T42" fmla="*/ 3881 w 5284"/>
                <a:gd name="T43" fmla="*/ 0 h 6728"/>
                <a:gd name="T44" fmla="*/ 3998 w 5284"/>
                <a:gd name="T45" fmla="*/ 3 h 6728"/>
                <a:gd name="T46" fmla="*/ 4147 w 5284"/>
                <a:gd name="T47" fmla="*/ 22 h 6728"/>
                <a:gd name="T48" fmla="*/ 4346 w 5284"/>
                <a:gd name="T49" fmla="*/ 64 h 6728"/>
                <a:gd name="T50" fmla="*/ 4461 w 5284"/>
                <a:gd name="T51" fmla="*/ 96 h 6728"/>
                <a:gd name="T52" fmla="*/ 4555 w 5284"/>
                <a:gd name="T53" fmla="*/ 131 h 6728"/>
                <a:gd name="T54" fmla="*/ 4701 w 5284"/>
                <a:gd name="T55" fmla="*/ 209 h 6728"/>
                <a:gd name="T56" fmla="*/ 4814 w 5284"/>
                <a:gd name="T57" fmla="*/ 285 h 6728"/>
                <a:gd name="T58" fmla="*/ 4925 w 5284"/>
                <a:gd name="T59" fmla="*/ 353 h 6728"/>
                <a:gd name="T60" fmla="*/ 4992 w 5284"/>
                <a:gd name="T61" fmla="*/ 463 h 6728"/>
                <a:gd name="T62" fmla="*/ 5069 w 5284"/>
                <a:gd name="T63" fmla="*/ 576 h 6728"/>
                <a:gd name="T64" fmla="*/ 5147 w 5284"/>
                <a:gd name="T65" fmla="*/ 722 h 6728"/>
                <a:gd name="T66" fmla="*/ 5182 w 5284"/>
                <a:gd name="T67" fmla="*/ 817 h 6728"/>
                <a:gd name="T68" fmla="*/ 5215 w 5284"/>
                <a:gd name="T69" fmla="*/ 933 h 6728"/>
                <a:gd name="T70" fmla="*/ 5260 w 5284"/>
                <a:gd name="T71" fmla="*/ 1113 h 6728"/>
                <a:gd name="T72" fmla="*/ 5284 w 5284"/>
                <a:gd name="T73" fmla="*/ 1234 h 6728"/>
                <a:gd name="T74" fmla="*/ 5272 w 5284"/>
                <a:gd name="T75" fmla="*/ 1349 h 6728"/>
                <a:gd name="T76" fmla="*/ 5215 w 5284"/>
                <a:gd name="T77" fmla="*/ 1512 h 6728"/>
                <a:gd name="T78" fmla="*/ 5156 w 5284"/>
                <a:gd name="T79" fmla="*/ 1634 h 6728"/>
                <a:gd name="T80" fmla="*/ 5096 w 5284"/>
                <a:gd name="T81" fmla="*/ 1717 h 6728"/>
                <a:gd name="T82" fmla="*/ 5036 w 5284"/>
                <a:gd name="T83" fmla="*/ 1774 h 6728"/>
                <a:gd name="T84" fmla="*/ 4971 w 5284"/>
                <a:gd name="T85" fmla="*/ 1816 h 6728"/>
                <a:gd name="T86" fmla="*/ 4823 w 5284"/>
                <a:gd name="T87" fmla="*/ 1909 h 6728"/>
                <a:gd name="T88" fmla="*/ 4735 w 5284"/>
                <a:gd name="T89" fmla="*/ 1982 h 6728"/>
                <a:gd name="T90" fmla="*/ 4635 w 5284"/>
                <a:gd name="T91" fmla="*/ 2092 h 6728"/>
                <a:gd name="T92" fmla="*/ 4426 w 5284"/>
                <a:gd name="T93" fmla="*/ 2343 h 6728"/>
                <a:gd name="T94" fmla="*/ 4303 w 5284"/>
                <a:gd name="T95" fmla="*/ 2501 h 6728"/>
                <a:gd name="T96" fmla="*/ 4201 w 5284"/>
                <a:gd name="T97" fmla="*/ 2671 h 6728"/>
                <a:gd name="T98" fmla="*/ 4056 w 5284"/>
                <a:gd name="T99" fmla="*/ 2962 h 6728"/>
                <a:gd name="T100" fmla="*/ 3936 w 5284"/>
                <a:gd name="T101" fmla="*/ 3219 h 6728"/>
                <a:gd name="T102" fmla="*/ 3876 w 5284"/>
                <a:gd name="T103" fmla="*/ 3382 h 6728"/>
                <a:gd name="T104" fmla="*/ 3835 w 5284"/>
                <a:gd name="T105" fmla="*/ 3553 h 6728"/>
                <a:gd name="T106" fmla="*/ 3767 w 5284"/>
                <a:gd name="T107" fmla="*/ 3831 h 6728"/>
                <a:gd name="T108" fmla="*/ 3655 w 5284"/>
                <a:gd name="T109" fmla="*/ 4277 h 6728"/>
                <a:gd name="T110" fmla="*/ 3602 w 5284"/>
                <a:gd name="T111" fmla="*/ 4550 h 6728"/>
                <a:gd name="T112" fmla="*/ 3559 w 5284"/>
                <a:gd name="T113" fmla="*/ 4826 h 6728"/>
                <a:gd name="T114" fmla="*/ 3525 w 5284"/>
                <a:gd name="T115" fmla="*/ 5020 h 6728"/>
                <a:gd name="T116" fmla="*/ 3476 w 5284"/>
                <a:gd name="T117" fmla="*/ 5280 h 6728"/>
                <a:gd name="T118" fmla="*/ 3270 w 5284"/>
                <a:gd name="T119" fmla="*/ 6303 h 6728"/>
                <a:gd name="T120" fmla="*/ 3186 w 5284"/>
                <a:gd name="T121" fmla="*/ 6728 h 67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284"/>
                <a:gd name="T184" fmla="*/ 0 h 6728"/>
                <a:gd name="T185" fmla="*/ 5284 w 5284"/>
                <a:gd name="T186" fmla="*/ 6728 h 672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284" h="6728">
                  <a:moveTo>
                    <a:pt x="0" y="1223"/>
                  </a:moveTo>
                  <a:lnTo>
                    <a:pt x="40" y="1169"/>
                  </a:lnTo>
                  <a:lnTo>
                    <a:pt x="154" y="1031"/>
                  </a:lnTo>
                  <a:lnTo>
                    <a:pt x="336" y="844"/>
                  </a:lnTo>
                  <a:lnTo>
                    <a:pt x="450" y="743"/>
                  </a:lnTo>
                  <a:lnTo>
                    <a:pt x="580" y="643"/>
                  </a:lnTo>
                  <a:lnTo>
                    <a:pt x="744" y="528"/>
                  </a:lnTo>
                  <a:lnTo>
                    <a:pt x="852" y="467"/>
                  </a:lnTo>
                  <a:lnTo>
                    <a:pt x="968" y="422"/>
                  </a:lnTo>
                  <a:lnTo>
                    <a:pt x="1159" y="353"/>
                  </a:lnTo>
                  <a:lnTo>
                    <a:pt x="1508" y="223"/>
                  </a:lnTo>
                  <a:lnTo>
                    <a:pt x="1725" y="153"/>
                  </a:lnTo>
                  <a:lnTo>
                    <a:pt x="1949" y="110"/>
                  </a:lnTo>
                  <a:lnTo>
                    <a:pt x="2317" y="64"/>
                  </a:lnTo>
                  <a:lnTo>
                    <a:pt x="2584" y="39"/>
                  </a:lnTo>
                  <a:lnTo>
                    <a:pt x="2749" y="42"/>
                  </a:lnTo>
                  <a:lnTo>
                    <a:pt x="2913" y="55"/>
                  </a:lnTo>
                  <a:lnTo>
                    <a:pt x="3186" y="64"/>
                  </a:lnTo>
                  <a:lnTo>
                    <a:pt x="3395" y="57"/>
                  </a:lnTo>
                  <a:lnTo>
                    <a:pt x="3552" y="43"/>
                  </a:lnTo>
                  <a:lnTo>
                    <a:pt x="3778" y="10"/>
                  </a:lnTo>
                  <a:lnTo>
                    <a:pt x="3881" y="0"/>
                  </a:lnTo>
                  <a:lnTo>
                    <a:pt x="3998" y="3"/>
                  </a:lnTo>
                  <a:lnTo>
                    <a:pt x="4147" y="22"/>
                  </a:lnTo>
                  <a:lnTo>
                    <a:pt x="4346" y="64"/>
                  </a:lnTo>
                  <a:lnTo>
                    <a:pt x="4461" y="96"/>
                  </a:lnTo>
                  <a:lnTo>
                    <a:pt x="4555" y="131"/>
                  </a:lnTo>
                  <a:lnTo>
                    <a:pt x="4701" y="209"/>
                  </a:lnTo>
                  <a:lnTo>
                    <a:pt x="4814" y="285"/>
                  </a:lnTo>
                  <a:lnTo>
                    <a:pt x="4925" y="353"/>
                  </a:lnTo>
                  <a:lnTo>
                    <a:pt x="4992" y="463"/>
                  </a:lnTo>
                  <a:lnTo>
                    <a:pt x="5069" y="576"/>
                  </a:lnTo>
                  <a:lnTo>
                    <a:pt x="5147" y="722"/>
                  </a:lnTo>
                  <a:lnTo>
                    <a:pt x="5182" y="817"/>
                  </a:lnTo>
                  <a:lnTo>
                    <a:pt x="5215" y="933"/>
                  </a:lnTo>
                  <a:lnTo>
                    <a:pt x="5260" y="1113"/>
                  </a:lnTo>
                  <a:lnTo>
                    <a:pt x="5284" y="1234"/>
                  </a:lnTo>
                  <a:lnTo>
                    <a:pt x="5272" y="1349"/>
                  </a:lnTo>
                  <a:lnTo>
                    <a:pt x="5215" y="1512"/>
                  </a:lnTo>
                  <a:lnTo>
                    <a:pt x="5156" y="1634"/>
                  </a:lnTo>
                  <a:lnTo>
                    <a:pt x="5096" y="1717"/>
                  </a:lnTo>
                  <a:lnTo>
                    <a:pt x="5036" y="1774"/>
                  </a:lnTo>
                  <a:lnTo>
                    <a:pt x="4971" y="1816"/>
                  </a:lnTo>
                  <a:lnTo>
                    <a:pt x="4823" y="1909"/>
                  </a:lnTo>
                  <a:lnTo>
                    <a:pt x="4735" y="1982"/>
                  </a:lnTo>
                  <a:lnTo>
                    <a:pt x="4635" y="2092"/>
                  </a:lnTo>
                  <a:lnTo>
                    <a:pt x="4426" y="2343"/>
                  </a:lnTo>
                  <a:lnTo>
                    <a:pt x="4303" y="2501"/>
                  </a:lnTo>
                  <a:lnTo>
                    <a:pt x="4201" y="2671"/>
                  </a:lnTo>
                  <a:lnTo>
                    <a:pt x="4056" y="2962"/>
                  </a:lnTo>
                  <a:lnTo>
                    <a:pt x="3936" y="3219"/>
                  </a:lnTo>
                  <a:lnTo>
                    <a:pt x="3876" y="3382"/>
                  </a:lnTo>
                  <a:lnTo>
                    <a:pt x="3835" y="3553"/>
                  </a:lnTo>
                  <a:lnTo>
                    <a:pt x="3767" y="3831"/>
                  </a:lnTo>
                  <a:lnTo>
                    <a:pt x="3655" y="4277"/>
                  </a:lnTo>
                  <a:lnTo>
                    <a:pt x="3602" y="4550"/>
                  </a:lnTo>
                  <a:lnTo>
                    <a:pt x="3559" y="4826"/>
                  </a:lnTo>
                  <a:lnTo>
                    <a:pt x="3525" y="5020"/>
                  </a:lnTo>
                  <a:lnTo>
                    <a:pt x="3476" y="5280"/>
                  </a:lnTo>
                  <a:lnTo>
                    <a:pt x="3270" y="6303"/>
                  </a:lnTo>
                  <a:lnTo>
                    <a:pt x="3186" y="6728"/>
                  </a:lnTo>
                </a:path>
              </a:pathLst>
            </a:custGeom>
            <a:noFill/>
            <a:ln w="0">
              <a:solidFill>
                <a:srgbClr val="FFFFFF"/>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48" name="Freeform 52">
              <a:extLst>
                <a:ext uri="{FF2B5EF4-FFF2-40B4-BE49-F238E27FC236}">
                  <a16:creationId xmlns:a16="http://schemas.microsoft.com/office/drawing/2014/main" id="{DA0F621C-EB09-A04D-906C-99E217712C8E}"/>
                </a:ext>
              </a:extLst>
            </p:cNvPr>
            <p:cNvSpPr>
              <a:spLocks/>
            </p:cNvSpPr>
            <p:nvPr/>
          </p:nvSpPr>
          <p:spPr bwMode="auto">
            <a:xfrm>
              <a:off x="2136" y="2106"/>
              <a:ext cx="3187" cy="773"/>
            </a:xfrm>
            <a:custGeom>
              <a:avLst/>
              <a:gdLst>
                <a:gd name="T0" fmla="*/ 0 w 9559"/>
                <a:gd name="T1" fmla="*/ 0 h 2318"/>
                <a:gd name="T2" fmla="*/ 166 w 9559"/>
                <a:gd name="T3" fmla="*/ 94 h 2318"/>
                <a:gd name="T4" fmla="*/ 349 w 9559"/>
                <a:gd name="T5" fmla="*/ 187 h 2318"/>
                <a:gd name="T6" fmla="*/ 579 w 9559"/>
                <a:gd name="T7" fmla="*/ 290 h 2318"/>
                <a:gd name="T8" fmla="*/ 842 w 9559"/>
                <a:gd name="T9" fmla="*/ 405 h 2318"/>
                <a:gd name="T10" fmla="*/ 1004 w 9559"/>
                <a:gd name="T11" fmla="*/ 478 h 2318"/>
                <a:gd name="T12" fmla="*/ 1170 w 9559"/>
                <a:gd name="T13" fmla="*/ 528 h 2318"/>
                <a:gd name="T14" fmla="*/ 1448 w 9559"/>
                <a:gd name="T15" fmla="*/ 580 h 2318"/>
                <a:gd name="T16" fmla="*/ 1803 w 9559"/>
                <a:gd name="T17" fmla="*/ 636 h 2318"/>
                <a:gd name="T18" fmla="*/ 2070 w 9559"/>
                <a:gd name="T19" fmla="*/ 673 h 2318"/>
                <a:gd name="T20" fmla="*/ 2278 w 9559"/>
                <a:gd name="T21" fmla="*/ 693 h 2318"/>
                <a:gd name="T22" fmla="*/ 2458 w 9559"/>
                <a:gd name="T23" fmla="*/ 697 h 2318"/>
                <a:gd name="T24" fmla="*/ 2636 w 9559"/>
                <a:gd name="T25" fmla="*/ 686 h 2318"/>
                <a:gd name="T26" fmla="*/ 2847 w 9559"/>
                <a:gd name="T27" fmla="*/ 662 h 2318"/>
                <a:gd name="T28" fmla="*/ 3116 w 9559"/>
                <a:gd name="T29" fmla="*/ 626 h 2318"/>
                <a:gd name="T30" fmla="*/ 3476 w 9559"/>
                <a:gd name="T31" fmla="*/ 580 h 2318"/>
                <a:gd name="T32" fmla="*/ 3685 w 9559"/>
                <a:gd name="T33" fmla="*/ 547 h 2318"/>
                <a:gd name="T34" fmla="*/ 3839 w 9559"/>
                <a:gd name="T35" fmla="*/ 512 h 2318"/>
                <a:gd name="T36" fmla="*/ 3956 w 9559"/>
                <a:gd name="T37" fmla="*/ 475 h 2318"/>
                <a:gd name="T38" fmla="*/ 4055 w 9559"/>
                <a:gd name="T39" fmla="*/ 435 h 2318"/>
                <a:gd name="T40" fmla="*/ 4154 w 9559"/>
                <a:gd name="T41" fmla="*/ 396 h 2318"/>
                <a:gd name="T42" fmla="*/ 4270 w 9559"/>
                <a:gd name="T43" fmla="*/ 357 h 2318"/>
                <a:gd name="T44" fmla="*/ 4424 w 9559"/>
                <a:gd name="T45" fmla="*/ 322 h 2318"/>
                <a:gd name="T46" fmla="*/ 4634 w 9559"/>
                <a:gd name="T47" fmla="*/ 290 h 2318"/>
                <a:gd name="T48" fmla="*/ 4838 w 9559"/>
                <a:gd name="T49" fmla="*/ 267 h 2318"/>
                <a:gd name="T50" fmla="*/ 4991 w 9559"/>
                <a:gd name="T51" fmla="*/ 257 h 2318"/>
                <a:gd name="T52" fmla="*/ 5209 w 9559"/>
                <a:gd name="T53" fmla="*/ 261 h 2318"/>
                <a:gd name="T54" fmla="*/ 5430 w 9559"/>
                <a:gd name="T55" fmla="*/ 279 h 2318"/>
                <a:gd name="T56" fmla="*/ 5584 w 9559"/>
                <a:gd name="T57" fmla="*/ 287 h 2318"/>
                <a:gd name="T58" fmla="*/ 5793 w 9559"/>
                <a:gd name="T59" fmla="*/ 290 h 2318"/>
                <a:gd name="T60" fmla="*/ 6064 w 9559"/>
                <a:gd name="T61" fmla="*/ 281 h 2318"/>
                <a:gd name="T62" fmla="*/ 6229 w 9559"/>
                <a:gd name="T63" fmla="*/ 268 h 2318"/>
                <a:gd name="T64" fmla="*/ 6394 w 9559"/>
                <a:gd name="T65" fmla="*/ 265 h 2318"/>
                <a:gd name="T66" fmla="*/ 6663 w 9559"/>
                <a:gd name="T67" fmla="*/ 290 h 2318"/>
                <a:gd name="T68" fmla="*/ 7033 w 9559"/>
                <a:gd name="T69" fmla="*/ 332 h 2318"/>
                <a:gd name="T70" fmla="*/ 7262 w 9559"/>
                <a:gd name="T71" fmla="*/ 366 h 2318"/>
                <a:gd name="T72" fmla="*/ 7480 w 9559"/>
                <a:gd name="T73" fmla="*/ 435 h 2318"/>
                <a:gd name="T74" fmla="*/ 7821 w 9559"/>
                <a:gd name="T75" fmla="*/ 580 h 2318"/>
                <a:gd name="T76" fmla="*/ 8117 w 9559"/>
                <a:gd name="T77" fmla="*/ 713 h 2318"/>
                <a:gd name="T78" fmla="*/ 8295 w 9559"/>
                <a:gd name="T79" fmla="*/ 809 h 2318"/>
                <a:gd name="T80" fmla="*/ 8452 w 9559"/>
                <a:gd name="T81" fmla="*/ 936 h 2318"/>
                <a:gd name="T82" fmla="*/ 8690 w 9559"/>
                <a:gd name="T83" fmla="*/ 1159 h 2318"/>
                <a:gd name="T84" fmla="*/ 8891 w 9559"/>
                <a:gd name="T85" fmla="*/ 1364 h 2318"/>
                <a:gd name="T86" fmla="*/ 9066 w 9559"/>
                <a:gd name="T87" fmla="*/ 1568 h 2318"/>
                <a:gd name="T88" fmla="*/ 9216 w 9559"/>
                <a:gd name="T89" fmla="*/ 1763 h 2318"/>
                <a:gd name="T90" fmla="*/ 9338 w 9559"/>
                <a:gd name="T91" fmla="*/ 1941 h 2318"/>
                <a:gd name="T92" fmla="*/ 9434 w 9559"/>
                <a:gd name="T93" fmla="*/ 2093 h 2318"/>
                <a:gd name="T94" fmla="*/ 9503 w 9559"/>
                <a:gd name="T95" fmla="*/ 2213 h 2318"/>
                <a:gd name="T96" fmla="*/ 9559 w 9559"/>
                <a:gd name="T97" fmla="*/ 2318 h 231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9559"/>
                <a:gd name="T148" fmla="*/ 0 h 2318"/>
                <a:gd name="T149" fmla="*/ 9559 w 9559"/>
                <a:gd name="T150" fmla="*/ 2318 h 231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9559" h="2318">
                  <a:moveTo>
                    <a:pt x="0" y="0"/>
                  </a:moveTo>
                  <a:lnTo>
                    <a:pt x="166" y="94"/>
                  </a:lnTo>
                  <a:lnTo>
                    <a:pt x="349" y="187"/>
                  </a:lnTo>
                  <a:lnTo>
                    <a:pt x="579" y="290"/>
                  </a:lnTo>
                  <a:lnTo>
                    <a:pt x="842" y="405"/>
                  </a:lnTo>
                  <a:lnTo>
                    <a:pt x="1004" y="478"/>
                  </a:lnTo>
                  <a:lnTo>
                    <a:pt x="1170" y="528"/>
                  </a:lnTo>
                  <a:lnTo>
                    <a:pt x="1448" y="580"/>
                  </a:lnTo>
                  <a:lnTo>
                    <a:pt x="1803" y="636"/>
                  </a:lnTo>
                  <a:lnTo>
                    <a:pt x="2070" y="673"/>
                  </a:lnTo>
                  <a:lnTo>
                    <a:pt x="2278" y="693"/>
                  </a:lnTo>
                  <a:lnTo>
                    <a:pt x="2458" y="697"/>
                  </a:lnTo>
                  <a:lnTo>
                    <a:pt x="2636" y="686"/>
                  </a:lnTo>
                  <a:lnTo>
                    <a:pt x="2847" y="662"/>
                  </a:lnTo>
                  <a:lnTo>
                    <a:pt x="3116" y="626"/>
                  </a:lnTo>
                  <a:lnTo>
                    <a:pt x="3476" y="580"/>
                  </a:lnTo>
                  <a:lnTo>
                    <a:pt x="3685" y="547"/>
                  </a:lnTo>
                  <a:lnTo>
                    <a:pt x="3839" y="512"/>
                  </a:lnTo>
                  <a:lnTo>
                    <a:pt x="3956" y="475"/>
                  </a:lnTo>
                  <a:lnTo>
                    <a:pt x="4055" y="435"/>
                  </a:lnTo>
                  <a:lnTo>
                    <a:pt x="4154" y="396"/>
                  </a:lnTo>
                  <a:lnTo>
                    <a:pt x="4270" y="357"/>
                  </a:lnTo>
                  <a:lnTo>
                    <a:pt x="4424" y="322"/>
                  </a:lnTo>
                  <a:lnTo>
                    <a:pt x="4634" y="290"/>
                  </a:lnTo>
                  <a:lnTo>
                    <a:pt x="4838" y="267"/>
                  </a:lnTo>
                  <a:lnTo>
                    <a:pt x="4991" y="257"/>
                  </a:lnTo>
                  <a:lnTo>
                    <a:pt x="5209" y="261"/>
                  </a:lnTo>
                  <a:lnTo>
                    <a:pt x="5430" y="279"/>
                  </a:lnTo>
                  <a:lnTo>
                    <a:pt x="5584" y="287"/>
                  </a:lnTo>
                  <a:lnTo>
                    <a:pt x="5793" y="290"/>
                  </a:lnTo>
                  <a:lnTo>
                    <a:pt x="6064" y="281"/>
                  </a:lnTo>
                  <a:lnTo>
                    <a:pt x="6229" y="268"/>
                  </a:lnTo>
                  <a:lnTo>
                    <a:pt x="6394" y="265"/>
                  </a:lnTo>
                  <a:lnTo>
                    <a:pt x="6663" y="290"/>
                  </a:lnTo>
                  <a:lnTo>
                    <a:pt x="7033" y="332"/>
                  </a:lnTo>
                  <a:lnTo>
                    <a:pt x="7262" y="366"/>
                  </a:lnTo>
                  <a:lnTo>
                    <a:pt x="7480" y="435"/>
                  </a:lnTo>
                  <a:lnTo>
                    <a:pt x="7821" y="580"/>
                  </a:lnTo>
                  <a:lnTo>
                    <a:pt x="8117" y="713"/>
                  </a:lnTo>
                  <a:lnTo>
                    <a:pt x="8295" y="809"/>
                  </a:lnTo>
                  <a:lnTo>
                    <a:pt x="8452" y="936"/>
                  </a:lnTo>
                  <a:lnTo>
                    <a:pt x="8690" y="1159"/>
                  </a:lnTo>
                  <a:lnTo>
                    <a:pt x="8891" y="1364"/>
                  </a:lnTo>
                  <a:lnTo>
                    <a:pt x="9066" y="1568"/>
                  </a:lnTo>
                  <a:lnTo>
                    <a:pt x="9216" y="1763"/>
                  </a:lnTo>
                  <a:lnTo>
                    <a:pt x="9338" y="1941"/>
                  </a:lnTo>
                  <a:lnTo>
                    <a:pt x="9434" y="2093"/>
                  </a:lnTo>
                  <a:lnTo>
                    <a:pt x="9503" y="2213"/>
                  </a:lnTo>
                  <a:lnTo>
                    <a:pt x="9559" y="2318"/>
                  </a:lnTo>
                </a:path>
              </a:pathLst>
            </a:custGeom>
            <a:noFill/>
            <a:ln w="0">
              <a:solidFill>
                <a:srgbClr val="FFFFFF"/>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49" name="Freeform 53">
              <a:extLst>
                <a:ext uri="{FF2B5EF4-FFF2-40B4-BE49-F238E27FC236}">
                  <a16:creationId xmlns:a16="http://schemas.microsoft.com/office/drawing/2014/main" id="{3194E93A-D7BA-9347-A665-8D611F3E8CDD}"/>
                </a:ext>
              </a:extLst>
            </p:cNvPr>
            <p:cNvSpPr>
              <a:spLocks/>
            </p:cNvSpPr>
            <p:nvPr/>
          </p:nvSpPr>
          <p:spPr bwMode="auto">
            <a:xfrm>
              <a:off x="1198" y="1277"/>
              <a:ext cx="117" cy="105"/>
            </a:xfrm>
            <a:custGeom>
              <a:avLst/>
              <a:gdLst>
                <a:gd name="T0" fmla="*/ 103 w 349"/>
                <a:gd name="T1" fmla="*/ 277 h 315"/>
                <a:gd name="T2" fmla="*/ 149 w 349"/>
                <a:gd name="T3" fmla="*/ 250 h 315"/>
                <a:gd name="T4" fmla="*/ 175 w 349"/>
                <a:gd name="T5" fmla="*/ 219 h 315"/>
                <a:gd name="T6" fmla="*/ 181 w 349"/>
                <a:gd name="T7" fmla="*/ 181 h 315"/>
                <a:gd name="T8" fmla="*/ 221 w 349"/>
                <a:gd name="T9" fmla="*/ 150 h 315"/>
                <a:gd name="T10" fmla="*/ 282 w 349"/>
                <a:gd name="T11" fmla="*/ 122 h 315"/>
                <a:gd name="T12" fmla="*/ 308 w 349"/>
                <a:gd name="T13" fmla="*/ 81 h 315"/>
                <a:gd name="T14" fmla="*/ 334 w 349"/>
                <a:gd name="T15" fmla="*/ 31 h 315"/>
                <a:gd name="T16" fmla="*/ 335 w 349"/>
                <a:gd name="T17" fmla="*/ 17 h 315"/>
                <a:gd name="T18" fmla="*/ 311 w 349"/>
                <a:gd name="T19" fmla="*/ 47 h 315"/>
                <a:gd name="T20" fmla="*/ 286 w 349"/>
                <a:gd name="T21" fmla="*/ 97 h 315"/>
                <a:gd name="T22" fmla="*/ 265 w 349"/>
                <a:gd name="T23" fmla="*/ 99 h 315"/>
                <a:gd name="T24" fmla="*/ 245 w 349"/>
                <a:gd name="T25" fmla="*/ 62 h 315"/>
                <a:gd name="T26" fmla="*/ 234 w 349"/>
                <a:gd name="T27" fmla="*/ 20 h 315"/>
                <a:gd name="T28" fmla="*/ 236 w 349"/>
                <a:gd name="T29" fmla="*/ 2 h 315"/>
                <a:gd name="T30" fmla="*/ 225 w 349"/>
                <a:gd name="T31" fmla="*/ 8 h 315"/>
                <a:gd name="T32" fmla="*/ 228 w 349"/>
                <a:gd name="T33" fmla="*/ 35 h 315"/>
                <a:gd name="T34" fmla="*/ 238 w 349"/>
                <a:gd name="T35" fmla="*/ 79 h 315"/>
                <a:gd name="T36" fmla="*/ 250 w 349"/>
                <a:gd name="T37" fmla="*/ 108 h 315"/>
                <a:gd name="T38" fmla="*/ 231 w 349"/>
                <a:gd name="T39" fmla="*/ 117 h 315"/>
                <a:gd name="T40" fmla="*/ 195 w 349"/>
                <a:gd name="T41" fmla="*/ 119 h 315"/>
                <a:gd name="T42" fmla="*/ 167 w 349"/>
                <a:gd name="T43" fmla="*/ 138 h 315"/>
                <a:gd name="T44" fmla="*/ 148 w 349"/>
                <a:gd name="T45" fmla="*/ 128 h 315"/>
                <a:gd name="T46" fmla="*/ 124 w 349"/>
                <a:gd name="T47" fmla="*/ 113 h 315"/>
                <a:gd name="T48" fmla="*/ 99 w 349"/>
                <a:gd name="T49" fmla="*/ 91 h 315"/>
                <a:gd name="T50" fmla="*/ 87 w 349"/>
                <a:gd name="T51" fmla="*/ 83 h 315"/>
                <a:gd name="T52" fmla="*/ 104 w 349"/>
                <a:gd name="T53" fmla="*/ 111 h 315"/>
                <a:gd name="T54" fmla="*/ 136 w 349"/>
                <a:gd name="T55" fmla="*/ 132 h 315"/>
                <a:gd name="T56" fmla="*/ 141 w 349"/>
                <a:gd name="T57" fmla="*/ 147 h 315"/>
                <a:gd name="T58" fmla="*/ 102 w 349"/>
                <a:gd name="T59" fmla="*/ 156 h 315"/>
                <a:gd name="T60" fmla="*/ 82 w 349"/>
                <a:gd name="T61" fmla="*/ 177 h 315"/>
                <a:gd name="T62" fmla="*/ 76 w 349"/>
                <a:gd name="T63" fmla="*/ 162 h 315"/>
                <a:gd name="T64" fmla="*/ 58 w 349"/>
                <a:gd name="T65" fmla="*/ 130 h 315"/>
                <a:gd name="T66" fmla="*/ 55 w 349"/>
                <a:gd name="T67" fmla="*/ 74 h 315"/>
                <a:gd name="T68" fmla="*/ 60 w 349"/>
                <a:gd name="T69" fmla="*/ 37 h 315"/>
                <a:gd name="T70" fmla="*/ 58 w 349"/>
                <a:gd name="T71" fmla="*/ 21 h 315"/>
                <a:gd name="T72" fmla="*/ 50 w 349"/>
                <a:gd name="T73" fmla="*/ 39 h 315"/>
                <a:gd name="T74" fmla="*/ 45 w 349"/>
                <a:gd name="T75" fmla="*/ 71 h 315"/>
                <a:gd name="T76" fmla="*/ 43 w 349"/>
                <a:gd name="T77" fmla="*/ 113 h 315"/>
                <a:gd name="T78" fmla="*/ 30 w 349"/>
                <a:gd name="T79" fmla="*/ 130 h 315"/>
                <a:gd name="T80" fmla="*/ 18 w 349"/>
                <a:gd name="T81" fmla="*/ 93 h 315"/>
                <a:gd name="T82" fmla="*/ 19 w 349"/>
                <a:gd name="T83" fmla="*/ 60 h 315"/>
                <a:gd name="T84" fmla="*/ 7 w 349"/>
                <a:gd name="T85" fmla="*/ 34 h 315"/>
                <a:gd name="T86" fmla="*/ 3 w 349"/>
                <a:gd name="T87" fmla="*/ 62 h 315"/>
                <a:gd name="T88" fmla="*/ 3 w 349"/>
                <a:gd name="T89" fmla="*/ 117 h 315"/>
                <a:gd name="T90" fmla="*/ 23 w 349"/>
                <a:gd name="T91" fmla="*/ 170 h 315"/>
                <a:gd name="T92" fmla="*/ 25 w 349"/>
                <a:gd name="T93" fmla="*/ 229 h 315"/>
                <a:gd name="T94" fmla="*/ 5 w 349"/>
                <a:gd name="T95" fmla="*/ 271 h 31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49"/>
                <a:gd name="T145" fmla="*/ 0 h 315"/>
                <a:gd name="T146" fmla="*/ 349 w 349"/>
                <a:gd name="T147" fmla="*/ 315 h 31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49" h="315">
                  <a:moveTo>
                    <a:pt x="91" y="315"/>
                  </a:moveTo>
                  <a:lnTo>
                    <a:pt x="96" y="290"/>
                  </a:lnTo>
                  <a:lnTo>
                    <a:pt x="103" y="277"/>
                  </a:lnTo>
                  <a:lnTo>
                    <a:pt x="116" y="267"/>
                  </a:lnTo>
                  <a:lnTo>
                    <a:pt x="134" y="257"/>
                  </a:lnTo>
                  <a:lnTo>
                    <a:pt x="149" y="250"/>
                  </a:lnTo>
                  <a:lnTo>
                    <a:pt x="164" y="240"/>
                  </a:lnTo>
                  <a:lnTo>
                    <a:pt x="171" y="231"/>
                  </a:lnTo>
                  <a:lnTo>
                    <a:pt x="175" y="219"/>
                  </a:lnTo>
                  <a:lnTo>
                    <a:pt x="176" y="200"/>
                  </a:lnTo>
                  <a:lnTo>
                    <a:pt x="178" y="189"/>
                  </a:lnTo>
                  <a:lnTo>
                    <a:pt x="181" y="181"/>
                  </a:lnTo>
                  <a:lnTo>
                    <a:pt x="190" y="170"/>
                  </a:lnTo>
                  <a:lnTo>
                    <a:pt x="205" y="159"/>
                  </a:lnTo>
                  <a:lnTo>
                    <a:pt x="221" y="150"/>
                  </a:lnTo>
                  <a:lnTo>
                    <a:pt x="243" y="142"/>
                  </a:lnTo>
                  <a:lnTo>
                    <a:pt x="263" y="133"/>
                  </a:lnTo>
                  <a:lnTo>
                    <a:pt x="282" y="122"/>
                  </a:lnTo>
                  <a:lnTo>
                    <a:pt x="292" y="113"/>
                  </a:lnTo>
                  <a:lnTo>
                    <a:pt x="301" y="99"/>
                  </a:lnTo>
                  <a:lnTo>
                    <a:pt x="308" y="81"/>
                  </a:lnTo>
                  <a:lnTo>
                    <a:pt x="317" y="58"/>
                  </a:lnTo>
                  <a:lnTo>
                    <a:pt x="325" y="42"/>
                  </a:lnTo>
                  <a:lnTo>
                    <a:pt x="334" y="31"/>
                  </a:lnTo>
                  <a:lnTo>
                    <a:pt x="341" y="24"/>
                  </a:lnTo>
                  <a:lnTo>
                    <a:pt x="349" y="19"/>
                  </a:lnTo>
                  <a:lnTo>
                    <a:pt x="335" y="17"/>
                  </a:lnTo>
                  <a:lnTo>
                    <a:pt x="326" y="24"/>
                  </a:lnTo>
                  <a:lnTo>
                    <a:pt x="318" y="34"/>
                  </a:lnTo>
                  <a:lnTo>
                    <a:pt x="311" y="47"/>
                  </a:lnTo>
                  <a:lnTo>
                    <a:pt x="304" y="65"/>
                  </a:lnTo>
                  <a:lnTo>
                    <a:pt x="295" y="83"/>
                  </a:lnTo>
                  <a:lnTo>
                    <a:pt x="286" y="97"/>
                  </a:lnTo>
                  <a:lnTo>
                    <a:pt x="276" y="108"/>
                  </a:lnTo>
                  <a:lnTo>
                    <a:pt x="267" y="113"/>
                  </a:lnTo>
                  <a:lnTo>
                    <a:pt x="265" y="99"/>
                  </a:lnTo>
                  <a:lnTo>
                    <a:pt x="259" y="87"/>
                  </a:lnTo>
                  <a:lnTo>
                    <a:pt x="251" y="75"/>
                  </a:lnTo>
                  <a:lnTo>
                    <a:pt x="245" y="62"/>
                  </a:lnTo>
                  <a:lnTo>
                    <a:pt x="239" y="48"/>
                  </a:lnTo>
                  <a:lnTo>
                    <a:pt x="237" y="34"/>
                  </a:lnTo>
                  <a:lnTo>
                    <a:pt x="234" y="20"/>
                  </a:lnTo>
                  <a:lnTo>
                    <a:pt x="233" y="15"/>
                  </a:lnTo>
                  <a:lnTo>
                    <a:pt x="233" y="8"/>
                  </a:lnTo>
                  <a:lnTo>
                    <a:pt x="236" y="2"/>
                  </a:lnTo>
                  <a:lnTo>
                    <a:pt x="229" y="0"/>
                  </a:lnTo>
                  <a:lnTo>
                    <a:pt x="225" y="8"/>
                  </a:lnTo>
                  <a:lnTo>
                    <a:pt x="225" y="15"/>
                  </a:lnTo>
                  <a:lnTo>
                    <a:pt x="225" y="21"/>
                  </a:lnTo>
                  <a:lnTo>
                    <a:pt x="228" y="35"/>
                  </a:lnTo>
                  <a:lnTo>
                    <a:pt x="231" y="51"/>
                  </a:lnTo>
                  <a:lnTo>
                    <a:pt x="233" y="65"/>
                  </a:lnTo>
                  <a:lnTo>
                    <a:pt x="238" y="79"/>
                  </a:lnTo>
                  <a:lnTo>
                    <a:pt x="246" y="92"/>
                  </a:lnTo>
                  <a:lnTo>
                    <a:pt x="250" y="102"/>
                  </a:lnTo>
                  <a:lnTo>
                    <a:pt x="250" y="108"/>
                  </a:lnTo>
                  <a:lnTo>
                    <a:pt x="248" y="111"/>
                  </a:lnTo>
                  <a:lnTo>
                    <a:pt x="243" y="115"/>
                  </a:lnTo>
                  <a:lnTo>
                    <a:pt x="231" y="117"/>
                  </a:lnTo>
                  <a:lnTo>
                    <a:pt x="217" y="116"/>
                  </a:lnTo>
                  <a:lnTo>
                    <a:pt x="204" y="116"/>
                  </a:lnTo>
                  <a:lnTo>
                    <a:pt x="195" y="119"/>
                  </a:lnTo>
                  <a:lnTo>
                    <a:pt x="188" y="125"/>
                  </a:lnTo>
                  <a:lnTo>
                    <a:pt x="179" y="130"/>
                  </a:lnTo>
                  <a:lnTo>
                    <a:pt x="167" y="138"/>
                  </a:lnTo>
                  <a:lnTo>
                    <a:pt x="154" y="145"/>
                  </a:lnTo>
                  <a:lnTo>
                    <a:pt x="153" y="136"/>
                  </a:lnTo>
                  <a:lnTo>
                    <a:pt x="148" y="128"/>
                  </a:lnTo>
                  <a:lnTo>
                    <a:pt x="143" y="122"/>
                  </a:lnTo>
                  <a:lnTo>
                    <a:pt x="134" y="117"/>
                  </a:lnTo>
                  <a:lnTo>
                    <a:pt x="124" y="113"/>
                  </a:lnTo>
                  <a:lnTo>
                    <a:pt x="112" y="107"/>
                  </a:lnTo>
                  <a:lnTo>
                    <a:pt x="104" y="99"/>
                  </a:lnTo>
                  <a:lnTo>
                    <a:pt x="99" y="91"/>
                  </a:lnTo>
                  <a:lnTo>
                    <a:pt x="94" y="81"/>
                  </a:lnTo>
                  <a:lnTo>
                    <a:pt x="87" y="83"/>
                  </a:lnTo>
                  <a:lnTo>
                    <a:pt x="90" y="92"/>
                  </a:lnTo>
                  <a:lnTo>
                    <a:pt x="97" y="103"/>
                  </a:lnTo>
                  <a:lnTo>
                    <a:pt x="104" y="111"/>
                  </a:lnTo>
                  <a:lnTo>
                    <a:pt x="116" y="119"/>
                  </a:lnTo>
                  <a:lnTo>
                    <a:pt x="128" y="126"/>
                  </a:lnTo>
                  <a:lnTo>
                    <a:pt x="136" y="132"/>
                  </a:lnTo>
                  <a:lnTo>
                    <a:pt x="142" y="142"/>
                  </a:lnTo>
                  <a:lnTo>
                    <a:pt x="142" y="144"/>
                  </a:lnTo>
                  <a:lnTo>
                    <a:pt x="141" y="147"/>
                  </a:lnTo>
                  <a:lnTo>
                    <a:pt x="130" y="150"/>
                  </a:lnTo>
                  <a:lnTo>
                    <a:pt x="114" y="153"/>
                  </a:lnTo>
                  <a:lnTo>
                    <a:pt x="102" y="156"/>
                  </a:lnTo>
                  <a:lnTo>
                    <a:pt x="93" y="161"/>
                  </a:lnTo>
                  <a:lnTo>
                    <a:pt x="87" y="167"/>
                  </a:lnTo>
                  <a:lnTo>
                    <a:pt x="82" y="177"/>
                  </a:lnTo>
                  <a:lnTo>
                    <a:pt x="79" y="192"/>
                  </a:lnTo>
                  <a:lnTo>
                    <a:pt x="78" y="167"/>
                  </a:lnTo>
                  <a:lnTo>
                    <a:pt x="76" y="162"/>
                  </a:lnTo>
                  <a:lnTo>
                    <a:pt x="74" y="155"/>
                  </a:lnTo>
                  <a:lnTo>
                    <a:pt x="67" y="145"/>
                  </a:lnTo>
                  <a:lnTo>
                    <a:pt x="58" y="130"/>
                  </a:lnTo>
                  <a:lnTo>
                    <a:pt x="54" y="110"/>
                  </a:lnTo>
                  <a:lnTo>
                    <a:pt x="54" y="91"/>
                  </a:lnTo>
                  <a:lnTo>
                    <a:pt x="55" y="74"/>
                  </a:lnTo>
                  <a:lnTo>
                    <a:pt x="55" y="71"/>
                  </a:lnTo>
                  <a:lnTo>
                    <a:pt x="57" y="49"/>
                  </a:lnTo>
                  <a:lnTo>
                    <a:pt x="60" y="37"/>
                  </a:lnTo>
                  <a:lnTo>
                    <a:pt x="65" y="26"/>
                  </a:lnTo>
                  <a:lnTo>
                    <a:pt x="71" y="17"/>
                  </a:lnTo>
                  <a:lnTo>
                    <a:pt x="58" y="21"/>
                  </a:lnTo>
                  <a:lnTo>
                    <a:pt x="54" y="29"/>
                  </a:lnTo>
                  <a:lnTo>
                    <a:pt x="50" y="39"/>
                  </a:lnTo>
                  <a:lnTo>
                    <a:pt x="47" y="53"/>
                  </a:lnTo>
                  <a:lnTo>
                    <a:pt x="45" y="71"/>
                  </a:lnTo>
                  <a:lnTo>
                    <a:pt x="45" y="82"/>
                  </a:lnTo>
                  <a:lnTo>
                    <a:pt x="43" y="97"/>
                  </a:lnTo>
                  <a:lnTo>
                    <a:pt x="43" y="113"/>
                  </a:lnTo>
                  <a:lnTo>
                    <a:pt x="42" y="125"/>
                  </a:lnTo>
                  <a:lnTo>
                    <a:pt x="37" y="142"/>
                  </a:lnTo>
                  <a:lnTo>
                    <a:pt x="30" y="130"/>
                  </a:lnTo>
                  <a:lnTo>
                    <a:pt x="23" y="118"/>
                  </a:lnTo>
                  <a:lnTo>
                    <a:pt x="20" y="107"/>
                  </a:lnTo>
                  <a:lnTo>
                    <a:pt x="18" y="93"/>
                  </a:lnTo>
                  <a:lnTo>
                    <a:pt x="18" y="77"/>
                  </a:lnTo>
                  <a:lnTo>
                    <a:pt x="18" y="65"/>
                  </a:lnTo>
                  <a:lnTo>
                    <a:pt x="19" y="60"/>
                  </a:lnTo>
                  <a:lnTo>
                    <a:pt x="20" y="42"/>
                  </a:lnTo>
                  <a:lnTo>
                    <a:pt x="22" y="34"/>
                  </a:lnTo>
                  <a:lnTo>
                    <a:pt x="7" y="34"/>
                  </a:lnTo>
                  <a:lnTo>
                    <a:pt x="6" y="48"/>
                  </a:lnTo>
                  <a:lnTo>
                    <a:pt x="3" y="62"/>
                  </a:lnTo>
                  <a:lnTo>
                    <a:pt x="1" y="80"/>
                  </a:lnTo>
                  <a:lnTo>
                    <a:pt x="0" y="96"/>
                  </a:lnTo>
                  <a:lnTo>
                    <a:pt x="3" y="117"/>
                  </a:lnTo>
                  <a:lnTo>
                    <a:pt x="9" y="135"/>
                  </a:lnTo>
                  <a:lnTo>
                    <a:pt x="17" y="154"/>
                  </a:lnTo>
                  <a:lnTo>
                    <a:pt x="23" y="170"/>
                  </a:lnTo>
                  <a:lnTo>
                    <a:pt x="26" y="187"/>
                  </a:lnTo>
                  <a:lnTo>
                    <a:pt x="28" y="207"/>
                  </a:lnTo>
                  <a:lnTo>
                    <a:pt x="25" y="229"/>
                  </a:lnTo>
                  <a:lnTo>
                    <a:pt x="21" y="245"/>
                  </a:lnTo>
                  <a:lnTo>
                    <a:pt x="13" y="262"/>
                  </a:lnTo>
                  <a:lnTo>
                    <a:pt x="5" y="271"/>
                  </a:lnTo>
                  <a:lnTo>
                    <a:pt x="91" y="315"/>
                  </a:lnTo>
                  <a:close/>
                </a:path>
              </a:pathLst>
            </a:custGeom>
            <a:solidFill>
              <a:srgbClr val="008080"/>
            </a:solidFill>
            <a:ln w="0">
              <a:solidFill>
                <a:srgbClr val="8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50" name="Freeform 54">
              <a:extLst>
                <a:ext uri="{FF2B5EF4-FFF2-40B4-BE49-F238E27FC236}">
                  <a16:creationId xmlns:a16="http://schemas.microsoft.com/office/drawing/2014/main" id="{2AC861D2-2C30-DC49-9A34-F3D7B6CB148F}"/>
                </a:ext>
              </a:extLst>
            </p:cNvPr>
            <p:cNvSpPr>
              <a:spLocks/>
            </p:cNvSpPr>
            <p:nvPr/>
          </p:nvSpPr>
          <p:spPr bwMode="auto">
            <a:xfrm>
              <a:off x="1160" y="1367"/>
              <a:ext cx="101" cy="160"/>
            </a:xfrm>
            <a:custGeom>
              <a:avLst/>
              <a:gdLst>
                <a:gd name="T0" fmla="*/ 93 w 304"/>
                <a:gd name="T1" fmla="*/ 41 h 479"/>
                <a:gd name="T2" fmla="*/ 91 w 304"/>
                <a:gd name="T3" fmla="*/ 66 h 479"/>
                <a:gd name="T4" fmla="*/ 74 w 304"/>
                <a:gd name="T5" fmla="*/ 93 h 479"/>
                <a:gd name="T6" fmla="*/ 66 w 304"/>
                <a:gd name="T7" fmla="*/ 129 h 479"/>
                <a:gd name="T8" fmla="*/ 71 w 304"/>
                <a:gd name="T9" fmla="*/ 162 h 479"/>
                <a:gd name="T10" fmla="*/ 73 w 304"/>
                <a:gd name="T11" fmla="*/ 184 h 479"/>
                <a:gd name="T12" fmla="*/ 63 w 304"/>
                <a:gd name="T13" fmla="*/ 214 h 479"/>
                <a:gd name="T14" fmla="*/ 63 w 304"/>
                <a:gd name="T15" fmla="*/ 254 h 479"/>
                <a:gd name="T16" fmla="*/ 62 w 304"/>
                <a:gd name="T17" fmla="*/ 291 h 479"/>
                <a:gd name="T18" fmla="*/ 69 w 304"/>
                <a:gd name="T19" fmla="*/ 329 h 479"/>
                <a:gd name="T20" fmla="*/ 70 w 304"/>
                <a:gd name="T21" fmla="*/ 379 h 479"/>
                <a:gd name="T22" fmla="*/ 59 w 304"/>
                <a:gd name="T23" fmla="*/ 415 h 479"/>
                <a:gd name="T24" fmla="*/ 35 w 304"/>
                <a:gd name="T25" fmla="*/ 438 h 479"/>
                <a:gd name="T26" fmla="*/ 18 w 304"/>
                <a:gd name="T27" fmla="*/ 453 h 479"/>
                <a:gd name="T28" fmla="*/ 58 w 304"/>
                <a:gd name="T29" fmla="*/ 453 h 479"/>
                <a:gd name="T30" fmla="*/ 95 w 304"/>
                <a:gd name="T31" fmla="*/ 462 h 479"/>
                <a:gd name="T32" fmla="*/ 121 w 304"/>
                <a:gd name="T33" fmla="*/ 462 h 479"/>
                <a:gd name="T34" fmla="*/ 137 w 304"/>
                <a:gd name="T35" fmla="*/ 445 h 479"/>
                <a:gd name="T36" fmla="*/ 141 w 304"/>
                <a:gd name="T37" fmla="*/ 445 h 479"/>
                <a:gd name="T38" fmla="*/ 137 w 304"/>
                <a:gd name="T39" fmla="*/ 475 h 479"/>
                <a:gd name="T40" fmla="*/ 145 w 304"/>
                <a:gd name="T41" fmla="*/ 470 h 479"/>
                <a:gd name="T42" fmla="*/ 163 w 304"/>
                <a:gd name="T43" fmla="*/ 447 h 479"/>
                <a:gd name="T44" fmla="*/ 191 w 304"/>
                <a:gd name="T45" fmla="*/ 434 h 479"/>
                <a:gd name="T46" fmla="*/ 230 w 304"/>
                <a:gd name="T47" fmla="*/ 433 h 479"/>
                <a:gd name="T48" fmla="*/ 266 w 304"/>
                <a:gd name="T49" fmla="*/ 437 h 479"/>
                <a:gd name="T50" fmla="*/ 304 w 304"/>
                <a:gd name="T51" fmla="*/ 445 h 479"/>
                <a:gd name="T52" fmla="*/ 273 w 304"/>
                <a:gd name="T53" fmla="*/ 426 h 479"/>
                <a:gd name="T54" fmla="*/ 260 w 304"/>
                <a:gd name="T55" fmla="*/ 412 h 479"/>
                <a:gd name="T56" fmla="*/ 240 w 304"/>
                <a:gd name="T57" fmla="*/ 367 h 479"/>
                <a:gd name="T58" fmla="*/ 226 w 304"/>
                <a:gd name="T59" fmla="*/ 323 h 479"/>
                <a:gd name="T60" fmla="*/ 200 w 304"/>
                <a:gd name="T61" fmla="*/ 279 h 479"/>
                <a:gd name="T62" fmla="*/ 160 w 304"/>
                <a:gd name="T63" fmla="*/ 218 h 479"/>
                <a:gd name="T64" fmla="*/ 158 w 304"/>
                <a:gd name="T65" fmla="*/ 178 h 479"/>
                <a:gd name="T66" fmla="*/ 164 w 304"/>
                <a:gd name="T67" fmla="*/ 143 h 479"/>
                <a:gd name="T68" fmla="*/ 183 w 304"/>
                <a:gd name="T69" fmla="*/ 111 h 479"/>
                <a:gd name="T70" fmla="*/ 195 w 304"/>
                <a:gd name="T71" fmla="*/ 87 h 479"/>
                <a:gd name="T72" fmla="*/ 207 w 304"/>
                <a:gd name="T73" fmla="*/ 43 h 479"/>
                <a:gd name="T74" fmla="*/ 88 w 304"/>
                <a:gd name="T75" fmla="*/ 28 h 47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4"/>
                <a:gd name="T115" fmla="*/ 0 h 479"/>
                <a:gd name="T116" fmla="*/ 304 w 304"/>
                <a:gd name="T117" fmla="*/ 479 h 47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4" h="479">
                  <a:moveTo>
                    <a:pt x="88" y="28"/>
                  </a:moveTo>
                  <a:lnTo>
                    <a:pt x="93" y="41"/>
                  </a:lnTo>
                  <a:lnTo>
                    <a:pt x="94" y="54"/>
                  </a:lnTo>
                  <a:lnTo>
                    <a:pt x="91" y="66"/>
                  </a:lnTo>
                  <a:lnTo>
                    <a:pt x="83" y="79"/>
                  </a:lnTo>
                  <a:lnTo>
                    <a:pt x="74" y="93"/>
                  </a:lnTo>
                  <a:lnTo>
                    <a:pt x="68" y="109"/>
                  </a:lnTo>
                  <a:lnTo>
                    <a:pt x="66" y="129"/>
                  </a:lnTo>
                  <a:lnTo>
                    <a:pt x="66" y="145"/>
                  </a:lnTo>
                  <a:lnTo>
                    <a:pt x="71" y="162"/>
                  </a:lnTo>
                  <a:lnTo>
                    <a:pt x="74" y="174"/>
                  </a:lnTo>
                  <a:lnTo>
                    <a:pt x="73" y="184"/>
                  </a:lnTo>
                  <a:lnTo>
                    <a:pt x="67" y="198"/>
                  </a:lnTo>
                  <a:lnTo>
                    <a:pt x="63" y="214"/>
                  </a:lnTo>
                  <a:lnTo>
                    <a:pt x="62" y="230"/>
                  </a:lnTo>
                  <a:lnTo>
                    <a:pt x="63" y="254"/>
                  </a:lnTo>
                  <a:lnTo>
                    <a:pt x="62" y="275"/>
                  </a:lnTo>
                  <a:lnTo>
                    <a:pt x="62" y="291"/>
                  </a:lnTo>
                  <a:lnTo>
                    <a:pt x="66" y="312"/>
                  </a:lnTo>
                  <a:lnTo>
                    <a:pt x="69" y="329"/>
                  </a:lnTo>
                  <a:lnTo>
                    <a:pt x="71" y="350"/>
                  </a:lnTo>
                  <a:lnTo>
                    <a:pt x="70" y="379"/>
                  </a:lnTo>
                  <a:lnTo>
                    <a:pt x="66" y="400"/>
                  </a:lnTo>
                  <a:lnTo>
                    <a:pt x="59" y="415"/>
                  </a:lnTo>
                  <a:lnTo>
                    <a:pt x="49" y="429"/>
                  </a:lnTo>
                  <a:lnTo>
                    <a:pt x="35" y="438"/>
                  </a:lnTo>
                  <a:lnTo>
                    <a:pt x="0" y="458"/>
                  </a:lnTo>
                  <a:lnTo>
                    <a:pt x="18" y="453"/>
                  </a:lnTo>
                  <a:lnTo>
                    <a:pt x="37" y="452"/>
                  </a:lnTo>
                  <a:lnTo>
                    <a:pt x="58" y="453"/>
                  </a:lnTo>
                  <a:lnTo>
                    <a:pt x="77" y="457"/>
                  </a:lnTo>
                  <a:lnTo>
                    <a:pt x="95" y="462"/>
                  </a:lnTo>
                  <a:lnTo>
                    <a:pt x="110" y="464"/>
                  </a:lnTo>
                  <a:lnTo>
                    <a:pt x="121" y="462"/>
                  </a:lnTo>
                  <a:lnTo>
                    <a:pt x="129" y="456"/>
                  </a:lnTo>
                  <a:lnTo>
                    <a:pt x="137" y="445"/>
                  </a:lnTo>
                  <a:lnTo>
                    <a:pt x="146" y="425"/>
                  </a:lnTo>
                  <a:lnTo>
                    <a:pt x="141" y="445"/>
                  </a:lnTo>
                  <a:lnTo>
                    <a:pt x="139" y="459"/>
                  </a:lnTo>
                  <a:lnTo>
                    <a:pt x="137" y="475"/>
                  </a:lnTo>
                  <a:lnTo>
                    <a:pt x="137" y="479"/>
                  </a:lnTo>
                  <a:lnTo>
                    <a:pt x="145" y="470"/>
                  </a:lnTo>
                  <a:lnTo>
                    <a:pt x="153" y="458"/>
                  </a:lnTo>
                  <a:lnTo>
                    <a:pt x="163" y="447"/>
                  </a:lnTo>
                  <a:lnTo>
                    <a:pt x="178" y="438"/>
                  </a:lnTo>
                  <a:lnTo>
                    <a:pt x="191" y="434"/>
                  </a:lnTo>
                  <a:lnTo>
                    <a:pt x="212" y="432"/>
                  </a:lnTo>
                  <a:lnTo>
                    <a:pt x="230" y="433"/>
                  </a:lnTo>
                  <a:lnTo>
                    <a:pt x="250" y="434"/>
                  </a:lnTo>
                  <a:lnTo>
                    <a:pt x="266" y="437"/>
                  </a:lnTo>
                  <a:lnTo>
                    <a:pt x="287" y="442"/>
                  </a:lnTo>
                  <a:lnTo>
                    <a:pt x="304" y="445"/>
                  </a:lnTo>
                  <a:lnTo>
                    <a:pt x="287" y="437"/>
                  </a:lnTo>
                  <a:lnTo>
                    <a:pt x="273" y="426"/>
                  </a:lnTo>
                  <a:lnTo>
                    <a:pt x="265" y="419"/>
                  </a:lnTo>
                  <a:lnTo>
                    <a:pt x="260" y="412"/>
                  </a:lnTo>
                  <a:lnTo>
                    <a:pt x="248" y="389"/>
                  </a:lnTo>
                  <a:lnTo>
                    <a:pt x="240" y="367"/>
                  </a:lnTo>
                  <a:lnTo>
                    <a:pt x="234" y="345"/>
                  </a:lnTo>
                  <a:lnTo>
                    <a:pt x="226" y="323"/>
                  </a:lnTo>
                  <a:lnTo>
                    <a:pt x="215" y="304"/>
                  </a:lnTo>
                  <a:lnTo>
                    <a:pt x="200" y="279"/>
                  </a:lnTo>
                  <a:lnTo>
                    <a:pt x="179" y="250"/>
                  </a:lnTo>
                  <a:lnTo>
                    <a:pt x="160" y="218"/>
                  </a:lnTo>
                  <a:lnTo>
                    <a:pt x="158" y="197"/>
                  </a:lnTo>
                  <a:lnTo>
                    <a:pt x="158" y="178"/>
                  </a:lnTo>
                  <a:lnTo>
                    <a:pt x="160" y="160"/>
                  </a:lnTo>
                  <a:lnTo>
                    <a:pt x="164" y="143"/>
                  </a:lnTo>
                  <a:lnTo>
                    <a:pt x="172" y="126"/>
                  </a:lnTo>
                  <a:lnTo>
                    <a:pt x="183" y="111"/>
                  </a:lnTo>
                  <a:lnTo>
                    <a:pt x="191" y="99"/>
                  </a:lnTo>
                  <a:lnTo>
                    <a:pt x="195" y="87"/>
                  </a:lnTo>
                  <a:lnTo>
                    <a:pt x="201" y="62"/>
                  </a:lnTo>
                  <a:lnTo>
                    <a:pt x="207" y="43"/>
                  </a:lnTo>
                  <a:lnTo>
                    <a:pt x="121" y="0"/>
                  </a:lnTo>
                  <a:lnTo>
                    <a:pt x="88" y="28"/>
                  </a:lnTo>
                  <a:close/>
                </a:path>
              </a:pathLst>
            </a:custGeom>
            <a:solidFill>
              <a:srgbClr val="008080"/>
            </a:solidFill>
            <a:ln w="0">
              <a:solidFill>
                <a:srgbClr val="8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51" name="Freeform 55">
              <a:extLst>
                <a:ext uri="{FF2B5EF4-FFF2-40B4-BE49-F238E27FC236}">
                  <a16:creationId xmlns:a16="http://schemas.microsoft.com/office/drawing/2014/main" id="{06A0E456-0768-DF4F-B4B3-C538F65B6A84}"/>
                </a:ext>
              </a:extLst>
            </p:cNvPr>
            <p:cNvSpPr>
              <a:spLocks/>
            </p:cNvSpPr>
            <p:nvPr/>
          </p:nvSpPr>
          <p:spPr bwMode="auto">
            <a:xfrm>
              <a:off x="972" y="1276"/>
              <a:ext cx="228" cy="101"/>
            </a:xfrm>
            <a:custGeom>
              <a:avLst/>
              <a:gdLst>
                <a:gd name="T0" fmla="*/ 594 w 684"/>
                <a:gd name="T1" fmla="*/ 262 h 302"/>
                <a:gd name="T2" fmla="*/ 504 w 684"/>
                <a:gd name="T3" fmla="*/ 234 h 302"/>
                <a:gd name="T4" fmla="*/ 438 w 684"/>
                <a:gd name="T5" fmla="*/ 195 h 302"/>
                <a:gd name="T6" fmla="*/ 375 w 684"/>
                <a:gd name="T7" fmla="*/ 145 h 302"/>
                <a:gd name="T8" fmla="*/ 296 w 684"/>
                <a:gd name="T9" fmla="*/ 135 h 302"/>
                <a:gd name="T10" fmla="*/ 200 w 684"/>
                <a:gd name="T11" fmla="*/ 148 h 302"/>
                <a:gd name="T12" fmla="*/ 123 w 684"/>
                <a:gd name="T13" fmla="*/ 129 h 302"/>
                <a:gd name="T14" fmla="*/ 64 w 684"/>
                <a:gd name="T15" fmla="*/ 91 h 302"/>
                <a:gd name="T16" fmla="*/ 9 w 684"/>
                <a:gd name="T17" fmla="*/ 71 h 302"/>
                <a:gd name="T18" fmla="*/ 10 w 684"/>
                <a:gd name="T19" fmla="*/ 60 h 302"/>
                <a:gd name="T20" fmla="*/ 69 w 684"/>
                <a:gd name="T21" fmla="*/ 84 h 302"/>
                <a:gd name="T22" fmla="*/ 90 w 684"/>
                <a:gd name="T23" fmla="*/ 66 h 302"/>
                <a:gd name="T24" fmla="*/ 99 w 684"/>
                <a:gd name="T25" fmla="*/ 19 h 302"/>
                <a:gd name="T26" fmla="*/ 104 w 684"/>
                <a:gd name="T27" fmla="*/ 83 h 302"/>
                <a:gd name="T28" fmla="*/ 142 w 684"/>
                <a:gd name="T29" fmla="*/ 108 h 302"/>
                <a:gd name="T30" fmla="*/ 175 w 684"/>
                <a:gd name="T31" fmla="*/ 107 h 302"/>
                <a:gd name="T32" fmla="*/ 136 w 684"/>
                <a:gd name="T33" fmla="*/ 59 h 302"/>
                <a:gd name="T34" fmla="*/ 141 w 684"/>
                <a:gd name="T35" fmla="*/ 21 h 302"/>
                <a:gd name="T36" fmla="*/ 152 w 684"/>
                <a:gd name="T37" fmla="*/ 69 h 302"/>
                <a:gd name="T38" fmla="*/ 205 w 684"/>
                <a:gd name="T39" fmla="*/ 110 h 302"/>
                <a:gd name="T40" fmla="*/ 276 w 684"/>
                <a:gd name="T41" fmla="*/ 95 h 302"/>
                <a:gd name="T42" fmla="*/ 350 w 684"/>
                <a:gd name="T43" fmla="*/ 95 h 302"/>
                <a:gd name="T44" fmla="*/ 288 w 684"/>
                <a:gd name="T45" fmla="*/ 56 h 302"/>
                <a:gd name="T46" fmla="*/ 266 w 684"/>
                <a:gd name="T47" fmla="*/ 32 h 302"/>
                <a:gd name="T48" fmla="*/ 249 w 684"/>
                <a:gd name="T49" fmla="*/ 1 h 302"/>
                <a:gd name="T50" fmla="*/ 268 w 684"/>
                <a:gd name="T51" fmla="*/ 18 h 302"/>
                <a:gd name="T52" fmla="*/ 293 w 684"/>
                <a:gd name="T53" fmla="*/ 49 h 302"/>
                <a:gd name="T54" fmla="*/ 355 w 684"/>
                <a:gd name="T55" fmla="*/ 83 h 302"/>
                <a:gd name="T56" fmla="*/ 367 w 684"/>
                <a:gd name="T57" fmla="*/ 53 h 302"/>
                <a:gd name="T58" fmla="*/ 370 w 684"/>
                <a:gd name="T59" fmla="*/ 19 h 302"/>
                <a:gd name="T60" fmla="*/ 381 w 684"/>
                <a:gd name="T61" fmla="*/ 41 h 302"/>
                <a:gd name="T62" fmla="*/ 390 w 684"/>
                <a:gd name="T63" fmla="*/ 101 h 302"/>
                <a:gd name="T64" fmla="*/ 455 w 684"/>
                <a:gd name="T65" fmla="*/ 135 h 302"/>
                <a:gd name="T66" fmla="*/ 500 w 684"/>
                <a:gd name="T67" fmla="*/ 163 h 302"/>
                <a:gd name="T68" fmla="*/ 585 w 684"/>
                <a:gd name="T69" fmla="*/ 193 h 302"/>
                <a:gd name="T70" fmla="*/ 621 w 684"/>
                <a:gd name="T71" fmla="*/ 211 h 302"/>
                <a:gd name="T72" fmla="*/ 584 w 684"/>
                <a:gd name="T73" fmla="*/ 167 h 302"/>
                <a:gd name="T74" fmla="*/ 559 w 684"/>
                <a:gd name="T75" fmla="*/ 119 h 302"/>
                <a:gd name="T76" fmla="*/ 567 w 684"/>
                <a:gd name="T77" fmla="*/ 75 h 302"/>
                <a:gd name="T78" fmla="*/ 531 w 684"/>
                <a:gd name="T79" fmla="*/ 33 h 302"/>
                <a:gd name="T80" fmla="*/ 562 w 684"/>
                <a:gd name="T81" fmla="*/ 50 h 302"/>
                <a:gd name="T82" fmla="*/ 578 w 684"/>
                <a:gd name="T83" fmla="*/ 95 h 302"/>
                <a:gd name="T84" fmla="*/ 602 w 684"/>
                <a:gd name="T85" fmla="*/ 41 h 302"/>
                <a:gd name="T86" fmla="*/ 615 w 684"/>
                <a:gd name="T87" fmla="*/ 49 h 302"/>
                <a:gd name="T88" fmla="*/ 587 w 684"/>
                <a:gd name="T89" fmla="*/ 111 h 302"/>
                <a:gd name="T90" fmla="*/ 595 w 684"/>
                <a:gd name="T91" fmla="*/ 159 h 302"/>
                <a:gd name="T92" fmla="*/ 646 w 684"/>
                <a:gd name="T93" fmla="*/ 211 h 302"/>
                <a:gd name="T94" fmla="*/ 679 w 684"/>
                <a:gd name="T95" fmla="*/ 262 h 3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84"/>
                <a:gd name="T145" fmla="*/ 0 h 302"/>
                <a:gd name="T146" fmla="*/ 684 w 684"/>
                <a:gd name="T147" fmla="*/ 302 h 3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84" h="302">
                  <a:moveTo>
                    <a:pt x="651" y="302"/>
                  </a:moveTo>
                  <a:lnTo>
                    <a:pt x="641" y="291"/>
                  </a:lnTo>
                  <a:lnTo>
                    <a:pt x="619" y="276"/>
                  </a:lnTo>
                  <a:lnTo>
                    <a:pt x="594" y="262"/>
                  </a:lnTo>
                  <a:lnTo>
                    <a:pt x="567" y="249"/>
                  </a:lnTo>
                  <a:lnTo>
                    <a:pt x="544" y="243"/>
                  </a:lnTo>
                  <a:lnTo>
                    <a:pt x="525" y="240"/>
                  </a:lnTo>
                  <a:lnTo>
                    <a:pt x="504" y="234"/>
                  </a:lnTo>
                  <a:lnTo>
                    <a:pt x="485" y="226"/>
                  </a:lnTo>
                  <a:lnTo>
                    <a:pt x="465" y="217"/>
                  </a:lnTo>
                  <a:lnTo>
                    <a:pt x="454" y="208"/>
                  </a:lnTo>
                  <a:lnTo>
                    <a:pt x="438" y="195"/>
                  </a:lnTo>
                  <a:lnTo>
                    <a:pt x="421" y="178"/>
                  </a:lnTo>
                  <a:lnTo>
                    <a:pt x="404" y="162"/>
                  </a:lnTo>
                  <a:lnTo>
                    <a:pt x="391" y="152"/>
                  </a:lnTo>
                  <a:lnTo>
                    <a:pt x="375" y="145"/>
                  </a:lnTo>
                  <a:lnTo>
                    <a:pt x="358" y="139"/>
                  </a:lnTo>
                  <a:lnTo>
                    <a:pt x="338" y="136"/>
                  </a:lnTo>
                  <a:lnTo>
                    <a:pt x="316" y="134"/>
                  </a:lnTo>
                  <a:lnTo>
                    <a:pt x="296" y="135"/>
                  </a:lnTo>
                  <a:lnTo>
                    <a:pt x="270" y="138"/>
                  </a:lnTo>
                  <a:lnTo>
                    <a:pt x="246" y="140"/>
                  </a:lnTo>
                  <a:lnTo>
                    <a:pt x="224" y="145"/>
                  </a:lnTo>
                  <a:lnTo>
                    <a:pt x="200" y="148"/>
                  </a:lnTo>
                  <a:lnTo>
                    <a:pt x="178" y="148"/>
                  </a:lnTo>
                  <a:lnTo>
                    <a:pt x="157" y="145"/>
                  </a:lnTo>
                  <a:lnTo>
                    <a:pt x="141" y="139"/>
                  </a:lnTo>
                  <a:lnTo>
                    <a:pt x="123" y="129"/>
                  </a:lnTo>
                  <a:lnTo>
                    <a:pt x="109" y="117"/>
                  </a:lnTo>
                  <a:lnTo>
                    <a:pt x="94" y="106"/>
                  </a:lnTo>
                  <a:lnTo>
                    <a:pt x="80" y="97"/>
                  </a:lnTo>
                  <a:lnTo>
                    <a:pt x="64" y="91"/>
                  </a:lnTo>
                  <a:lnTo>
                    <a:pt x="46" y="86"/>
                  </a:lnTo>
                  <a:lnTo>
                    <a:pt x="26" y="80"/>
                  </a:lnTo>
                  <a:lnTo>
                    <a:pt x="14" y="76"/>
                  </a:lnTo>
                  <a:lnTo>
                    <a:pt x="9" y="71"/>
                  </a:lnTo>
                  <a:lnTo>
                    <a:pt x="5" y="65"/>
                  </a:lnTo>
                  <a:lnTo>
                    <a:pt x="0" y="52"/>
                  </a:lnTo>
                  <a:lnTo>
                    <a:pt x="8" y="50"/>
                  </a:lnTo>
                  <a:lnTo>
                    <a:pt x="10" y="60"/>
                  </a:lnTo>
                  <a:lnTo>
                    <a:pt x="16" y="66"/>
                  </a:lnTo>
                  <a:lnTo>
                    <a:pt x="24" y="71"/>
                  </a:lnTo>
                  <a:lnTo>
                    <a:pt x="45" y="77"/>
                  </a:lnTo>
                  <a:lnTo>
                    <a:pt x="69" y="84"/>
                  </a:lnTo>
                  <a:lnTo>
                    <a:pt x="87" y="87"/>
                  </a:lnTo>
                  <a:lnTo>
                    <a:pt x="92" y="90"/>
                  </a:lnTo>
                  <a:lnTo>
                    <a:pt x="90" y="78"/>
                  </a:lnTo>
                  <a:lnTo>
                    <a:pt x="90" y="66"/>
                  </a:lnTo>
                  <a:lnTo>
                    <a:pt x="90" y="50"/>
                  </a:lnTo>
                  <a:lnTo>
                    <a:pt x="92" y="32"/>
                  </a:lnTo>
                  <a:lnTo>
                    <a:pt x="92" y="19"/>
                  </a:lnTo>
                  <a:lnTo>
                    <a:pt x="99" y="19"/>
                  </a:lnTo>
                  <a:lnTo>
                    <a:pt x="98" y="30"/>
                  </a:lnTo>
                  <a:lnTo>
                    <a:pt x="98" y="49"/>
                  </a:lnTo>
                  <a:lnTo>
                    <a:pt x="99" y="67"/>
                  </a:lnTo>
                  <a:lnTo>
                    <a:pt x="104" y="83"/>
                  </a:lnTo>
                  <a:lnTo>
                    <a:pt x="111" y="90"/>
                  </a:lnTo>
                  <a:lnTo>
                    <a:pt x="118" y="96"/>
                  </a:lnTo>
                  <a:lnTo>
                    <a:pt x="130" y="102"/>
                  </a:lnTo>
                  <a:lnTo>
                    <a:pt x="142" y="108"/>
                  </a:lnTo>
                  <a:lnTo>
                    <a:pt x="157" y="112"/>
                  </a:lnTo>
                  <a:lnTo>
                    <a:pt x="175" y="116"/>
                  </a:lnTo>
                  <a:lnTo>
                    <a:pt x="188" y="116"/>
                  </a:lnTo>
                  <a:lnTo>
                    <a:pt x="175" y="107"/>
                  </a:lnTo>
                  <a:lnTo>
                    <a:pt x="160" y="96"/>
                  </a:lnTo>
                  <a:lnTo>
                    <a:pt x="150" y="85"/>
                  </a:lnTo>
                  <a:lnTo>
                    <a:pt x="141" y="71"/>
                  </a:lnTo>
                  <a:lnTo>
                    <a:pt x="136" y="59"/>
                  </a:lnTo>
                  <a:lnTo>
                    <a:pt x="134" y="43"/>
                  </a:lnTo>
                  <a:lnTo>
                    <a:pt x="133" y="32"/>
                  </a:lnTo>
                  <a:lnTo>
                    <a:pt x="134" y="21"/>
                  </a:lnTo>
                  <a:lnTo>
                    <a:pt x="141" y="21"/>
                  </a:lnTo>
                  <a:lnTo>
                    <a:pt x="141" y="29"/>
                  </a:lnTo>
                  <a:lnTo>
                    <a:pt x="142" y="43"/>
                  </a:lnTo>
                  <a:lnTo>
                    <a:pt x="145" y="57"/>
                  </a:lnTo>
                  <a:lnTo>
                    <a:pt x="152" y="69"/>
                  </a:lnTo>
                  <a:lnTo>
                    <a:pt x="161" y="83"/>
                  </a:lnTo>
                  <a:lnTo>
                    <a:pt x="173" y="94"/>
                  </a:lnTo>
                  <a:lnTo>
                    <a:pt x="189" y="102"/>
                  </a:lnTo>
                  <a:lnTo>
                    <a:pt x="205" y="110"/>
                  </a:lnTo>
                  <a:lnTo>
                    <a:pt x="220" y="111"/>
                  </a:lnTo>
                  <a:lnTo>
                    <a:pt x="236" y="107"/>
                  </a:lnTo>
                  <a:lnTo>
                    <a:pt x="255" y="100"/>
                  </a:lnTo>
                  <a:lnTo>
                    <a:pt x="276" y="95"/>
                  </a:lnTo>
                  <a:lnTo>
                    <a:pt x="297" y="90"/>
                  </a:lnTo>
                  <a:lnTo>
                    <a:pt x="313" y="90"/>
                  </a:lnTo>
                  <a:lnTo>
                    <a:pt x="329" y="90"/>
                  </a:lnTo>
                  <a:lnTo>
                    <a:pt x="350" y="95"/>
                  </a:lnTo>
                  <a:lnTo>
                    <a:pt x="329" y="78"/>
                  </a:lnTo>
                  <a:lnTo>
                    <a:pt x="316" y="69"/>
                  </a:lnTo>
                  <a:lnTo>
                    <a:pt x="301" y="62"/>
                  </a:lnTo>
                  <a:lnTo>
                    <a:pt x="288" y="56"/>
                  </a:lnTo>
                  <a:lnTo>
                    <a:pt x="279" y="51"/>
                  </a:lnTo>
                  <a:lnTo>
                    <a:pt x="274" y="46"/>
                  </a:lnTo>
                  <a:lnTo>
                    <a:pt x="272" y="43"/>
                  </a:lnTo>
                  <a:lnTo>
                    <a:pt x="266" y="32"/>
                  </a:lnTo>
                  <a:lnTo>
                    <a:pt x="262" y="22"/>
                  </a:lnTo>
                  <a:lnTo>
                    <a:pt x="258" y="14"/>
                  </a:lnTo>
                  <a:lnTo>
                    <a:pt x="249" y="1"/>
                  </a:lnTo>
                  <a:lnTo>
                    <a:pt x="256" y="0"/>
                  </a:lnTo>
                  <a:lnTo>
                    <a:pt x="263" y="9"/>
                  </a:lnTo>
                  <a:lnTo>
                    <a:pt x="268" y="18"/>
                  </a:lnTo>
                  <a:lnTo>
                    <a:pt x="272" y="27"/>
                  </a:lnTo>
                  <a:lnTo>
                    <a:pt x="276" y="35"/>
                  </a:lnTo>
                  <a:lnTo>
                    <a:pt x="282" y="43"/>
                  </a:lnTo>
                  <a:lnTo>
                    <a:pt x="293" y="49"/>
                  </a:lnTo>
                  <a:lnTo>
                    <a:pt x="308" y="56"/>
                  </a:lnTo>
                  <a:lnTo>
                    <a:pt x="326" y="64"/>
                  </a:lnTo>
                  <a:lnTo>
                    <a:pt x="341" y="74"/>
                  </a:lnTo>
                  <a:lnTo>
                    <a:pt x="355" y="83"/>
                  </a:lnTo>
                  <a:lnTo>
                    <a:pt x="371" y="95"/>
                  </a:lnTo>
                  <a:lnTo>
                    <a:pt x="367" y="78"/>
                  </a:lnTo>
                  <a:lnTo>
                    <a:pt x="364" y="65"/>
                  </a:lnTo>
                  <a:lnTo>
                    <a:pt x="367" y="53"/>
                  </a:lnTo>
                  <a:lnTo>
                    <a:pt x="370" y="40"/>
                  </a:lnTo>
                  <a:lnTo>
                    <a:pt x="371" y="28"/>
                  </a:lnTo>
                  <a:lnTo>
                    <a:pt x="370" y="19"/>
                  </a:lnTo>
                  <a:lnTo>
                    <a:pt x="382" y="22"/>
                  </a:lnTo>
                  <a:lnTo>
                    <a:pt x="382" y="28"/>
                  </a:lnTo>
                  <a:lnTo>
                    <a:pt x="381" y="41"/>
                  </a:lnTo>
                  <a:lnTo>
                    <a:pt x="376" y="57"/>
                  </a:lnTo>
                  <a:lnTo>
                    <a:pt x="376" y="69"/>
                  </a:lnTo>
                  <a:lnTo>
                    <a:pt x="382" y="86"/>
                  </a:lnTo>
                  <a:lnTo>
                    <a:pt x="390" y="101"/>
                  </a:lnTo>
                  <a:lnTo>
                    <a:pt x="397" y="111"/>
                  </a:lnTo>
                  <a:lnTo>
                    <a:pt x="408" y="120"/>
                  </a:lnTo>
                  <a:lnTo>
                    <a:pt x="425" y="125"/>
                  </a:lnTo>
                  <a:lnTo>
                    <a:pt x="455" y="135"/>
                  </a:lnTo>
                  <a:lnTo>
                    <a:pt x="477" y="145"/>
                  </a:lnTo>
                  <a:lnTo>
                    <a:pt x="485" y="151"/>
                  </a:lnTo>
                  <a:lnTo>
                    <a:pt x="494" y="158"/>
                  </a:lnTo>
                  <a:lnTo>
                    <a:pt x="500" y="163"/>
                  </a:lnTo>
                  <a:lnTo>
                    <a:pt x="509" y="166"/>
                  </a:lnTo>
                  <a:lnTo>
                    <a:pt x="540" y="176"/>
                  </a:lnTo>
                  <a:lnTo>
                    <a:pt x="565" y="185"/>
                  </a:lnTo>
                  <a:lnTo>
                    <a:pt x="585" y="193"/>
                  </a:lnTo>
                  <a:lnTo>
                    <a:pt x="608" y="207"/>
                  </a:lnTo>
                  <a:lnTo>
                    <a:pt x="621" y="215"/>
                  </a:lnTo>
                  <a:lnTo>
                    <a:pt x="621" y="211"/>
                  </a:lnTo>
                  <a:lnTo>
                    <a:pt x="617" y="203"/>
                  </a:lnTo>
                  <a:lnTo>
                    <a:pt x="608" y="190"/>
                  </a:lnTo>
                  <a:lnTo>
                    <a:pt x="596" y="178"/>
                  </a:lnTo>
                  <a:lnTo>
                    <a:pt x="584" y="167"/>
                  </a:lnTo>
                  <a:lnTo>
                    <a:pt x="574" y="158"/>
                  </a:lnTo>
                  <a:lnTo>
                    <a:pt x="566" y="148"/>
                  </a:lnTo>
                  <a:lnTo>
                    <a:pt x="561" y="134"/>
                  </a:lnTo>
                  <a:lnTo>
                    <a:pt x="559" y="119"/>
                  </a:lnTo>
                  <a:lnTo>
                    <a:pt x="562" y="102"/>
                  </a:lnTo>
                  <a:lnTo>
                    <a:pt x="566" y="90"/>
                  </a:lnTo>
                  <a:lnTo>
                    <a:pt x="567" y="82"/>
                  </a:lnTo>
                  <a:lnTo>
                    <a:pt x="567" y="75"/>
                  </a:lnTo>
                  <a:lnTo>
                    <a:pt x="565" y="66"/>
                  </a:lnTo>
                  <a:lnTo>
                    <a:pt x="561" y="61"/>
                  </a:lnTo>
                  <a:lnTo>
                    <a:pt x="546" y="49"/>
                  </a:lnTo>
                  <a:lnTo>
                    <a:pt x="531" y="33"/>
                  </a:lnTo>
                  <a:lnTo>
                    <a:pt x="541" y="32"/>
                  </a:lnTo>
                  <a:lnTo>
                    <a:pt x="551" y="41"/>
                  </a:lnTo>
                  <a:lnTo>
                    <a:pt x="562" y="50"/>
                  </a:lnTo>
                  <a:lnTo>
                    <a:pt x="568" y="57"/>
                  </a:lnTo>
                  <a:lnTo>
                    <a:pt x="575" y="66"/>
                  </a:lnTo>
                  <a:lnTo>
                    <a:pt x="578" y="77"/>
                  </a:lnTo>
                  <a:lnTo>
                    <a:pt x="578" y="95"/>
                  </a:lnTo>
                  <a:lnTo>
                    <a:pt x="585" y="82"/>
                  </a:lnTo>
                  <a:lnTo>
                    <a:pt x="593" y="67"/>
                  </a:lnTo>
                  <a:lnTo>
                    <a:pt x="598" y="52"/>
                  </a:lnTo>
                  <a:lnTo>
                    <a:pt x="602" y="41"/>
                  </a:lnTo>
                  <a:lnTo>
                    <a:pt x="607" y="31"/>
                  </a:lnTo>
                  <a:lnTo>
                    <a:pt x="615" y="34"/>
                  </a:lnTo>
                  <a:lnTo>
                    <a:pt x="620" y="40"/>
                  </a:lnTo>
                  <a:lnTo>
                    <a:pt x="615" y="49"/>
                  </a:lnTo>
                  <a:lnTo>
                    <a:pt x="608" y="64"/>
                  </a:lnTo>
                  <a:lnTo>
                    <a:pt x="601" y="80"/>
                  </a:lnTo>
                  <a:lnTo>
                    <a:pt x="594" y="98"/>
                  </a:lnTo>
                  <a:lnTo>
                    <a:pt x="587" y="111"/>
                  </a:lnTo>
                  <a:lnTo>
                    <a:pt x="584" y="123"/>
                  </a:lnTo>
                  <a:lnTo>
                    <a:pt x="584" y="136"/>
                  </a:lnTo>
                  <a:lnTo>
                    <a:pt x="587" y="148"/>
                  </a:lnTo>
                  <a:lnTo>
                    <a:pt x="595" y="159"/>
                  </a:lnTo>
                  <a:lnTo>
                    <a:pt x="607" y="169"/>
                  </a:lnTo>
                  <a:lnTo>
                    <a:pt x="620" y="183"/>
                  </a:lnTo>
                  <a:lnTo>
                    <a:pt x="634" y="198"/>
                  </a:lnTo>
                  <a:lnTo>
                    <a:pt x="646" y="211"/>
                  </a:lnTo>
                  <a:lnTo>
                    <a:pt x="659" y="226"/>
                  </a:lnTo>
                  <a:lnTo>
                    <a:pt x="667" y="238"/>
                  </a:lnTo>
                  <a:lnTo>
                    <a:pt x="674" y="249"/>
                  </a:lnTo>
                  <a:lnTo>
                    <a:pt x="679" y="262"/>
                  </a:lnTo>
                  <a:lnTo>
                    <a:pt x="684" y="274"/>
                  </a:lnTo>
                  <a:lnTo>
                    <a:pt x="651" y="302"/>
                  </a:lnTo>
                  <a:close/>
                </a:path>
              </a:pathLst>
            </a:custGeom>
            <a:solidFill>
              <a:srgbClr val="FFFFFF"/>
            </a:solidFill>
            <a:ln w="0">
              <a:solidFill>
                <a:srgbClr val="FFFFFF"/>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52" name="Freeform 56">
              <a:extLst>
                <a:ext uri="{FF2B5EF4-FFF2-40B4-BE49-F238E27FC236}">
                  <a16:creationId xmlns:a16="http://schemas.microsoft.com/office/drawing/2014/main" id="{4735DC8B-86AE-264C-B5E5-AE46378AC9ED}"/>
                </a:ext>
              </a:extLst>
            </p:cNvPr>
            <p:cNvSpPr>
              <a:spLocks/>
            </p:cNvSpPr>
            <p:nvPr/>
          </p:nvSpPr>
          <p:spPr bwMode="auto">
            <a:xfrm>
              <a:off x="1208" y="1427"/>
              <a:ext cx="5" cy="13"/>
            </a:xfrm>
            <a:custGeom>
              <a:avLst/>
              <a:gdLst>
                <a:gd name="T0" fmla="*/ 14 w 14"/>
                <a:gd name="T1" fmla="*/ 40 h 40"/>
                <a:gd name="T2" fmla="*/ 7 w 14"/>
                <a:gd name="T3" fmla="*/ 26 h 40"/>
                <a:gd name="T4" fmla="*/ 2 w 14"/>
                <a:gd name="T5" fmla="*/ 17 h 40"/>
                <a:gd name="T6" fmla="*/ 0 w 14"/>
                <a:gd name="T7" fmla="*/ 9 h 40"/>
                <a:gd name="T8" fmla="*/ 0 w 14"/>
                <a:gd name="T9" fmla="*/ 0 h 40"/>
                <a:gd name="T10" fmla="*/ 0 60000 65536"/>
                <a:gd name="T11" fmla="*/ 0 60000 65536"/>
                <a:gd name="T12" fmla="*/ 0 60000 65536"/>
                <a:gd name="T13" fmla="*/ 0 60000 65536"/>
                <a:gd name="T14" fmla="*/ 0 60000 65536"/>
                <a:gd name="T15" fmla="*/ 0 w 14"/>
                <a:gd name="T16" fmla="*/ 0 h 40"/>
                <a:gd name="T17" fmla="*/ 14 w 14"/>
                <a:gd name="T18" fmla="*/ 40 h 40"/>
              </a:gdLst>
              <a:ahLst/>
              <a:cxnLst>
                <a:cxn ang="T10">
                  <a:pos x="T0" y="T1"/>
                </a:cxn>
                <a:cxn ang="T11">
                  <a:pos x="T2" y="T3"/>
                </a:cxn>
                <a:cxn ang="T12">
                  <a:pos x="T4" y="T5"/>
                </a:cxn>
                <a:cxn ang="T13">
                  <a:pos x="T6" y="T7"/>
                </a:cxn>
                <a:cxn ang="T14">
                  <a:pos x="T8" y="T9"/>
                </a:cxn>
              </a:cxnLst>
              <a:rect l="T15" t="T16" r="T17" b="T18"/>
              <a:pathLst>
                <a:path w="14" h="40">
                  <a:moveTo>
                    <a:pt x="14" y="40"/>
                  </a:moveTo>
                  <a:lnTo>
                    <a:pt x="7" y="26"/>
                  </a:lnTo>
                  <a:lnTo>
                    <a:pt x="2" y="17"/>
                  </a:lnTo>
                  <a:lnTo>
                    <a:pt x="0" y="9"/>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53" name="Freeform 57">
              <a:extLst>
                <a:ext uri="{FF2B5EF4-FFF2-40B4-BE49-F238E27FC236}">
                  <a16:creationId xmlns:a16="http://schemas.microsoft.com/office/drawing/2014/main" id="{E1D0272A-D98C-FE44-8AFD-B092BBA8EEE4}"/>
                </a:ext>
              </a:extLst>
            </p:cNvPr>
            <p:cNvSpPr>
              <a:spLocks/>
            </p:cNvSpPr>
            <p:nvPr/>
          </p:nvSpPr>
          <p:spPr bwMode="auto">
            <a:xfrm>
              <a:off x="1019" y="1277"/>
              <a:ext cx="70" cy="36"/>
            </a:xfrm>
            <a:custGeom>
              <a:avLst/>
              <a:gdLst>
                <a:gd name="T0" fmla="*/ 0 w 208"/>
                <a:gd name="T1" fmla="*/ 19 h 108"/>
                <a:gd name="T2" fmla="*/ 0 w 208"/>
                <a:gd name="T3" fmla="*/ 27 h 108"/>
                <a:gd name="T4" fmla="*/ 1 w 208"/>
                <a:gd name="T5" fmla="*/ 41 h 108"/>
                <a:gd name="T6" fmla="*/ 4 w 208"/>
                <a:gd name="T7" fmla="*/ 54 h 108"/>
                <a:gd name="T8" fmla="*/ 11 w 208"/>
                <a:gd name="T9" fmla="*/ 66 h 108"/>
                <a:gd name="T10" fmla="*/ 20 w 208"/>
                <a:gd name="T11" fmla="*/ 80 h 108"/>
                <a:gd name="T12" fmla="*/ 32 w 208"/>
                <a:gd name="T13" fmla="*/ 91 h 108"/>
                <a:gd name="T14" fmla="*/ 48 w 208"/>
                <a:gd name="T15" fmla="*/ 99 h 108"/>
                <a:gd name="T16" fmla="*/ 64 w 208"/>
                <a:gd name="T17" fmla="*/ 107 h 108"/>
                <a:gd name="T18" fmla="*/ 79 w 208"/>
                <a:gd name="T19" fmla="*/ 108 h 108"/>
                <a:gd name="T20" fmla="*/ 95 w 208"/>
                <a:gd name="T21" fmla="*/ 104 h 108"/>
                <a:gd name="T22" fmla="*/ 113 w 208"/>
                <a:gd name="T23" fmla="*/ 97 h 108"/>
                <a:gd name="T24" fmla="*/ 133 w 208"/>
                <a:gd name="T25" fmla="*/ 92 h 108"/>
                <a:gd name="T26" fmla="*/ 155 w 208"/>
                <a:gd name="T27" fmla="*/ 87 h 108"/>
                <a:gd name="T28" fmla="*/ 171 w 208"/>
                <a:gd name="T29" fmla="*/ 87 h 108"/>
                <a:gd name="T30" fmla="*/ 187 w 208"/>
                <a:gd name="T31" fmla="*/ 87 h 108"/>
                <a:gd name="T32" fmla="*/ 208 w 208"/>
                <a:gd name="T33" fmla="*/ 92 h 108"/>
                <a:gd name="T34" fmla="*/ 187 w 208"/>
                <a:gd name="T35" fmla="*/ 75 h 108"/>
                <a:gd name="T36" fmla="*/ 174 w 208"/>
                <a:gd name="T37" fmla="*/ 66 h 108"/>
                <a:gd name="T38" fmla="*/ 159 w 208"/>
                <a:gd name="T39" fmla="*/ 59 h 108"/>
                <a:gd name="T40" fmla="*/ 145 w 208"/>
                <a:gd name="T41" fmla="*/ 53 h 108"/>
                <a:gd name="T42" fmla="*/ 137 w 208"/>
                <a:gd name="T43" fmla="*/ 49 h 108"/>
                <a:gd name="T44" fmla="*/ 132 w 208"/>
                <a:gd name="T45" fmla="*/ 45 h 108"/>
                <a:gd name="T46" fmla="*/ 130 w 208"/>
                <a:gd name="T47" fmla="*/ 41 h 108"/>
                <a:gd name="T48" fmla="*/ 124 w 208"/>
                <a:gd name="T49" fmla="*/ 30 h 108"/>
                <a:gd name="T50" fmla="*/ 120 w 208"/>
                <a:gd name="T51" fmla="*/ 20 h 108"/>
                <a:gd name="T52" fmla="*/ 116 w 208"/>
                <a:gd name="T53" fmla="*/ 12 h 108"/>
                <a:gd name="T54" fmla="*/ 107 w 208"/>
                <a:gd name="T55" fmla="*/ 0 h 10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08"/>
                <a:gd name="T85" fmla="*/ 0 h 108"/>
                <a:gd name="T86" fmla="*/ 208 w 208"/>
                <a:gd name="T87" fmla="*/ 108 h 10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08" h="108">
                  <a:moveTo>
                    <a:pt x="0" y="19"/>
                  </a:moveTo>
                  <a:lnTo>
                    <a:pt x="0" y="27"/>
                  </a:lnTo>
                  <a:lnTo>
                    <a:pt x="1" y="41"/>
                  </a:lnTo>
                  <a:lnTo>
                    <a:pt x="4" y="54"/>
                  </a:lnTo>
                  <a:lnTo>
                    <a:pt x="11" y="66"/>
                  </a:lnTo>
                  <a:lnTo>
                    <a:pt x="20" y="80"/>
                  </a:lnTo>
                  <a:lnTo>
                    <a:pt x="32" y="91"/>
                  </a:lnTo>
                  <a:lnTo>
                    <a:pt x="48" y="99"/>
                  </a:lnTo>
                  <a:lnTo>
                    <a:pt x="64" y="107"/>
                  </a:lnTo>
                  <a:lnTo>
                    <a:pt x="79" y="108"/>
                  </a:lnTo>
                  <a:lnTo>
                    <a:pt x="95" y="104"/>
                  </a:lnTo>
                  <a:lnTo>
                    <a:pt x="113" y="97"/>
                  </a:lnTo>
                  <a:lnTo>
                    <a:pt x="133" y="92"/>
                  </a:lnTo>
                  <a:lnTo>
                    <a:pt x="155" y="87"/>
                  </a:lnTo>
                  <a:lnTo>
                    <a:pt x="171" y="87"/>
                  </a:lnTo>
                  <a:lnTo>
                    <a:pt x="187" y="87"/>
                  </a:lnTo>
                  <a:lnTo>
                    <a:pt x="208" y="92"/>
                  </a:lnTo>
                  <a:lnTo>
                    <a:pt x="187" y="75"/>
                  </a:lnTo>
                  <a:lnTo>
                    <a:pt x="174" y="66"/>
                  </a:lnTo>
                  <a:lnTo>
                    <a:pt x="159" y="59"/>
                  </a:lnTo>
                  <a:lnTo>
                    <a:pt x="145" y="53"/>
                  </a:lnTo>
                  <a:lnTo>
                    <a:pt x="137" y="49"/>
                  </a:lnTo>
                  <a:lnTo>
                    <a:pt x="132" y="45"/>
                  </a:lnTo>
                  <a:lnTo>
                    <a:pt x="130" y="41"/>
                  </a:lnTo>
                  <a:lnTo>
                    <a:pt x="124" y="30"/>
                  </a:lnTo>
                  <a:lnTo>
                    <a:pt x="120" y="20"/>
                  </a:lnTo>
                  <a:lnTo>
                    <a:pt x="116" y="12"/>
                  </a:lnTo>
                  <a:lnTo>
                    <a:pt x="107"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54" name="Freeform 58">
              <a:extLst>
                <a:ext uri="{FF2B5EF4-FFF2-40B4-BE49-F238E27FC236}">
                  <a16:creationId xmlns:a16="http://schemas.microsoft.com/office/drawing/2014/main" id="{5C10F073-98B2-4A40-8A61-23A227876834}"/>
                </a:ext>
              </a:extLst>
            </p:cNvPr>
            <p:cNvSpPr>
              <a:spLocks/>
            </p:cNvSpPr>
            <p:nvPr/>
          </p:nvSpPr>
          <p:spPr bwMode="auto">
            <a:xfrm>
              <a:off x="1005" y="1283"/>
              <a:ext cx="30" cy="32"/>
            </a:xfrm>
            <a:custGeom>
              <a:avLst/>
              <a:gdLst>
                <a:gd name="T0" fmla="*/ 36 w 90"/>
                <a:gd name="T1" fmla="*/ 3 h 97"/>
                <a:gd name="T2" fmla="*/ 35 w 90"/>
                <a:gd name="T3" fmla="*/ 13 h 97"/>
                <a:gd name="T4" fmla="*/ 36 w 90"/>
                <a:gd name="T5" fmla="*/ 24 h 97"/>
                <a:gd name="T6" fmla="*/ 38 w 90"/>
                <a:gd name="T7" fmla="*/ 41 h 97"/>
                <a:gd name="T8" fmla="*/ 43 w 90"/>
                <a:gd name="T9" fmla="*/ 52 h 97"/>
                <a:gd name="T10" fmla="*/ 52 w 90"/>
                <a:gd name="T11" fmla="*/ 66 h 97"/>
                <a:gd name="T12" fmla="*/ 62 w 90"/>
                <a:gd name="T13" fmla="*/ 77 h 97"/>
                <a:gd name="T14" fmla="*/ 77 w 90"/>
                <a:gd name="T15" fmla="*/ 88 h 97"/>
                <a:gd name="T16" fmla="*/ 90 w 90"/>
                <a:gd name="T17" fmla="*/ 97 h 97"/>
                <a:gd name="T18" fmla="*/ 77 w 90"/>
                <a:gd name="T19" fmla="*/ 97 h 97"/>
                <a:gd name="T20" fmla="*/ 59 w 90"/>
                <a:gd name="T21" fmla="*/ 93 h 97"/>
                <a:gd name="T22" fmla="*/ 44 w 90"/>
                <a:gd name="T23" fmla="*/ 89 h 97"/>
                <a:gd name="T24" fmla="*/ 32 w 90"/>
                <a:gd name="T25" fmla="*/ 83 h 97"/>
                <a:gd name="T26" fmla="*/ 20 w 90"/>
                <a:gd name="T27" fmla="*/ 77 h 97"/>
                <a:gd name="T28" fmla="*/ 13 w 90"/>
                <a:gd name="T29" fmla="*/ 71 h 97"/>
                <a:gd name="T30" fmla="*/ 6 w 90"/>
                <a:gd name="T31" fmla="*/ 64 h 97"/>
                <a:gd name="T32" fmla="*/ 1 w 90"/>
                <a:gd name="T33" fmla="*/ 48 h 97"/>
                <a:gd name="T34" fmla="*/ 0 w 90"/>
                <a:gd name="T35" fmla="*/ 30 h 97"/>
                <a:gd name="T36" fmla="*/ 0 w 90"/>
                <a:gd name="T37" fmla="*/ 12 h 97"/>
                <a:gd name="T38" fmla="*/ 1 w 90"/>
                <a:gd name="T39" fmla="*/ 0 h 9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0"/>
                <a:gd name="T61" fmla="*/ 0 h 97"/>
                <a:gd name="T62" fmla="*/ 90 w 90"/>
                <a:gd name="T63" fmla="*/ 97 h 9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0" h="97">
                  <a:moveTo>
                    <a:pt x="36" y="3"/>
                  </a:moveTo>
                  <a:lnTo>
                    <a:pt x="35" y="13"/>
                  </a:lnTo>
                  <a:lnTo>
                    <a:pt x="36" y="24"/>
                  </a:lnTo>
                  <a:lnTo>
                    <a:pt x="38" y="41"/>
                  </a:lnTo>
                  <a:lnTo>
                    <a:pt x="43" y="52"/>
                  </a:lnTo>
                  <a:lnTo>
                    <a:pt x="52" y="66"/>
                  </a:lnTo>
                  <a:lnTo>
                    <a:pt x="62" y="77"/>
                  </a:lnTo>
                  <a:lnTo>
                    <a:pt x="77" y="88"/>
                  </a:lnTo>
                  <a:lnTo>
                    <a:pt x="90" y="97"/>
                  </a:lnTo>
                  <a:lnTo>
                    <a:pt x="77" y="97"/>
                  </a:lnTo>
                  <a:lnTo>
                    <a:pt x="59" y="93"/>
                  </a:lnTo>
                  <a:lnTo>
                    <a:pt x="44" y="89"/>
                  </a:lnTo>
                  <a:lnTo>
                    <a:pt x="32" y="83"/>
                  </a:lnTo>
                  <a:lnTo>
                    <a:pt x="20" y="77"/>
                  </a:lnTo>
                  <a:lnTo>
                    <a:pt x="13" y="71"/>
                  </a:lnTo>
                  <a:lnTo>
                    <a:pt x="6" y="64"/>
                  </a:lnTo>
                  <a:lnTo>
                    <a:pt x="1" y="48"/>
                  </a:lnTo>
                  <a:lnTo>
                    <a:pt x="0" y="30"/>
                  </a:lnTo>
                  <a:lnTo>
                    <a:pt x="0" y="12"/>
                  </a:lnTo>
                  <a:lnTo>
                    <a:pt x="1"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55" name="Freeform 59">
              <a:extLst>
                <a:ext uri="{FF2B5EF4-FFF2-40B4-BE49-F238E27FC236}">
                  <a16:creationId xmlns:a16="http://schemas.microsoft.com/office/drawing/2014/main" id="{091D8CAC-2F60-FD40-9BB8-B0E6F993BE3A}"/>
                </a:ext>
              </a:extLst>
            </p:cNvPr>
            <p:cNvSpPr>
              <a:spLocks/>
            </p:cNvSpPr>
            <p:nvPr/>
          </p:nvSpPr>
          <p:spPr bwMode="auto">
            <a:xfrm>
              <a:off x="975" y="1283"/>
              <a:ext cx="28" cy="23"/>
            </a:xfrm>
            <a:custGeom>
              <a:avLst/>
              <a:gdLst>
                <a:gd name="T0" fmla="*/ 83 w 83"/>
                <a:gd name="T1" fmla="*/ 0 h 71"/>
                <a:gd name="T2" fmla="*/ 83 w 83"/>
                <a:gd name="T3" fmla="*/ 13 h 71"/>
                <a:gd name="T4" fmla="*/ 81 w 83"/>
                <a:gd name="T5" fmla="*/ 31 h 71"/>
                <a:gd name="T6" fmla="*/ 81 w 83"/>
                <a:gd name="T7" fmla="*/ 47 h 71"/>
                <a:gd name="T8" fmla="*/ 81 w 83"/>
                <a:gd name="T9" fmla="*/ 59 h 71"/>
                <a:gd name="T10" fmla="*/ 83 w 83"/>
                <a:gd name="T11" fmla="*/ 71 h 71"/>
                <a:gd name="T12" fmla="*/ 79 w 83"/>
                <a:gd name="T13" fmla="*/ 68 h 71"/>
                <a:gd name="T14" fmla="*/ 61 w 83"/>
                <a:gd name="T15" fmla="*/ 65 h 71"/>
                <a:gd name="T16" fmla="*/ 37 w 83"/>
                <a:gd name="T17" fmla="*/ 58 h 71"/>
                <a:gd name="T18" fmla="*/ 16 w 83"/>
                <a:gd name="T19" fmla="*/ 52 h 71"/>
                <a:gd name="T20" fmla="*/ 8 w 83"/>
                <a:gd name="T21" fmla="*/ 47 h 71"/>
                <a:gd name="T22" fmla="*/ 2 w 83"/>
                <a:gd name="T23" fmla="*/ 41 h 71"/>
                <a:gd name="T24" fmla="*/ 0 w 83"/>
                <a:gd name="T25" fmla="*/ 31 h 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3"/>
                <a:gd name="T40" fmla="*/ 0 h 71"/>
                <a:gd name="T41" fmla="*/ 83 w 83"/>
                <a:gd name="T42" fmla="*/ 71 h 7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3" h="71">
                  <a:moveTo>
                    <a:pt x="83" y="0"/>
                  </a:moveTo>
                  <a:lnTo>
                    <a:pt x="83" y="13"/>
                  </a:lnTo>
                  <a:lnTo>
                    <a:pt x="81" y="31"/>
                  </a:lnTo>
                  <a:lnTo>
                    <a:pt x="81" y="47"/>
                  </a:lnTo>
                  <a:lnTo>
                    <a:pt x="81" y="59"/>
                  </a:lnTo>
                  <a:lnTo>
                    <a:pt x="83" y="71"/>
                  </a:lnTo>
                  <a:lnTo>
                    <a:pt x="79" y="68"/>
                  </a:lnTo>
                  <a:lnTo>
                    <a:pt x="61" y="65"/>
                  </a:lnTo>
                  <a:lnTo>
                    <a:pt x="37" y="58"/>
                  </a:lnTo>
                  <a:lnTo>
                    <a:pt x="16" y="52"/>
                  </a:lnTo>
                  <a:lnTo>
                    <a:pt x="8" y="47"/>
                  </a:lnTo>
                  <a:lnTo>
                    <a:pt x="2" y="41"/>
                  </a:lnTo>
                  <a:lnTo>
                    <a:pt x="0" y="31"/>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56" name="Freeform 60">
              <a:extLst>
                <a:ext uri="{FF2B5EF4-FFF2-40B4-BE49-F238E27FC236}">
                  <a16:creationId xmlns:a16="http://schemas.microsoft.com/office/drawing/2014/main" id="{837243AE-F669-674D-A05F-E57153FD6A0C}"/>
                </a:ext>
              </a:extLst>
            </p:cNvPr>
            <p:cNvSpPr>
              <a:spLocks/>
            </p:cNvSpPr>
            <p:nvPr/>
          </p:nvSpPr>
          <p:spPr bwMode="auto">
            <a:xfrm>
              <a:off x="1058" y="1276"/>
              <a:ext cx="38" cy="32"/>
            </a:xfrm>
            <a:custGeom>
              <a:avLst/>
              <a:gdLst>
                <a:gd name="T0" fmla="*/ 0 w 114"/>
                <a:gd name="T1" fmla="*/ 0 h 95"/>
                <a:gd name="T2" fmla="*/ 7 w 114"/>
                <a:gd name="T3" fmla="*/ 10 h 95"/>
                <a:gd name="T4" fmla="*/ 12 w 114"/>
                <a:gd name="T5" fmla="*/ 18 h 95"/>
                <a:gd name="T6" fmla="*/ 16 w 114"/>
                <a:gd name="T7" fmla="*/ 28 h 95"/>
                <a:gd name="T8" fmla="*/ 20 w 114"/>
                <a:gd name="T9" fmla="*/ 35 h 95"/>
                <a:gd name="T10" fmla="*/ 26 w 114"/>
                <a:gd name="T11" fmla="*/ 44 h 95"/>
                <a:gd name="T12" fmla="*/ 37 w 114"/>
                <a:gd name="T13" fmla="*/ 49 h 95"/>
                <a:gd name="T14" fmla="*/ 52 w 114"/>
                <a:gd name="T15" fmla="*/ 56 h 95"/>
                <a:gd name="T16" fmla="*/ 70 w 114"/>
                <a:gd name="T17" fmla="*/ 64 h 95"/>
                <a:gd name="T18" fmla="*/ 84 w 114"/>
                <a:gd name="T19" fmla="*/ 74 h 95"/>
                <a:gd name="T20" fmla="*/ 99 w 114"/>
                <a:gd name="T21" fmla="*/ 83 h 95"/>
                <a:gd name="T22" fmla="*/ 114 w 114"/>
                <a:gd name="T23" fmla="*/ 95 h 95"/>
                <a:gd name="T24" fmla="*/ 111 w 114"/>
                <a:gd name="T25" fmla="*/ 78 h 95"/>
                <a:gd name="T26" fmla="*/ 108 w 114"/>
                <a:gd name="T27" fmla="*/ 65 h 95"/>
                <a:gd name="T28" fmla="*/ 111 w 114"/>
                <a:gd name="T29" fmla="*/ 53 h 95"/>
                <a:gd name="T30" fmla="*/ 113 w 114"/>
                <a:gd name="T31" fmla="*/ 41 h 95"/>
                <a:gd name="T32" fmla="*/ 114 w 114"/>
                <a:gd name="T33" fmla="*/ 28 h 95"/>
                <a:gd name="T34" fmla="*/ 113 w 114"/>
                <a:gd name="T35" fmla="*/ 20 h 9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4"/>
                <a:gd name="T55" fmla="*/ 0 h 95"/>
                <a:gd name="T56" fmla="*/ 114 w 114"/>
                <a:gd name="T57" fmla="*/ 95 h 9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4" h="95">
                  <a:moveTo>
                    <a:pt x="0" y="0"/>
                  </a:moveTo>
                  <a:lnTo>
                    <a:pt x="7" y="10"/>
                  </a:lnTo>
                  <a:lnTo>
                    <a:pt x="12" y="18"/>
                  </a:lnTo>
                  <a:lnTo>
                    <a:pt x="16" y="28"/>
                  </a:lnTo>
                  <a:lnTo>
                    <a:pt x="20" y="35"/>
                  </a:lnTo>
                  <a:lnTo>
                    <a:pt x="26" y="44"/>
                  </a:lnTo>
                  <a:lnTo>
                    <a:pt x="37" y="49"/>
                  </a:lnTo>
                  <a:lnTo>
                    <a:pt x="52" y="56"/>
                  </a:lnTo>
                  <a:lnTo>
                    <a:pt x="70" y="64"/>
                  </a:lnTo>
                  <a:lnTo>
                    <a:pt x="84" y="74"/>
                  </a:lnTo>
                  <a:lnTo>
                    <a:pt x="99" y="83"/>
                  </a:lnTo>
                  <a:lnTo>
                    <a:pt x="114" y="95"/>
                  </a:lnTo>
                  <a:lnTo>
                    <a:pt x="111" y="78"/>
                  </a:lnTo>
                  <a:lnTo>
                    <a:pt x="108" y="65"/>
                  </a:lnTo>
                  <a:lnTo>
                    <a:pt x="111" y="53"/>
                  </a:lnTo>
                  <a:lnTo>
                    <a:pt x="113" y="41"/>
                  </a:lnTo>
                  <a:lnTo>
                    <a:pt x="114" y="28"/>
                  </a:lnTo>
                  <a:lnTo>
                    <a:pt x="113" y="2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57" name="Freeform 61">
              <a:extLst>
                <a:ext uri="{FF2B5EF4-FFF2-40B4-BE49-F238E27FC236}">
                  <a16:creationId xmlns:a16="http://schemas.microsoft.com/office/drawing/2014/main" id="{04BD610D-74BB-5D49-AB2A-48DF72605327}"/>
                </a:ext>
              </a:extLst>
            </p:cNvPr>
            <p:cNvSpPr>
              <a:spLocks/>
            </p:cNvSpPr>
            <p:nvPr/>
          </p:nvSpPr>
          <p:spPr bwMode="auto">
            <a:xfrm>
              <a:off x="1152" y="1287"/>
              <a:ext cx="22" cy="21"/>
            </a:xfrm>
            <a:custGeom>
              <a:avLst/>
              <a:gdLst>
                <a:gd name="T0" fmla="*/ 66 w 66"/>
                <a:gd name="T1" fmla="*/ 0 h 64"/>
                <a:gd name="T2" fmla="*/ 61 w 66"/>
                <a:gd name="T3" fmla="*/ 10 h 64"/>
                <a:gd name="T4" fmla="*/ 57 w 66"/>
                <a:gd name="T5" fmla="*/ 21 h 64"/>
                <a:gd name="T6" fmla="*/ 51 w 66"/>
                <a:gd name="T7" fmla="*/ 36 h 64"/>
                <a:gd name="T8" fmla="*/ 44 w 66"/>
                <a:gd name="T9" fmla="*/ 51 h 64"/>
                <a:gd name="T10" fmla="*/ 37 w 66"/>
                <a:gd name="T11" fmla="*/ 64 h 64"/>
                <a:gd name="T12" fmla="*/ 37 w 66"/>
                <a:gd name="T13" fmla="*/ 46 h 64"/>
                <a:gd name="T14" fmla="*/ 34 w 66"/>
                <a:gd name="T15" fmla="*/ 35 h 64"/>
                <a:gd name="T16" fmla="*/ 27 w 66"/>
                <a:gd name="T17" fmla="*/ 26 h 64"/>
                <a:gd name="T18" fmla="*/ 21 w 66"/>
                <a:gd name="T19" fmla="*/ 19 h 64"/>
                <a:gd name="T20" fmla="*/ 10 w 66"/>
                <a:gd name="T21" fmla="*/ 10 h 64"/>
                <a:gd name="T22" fmla="*/ 0 w 66"/>
                <a:gd name="T23" fmla="*/ 1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6"/>
                <a:gd name="T37" fmla="*/ 0 h 64"/>
                <a:gd name="T38" fmla="*/ 66 w 66"/>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6" h="64">
                  <a:moveTo>
                    <a:pt x="66" y="0"/>
                  </a:moveTo>
                  <a:lnTo>
                    <a:pt x="61" y="10"/>
                  </a:lnTo>
                  <a:lnTo>
                    <a:pt x="57" y="21"/>
                  </a:lnTo>
                  <a:lnTo>
                    <a:pt x="51" y="36"/>
                  </a:lnTo>
                  <a:lnTo>
                    <a:pt x="44" y="51"/>
                  </a:lnTo>
                  <a:lnTo>
                    <a:pt x="37" y="64"/>
                  </a:lnTo>
                  <a:lnTo>
                    <a:pt x="37" y="46"/>
                  </a:lnTo>
                  <a:lnTo>
                    <a:pt x="34" y="35"/>
                  </a:lnTo>
                  <a:lnTo>
                    <a:pt x="27" y="26"/>
                  </a:lnTo>
                  <a:lnTo>
                    <a:pt x="21" y="19"/>
                  </a:lnTo>
                  <a:lnTo>
                    <a:pt x="10" y="10"/>
                  </a:lnTo>
                  <a:lnTo>
                    <a:pt x="0" y="1"/>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58" name="Freeform 62">
              <a:extLst>
                <a:ext uri="{FF2B5EF4-FFF2-40B4-BE49-F238E27FC236}">
                  <a16:creationId xmlns:a16="http://schemas.microsoft.com/office/drawing/2014/main" id="{92578B5D-2278-2D46-9E62-D10A60431E6F}"/>
                </a:ext>
              </a:extLst>
            </p:cNvPr>
            <p:cNvSpPr>
              <a:spLocks/>
            </p:cNvSpPr>
            <p:nvPr/>
          </p:nvSpPr>
          <p:spPr bwMode="auto">
            <a:xfrm>
              <a:off x="1098" y="1284"/>
              <a:ext cx="81" cy="64"/>
            </a:xfrm>
            <a:custGeom>
              <a:avLst/>
              <a:gdLst>
                <a:gd name="T0" fmla="*/ 155 w 245"/>
                <a:gd name="T1" fmla="*/ 11 h 192"/>
                <a:gd name="T2" fmla="*/ 170 w 245"/>
                <a:gd name="T3" fmla="*/ 27 h 192"/>
                <a:gd name="T4" fmla="*/ 185 w 245"/>
                <a:gd name="T5" fmla="*/ 39 h 192"/>
                <a:gd name="T6" fmla="*/ 189 w 245"/>
                <a:gd name="T7" fmla="*/ 43 h 192"/>
                <a:gd name="T8" fmla="*/ 191 w 245"/>
                <a:gd name="T9" fmla="*/ 53 h 192"/>
                <a:gd name="T10" fmla="*/ 191 w 245"/>
                <a:gd name="T11" fmla="*/ 60 h 192"/>
                <a:gd name="T12" fmla="*/ 190 w 245"/>
                <a:gd name="T13" fmla="*/ 67 h 192"/>
                <a:gd name="T14" fmla="*/ 186 w 245"/>
                <a:gd name="T15" fmla="*/ 81 h 192"/>
                <a:gd name="T16" fmla="*/ 183 w 245"/>
                <a:gd name="T17" fmla="*/ 96 h 192"/>
                <a:gd name="T18" fmla="*/ 185 w 245"/>
                <a:gd name="T19" fmla="*/ 111 h 192"/>
                <a:gd name="T20" fmla="*/ 190 w 245"/>
                <a:gd name="T21" fmla="*/ 125 h 192"/>
                <a:gd name="T22" fmla="*/ 198 w 245"/>
                <a:gd name="T23" fmla="*/ 135 h 192"/>
                <a:gd name="T24" fmla="*/ 208 w 245"/>
                <a:gd name="T25" fmla="*/ 144 h 192"/>
                <a:gd name="T26" fmla="*/ 220 w 245"/>
                <a:gd name="T27" fmla="*/ 155 h 192"/>
                <a:gd name="T28" fmla="*/ 232 w 245"/>
                <a:gd name="T29" fmla="*/ 167 h 192"/>
                <a:gd name="T30" fmla="*/ 241 w 245"/>
                <a:gd name="T31" fmla="*/ 180 h 192"/>
                <a:gd name="T32" fmla="*/ 245 w 245"/>
                <a:gd name="T33" fmla="*/ 188 h 192"/>
                <a:gd name="T34" fmla="*/ 245 w 245"/>
                <a:gd name="T35" fmla="*/ 192 h 192"/>
                <a:gd name="T36" fmla="*/ 232 w 245"/>
                <a:gd name="T37" fmla="*/ 184 h 192"/>
                <a:gd name="T38" fmla="*/ 209 w 245"/>
                <a:gd name="T39" fmla="*/ 170 h 192"/>
                <a:gd name="T40" fmla="*/ 189 w 245"/>
                <a:gd name="T41" fmla="*/ 162 h 192"/>
                <a:gd name="T42" fmla="*/ 164 w 245"/>
                <a:gd name="T43" fmla="*/ 153 h 192"/>
                <a:gd name="T44" fmla="*/ 133 w 245"/>
                <a:gd name="T45" fmla="*/ 143 h 192"/>
                <a:gd name="T46" fmla="*/ 124 w 245"/>
                <a:gd name="T47" fmla="*/ 140 h 192"/>
                <a:gd name="T48" fmla="*/ 118 w 245"/>
                <a:gd name="T49" fmla="*/ 135 h 192"/>
                <a:gd name="T50" fmla="*/ 109 w 245"/>
                <a:gd name="T51" fmla="*/ 128 h 192"/>
                <a:gd name="T52" fmla="*/ 101 w 245"/>
                <a:gd name="T53" fmla="*/ 122 h 192"/>
                <a:gd name="T54" fmla="*/ 79 w 245"/>
                <a:gd name="T55" fmla="*/ 112 h 192"/>
                <a:gd name="T56" fmla="*/ 49 w 245"/>
                <a:gd name="T57" fmla="*/ 102 h 192"/>
                <a:gd name="T58" fmla="*/ 32 w 245"/>
                <a:gd name="T59" fmla="*/ 97 h 192"/>
                <a:gd name="T60" fmla="*/ 21 w 245"/>
                <a:gd name="T61" fmla="*/ 89 h 192"/>
                <a:gd name="T62" fmla="*/ 14 w 245"/>
                <a:gd name="T63" fmla="*/ 79 h 192"/>
                <a:gd name="T64" fmla="*/ 6 w 245"/>
                <a:gd name="T65" fmla="*/ 64 h 192"/>
                <a:gd name="T66" fmla="*/ 0 w 245"/>
                <a:gd name="T67" fmla="*/ 48 h 192"/>
                <a:gd name="T68" fmla="*/ 0 w 245"/>
                <a:gd name="T69" fmla="*/ 36 h 192"/>
                <a:gd name="T70" fmla="*/ 5 w 245"/>
                <a:gd name="T71" fmla="*/ 19 h 192"/>
                <a:gd name="T72" fmla="*/ 6 w 245"/>
                <a:gd name="T73" fmla="*/ 6 h 192"/>
                <a:gd name="T74" fmla="*/ 6 w 245"/>
                <a:gd name="T75" fmla="*/ 0 h 19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192"/>
                <a:gd name="T116" fmla="*/ 245 w 245"/>
                <a:gd name="T117" fmla="*/ 192 h 19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192">
                  <a:moveTo>
                    <a:pt x="155" y="11"/>
                  </a:moveTo>
                  <a:lnTo>
                    <a:pt x="170" y="27"/>
                  </a:lnTo>
                  <a:lnTo>
                    <a:pt x="185" y="39"/>
                  </a:lnTo>
                  <a:lnTo>
                    <a:pt x="189" y="43"/>
                  </a:lnTo>
                  <a:lnTo>
                    <a:pt x="191" y="53"/>
                  </a:lnTo>
                  <a:lnTo>
                    <a:pt x="191" y="60"/>
                  </a:lnTo>
                  <a:lnTo>
                    <a:pt x="190" y="67"/>
                  </a:lnTo>
                  <a:lnTo>
                    <a:pt x="186" y="81"/>
                  </a:lnTo>
                  <a:lnTo>
                    <a:pt x="183" y="96"/>
                  </a:lnTo>
                  <a:lnTo>
                    <a:pt x="185" y="111"/>
                  </a:lnTo>
                  <a:lnTo>
                    <a:pt x="190" y="125"/>
                  </a:lnTo>
                  <a:lnTo>
                    <a:pt x="198" y="135"/>
                  </a:lnTo>
                  <a:lnTo>
                    <a:pt x="208" y="144"/>
                  </a:lnTo>
                  <a:lnTo>
                    <a:pt x="220" y="155"/>
                  </a:lnTo>
                  <a:lnTo>
                    <a:pt x="232" y="167"/>
                  </a:lnTo>
                  <a:lnTo>
                    <a:pt x="241" y="180"/>
                  </a:lnTo>
                  <a:lnTo>
                    <a:pt x="245" y="188"/>
                  </a:lnTo>
                  <a:lnTo>
                    <a:pt x="245" y="192"/>
                  </a:lnTo>
                  <a:lnTo>
                    <a:pt x="232" y="184"/>
                  </a:lnTo>
                  <a:lnTo>
                    <a:pt x="209" y="170"/>
                  </a:lnTo>
                  <a:lnTo>
                    <a:pt x="189" y="162"/>
                  </a:lnTo>
                  <a:lnTo>
                    <a:pt x="164" y="153"/>
                  </a:lnTo>
                  <a:lnTo>
                    <a:pt x="133" y="143"/>
                  </a:lnTo>
                  <a:lnTo>
                    <a:pt x="124" y="140"/>
                  </a:lnTo>
                  <a:lnTo>
                    <a:pt x="118" y="135"/>
                  </a:lnTo>
                  <a:lnTo>
                    <a:pt x="109" y="128"/>
                  </a:lnTo>
                  <a:lnTo>
                    <a:pt x="101" y="122"/>
                  </a:lnTo>
                  <a:lnTo>
                    <a:pt x="79" y="112"/>
                  </a:lnTo>
                  <a:lnTo>
                    <a:pt x="49" y="102"/>
                  </a:lnTo>
                  <a:lnTo>
                    <a:pt x="32" y="97"/>
                  </a:lnTo>
                  <a:lnTo>
                    <a:pt x="21" y="89"/>
                  </a:lnTo>
                  <a:lnTo>
                    <a:pt x="14" y="79"/>
                  </a:lnTo>
                  <a:lnTo>
                    <a:pt x="6" y="64"/>
                  </a:lnTo>
                  <a:lnTo>
                    <a:pt x="0" y="48"/>
                  </a:lnTo>
                  <a:lnTo>
                    <a:pt x="0" y="36"/>
                  </a:lnTo>
                  <a:lnTo>
                    <a:pt x="5" y="19"/>
                  </a:lnTo>
                  <a:lnTo>
                    <a:pt x="6" y="6"/>
                  </a:lnTo>
                  <a:lnTo>
                    <a:pt x="6" y="0"/>
                  </a:lnTo>
                </a:path>
              </a:pathLst>
            </a:custGeom>
            <a:noFill/>
            <a:ln w="0">
              <a:solidFill>
                <a:srgbClr val="8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59" name="Freeform 63">
              <a:extLst>
                <a:ext uri="{FF2B5EF4-FFF2-40B4-BE49-F238E27FC236}">
                  <a16:creationId xmlns:a16="http://schemas.microsoft.com/office/drawing/2014/main" id="{9F3FA55B-5D52-844D-BF13-65D07B78D170}"/>
                </a:ext>
              </a:extLst>
            </p:cNvPr>
            <p:cNvSpPr>
              <a:spLocks/>
            </p:cNvSpPr>
            <p:nvPr/>
          </p:nvSpPr>
          <p:spPr bwMode="auto">
            <a:xfrm>
              <a:off x="1230" y="1277"/>
              <a:ext cx="51" cy="49"/>
            </a:xfrm>
            <a:custGeom>
              <a:avLst/>
              <a:gdLst>
                <a:gd name="T0" fmla="*/ 134 w 155"/>
                <a:gd name="T1" fmla="*/ 0 h 145"/>
                <a:gd name="T2" fmla="*/ 131 w 155"/>
                <a:gd name="T3" fmla="*/ 8 h 145"/>
                <a:gd name="T4" fmla="*/ 131 w 155"/>
                <a:gd name="T5" fmla="*/ 15 h 145"/>
                <a:gd name="T6" fmla="*/ 131 w 155"/>
                <a:gd name="T7" fmla="*/ 21 h 145"/>
                <a:gd name="T8" fmla="*/ 133 w 155"/>
                <a:gd name="T9" fmla="*/ 36 h 145"/>
                <a:gd name="T10" fmla="*/ 137 w 155"/>
                <a:gd name="T11" fmla="*/ 52 h 145"/>
                <a:gd name="T12" fmla="*/ 138 w 155"/>
                <a:gd name="T13" fmla="*/ 66 h 145"/>
                <a:gd name="T14" fmla="*/ 144 w 155"/>
                <a:gd name="T15" fmla="*/ 79 h 145"/>
                <a:gd name="T16" fmla="*/ 151 w 155"/>
                <a:gd name="T17" fmla="*/ 92 h 145"/>
                <a:gd name="T18" fmla="*/ 155 w 155"/>
                <a:gd name="T19" fmla="*/ 102 h 145"/>
                <a:gd name="T20" fmla="*/ 155 w 155"/>
                <a:gd name="T21" fmla="*/ 108 h 145"/>
                <a:gd name="T22" fmla="*/ 153 w 155"/>
                <a:gd name="T23" fmla="*/ 111 h 145"/>
                <a:gd name="T24" fmla="*/ 147 w 155"/>
                <a:gd name="T25" fmla="*/ 115 h 145"/>
                <a:gd name="T26" fmla="*/ 137 w 155"/>
                <a:gd name="T27" fmla="*/ 117 h 145"/>
                <a:gd name="T28" fmla="*/ 122 w 155"/>
                <a:gd name="T29" fmla="*/ 116 h 145"/>
                <a:gd name="T30" fmla="*/ 109 w 155"/>
                <a:gd name="T31" fmla="*/ 116 h 145"/>
                <a:gd name="T32" fmla="*/ 101 w 155"/>
                <a:gd name="T33" fmla="*/ 119 h 145"/>
                <a:gd name="T34" fmla="*/ 93 w 155"/>
                <a:gd name="T35" fmla="*/ 125 h 145"/>
                <a:gd name="T36" fmla="*/ 84 w 155"/>
                <a:gd name="T37" fmla="*/ 130 h 145"/>
                <a:gd name="T38" fmla="*/ 73 w 155"/>
                <a:gd name="T39" fmla="*/ 138 h 145"/>
                <a:gd name="T40" fmla="*/ 60 w 155"/>
                <a:gd name="T41" fmla="*/ 145 h 145"/>
                <a:gd name="T42" fmla="*/ 59 w 155"/>
                <a:gd name="T43" fmla="*/ 136 h 145"/>
                <a:gd name="T44" fmla="*/ 54 w 155"/>
                <a:gd name="T45" fmla="*/ 128 h 145"/>
                <a:gd name="T46" fmla="*/ 49 w 155"/>
                <a:gd name="T47" fmla="*/ 122 h 145"/>
                <a:gd name="T48" fmla="*/ 40 w 155"/>
                <a:gd name="T49" fmla="*/ 117 h 145"/>
                <a:gd name="T50" fmla="*/ 30 w 155"/>
                <a:gd name="T51" fmla="*/ 113 h 145"/>
                <a:gd name="T52" fmla="*/ 18 w 155"/>
                <a:gd name="T53" fmla="*/ 107 h 145"/>
                <a:gd name="T54" fmla="*/ 10 w 155"/>
                <a:gd name="T55" fmla="*/ 99 h 145"/>
                <a:gd name="T56" fmla="*/ 5 w 155"/>
                <a:gd name="T57" fmla="*/ 91 h 145"/>
                <a:gd name="T58" fmla="*/ 0 w 155"/>
                <a:gd name="T59" fmla="*/ 81 h 14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55"/>
                <a:gd name="T91" fmla="*/ 0 h 145"/>
                <a:gd name="T92" fmla="*/ 155 w 155"/>
                <a:gd name="T93" fmla="*/ 145 h 14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55" h="145">
                  <a:moveTo>
                    <a:pt x="134" y="0"/>
                  </a:moveTo>
                  <a:lnTo>
                    <a:pt x="131" y="8"/>
                  </a:lnTo>
                  <a:lnTo>
                    <a:pt x="131" y="15"/>
                  </a:lnTo>
                  <a:lnTo>
                    <a:pt x="131" y="21"/>
                  </a:lnTo>
                  <a:lnTo>
                    <a:pt x="133" y="36"/>
                  </a:lnTo>
                  <a:lnTo>
                    <a:pt x="137" y="52"/>
                  </a:lnTo>
                  <a:lnTo>
                    <a:pt x="138" y="66"/>
                  </a:lnTo>
                  <a:lnTo>
                    <a:pt x="144" y="79"/>
                  </a:lnTo>
                  <a:lnTo>
                    <a:pt x="151" y="92"/>
                  </a:lnTo>
                  <a:lnTo>
                    <a:pt x="155" y="102"/>
                  </a:lnTo>
                  <a:lnTo>
                    <a:pt x="155" y="108"/>
                  </a:lnTo>
                  <a:lnTo>
                    <a:pt x="153" y="111"/>
                  </a:lnTo>
                  <a:lnTo>
                    <a:pt x="147" y="115"/>
                  </a:lnTo>
                  <a:lnTo>
                    <a:pt x="137" y="117"/>
                  </a:lnTo>
                  <a:lnTo>
                    <a:pt x="122" y="116"/>
                  </a:lnTo>
                  <a:lnTo>
                    <a:pt x="109" y="116"/>
                  </a:lnTo>
                  <a:lnTo>
                    <a:pt x="101" y="119"/>
                  </a:lnTo>
                  <a:lnTo>
                    <a:pt x="93" y="125"/>
                  </a:lnTo>
                  <a:lnTo>
                    <a:pt x="84" y="130"/>
                  </a:lnTo>
                  <a:lnTo>
                    <a:pt x="73" y="138"/>
                  </a:lnTo>
                  <a:lnTo>
                    <a:pt x="60" y="145"/>
                  </a:lnTo>
                  <a:lnTo>
                    <a:pt x="59" y="136"/>
                  </a:lnTo>
                  <a:lnTo>
                    <a:pt x="54" y="128"/>
                  </a:lnTo>
                  <a:lnTo>
                    <a:pt x="49" y="122"/>
                  </a:lnTo>
                  <a:lnTo>
                    <a:pt x="40" y="117"/>
                  </a:lnTo>
                  <a:lnTo>
                    <a:pt x="30" y="113"/>
                  </a:lnTo>
                  <a:lnTo>
                    <a:pt x="18" y="107"/>
                  </a:lnTo>
                  <a:lnTo>
                    <a:pt x="10" y="99"/>
                  </a:lnTo>
                  <a:lnTo>
                    <a:pt x="5" y="91"/>
                  </a:lnTo>
                  <a:lnTo>
                    <a:pt x="0" y="81"/>
                  </a:lnTo>
                </a:path>
              </a:pathLst>
            </a:custGeom>
            <a:noFill/>
            <a:ln w="0">
              <a:solidFill>
                <a:srgbClr val="8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60" name="Freeform 64">
              <a:extLst>
                <a:ext uri="{FF2B5EF4-FFF2-40B4-BE49-F238E27FC236}">
                  <a16:creationId xmlns:a16="http://schemas.microsoft.com/office/drawing/2014/main" id="{20D49C78-DB22-FB48-A38C-D5F41F3720D2}"/>
                </a:ext>
              </a:extLst>
            </p:cNvPr>
            <p:cNvSpPr>
              <a:spLocks/>
            </p:cNvSpPr>
            <p:nvPr/>
          </p:nvSpPr>
          <p:spPr bwMode="auto">
            <a:xfrm>
              <a:off x="1276" y="1278"/>
              <a:ext cx="34" cy="37"/>
            </a:xfrm>
            <a:custGeom>
              <a:avLst/>
              <a:gdLst>
                <a:gd name="T0" fmla="*/ 102 w 102"/>
                <a:gd name="T1" fmla="*/ 14 h 110"/>
                <a:gd name="T2" fmla="*/ 93 w 102"/>
                <a:gd name="T3" fmla="*/ 21 h 110"/>
                <a:gd name="T4" fmla="*/ 85 w 102"/>
                <a:gd name="T5" fmla="*/ 32 h 110"/>
                <a:gd name="T6" fmla="*/ 77 w 102"/>
                <a:gd name="T7" fmla="*/ 44 h 110"/>
                <a:gd name="T8" fmla="*/ 70 w 102"/>
                <a:gd name="T9" fmla="*/ 62 h 110"/>
                <a:gd name="T10" fmla="*/ 61 w 102"/>
                <a:gd name="T11" fmla="*/ 80 h 110"/>
                <a:gd name="T12" fmla="*/ 52 w 102"/>
                <a:gd name="T13" fmla="*/ 94 h 110"/>
                <a:gd name="T14" fmla="*/ 43 w 102"/>
                <a:gd name="T15" fmla="*/ 105 h 110"/>
                <a:gd name="T16" fmla="*/ 34 w 102"/>
                <a:gd name="T17" fmla="*/ 110 h 110"/>
                <a:gd name="T18" fmla="*/ 32 w 102"/>
                <a:gd name="T19" fmla="*/ 96 h 110"/>
                <a:gd name="T20" fmla="*/ 26 w 102"/>
                <a:gd name="T21" fmla="*/ 84 h 110"/>
                <a:gd name="T22" fmla="*/ 18 w 102"/>
                <a:gd name="T23" fmla="*/ 72 h 110"/>
                <a:gd name="T24" fmla="*/ 12 w 102"/>
                <a:gd name="T25" fmla="*/ 59 h 110"/>
                <a:gd name="T26" fmla="*/ 6 w 102"/>
                <a:gd name="T27" fmla="*/ 45 h 110"/>
                <a:gd name="T28" fmla="*/ 4 w 102"/>
                <a:gd name="T29" fmla="*/ 32 h 110"/>
                <a:gd name="T30" fmla="*/ 1 w 102"/>
                <a:gd name="T31" fmla="*/ 17 h 110"/>
                <a:gd name="T32" fmla="*/ 0 w 102"/>
                <a:gd name="T33" fmla="*/ 12 h 110"/>
                <a:gd name="T34" fmla="*/ 0 w 102"/>
                <a:gd name="T35" fmla="*/ 6 h 110"/>
                <a:gd name="T36" fmla="*/ 3 w 102"/>
                <a:gd name="T37" fmla="*/ 0 h 11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2"/>
                <a:gd name="T58" fmla="*/ 0 h 110"/>
                <a:gd name="T59" fmla="*/ 102 w 102"/>
                <a:gd name="T60" fmla="*/ 110 h 11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2" h="110">
                  <a:moveTo>
                    <a:pt x="102" y="14"/>
                  </a:moveTo>
                  <a:lnTo>
                    <a:pt x="93" y="21"/>
                  </a:lnTo>
                  <a:lnTo>
                    <a:pt x="85" y="32"/>
                  </a:lnTo>
                  <a:lnTo>
                    <a:pt x="77" y="44"/>
                  </a:lnTo>
                  <a:lnTo>
                    <a:pt x="70" y="62"/>
                  </a:lnTo>
                  <a:lnTo>
                    <a:pt x="61" y="80"/>
                  </a:lnTo>
                  <a:lnTo>
                    <a:pt x="52" y="94"/>
                  </a:lnTo>
                  <a:lnTo>
                    <a:pt x="43" y="105"/>
                  </a:lnTo>
                  <a:lnTo>
                    <a:pt x="34" y="110"/>
                  </a:lnTo>
                  <a:lnTo>
                    <a:pt x="32" y="96"/>
                  </a:lnTo>
                  <a:lnTo>
                    <a:pt x="26" y="84"/>
                  </a:lnTo>
                  <a:lnTo>
                    <a:pt x="18" y="72"/>
                  </a:lnTo>
                  <a:lnTo>
                    <a:pt x="12" y="59"/>
                  </a:lnTo>
                  <a:lnTo>
                    <a:pt x="6" y="45"/>
                  </a:lnTo>
                  <a:lnTo>
                    <a:pt x="4" y="32"/>
                  </a:lnTo>
                  <a:lnTo>
                    <a:pt x="1" y="17"/>
                  </a:lnTo>
                  <a:lnTo>
                    <a:pt x="0" y="12"/>
                  </a:lnTo>
                  <a:lnTo>
                    <a:pt x="0" y="6"/>
                  </a:lnTo>
                  <a:lnTo>
                    <a:pt x="3"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61" name="Freeform 65">
              <a:extLst>
                <a:ext uri="{FF2B5EF4-FFF2-40B4-BE49-F238E27FC236}">
                  <a16:creationId xmlns:a16="http://schemas.microsoft.com/office/drawing/2014/main" id="{7507FCC3-AF6D-ED4F-9FAC-A0F36172797A}"/>
                </a:ext>
              </a:extLst>
            </p:cNvPr>
            <p:cNvSpPr>
              <a:spLocks/>
            </p:cNvSpPr>
            <p:nvPr/>
          </p:nvSpPr>
          <p:spPr bwMode="auto">
            <a:xfrm>
              <a:off x="972" y="1283"/>
              <a:ext cx="343" cy="244"/>
            </a:xfrm>
            <a:custGeom>
              <a:avLst/>
              <a:gdLst>
                <a:gd name="T0" fmla="*/ 1013 w 1028"/>
                <a:gd name="T1" fmla="*/ 12 h 731"/>
                <a:gd name="T2" fmla="*/ 987 w 1028"/>
                <a:gd name="T3" fmla="*/ 62 h 731"/>
                <a:gd name="T4" fmla="*/ 961 w 1028"/>
                <a:gd name="T5" fmla="*/ 103 h 731"/>
                <a:gd name="T6" fmla="*/ 900 w 1028"/>
                <a:gd name="T7" fmla="*/ 131 h 731"/>
                <a:gd name="T8" fmla="*/ 860 w 1028"/>
                <a:gd name="T9" fmla="*/ 162 h 731"/>
                <a:gd name="T10" fmla="*/ 854 w 1028"/>
                <a:gd name="T11" fmla="*/ 200 h 731"/>
                <a:gd name="T12" fmla="*/ 828 w 1028"/>
                <a:gd name="T13" fmla="*/ 231 h 731"/>
                <a:gd name="T14" fmla="*/ 782 w 1028"/>
                <a:gd name="T15" fmla="*/ 258 h 731"/>
                <a:gd name="T16" fmla="*/ 764 w 1028"/>
                <a:gd name="T17" fmla="*/ 314 h 731"/>
                <a:gd name="T18" fmla="*/ 746 w 1028"/>
                <a:gd name="T19" fmla="*/ 363 h 731"/>
                <a:gd name="T20" fmla="*/ 723 w 1028"/>
                <a:gd name="T21" fmla="*/ 412 h 731"/>
                <a:gd name="T22" fmla="*/ 723 w 1028"/>
                <a:gd name="T23" fmla="*/ 470 h 731"/>
                <a:gd name="T24" fmla="*/ 778 w 1028"/>
                <a:gd name="T25" fmla="*/ 556 h 731"/>
                <a:gd name="T26" fmla="*/ 803 w 1028"/>
                <a:gd name="T27" fmla="*/ 619 h 731"/>
                <a:gd name="T28" fmla="*/ 828 w 1028"/>
                <a:gd name="T29" fmla="*/ 671 h 731"/>
                <a:gd name="T30" fmla="*/ 867 w 1028"/>
                <a:gd name="T31" fmla="*/ 697 h 731"/>
                <a:gd name="T32" fmla="*/ 813 w 1028"/>
                <a:gd name="T33" fmla="*/ 686 h 731"/>
                <a:gd name="T34" fmla="*/ 754 w 1028"/>
                <a:gd name="T35" fmla="*/ 686 h 731"/>
                <a:gd name="T36" fmla="*/ 716 w 1028"/>
                <a:gd name="T37" fmla="*/ 710 h 731"/>
                <a:gd name="T38" fmla="*/ 700 w 1028"/>
                <a:gd name="T39" fmla="*/ 727 h 731"/>
                <a:gd name="T40" fmla="*/ 709 w 1028"/>
                <a:gd name="T41" fmla="*/ 677 h 731"/>
                <a:gd name="T42" fmla="*/ 684 w 1028"/>
                <a:gd name="T43" fmla="*/ 714 h 731"/>
                <a:gd name="T44" fmla="*/ 640 w 1028"/>
                <a:gd name="T45" fmla="*/ 709 h 731"/>
                <a:gd name="T46" fmla="*/ 581 w 1028"/>
                <a:gd name="T47" fmla="*/ 705 h 731"/>
                <a:gd name="T48" fmla="*/ 612 w 1028"/>
                <a:gd name="T49" fmla="*/ 681 h 731"/>
                <a:gd name="T50" fmla="*/ 633 w 1028"/>
                <a:gd name="T51" fmla="*/ 631 h 731"/>
                <a:gd name="T52" fmla="*/ 629 w 1028"/>
                <a:gd name="T53" fmla="*/ 564 h 731"/>
                <a:gd name="T54" fmla="*/ 626 w 1028"/>
                <a:gd name="T55" fmla="*/ 506 h 731"/>
                <a:gd name="T56" fmla="*/ 630 w 1028"/>
                <a:gd name="T57" fmla="*/ 450 h 731"/>
                <a:gd name="T58" fmla="*/ 634 w 1028"/>
                <a:gd name="T59" fmla="*/ 414 h 731"/>
                <a:gd name="T60" fmla="*/ 631 w 1028"/>
                <a:gd name="T61" fmla="*/ 361 h 731"/>
                <a:gd name="T62" fmla="*/ 654 w 1028"/>
                <a:gd name="T63" fmla="*/ 318 h 731"/>
                <a:gd name="T64" fmla="*/ 651 w 1028"/>
                <a:gd name="T65" fmla="*/ 280 h 731"/>
                <a:gd name="T66" fmla="*/ 594 w 1028"/>
                <a:gd name="T67" fmla="*/ 239 h 731"/>
                <a:gd name="T68" fmla="*/ 524 w 1028"/>
                <a:gd name="T69" fmla="*/ 217 h 731"/>
                <a:gd name="T70" fmla="*/ 465 w 1028"/>
                <a:gd name="T71" fmla="*/ 194 h 731"/>
                <a:gd name="T72" fmla="*/ 421 w 1028"/>
                <a:gd name="T73" fmla="*/ 156 h 731"/>
                <a:gd name="T74" fmla="*/ 375 w 1028"/>
                <a:gd name="T75" fmla="*/ 123 h 731"/>
                <a:gd name="T76" fmla="*/ 316 w 1028"/>
                <a:gd name="T77" fmla="*/ 112 h 731"/>
                <a:gd name="T78" fmla="*/ 246 w 1028"/>
                <a:gd name="T79" fmla="*/ 118 h 731"/>
                <a:gd name="T80" fmla="*/ 178 w 1028"/>
                <a:gd name="T81" fmla="*/ 126 h 731"/>
                <a:gd name="T82" fmla="*/ 123 w 1028"/>
                <a:gd name="T83" fmla="*/ 107 h 731"/>
                <a:gd name="T84" fmla="*/ 80 w 1028"/>
                <a:gd name="T85" fmla="*/ 75 h 731"/>
                <a:gd name="T86" fmla="*/ 26 w 1028"/>
                <a:gd name="T87" fmla="*/ 58 h 731"/>
                <a:gd name="T88" fmla="*/ 4 w 1028"/>
                <a:gd name="T89" fmla="*/ 43 h 7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028"/>
                <a:gd name="T136" fmla="*/ 0 h 731"/>
                <a:gd name="T137" fmla="*/ 1028 w 1028"/>
                <a:gd name="T138" fmla="*/ 731 h 73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028" h="731">
                  <a:moveTo>
                    <a:pt x="1028" y="0"/>
                  </a:moveTo>
                  <a:lnTo>
                    <a:pt x="1020" y="5"/>
                  </a:lnTo>
                  <a:lnTo>
                    <a:pt x="1013" y="12"/>
                  </a:lnTo>
                  <a:lnTo>
                    <a:pt x="1004" y="23"/>
                  </a:lnTo>
                  <a:lnTo>
                    <a:pt x="996" y="39"/>
                  </a:lnTo>
                  <a:lnTo>
                    <a:pt x="987" y="62"/>
                  </a:lnTo>
                  <a:lnTo>
                    <a:pt x="980" y="80"/>
                  </a:lnTo>
                  <a:lnTo>
                    <a:pt x="971" y="93"/>
                  </a:lnTo>
                  <a:lnTo>
                    <a:pt x="961" y="103"/>
                  </a:lnTo>
                  <a:lnTo>
                    <a:pt x="942" y="114"/>
                  </a:lnTo>
                  <a:lnTo>
                    <a:pt x="922" y="123"/>
                  </a:lnTo>
                  <a:lnTo>
                    <a:pt x="900" y="131"/>
                  </a:lnTo>
                  <a:lnTo>
                    <a:pt x="884" y="140"/>
                  </a:lnTo>
                  <a:lnTo>
                    <a:pt x="869" y="151"/>
                  </a:lnTo>
                  <a:lnTo>
                    <a:pt x="860" y="162"/>
                  </a:lnTo>
                  <a:lnTo>
                    <a:pt x="857" y="170"/>
                  </a:lnTo>
                  <a:lnTo>
                    <a:pt x="855" y="181"/>
                  </a:lnTo>
                  <a:lnTo>
                    <a:pt x="854" y="200"/>
                  </a:lnTo>
                  <a:lnTo>
                    <a:pt x="850" y="212"/>
                  </a:lnTo>
                  <a:lnTo>
                    <a:pt x="843" y="221"/>
                  </a:lnTo>
                  <a:lnTo>
                    <a:pt x="828" y="231"/>
                  </a:lnTo>
                  <a:lnTo>
                    <a:pt x="813" y="238"/>
                  </a:lnTo>
                  <a:lnTo>
                    <a:pt x="795" y="248"/>
                  </a:lnTo>
                  <a:lnTo>
                    <a:pt x="782" y="258"/>
                  </a:lnTo>
                  <a:lnTo>
                    <a:pt x="775" y="271"/>
                  </a:lnTo>
                  <a:lnTo>
                    <a:pt x="770" y="295"/>
                  </a:lnTo>
                  <a:lnTo>
                    <a:pt x="764" y="314"/>
                  </a:lnTo>
                  <a:lnTo>
                    <a:pt x="758" y="339"/>
                  </a:lnTo>
                  <a:lnTo>
                    <a:pt x="754" y="351"/>
                  </a:lnTo>
                  <a:lnTo>
                    <a:pt x="746" y="363"/>
                  </a:lnTo>
                  <a:lnTo>
                    <a:pt x="735" y="378"/>
                  </a:lnTo>
                  <a:lnTo>
                    <a:pt x="727" y="395"/>
                  </a:lnTo>
                  <a:lnTo>
                    <a:pt x="723" y="412"/>
                  </a:lnTo>
                  <a:lnTo>
                    <a:pt x="721" y="430"/>
                  </a:lnTo>
                  <a:lnTo>
                    <a:pt x="721" y="449"/>
                  </a:lnTo>
                  <a:lnTo>
                    <a:pt x="723" y="470"/>
                  </a:lnTo>
                  <a:lnTo>
                    <a:pt x="742" y="502"/>
                  </a:lnTo>
                  <a:lnTo>
                    <a:pt x="763" y="531"/>
                  </a:lnTo>
                  <a:lnTo>
                    <a:pt x="778" y="556"/>
                  </a:lnTo>
                  <a:lnTo>
                    <a:pt x="789" y="575"/>
                  </a:lnTo>
                  <a:lnTo>
                    <a:pt x="797" y="597"/>
                  </a:lnTo>
                  <a:lnTo>
                    <a:pt x="803" y="619"/>
                  </a:lnTo>
                  <a:lnTo>
                    <a:pt x="811" y="641"/>
                  </a:lnTo>
                  <a:lnTo>
                    <a:pt x="823" y="664"/>
                  </a:lnTo>
                  <a:lnTo>
                    <a:pt x="828" y="671"/>
                  </a:lnTo>
                  <a:lnTo>
                    <a:pt x="836" y="678"/>
                  </a:lnTo>
                  <a:lnTo>
                    <a:pt x="850" y="689"/>
                  </a:lnTo>
                  <a:lnTo>
                    <a:pt x="867" y="697"/>
                  </a:lnTo>
                  <a:lnTo>
                    <a:pt x="850" y="694"/>
                  </a:lnTo>
                  <a:lnTo>
                    <a:pt x="829" y="689"/>
                  </a:lnTo>
                  <a:lnTo>
                    <a:pt x="813" y="686"/>
                  </a:lnTo>
                  <a:lnTo>
                    <a:pt x="793" y="685"/>
                  </a:lnTo>
                  <a:lnTo>
                    <a:pt x="775" y="684"/>
                  </a:lnTo>
                  <a:lnTo>
                    <a:pt x="754" y="686"/>
                  </a:lnTo>
                  <a:lnTo>
                    <a:pt x="741" y="690"/>
                  </a:lnTo>
                  <a:lnTo>
                    <a:pt x="726" y="699"/>
                  </a:lnTo>
                  <a:lnTo>
                    <a:pt x="716" y="710"/>
                  </a:lnTo>
                  <a:lnTo>
                    <a:pt x="708" y="722"/>
                  </a:lnTo>
                  <a:lnTo>
                    <a:pt x="700" y="731"/>
                  </a:lnTo>
                  <a:lnTo>
                    <a:pt x="700" y="727"/>
                  </a:lnTo>
                  <a:lnTo>
                    <a:pt x="702" y="711"/>
                  </a:lnTo>
                  <a:lnTo>
                    <a:pt x="704" y="697"/>
                  </a:lnTo>
                  <a:lnTo>
                    <a:pt x="709" y="677"/>
                  </a:lnTo>
                  <a:lnTo>
                    <a:pt x="700" y="697"/>
                  </a:lnTo>
                  <a:lnTo>
                    <a:pt x="692" y="708"/>
                  </a:lnTo>
                  <a:lnTo>
                    <a:pt x="684" y="714"/>
                  </a:lnTo>
                  <a:lnTo>
                    <a:pt x="673" y="716"/>
                  </a:lnTo>
                  <a:lnTo>
                    <a:pt x="658" y="714"/>
                  </a:lnTo>
                  <a:lnTo>
                    <a:pt x="640" y="709"/>
                  </a:lnTo>
                  <a:lnTo>
                    <a:pt x="621" y="705"/>
                  </a:lnTo>
                  <a:lnTo>
                    <a:pt x="600" y="704"/>
                  </a:lnTo>
                  <a:lnTo>
                    <a:pt x="581" y="705"/>
                  </a:lnTo>
                  <a:lnTo>
                    <a:pt x="563" y="710"/>
                  </a:lnTo>
                  <a:lnTo>
                    <a:pt x="598" y="690"/>
                  </a:lnTo>
                  <a:lnTo>
                    <a:pt x="612" y="681"/>
                  </a:lnTo>
                  <a:lnTo>
                    <a:pt x="622" y="667"/>
                  </a:lnTo>
                  <a:lnTo>
                    <a:pt x="629" y="652"/>
                  </a:lnTo>
                  <a:lnTo>
                    <a:pt x="633" y="631"/>
                  </a:lnTo>
                  <a:lnTo>
                    <a:pt x="634" y="602"/>
                  </a:lnTo>
                  <a:lnTo>
                    <a:pt x="632" y="581"/>
                  </a:lnTo>
                  <a:lnTo>
                    <a:pt x="629" y="564"/>
                  </a:lnTo>
                  <a:lnTo>
                    <a:pt x="625" y="543"/>
                  </a:lnTo>
                  <a:lnTo>
                    <a:pt x="625" y="527"/>
                  </a:lnTo>
                  <a:lnTo>
                    <a:pt x="626" y="506"/>
                  </a:lnTo>
                  <a:lnTo>
                    <a:pt x="625" y="482"/>
                  </a:lnTo>
                  <a:lnTo>
                    <a:pt x="626" y="466"/>
                  </a:lnTo>
                  <a:lnTo>
                    <a:pt x="630" y="450"/>
                  </a:lnTo>
                  <a:lnTo>
                    <a:pt x="636" y="436"/>
                  </a:lnTo>
                  <a:lnTo>
                    <a:pt x="637" y="426"/>
                  </a:lnTo>
                  <a:lnTo>
                    <a:pt x="634" y="414"/>
                  </a:lnTo>
                  <a:lnTo>
                    <a:pt x="629" y="397"/>
                  </a:lnTo>
                  <a:lnTo>
                    <a:pt x="629" y="381"/>
                  </a:lnTo>
                  <a:lnTo>
                    <a:pt x="631" y="361"/>
                  </a:lnTo>
                  <a:lnTo>
                    <a:pt x="637" y="345"/>
                  </a:lnTo>
                  <a:lnTo>
                    <a:pt x="646" y="331"/>
                  </a:lnTo>
                  <a:lnTo>
                    <a:pt x="654" y="318"/>
                  </a:lnTo>
                  <a:lnTo>
                    <a:pt x="657" y="306"/>
                  </a:lnTo>
                  <a:lnTo>
                    <a:pt x="656" y="293"/>
                  </a:lnTo>
                  <a:lnTo>
                    <a:pt x="651" y="280"/>
                  </a:lnTo>
                  <a:lnTo>
                    <a:pt x="641" y="269"/>
                  </a:lnTo>
                  <a:lnTo>
                    <a:pt x="619" y="254"/>
                  </a:lnTo>
                  <a:lnTo>
                    <a:pt x="594" y="239"/>
                  </a:lnTo>
                  <a:lnTo>
                    <a:pt x="567" y="227"/>
                  </a:lnTo>
                  <a:lnTo>
                    <a:pt x="544" y="221"/>
                  </a:lnTo>
                  <a:lnTo>
                    <a:pt x="524" y="217"/>
                  </a:lnTo>
                  <a:lnTo>
                    <a:pt x="504" y="212"/>
                  </a:lnTo>
                  <a:lnTo>
                    <a:pt x="485" y="204"/>
                  </a:lnTo>
                  <a:lnTo>
                    <a:pt x="465" y="194"/>
                  </a:lnTo>
                  <a:lnTo>
                    <a:pt x="454" y="186"/>
                  </a:lnTo>
                  <a:lnTo>
                    <a:pt x="438" y="172"/>
                  </a:lnTo>
                  <a:lnTo>
                    <a:pt x="421" y="156"/>
                  </a:lnTo>
                  <a:lnTo>
                    <a:pt x="404" y="140"/>
                  </a:lnTo>
                  <a:lnTo>
                    <a:pt x="391" y="130"/>
                  </a:lnTo>
                  <a:lnTo>
                    <a:pt x="375" y="123"/>
                  </a:lnTo>
                  <a:lnTo>
                    <a:pt x="358" y="117"/>
                  </a:lnTo>
                  <a:lnTo>
                    <a:pt x="338" y="114"/>
                  </a:lnTo>
                  <a:lnTo>
                    <a:pt x="316" y="112"/>
                  </a:lnTo>
                  <a:lnTo>
                    <a:pt x="296" y="113"/>
                  </a:lnTo>
                  <a:lnTo>
                    <a:pt x="270" y="115"/>
                  </a:lnTo>
                  <a:lnTo>
                    <a:pt x="246" y="118"/>
                  </a:lnTo>
                  <a:lnTo>
                    <a:pt x="224" y="123"/>
                  </a:lnTo>
                  <a:lnTo>
                    <a:pt x="200" y="126"/>
                  </a:lnTo>
                  <a:lnTo>
                    <a:pt x="178" y="126"/>
                  </a:lnTo>
                  <a:lnTo>
                    <a:pt x="157" y="123"/>
                  </a:lnTo>
                  <a:lnTo>
                    <a:pt x="140" y="117"/>
                  </a:lnTo>
                  <a:lnTo>
                    <a:pt x="123" y="107"/>
                  </a:lnTo>
                  <a:lnTo>
                    <a:pt x="109" y="95"/>
                  </a:lnTo>
                  <a:lnTo>
                    <a:pt x="94" y="84"/>
                  </a:lnTo>
                  <a:lnTo>
                    <a:pt x="80" y="75"/>
                  </a:lnTo>
                  <a:lnTo>
                    <a:pt x="64" y="69"/>
                  </a:lnTo>
                  <a:lnTo>
                    <a:pt x="46" y="64"/>
                  </a:lnTo>
                  <a:lnTo>
                    <a:pt x="26" y="58"/>
                  </a:lnTo>
                  <a:lnTo>
                    <a:pt x="14" y="54"/>
                  </a:lnTo>
                  <a:lnTo>
                    <a:pt x="9" y="48"/>
                  </a:lnTo>
                  <a:lnTo>
                    <a:pt x="4" y="43"/>
                  </a:lnTo>
                  <a:lnTo>
                    <a:pt x="0" y="30"/>
                  </a:lnTo>
                </a:path>
              </a:pathLst>
            </a:custGeom>
            <a:noFill/>
            <a:ln w="0">
              <a:solidFill>
                <a:srgbClr val="8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62" name="Freeform 66">
              <a:extLst>
                <a:ext uri="{FF2B5EF4-FFF2-40B4-BE49-F238E27FC236}">
                  <a16:creationId xmlns:a16="http://schemas.microsoft.com/office/drawing/2014/main" id="{E17157A0-373B-664D-BDDA-3B5D0E034FA7}"/>
                </a:ext>
              </a:extLst>
            </p:cNvPr>
            <p:cNvSpPr>
              <a:spLocks/>
            </p:cNvSpPr>
            <p:nvPr/>
          </p:nvSpPr>
          <p:spPr bwMode="auto">
            <a:xfrm>
              <a:off x="1216" y="1283"/>
              <a:ext cx="30" cy="58"/>
            </a:xfrm>
            <a:custGeom>
              <a:avLst/>
              <a:gdLst>
                <a:gd name="T0" fmla="*/ 33 w 88"/>
                <a:gd name="T1" fmla="*/ 66 h 174"/>
                <a:gd name="T2" fmla="*/ 36 w 88"/>
                <a:gd name="T3" fmla="*/ 75 h 174"/>
                <a:gd name="T4" fmla="*/ 43 w 88"/>
                <a:gd name="T5" fmla="*/ 86 h 174"/>
                <a:gd name="T6" fmla="*/ 50 w 88"/>
                <a:gd name="T7" fmla="*/ 93 h 174"/>
                <a:gd name="T8" fmla="*/ 62 w 88"/>
                <a:gd name="T9" fmla="*/ 101 h 174"/>
                <a:gd name="T10" fmla="*/ 74 w 88"/>
                <a:gd name="T11" fmla="*/ 108 h 174"/>
                <a:gd name="T12" fmla="*/ 82 w 88"/>
                <a:gd name="T13" fmla="*/ 114 h 174"/>
                <a:gd name="T14" fmla="*/ 88 w 88"/>
                <a:gd name="T15" fmla="*/ 124 h 174"/>
                <a:gd name="T16" fmla="*/ 88 w 88"/>
                <a:gd name="T17" fmla="*/ 126 h 174"/>
                <a:gd name="T18" fmla="*/ 87 w 88"/>
                <a:gd name="T19" fmla="*/ 129 h 174"/>
                <a:gd name="T20" fmla="*/ 76 w 88"/>
                <a:gd name="T21" fmla="*/ 132 h 174"/>
                <a:gd name="T22" fmla="*/ 60 w 88"/>
                <a:gd name="T23" fmla="*/ 135 h 174"/>
                <a:gd name="T24" fmla="*/ 48 w 88"/>
                <a:gd name="T25" fmla="*/ 138 h 174"/>
                <a:gd name="T26" fmla="*/ 39 w 88"/>
                <a:gd name="T27" fmla="*/ 143 h 174"/>
                <a:gd name="T28" fmla="*/ 33 w 88"/>
                <a:gd name="T29" fmla="*/ 149 h 174"/>
                <a:gd name="T30" fmla="*/ 28 w 88"/>
                <a:gd name="T31" fmla="*/ 159 h 174"/>
                <a:gd name="T32" fmla="*/ 25 w 88"/>
                <a:gd name="T33" fmla="*/ 174 h 174"/>
                <a:gd name="T34" fmla="*/ 24 w 88"/>
                <a:gd name="T35" fmla="*/ 149 h 174"/>
                <a:gd name="T36" fmla="*/ 22 w 88"/>
                <a:gd name="T37" fmla="*/ 144 h 174"/>
                <a:gd name="T38" fmla="*/ 20 w 88"/>
                <a:gd name="T39" fmla="*/ 137 h 174"/>
                <a:gd name="T40" fmla="*/ 13 w 88"/>
                <a:gd name="T41" fmla="*/ 127 h 174"/>
                <a:gd name="T42" fmla="*/ 4 w 88"/>
                <a:gd name="T43" fmla="*/ 112 h 174"/>
                <a:gd name="T44" fmla="*/ 0 w 88"/>
                <a:gd name="T45" fmla="*/ 92 h 174"/>
                <a:gd name="T46" fmla="*/ 0 w 88"/>
                <a:gd name="T47" fmla="*/ 74 h 174"/>
                <a:gd name="T48" fmla="*/ 1 w 88"/>
                <a:gd name="T49" fmla="*/ 57 h 174"/>
                <a:gd name="T50" fmla="*/ 1 w 88"/>
                <a:gd name="T51" fmla="*/ 53 h 174"/>
                <a:gd name="T52" fmla="*/ 3 w 88"/>
                <a:gd name="T53" fmla="*/ 31 h 174"/>
                <a:gd name="T54" fmla="*/ 6 w 88"/>
                <a:gd name="T55" fmla="*/ 20 h 174"/>
                <a:gd name="T56" fmla="*/ 11 w 88"/>
                <a:gd name="T57" fmla="*/ 9 h 174"/>
                <a:gd name="T58" fmla="*/ 17 w 88"/>
                <a:gd name="T59" fmla="*/ 0 h 17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8"/>
                <a:gd name="T91" fmla="*/ 0 h 174"/>
                <a:gd name="T92" fmla="*/ 88 w 88"/>
                <a:gd name="T93" fmla="*/ 174 h 17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8" h="174">
                  <a:moveTo>
                    <a:pt x="33" y="66"/>
                  </a:moveTo>
                  <a:lnTo>
                    <a:pt x="36" y="75"/>
                  </a:lnTo>
                  <a:lnTo>
                    <a:pt x="43" y="86"/>
                  </a:lnTo>
                  <a:lnTo>
                    <a:pt x="50" y="93"/>
                  </a:lnTo>
                  <a:lnTo>
                    <a:pt x="62" y="101"/>
                  </a:lnTo>
                  <a:lnTo>
                    <a:pt x="74" y="108"/>
                  </a:lnTo>
                  <a:lnTo>
                    <a:pt x="82" y="114"/>
                  </a:lnTo>
                  <a:lnTo>
                    <a:pt x="88" y="124"/>
                  </a:lnTo>
                  <a:lnTo>
                    <a:pt x="88" y="126"/>
                  </a:lnTo>
                  <a:lnTo>
                    <a:pt x="87" y="129"/>
                  </a:lnTo>
                  <a:lnTo>
                    <a:pt x="76" y="132"/>
                  </a:lnTo>
                  <a:lnTo>
                    <a:pt x="60" y="135"/>
                  </a:lnTo>
                  <a:lnTo>
                    <a:pt x="48" y="138"/>
                  </a:lnTo>
                  <a:lnTo>
                    <a:pt x="39" y="143"/>
                  </a:lnTo>
                  <a:lnTo>
                    <a:pt x="33" y="149"/>
                  </a:lnTo>
                  <a:lnTo>
                    <a:pt x="28" y="159"/>
                  </a:lnTo>
                  <a:lnTo>
                    <a:pt x="25" y="174"/>
                  </a:lnTo>
                  <a:lnTo>
                    <a:pt x="24" y="149"/>
                  </a:lnTo>
                  <a:lnTo>
                    <a:pt x="22" y="144"/>
                  </a:lnTo>
                  <a:lnTo>
                    <a:pt x="20" y="137"/>
                  </a:lnTo>
                  <a:lnTo>
                    <a:pt x="13" y="127"/>
                  </a:lnTo>
                  <a:lnTo>
                    <a:pt x="4" y="112"/>
                  </a:lnTo>
                  <a:lnTo>
                    <a:pt x="0" y="92"/>
                  </a:lnTo>
                  <a:lnTo>
                    <a:pt x="0" y="74"/>
                  </a:lnTo>
                  <a:lnTo>
                    <a:pt x="1" y="57"/>
                  </a:lnTo>
                  <a:lnTo>
                    <a:pt x="1" y="53"/>
                  </a:lnTo>
                  <a:lnTo>
                    <a:pt x="3" y="31"/>
                  </a:lnTo>
                  <a:lnTo>
                    <a:pt x="6" y="20"/>
                  </a:lnTo>
                  <a:lnTo>
                    <a:pt x="11" y="9"/>
                  </a:lnTo>
                  <a:lnTo>
                    <a:pt x="17" y="0"/>
                  </a:lnTo>
                </a:path>
              </a:pathLst>
            </a:custGeom>
            <a:noFill/>
            <a:ln w="0">
              <a:solidFill>
                <a:srgbClr val="8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63" name="Freeform 67">
              <a:extLst>
                <a:ext uri="{FF2B5EF4-FFF2-40B4-BE49-F238E27FC236}">
                  <a16:creationId xmlns:a16="http://schemas.microsoft.com/office/drawing/2014/main" id="{3025F931-BB0C-0647-A6FC-04AF6FDCA399}"/>
                </a:ext>
              </a:extLst>
            </p:cNvPr>
            <p:cNvSpPr>
              <a:spLocks/>
            </p:cNvSpPr>
            <p:nvPr/>
          </p:nvSpPr>
          <p:spPr bwMode="auto">
            <a:xfrm>
              <a:off x="1204" y="1285"/>
              <a:ext cx="14" cy="40"/>
            </a:xfrm>
            <a:custGeom>
              <a:avLst/>
              <a:gdLst>
                <a:gd name="T0" fmla="*/ 40 w 40"/>
                <a:gd name="T1" fmla="*/ 0 h 119"/>
                <a:gd name="T2" fmla="*/ 36 w 40"/>
                <a:gd name="T3" fmla="*/ 7 h 119"/>
                <a:gd name="T4" fmla="*/ 32 w 40"/>
                <a:gd name="T5" fmla="*/ 17 h 119"/>
                <a:gd name="T6" fmla="*/ 29 w 40"/>
                <a:gd name="T7" fmla="*/ 31 h 119"/>
                <a:gd name="T8" fmla="*/ 27 w 40"/>
                <a:gd name="T9" fmla="*/ 49 h 119"/>
                <a:gd name="T10" fmla="*/ 27 w 40"/>
                <a:gd name="T11" fmla="*/ 49 h 119"/>
                <a:gd name="T12" fmla="*/ 27 w 40"/>
                <a:gd name="T13" fmla="*/ 59 h 119"/>
                <a:gd name="T14" fmla="*/ 25 w 40"/>
                <a:gd name="T15" fmla="*/ 74 h 119"/>
                <a:gd name="T16" fmla="*/ 25 w 40"/>
                <a:gd name="T17" fmla="*/ 90 h 119"/>
                <a:gd name="T18" fmla="*/ 24 w 40"/>
                <a:gd name="T19" fmla="*/ 102 h 119"/>
                <a:gd name="T20" fmla="*/ 19 w 40"/>
                <a:gd name="T21" fmla="*/ 119 h 119"/>
                <a:gd name="T22" fmla="*/ 12 w 40"/>
                <a:gd name="T23" fmla="*/ 107 h 119"/>
                <a:gd name="T24" fmla="*/ 5 w 40"/>
                <a:gd name="T25" fmla="*/ 95 h 119"/>
                <a:gd name="T26" fmla="*/ 2 w 40"/>
                <a:gd name="T27" fmla="*/ 84 h 119"/>
                <a:gd name="T28" fmla="*/ 0 w 40"/>
                <a:gd name="T29" fmla="*/ 70 h 119"/>
                <a:gd name="T30" fmla="*/ 0 w 40"/>
                <a:gd name="T31" fmla="*/ 56 h 119"/>
                <a:gd name="T32" fmla="*/ 0 w 40"/>
                <a:gd name="T33" fmla="*/ 43 h 119"/>
                <a:gd name="T34" fmla="*/ 1 w 40"/>
                <a:gd name="T35" fmla="*/ 38 h 119"/>
                <a:gd name="T36" fmla="*/ 2 w 40"/>
                <a:gd name="T37" fmla="*/ 20 h 119"/>
                <a:gd name="T38" fmla="*/ 4 w 40"/>
                <a:gd name="T39" fmla="*/ 12 h 11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
                <a:gd name="T61" fmla="*/ 0 h 119"/>
                <a:gd name="T62" fmla="*/ 40 w 40"/>
                <a:gd name="T63" fmla="*/ 119 h 11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 h="119">
                  <a:moveTo>
                    <a:pt x="40" y="0"/>
                  </a:moveTo>
                  <a:lnTo>
                    <a:pt x="36" y="7"/>
                  </a:lnTo>
                  <a:lnTo>
                    <a:pt x="32" y="17"/>
                  </a:lnTo>
                  <a:lnTo>
                    <a:pt x="29" y="31"/>
                  </a:lnTo>
                  <a:lnTo>
                    <a:pt x="27" y="49"/>
                  </a:lnTo>
                  <a:lnTo>
                    <a:pt x="27" y="59"/>
                  </a:lnTo>
                  <a:lnTo>
                    <a:pt x="25" y="74"/>
                  </a:lnTo>
                  <a:lnTo>
                    <a:pt x="25" y="90"/>
                  </a:lnTo>
                  <a:lnTo>
                    <a:pt x="24" y="102"/>
                  </a:lnTo>
                  <a:lnTo>
                    <a:pt x="19" y="119"/>
                  </a:lnTo>
                  <a:lnTo>
                    <a:pt x="12" y="107"/>
                  </a:lnTo>
                  <a:lnTo>
                    <a:pt x="5" y="95"/>
                  </a:lnTo>
                  <a:lnTo>
                    <a:pt x="2" y="84"/>
                  </a:lnTo>
                  <a:lnTo>
                    <a:pt x="0" y="70"/>
                  </a:lnTo>
                  <a:lnTo>
                    <a:pt x="0" y="56"/>
                  </a:lnTo>
                  <a:lnTo>
                    <a:pt x="0" y="43"/>
                  </a:lnTo>
                  <a:lnTo>
                    <a:pt x="1" y="38"/>
                  </a:lnTo>
                  <a:lnTo>
                    <a:pt x="2" y="20"/>
                  </a:lnTo>
                  <a:lnTo>
                    <a:pt x="4" y="1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64" name="Freeform 68">
              <a:extLst>
                <a:ext uri="{FF2B5EF4-FFF2-40B4-BE49-F238E27FC236}">
                  <a16:creationId xmlns:a16="http://schemas.microsoft.com/office/drawing/2014/main" id="{451E7E81-237E-2B4A-AA5F-026A6CB1896E}"/>
                </a:ext>
              </a:extLst>
            </p:cNvPr>
            <p:cNvSpPr>
              <a:spLocks/>
            </p:cNvSpPr>
            <p:nvPr/>
          </p:nvSpPr>
          <p:spPr bwMode="auto">
            <a:xfrm>
              <a:off x="1167" y="1289"/>
              <a:ext cx="40" cy="79"/>
            </a:xfrm>
            <a:custGeom>
              <a:avLst/>
              <a:gdLst>
                <a:gd name="T0" fmla="*/ 101 w 121"/>
                <a:gd name="T1" fmla="*/ 0 h 237"/>
                <a:gd name="T2" fmla="*/ 100 w 121"/>
                <a:gd name="T3" fmla="*/ 14 h 237"/>
                <a:gd name="T4" fmla="*/ 98 w 121"/>
                <a:gd name="T5" fmla="*/ 28 h 237"/>
                <a:gd name="T6" fmla="*/ 98 w 121"/>
                <a:gd name="T7" fmla="*/ 28 h 237"/>
                <a:gd name="T8" fmla="*/ 95 w 121"/>
                <a:gd name="T9" fmla="*/ 46 h 237"/>
                <a:gd name="T10" fmla="*/ 94 w 121"/>
                <a:gd name="T11" fmla="*/ 62 h 237"/>
                <a:gd name="T12" fmla="*/ 98 w 121"/>
                <a:gd name="T13" fmla="*/ 83 h 237"/>
                <a:gd name="T14" fmla="*/ 104 w 121"/>
                <a:gd name="T15" fmla="*/ 101 h 237"/>
                <a:gd name="T16" fmla="*/ 110 w 121"/>
                <a:gd name="T17" fmla="*/ 120 h 237"/>
                <a:gd name="T18" fmla="*/ 118 w 121"/>
                <a:gd name="T19" fmla="*/ 136 h 237"/>
                <a:gd name="T20" fmla="*/ 120 w 121"/>
                <a:gd name="T21" fmla="*/ 153 h 237"/>
                <a:gd name="T22" fmla="*/ 121 w 121"/>
                <a:gd name="T23" fmla="*/ 173 h 237"/>
                <a:gd name="T24" fmla="*/ 119 w 121"/>
                <a:gd name="T25" fmla="*/ 195 h 237"/>
                <a:gd name="T26" fmla="*/ 115 w 121"/>
                <a:gd name="T27" fmla="*/ 211 h 237"/>
                <a:gd name="T28" fmla="*/ 108 w 121"/>
                <a:gd name="T29" fmla="*/ 228 h 237"/>
                <a:gd name="T30" fmla="*/ 100 w 121"/>
                <a:gd name="T31" fmla="*/ 237 h 237"/>
                <a:gd name="T32" fmla="*/ 94 w 121"/>
                <a:gd name="T33" fmla="*/ 225 h 237"/>
                <a:gd name="T34" fmla="*/ 89 w 121"/>
                <a:gd name="T35" fmla="*/ 212 h 237"/>
                <a:gd name="T36" fmla="*/ 83 w 121"/>
                <a:gd name="T37" fmla="*/ 201 h 237"/>
                <a:gd name="T38" fmla="*/ 74 w 121"/>
                <a:gd name="T39" fmla="*/ 189 h 237"/>
                <a:gd name="T40" fmla="*/ 62 w 121"/>
                <a:gd name="T41" fmla="*/ 174 h 237"/>
                <a:gd name="T42" fmla="*/ 50 w 121"/>
                <a:gd name="T43" fmla="*/ 161 h 237"/>
                <a:gd name="T44" fmla="*/ 36 w 121"/>
                <a:gd name="T45" fmla="*/ 146 h 237"/>
                <a:gd name="T46" fmla="*/ 23 w 121"/>
                <a:gd name="T47" fmla="*/ 132 h 237"/>
                <a:gd name="T48" fmla="*/ 11 w 121"/>
                <a:gd name="T49" fmla="*/ 122 h 237"/>
                <a:gd name="T50" fmla="*/ 3 w 121"/>
                <a:gd name="T51" fmla="*/ 111 h 237"/>
                <a:gd name="T52" fmla="*/ 0 w 121"/>
                <a:gd name="T53" fmla="*/ 99 h 237"/>
                <a:gd name="T54" fmla="*/ 0 w 121"/>
                <a:gd name="T55" fmla="*/ 86 h 237"/>
                <a:gd name="T56" fmla="*/ 3 w 121"/>
                <a:gd name="T57" fmla="*/ 74 h 237"/>
                <a:gd name="T58" fmla="*/ 10 w 121"/>
                <a:gd name="T59" fmla="*/ 61 h 237"/>
                <a:gd name="T60" fmla="*/ 17 w 121"/>
                <a:gd name="T61" fmla="*/ 43 h 237"/>
                <a:gd name="T62" fmla="*/ 24 w 121"/>
                <a:gd name="T63" fmla="*/ 27 h 237"/>
                <a:gd name="T64" fmla="*/ 30 w 121"/>
                <a:gd name="T65" fmla="*/ 12 h 237"/>
                <a:gd name="T66" fmla="*/ 36 w 121"/>
                <a:gd name="T67" fmla="*/ 3 h 23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1"/>
                <a:gd name="T103" fmla="*/ 0 h 237"/>
                <a:gd name="T104" fmla="*/ 121 w 121"/>
                <a:gd name="T105" fmla="*/ 237 h 23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1" h="237">
                  <a:moveTo>
                    <a:pt x="101" y="0"/>
                  </a:moveTo>
                  <a:lnTo>
                    <a:pt x="100" y="14"/>
                  </a:lnTo>
                  <a:lnTo>
                    <a:pt x="98" y="28"/>
                  </a:lnTo>
                  <a:lnTo>
                    <a:pt x="95" y="46"/>
                  </a:lnTo>
                  <a:lnTo>
                    <a:pt x="94" y="62"/>
                  </a:lnTo>
                  <a:lnTo>
                    <a:pt x="98" y="83"/>
                  </a:lnTo>
                  <a:lnTo>
                    <a:pt x="104" y="101"/>
                  </a:lnTo>
                  <a:lnTo>
                    <a:pt x="110" y="120"/>
                  </a:lnTo>
                  <a:lnTo>
                    <a:pt x="118" y="136"/>
                  </a:lnTo>
                  <a:lnTo>
                    <a:pt x="120" y="153"/>
                  </a:lnTo>
                  <a:lnTo>
                    <a:pt x="121" y="173"/>
                  </a:lnTo>
                  <a:lnTo>
                    <a:pt x="119" y="195"/>
                  </a:lnTo>
                  <a:lnTo>
                    <a:pt x="115" y="211"/>
                  </a:lnTo>
                  <a:lnTo>
                    <a:pt x="108" y="228"/>
                  </a:lnTo>
                  <a:lnTo>
                    <a:pt x="100" y="237"/>
                  </a:lnTo>
                  <a:lnTo>
                    <a:pt x="94" y="225"/>
                  </a:lnTo>
                  <a:lnTo>
                    <a:pt x="89" y="212"/>
                  </a:lnTo>
                  <a:lnTo>
                    <a:pt x="83" y="201"/>
                  </a:lnTo>
                  <a:lnTo>
                    <a:pt x="74" y="189"/>
                  </a:lnTo>
                  <a:lnTo>
                    <a:pt x="62" y="174"/>
                  </a:lnTo>
                  <a:lnTo>
                    <a:pt x="50" y="161"/>
                  </a:lnTo>
                  <a:lnTo>
                    <a:pt x="36" y="146"/>
                  </a:lnTo>
                  <a:lnTo>
                    <a:pt x="23" y="132"/>
                  </a:lnTo>
                  <a:lnTo>
                    <a:pt x="11" y="122"/>
                  </a:lnTo>
                  <a:lnTo>
                    <a:pt x="3" y="111"/>
                  </a:lnTo>
                  <a:lnTo>
                    <a:pt x="0" y="99"/>
                  </a:lnTo>
                  <a:lnTo>
                    <a:pt x="0" y="86"/>
                  </a:lnTo>
                  <a:lnTo>
                    <a:pt x="3" y="74"/>
                  </a:lnTo>
                  <a:lnTo>
                    <a:pt x="10" y="61"/>
                  </a:lnTo>
                  <a:lnTo>
                    <a:pt x="17" y="43"/>
                  </a:lnTo>
                  <a:lnTo>
                    <a:pt x="24" y="27"/>
                  </a:lnTo>
                  <a:lnTo>
                    <a:pt x="30" y="12"/>
                  </a:lnTo>
                  <a:lnTo>
                    <a:pt x="36" y="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65" name="Freeform 69">
              <a:extLst>
                <a:ext uri="{FF2B5EF4-FFF2-40B4-BE49-F238E27FC236}">
                  <a16:creationId xmlns:a16="http://schemas.microsoft.com/office/drawing/2014/main" id="{DF7709F4-D934-A440-B20C-966B775B8607}"/>
                </a:ext>
              </a:extLst>
            </p:cNvPr>
            <p:cNvSpPr>
              <a:spLocks/>
            </p:cNvSpPr>
            <p:nvPr/>
          </p:nvSpPr>
          <p:spPr bwMode="auto">
            <a:xfrm>
              <a:off x="1159" y="1176"/>
              <a:ext cx="219" cy="113"/>
            </a:xfrm>
            <a:custGeom>
              <a:avLst/>
              <a:gdLst>
                <a:gd name="T0" fmla="*/ 422 w 659"/>
                <a:gd name="T1" fmla="*/ 14 h 337"/>
                <a:gd name="T2" fmla="*/ 447 w 659"/>
                <a:gd name="T3" fmla="*/ 3 h 337"/>
                <a:gd name="T4" fmla="*/ 469 w 659"/>
                <a:gd name="T5" fmla="*/ 0 h 337"/>
                <a:gd name="T6" fmla="*/ 489 w 659"/>
                <a:gd name="T7" fmla="*/ 8 h 337"/>
                <a:gd name="T8" fmla="*/ 503 w 659"/>
                <a:gd name="T9" fmla="*/ 38 h 337"/>
                <a:gd name="T10" fmla="*/ 520 w 659"/>
                <a:gd name="T11" fmla="*/ 76 h 337"/>
                <a:gd name="T12" fmla="*/ 533 w 659"/>
                <a:gd name="T13" fmla="*/ 94 h 337"/>
                <a:gd name="T14" fmla="*/ 560 w 659"/>
                <a:gd name="T15" fmla="*/ 107 h 337"/>
                <a:gd name="T16" fmla="*/ 603 w 659"/>
                <a:gd name="T17" fmla="*/ 131 h 337"/>
                <a:gd name="T18" fmla="*/ 636 w 659"/>
                <a:gd name="T19" fmla="*/ 162 h 337"/>
                <a:gd name="T20" fmla="*/ 656 w 659"/>
                <a:gd name="T21" fmla="*/ 204 h 337"/>
                <a:gd name="T22" fmla="*/ 658 w 659"/>
                <a:gd name="T23" fmla="*/ 249 h 337"/>
                <a:gd name="T24" fmla="*/ 647 w 659"/>
                <a:gd name="T25" fmla="*/ 279 h 337"/>
                <a:gd name="T26" fmla="*/ 623 w 659"/>
                <a:gd name="T27" fmla="*/ 300 h 337"/>
                <a:gd name="T28" fmla="*/ 590 w 659"/>
                <a:gd name="T29" fmla="*/ 310 h 337"/>
                <a:gd name="T30" fmla="*/ 569 w 659"/>
                <a:gd name="T31" fmla="*/ 319 h 337"/>
                <a:gd name="T32" fmla="*/ 546 w 659"/>
                <a:gd name="T33" fmla="*/ 333 h 337"/>
                <a:gd name="T34" fmla="*/ 518 w 659"/>
                <a:gd name="T35" fmla="*/ 335 h 337"/>
                <a:gd name="T36" fmla="*/ 468 w 659"/>
                <a:gd name="T37" fmla="*/ 322 h 337"/>
                <a:gd name="T38" fmla="*/ 439 w 659"/>
                <a:gd name="T39" fmla="*/ 320 h 337"/>
                <a:gd name="T40" fmla="*/ 408 w 659"/>
                <a:gd name="T41" fmla="*/ 320 h 337"/>
                <a:gd name="T42" fmla="*/ 371 w 659"/>
                <a:gd name="T43" fmla="*/ 308 h 337"/>
                <a:gd name="T44" fmla="*/ 340 w 659"/>
                <a:gd name="T45" fmla="*/ 300 h 337"/>
                <a:gd name="T46" fmla="*/ 309 w 659"/>
                <a:gd name="T47" fmla="*/ 289 h 337"/>
                <a:gd name="T48" fmla="*/ 277 w 659"/>
                <a:gd name="T49" fmla="*/ 286 h 337"/>
                <a:gd name="T50" fmla="*/ 249 w 659"/>
                <a:gd name="T51" fmla="*/ 295 h 337"/>
                <a:gd name="T52" fmla="*/ 215 w 659"/>
                <a:gd name="T53" fmla="*/ 311 h 337"/>
                <a:gd name="T54" fmla="*/ 190 w 659"/>
                <a:gd name="T55" fmla="*/ 320 h 337"/>
                <a:gd name="T56" fmla="*/ 161 w 659"/>
                <a:gd name="T57" fmla="*/ 330 h 337"/>
                <a:gd name="T58" fmla="*/ 141 w 659"/>
                <a:gd name="T59" fmla="*/ 337 h 337"/>
                <a:gd name="T60" fmla="*/ 126 w 659"/>
                <a:gd name="T61" fmla="*/ 337 h 337"/>
                <a:gd name="T62" fmla="*/ 92 w 659"/>
                <a:gd name="T63" fmla="*/ 326 h 337"/>
                <a:gd name="T64" fmla="*/ 62 w 659"/>
                <a:gd name="T65" fmla="*/ 303 h 337"/>
                <a:gd name="T66" fmla="*/ 43 w 659"/>
                <a:gd name="T67" fmla="*/ 273 h 337"/>
                <a:gd name="T68" fmla="*/ 30 w 659"/>
                <a:gd name="T69" fmla="*/ 227 h 337"/>
                <a:gd name="T70" fmla="*/ 11 w 659"/>
                <a:gd name="T71" fmla="*/ 189 h 337"/>
                <a:gd name="T72" fmla="*/ 0 w 659"/>
                <a:gd name="T73" fmla="*/ 158 h 337"/>
                <a:gd name="T74" fmla="*/ 4 w 659"/>
                <a:gd name="T75" fmla="*/ 130 h 337"/>
                <a:gd name="T76" fmla="*/ 23 w 659"/>
                <a:gd name="T77" fmla="*/ 100 h 337"/>
                <a:gd name="T78" fmla="*/ 47 w 659"/>
                <a:gd name="T79" fmla="*/ 78 h 337"/>
                <a:gd name="T80" fmla="*/ 64 w 659"/>
                <a:gd name="T81" fmla="*/ 59 h 337"/>
                <a:gd name="T82" fmla="*/ 97 w 659"/>
                <a:gd name="T83" fmla="*/ 49 h 337"/>
                <a:gd name="T84" fmla="*/ 144 w 659"/>
                <a:gd name="T85" fmla="*/ 50 h 337"/>
                <a:gd name="T86" fmla="*/ 223 w 659"/>
                <a:gd name="T87" fmla="*/ 60 h 337"/>
                <a:gd name="T88" fmla="*/ 277 w 659"/>
                <a:gd name="T89" fmla="*/ 57 h 337"/>
                <a:gd name="T90" fmla="*/ 330 w 659"/>
                <a:gd name="T91" fmla="*/ 45 h 337"/>
                <a:gd name="T92" fmla="*/ 370 w 659"/>
                <a:gd name="T93" fmla="*/ 31 h 337"/>
                <a:gd name="T94" fmla="*/ 398 w 659"/>
                <a:gd name="T95" fmla="*/ 18 h 33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59"/>
                <a:gd name="T145" fmla="*/ 0 h 337"/>
                <a:gd name="T146" fmla="*/ 659 w 659"/>
                <a:gd name="T147" fmla="*/ 337 h 33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59" h="337">
                  <a:moveTo>
                    <a:pt x="407" y="15"/>
                  </a:moveTo>
                  <a:lnTo>
                    <a:pt x="422" y="14"/>
                  </a:lnTo>
                  <a:lnTo>
                    <a:pt x="434" y="10"/>
                  </a:lnTo>
                  <a:lnTo>
                    <a:pt x="447" y="3"/>
                  </a:lnTo>
                  <a:lnTo>
                    <a:pt x="458" y="0"/>
                  </a:lnTo>
                  <a:lnTo>
                    <a:pt x="469" y="0"/>
                  </a:lnTo>
                  <a:lnTo>
                    <a:pt x="480" y="3"/>
                  </a:lnTo>
                  <a:lnTo>
                    <a:pt x="489" y="8"/>
                  </a:lnTo>
                  <a:lnTo>
                    <a:pt x="497" y="20"/>
                  </a:lnTo>
                  <a:lnTo>
                    <a:pt x="503" y="38"/>
                  </a:lnTo>
                  <a:lnTo>
                    <a:pt x="512" y="62"/>
                  </a:lnTo>
                  <a:lnTo>
                    <a:pt x="520" y="76"/>
                  </a:lnTo>
                  <a:lnTo>
                    <a:pt x="527" y="89"/>
                  </a:lnTo>
                  <a:lnTo>
                    <a:pt x="533" y="94"/>
                  </a:lnTo>
                  <a:lnTo>
                    <a:pt x="543" y="100"/>
                  </a:lnTo>
                  <a:lnTo>
                    <a:pt x="560" y="107"/>
                  </a:lnTo>
                  <a:lnTo>
                    <a:pt x="582" y="118"/>
                  </a:lnTo>
                  <a:lnTo>
                    <a:pt x="603" y="131"/>
                  </a:lnTo>
                  <a:lnTo>
                    <a:pt x="619" y="143"/>
                  </a:lnTo>
                  <a:lnTo>
                    <a:pt x="636" y="162"/>
                  </a:lnTo>
                  <a:lnTo>
                    <a:pt x="649" y="181"/>
                  </a:lnTo>
                  <a:lnTo>
                    <a:pt x="656" y="204"/>
                  </a:lnTo>
                  <a:lnTo>
                    <a:pt x="659" y="226"/>
                  </a:lnTo>
                  <a:lnTo>
                    <a:pt x="658" y="249"/>
                  </a:lnTo>
                  <a:lnTo>
                    <a:pt x="655" y="265"/>
                  </a:lnTo>
                  <a:lnTo>
                    <a:pt x="647" y="279"/>
                  </a:lnTo>
                  <a:lnTo>
                    <a:pt x="637" y="292"/>
                  </a:lnTo>
                  <a:lnTo>
                    <a:pt x="623" y="300"/>
                  </a:lnTo>
                  <a:lnTo>
                    <a:pt x="606" y="307"/>
                  </a:lnTo>
                  <a:lnTo>
                    <a:pt x="590" y="310"/>
                  </a:lnTo>
                  <a:lnTo>
                    <a:pt x="579" y="314"/>
                  </a:lnTo>
                  <a:lnTo>
                    <a:pt x="569" y="319"/>
                  </a:lnTo>
                  <a:lnTo>
                    <a:pt x="557" y="328"/>
                  </a:lnTo>
                  <a:lnTo>
                    <a:pt x="546" y="333"/>
                  </a:lnTo>
                  <a:lnTo>
                    <a:pt x="533" y="337"/>
                  </a:lnTo>
                  <a:lnTo>
                    <a:pt x="518" y="335"/>
                  </a:lnTo>
                  <a:lnTo>
                    <a:pt x="495" y="329"/>
                  </a:lnTo>
                  <a:lnTo>
                    <a:pt x="468" y="322"/>
                  </a:lnTo>
                  <a:lnTo>
                    <a:pt x="454" y="320"/>
                  </a:lnTo>
                  <a:lnTo>
                    <a:pt x="439" y="320"/>
                  </a:lnTo>
                  <a:lnTo>
                    <a:pt x="423" y="322"/>
                  </a:lnTo>
                  <a:lnTo>
                    <a:pt x="408" y="320"/>
                  </a:lnTo>
                  <a:lnTo>
                    <a:pt x="393" y="315"/>
                  </a:lnTo>
                  <a:lnTo>
                    <a:pt x="371" y="308"/>
                  </a:lnTo>
                  <a:lnTo>
                    <a:pt x="355" y="305"/>
                  </a:lnTo>
                  <a:lnTo>
                    <a:pt x="340" y="300"/>
                  </a:lnTo>
                  <a:lnTo>
                    <a:pt x="328" y="296"/>
                  </a:lnTo>
                  <a:lnTo>
                    <a:pt x="309" y="289"/>
                  </a:lnTo>
                  <a:lnTo>
                    <a:pt x="295" y="286"/>
                  </a:lnTo>
                  <a:lnTo>
                    <a:pt x="277" y="286"/>
                  </a:lnTo>
                  <a:lnTo>
                    <a:pt x="262" y="288"/>
                  </a:lnTo>
                  <a:lnTo>
                    <a:pt x="249" y="295"/>
                  </a:lnTo>
                  <a:lnTo>
                    <a:pt x="231" y="304"/>
                  </a:lnTo>
                  <a:lnTo>
                    <a:pt x="215" y="311"/>
                  </a:lnTo>
                  <a:lnTo>
                    <a:pt x="201" y="316"/>
                  </a:lnTo>
                  <a:lnTo>
                    <a:pt x="190" y="320"/>
                  </a:lnTo>
                  <a:lnTo>
                    <a:pt x="177" y="324"/>
                  </a:lnTo>
                  <a:lnTo>
                    <a:pt x="161" y="330"/>
                  </a:lnTo>
                  <a:lnTo>
                    <a:pt x="153" y="334"/>
                  </a:lnTo>
                  <a:lnTo>
                    <a:pt x="141" y="337"/>
                  </a:lnTo>
                  <a:lnTo>
                    <a:pt x="126" y="337"/>
                  </a:lnTo>
                  <a:lnTo>
                    <a:pt x="109" y="332"/>
                  </a:lnTo>
                  <a:lnTo>
                    <a:pt x="92" y="326"/>
                  </a:lnTo>
                  <a:lnTo>
                    <a:pt x="75" y="315"/>
                  </a:lnTo>
                  <a:lnTo>
                    <a:pt x="62" y="303"/>
                  </a:lnTo>
                  <a:lnTo>
                    <a:pt x="50" y="286"/>
                  </a:lnTo>
                  <a:lnTo>
                    <a:pt x="43" y="273"/>
                  </a:lnTo>
                  <a:lnTo>
                    <a:pt x="36" y="247"/>
                  </a:lnTo>
                  <a:lnTo>
                    <a:pt x="30" y="227"/>
                  </a:lnTo>
                  <a:lnTo>
                    <a:pt x="21" y="207"/>
                  </a:lnTo>
                  <a:lnTo>
                    <a:pt x="11" y="189"/>
                  </a:lnTo>
                  <a:lnTo>
                    <a:pt x="3" y="174"/>
                  </a:lnTo>
                  <a:lnTo>
                    <a:pt x="0" y="158"/>
                  </a:lnTo>
                  <a:lnTo>
                    <a:pt x="1" y="143"/>
                  </a:lnTo>
                  <a:lnTo>
                    <a:pt x="4" y="130"/>
                  </a:lnTo>
                  <a:lnTo>
                    <a:pt x="13" y="115"/>
                  </a:lnTo>
                  <a:lnTo>
                    <a:pt x="23" y="100"/>
                  </a:lnTo>
                  <a:lnTo>
                    <a:pt x="35" y="87"/>
                  </a:lnTo>
                  <a:lnTo>
                    <a:pt x="47" y="78"/>
                  </a:lnTo>
                  <a:lnTo>
                    <a:pt x="56" y="67"/>
                  </a:lnTo>
                  <a:lnTo>
                    <a:pt x="64" y="59"/>
                  </a:lnTo>
                  <a:lnTo>
                    <a:pt x="80" y="52"/>
                  </a:lnTo>
                  <a:lnTo>
                    <a:pt x="97" y="49"/>
                  </a:lnTo>
                  <a:lnTo>
                    <a:pt x="115" y="48"/>
                  </a:lnTo>
                  <a:lnTo>
                    <a:pt x="144" y="50"/>
                  </a:lnTo>
                  <a:lnTo>
                    <a:pt x="183" y="56"/>
                  </a:lnTo>
                  <a:lnTo>
                    <a:pt x="223" y="60"/>
                  </a:lnTo>
                  <a:lnTo>
                    <a:pt x="246" y="60"/>
                  </a:lnTo>
                  <a:lnTo>
                    <a:pt x="277" y="57"/>
                  </a:lnTo>
                  <a:lnTo>
                    <a:pt x="305" y="51"/>
                  </a:lnTo>
                  <a:lnTo>
                    <a:pt x="330" y="45"/>
                  </a:lnTo>
                  <a:lnTo>
                    <a:pt x="350" y="39"/>
                  </a:lnTo>
                  <a:lnTo>
                    <a:pt x="370" y="31"/>
                  </a:lnTo>
                  <a:lnTo>
                    <a:pt x="387" y="23"/>
                  </a:lnTo>
                  <a:lnTo>
                    <a:pt x="398" y="18"/>
                  </a:lnTo>
                  <a:lnTo>
                    <a:pt x="407" y="15"/>
                  </a:lnTo>
                  <a:close/>
                </a:path>
              </a:pathLst>
            </a:custGeom>
            <a:solidFill>
              <a:srgbClr val="00C000"/>
            </a:solidFill>
            <a:ln w="0">
              <a:solidFill>
                <a:srgbClr val="0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66" name="Freeform 70">
              <a:extLst>
                <a:ext uri="{FF2B5EF4-FFF2-40B4-BE49-F238E27FC236}">
                  <a16:creationId xmlns:a16="http://schemas.microsoft.com/office/drawing/2014/main" id="{D7C36FE5-C806-414E-A6B8-35EB16552372}"/>
                </a:ext>
              </a:extLst>
            </p:cNvPr>
            <p:cNvSpPr>
              <a:spLocks/>
            </p:cNvSpPr>
            <p:nvPr/>
          </p:nvSpPr>
          <p:spPr bwMode="auto">
            <a:xfrm>
              <a:off x="1008" y="1141"/>
              <a:ext cx="286" cy="157"/>
            </a:xfrm>
            <a:custGeom>
              <a:avLst/>
              <a:gdLst>
                <a:gd name="T0" fmla="*/ 577 w 859"/>
                <a:gd name="T1" fmla="*/ 457 h 471"/>
                <a:gd name="T2" fmla="*/ 574 w 859"/>
                <a:gd name="T3" fmla="*/ 471 h 471"/>
                <a:gd name="T4" fmla="*/ 535 w 859"/>
                <a:gd name="T5" fmla="*/ 462 h 471"/>
                <a:gd name="T6" fmla="*/ 512 w 859"/>
                <a:gd name="T7" fmla="*/ 446 h 471"/>
                <a:gd name="T8" fmla="*/ 506 w 859"/>
                <a:gd name="T9" fmla="*/ 440 h 471"/>
                <a:gd name="T10" fmla="*/ 499 w 859"/>
                <a:gd name="T11" fmla="*/ 437 h 471"/>
                <a:gd name="T12" fmla="*/ 471 w 859"/>
                <a:gd name="T13" fmla="*/ 438 h 471"/>
                <a:gd name="T14" fmla="*/ 433 w 859"/>
                <a:gd name="T15" fmla="*/ 438 h 471"/>
                <a:gd name="T16" fmla="*/ 410 w 859"/>
                <a:gd name="T17" fmla="*/ 443 h 471"/>
                <a:gd name="T18" fmla="*/ 375 w 859"/>
                <a:gd name="T19" fmla="*/ 447 h 471"/>
                <a:gd name="T20" fmla="*/ 321 w 859"/>
                <a:gd name="T21" fmla="*/ 438 h 471"/>
                <a:gd name="T22" fmla="*/ 274 w 859"/>
                <a:gd name="T23" fmla="*/ 428 h 471"/>
                <a:gd name="T24" fmla="*/ 246 w 859"/>
                <a:gd name="T25" fmla="*/ 420 h 471"/>
                <a:gd name="T26" fmla="*/ 209 w 859"/>
                <a:gd name="T27" fmla="*/ 406 h 471"/>
                <a:gd name="T28" fmla="*/ 167 w 859"/>
                <a:gd name="T29" fmla="*/ 391 h 471"/>
                <a:gd name="T30" fmla="*/ 141 w 859"/>
                <a:gd name="T31" fmla="*/ 371 h 471"/>
                <a:gd name="T32" fmla="*/ 106 w 859"/>
                <a:gd name="T33" fmla="*/ 340 h 471"/>
                <a:gd name="T34" fmla="*/ 63 w 859"/>
                <a:gd name="T35" fmla="*/ 321 h 471"/>
                <a:gd name="T36" fmla="*/ 25 w 859"/>
                <a:gd name="T37" fmla="*/ 301 h 471"/>
                <a:gd name="T38" fmla="*/ 5 w 859"/>
                <a:gd name="T39" fmla="*/ 270 h 471"/>
                <a:gd name="T40" fmla="*/ 1 w 859"/>
                <a:gd name="T41" fmla="*/ 221 h 471"/>
                <a:gd name="T42" fmla="*/ 12 w 859"/>
                <a:gd name="T43" fmla="*/ 177 h 471"/>
                <a:gd name="T44" fmla="*/ 22 w 859"/>
                <a:gd name="T45" fmla="*/ 158 h 471"/>
                <a:gd name="T46" fmla="*/ 53 w 859"/>
                <a:gd name="T47" fmla="*/ 125 h 471"/>
                <a:gd name="T48" fmla="*/ 97 w 859"/>
                <a:gd name="T49" fmla="*/ 105 h 471"/>
                <a:gd name="T50" fmla="*/ 159 w 859"/>
                <a:gd name="T51" fmla="*/ 88 h 471"/>
                <a:gd name="T52" fmla="*/ 208 w 859"/>
                <a:gd name="T53" fmla="*/ 67 h 471"/>
                <a:gd name="T54" fmla="*/ 255 w 859"/>
                <a:gd name="T55" fmla="*/ 33 h 471"/>
                <a:gd name="T56" fmla="*/ 305 w 859"/>
                <a:gd name="T57" fmla="*/ 9 h 471"/>
                <a:gd name="T58" fmla="*/ 367 w 859"/>
                <a:gd name="T59" fmla="*/ 0 h 471"/>
                <a:gd name="T60" fmla="*/ 434 w 859"/>
                <a:gd name="T61" fmla="*/ 5 h 471"/>
                <a:gd name="T62" fmla="*/ 493 w 859"/>
                <a:gd name="T63" fmla="*/ 12 h 471"/>
                <a:gd name="T64" fmla="*/ 540 w 859"/>
                <a:gd name="T65" fmla="*/ 18 h 471"/>
                <a:gd name="T66" fmla="*/ 611 w 859"/>
                <a:gd name="T67" fmla="*/ 42 h 471"/>
                <a:gd name="T68" fmla="*/ 660 w 859"/>
                <a:gd name="T69" fmla="*/ 46 h 471"/>
                <a:gd name="T70" fmla="*/ 709 w 859"/>
                <a:gd name="T71" fmla="*/ 38 h 471"/>
                <a:gd name="T72" fmla="*/ 750 w 859"/>
                <a:gd name="T73" fmla="*/ 42 h 471"/>
                <a:gd name="T74" fmla="*/ 794 w 859"/>
                <a:gd name="T75" fmla="*/ 62 h 471"/>
                <a:gd name="T76" fmla="*/ 854 w 859"/>
                <a:gd name="T77" fmla="*/ 105 h 471"/>
                <a:gd name="T78" fmla="*/ 859 w 859"/>
                <a:gd name="T79" fmla="*/ 121 h 471"/>
                <a:gd name="T80" fmla="*/ 839 w 859"/>
                <a:gd name="T81" fmla="*/ 129 h 471"/>
                <a:gd name="T82" fmla="*/ 802 w 859"/>
                <a:gd name="T83" fmla="*/ 145 h 471"/>
                <a:gd name="T84" fmla="*/ 757 w 859"/>
                <a:gd name="T85" fmla="*/ 157 h 471"/>
                <a:gd name="T86" fmla="*/ 698 w 859"/>
                <a:gd name="T87" fmla="*/ 166 h 471"/>
                <a:gd name="T88" fmla="*/ 635 w 859"/>
                <a:gd name="T89" fmla="*/ 162 h 471"/>
                <a:gd name="T90" fmla="*/ 567 w 859"/>
                <a:gd name="T91" fmla="*/ 154 h 471"/>
                <a:gd name="T92" fmla="*/ 532 w 859"/>
                <a:gd name="T93" fmla="*/ 158 h 471"/>
                <a:gd name="T94" fmla="*/ 508 w 859"/>
                <a:gd name="T95" fmla="*/ 173 h 471"/>
                <a:gd name="T96" fmla="*/ 487 w 859"/>
                <a:gd name="T97" fmla="*/ 193 h 471"/>
                <a:gd name="T98" fmla="*/ 465 w 859"/>
                <a:gd name="T99" fmla="*/ 221 h 471"/>
                <a:gd name="T100" fmla="*/ 453 w 859"/>
                <a:gd name="T101" fmla="*/ 249 h 471"/>
                <a:gd name="T102" fmla="*/ 455 w 859"/>
                <a:gd name="T103" fmla="*/ 280 h 471"/>
                <a:gd name="T104" fmla="*/ 473 w 859"/>
                <a:gd name="T105" fmla="*/ 313 h 471"/>
                <a:gd name="T106" fmla="*/ 488 w 859"/>
                <a:gd name="T107" fmla="*/ 353 h 471"/>
                <a:gd name="T108" fmla="*/ 502 w 859"/>
                <a:gd name="T109" fmla="*/ 392 h 471"/>
                <a:gd name="T110" fmla="*/ 527 w 859"/>
                <a:gd name="T111" fmla="*/ 421 h 471"/>
                <a:gd name="T112" fmla="*/ 561 w 859"/>
                <a:gd name="T113" fmla="*/ 438 h 47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59"/>
                <a:gd name="T172" fmla="*/ 0 h 471"/>
                <a:gd name="T173" fmla="*/ 859 w 859"/>
                <a:gd name="T174" fmla="*/ 471 h 47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59" h="471">
                  <a:moveTo>
                    <a:pt x="578" y="443"/>
                  </a:moveTo>
                  <a:lnTo>
                    <a:pt x="577" y="457"/>
                  </a:lnTo>
                  <a:lnTo>
                    <a:pt x="574" y="471"/>
                  </a:lnTo>
                  <a:lnTo>
                    <a:pt x="554" y="468"/>
                  </a:lnTo>
                  <a:lnTo>
                    <a:pt x="535" y="462"/>
                  </a:lnTo>
                  <a:lnTo>
                    <a:pt x="521" y="454"/>
                  </a:lnTo>
                  <a:lnTo>
                    <a:pt x="512" y="446"/>
                  </a:lnTo>
                  <a:lnTo>
                    <a:pt x="506" y="440"/>
                  </a:lnTo>
                  <a:lnTo>
                    <a:pt x="499" y="437"/>
                  </a:lnTo>
                  <a:lnTo>
                    <a:pt x="486" y="436"/>
                  </a:lnTo>
                  <a:lnTo>
                    <a:pt x="471" y="438"/>
                  </a:lnTo>
                  <a:lnTo>
                    <a:pt x="447" y="436"/>
                  </a:lnTo>
                  <a:lnTo>
                    <a:pt x="433" y="438"/>
                  </a:lnTo>
                  <a:lnTo>
                    <a:pt x="423" y="439"/>
                  </a:lnTo>
                  <a:lnTo>
                    <a:pt x="410" y="443"/>
                  </a:lnTo>
                  <a:lnTo>
                    <a:pt x="393" y="446"/>
                  </a:lnTo>
                  <a:lnTo>
                    <a:pt x="375" y="447"/>
                  </a:lnTo>
                  <a:lnTo>
                    <a:pt x="348" y="444"/>
                  </a:lnTo>
                  <a:lnTo>
                    <a:pt x="321" y="438"/>
                  </a:lnTo>
                  <a:lnTo>
                    <a:pt x="297" y="433"/>
                  </a:lnTo>
                  <a:lnTo>
                    <a:pt x="274" y="428"/>
                  </a:lnTo>
                  <a:lnTo>
                    <a:pt x="262" y="425"/>
                  </a:lnTo>
                  <a:lnTo>
                    <a:pt x="246" y="420"/>
                  </a:lnTo>
                  <a:lnTo>
                    <a:pt x="227" y="412"/>
                  </a:lnTo>
                  <a:lnTo>
                    <a:pt x="209" y="406"/>
                  </a:lnTo>
                  <a:lnTo>
                    <a:pt x="188" y="400"/>
                  </a:lnTo>
                  <a:lnTo>
                    <a:pt x="167" y="391"/>
                  </a:lnTo>
                  <a:lnTo>
                    <a:pt x="154" y="382"/>
                  </a:lnTo>
                  <a:lnTo>
                    <a:pt x="141" y="371"/>
                  </a:lnTo>
                  <a:lnTo>
                    <a:pt x="124" y="355"/>
                  </a:lnTo>
                  <a:lnTo>
                    <a:pt x="106" y="340"/>
                  </a:lnTo>
                  <a:lnTo>
                    <a:pt x="86" y="330"/>
                  </a:lnTo>
                  <a:lnTo>
                    <a:pt x="63" y="321"/>
                  </a:lnTo>
                  <a:lnTo>
                    <a:pt x="41" y="311"/>
                  </a:lnTo>
                  <a:lnTo>
                    <a:pt x="25" y="301"/>
                  </a:lnTo>
                  <a:lnTo>
                    <a:pt x="14" y="287"/>
                  </a:lnTo>
                  <a:lnTo>
                    <a:pt x="5" y="270"/>
                  </a:lnTo>
                  <a:lnTo>
                    <a:pt x="0" y="247"/>
                  </a:lnTo>
                  <a:lnTo>
                    <a:pt x="1" y="221"/>
                  </a:lnTo>
                  <a:lnTo>
                    <a:pt x="4" y="198"/>
                  </a:lnTo>
                  <a:lnTo>
                    <a:pt x="12" y="177"/>
                  </a:lnTo>
                  <a:lnTo>
                    <a:pt x="22" y="158"/>
                  </a:lnTo>
                  <a:lnTo>
                    <a:pt x="35" y="141"/>
                  </a:lnTo>
                  <a:lnTo>
                    <a:pt x="53" y="125"/>
                  </a:lnTo>
                  <a:lnTo>
                    <a:pt x="75" y="112"/>
                  </a:lnTo>
                  <a:lnTo>
                    <a:pt x="97" y="105"/>
                  </a:lnTo>
                  <a:lnTo>
                    <a:pt x="127" y="96"/>
                  </a:lnTo>
                  <a:lnTo>
                    <a:pt x="159" y="88"/>
                  </a:lnTo>
                  <a:lnTo>
                    <a:pt x="184" y="78"/>
                  </a:lnTo>
                  <a:lnTo>
                    <a:pt x="208" y="67"/>
                  </a:lnTo>
                  <a:lnTo>
                    <a:pt x="229" y="53"/>
                  </a:lnTo>
                  <a:lnTo>
                    <a:pt x="255" y="33"/>
                  </a:lnTo>
                  <a:lnTo>
                    <a:pt x="278" y="19"/>
                  </a:lnTo>
                  <a:lnTo>
                    <a:pt x="305" y="9"/>
                  </a:lnTo>
                  <a:lnTo>
                    <a:pt x="333" y="2"/>
                  </a:lnTo>
                  <a:lnTo>
                    <a:pt x="367" y="0"/>
                  </a:lnTo>
                  <a:lnTo>
                    <a:pt x="395" y="0"/>
                  </a:lnTo>
                  <a:lnTo>
                    <a:pt x="434" y="5"/>
                  </a:lnTo>
                  <a:lnTo>
                    <a:pt x="466" y="10"/>
                  </a:lnTo>
                  <a:lnTo>
                    <a:pt x="493" y="12"/>
                  </a:lnTo>
                  <a:lnTo>
                    <a:pt x="518" y="13"/>
                  </a:lnTo>
                  <a:lnTo>
                    <a:pt x="540" y="18"/>
                  </a:lnTo>
                  <a:lnTo>
                    <a:pt x="577" y="32"/>
                  </a:lnTo>
                  <a:lnTo>
                    <a:pt x="611" y="42"/>
                  </a:lnTo>
                  <a:lnTo>
                    <a:pt x="638" y="46"/>
                  </a:lnTo>
                  <a:lnTo>
                    <a:pt x="660" y="46"/>
                  </a:lnTo>
                  <a:lnTo>
                    <a:pt x="687" y="41"/>
                  </a:lnTo>
                  <a:lnTo>
                    <a:pt x="709" y="38"/>
                  </a:lnTo>
                  <a:lnTo>
                    <a:pt x="729" y="38"/>
                  </a:lnTo>
                  <a:lnTo>
                    <a:pt x="750" y="42"/>
                  </a:lnTo>
                  <a:lnTo>
                    <a:pt x="768" y="49"/>
                  </a:lnTo>
                  <a:lnTo>
                    <a:pt x="794" y="62"/>
                  </a:lnTo>
                  <a:lnTo>
                    <a:pt x="837" y="89"/>
                  </a:lnTo>
                  <a:lnTo>
                    <a:pt x="854" y="105"/>
                  </a:lnTo>
                  <a:lnTo>
                    <a:pt x="859" y="113"/>
                  </a:lnTo>
                  <a:lnTo>
                    <a:pt x="859" y="121"/>
                  </a:lnTo>
                  <a:lnTo>
                    <a:pt x="850" y="124"/>
                  </a:lnTo>
                  <a:lnTo>
                    <a:pt x="839" y="129"/>
                  </a:lnTo>
                  <a:lnTo>
                    <a:pt x="822" y="137"/>
                  </a:lnTo>
                  <a:lnTo>
                    <a:pt x="802" y="145"/>
                  </a:lnTo>
                  <a:lnTo>
                    <a:pt x="782" y="151"/>
                  </a:lnTo>
                  <a:lnTo>
                    <a:pt x="757" y="157"/>
                  </a:lnTo>
                  <a:lnTo>
                    <a:pt x="729" y="163"/>
                  </a:lnTo>
                  <a:lnTo>
                    <a:pt x="698" y="166"/>
                  </a:lnTo>
                  <a:lnTo>
                    <a:pt x="675" y="166"/>
                  </a:lnTo>
                  <a:lnTo>
                    <a:pt x="635" y="162"/>
                  </a:lnTo>
                  <a:lnTo>
                    <a:pt x="596" y="156"/>
                  </a:lnTo>
                  <a:lnTo>
                    <a:pt x="567" y="154"/>
                  </a:lnTo>
                  <a:lnTo>
                    <a:pt x="549" y="155"/>
                  </a:lnTo>
                  <a:lnTo>
                    <a:pt x="532" y="158"/>
                  </a:lnTo>
                  <a:lnTo>
                    <a:pt x="516" y="165"/>
                  </a:lnTo>
                  <a:lnTo>
                    <a:pt x="508" y="173"/>
                  </a:lnTo>
                  <a:lnTo>
                    <a:pt x="499" y="184"/>
                  </a:lnTo>
                  <a:lnTo>
                    <a:pt x="487" y="193"/>
                  </a:lnTo>
                  <a:lnTo>
                    <a:pt x="475" y="206"/>
                  </a:lnTo>
                  <a:lnTo>
                    <a:pt x="465" y="221"/>
                  </a:lnTo>
                  <a:lnTo>
                    <a:pt x="456" y="236"/>
                  </a:lnTo>
                  <a:lnTo>
                    <a:pt x="453" y="249"/>
                  </a:lnTo>
                  <a:lnTo>
                    <a:pt x="452" y="264"/>
                  </a:lnTo>
                  <a:lnTo>
                    <a:pt x="455" y="280"/>
                  </a:lnTo>
                  <a:lnTo>
                    <a:pt x="463" y="295"/>
                  </a:lnTo>
                  <a:lnTo>
                    <a:pt x="473" y="313"/>
                  </a:lnTo>
                  <a:lnTo>
                    <a:pt x="482" y="333"/>
                  </a:lnTo>
                  <a:lnTo>
                    <a:pt x="488" y="353"/>
                  </a:lnTo>
                  <a:lnTo>
                    <a:pt x="495" y="379"/>
                  </a:lnTo>
                  <a:lnTo>
                    <a:pt x="502" y="392"/>
                  </a:lnTo>
                  <a:lnTo>
                    <a:pt x="514" y="409"/>
                  </a:lnTo>
                  <a:lnTo>
                    <a:pt x="527" y="421"/>
                  </a:lnTo>
                  <a:lnTo>
                    <a:pt x="544" y="432"/>
                  </a:lnTo>
                  <a:lnTo>
                    <a:pt x="561" y="438"/>
                  </a:lnTo>
                  <a:lnTo>
                    <a:pt x="578" y="443"/>
                  </a:lnTo>
                  <a:close/>
                </a:path>
              </a:pathLst>
            </a:custGeom>
            <a:solidFill>
              <a:srgbClr val="00C000"/>
            </a:solidFill>
            <a:ln w="0">
              <a:solidFill>
                <a:srgbClr val="0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67" name="Freeform 71">
              <a:extLst>
                <a:ext uri="{FF2B5EF4-FFF2-40B4-BE49-F238E27FC236}">
                  <a16:creationId xmlns:a16="http://schemas.microsoft.com/office/drawing/2014/main" id="{3BFC9A62-E2EB-4F40-BA61-4548973DDC04}"/>
                </a:ext>
              </a:extLst>
            </p:cNvPr>
            <p:cNvSpPr>
              <a:spLocks/>
            </p:cNvSpPr>
            <p:nvPr/>
          </p:nvSpPr>
          <p:spPr bwMode="auto">
            <a:xfrm>
              <a:off x="905" y="1195"/>
              <a:ext cx="159" cy="103"/>
            </a:xfrm>
            <a:custGeom>
              <a:avLst/>
              <a:gdLst>
                <a:gd name="T0" fmla="*/ 306 w 478"/>
                <a:gd name="T1" fmla="*/ 7 h 310"/>
                <a:gd name="T2" fmla="*/ 278 w 478"/>
                <a:gd name="T3" fmla="*/ 1 h 310"/>
                <a:gd name="T4" fmla="*/ 248 w 478"/>
                <a:gd name="T5" fmla="*/ 1 h 310"/>
                <a:gd name="T6" fmla="*/ 218 w 478"/>
                <a:gd name="T7" fmla="*/ 6 h 310"/>
                <a:gd name="T8" fmla="*/ 187 w 478"/>
                <a:gd name="T9" fmla="*/ 23 h 310"/>
                <a:gd name="T10" fmla="*/ 162 w 478"/>
                <a:gd name="T11" fmla="*/ 47 h 310"/>
                <a:gd name="T12" fmla="*/ 141 w 478"/>
                <a:gd name="T13" fmla="*/ 71 h 310"/>
                <a:gd name="T14" fmla="*/ 105 w 478"/>
                <a:gd name="T15" fmla="*/ 79 h 310"/>
                <a:gd name="T16" fmla="*/ 51 w 478"/>
                <a:gd name="T17" fmla="*/ 84 h 310"/>
                <a:gd name="T18" fmla="*/ 32 w 478"/>
                <a:gd name="T19" fmla="*/ 94 h 310"/>
                <a:gd name="T20" fmla="*/ 24 w 478"/>
                <a:gd name="T21" fmla="*/ 113 h 310"/>
                <a:gd name="T22" fmla="*/ 19 w 478"/>
                <a:gd name="T23" fmla="*/ 137 h 310"/>
                <a:gd name="T24" fmla="*/ 6 w 478"/>
                <a:gd name="T25" fmla="*/ 165 h 310"/>
                <a:gd name="T26" fmla="*/ 0 w 478"/>
                <a:gd name="T27" fmla="*/ 192 h 310"/>
                <a:gd name="T28" fmla="*/ 8 w 478"/>
                <a:gd name="T29" fmla="*/ 211 h 310"/>
                <a:gd name="T30" fmla="*/ 34 w 478"/>
                <a:gd name="T31" fmla="*/ 228 h 310"/>
                <a:gd name="T32" fmla="*/ 67 w 478"/>
                <a:gd name="T33" fmla="*/ 247 h 310"/>
                <a:gd name="T34" fmla="*/ 84 w 478"/>
                <a:gd name="T35" fmla="*/ 266 h 310"/>
                <a:gd name="T36" fmla="*/ 102 w 478"/>
                <a:gd name="T37" fmla="*/ 298 h 310"/>
                <a:gd name="T38" fmla="*/ 123 w 478"/>
                <a:gd name="T39" fmla="*/ 309 h 310"/>
                <a:gd name="T40" fmla="*/ 159 w 478"/>
                <a:gd name="T41" fmla="*/ 309 h 310"/>
                <a:gd name="T42" fmla="*/ 202 w 478"/>
                <a:gd name="T43" fmla="*/ 296 h 310"/>
                <a:gd name="T44" fmla="*/ 210 w 478"/>
                <a:gd name="T45" fmla="*/ 294 h 310"/>
                <a:gd name="T46" fmla="*/ 239 w 478"/>
                <a:gd name="T47" fmla="*/ 285 h 310"/>
                <a:gd name="T48" fmla="*/ 268 w 478"/>
                <a:gd name="T49" fmla="*/ 270 h 310"/>
                <a:gd name="T50" fmla="*/ 294 w 478"/>
                <a:gd name="T51" fmla="*/ 263 h 310"/>
                <a:gd name="T52" fmla="*/ 301 w 478"/>
                <a:gd name="T53" fmla="*/ 263 h 310"/>
                <a:gd name="T54" fmla="*/ 336 w 478"/>
                <a:gd name="T55" fmla="*/ 265 h 310"/>
                <a:gd name="T56" fmla="*/ 343 w 478"/>
                <a:gd name="T57" fmla="*/ 265 h 310"/>
                <a:gd name="T58" fmla="*/ 366 w 478"/>
                <a:gd name="T59" fmla="*/ 267 h 310"/>
                <a:gd name="T60" fmla="*/ 406 w 478"/>
                <a:gd name="T61" fmla="*/ 265 h 310"/>
                <a:gd name="T62" fmla="*/ 427 w 478"/>
                <a:gd name="T63" fmla="*/ 254 h 310"/>
                <a:gd name="T64" fmla="*/ 446 w 478"/>
                <a:gd name="T65" fmla="*/ 247 h 310"/>
                <a:gd name="T66" fmla="*/ 458 w 478"/>
                <a:gd name="T67" fmla="*/ 244 h 310"/>
                <a:gd name="T68" fmla="*/ 464 w 478"/>
                <a:gd name="T69" fmla="*/ 242 h 310"/>
                <a:gd name="T70" fmla="*/ 476 w 478"/>
                <a:gd name="T71" fmla="*/ 233 h 310"/>
                <a:gd name="T72" fmla="*/ 464 w 478"/>
                <a:gd name="T73" fmla="*/ 220 h 310"/>
                <a:gd name="T74" fmla="*/ 434 w 478"/>
                <a:gd name="T75" fmla="*/ 193 h 310"/>
                <a:gd name="T76" fmla="*/ 396 w 478"/>
                <a:gd name="T77" fmla="*/ 168 h 310"/>
                <a:gd name="T78" fmla="*/ 351 w 478"/>
                <a:gd name="T79" fmla="*/ 149 h 310"/>
                <a:gd name="T80" fmla="*/ 324 w 478"/>
                <a:gd name="T81" fmla="*/ 125 h 310"/>
                <a:gd name="T82" fmla="*/ 310 w 478"/>
                <a:gd name="T83" fmla="*/ 85 h 310"/>
                <a:gd name="T84" fmla="*/ 314 w 478"/>
                <a:gd name="T85" fmla="*/ 36 h 3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78"/>
                <a:gd name="T130" fmla="*/ 0 h 310"/>
                <a:gd name="T131" fmla="*/ 478 w 478"/>
                <a:gd name="T132" fmla="*/ 310 h 31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78" h="310">
                  <a:moveTo>
                    <a:pt x="322" y="15"/>
                  </a:moveTo>
                  <a:lnTo>
                    <a:pt x="306" y="7"/>
                  </a:lnTo>
                  <a:lnTo>
                    <a:pt x="293" y="3"/>
                  </a:lnTo>
                  <a:lnTo>
                    <a:pt x="278" y="1"/>
                  </a:lnTo>
                  <a:lnTo>
                    <a:pt x="265" y="0"/>
                  </a:lnTo>
                  <a:lnTo>
                    <a:pt x="248" y="1"/>
                  </a:lnTo>
                  <a:lnTo>
                    <a:pt x="234" y="2"/>
                  </a:lnTo>
                  <a:lnTo>
                    <a:pt x="218" y="6"/>
                  </a:lnTo>
                  <a:lnTo>
                    <a:pt x="200" y="14"/>
                  </a:lnTo>
                  <a:lnTo>
                    <a:pt x="187" y="23"/>
                  </a:lnTo>
                  <a:lnTo>
                    <a:pt x="173" y="35"/>
                  </a:lnTo>
                  <a:lnTo>
                    <a:pt x="162" y="47"/>
                  </a:lnTo>
                  <a:lnTo>
                    <a:pt x="149" y="64"/>
                  </a:lnTo>
                  <a:lnTo>
                    <a:pt x="141" y="71"/>
                  </a:lnTo>
                  <a:lnTo>
                    <a:pt x="129" y="75"/>
                  </a:lnTo>
                  <a:lnTo>
                    <a:pt x="105" y="79"/>
                  </a:lnTo>
                  <a:lnTo>
                    <a:pt x="64" y="82"/>
                  </a:lnTo>
                  <a:lnTo>
                    <a:pt x="51" y="84"/>
                  </a:lnTo>
                  <a:lnTo>
                    <a:pt x="40" y="89"/>
                  </a:lnTo>
                  <a:lnTo>
                    <a:pt x="32" y="94"/>
                  </a:lnTo>
                  <a:lnTo>
                    <a:pt x="28" y="102"/>
                  </a:lnTo>
                  <a:lnTo>
                    <a:pt x="24" y="113"/>
                  </a:lnTo>
                  <a:lnTo>
                    <a:pt x="22" y="125"/>
                  </a:lnTo>
                  <a:lnTo>
                    <a:pt x="19" y="137"/>
                  </a:lnTo>
                  <a:lnTo>
                    <a:pt x="15" y="148"/>
                  </a:lnTo>
                  <a:lnTo>
                    <a:pt x="6" y="165"/>
                  </a:lnTo>
                  <a:lnTo>
                    <a:pt x="1" y="178"/>
                  </a:lnTo>
                  <a:lnTo>
                    <a:pt x="0" y="192"/>
                  </a:lnTo>
                  <a:lnTo>
                    <a:pt x="2" y="202"/>
                  </a:lnTo>
                  <a:lnTo>
                    <a:pt x="8" y="211"/>
                  </a:lnTo>
                  <a:lnTo>
                    <a:pt x="15" y="218"/>
                  </a:lnTo>
                  <a:lnTo>
                    <a:pt x="34" y="228"/>
                  </a:lnTo>
                  <a:lnTo>
                    <a:pt x="53" y="237"/>
                  </a:lnTo>
                  <a:lnTo>
                    <a:pt x="67" y="247"/>
                  </a:lnTo>
                  <a:lnTo>
                    <a:pt x="76" y="255"/>
                  </a:lnTo>
                  <a:lnTo>
                    <a:pt x="84" y="266"/>
                  </a:lnTo>
                  <a:lnTo>
                    <a:pt x="94" y="287"/>
                  </a:lnTo>
                  <a:lnTo>
                    <a:pt x="102" y="298"/>
                  </a:lnTo>
                  <a:lnTo>
                    <a:pt x="111" y="305"/>
                  </a:lnTo>
                  <a:lnTo>
                    <a:pt x="123" y="309"/>
                  </a:lnTo>
                  <a:lnTo>
                    <a:pt x="140" y="310"/>
                  </a:lnTo>
                  <a:lnTo>
                    <a:pt x="159" y="309"/>
                  </a:lnTo>
                  <a:lnTo>
                    <a:pt x="180" y="305"/>
                  </a:lnTo>
                  <a:lnTo>
                    <a:pt x="202" y="296"/>
                  </a:lnTo>
                  <a:lnTo>
                    <a:pt x="210" y="294"/>
                  </a:lnTo>
                  <a:lnTo>
                    <a:pt x="224" y="289"/>
                  </a:lnTo>
                  <a:lnTo>
                    <a:pt x="239" y="285"/>
                  </a:lnTo>
                  <a:lnTo>
                    <a:pt x="250" y="279"/>
                  </a:lnTo>
                  <a:lnTo>
                    <a:pt x="268" y="270"/>
                  </a:lnTo>
                  <a:lnTo>
                    <a:pt x="279" y="265"/>
                  </a:lnTo>
                  <a:lnTo>
                    <a:pt x="294" y="263"/>
                  </a:lnTo>
                  <a:lnTo>
                    <a:pt x="301" y="263"/>
                  </a:lnTo>
                  <a:lnTo>
                    <a:pt x="317" y="263"/>
                  </a:lnTo>
                  <a:lnTo>
                    <a:pt x="336" y="265"/>
                  </a:lnTo>
                  <a:lnTo>
                    <a:pt x="343" y="265"/>
                  </a:lnTo>
                  <a:lnTo>
                    <a:pt x="366" y="267"/>
                  </a:lnTo>
                  <a:lnTo>
                    <a:pt x="394" y="266"/>
                  </a:lnTo>
                  <a:lnTo>
                    <a:pt x="406" y="265"/>
                  </a:lnTo>
                  <a:lnTo>
                    <a:pt x="417" y="261"/>
                  </a:lnTo>
                  <a:lnTo>
                    <a:pt x="427" y="254"/>
                  </a:lnTo>
                  <a:lnTo>
                    <a:pt x="436" y="250"/>
                  </a:lnTo>
                  <a:lnTo>
                    <a:pt x="446" y="247"/>
                  </a:lnTo>
                  <a:lnTo>
                    <a:pt x="451" y="245"/>
                  </a:lnTo>
                  <a:lnTo>
                    <a:pt x="458" y="244"/>
                  </a:lnTo>
                  <a:lnTo>
                    <a:pt x="464" y="242"/>
                  </a:lnTo>
                  <a:lnTo>
                    <a:pt x="471" y="239"/>
                  </a:lnTo>
                  <a:lnTo>
                    <a:pt x="476" y="233"/>
                  </a:lnTo>
                  <a:lnTo>
                    <a:pt x="478" y="229"/>
                  </a:lnTo>
                  <a:lnTo>
                    <a:pt x="464" y="220"/>
                  </a:lnTo>
                  <a:lnTo>
                    <a:pt x="451" y="209"/>
                  </a:lnTo>
                  <a:lnTo>
                    <a:pt x="434" y="193"/>
                  </a:lnTo>
                  <a:lnTo>
                    <a:pt x="416" y="178"/>
                  </a:lnTo>
                  <a:lnTo>
                    <a:pt x="396" y="168"/>
                  </a:lnTo>
                  <a:lnTo>
                    <a:pt x="373" y="159"/>
                  </a:lnTo>
                  <a:lnTo>
                    <a:pt x="351" y="149"/>
                  </a:lnTo>
                  <a:lnTo>
                    <a:pt x="335" y="139"/>
                  </a:lnTo>
                  <a:lnTo>
                    <a:pt x="324" y="125"/>
                  </a:lnTo>
                  <a:lnTo>
                    <a:pt x="315" y="108"/>
                  </a:lnTo>
                  <a:lnTo>
                    <a:pt x="310" y="85"/>
                  </a:lnTo>
                  <a:lnTo>
                    <a:pt x="311" y="59"/>
                  </a:lnTo>
                  <a:lnTo>
                    <a:pt x="314" y="36"/>
                  </a:lnTo>
                  <a:lnTo>
                    <a:pt x="322" y="15"/>
                  </a:lnTo>
                  <a:close/>
                </a:path>
              </a:pathLst>
            </a:custGeom>
            <a:solidFill>
              <a:srgbClr val="00C000"/>
            </a:solidFill>
            <a:ln w="0">
              <a:solidFill>
                <a:srgbClr val="0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68" name="Freeform 72">
              <a:extLst>
                <a:ext uri="{FF2B5EF4-FFF2-40B4-BE49-F238E27FC236}">
                  <a16:creationId xmlns:a16="http://schemas.microsoft.com/office/drawing/2014/main" id="{ACA9F406-59B0-C349-8874-43D0E5AAD5C9}"/>
                </a:ext>
              </a:extLst>
            </p:cNvPr>
            <p:cNvSpPr>
              <a:spLocks/>
            </p:cNvSpPr>
            <p:nvPr/>
          </p:nvSpPr>
          <p:spPr bwMode="auto">
            <a:xfrm>
              <a:off x="1217" y="1272"/>
              <a:ext cx="55" cy="33"/>
            </a:xfrm>
            <a:custGeom>
              <a:avLst/>
              <a:gdLst>
                <a:gd name="T0" fmla="*/ 165 w 165"/>
                <a:gd name="T1" fmla="*/ 14 h 100"/>
                <a:gd name="T2" fmla="*/ 158 w 165"/>
                <a:gd name="T3" fmla="*/ 17 h 100"/>
                <a:gd name="T4" fmla="*/ 145 w 165"/>
                <a:gd name="T5" fmla="*/ 19 h 100"/>
                <a:gd name="T6" fmla="*/ 134 w 165"/>
                <a:gd name="T7" fmla="*/ 25 h 100"/>
                <a:gd name="T8" fmla="*/ 116 w 165"/>
                <a:gd name="T9" fmla="*/ 37 h 100"/>
                <a:gd name="T10" fmla="*/ 93 w 165"/>
                <a:gd name="T11" fmla="*/ 58 h 100"/>
                <a:gd name="T12" fmla="*/ 72 w 165"/>
                <a:gd name="T13" fmla="*/ 78 h 100"/>
                <a:gd name="T14" fmla="*/ 54 w 165"/>
                <a:gd name="T15" fmla="*/ 92 h 100"/>
                <a:gd name="T16" fmla="*/ 39 w 165"/>
                <a:gd name="T17" fmla="*/ 98 h 100"/>
                <a:gd name="T18" fmla="*/ 39 w 165"/>
                <a:gd name="T19" fmla="*/ 98 h 100"/>
                <a:gd name="T20" fmla="*/ 32 w 165"/>
                <a:gd name="T21" fmla="*/ 100 h 100"/>
                <a:gd name="T22" fmla="*/ 32 w 165"/>
                <a:gd name="T23" fmla="*/ 100 h 100"/>
                <a:gd name="T24" fmla="*/ 25 w 165"/>
                <a:gd name="T25" fmla="*/ 99 h 100"/>
                <a:gd name="T26" fmla="*/ 16 w 165"/>
                <a:gd name="T27" fmla="*/ 98 h 100"/>
                <a:gd name="T28" fmla="*/ 10 w 165"/>
                <a:gd name="T29" fmla="*/ 94 h 100"/>
                <a:gd name="T30" fmla="*/ 0 w 165"/>
                <a:gd name="T31" fmla="*/ 91 h 100"/>
                <a:gd name="T32" fmla="*/ 0 w 165"/>
                <a:gd name="T33" fmla="*/ 88 h 100"/>
                <a:gd name="T34" fmla="*/ 2 w 165"/>
                <a:gd name="T35" fmla="*/ 66 h 100"/>
                <a:gd name="T36" fmla="*/ 5 w 165"/>
                <a:gd name="T37" fmla="*/ 54 h 100"/>
                <a:gd name="T38" fmla="*/ 10 w 165"/>
                <a:gd name="T39" fmla="*/ 43 h 100"/>
                <a:gd name="T40" fmla="*/ 16 w 165"/>
                <a:gd name="T41" fmla="*/ 35 h 100"/>
                <a:gd name="T42" fmla="*/ 27 w 165"/>
                <a:gd name="T43" fmla="*/ 31 h 100"/>
                <a:gd name="T44" fmla="*/ 41 w 165"/>
                <a:gd name="T45" fmla="*/ 25 h 100"/>
                <a:gd name="T46" fmla="*/ 57 w 165"/>
                <a:gd name="T47" fmla="*/ 18 h 100"/>
                <a:gd name="T48" fmla="*/ 75 w 165"/>
                <a:gd name="T49" fmla="*/ 10 h 100"/>
                <a:gd name="T50" fmla="*/ 87 w 165"/>
                <a:gd name="T51" fmla="*/ 3 h 100"/>
                <a:gd name="T52" fmla="*/ 102 w 165"/>
                <a:gd name="T53" fmla="*/ 0 h 100"/>
                <a:gd name="T54" fmla="*/ 120 w 165"/>
                <a:gd name="T55" fmla="*/ 0 h 100"/>
                <a:gd name="T56" fmla="*/ 134 w 165"/>
                <a:gd name="T57" fmla="*/ 4 h 100"/>
                <a:gd name="T58" fmla="*/ 152 w 165"/>
                <a:gd name="T59" fmla="*/ 11 h 100"/>
                <a:gd name="T60" fmla="*/ 165 w 165"/>
                <a:gd name="T61" fmla="*/ 14 h 10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5"/>
                <a:gd name="T94" fmla="*/ 0 h 100"/>
                <a:gd name="T95" fmla="*/ 165 w 165"/>
                <a:gd name="T96" fmla="*/ 100 h 10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5" h="100">
                  <a:moveTo>
                    <a:pt x="165" y="14"/>
                  </a:moveTo>
                  <a:lnTo>
                    <a:pt x="158" y="17"/>
                  </a:lnTo>
                  <a:lnTo>
                    <a:pt x="145" y="19"/>
                  </a:lnTo>
                  <a:lnTo>
                    <a:pt x="134" y="25"/>
                  </a:lnTo>
                  <a:lnTo>
                    <a:pt x="116" y="37"/>
                  </a:lnTo>
                  <a:lnTo>
                    <a:pt x="93" y="58"/>
                  </a:lnTo>
                  <a:lnTo>
                    <a:pt x="72" y="78"/>
                  </a:lnTo>
                  <a:lnTo>
                    <a:pt x="54" y="92"/>
                  </a:lnTo>
                  <a:lnTo>
                    <a:pt x="39" y="98"/>
                  </a:lnTo>
                  <a:lnTo>
                    <a:pt x="32" y="100"/>
                  </a:lnTo>
                  <a:lnTo>
                    <a:pt x="25" y="99"/>
                  </a:lnTo>
                  <a:lnTo>
                    <a:pt x="16" y="98"/>
                  </a:lnTo>
                  <a:lnTo>
                    <a:pt x="10" y="94"/>
                  </a:lnTo>
                  <a:lnTo>
                    <a:pt x="0" y="91"/>
                  </a:lnTo>
                  <a:lnTo>
                    <a:pt x="0" y="88"/>
                  </a:lnTo>
                  <a:lnTo>
                    <a:pt x="2" y="66"/>
                  </a:lnTo>
                  <a:lnTo>
                    <a:pt x="5" y="54"/>
                  </a:lnTo>
                  <a:lnTo>
                    <a:pt x="10" y="43"/>
                  </a:lnTo>
                  <a:lnTo>
                    <a:pt x="16" y="35"/>
                  </a:lnTo>
                  <a:lnTo>
                    <a:pt x="27" y="31"/>
                  </a:lnTo>
                  <a:lnTo>
                    <a:pt x="41" y="25"/>
                  </a:lnTo>
                  <a:lnTo>
                    <a:pt x="57" y="18"/>
                  </a:lnTo>
                  <a:lnTo>
                    <a:pt x="75" y="10"/>
                  </a:lnTo>
                  <a:lnTo>
                    <a:pt x="87" y="3"/>
                  </a:lnTo>
                  <a:lnTo>
                    <a:pt x="102" y="0"/>
                  </a:lnTo>
                  <a:lnTo>
                    <a:pt x="120" y="0"/>
                  </a:lnTo>
                  <a:lnTo>
                    <a:pt x="134" y="4"/>
                  </a:lnTo>
                  <a:lnTo>
                    <a:pt x="152" y="11"/>
                  </a:lnTo>
                  <a:lnTo>
                    <a:pt x="165" y="14"/>
                  </a:lnTo>
                  <a:close/>
                </a:path>
              </a:pathLst>
            </a:custGeom>
            <a:solidFill>
              <a:srgbClr val="00C000"/>
            </a:solidFill>
            <a:ln w="0">
              <a:solidFill>
                <a:srgbClr val="0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69" name="Freeform 73">
              <a:extLst>
                <a:ext uri="{FF2B5EF4-FFF2-40B4-BE49-F238E27FC236}">
                  <a16:creationId xmlns:a16="http://schemas.microsoft.com/office/drawing/2014/main" id="{DEBBDF87-3617-C443-8EBD-C44CA5F55579}"/>
                </a:ext>
              </a:extLst>
            </p:cNvPr>
            <p:cNvSpPr>
              <a:spLocks/>
            </p:cNvSpPr>
            <p:nvPr/>
          </p:nvSpPr>
          <p:spPr bwMode="auto">
            <a:xfrm>
              <a:off x="1008" y="1200"/>
              <a:ext cx="56" cy="71"/>
            </a:xfrm>
            <a:custGeom>
              <a:avLst/>
              <a:gdLst>
                <a:gd name="T0" fmla="*/ 166 w 166"/>
                <a:gd name="T1" fmla="*/ 213 h 213"/>
                <a:gd name="T2" fmla="*/ 153 w 166"/>
                <a:gd name="T3" fmla="*/ 204 h 213"/>
                <a:gd name="T4" fmla="*/ 141 w 166"/>
                <a:gd name="T5" fmla="*/ 193 h 213"/>
                <a:gd name="T6" fmla="*/ 123 w 166"/>
                <a:gd name="T7" fmla="*/ 177 h 213"/>
                <a:gd name="T8" fmla="*/ 105 w 166"/>
                <a:gd name="T9" fmla="*/ 162 h 213"/>
                <a:gd name="T10" fmla="*/ 86 w 166"/>
                <a:gd name="T11" fmla="*/ 152 h 213"/>
                <a:gd name="T12" fmla="*/ 63 w 166"/>
                <a:gd name="T13" fmla="*/ 143 h 213"/>
                <a:gd name="T14" fmla="*/ 41 w 166"/>
                <a:gd name="T15" fmla="*/ 133 h 213"/>
                <a:gd name="T16" fmla="*/ 25 w 166"/>
                <a:gd name="T17" fmla="*/ 123 h 213"/>
                <a:gd name="T18" fmla="*/ 14 w 166"/>
                <a:gd name="T19" fmla="*/ 109 h 213"/>
                <a:gd name="T20" fmla="*/ 5 w 166"/>
                <a:gd name="T21" fmla="*/ 93 h 213"/>
                <a:gd name="T22" fmla="*/ 0 w 166"/>
                <a:gd name="T23" fmla="*/ 70 h 213"/>
                <a:gd name="T24" fmla="*/ 1 w 166"/>
                <a:gd name="T25" fmla="*/ 44 h 213"/>
                <a:gd name="T26" fmla="*/ 4 w 166"/>
                <a:gd name="T27" fmla="*/ 21 h 213"/>
                <a:gd name="T28" fmla="*/ 12 w 166"/>
                <a:gd name="T29" fmla="*/ 0 h 2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6"/>
                <a:gd name="T46" fmla="*/ 0 h 213"/>
                <a:gd name="T47" fmla="*/ 166 w 166"/>
                <a:gd name="T48" fmla="*/ 213 h 2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6" h="213">
                  <a:moveTo>
                    <a:pt x="166" y="213"/>
                  </a:moveTo>
                  <a:lnTo>
                    <a:pt x="153" y="204"/>
                  </a:lnTo>
                  <a:lnTo>
                    <a:pt x="141" y="193"/>
                  </a:lnTo>
                  <a:lnTo>
                    <a:pt x="123" y="177"/>
                  </a:lnTo>
                  <a:lnTo>
                    <a:pt x="105" y="162"/>
                  </a:lnTo>
                  <a:lnTo>
                    <a:pt x="86" y="152"/>
                  </a:lnTo>
                  <a:lnTo>
                    <a:pt x="63" y="143"/>
                  </a:lnTo>
                  <a:lnTo>
                    <a:pt x="41" y="133"/>
                  </a:lnTo>
                  <a:lnTo>
                    <a:pt x="25" y="123"/>
                  </a:lnTo>
                  <a:lnTo>
                    <a:pt x="14" y="109"/>
                  </a:lnTo>
                  <a:lnTo>
                    <a:pt x="5" y="93"/>
                  </a:lnTo>
                  <a:lnTo>
                    <a:pt x="0" y="70"/>
                  </a:lnTo>
                  <a:lnTo>
                    <a:pt x="1" y="44"/>
                  </a:lnTo>
                  <a:lnTo>
                    <a:pt x="4" y="21"/>
                  </a:lnTo>
                  <a:lnTo>
                    <a:pt x="12"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70" name="Freeform 74">
              <a:extLst>
                <a:ext uri="{FF2B5EF4-FFF2-40B4-BE49-F238E27FC236}">
                  <a16:creationId xmlns:a16="http://schemas.microsoft.com/office/drawing/2014/main" id="{4A53800A-03E6-6046-93A4-B4E45974B88B}"/>
                </a:ext>
              </a:extLst>
            </p:cNvPr>
            <p:cNvSpPr>
              <a:spLocks/>
            </p:cNvSpPr>
            <p:nvPr/>
          </p:nvSpPr>
          <p:spPr bwMode="auto">
            <a:xfrm>
              <a:off x="4077" y="1404"/>
              <a:ext cx="116" cy="105"/>
            </a:xfrm>
            <a:custGeom>
              <a:avLst/>
              <a:gdLst>
                <a:gd name="T0" fmla="*/ 246 w 348"/>
                <a:gd name="T1" fmla="*/ 278 h 315"/>
                <a:gd name="T2" fmla="*/ 199 w 348"/>
                <a:gd name="T3" fmla="*/ 249 h 315"/>
                <a:gd name="T4" fmla="*/ 175 w 348"/>
                <a:gd name="T5" fmla="*/ 220 h 315"/>
                <a:gd name="T6" fmla="*/ 168 w 348"/>
                <a:gd name="T7" fmla="*/ 180 h 315"/>
                <a:gd name="T8" fmla="*/ 127 w 348"/>
                <a:gd name="T9" fmla="*/ 151 h 315"/>
                <a:gd name="T10" fmla="*/ 67 w 348"/>
                <a:gd name="T11" fmla="*/ 123 h 315"/>
                <a:gd name="T12" fmla="*/ 41 w 348"/>
                <a:gd name="T13" fmla="*/ 81 h 315"/>
                <a:gd name="T14" fmla="*/ 16 w 348"/>
                <a:gd name="T15" fmla="*/ 32 h 315"/>
                <a:gd name="T16" fmla="*/ 14 w 348"/>
                <a:gd name="T17" fmla="*/ 17 h 315"/>
                <a:gd name="T18" fmla="*/ 39 w 348"/>
                <a:gd name="T19" fmla="*/ 47 h 315"/>
                <a:gd name="T20" fmla="*/ 62 w 348"/>
                <a:gd name="T21" fmla="*/ 98 h 315"/>
                <a:gd name="T22" fmla="*/ 85 w 348"/>
                <a:gd name="T23" fmla="*/ 99 h 315"/>
                <a:gd name="T24" fmla="*/ 104 w 348"/>
                <a:gd name="T25" fmla="*/ 63 h 315"/>
                <a:gd name="T26" fmla="*/ 115 w 348"/>
                <a:gd name="T27" fmla="*/ 21 h 315"/>
                <a:gd name="T28" fmla="*/ 112 w 348"/>
                <a:gd name="T29" fmla="*/ 2 h 315"/>
                <a:gd name="T30" fmla="*/ 124 w 348"/>
                <a:gd name="T31" fmla="*/ 8 h 315"/>
                <a:gd name="T32" fmla="*/ 121 w 348"/>
                <a:gd name="T33" fmla="*/ 34 h 315"/>
                <a:gd name="T34" fmla="*/ 110 w 348"/>
                <a:gd name="T35" fmla="*/ 79 h 315"/>
                <a:gd name="T36" fmla="*/ 99 w 348"/>
                <a:gd name="T37" fmla="*/ 108 h 315"/>
                <a:gd name="T38" fmla="*/ 119 w 348"/>
                <a:gd name="T39" fmla="*/ 117 h 315"/>
                <a:gd name="T40" fmla="*/ 153 w 348"/>
                <a:gd name="T41" fmla="*/ 119 h 315"/>
                <a:gd name="T42" fmla="*/ 182 w 348"/>
                <a:gd name="T43" fmla="*/ 137 h 315"/>
                <a:gd name="T44" fmla="*/ 200 w 348"/>
                <a:gd name="T45" fmla="*/ 129 h 315"/>
                <a:gd name="T46" fmla="*/ 225 w 348"/>
                <a:gd name="T47" fmla="*/ 113 h 315"/>
                <a:gd name="T48" fmla="*/ 250 w 348"/>
                <a:gd name="T49" fmla="*/ 90 h 315"/>
                <a:gd name="T50" fmla="*/ 261 w 348"/>
                <a:gd name="T51" fmla="*/ 84 h 315"/>
                <a:gd name="T52" fmla="*/ 245 w 348"/>
                <a:gd name="T53" fmla="*/ 112 h 315"/>
                <a:gd name="T54" fmla="*/ 213 w 348"/>
                <a:gd name="T55" fmla="*/ 132 h 315"/>
                <a:gd name="T56" fmla="*/ 209 w 348"/>
                <a:gd name="T57" fmla="*/ 147 h 315"/>
                <a:gd name="T58" fmla="*/ 247 w 348"/>
                <a:gd name="T59" fmla="*/ 157 h 315"/>
                <a:gd name="T60" fmla="*/ 267 w 348"/>
                <a:gd name="T61" fmla="*/ 177 h 315"/>
                <a:gd name="T62" fmla="*/ 272 w 348"/>
                <a:gd name="T63" fmla="*/ 162 h 315"/>
                <a:gd name="T64" fmla="*/ 290 w 348"/>
                <a:gd name="T65" fmla="*/ 130 h 315"/>
                <a:gd name="T66" fmla="*/ 294 w 348"/>
                <a:gd name="T67" fmla="*/ 74 h 315"/>
                <a:gd name="T68" fmla="*/ 289 w 348"/>
                <a:gd name="T69" fmla="*/ 36 h 315"/>
                <a:gd name="T70" fmla="*/ 290 w 348"/>
                <a:gd name="T71" fmla="*/ 21 h 315"/>
                <a:gd name="T72" fmla="*/ 300 w 348"/>
                <a:gd name="T73" fmla="*/ 40 h 315"/>
                <a:gd name="T74" fmla="*/ 304 w 348"/>
                <a:gd name="T75" fmla="*/ 72 h 315"/>
                <a:gd name="T76" fmla="*/ 306 w 348"/>
                <a:gd name="T77" fmla="*/ 113 h 315"/>
                <a:gd name="T78" fmla="*/ 319 w 348"/>
                <a:gd name="T79" fmla="*/ 131 h 315"/>
                <a:gd name="T80" fmla="*/ 331 w 348"/>
                <a:gd name="T81" fmla="*/ 92 h 315"/>
                <a:gd name="T82" fmla="*/ 330 w 348"/>
                <a:gd name="T83" fmla="*/ 60 h 315"/>
                <a:gd name="T84" fmla="*/ 342 w 348"/>
                <a:gd name="T85" fmla="*/ 34 h 315"/>
                <a:gd name="T86" fmla="*/ 346 w 348"/>
                <a:gd name="T87" fmla="*/ 63 h 315"/>
                <a:gd name="T88" fmla="*/ 346 w 348"/>
                <a:gd name="T89" fmla="*/ 117 h 315"/>
                <a:gd name="T90" fmla="*/ 326 w 348"/>
                <a:gd name="T91" fmla="*/ 170 h 315"/>
                <a:gd name="T92" fmla="*/ 324 w 348"/>
                <a:gd name="T93" fmla="*/ 230 h 315"/>
                <a:gd name="T94" fmla="*/ 345 w 348"/>
                <a:gd name="T95" fmla="*/ 271 h 31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48"/>
                <a:gd name="T145" fmla="*/ 0 h 315"/>
                <a:gd name="T146" fmla="*/ 348 w 348"/>
                <a:gd name="T147" fmla="*/ 315 h 31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48" h="315">
                  <a:moveTo>
                    <a:pt x="258" y="315"/>
                  </a:moveTo>
                  <a:lnTo>
                    <a:pt x="254" y="290"/>
                  </a:lnTo>
                  <a:lnTo>
                    <a:pt x="246" y="278"/>
                  </a:lnTo>
                  <a:lnTo>
                    <a:pt x="233" y="267"/>
                  </a:lnTo>
                  <a:lnTo>
                    <a:pt x="215" y="258"/>
                  </a:lnTo>
                  <a:lnTo>
                    <a:pt x="199" y="249"/>
                  </a:lnTo>
                  <a:lnTo>
                    <a:pt x="184" y="240"/>
                  </a:lnTo>
                  <a:lnTo>
                    <a:pt x="178" y="232"/>
                  </a:lnTo>
                  <a:lnTo>
                    <a:pt x="175" y="220"/>
                  </a:lnTo>
                  <a:lnTo>
                    <a:pt x="174" y="200"/>
                  </a:lnTo>
                  <a:lnTo>
                    <a:pt x="171" y="190"/>
                  </a:lnTo>
                  <a:lnTo>
                    <a:pt x="168" y="180"/>
                  </a:lnTo>
                  <a:lnTo>
                    <a:pt x="159" y="169"/>
                  </a:lnTo>
                  <a:lnTo>
                    <a:pt x="144" y="158"/>
                  </a:lnTo>
                  <a:lnTo>
                    <a:pt x="127" y="151"/>
                  </a:lnTo>
                  <a:lnTo>
                    <a:pt x="107" y="142"/>
                  </a:lnTo>
                  <a:lnTo>
                    <a:pt x="86" y="133"/>
                  </a:lnTo>
                  <a:lnTo>
                    <a:pt x="67" y="123"/>
                  </a:lnTo>
                  <a:lnTo>
                    <a:pt x="57" y="112"/>
                  </a:lnTo>
                  <a:lnTo>
                    <a:pt x="48" y="100"/>
                  </a:lnTo>
                  <a:lnTo>
                    <a:pt x="41" y="81"/>
                  </a:lnTo>
                  <a:lnTo>
                    <a:pt x="32" y="58"/>
                  </a:lnTo>
                  <a:lnTo>
                    <a:pt x="24" y="42"/>
                  </a:lnTo>
                  <a:lnTo>
                    <a:pt x="16" y="32"/>
                  </a:lnTo>
                  <a:lnTo>
                    <a:pt x="7" y="23"/>
                  </a:lnTo>
                  <a:lnTo>
                    <a:pt x="0" y="19"/>
                  </a:lnTo>
                  <a:lnTo>
                    <a:pt x="14" y="17"/>
                  </a:lnTo>
                  <a:lnTo>
                    <a:pt x="22" y="23"/>
                  </a:lnTo>
                  <a:lnTo>
                    <a:pt x="31" y="34"/>
                  </a:lnTo>
                  <a:lnTo>
                    <a:pt x="39" y="47"/>
                  </a:lnTo>
                  <a:lnTo>
                    <a:pt x="45" y="66"/>
                  </a:lnTo>
                  <a:lnTo>
                    <a:pt x="54" y="84"/>
                  </a:lnTo>
                  <a:lnTo>
                    <a:pt x="62" y="98"/>
                  </a:lnTo>
                  <a:lnTo>
                    <a:pt x="74" y="108"/>
                  </a:lnTo>
                  <a:lnTo>
                    <a:pt x="82" y="112"/>
                  </a:lnTo>
                  <a:lnTo>
                    <a:pt x="85" y="99"/>
                  </a:lnTo>
                  <a:lnTo>
                    <a:pt x="90" y="88"/>
                  </a:lnTo>
                  <a:lnTo>
                    <a:pt x="98" y="75"/>
                  </a:lnTo>
                  <a:lnTo>
                    <a:pt x="104" y="63"/>
                  </a:lnTo>
                  <a:lnTo>
                    <a:pt x="109" y="49"/>
                  </a:lnTo>
                  <a:lnTo>
                    <a:pt x="111" y="34"/>
                  </a:lnTo>
                  <a:lnTo>
                    <a:pt x="115" y="21"/>
                  </a:lnTo>
                  <a:lnTo>
                    <a:pt x="116" y="15"/>
                  </a:lnTo>
                  <a:lnTo>
                    <a:pt x="115" y="8"/>
                  </a:lnTo>
                  <a:lnTo>
                    <a:pt x="112" y="2"/>
                  </a:lnTo>
                  <a:lnTo>
                    <a:pt x="120" y="0"/>
                  </a:lnTo>
                  <a:lnTo>
                    <a:pt x="124" y="8"/>
                  </a:lnTo>
                  <a:lnTo>
                    <a:pt x="124" y="15"/>
                  </a:lnTo>
                  <a:lnTo>
                    <a:pt x="124" y="21"/>
                  </a:lnTo>
                  <a:lnTo>
                    <a:pt x="121" y="34"/>
                  </a:lnTo>
                  <a:lnTo>
                    <a:pt x="119" y="51"/>
                  </a:lnTo>
                  <a:lnTo>
                    <a:pt x="115" y="66"/>
                  </a:lnTo>
                  <a:lnTo>
                    <a:pt x="110" y="79"/>
                  </a:lnTo>
                  <a:lnTo>
                    <a:pt x="103" y="91"/>
                  </a:lnTo>
                  <a:lnTo>
                    <a:pt x="99" y="102"/>
                  </a:lnTo>
                  <a:lnTo>
                    <a:pt x="99" y="108"/>
                  </a:lnTo>
                  <a:lnTo>
                    <a:pt x="101" y="111"/>
                  </a:lnTo>
                  <a:lnTo>
                    <a:pt x="107" y="114"/>
                  </a:lnTo>
                  <a:lnTo>
                    <a:pt x="119" y="117"/>
                  </a:lnTo>
                  <a:lnTo>
                    <a:pt x="132" y="115"/>
                  </a:lnTo>
                  <a:lnTo>
                    <a:pt x="145" y="117"/>
                  </a:lnTo>
                  <a:lnTo>
                    <a:pt x="153" y="119"/>
                  </a:lnTo>
                  <a:lnTo>
                    <a:pt x="161" y="124"/>
                  </a:lnTo>
                  <a:lnTo>
                    <a:pt x="170" y="131"/>
                  </a:lnTo>
                  <a:lnTo>
                    <a:pt x="182" y="137"/>
                  </a:lnTo>
                  <a:lnTo>
                    <a:pt x="195" y="145"/>
                  </a:lnTo>
                  <a:lnTo>
                    <a:pt x="197" y="136"/>
                  </a:lnTo>
                  <a:lnTo>
                    <a:pt x="200" y="129"/>
                  </a:lnTo>
                  <a:lnTo>
                    <a:pt x="206" y="123"/>
                  </a:lnTo>
                  <a:lnTo>
                    <a:pt x="215" y="117"/>
                  </a:lnTo>
                  <a:lnTo>
                    <a:pt x="225" y="113"/>
                  </a:lnTo>
                  <a:lnTo>
                    <a:pt x="236" y="108"/>
                  </a:lnTo>
                  <a:lnTo>
                    <a:pt x="245" y="99"/>
                  </a:lnTo>
                  <a:lnTo>
                    <a:pt x="250" y="90"/>
                  </a:lnTo>
                  <a:lnTo>
                    <a:pt x="254" y="81"/>
                  </a:lnTo>
                  <a:lnTo>
                    <a:pt x="261" y="84"/>
                  </a:lnTo>
                  <a:lnTo>
                    <a:pt x="258" y="91"/>
                  </a:lnTo>
                  <a:lnTo>
                    <a:pt x="253" y="103"/>
                  </a:lnTo>
                  <a:lnTo>
                    <a:pt x="245" y="112"/>
                  </a:lnTo>
                  <a:lnTo>
                    <a:pt x="233" y="120"/>
                  </a:lnTo>
                  <a:lnTo>
                    <a:pt x="220" y="126"/>
                  </a:lnTo>
                  <a:lnTo>
                    <a:pt x="213" y="132"/>
                  </a:lnTo>
                  <a:lnTo>
                    <a:pt x="206" y="142"/>
                  </a:lnTo>
                  <a:lnTo>
                    <a:pt x="206" y="144"/>
                  </a:lnTo>
                  <a:lnTo>
                    <a:pt x="209" y="147"/>
                  </a:lnTo>
                  <a:lnTo>
                    <a:pt x="220" y="151"/>
                  </a:lnTo>
                  <a:lnTo>
                    <a:pt x="235" y="153"/>
                  </a:lnTo>
                  <a:lnTo>
                    <a:pt x="247" y="157"/>
                  </a:lnTo>
                  <a:lnTo>
                    <a:pt x="256" y="160"/>
                  </a:lnTo>
                  <a:lnTo>
                    <a:pt x="262" y="168"/>
                  </a:lnTo>
                  <a:lnTo>
                    <a:pt x="267" y="177"/>
                  </a:lnTo>
                  <a:lnTo>
                    <a:pt x="270" y="191"/>
                  </a:lnTo>
                  <a:lnTo>
                    <a:pt x="271" y="167"/>
                  </a:lnTo>
                  <a:lnTo>
                    <a:pt x="272" y="162"/>
                  </a:lnTo>
                  <a:lnTo>
                    <a:pt x="274" y="156"/>
                  </a:lnTo>
                  <a:lnTo>
                    <a:pt x="282" y="146"/>
                  </a:lnTo>
                  <a:lnTo>
                    <a:pt x="290" y="130"/>
                  </a:lnTo>
                  <a:lnTo>
                    <a:pt x="295" y="110"/>
                  </a:lnTo>
                  <a:lnTo>
                    <a:pt x="295" y="90"/>
                  </a:lnTo>
                  <a:lnTo>
                    <a:pt x="294" y="74"/>
                  </a:lnTo>
                  <a:lnTo>
                    <a:pt x="294" y="70"/>
                  </a:lnTo>
                  <a:lnTo>
                    <a:pt x="292" y="50"/>
                  </a:lnTo>
                  <a:lnTo>
                    <a:pt x="289" y="36"/>
                  </a:lnTo>
                  <a:lnTo>
                    <a:pt x="284" y="25"/>
                  </a:lnTo>
                  <a:lnTo>
                    <a:pt x="278" y="17"/>
                  </a:lnTo>
                  <a:lnTo>
                    <a:pt x="290" y="21"/>
                  </a:lnTo>
                  <a:lnTo>
                    <a:pt x="294" y="29"/>
                  </a:lnTo>
                  <a:lnTo>
                    <a:pt x="300" y="40"/>
                  </a:lnTo>
                  <a:lnTo>
                    <a:pt x="302" y="54"/>
                  </a:lnTo>
                  <a:lnTo>
                    <a:pt x="304" y="72"/>
                  </a:lnTo>
                  <a:lnTo>
                    <a:pt x="304" y="81"/>
                  </a:lnTo>
                  <a:lnTo>
                    <a:pt x="306" y="98"/>
                  </a:lnTo>
                  <a:lnTo>
                    <a:pt x="306" y="113"/>
                  </a:lnTo>
                  <a:lnTo>
                    <a:pt x="307" y="125"/>
                  </a:lnTo>
                  <a:lnTo>
                    <a:pt x="311" y="142"/>
                  </a:lnTo>
                  <a:lnTo>
                    <a:pt x="319" y="131"/>
                  </a:lnTo>
                  <a:lnTo>
                    <a:pt x="325" y="119"/>
                  </a:lnTo>
                  <a:lnTo>
                    <a:pt x="329" y="108"/>
                  </a:lnTo>
                  <a:lnTo>
                    <a:pt x="331" y="92"/>
                  </a:lnTo>
                  <a:lnTo>
                    <a:pt x="331" y="78"/>
                  </a:lnTo>
                  <a:lnTo>
                    <a:pt x="331" y="66"/>
                  </a:lnTo>
                  <a:lnTo>
                    <a:pt x="330" y="60"/>
                  </a:lnTo>
                  <a:lnTo>
                    <a:pt x="328" y="43"/>
                  </a:lnTo>
                  <a:lnTo>
                    <a:pt x="326" y="34"/>
                  </a:lnTo>
                  <a:lnTo>
                    <a:pt x="342" y="34"/>
                  </a:lnTo>
                  <a:lnTo>
                    <a:pt x="344" y="47"/>
                  </a:lnTo>
                  <a:lnTo>
                    <a:pt x="346" y="63"/>
                  </a:lnTo>
                  <a:lnTo>
                    <a:pt x="348" y="79"/>
                  </a:lnTo>
                  <a:lnTo>
                    <a:pt x="348" y="96"/>
                  </a:lnTo>
                  <a:lnTo>
                    <a:pt x="346" y="117"/>
                  </a:lnTo>
                  <a:lnTo>
                    <a:pt x="340" y="134"/>
                  </a:lnTo>
                  <a:lnTo>
                    <a:pt x="331" y="154"/>
                  </a:lnTo>
                  <a:lnTo>
                    <a:pt x="326" y="170"/>
                  </a:lnTo>
                  <a:lnTo>
                    <a:pt x="323" y="188"/>
                  </a:lnTo>
                  <a:lnTo>
                    <a:pt x="322" y="207"/>
                  </a:lnTo>
                  <a:lnTo>
                    <a:pt x="324" y="230"/>
                  </a:lnTo>
                  <a:lnTo>
                    <a:pt x="328" y="246"/>
                  </a:lnTo>
                  <a:lnTo>
                    <a:pt x="336" y="263"/>
                  </a:lnTo>
                  <a:lnTo>
                    <a:pt x="345" y="271"/>
                  </a:lnTo>
                  <a:lnTo>
                    <a:pt x="258" y="315"/>
                  </a:lnTo>
                  <a:close/>
                </a:path>
              </a:pathLst>
            </a:custGeom>
            <a:solidFill>
              <a:srgbClr val="008080"/>
            </a:solidFill>
            <a:ln w="0">
              <a:solidFill>
                <a:srgbClr val="8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71" name="Freeform 75">
              <a:extLst>
                <a:ext uri="{FF2B5EF4-FFF2-40B4-BE49-F238E27FC236}">
                  <a16:creationId xmlns:a16="http://schemas.microsoft.com/office/drawing/2014/main" id="{191F425E-BA4A-0E4C-982A-2A056DC5CE7A}"/>
                </a:ext>
              </a:extLst>
            </p:cNvPr>
            <p:cNvSpPr>
              <a:spLocks/>
            </p:cNvSpPr>
            <p:nvPr/>
          </p:nvSpPr>
          <p:spPr bwMode="auto">
            <a:xfrm>
              <a:off x="4130" y="1494"/>
              <a:ext cx="102" cy="160"/>
            </a:xfrm>
            <a:custGeom>
              <a:avLst/>
              <a:gdLst>
                <a:gd name="T0" fmla="*/ 211 w 304"/>
                <a:gd name="T1" fmla="*/ 42 h 479"/>
                <a:gd name="T2" fmla="*/ 213 w 304"/>
                <a:gd name="T3" fmla="*/ 67 h 479"/>
                <a:gd name="T4" fmla="*/ 230 w 304"/>
                <a:gd name="T5" fmla="*/ 94 h 479"/>
                <a:gd name="T6" fmla="*/ 239 w 304"/>
                <a:gd name="T7" fmla="*/ 129 h 479"/>
                <a:gd name="T8" fmla="*/ 233 w 304"/>
                <a:gd name="T9" fmla="*/ 163 h 479"/>
                <a:gd name="T10" fmla="*/ 231 w 304"/>
                <a:gd name="T11" fmla="*/ 184 h 479"/>
                <a:gd name="T12" fmla="*/ 240 w 304"/>
                <a:gd name="T13" fmla="*/ 213 h 479"/>
                <a:gd name="T14" fmla="*/ 241 w 304"/>
                <a:gd name="T15" fmla="*/ 255 h 479"/>
                <a:gd name="T16" fmla="*/ 242 w 304"/>
                <a:gd name="T17" fmla="*/ 292 h 479"/>
                <a:gd name="T18" fmla="*/ 235 w 304"/>
                <a:gd name="T19" fmla="*/ 330 h 479"/>
                <a:gd name="T20" fmla="*/ 234 w 304"/>
                <a:gd name="T21" fmla="*/ 380 h 479"/>
                <a:gd name="T22" fmla="*/ 244 w 304"/>
                <a:gd name="T23" fmla="*/ 416 h 479"/>
                <a:gd name="T24" fmla="*/ 269 w 304"/>
                <a:gd name="T25" fmla="*/ 439 h 479"/>
                <a:gd name="T26" fmla="*/ 286 w 304"/>
                <a:gd name="T27" fmla="*/ 454 h 479"/>
                <a:gd name="T28" fmla="*/ 246 w 304"/>
                <a:gd name="T29" fmla="*/ 454 h 479"/>
                <a:gd name="T30" fmla="*/ 209 w 304"/>
                <a:gd name="T31" fmla="*/ 462 h 479"/>
                <a:gd name="T32" fmla="*/ 184 w 304"/>
                <a:gd name="T33" fmla="*/ 462 h 479"/>
                <a:gd name="T34" fmla="*/ 167 w 304"/>
                <a:gd name="T35" fmla="*/ 446 h 479"/>
                <a:gd name="T36" fmla="*/ 163 w 304"/>
                <a:gd name="T37" fmla="*/ 446 h 479"/>
                <a:gd name="T38" fmla="*/ 167 w 304"/>
                <a:gd name="T39" fmla="*/ 476 h 479"/>
                <a:gd name="T40" fmla="*/ 160 w 304"/>
                <a:gd name="T41" fmla="*/ 471 h 479"/>
                <a:gd name="T42" fmla="*/ 141 w 304"/>
                <a:gd name="T43" fmla="*/ 448 h 479"/>
                <a:gd name="T44" fmla="*/ 112 w 304"/>
                <a:gd name="T45" fmla="*/ 434 h 479"/>
                <a:gd name="T46" fmla="*/ 74 w 304"/>
                <a:gd name="T47" fmla="*/ 433 h 479"/>
                <a:gd name="T48" fmla="*/ 38 w 304"/>
                <a:gd name="T49" fmla="*/ 438 h 479"/>
                <a:gd name="T50" fmla="*/ 0 w 304"/>
                <a:gd name="T51" fmla="*/ 446 h 479"/>
                <a:gd name="T52" fmla="*/ 31 w 304"/>
                <a:gd name="T53" fmla="*/ 427 h 479"/>
                <a:gd name="T54" fmla="*/ 43 w 304"/>
                <a:gd name="T55" fmla="*/ 412 h 479"/>
                <a:gd name="T56" fmla="*/ 64 w 304"/>
                <a:gd name="T57" fmla="*/ 368 h 479"/>
                <a:gd name="T58" fmla="*/ 78 w 304"/>
                <a:gd name="T59" fmla="*/ 324 h 479"/>
                <a:gd name="T60" fmla="*/ 105 w 304"/>
                <a:gd name="T61" fmla="*/ 279 h 479"/>
                <a:gd name="T62" fmla="*/ 144 w 304"/>
                <a:gd name="T63" fmla="*/ 218 h 479"/>
                <a:gd name="T64" fmla="*/ 146 w 304"/>
                <a:gd name="T65" fmla="*/ 179 h 479"/>
                <a:gd name="T66" fmla="*/ 140 w 304"/>
                <a:gd name="T67" fmla="*/ 144 h 479"/>
                <a:gd name="T68" fmla="*/ 121 w 304"/>
                <a:gd name="T69" fmla="*/ 111 h 479"/>
                <a:gd name="T70" fmla="*/ 109 w 304"/>
                <a:gd name="T71" fmla="*/ 88 h 479"/>
                <a:gd name="T72" fmla="*/ 97 w 304"/>
                <a:gd name="T73" fmla="*/ 44 h 479"/>
                <a:gd name="T74" fmla="*/ 217 w 304"/>
                <a:gd name="T75" fmla="*/ 29 h 47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4"/>
                <a:gd name="T115" fmla="*/ 0 h 479"/>
                <a:gd name="T116" fmla="*/ 304 w 304"/>
                <a:gd name="T117" fmla="*/ 479 h 47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4" h="479">
                  <a:moveTo>
                    <a:pt x="217" y="29"/>
                  </a:moveTo>
                  <a:lnTo>
                    <a:pt x="211" y="42"/>
                  </a:lnTo>
                  <a:lnTo>
                    <a:pt x="210" y="55"/>
                  </a:lnTo>
                  <a:lnTo>
                    <a:pt x="213" y="67"/>
                  </a:lnTo>
                  <a:lnTo>
                    <a:pt x="221" y="79"/>
                  </a:lnTo>
                  <a:lnTo>
                    <a:pt x="230" y="94"/>
                  </a:lnTo>
                  <a:lnTo>
                    <a:pt x="236" y="110"/>
                  </a:lnTo>
                  <a:lnTo>
                    <a:pt x="239" y="129"/>
                  </a:lnTo>
                  <a:lnTo>
                    <a:pt x="237" y="146"/>
                  </a:lnTo>
                  <a:lnTo>
                    <a:pt x="233" y="163"/>
                  </a:lnTo>
                  <a:lnTo>
                    <a:pt x="230" y="175"/>
                  </a:lnTo>
                  <a:lnTo>
                    <a:pt x="231" y="184"/>
                  </a:lnTo>
                  <a:lnTo>
                    <a:pt x="236" y="199"/>
                  </a:lnTo>
                  <a:lnTo>
                    <a:pt x="240" y="213"/>
                  </a:lnTo>
                  <a:lnTo>
                    <a:pt x="242" y="231"/>
                  </a:lnTo>
                  <a:lnTo>
                    <a:pt x="241" y="255"/>
                  </a:lnTo>
                  <a:lnTo>
                    <a:pt x="242" y="275"/>
                  </a:lnTo>
                  <a:lnTo>
                    <a:pt x="242" y="292"/>
                  </a:lnTo>
                  <a:lnTo>
                    <a:pt x="237" y="313"/>
                  </a:lnTo>
                  <a:lnTo>
                    <a:pt x="235" y="330"/>
                  </a:lnTo>
                  <a:lnTo>
                    <a:pt x="233" y="350"/>
                  </a:lnTo>
                  <a:lnTo>
                    <a:pt x="234" y="380"/>
                  </a:lnTo>
                  <a:lnTo>
                    <a:pt x="239" y="400"/>
                  </a:lnTo>
                  <a:lnTo>
                    <a:pt x="244" y="416"/>
                  </a:lnTo>
                  <a:lnTo>
                    <a:pt x="255" y="428"/>
                  </a:lnTo>
                  <a:lnTo>
                    <a:pt x="269" y="439"/>
                  </a:lnTo>
                  <a:lnTo>
                    <a:pt x="304" y="458"/>
                  </a:lnTo>
                  <a:lnTo>
                    <a:pt x="286" y="454"/>
                  </a:lnTo>
                  <a:lnTo>
                    <a:pt x="267" y="451"/>
                  </a:lnTo>
                  <a:lnTo>
                    <a:pt x="246" y="454"/>
                  </a:lnTo>
                  <a:lnTo>
                    <a:pt x="226" y="458"/>
                  </a:lnTo>
                  <a:lnTo>
                    <a:pt x="209" y="462"/>
                  </a:lnTo>
                  <a:lnTo>
                    <a:pt x="195" y="465"/>
                  </a:lnTo>
                  <a:lnTo>
                    <a:pt x="184" y="462"/>
                  </a:lnTo>
                  <a:lnTo>
                    <a:pt x="175" y="456"/>
                  </a:lnTo>
                  <a:lnTo>
                    <a:pt x="167" y="446"/>
                  </a:lnTo>
                  <a:lnTo>
                    <a:pt x="158" y="426"/>
                  </a:lnTo>
                  <a:lnTo>
                    <a:pt x="163" y="446"/>
                  </a:lnTo>
                  <a:lnTo>
                    <a:pt x="164" y="459"/>
                  </a:lnTo>
                  <a:lnTo>
                    <a:pt x="167" y="476"/>
                  </a:lnTo>
                  <a:lnTo>
                    <a:pt x="167" y="479"/>
                  </a:lnTo>
                  <a:lnTo>
                    <a:pt x="160" y="471"/>
                  </a:lnTo>
                  <a:lnTo>
                    <a:pt x="151" y="459"/>
                  </a:lnTo>
                  <a:lnTo>
                    <a:pt x="141" y="448"/>
                  </a:lnTo>
                  <a:lnTo>
                    <a:pt x="127" y="438"/>
                  </a:lnTo>
                  <a:lnTo>
                    <a:pt x="112" y="434"/>
                  </a:lnTo>
                  <a:lnTo>
                    <a:pt x="93" y="433"/>
                  </a:lnTo>
                  <a:lnTo>
                    <a:pt x="74" y="433"/>
                  </a:lnTo>
                  <a:lnTo>
                    <a:pt x="54" y="435"/>
                  </a:lnTo>
                  <a:lnTo>
                    <a:pt x="38" y="438"/>
                  </a:lnTo>
                  <a:lnTo>
                    <a:pt x="17" y="442"/>
                  </a:lnTo>
                  <a:lnTo>
                    <a:pt x="0" y="446"/>
                  </a:lnTo>
                  <a:lnTo>
                    <a:pt x="17" y="438"/>
                  </a:lnTo>
                  <a:lnTo>
                    <a:pt x="31" y="427"/>
                  </a:lnTo>
                  <a:lnTo>
                    <a:pt x="39" y="420"/>
                  </a:lnTo>
                  <a:lnTo>
                    <a:pt x="43" y="412"/>
                  </a:lnTo>
                  <a:lnTo>
                    <a:pt x="56" y="390"/>
                  </a:lnTo>
                  <a:lnTo>
                    <a:pt x="64" y="368"/>
                  </a:lnTo>
                  <a:lnTo>
                    <a:pt x="71" y="346"/>
                  </a:lnTo>
                  <a:lnTo>
                    <a:pt x="78" y="324"/>
                  </a:lnTo>
                  <a:lnTo>
                    <a:pt x="89" y="304"/>
                  </a:lnTo>
                  <a:lnTo>
                    <a:pt x="105" y="279"/>
                  </a:lnTo>
                  <a:lnTo>
                    <a:pt x="126" y="251"/>
                  </a:lnTo>
                  <a:lnTo>
                    <a:pt x="144" y="218"/>
                  </a:lnTo>
                  <a:lnTo>
                    <a:pt x="146" y="198"/>
                  </a:lnTo>
                  <a:lnTo>
                    <a:pt x="146" y="179"/>
                  </a:lnTo>
                  <a:lnTo>
                    <a:pt x="144" y="159"/>
                  </a:lnTo>
                  <a:lnTo>
                    <a:pt x="140" y="144"/>
                  </a:lnTo>
                  <a:lnTo>
                    <a:pt x="131" y="125"/>
                  </a:lnTo>
                  <a:lnTo>
                    <a:pt x="121" y="111"/>
                  </a:lnTo>
                  <a:lnTo>
                    <a:pt x="113" y="99"/>
                  </a:lnTo>
                  <a:lnTo>
                    <a:pt x="109" y="88"/>
                  </a:lnTo>
                  <a:lnTo>
                    <a:pt x="104" y="62"/>
                  </a:lnTo>
                  <a:lnTo>
                    <a:pt x="97" y="44"/>
                  </a:lnTo>
                  <a:lnTo>
                    <a:pt x="184" y="0"/>
                  </a:lnTo>
                  <a:lnTo>
                    <a:pt x="217" y="29"/>
                  </a:lnTo>
                  <a:close/>
                </a:path>
              </a:pathLst>
            </a:custGeom>
            <a:solidFill>
              <a:srgbClr val="008080"/>
            </a:solidFill>
            <a:ln w="0">
              <a:solidFill>
                <a:srgbClr val="8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72" name="Freeform 76">
              <a:extLst>
                <a:ext uri="{FF2B5EF4-FFF2-40B4-BE49-F238E27FC236}">
                  <a16:creationId xmlns:a16="http://schemas.microsoft.com/office/drawing/2014/main" id="{A41FEA78-80A0-0149-BB99-C2BCE2CF3C47}"/>
                </a:ext>
              </a:extLst>
            </p:cNvPr>
            <p:cNvSpPr>
              <a:spLocks/>
            </p:cNvSpPr>
            <p:nvPr/>
          </p:nvSpPr>
          <p:spPr bwMode="auto">
            <a:xfrm>
              <a:off x="4192" y="1403"/>
              <a:ext cx="227" cy="101"/>
            </a:xfrm>
            <a:custGeom>
              <a:avLst/>
              <a:gdLst>
                <a:gd name="T0" fmla="*/ 89 w 683"/>
                <a:gd name="T1" fmla="*/ 261 h 303"/>
                <a:gd name="T2" fmla="*/ 178 w 683"/>
                <a:gd name="T3" fmla="*/ 235 h 303"/>
                <a:gd name="T4" fmla="*/ 245 w 683"/>
                <a:gd name="T5" fmla="*/ 194 h 303"/>
                <a:gd name="T6" fmla="*/ 308 w 683"/>
                <a:gd name="T7" fmla="*/ 145 h 303"/>
                <a:gd name="T8" fmla="*/ 387 w 683"/>
                <a:gd name="T9" fmla="*/ 135 h 303"/>
                <a:gd name="T10" fmla="*/ 483 w 683"/>
                <a:gd name="T11" fmla="*/ 149 h 303"/>
                <a:gd name="T12" fmla="*/ 559 w 683"/>
                <a:gd name="T13" fmla="*/ 129 h 303"/>
                <a:gd name="T14" fmla="*/ 618 w 683"/>
                <a:gd name="T15" fmla="*/ 92 h 303"/>
                <a:gd name="T16" fmla="*/ 674 w 683"/>
                <a:gd name="T17" fmla="*/ 71 h 303"/>
                <a:gd name="T18" fmla="*/ 672 w 683"/>
                <a:gd name="T19" fmla="*/ 59 h 303"/>
                <a:gd name="T20" fmla="*/ 613 w 683"/>
                <a:gd name="T21" fmla="*/ 84 h 303"/>
                <a:gd name="T22" fmla="*/ 592 w 683"/>
                <a:gd name="T23" fmla="*/ 66 h 303"/>
                <a:gd name="T24" fmla="*/ 584 w 683"/>
                <a:gd name="T25" fmla="*/ 19 h 303"/>
                <a:gd name="T26" fmla="*/ 579 w 683"/>
                <a:gd name="T27" fmla="*/ 82 h 303"/>
                <a:gd name="T28" fmla="*/ 541 w 683"/>
                <a:gd name="T29" fmla="*/ 109 h 303"/>
                <a:gd name="T30" fmla="*/ 508 w 683"/>
                <a:gd name="T31" fmla="*/ 108 h 303"/>
                <a:gd name="T32" fmla="*/ 546 w 683"/>
                <a:gd name="T33" fmla="*/ 58 h 303"/>
                <a:gd name="T34" fmla="*/ 542 w 683"/>
                <a:gd name="T35" fmla="*/ 22 h 303"/>
                <a:gd name="T36" fmla="*/ 532 w 683"/>
                <a:gd name="T37" fmla="*/ 70 h 303"/>
                <a:gd name="T38" fmla="*/ 478 w 683"/>
                <a:gd name="T39" fmla="*/ 110 h 303"/>
                <a:gd name="T40" fmla="*/ 408 w 683"/>
                <a:gd name="T41" fmla="*/ 94 h 303"/>
                <a:gd name="T42" fmla="*/ 333 w 683"/>
                <a:gd name="T43" fmla="*/ 94 h 303"/>
                <a:gd name="T44" fmla="*/ 396 w 683"/>
                <a:gd name="T45" fmla="*/ 56 h 303"/>
                <a:gd name="T46" fmla="*/ 417 w 683"/>
                <a:gd name="T47" fmla="*/ 33 h 303"/>
                <a:gd name="T48" fmla="*/ 433 w 683"/>
                <a:gd name="T49" fmla="*/ 1 h 303"/>
                <a:gd name="T50" fmla="*/ 415 w 683"/>
                <a:gd name="T51" fmla="*/ 19 h 303"/>
                <a:gd name="T52" fmla="*/ 390 w 683"/>
                <a:gd name="T53" fmla="*/ 49 h 303"/>
                <a:gd name="T54" fmla="*/ 329 w 683"/>
                <a:gd name="T55" fmla="*/ 82 h 303"/>
                <a:gd name="T56" fmla="*/ 317 w 683"/>
                <a:gd name="T57" fmla="*/ 54 h 303"/>
                <a:gd name="T58" fmla="*/ 313 w 683"/>
                <a:gd name="T59" fmla="*/ 19 h 303"/>
                <a:gd name="T60" fmla="*/ 302 w 683"/>
                <a:gd name="T61" fmla="*/ 41 h 303"/>
                <a:gd name="T62" fmla="*/ 294 w 683"/>
                <a:gd name="T63" fmla="*/ 102 h 303"/>
                <a:gd name="T64" fmla="*/ 228 w 683"/>
                <a:gd name="T65" fmla="*/ 135 h 303"/>
                <a:gd name="T66" fmla="*/ 182 w 683"/>
                <a:gd name="T67" fmla="*/ 162 h 303"/>
                <a:gd name="T68" fmla="*/ 98 w 683"/>
                <a:gd name="T69" fmla="*/ 194 h 303"/>
                <a:gd name="T70" fmla="*/ 62 w 683"/>
                <a:gd name="T71" fmla="*/ 212 h 303"/>
                <a:gd name="T72" fmla="*/ 99 w 683"/>
                <a:gd name="T73" fmla="*/ 168 h 303"/>
                <a:gd name="T74" fmla="*/ 124 w 683"/>
                <a:gd name="T75" fmla="*/ 118 h 303"/>
                <a:gd name="T76" fmla="*/ 116 w 683"/>
                <a:gd name="T77" fmla="*/ 75 h 303"/>
                <a:gd name="T78" fmla="*/ 152 w 683"/>
                <a:gd name="T79" fmla="*/ 34 h 303"/>
                <a:gd name="T80" fmla="*/ 121 w 683"/>
                <a:gd name="T81" fmla="*/ 49 h 303"/>
                <a:gd name="T82" fmla="*/ 105 w 683"/>
                <a:gd name="T83" fmla="*/ 94 h 303"/>
                <a:gd name="T84" fmla="*/ 81 w 683"/>
                <a:gd name="T85" fmla="*/ 42 h 303"/>
                <a:gd name="T86" fmla="*/ 69 w 683"/>
                <a:gd name="T87" fmla="*/ 48 h 303"/>
                <a:gd name="T88" fmla="*/ 96 w 683"/>
                <a:gd name="T89" fmla="*/ 111 h 303"/>
                <a:gd name="T90" fmla="*/ 87 w 683"/>
                <a:gd name="T91" fmla="*/ 160 h 303"/>
                <a:gd name="T92" fmla="*/ 37 w 683"/>
                <a:gd name="T93" fmla="*/ 211 h 303"/>
                <a:gd name="T94" fmla="*/ 4 w 683"/>
                <a:gd name="T95" fmla="*/ 261 h 30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83"/>
                <a:gd name="T145" fmla="*/ 0 h 303"/>
                <a:gd name="T146" fmla="*/ 683 w 683"/>
                <a:gd name="T147" fmla="*/ 303 h 30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83" h="303">
                  <a:moveTo>
                    <a:pt x="33" y="303"/>
                  </a:moveTo>
                  <a:lnTo>
                    <a:pt x="42" y="292"/>
                  </a:lnTo>
                  <a:lnTo>
                    <a:pt x="64" y="275"/>
                  </a:lnTo>
                  <a:lnTo>
                    <a:pt x="89" y="261"/>
                  </a:lnTo>
                  <a:lnTo>
                    <a:pt x="116" y="250"/>
                  </a:lnTo>
                  <a:lnTo>
                    <a:pt x="139" y="244"/>
                  </a:lnTo>
                  <a:lnTo>
                    <a:pt x="159" y="239"/>
                  </a:lnTo>
                  <a:lnTo>
                    <a:pt x="178" y="235"/>
                  </a:lnTo>
                  <a:lnTo>
                    <a:pt x="198" y="227"/>
                  </a:lnTo>
                  <a:lnTo>
                    <a:pt x="217" y="217"/>
                  </a:lnTo>
                  <a:lnTo>
                    <a:pt x="229" y="208"/>
                  </a:lnTo>
                  <a:lnTo>
                    <a:pt x="245" y="194"/>
                  </a:lnTo>
                  <a:lnTo>
                    <a:pt x="262" y="179"/>
                  </a:lnTo>
                  <a:lnTo>
                    <a:pt x="279" y="161"/>
                  </a:lnTo>
                  <a:lnTo>
                    <a:pt x="293" y="151"/>
                  </a:lnTo>
                  <a:lnTo>
                    <a:pt x="308" y="145"/>
                  </a:lnTo>
                  <a:lnTo>
                    <a:pt x="325" y="139"/>
                  </a:lnTo>
                  <a:lnTo>
                    <a:pt x="345" y="136"/>
                  </a:lnTo>
                  <a:lnTo>
                    <a:pt x="366" y="135"/>
                  </a:lnTo>
                  <a:lnTo>
                    <a:pt x="387" y="135"/>
                  </a:lnTo>
                  <a:lnTo>
                    <a:pt x="412" y="137"/>
                  </a:lnTo>
                  <a:lnTo>
                    <a:pt x="436" y="140"/>
                  </a:lnTo>
                  <a:lnTo>
                    <a:pt x="459" y="146"/>
                  </a:lnTo>
                  <a:lnTo>
                    <a:pt x="483" y="149"/>
                  </a:lnTo>
                  <a:lnTo>
                    <a:pt x="504" y="148"/>
                  </a:lnTo>
                  <a:lnTo>
                    <a:pt x="525" y="145"/>
                  </a:lnTo>
                  <a:lnTo>
                    <a:pt x="543" y="139"/>
                  </a:lnTo>
                  <a:lnTo>
                    <a:pt x="559" y="129"/>
                  </a:lnTo>
                  <a:lnTo>
                    <a:pt x="575" y="116"/>
                  </a:lnTo>
                  <a:lnTo>
                    <a:pt x="589" y="106"/>
                  </a:lnTo>
                  <a:lnTo>
                    <a:pt x="603" y="98"/>
                  </a:lnTo>
                  <a:lnTo>
                    <a:pt x="618" y="92"/>
                  </a:lnTo>
                  <a:lnTo>
                    <a:pt x="637" y="87"/>
                  </a:lnTo>
                  <a:lnTo>
                    <a:pt x="657" y="80"/>
                  </a:lnTo>
                  <a:lnTo>
                    <a:pt x="668" y="76"/>
                  </a:lnTo>
                  <a:lnTo>
                    <a:pt x="674" y="71"/>
                  </a:lnTo>
                  <a:lnTo>
                    <a:pt x="679" y="66"/>
                  </a:lnTo>
                  <a:lnTo>
                    <a:pt x="683" y="53"/>
                  </a:lnTo>
                  <a:lnTo>
                    <a:pt x="675" y="49"/>
                  </a:lnTo>
                  <a:lnTo>
                    <a:pt x="672" y="59"/>
                  </a:lnTo>
                  <a:lnTo>
                    <a:pt x="668" y="67"/>
                  </a:lnTo>
                  <a:lnTo>
                    <a:pt x="659" y="71"/>
                  </a:lnTo>
                  <a:lnTo>
                    <a:pt x="637" y="77"/>
                  </a:lnTo>
                  <a:lnTo>
                    <a:pt x="613" y="84"/>
                  </a:lnTo>
                  <a:lnTo>
                    <a:pt x="596" y="88"/>
                  </a:lnTo>
                  <a:lnTo>
                    <a:pt x="591" y="90"/>
                  </a:lnTo>
                  <a:lnTo>
                    <a:pt x="592" y="79"/>
                  </a:lnTo>
                  <a:lnTo>
                    <a:pt x="592" y="66"/>
                  </a:lnTo>
                  <a:lnTo>
                    <a:pt x="592" y="49"/>
                  </a:lnTo>
                  <a:lnTo>
                    <a:pt x="591" y="32"/>
                  </a:lnTo>
                  <a:lnTo>
                    <a:pt x="591" y="19"/>
                  </a:lnTo>
                  <a:lnTo>
                    <a:pt x="584" y="19"/>
                  </a:lnTo>
                  <a:lnTo>
                    <a:pt x="585" y="31"/>
                  </a:lnTo>
                  <a:lnTo>
                    <a:pt x="585" y="49"/>
                  </a:lnTo>
                  <a:lnTo>
                    <a:pt x="584" y="67"/>
                  </a:lnTo>
                  <a:lnTo>
                    <a:pt x="579" y="82"/>
                  </a:lnTo>
                  <a:lnTo>
                    <a:pt x="572" y="91"/>
                  </a:lnTo>
                  <a:lnTo>
                    <a:pt x="565" y="97"/>
                  </a:lnTo>
                  <a:lnTo>
                    <a:pt x="554" y="103"/>
                  </a:lnTo>
                  <a:lnTo>
                    <a:pt x="541" y="109"/>
                  </a:lnTo>
                  <a:lnTo>
                    <a:pt x="525" y="112"/>
                  </a:lnTo>
                  <a:lnTo>
                    <a:pt x="508" y="115"/>
                  </a:lnTo>
                  <a:lnTo>
                    <a:pt x="496" y="115"/>
                  </a:lnTo>
                  <a:lnTo>
                    <a:pt x="508" y="108"/>
                  </a:lnTo>
                  <a:lnTo>
                    <a:pt x="522" y="95"/>
                  </a:lnTo>
                  <a:lnTo>
                    <a:pt x="533" y="84"/>
                  </a:lnTo>
                  <a:lnTo>
                    <a:pt x="542" y="71"/>
                  </a:lnTo>
                  <a:lnTo>
                    <a:pt x="546" y="58"/>
                  </a:lnTo>
                  <a:lnTo>
                    <a:pt x="549" y="43"/>
                  </a:lnTo>
                  <a:lnTo>
                    <a:pt x="550" y="32"/>
                  </a:lnTo>
                  <a:lnTo>
                    <a:pt x="549" y="21"/>
                  </a:lnTo>
                  <a:lnTo>
                    <a:pt x="542" y="22"/>
                  </a:lnTo>
                  <a:lnTo>
                    <a:pt x="542" y="28"/>
                  </a:lnTo>
                  <a:lnTo>
                    <a:pt x="542" y="44"/>
                  </a:lnTo>
                  <a:lnTo>
                    <a:pt x="538" y="58"/>
                  </a:lnTo>
                  <a:lnTo>
                    <a:pt x="532" y="70"/>
                  </a:lnTo>
                  <a:lnTo>
                    <a:pt x="521" y="82"/>
                  </a:lnTo>
                  <a:lnTo>
                    <a:pt x="509" y="93"/>
                  </a:lnTo>
                  <a:lnTo>
                    <a:pt x="494" y="102"/>
                  </a:lnTo>
                  <a:lnTo>
                    <a:pt x="478" y="110"/>
                  </a:lnTo>
                  <a:lnTo>
                    <a:pt x="464" y="112"/>
                  </a:lnTo>
                  <a:lnTo>
                    <a:pt x="447" y="108"/>
                  </a:lnTo>
                  <a:lnTo>
                    <a:pt x="429" y="100"/>
                  </a:lnTo>
                  <a:lnTo>
                    <a:pt x="408" y="94"/>
                  </a:lnTo>
                  <a:lnTo>
                    <a:pt x="385" y="90"/>
                  </a:lnTo>
                  <a:lnTo>
                    <a:pt x="370" y="90"/>
                  </a:lnTo>
                  <a:lnTo>
                    <a:pt x="354" y="91"/>
                  </a:lnTo>
                  <a:lnTo>
                    <a:pt x="333" y="94"/>
                  </a:lnTo>
                  <a:lnTo>
                    <a:pt x="354" y="78"/>
                  </a:lnTo>
                  <a:lnTo>
                    <a:pt x="366" y="70"/>
                  </a:lnTo>
                  <a:lnTo>
                    <a:pt x="381" y="61"/>
                  </a:lnTo>
                  <a:lnTo>
                    <a:pt x="396" y="56"/>
                  </a:lnTo>
                  <a:lnTo>
                    <a:pt x="404" y="50"/>
                  </a:lnTo>
                  <a:lnTo>
                    <a:pt x="409" y="47"/>
                  </a:lnTo>
                  <a:lnTo>
                    <a:pt x="411" y="43"/>
                  </a:lnTo>
                  <a:lnTo>
                    <a:pt x="417" y="33"/>
                  </a:lnTo>
                  <a:lnTo>
                    <a:pt x="421" y="22"/>
                  </a:lnTo>
                  <a:lnTo>
                    <a:pt x="425" y="13"/>
                  </a:lnTo>
                  <a:lnTo>
                    <a:pt x="433" y="1"/>
                  </a:lnTo>
                  <a:lnTo>
                    <a:pt x="428" y="0"/>
                  </a:lnTo>
                  <a:lnTo>
                    <a:pt x="420" y="10"/>
                  </a:lnTo>
                  <a:lnTo>
                    <a:pt x="415" y="19"/>
                  </a:lnTo>
                  <a:lnTo>
                    <a:pt x="411" y="27"/>
                  </a:lnTo>
                  <a:lnTo>
                    <a:pt x="408" y="35"/>
                  </a:lnTo>
                  <a:lnTo>
                    <a:pt x="400" y="43"/>
                  </a:lnTo>
                  <a:lnTo>
                    <a:pt x="390" y="49"/>
                  </a:lnTo>
                  <a:lnTo>
                    <a:pt x="375" y="57"/>
                  </a:lnTo>
                  <a:lnTo>
                    <a:pt x="357" y="64"/>
                  </a:lnTo>
                  <a:lnTo>
                    <a:pt x="341" y="75"/>
                  </a:lnTo>
                  <a:lnTo>
                    <a:pt x="329" y="82"/>
                  </a:lnTo>
                  <a:lnTo>
                    <a:pt x="312" y="94"/>
                  </a:lnTo>
                  <a:lnTo>
                    <a:pt x="317" y="78"/>
                  </a:lnTo>
                  <a:lnTo>
                    <a:pt x="319" y="65"/>
                  </a:lnTo>
                  <a:lnTo>
                    <a:pt x="317" y="54"/>
                  </a:lnTo>
                  <a:lnTo>
                    <a:pt x="313" y="41"/>
                  </a:lnTo>
                  <a:lnTo>
                    <a:pt x="312" y="28"/>
                  </a:lnTo>
                  <a:lnTo>
                    <a:pt x="313" y="19"/>
                  </a:lnTo>
                  <a:lnTo>
                    <a:pt x="301" y="23"/>
                  </a:lnTo>
                  <a:lnTo>
                    <a:pt x="301" y="27"/>
                  </a:lnTo>
                  <a:lnTo>
                    <a:pt x="302" y="41"/>
                  </a:lnTo>
                  <a:lnTo>
                    <a:pt x="306" y="57"/>
                  </a:lnTo>
                  <a:lnTo>
                    <a:pt x="306" y="70"/>
                  </a:lnTo>
                  <a:lnTo>
                    <a:pt x="301" y="86"/>
                  </a:lnTo>
                  <a:lnTo>
                    <a:pt x="294" y="102"/>
                  </a:lnTo>
                  <a:lnTo>
                    <a:pt x="286" y="112"/>
                  </a:lnTo>
                  <a:lnTo>
                    <a:pt x="274" y="120"/>
                  </a:lnTo>
                  <a:lnTo>
                    <a:pt x="259" y="126"/>
                  </a:lnTo>
                  <a:lnTo>
                    <a:pt x="228" y="135"/>
                  </a:lnTo>
                  <a:lnTo>
                    <a:pt x="206" y="145"/>
                  </a:lnTo>
                  <a:lnTo>
                    <a:pt x="197" y="150"/>
                  </a:lnTo>
                  <a:lnTo>
                    <a:pt x="189" y="158"/>
                  </a:lnTo>
                  <a:lnTo>
                    <a:pt x="182" y="162"/>
                  </a:lnTo>
                  <a:lnTo>
                    <a:pt x="174" y="166"/>
                  </a:lnTo>
                  <a:lnTo>
                    <a:pt x="143" y="176"/>
                  </a:lnTo>
                  <a:lnTo>
                    <a:pt x="118" y="185"/>
                  </a:lnTo>
                  <a:lnTo>
                    <a:pt x="98" y="194"/>
                  </a:lnTo>
                  <a:lnTo>
                    <a:pt x="74" y="206"/>
                  </a:lnTo>
                  <a:lnTo>
                    <a:pt x="62" y="216"/>
                  </a:lnTo>
                  <a:lnTo>
                    <a:pt x="62" y="212"/>
                  </a:lnTo>
                  <a:lnTo>
                    <a:pt x="67" y="203"/>
                  </a:lnTo>
                  <a:lnTo>
                    <a:pt x="74" y="191"/>
                  </a:lnTo>
                  <a:lnTo>
                    <a:pt x="87" y="179"/>
                  </a:lnTo>
                  <a:lnTo>
                    <a:pt x="99" y="168"/>
                  </a:lnTo>
                  <a:lnTo>
                    <a:pt x="109" y="159"/>
                  </a:lnTo>
                  <a:lnTo>
                    <a:pt x="117" y="148"/>
                  </a:lnTo>
                  <a:lnTo>
                    <a:pt x="123" y="135"/>
                  </a:lnTo>
                  <a:lnTo>
                    <a:pt x="124" y="118"/>
                  </a:lnTo>
                  <a:lnTo>
                    <a:pt x="121" y="102"/>
                  </a:lnTo>
                  <a:lnTo>
                    <a:pt x="117" y="90"/>
                  </a:lnTo>
                  <a:lnTo>
                    <a:pt x="116" y="82"/>
                  </a:lnTo>
                  <a:lnTo>
                    <a:pt x="116" y="75"/>
                  </a:lnTo>
                  <a:lnTo>
                    <a:pt x="118" y="67"/>
                  </a:lnTo>
                  <a:lnTo>
                    <a:pt x="123" y="60"/>
                  </a:lnTo>
                  <a:lnTo>
                    <a:pt x="137" y="49"/>
                  </a:lnTo>
                  <a:lnTo>
                    <a:pt x="152" y="34"/>
                  </a:lnTo>
                  <a:lnTo>
                    <a:pt x="142" y="32"/>
                  </a:lnTo>
                  <a:lnTo>
                    <a:pt x="132" y="42"/>
                  </a:lnTo>
                  <a:lnTo>
                    <a:pt x="121" y="49"/>
                  </a:lnTo>
                  <a:lnTo>
                    <a:pt x="115" y="57"/>
                  </a:lnTo>
                  <a:lnTo>
                    <a:pt x="107" y="67"/>
                  </a:lnTo>
                  <a:lnTo>
                    <a:pt x="105" y="77"/>
                  </a:lnTo>
                  <a:lnTo>
                    <a:pt x="105" y="94"/>
                  </a:lnTo>
                  <a:lnTo>
                    <a:pt x="98" y="82"/>
                  </a:lnTo>
                  <a:lnTo>
                    <a:pt x="91" y="68"/>
                  </a:lnTo>
                  <a:lnTo>
                    <a:pt x="85" y="53"/>
                  </a:lnTo>
                  <a:lnTo>
                    <a:pt x="81" y="42"/>
                  </a:lnTo>
                  <a:lnTo>
                    <a:pt x="75" y="32"/>
                  </a:lnTo>
                  <a:lnTo>
                    <a:pt x="69" y="35"/>
                  </a:lnTo>
                  <a:lnTo>
                    <a:pt x="63" y="39"/>
                  </a:lnTo>
                  <a:lnTo>
                    <a:pt x="69" y="48"/>
                  </a:lnTo>
                  <a:lnTo>
                    <a:pt x="75" y="64"/>
                  </a:lnTo>
                  <a:lnTo>
                    <a:pt x="82" y="80"/>
                  </a:lnTo>
                  <a:lnTo>
                    <a:pt x="90" y="98"/>
                  </a:lnTo>
                  <a:lnTo>
                    <a:pt x="96" y="111"/>
                  </a:lnTo>
                  <a:lnTo>
                    <a:pt x="99" y="124"/>
                  </a:lnTo>
                  <a:lnTo>
                    <a:pt x="99" y="136"/>
                  </a:lnTo>
                  <a:lnTo>
                    <a:pt x="95" y="149"/>
                  </a:lnTo>
                  <a:lnTo>
                    <a:pt x="87" y="160"/>
                  </a:lnTo>
                  <a:lnTo>
                    <a:pt x="75" y="170"/>
                  </a:lnTo>
                  <a:lnTo>
                    <a:pt x="63" y="183"/>
                  </a:lnTo>
                  <a:lnTo>
                    <a:pt x="49" y="199"/>
                  </a:lnTo>
                  <a:lnTo>
                    <a:pt x="37" y="211"/>
                  </a:lnTo>
                  <a:lnTo>
                    <a:pt x="24" y="226"/>
                  </a:lnTo>
                  <a:lnTo>
                    <a:pt x="16" y="238"/>
                  </a:lnTo>
                  <a:lnTo>
                    <a:pt x="10" y="250"/>
                  </a:lnTo>
                  <a:lnTo>
                    <a:pt x="4" y="261"/>
                  </a:lnTo>
                  <a:lnTo>
                    <a:pt x="0" y="274"/>
                  </a:lnTo>
                  <a:lnTo>
                    <a:pt x="33" y="303"/>
                  </a:lnTo>
                  <a:close/>
                </a:path>
              </a:pathLst>
            </a:custGeom>
            <a:solidFill>
              <a:srgbClr val="008080"/>
            </a:solidFill>
            <a:ln w="0">
              <a:solidFill>
                <a:srgbClr val="8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73" name="Freeform 77">
              <a:extLst>
                <a:ext uri="{FF2B5EF4-FFF2-40B4-BE49-F238E27FC236}">
                  <a16:creationId xmlns:a16="http://schemas.microsoft.com/office/drawing/2014/main" id="{03752152-85D7-7A4D-B3E2-95D232C802C1}"/>
                </a:ext>
              </a:extLst>
            </p:cNvPr>
            <p:cNvSpPr>
              <a:spLocks/>
            </p:cNvSpPr>
            <p:nvPr/>
          </p:nvSpPr>
          <p:spPr bwMode="auto">
            <a:xfrm>
              <a:off x="4178" y="1554"/>
              <a:ext cx="5" cy="13"/>
            </a:xfrm>
            <a:custGeom>
              <a:avLst/>
              <a:gdLst>
                <a:gd name="T0" fmla="*/ 0 w 14"/>
                <a:gd name="T1" fmla="*/ 39 h 39"/>
                <a:gd name="T2" fmla="*/ 6 w 14"/>
                <a:gd name="T3" fmla="*/ 25 h 39"/>
                <a:gd name="T4" fmla="*/ 12 w 14"/>
                <a:gd name="T5" fmla="*/ 17 h 39"/>
                <a:gd name="T6" fmla="*/ 14 w 14"/>
                <a:gd name="T7" fmla="*/ 9 h 39"/>
                <a:gd name="T8" fmla="*/ 14 w 14"/>
                <a:gd name="T9" fmla="*/ 0 h 39"/>
                <a:gd name="T10" fmla="*/ 0 60000 65536"/>
                <a:gd name="T11" fmla="*/ 0 60000 65536"/>
                <a:gd name="T12" fmla="*/ 0 60000 65536"/>
                <a:gd name="T13" fmla="*/ 0 60000 65536"/>
                <a:gd name="T14" fmla="*/ 0 60000 65536"/>
                <a:gd name="T15" fmla="*/ 0 w 14"/>
                <a:gd name="T16" fmla="*/ 0 h 39"/>
                <a:gd name="T17" fmla="*/ 14 w 14"/>
                <a:gd name="T18" fmla="*/ 39 h 39"/>
              </a:gdLst>
              <a:ahLst/>
              <a:cxnLst>
                <a:cxn ang="T10">
                  <a:pos x="T0" y="T1"/>
                </a:cxn>
                <a:cxn ang="T11">
                  <a:pos x="T2" y="T3"/>
                </a:cxn>
                <a:cxn ang="T12">
                  <a:pos x="T4" y="T5"/>
                </a:cxn>
                <a:cxn ang="T13">
                  <a:pos x="T6" y="T7"/>
                </a:cxn>
                <a:cxn ang="T14">
                  <a:pos x="T8" y="T9"/>
                </a:cxn>
              </a:cxnLst>
              <a:rect l="T15" t="T16" r="T17" b="T18"/>
              <a:pathLst>
                <a:path w="14" h="39">
                  <a:moveTo>
                    <a:pt x="0" y="39"/>
                  </a:moveTo>
                  <a:lnTo>
                    <a:pt x="6" y="25"/>
                  </a:lnTo>
                  <a:lnTo>
                    <a:pt x="12" y="17"/>
                  </a:lnTo>
                  <a:lnTo>
                    <a:pt x="14" y="9"/>
                  </a:lnTo>
                  <a:lnTo>
                    <a:pt x="14"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74" name="Freeform 78">
              <a:extLst>
                <a:ext uri="{FF2B5EF4-FFF2-40B4-BE49-F238E27FC236}">
                  <a16:creationId xmlns:a16="http://schemas.microsoft.com/office/drawing/2014/main" id="{C8838488-01A9-1D49-860F-B77BAE0AE1DD}"/>
                </a:ext>
              </a:extLst>
            </p:cNvPr>
            <p:cNvSpPr>
              <a:spLocks/>
            </p:cNvSpPr>
            <p:nvPr/>
          </p:nvSpPr>
          <p:spPr bwMode="auto">
            <a:xfrm>
              <a:off x="4303" y="1403"/>
              <a:ext cx="69" cy="37"/>
            </a:xfrm>
            <a:custGeom>
              <a:avLst/>
              <a:gdLst>
                <a:gd name="T0" fmla="*/ 208 w 208"/>
                <a:gd name="T1" fmla="*/ 20 h 110"/>
                <a:gd name="T2" fmla="*/ 208 w 208"/>
                <a:gd name="T3" fmla="*/ 28 h 110"/>
                <a:gd name="T4" fmla="*/ 208 w 208"/>
                <a:gd name="T5" fmla="*/ 42 h 110"/>
                <a:gd name="T6" fmla="*/ 204 w 208"/>
                <a:gd name="T7" fmla="*/ 56 h 110"/>
                <a:gd name="T8" fmla="*/ 198 w 208"/>
                <a:gd name="T9" fmla="*/ 68 h 110"/>
                <a:gd name="T10" fmla="*/ 187 w 208"/>
                <a:gd name="T11" fmla="*/ 80 h 110"/>
                <a:gd name="T12" fmla="*/ 175 w 208"/>
                <a:gd name="T13" fmla="*/ 91 h 110"/>
                <a:gd name="T14" fmla="*/ 160 w 208"/>
                <a:gd name="T15" fmla="*/ 100 h 110"/>
                <a:gd name="T16" fmla="*/ 144 w 208"/>
                <a:gd name="T17" fmla="*/ 108 h 110"/>
                <a:gd name="T18" fmla="*/ 130 w 208"/>
                <a:gd name="T19" fmla="*/ 110 h 110"/>
                <a:gd name="T20" fmla="*/ 113 w 208"/>
                <a:gd name="T21" fmla="*/ 106 h 110"/>
                <a:gd name="T22" fmla="*/ 96 w 208"/>
                <a:gd name="T23" fmla="*/ 98 h 110"/>
                <a:gd name="T24" fmla="*/ 75 w 208"/>
                <a:gd name="T25" fmla="*/ 92 h 110"/>
                <a:gd name="T26" fmla="*/ 52 w 208"/>
                <a:gd name="T27" fmla="*/ 88 h 110"/>
                <a:gd name="T28" fmla="*/ 38 w 208"/>
                <a:gd name="T29" fmla="*/ 88 h 110"/>
                <a:gd name="T30" fmla="*/ 21 w 208"/>
                <a:gd name="T31" fmla="*/ 89 h 110"/>
                <a:gd name="T32" fmla="*/ 0 w 208"/>
                <a:gd name="T33" fmla="*/ 92 h 110"/>
                <a:gd name="T34" fmla="*/ 21 w 208"/>
                <a:gd name="T35" fmla="*/ 76 h 110"/>
                <a:gd name="T36" fmla="*/ 33 w 208"/>
                <a:gd name="T37" fmla="*/ 68 h 110"/>
                <a:gd name="T38" fmla="*/ 49 w 208"/>
                <a:gd name="T39" fmla="*/ 59 h 110"/>
                <a:gd name="T40" fmla="*/ 63 w 208"/>
                <a:gd name="T41" fmla="*/ 54 h 110"/>
                <a:gd name="T42" fmla="*/ 72 w 208"/>
                <a:gd name="T43" fmla="*/ 48 h 110"/>
                <a:gd name="T44" fmla="*/ 76 w 208"/>
                <a:gd name="T45" fmla="*/ 45 h 110"/>
                <a:gd name="T46" fmla="*/ 78 w 208"/>
                <a:gd name="T47" fmla="*/ 41 h 110"/>
                <a:gd name="T48" fmla="*/ 84 w 208"/>
                <a:gd name="T49" fmla="*/ 32 h 110"/>
                <a:gd name="T50" fmla="*/ 88 w 208"/>
                <a:gd name="T51" fmla="*/ 20 h 110"/>
                <a:gd name="T52" fmla="*/ 92 w 208"/>
                <a:gd name="T53" fmla="*/ 12 h 110"/>
                <a:gd name="T54" fmla="*/ 100 w 208"/>
                <a:gd name="T55" fmla="*/ 0 h 11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08"/>
                <a:gd name="T85" fmla="*/ 0 h 110"/>
                <a:gd name="T86" fmla="*/ 208 w 208"/>
                <a:gd name="T87" fmla="*/ 110 h 11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08" h="110">
                  <a:moveTo>
                    <a:pt x="208" y="20"/>
                  </a:moveTo>
                  <a:lnTo>
                    <a:pt x="208" y="28"/>
                  </a:lnTo>
                  <a:lnTo>
                    <a:pt x="208" y="42"/>
                  </a:lnTo>
                  <a:lnTo>
                    <a:pt x="204" y="56"/>
                  </a:lnTo>
                  <a:lnTo>
                    <a:pt x="198" y="68"/>
                  </a:lnTo>
                  <a:lnTo>
                    <a:pt x="187" y="80"/>
                  </a:lnTo>
                  <a:lnTo>
                    <a:pt x="175" y="91"/>
                  </a:lnTo>
                  <a:lnTo>
                    <a:pt x="160" y="100"/>
                  </a:lnTo>
                  <a:lnTo>
                    <a:pt x="144" y="108"/>
                  </a:lnTo>
                  <a:lnTo>
                    <a:pt x="130" y="110"/>
                  </a:lnTo>
                  <a:lnTo>
                    <a:pt x="113" y="106"/>
                  </a:lnTo>
                  <a:lnTo>
                    <a:pt x="96" y="98"/>
                  </a:lnTo>
                  <a:lnTo>
                    <a:pt x="75" y="92"/>
                  </a:lnTo>
                  <a:lnTo>
                    <a:pt x="52" y="88"/>
                  </a:lnTo>
                  <a:lnTo>
                    <a:pt x="38" y="88"/>
                  </a:lnTo>
                  <a:lnTo>
                    <a:pt x="21" y="89"/>
                  </a:lnTo>
                  <a:lnTo>
                    <a:pt x="0" y="92"/>
                  </a:lnTo>
                  <a:lnTo>
                    <a:pt x="21" y="76"/>
                  </a:lnTo>
                  <a:lnTo>
                    <a:pt x="33" y="68"/>
                  </a:lnTo>
                  <a:lnTo>
                    <a:pt x="49" y="59"/>
                  </a:lnTo>
                  <a:lnTo>
                    <a:pt x="63" y="54"/>
                  </a:lnTo>
                  <a:lnTo>
                    <a:pt x="72" y="48"/>
                  </a:lnTo>
                  <a:lnTo>
                    <a:pt x="76" y="45"/>
                  </a:lnTo>
                  <a:lnTo>
                    <a:pt x="78" y="41"/>
                  </a:lnTo>
                  <a:lnTo>
                    <a:pt x="84" y="32"/>
                  </a:lnTo>
                  <a:lnTo>
                    <a:pt x="88" y="20"/>
                  </a:lnTo>
                  <a:lnTo>
                    <a:pt x="92" y="12"/>
                  </a:lnTo>
                  <a:lnTo>
                    <a:pt x="10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75" name="Freeform 79">
              <a:extLst>
                <a:ext uri="{FF2B5EF4-FFF2-40B4-BE49-F238E27FC236}">
                  <a16:creationId xmlns:a16="http://schemas.microsoft.com/office/drawing/2014/main" id="{AA1E597E-8303-2B4C-9176-F82006D3C0E1}"/>
                </a:ext>
              </a:extLst>
            </p:cNvPr>
            <p:cNvSpPr>
              <a:spLocks/>
            </p:cNvSpPr>
            <p:nvPr/>
          </p:nvSpPr>
          <p:spPr bwMode="auto">
            <a:xfrm>
              <a:off x="4357" y="1409"/>
              <a:ext cx="30" cy="32"/>
            </a:xfrm>
            <a:custGeom>
              <a:avLst/>
              <a:gdLst>
                <a:gd name="T0" fmla="*/ 53 w 89"/>
                <a:gd name="T1" fmla="*/ 3 h 96"/>
                <a:gd name="T2" fmla="*/ 54 w 89"/>
                <a:gd name="T3" fmla="*/ 13 h 96"/>
                <a:gd name="T4" fmla="*/ 53 w 89"/>
                <a:gd name="T5" fmla="*/ 24 h 96"/>
                <a:gd name="T6" fmla="*/ 50 w 89"/>
                <a:gd name="T7" fmla="*/ 40 h 96"/>
                <a:gd name="T8" fmla="*/ 46 w 89"/>
                <a:gd name="T9" fmla="*/ 52 h 96"/>
                <a:gd name="T10" fmla="*/ 37 w 89"/>
                <a:gd name="T11" fmla="*/ 65 h 96"/>
                <a:gd name="T12" fmla="*/ 27 w 89"/>
                <a:gd name="T13" fmla="*/ 76 h 96"/>
                <a:gd name="T14" fmla="*/ 12 w 89"/>
                <a:gd name="T15" fmla="*/ 89 h 96"/>
                <a:gd name="T16" fmla="*/ 0 w 89"/>
                <a:gd name="T17" fmla="*/ 96 h 96"/>
                <a:gd name="T18" fmla="*/ 12 w 89"/>
                <a:gd name="T19" fmla="*/ 96 h 96"/>
                <a:gd name="T20" fmla="*/ 29 w 89"/>
                <a:gd name="T21" fmla="*/ 93 h 96"/>
                <a:gd name="T22" fmla="*/ 45 w 89"/>
                <a:gd name="T23" fmla="*/ 90 h 96"/>
                <a:gd name="T24" fmla="*/ 58 w 89"/>
                <a:gd name="T25" fmla="*/ 84 h 96"/>
                <a:gd name="T26" fmla="*/ 69 w 89"/>
                <a:gd name="T27" fmla="*/ 78 h 96"/>
                <a:gd name="T28" fmla="*/ 76 w 89"/>
                <a:gd name="T29" fmla="*/ 72 h 96"/>
                <a:gd name="T30" fmla="*/ 83 w 89"/>
                <a:gd name="T31" fmla="*/ 63 h 96"/>
                <a:gd name="T32" fmla="*/ 88 w 89"/>
                <a:gd name="T33" fmla="*/ 48 h 96"/>
                <a:gd name="T34" fmla="*/ 89 w 89"/>
                <a:gd name="T35" fmla="*/ 31 h 96"/>
                <a:gd name="T36" fmla="*/ 89 w 89"/>
                <a:gd name="T37" fmla="*/ 12 h 96"/>
                <a:gd name="T38" fmla="*/ 88 w 89"/>
                <a:gd name="T39" fmla="*/ 0 h 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9"/>
                <a:gd name="T61" fmla="*/ 0 h 96"/>
                <a:gd name="T62" fmla="*/ 89 w 89"/>
                <a:gd name="T63" fmla="*/ 96 h 9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9" h="96">
                  <a:moveTo>
                    <a:pt x="53" y="3"/>
                  </a:moveTo>
                  <a:lnTo>
                    <a:pt x="54" y="13"/>
                  </a:lnTo>
                  <a:lnTo>
                    <a:pt x="53" y="24"/>
                  </a:lnTo>
                  <a:lnTo>
                    <a:pt x="50" y="40"/>
                  </a:lnTo>
                  <a:lnTo>
                    <a:pt x="46" y="52"/>
                  </a:lnTo>
                  <a:lnTo>
                    <a:pt x="37" y="65"/>
                  </a:lnTo>
                  <a:lnTo>
                    <a:pt x="27" y="76"/>
                  </a:lnTo>
                  <a:lnTo>
                    <a:pt x="12" y="89"/>
                  </a:lnTo>
                  <a:lnTo>
                    <a:pt x="0" y="96"/>
                  </a:lnTo>
                  <a:lnTo>
                    <a:pt x="12" y="96"/>
                  </a:lnTo>
                  <a:lnTo>
                    <a:pt x="29" y="93"/>
                  </a:lnTo>
                  <a:lnTo>
                    <a:pt x="45" y="90"/>
                  </a:lnTo>
                  <a:lnTo>
                    <a:pt x="58" y="84"/>
                  </a:lnTo>
                  <a:lnTo>
                    <a:pt x="69" y="78"/>
                  </a:lnTo>
                  <a:lnTo>
                    <a:pt x="76" y="72"/>
                  </a:lnTo>
                  <a:lnTo>
                    <a:pt x="83" y="63"/>
                  </a:lnTo>
                  <a:lnTo>
                    <a:pt x="88" y="48"/>
                  </a:lnTo>
                  <a:lnTo>
                    <a:pt x="89" y="31"/>
                  </a:lnTo>
                  <a:lnTo>
                    <a:pt x="89" y="12"/>
                  </a:lnTo>
                  <a:lnTo>
                    <a:pt x="88"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76" name="Freeform 80">
              <a:extLst>
                <a:ext uri="{FF2B5EF4-FFF2-40B4-BE49-F238E27FC236}">
                  <a16:creationId xmlns:a16="http://schemas.microsoft.com/office/drawing/2014/main" id="{E984CDE9-8987-C740-B530-1A7E35053C0D}"/>
                </a:ext>
              </a:extLst>
            </p:cNvPr>
            <p:cNvSpPr>
              <a:spLocks/>
            </p:cNvSpPr>
            <p:nvPr/>
          </p:nvSpPr>
          <p:spPr bwMode="auto">
            <a:xfrm>
              <a:off x="4389" y="1409"/>
              <a:ext cx="28" cy="24"/>
            </a:xfrm>
            <a:custGeom>
              <a:avLst/>
              <a:gdLst>
                <a:gd name="T0" fmla="*/ 0 w 83"/>
                <a:gd name="T1" fmla="*/ 0 h 71"/>
                <a:gd name="T2" fmla="*/ 0 w 83"/>
                <a:gd name="T3" fmla="*/ 13 h 71"/>
                <a:gd name="T4" fmla="*/ 0 w 83"/>
                <a:gd name="T5" fmla="*/ 30 h 71"/>
                <a:gd name="T6" fmla="*/ 0 w 83"/>
                <a:gd name="T7" fmla="*/ 47 h 71"/>
                <a:gd name="T8" fmla="*/ 0 w 83"/>
                <a:gd name="T9" fmla="*/ 60 h 71"/>
                <a:gd name="T10" fmla="*/ 0 w 83"/>
                <a:gd name="T11" fmla="*/ 71 h 71"/>
                <a:gd name="T12" fmla="*/ 4 w 83"/>
                <a:gd name="T13" fmla="*/ 69 h 71"/>
                <a:gd name="T14" fmla="*/ 21 w 83"/>
                <a:gd name="T15" fmla="*/ 65 h 71"/>
                <a:gd name="T16" fmla="*/ 45 w 83"/>
                <a:gd name="T17" fmla="*/ 58 h 71"/>
                <a:gd name="T18" fmla="*/ 67 w 83"/>
                <a:gd name="T19" fmla="*/ 52 h 71"/>
                <a:gd name="T20" fmla="*/ 76 w 83"/>
                <a:gd name="T21" fmla="*/ 48 h 71"/>
                <a:gd name="T22" fmla="*/ 80 w 83"/>
                <a:gd name="T23" fmla="*/ 40 h 71"/>
                <a:gd name="T24" fmla="*/ 83 w 83"/>
                <a:gd name="T25" fmla="*/ 30 h 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3"/>
                <a:gd name="T40" fmla="*/ 0 h 71"/>
                <a:gd name="T41" fmla="*/ 83 w 83"/>
                <a:gd name="T42" fmla="*/ 71 h 7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3" h="71">
                  <a:moveTo>
                    <a:pt x="0" y="0"/>
                  </a:moveTo>
                  <a:lnTo>
                    <a:pt x="0" y="13"/>
                  </a:lnTo>
                  <a:lnTo>
                    <a:pt x="0" y="30"/>
                  </a:lnTo>
                  <a:lnTo>
                    <a:pt x="0" y="47"/>
                  </a:lnTo>
                  <a:lnTo>
                    <a:pt x="0" y="60"/>
                  </a:lnTo>
                  <a:lnTo>
                    <a:pt x="0" y="71"/>
                  </a:lnTo>
                  <a:lnTo>
                    <a:pt x="4" y="69"/>
                  </a:lnTo>
                  <a:lnTo>
                    <a:pt x="21" y="65"/>
                  </a:lnTo>
                  <a:lnTo>
                    <a:pt x="45" y="58"/>
                  </a:lnTo>
                  <a:lnTo>
                    <a:pt x="67" y="52"/>
                  </a:lnTo>
                  <a:lnTo>
                    <a:pt x="76" y="48"/>
                  </a:lnTo>
                  <a:lnTo>
                    <a:pt x="80" y="40"/>
                  </a:lnTo>
                  <a:lnTo>
                    <a:pt x="83" y="3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77" name="Freeform 81">
              <a:extLst>
                <a:ext uri="{FF2B5EF4-FFF2-40B4-BE49-F238E27FC236}">
                  <a16:creationId xmlns:a16="http://schemas.microsoft.com/office/drawing/2014/main" id="{307AEF49-596F-9F48-BE99-D15F5CBEFAB4}"/>
                </a:ext>
              </a:extLst>
            </p:cNvPr>
            <p:cNvSpPr>
              <a:spLocks/>
            </p:cNvSpPr>
            <p:nvPr/>
          </p:nvSpPr>
          <p:spPr bwMode="auto">
            <a:xfrm>
              <a:off x="4296" y="1403"/>
              <a:ext cx="38" cy="31"/>
            </a:xfrm>
            <a:custGeom>
              <a:avLst/>
              <a:gdLst>
                <a:gd name="T0" fmla="*/ 115 w 115"/>
                <a:gd name="T1" fmla="*/ 0 h 94"/>
                <a:gd name="T2" fmla="*/ 107 w 115"/>
                <a:gd name="T3" fmla="*/ 10 h 94"/>
                <a:gd name="T4" fmla="*/ 102 w 115"/>
                <a:gd name="T5" fmla="*/ 20 h 94"/>
                <a:gd name="T6" fmla="*/ 98 w 115"/>
                <a:gd name="T7" fmla="*/ 27 h 94"/>
                <a:gd name="T8" fmla="*/ 95 w 115"/>
                <a:gd name="T9" fmla="*/ 35 h 94"/>
                <a:gd name="T10" fmla="*/ 87 w 115"/>
                <a:gd name="T11" fmla="*/ 44 h 94"/>
                <a:gd name="T12" fmla="*/ 77 w 115"/>
                <a:gd name="T13" fmla="*/ 49 h 94"/>
                <a:gd name="T14" fmla="*/ 62 w 115"/>
                <a:gd name="T15" fmla="*/ 57 h 94"/>
                <a:gd name="T16" fmla="*/ 44 w 115"/>
                <a:gd name="T17" fmla="*/ 64 h 94"/>
                <a:gd name="T18" fmla="*/ 29 w 115"/>
                <a:gd name="T19" fmla="*/ 75 h 94"/>
                <a:gd name="T20" fmla="*/ 16 w 115"/>
                <a:gd name="T21" fmla="*/ 82 h 94"/>
                <a:gd name="T22" fmla="*/ 0 w 115"/>
                <a:gd name="T23" fmla="*/ 94 h 94"/>
                <a:gd name="T24" fmla="*/ 4 w 115"/>
                <a:gd name="T25" fmla="*/ 78 h 94"/>
                <a:gd name="T26" fmla="*/ 6 w 115"/>
                <a:gd name="T27" fmla="*/ 65 h 94"/>
                <a:gd name="T28" fmla="*/ 4 w 115"/>
                <a:gd name="T29" fmla="*/ 54 h 94"/>
                <a:gd name="T30" fmla="*/ 2 w 115"/>
                <a:gd name="T31" fmla="*/ 41 h 94"/>
                <a:gd name="T32" fmla="*/ 0 w 115"/>
                <a:gd name="T33" fmla="*/ 28 h 94"/>
                <a:gd name="T34" fmla="*/ 2 w 115"/>
                <a:gd name="T35" fmla="*/ 20 h 9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5"/>
                <a:gd name="T55" fmla="*/ 0 h 94"/>
                <a:gd name="T56" fmla="*/ 115 w 115"/>
                <a:gd name="T57" fmla="*/ 94 h 9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5" h="94">
                  <a:moveTo>
                    <a:pt x="115" y="0"/>
                  </a:moveTo>
                  <a:lnTo>
                    <a:pt x="107" y="10"/>
                  </a:lnTo>
                  <a:lnTo>
                    <a:pt x="102" y="20"/>
                  </a:lnTo>
                  <a:lnTo>
                    <a:pt x="98" y="27"/>
                  </a:lnTo>
                  <a:lnTo>
                    <a:pt x="95" y="35"/>
                  </a:lnTo>
                  <a:lnTo>
                    <a:pt x="87" y="44"/>
                  </a:lnTo>
                  <a:lnTo>
                    <a:pt x="77" y="49"/>
                  </a:lnTo>
                  <a:lnTo>
                    <a:pt x="62" y="57"/>
                  </a:lnTo>
                  <a:lnTo>
                    <a:pt x="44" y="64"/>
                  </a:lnTo>
                  <a:lnTo>
                    <a:pt x="29" y="75"/>
                  </a:lnTo>
                  <a:lnTo>
                    <a:pt x="16" y="82"/>
                  </a:lnTo>
                  <a:lnTo>
                    <a:pt x="0" y="94"/>
                  </a:lnTo>
                  <a:lnTo>
                    <a:pt x="4" y="78"/>
                  </a:lnTo>
                  <a:lnTo>
                    <a:pt x="6" y="65"/>
                  </a:lnTo>
                  <a:lnTo>
                    <a:pt x="4" y="54"/>
                  </a:lnTo>
                  <a:lnTo>
                    <a:pt x="2" y="41"/>
                  </a:lnTo>
                  <a:lnTo>
                    <a:pt x="0" y="28"/>
                  </a:lnTo>
                  <a:lnTo>
                    <a:pt x="2" y="2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78" name="Freeform 82">
              <a:extLst>
                <a:ext uri="{FF2B5EF4-FFF2-40B4-BE49-F238E27FC236}">
                  <a16:creationId xmlns:a16="http://schemas.microsoft.com/office/drawing/2014/main" id="{3CD57406-CFCB-5542-863B-86733BD03BB7}"/>
                </a:ext>
              </a:extLst>
            </p:cNvPr>
            <p:cNvSpPr>
              <a:spLocks/>
            </p:cNvSpPr>
            <p:nvPr/>
          </p:nvSpPr>
          <p:spPr bwMode="auto">
            <a:xfrm>
              <a:off x="4217" y="1413"/>
              <a:ext cx="22" cy="21"/>
            </a:xfrm>
            <a:custGeom>
              <a:avLst/>
              <a:gdLst>
                <a:gd name="T0" fmla="*/ 0 w 67"/>
                <a:gd name="T1" fmla="*/ 0 h 62"/>
                <a:gd name="T2" fmla="*/ 6 w 67"/>
                <a:gd name="T3" fmla="*/ 10 h 62"/>
                <a:gd name="T4" fmla="*/ 10 w 67"/>
                <a:gd name="T5" fmla="*/ 21 h 62"/>
                <a:gd name="T6" fmla="*/ 16 w 67"/>
                <a:gd name="T7" fmla="*/ 36 h 62"/>
                <a:gd name="T8" fmla="*/ 23 w 67"/>
                <a:gd name="T9" fmla="*/ 50 h 62"/>
                <a:gd name="T10" fmla="*/ 30 w 67"/>
                <a:gd name="T11" fmla="*/ 62 h 62"/>
                <a:gd name="T12" fmla="*/ 30 w 67"/>
                <a:gd name="T13" fmla="*/ 45 h 62"/>
                <a:gd name="T14" fmla="*/ 32 w 67"/>
                <a:gd name="T15" fmla="*/ 35 h 62"/>
                <a:gd name="T16" fmla="*/ 40 w 67"/>
                <a:gd name="T17" fmla="*/ 25 h 62"/>
                <a:gd name="T18" fmla="*/ 46 w 67"/>
                <a:gd name="T19" fmla="*/ 17 h 62"/>
                <a:gd name="T20" fmla="*/ 57 w 67"/>
                <a:gd name="T21" fmla="*/ 10 h 62"/>
                <a:gd name="T22" fmla="*/ 67 w 67"/>
                <a:gd name="T23" fmla="*/ 0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7"/>
                <a:gd name="T37" fmla="*/ 0 h 62"/>
                <a:gd name="T38" fmla="*/ 67 w 67"/>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7" h="62">
                  <a:moveTo>
                    <a:pt x="0" y="0"/>
                  </a:moveTo>
                  <a:lnTo>
                    <a:pt x="6" y="10"/>
                  </a:lnTo>
                  <a:lnTo>
                    <a:pt x="10" y="21"/>
                  </a:lnTo>
                  <a:lnTo>
                    <a:pt x="16" y="36"/>
                  </a:lnTo>
                  <a:lnTo>
                    <a:pt x="23" y="50"/>
                  </a:lnTo>
                  <a:lnTo>
                    <a:pt x="30" y="62"/>
                  </a:lnTo>
                  <a:lnTo>
                    <a:pt x="30" y="45"/>
                  </a:lnTo>
                  <a:lnTo>
                    <a:pt x="32" y="35"/>
                  </a:lnTo>
                  <a:lnTo>
                    <a:pt x="40" y="25"/>
                  </a:lnTo>
                  <a:lnTo>
                    <a:pt x="46" y="17"/>
                  </a:lnTo>
                  <a:lnTo>
                    <a:pt x="57" y="10"/>
                  </a:lnTo>
                  <a:lnTo>
                    <a:pt x="67"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79" name="Freeform 83">
              <a:extLst>
                <a:ext uri="{FF2B5EF4-FFF2-40B4-BE49-F238E27FC236}">
                  <a16:creationId xmlns:a16="http://schemas.microsoft.com/office/drawing/2014/main" id="{16561099-B3B4-6C49-9C2E-370C9549468C}"/>
                </a:ext>
              </a:extLst>
            </p:cNvPr>
            <p:cNvSpPr>
              <a:spLocks/>
            </p:cNvSpPr>
            <p:nvPr/>
          </p:nvSpPr>
          <p:spPr bwMode="auto">
            <a:xfrm>
              <a:off x="4212" y="1411"/>
              <a:ext cx="82" cy="64"/>
            </a:xfrm>
            <a:custGeom>
              <a:avLst/>
              <a:gdLst>
                <a:gd name="T0" fmla="*/ 90 w 244"/>
                <a:gd name="T1" fmla="*/ 11 h 192"/>
                <a:gd name="T2" fmla="*/ 75 w 244"/>
                <a:gd name="T3" fmla="*/ 26 h 192"/>
                <a:gd name="T4" fmla="*/ 61 w 244"/>
                <a:gd name="T5" fmla="*/ 37 h 192"/>
                <a:gd name="T6" fmla="*/ 56 w 244"/>
                <a:gd name="T7" fmla="*/ 43 h 192"/>
                <a:gd name="T8" fmla="*/ 54 w 244"/>
                <a:gd name="T9" fmla="*/ 52 h 192"/>
                <a:gd name="T10" fmla="*/ 54 w 244"/>
                <a:gd name="T11" fmla="*/ 59 h 192"/>
                <a:gd name="T12" fmla="*/ 55 w 244"/>
                <a:gd name="T13" fmla="*/ 67 h 192"/>
                <a:gd name="T14" fmla="*/ 59 w 244"/>
                <a:gd name="T15" fmla="*/ 79 h 192"/>
                <a:gd name="T16" fmla="*/ 62 w 244"/>
                <a:gd name="T17" fmla="*/ 96 h 192"/>
                <a:gd name="T18" fmla="*/ 61 w 244"/>
                <a:gd name="T19" fmla="*/ 111 h 192"/>
                <a:gd name="T20" fmla="*/ 55 w 244"/>
                <a:gd name="T21" fmla="*/ 124 h 192"/>
                <a:gd name="T22" fmla="*/ 47 w 244"/>
                <a:gd name="T23" fmla="*/ 135 h 192"/>
                <a:gd name="T24" fmla="*/ 37 w 244"/>
                <a:gd name="T25" fmla="*/ 144 h 192"/>
                <a:gd name="T26" fmla="*/ 25 w 244"/>
                <a:gd name="T27" fmla="*/ 155 h 192"/>
                <a:gd name="T28" fmla="*/ 12 w 244"/>
                <a:gd name="T29" fmla="*/ 167 h 192"/>
                <a:gd name="T30" fmla="*/ 5 w 244"/>
                <a:gd name="T31" fmla="*/ 179 h 192"/>
                <a:gd name="T32" fmla="*/ 0 w 244"/>
                <a:gd name="T33" fmla="*/ 188 h 192"/>
                <a:gd name="T34" fmla="*/ 0 w 244"/>
                <a:gd name="T35" fmla="*/ 192 h 192"/>
                <a:gd name="T36" fmla="*/ 12 w 244"/>
                <a:gd name="T37" fmla="*/ 182 h 192"/>
                <a:gd name="T38" fmla="*/ 36 w 244"/>
                <a:gd name="T39" fmla="*/ 170 h 192"/>
                <a:gd name="T40" fmla="*/ 56 w 244"/>
                <a:gd name="T41" fmla="*/ 161 h 192"/>
                <a:gd name="T42" fmla="*/ 81 w 244"/>
                <a:gd name="T43" fmla="*/ 152 h 192"/>
                <a:gd name="T44" fmla="*/ 112 w 244"/>
                <a:gd name="T45" fmla="*/ 142 h 192"/>
                <a:gd name="T46" fmla="*/ 120 w 244"/>
                <a:gd name="T47" fmla="*/ 138 h 192"/>
                <a:gd name="T48" fmla="*/ 127 w 244"/>
                <a:gd name="T49" fmla="*/ 134 h 192"/>
                <a:gd name="T50" fmla="*/ 135 w 244"/>
                <a:gd name="T51" fmla="*/ 126 h 192"/>
                <a:gd name="T52" fmla="*/ 144 w 244"/>
                <a:gd name="T53" fmla="*/ 121 h 192"/>
                <a:gd name="T54" fmla="*/ 166 w 244"/>
                <a:gd name="T55" fmla="*/ 111 h 192"/>
                <a:gd name="T56" fmla="*/ 197 w 244"/>
                <a:gd name="T57" fmla="*/ 102 h 192"/>
                <a:gd name="T58" fmla="*/ 212 w 244"/>
                <a:gd name="T59" fmla="*/ 96 h 192"/>
                <a:gd name="T60" fmla="*/ 224 w 244"/>
                <a:gd name="T61" fmla="*/ 89 h 192"/>
                <a:gd name="T62" fmla="*/ 232 w 244"/>
                <a:gd name="T63" fmla="*/ 79 h 192"/>
                <a:gd name="T64" fmla="*/ 239 w 244"/>
                <a:gd name="T65" fmla="*/ 63 h 192"/>
                <a:gd name="T66" fmla="*/ 244 w 244"/>
                <a:gd name="T67" fmla="*/ 47 h 192"/>
                <a:gd name="T68" fmla="*/ 244 w 244"/>
                <a:gd name="T69" fmla="*/ 34 h 192"/>
                <a:gd name="T70" fmla="*/ 240 w 244"/>
                <a:gd name="T71" fmla="*/ 18 h 192"/>
                <a:gd name="T72" fmla="*/ 239 w 244"/>
                <a:gd name="T73" fmla="*/ 4 h 192"/>
                <a:gd name="T74" fmla="*/ 239 w 244"/>
                <a:gd name="T75" fmla="*/ 0 h 19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4"/>
                <a:gd name="T115" fmla="*/ 0 h 192"/>
                <a:gd name="T116" fmla="*/ 244 w 244"/>
                <a:gd name="T117" fmla="*/ 192 h 19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4" h="192">
                  <a:moveTo>
                    <a:pt x="90" y="11"/>
                  </a:moveTo>
                  <a:lnTo>
                    <a:pt x="75" y="26"/>
                  </a:lnTo>
                  <a:lnTo>
                    <a:pt x="61" y="37"/>
                  </a:lnTo>
                  <a:lnTo>
                    <a:pt x="56" y="43"/>
                  </a:lnTo>
                  <a:lnTo>
                    <a:pt x="54" y="52"/>
                  </a:lnTo>
                  <a:lnTo>
                    <a:pt x="54" y="59"/>
                  </a:lnTo>
                  <a:lnTo>
                    <a:pt x="55" y="67"/>
                  </a:lnTo>
                  <a:lnTo>
                    <a:pt x="59" y="79"/>
                  </a:lnTo>
                  <a:lnTo>
                    <a:pt x="62" y="96"/>
                  </a:lnTo>
                  <a:lnTo>
                    <a:pt x="61" y="111"/>
                  </a:lnTo>
                  <a:lnTo>
                    <a:pt x="55" y="124"/>
                  </a:lnTo>
                  <a:lnTo>
                    <a:pt x="47" y="135"/>
                  </a:lnTo>
                  <a:lnTo>
                    <a:pt x="37" y="144"/>
                  </a:lnTo>
                  <a:lnTo>
                    <a:pt x="25" y="155"/>
                  </a:lnTo>
                  <a:lnTo>
                    <a:pt x="12" y="167"/>
                  </a:lnTo>
                  <a:lnTo>
                    <a:pt x="5" y="179"/>
                  </a:lnTo>
                  <a:lnTo>
                    <a:pt x="0" y="188"/>
                  </a:lnTo>
                  <a:lnTo>
                    <a:pt x="0" y="192"/>
                  </a:lnTo>
                  <a:lnTo>
                    <a:pt x="12" y="182"/>
                  </a:lnTo>
                  <a:lnTo>
                    <a:pt x="36" y="170"/>
                  </a:lnTo>
                  <a:lnTo>
                    <a:pt x="56" y="161"/>
                  </a:lnTo>
                  <a:lnTo>
                    <a:pt x="81" y="152"/>
                  </a:lnTo>
                  <a:lnTo>
                    <a:pt x="112" y="142"/>
                  </a:lnTo>
                  <a:lnTo>
                    <a:pt x="120" y="138"/>
                  </a:lnTo>
                  <a:lnTo>
                    <a:pt x="127" y="134"/>
                  </a:lnTo>
                  <a:lnTo>
                    <a:pt x="135" y="126"/>
                  </a:lnTo>
                  <a:lnTo>
                    <a:pt x="144" y="121"/>
                  </a:lnTo>
                  <a:lnTo>
                    <a:pt x="166" y="111"/>
                  </a:lnTo>
                  <a:lnTo>
                    <a:pt x="197" y="102"/>
                  </a:lnTo>
                  <a:lnTo>
                    <a:pt x="212" y="96"/>
                  </a:lnTo>
                  <a:lnTo>
                    <a:pt x="224" y="89"/>
                  </a:lnTo>
                  <a:lnTo>
                    <a:pt x="232" y="79"/>
                  </a:lnTo>
                  <a:lnTo>
                    <a:pt x="239" y="63"/>
                  </a:lnTo>
                  <a:lnTo>
                    <a:pt x="244" y="47"/>
                  </a:lnTo>
                  <a:lnTo>
                    <a:pt x="244" y="34"/>
                  </a:lnTo>
                  <a:lnTo>
                    <a:pt x="240" y="18"/>
                  </a:lnTo>
                  <a:lnTo>
                    <a:pt x="239" y="4"/>
                  </a:lnTo>
                  <a:lnTo>
                    <a:pt x="239" y="0"/>
                  </a:lnTo>
                </a:path>
              </a:pathLst>
            </a:custGeom>
            <a:noFill/>
            <a:ln w="0">
              <a:solidFill>
                <a:srgbClr val="8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80" name="Freeform 84">
              <a:extLst>
                <a:ext uri="{FF2B5EF4-FFF2-40B4-BE49-F238E27FC236}">
                  <a16:creationId xmlns:a16="http://schemas.microsoft.com/office/drawing/2014/main" id="{A8E32EBD-86DC-E74B-8C5C-0BAFABE0DF3A}"/>
                </a:ext>
              </a:extLst>
            </p:cNvPr>
            <p:cNvSpPr>
              <a:spLocks/>
            </p:cNvSpPr>
            <p:nvPr/>
          </p:nvSpPr>
          <p:spPr bwMode="auto">
            <a:xfrm>
              <a:off x="4110" y="1404"/>
              <a:ext cx="51" cy="48"/>
            </a:xfrm>
            <a:custGeom>
              <a:avLst/>
              <a:gdLst>
                <a:gd name="T0" fmla="*/ 22 w 155"/>
                <a:gd name="T1" fmla="*/ 0 h 144"/>
                <a:gd name="T2" fmla="*/ 26 w 155"/>
                <a:gd name="T3" fmla="*/ 8 h 144"/>
                <a:gd name="T4" fmla="*/ 26 w 155"/>
                <a:gd name="T5" fmla="*/ 15 h 144"/>
                <a:gd name="T6" fmla="*/ 26 w 155"/>
                <a:gd name="T7" fmla="*/ 21 h 144"/>
                <a:gd name="T8" fmla="*/ 23 w 155"/>
                <a:gd name="T9" fmla="*/ 34 h 144"/>
                <a:gd name="T10" fmla="*/ 21 w 155"/>
                <a:gd name="T11" fmla="*/ 51 h 144"/>
                <a:gd name="T12" fmla="*/ 17 w 155"/>
                <a:gd name="T13" fmla="*/ 66 h 144"/>
                <a:gd name="T14" fmla="*/ 11 w 155"/>
                <a:gd name="T15" fmla="*/ 78 h 144"/>
                <a:gd name="T16" fmla="*/ 5 w 155"/>
                <a:gd name="T17" fmla="*/ 90 h 144"/>
                <a:gd name="T18" fmla="*/ 0 w 155"/>
                <a:gd name="T19" fmla="*/ 101 h 144"/>
                <a:gd name="T20" fmla="*/ 0 w 155"/>
                <a:gd name="T21" fmla="*/ 107 h 144"/>
                <a:gd name="T22" fmla="*/ 3 w 155"/>
                <a:gd name="T23" fmla="*/ 110 h 144"/>
                <a:gd name="T24" fmla="*/ 9 w 155"/>
                <a:gd name="T25" fmla="*/ 113 h 144"/>
                <a:gd name="T26" fmla="*/ 21 w 155"/>
                <a:gd name="T27" fmla="*/ 116 h 144"/>
                <a:gd name="T28" fmla="*/ 34 w 155"/>
                <a:gd name="T29" fmla="*/ 114 h 144"/>
                <a:gd name="T30" fmla="*/ 47 w 155"/>
                <a:gd name="T31" fmla="*/ 116 h 144"/>
                <a:gd name="T32" fmla="*/ 54 w 155"/>
                <a:gd name="T33" fmla="*/ 118 h 144"/>
                <a:gd name="T34" fmla="*/ 64 w 155"/>
                <a:gd name="T35" fmla="*/ 123 h 144"/>
                <a:gd name="T36" fmla="*/ 72 w 155"/>
                <a:gd name="T37" fmla="*/ 130 h 144"/>
                <a:gd name="T38" fmla="*/ 83 w 155"/>
                <a:gd name="T39" fmla="*/ 136 h 144"/>
                <a:gd name="T40" fmla="*/ 96 w 155"/>
                <a:gd name="T41" fmla="*/ 144 h 144"/>
                <a:gd name="T42" fmla="*/ 98 w 155"/>
                <a:gd name="T43" fmla="*/ 135 h 144"/>
                <a:gd name="T44" fmla="*/ 101 w 155"/>
                <a:gd name="T45" fmla="*/ 128 h 144"/>
                <a:gd name="T46" fmla="*/ 107 w 155"/>
                <a:gd name="T47" fmla="*/ 122 h 144"/>
                <a:gd name="T48" fmla="*/ 116 w 155"/>
                <a:gd name="T49" fmla="*/ 116 h 144"/>
                <a:gd name="T50" fmla="*/ 126 w 155"/>
                <a:gd name="T51" fmla="*/ 112 h 144"/>
                <a:gd name="T52" fmla="*/ 137 w 155"/>
                <a:gd name="T53" fmla="*/ 107 h 144"/>
                <a:gd name="T54" fmla="*/ 146 w 155"/>
                <a:gd name="T55" fmla="*/ 98 h 144"/>
                <a:gd name="T56" fmla="*/ 151 w 155"/>
                <a:gd name="T57" fmla="*/ 89 h 144"/>
                <a:gd name="T58" fmla="*/ 155 w 155"/>
                <a:gd name="T59" fmla="*/ 80 h 14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55"/>
                <a:gd name="T91" fmla="*/ 0 h 144"/>
                <a:gd name="T92" fmla="*/ 155 w 155"/>
                <a:gd name="T93" fmla="*/ 144 h 14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55" h="144">
                  <a:moveTo>
                    <a:pt x="22" y="0"/>
                  </a:moveTo>
                  <a:lnTo>
                    <a:pt x="26" y="8"/>
                  </a:lnTo>
                  <a:lnTo>
                    <a:pt x="26" y="15"/>
                  </a:lnTo>
                  <a:lnTo>
                    <a:pt x="26" y="21"/>
                  </a:lnTo>
                  <a:lnTo>
                    <a:pt x="23" y="34"/>
                  </a:lnTo>
                  <a:lnTo>
                    <a:pt x="21" y="51"/>
                  </a:lnTo>
                  <a:lnTo>
                    <a:pt x="17" y="66"/>
                  </a:lnTo>
                  <a:lnTo>
                    <a:pt x="11" y="78"/>
                  </a:lnTo>
                  <a:lnTo>
                    <a:pt x="5" y="90"/>
                  </a:lnTo>
                  <a:lnTo>
                    <a:pt x="0" y="101"/>
                  </a:lnTo>
                  <a:lnTo>
                    <a:pt x="0" y="107"/>
                  </a:lnTo>
                  <a:lnTo>
                    <a:pt x="3" y="110"/>
                  </a:lnTo>
                  <a:lnTo>
                    <a:pt x="9" y="113"/>
                  </a:lnTo>
                  <a:lnTo>
                    <a:pt x="21" y="116"/>
                  </a:lnTo>
                  <a:lnTo>
                    <a:pt x="34" y="114"/>
                  </a:lnTo>
                  <a:lnTo>
                    <a:pt x="47" y="116"/>
                  </a:lnTo>
                  <a:lnTo>
                    <a:pt x="54" y="118"/>
                  </a:lnTo>
                  <a:lnTo>
                    <a:pt x="64" y="123"/>
                  </a:lnTo>
                  <a:lnTo>
                    <a:pt x="72" y="130"/>
                  </a:lnTo>
                  <a:lnTo>
                    <a:pt x="83" y="136"/>
                  </a:lnTo>
                  <a:lnTo>
                    <a:pt x="96" y="144"/>
                  </a:lnTo>
                  <a:lnTo>
                    <a:pt x="98" y="135"/>
                  </a:lnTo>
                  <a:lnTo>
                    <a:pt x="101" y="128"/>
                  </a:lnTo>
                  <a:lnTo>
                    <a:pt x="107" y="122"/>
                  </a:lnTo>
                  <a:lnTo>
                    <a:pt x="116" y="116"/>
                  </a:lnTo>
                  <a:lnTo>
                    <a:pt x="126" y="112"/>
                  </a:lnTo>
                  <a:lnTo>
                    <a:pt x="137" y="107"/>
                  </a:lnTo>
                  <a:lnTo>
                    <a:pt x="146" y="98"/>
                  </a:lnTo>
                  <a:lnTo>
                    <a:pt x="151" y="89"/>
                  </a:lnTo>
                  <a:lnTo>
                    <a:pt x="155" y="8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81" name="Freeform 85">
              <a:extLst>
                <a:ext uri="{FF2B5EF4-FFF2-40B4-BE49-F238E27FC236}">
                  <a16:creationId xmlns:a16="http://schemas.microsoft.com/office/drawing/2014/main" id="{B7062466-E49C-D642-A708-76C2C6E9C76F}"/>
                </a:ext>
              </a:extLst>
            </p:cNvPr>
            <p:cNvSpPr>
              <a:spLocks/>
            </p:cNvSpPr>
            <p:nvPr/>
          </p:nvSpPr>
          <p:spPr bwMode="auto">
            <a:xfrm>
              <a:off x="4081" y="1405"/>
              <a:ext cx="34" cy="36"/>
            </a:xfrm>
            <a:custGeom>
              <a:avLst/>
              <a:gdLst>
                <a:gd name="T0" fmla="*/ 0 w 102"/>
                <a:gd name="T1" fmla="*/ 14 h 108"/>
                <a:gd name="T2" fmla="*/ 8 w 102"/>
                <a:gd name="T3" fmla="*/ 20 h 108"/>
                <a:gd name="T4" fmla="*/ 17 w 102"/>
                <a:gd name="T5" fmla="*/ 31 h 108"/>
                <a:gd name="T6" fmla="*/ 26 w 102"/>
                <a:gd name="T7" fmla="*/ 45 h 108"/>
                <a:gd name="T8" fmla="*/ 32 w 102"/>
                <a:gd name="T9" fmla="*/ 62 h 108"/>
                <a:gd name="T10" fmla="*/ 41 w 102"/>
                <a:gd name="T11" fmla="*/ 80 h 108"/>
                <a:gd name="T12" fmla="*/ 49 w 102"/>
                <a:gd name="T13" fmla="*/ 94 h 108"/>
                <a:gd name="T14" fmla="*/ 60 w 102"/>
                <a:gd name="T15" fmla="*/ 104 h 108"/>
                <a:gd name="T16" fmla="*/ 68 w 102"/>
                <a:gd name="T17" fmla="*/ 108 h 108"/>
                <a:gd name="T18" fmla="*/ 71 w 102"/>
                <a:gd name="T19" fmla="*/ 95 h 108"/>
                <a:gd name="T20" fmla="*/ 76 w 102"/>
                <a:gd name="T21" fmla="*/ 84 h 108"/>
                <a:gd name="T22" fmla="*/ 84 w 102"/>
                <a:gd name="T23" fmla="*/ 71 h 108"/>
                <a:gd name="T24" fmla="*/ 90 w 102"/>
                <a:gd name="T25" fmla="*/ 59 h 108"/>
                <a:gd name="T26" fmla="*/ 95 w 102"/>
                <a:gd name="T27" fmla="*/ 46 h 108"/>
                <a:gd name="T28" fmla="*/ 97 w 102"/>
                <a:gd name="T29" fmla="*/ 31 h 108"/>
                <a:gd name="T30" fmla="*/ 101 w 102"/>
                <a:gd name="T31" fmla="*/ 18 h 108"/>
                <a:gd name="T32" fmla="*/ 102 w 102"/>
                <a:gd name="T33" fmla="*/ 12 h 108"/>
                <a:gd name="T34" fmla="*/ 101 w 102"/>
                <a:gd name="T35" fmla="*/ 5 h 108"/>
                <a:gd name="T36" fmla="*/ 98 w 102"/>
                <a:gd name="T37" fmla="*/ 0 h 1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2"/>
                <a:gd name="T58" fmla="*/ 0 h 108"/>
                <a:gd name="T59" fmla="*/ 102 w 102"/>
                <a:gd name="T60" fmla="*/ 108 h 10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2" h="108">
                  <a:moveTo>
                    <a:pt x="0" y="14"/>
                  </a:moveTo>
                  <a:lnTo>
                    <a:pt x="8" y="20"/>
                  </a:lnTo>
                  <a:lnTo>
                    <a:pt x="17" y="31"/>
                  </a:lnTo>
                  <a:lnTo>
                    <a:pt x="26" y="45"/>
                  </a:lnTo>
                  <a:lnTo>
                    <a:pt x="32" y="62"/>
                  </a:lnTo>
                  <a:lnTo>
                    <a:pt x="41" y="80"/>
                  </a:lnTo>
                  <a:lnTo>
                    <a:pt x="49" y="94"/>
                  </a:lnTo>
                  <a:lnTo>
                    <a:pt x="60" y="104"/>
                  </a:lnTo>
                  <a:lnTo>
                    <a:pt x="68" y="108"/>
                  </a:lnTo>
                  <a:lnTo>
                    <a:pt x="71" y="95"/>
                  </a:lnTo>
                  <a:lnTo>
                    <a:pt x="76" y="84"/>
                  </a:lnTo>
                  <a:lnTo>
                    <a:pt x="84" y="71"/>
                  </a:lnTo>
                  <a:lnTo>
                    <a:pt x="90" y="59"/>
                  </a:lnTo>
                  <a:lnTo>
                    <a:pt x="95" y="46"/>
                  </a:lnTo>
                  <a:lnTo>
                    <a:pt x="97" y="31"/>
                  </a:lnTo>
                  <a:lnTo>
                    <a:pt x="101" y="18"/>
                  </a:lnTo>
                  <a:lnTo>
                    <a:pt x="102" y="12"/>
                  </a:lnTo>
                  <a:lnTo>
                    <a:pt x="101" y="5"/>
                  </a:lnTo>
                  <a:lnTo>
                    <a:pt x="98"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82" name="Freeform 86">
              <a:extLst>
                <a:ext uri="{FF2B5EF4-FFF2-40B4-BE49-F238E27FC236}">
                  <a16:creationId xmlns:a16="http://schemas.microsoft.com/office/drawing/2014/main" id="{915BA2B2-B390-984F-8053-6C974060AD15}"/>
                </a:ext>
              </a:extLst>
            </p:cNvPr>
            <p:cNvSpPr>
              <a:spLocks/>
            </p:cNvSpPr>
            <p:nvPr/>
          </p:nvSpPr>
          <p:spPr bwMode="auto">
            <a:xfrm>
              <a:off x="4077" y="1410"/>
              <a:ext cx="342" cy="244"/>
            </a:xfrm>
            <a:custGeom>
              <a:avLst/>
              <a:gdLst>
                <a:gd name="T0" fmla="*/ 16 w 1028"/>
                <a:gd name="T1" fmla="*/ 13 h 731"/>
                <a:gd name="T2" fmla="*/ 41 w 1028"/>
                <a:gd name="T3" fmla="*/ 62 h 731"/>
                <a:gd name="T4" fmla="*/ 67 w 1028"/>
                <a:gd name="T5" fmla="*/ 104 h 731"/>
                <a:gd name="T6" fmla="*/ 127 w 1028"/>
                <a:gd name="T7" fmla="*/ 132 h 731"/>
                <a:gd name="T8" fmla="*/ 168 w 1028"/>
                <a:gd name="T9" fmla="*/ 161 h 731"/>
                <a:gd name="T10" fmla="*/ 175 w 1028"/>
                <a:gd name="T11" fmla="*/ 201 h 731"/>
                <a:gd name="T12" fmla="*/ 199 w 1028"/>
                <a:gd name="T13" fmla="*/ 230 h 731"/>
                <a:gd name="T14" fmla="*/ 246 w 1028"/>
                <a:gd name="T15" fmla="*/ 259 h 731"/>
                <a:gd name="T16" fmla="*/ 265 w 1028"/>
                <a:gd name="T17" fmla="*/ 314 h 731"/>
                <a:gd name="T18" fmla="*/ 282 w 1028"/>
                <a:gd name="T19" fmla="*/ 363 h 731"/>
                <a:gd name="T20" fmla="*/ 305 w 1028"/>
                <a:gd name="T21" fmla="*/ 411 h 731"/>
                <a:gd name="T22" fmla="*/ 305 w 1028"/>
                <a:gd name="T23" fmla="*/ 470 h 731"/>
                <a:gd name="T24" fmla="*/ 250 w 1028"/>
                <a:gd name="T25" fmla="*/ 556 h 731"/>
                <a:gd name="T26" fmla="*/ 225 w 1028"/>
                <a:gd name="T27" fmla="*/ 620 h 731"/>
                <a:gd name="T28" fmla="*/ 200 w 1028"/>
                <a:gd name="T29" fmla="*/ 672 h 731"/>
                <a:gd name="T30" fmla="*/ 161 w 1028"/>
                <a:gd name="T31" fmla="*/ 698 h 731"/>
                <a:gd name="T32" fmla="*/ 215 w 1028"/>
                <a:gd name="T33" fmla="*/ 687 h 731"/>
                <a:gd name="T34" fmla="*/ 273 w 1028"/>
                <a:gd name="T35" fmla="*/ 686 h 731"/>
                <a:gd name="T36" fmla="*/ 312 w 1028"/>
                <a:gd name="T37" fmla="*/ 711 h 731"/>
                <a:gd name="T38" fmla="*/ 328 w 1028"/>
                <a:gd name="T39" fmla="*/ 728 h 731"/>
                <a:gd name="T40" fmla="*/ 319 w 1028"/>
                <a:gd name="T41" fmla="*/ 678 h 731"/>
                <a:gd name="T42" fmla="*/ 345 w 1028"/>
                <a:gd name="T43" fmla="*/ 714 h 731"/>
                <a:gd name="T44" fmla="*/ 387 w 1028"/>
                <a:gd name="T45" fmla="*/ 710 h 731"/>
                <a:gd name="T46" fmla="*/ 447 w 1028"/>
                <a:gd name="T47" fmla="*/ 706 h 731"/>
                <a:gd name="T48" fmla="*/ 416 w 1028"/>
                <a:gd name="T49" fmla="*/ 680 h 731"/>
                <a:gd name="T50" fmla="*/ 395 w 1028"/>
                <a:gd name="T51" fmla="*/ 632 h 731"/>
                <a:gd name="T52" fmla="*/ 398 w 1028"/>
                <a:gd name="T53" fmla="*/ 565 h 731"/>
                <a:gd name="T54" fmla="*/ 402 w 1028"/>
                <a:gd name="T55" fmla="*/ 507 h 731"/>
                <a:gd name="T56" fmla="*/ 397 w 1028"/>
                <a:gd name="T57" fmla="*/ 451 h 731"/>
                <a:gd name="T58" fmla="*/ 394 w 1028"/>
                <a:gd name="T59" fmla="*/ 415 h 731"/>
                <a:gd name="T60" fmla="*/ 397 w 1028"/>
                <a:gd name="T61" fmla="*/ 362 h 731"/>
                <a:gd name="T62" fmla="*/ 374 w 1028"/>
                <a:gd name="T63" fmla="*/ 319 h 731"/>
                <a:gd name="T64" fmla="*/ 378 w 1028"/>
                <a:gd name="T65" fmla="*/ 281 h 731"/>
                <a:gd name="T66" fmla="*/ 434 w 1028"/>
                <a:gd name="T67" fmla="*/ 239 h 731"/>
                <a:gd name="T68" fmla="*/ 504 w 1028"/>
                <a:gd name="T69" fmla="*/ 217 h 731"/>
                <a:gd name="T70" fmla="*/ 562 w 1028"/>
                <a:gd name="T71" fmla="*/ 195 h 731"/>
                <a:gd name="T72" fmla="*/ 607 w 1028"/>
                <a:gd name="T73" fmla="*/ 157 h 731"/>
                <a:gd name="T74" fmla="*/ 653 w 1028"/>
                <a:gd name="T75" fmla="*/ 123 h 731"/>
                <a:gd name="T76" fmla="*/ 711 w 1028"/>
                <a:gd name="T77" fmla="*/ 113 h 731"/>
                <a:gd name="T78" fmla="*/ 781 w 1028"/>
                <a:gd name="T79" fmla="*/ 118 h 731"/>
                <a:gd name="T80" fmla="*/ 849 w 1028"/>
                <a:gd name="T81" fmla="*/ 126 h 731"/>
                <a:gd name="T82" fmla="*/ 904 w 1028"/>
                <a:gd name="T83" fmla="*/ 107 h 731"/>
                <a:gd name="T84" fmla="*/ 948 w 1028"/>
                <a:gd name="T85" fmla="*/ 76 h 731"/>
                <a:gd name="T86" fmla="*/ 1002 w 1028"/>
                <a:gd name="T87" fmla="*/ 58 h 731"/>
                <a:gd name="T88" fmla="*/ 1024 w 1028"/>
                <a:gd name="T89" fmla="*/ 44 h 7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028"/>
                <a:gd name="T136" fmla="*/ 0 h 731"/>
                <a:gd name="T137" fmla="*/ 1028 w 1028"/>
                <a:gd name="T138" fmla="*/ 731 h 73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028" h="731">
                  <a:moveTo>
                    <a:pt x="0" y="0"/>
                  </a:moveTo>
                  <a:lnTo>
                    <a:pt x="7" y="4"/>
                  </a:lnTo>
                  <a:lnTo>
                    <a:pt x="16" y="13"/>
                  </a:lnTo>
                  <a:lnTo>
                    <a:pt x="24" y="23"/>
                  </a:lnTo>
                  <a:lnTo>
                    <a:pt x="32" y="39"/>
                  </a:lnTo>
                  <a:lnTo>
                    <a:pt x="41" y="62"/>
                  </a:lnTo>
                  <a:lnTo>
                    <a:pt x="48" y="81"/>
                  </a:lnTo>
                  <a:lnTo>
                    <a:pt x="57" y="93"/>
                  </a:lnTo>
                  <a:lnTo>
                    <a:pt x="67" y="104"/>
                  </a:lnTo>
                  <a:lnTo>
                    <a:pt x="86" y="114"/>
                  </a:lnTo>
                  <a:lnTo>
                    <a:pt x="107" y="123"/>
                  </a:lnTo>
                  <a:lnTo>
                    <a:pt x="127" y="132"/>
                  </a:lnTo>
                  <a:lnTo>
                    <a:pt x="144" y="139"/>
                  </a:lnTo>
                  <a:lnTo>
                    <a:pt x="159" y="150"/>
                  </a:lnTo>
                  <a:lnTo>
                    <a:pt x="168" y="161"/>
                  </a:lnTo>
                  <a:lnTo>
                    <a:pt x="171" y="171"/>
                  </a:lnTo>
                  <a:lnTo>
                    <a:pt x="174" y="181"/>
                  </a:lnTo>
                  <a:lnTo>
                    <a:pt x="175" y="201"/>
                  </a:lnTo>
                  <a:lnTo>
                    <a:pt x="178" y="213"/>
                  </a:lnTo>
                  <a:lnTo>
                    <a:pt x="184" y="221"/>
                  </a:lnTo>
                  <a:lnTo>
                    <a:pt x="199" y="230"/>
                  </a:lnTo>
                  <a:lnTo>
                    <a:pt x="215" y="239"/>
                  </a:lnTo>
                  <a:lnTo>
                    <a:pt x="233" y="248"/>
                  </a:lnTo>
                  <a:lnTo>
                    <a:pt x="246" y="259"/>
                  </a:lnTo>
                  <a:lnTo>
                    <a:pt x="254" y="271"/>
                  </a:lnTo>
                  <a:lnTo>
                    <a:pt x="258" y="296"/>
                  </a:lnTo>
                  <a:lnTo>
                    <a:pt x="265" y="314"/>
                  </a:lnTo>
                  <a:lnTo>
                    <a:pt x="270" y="340"/>
                  </a:lnTo>
                  <a:lnTo>
                    <a:pt x="274" y="351"/>
                  </a:lnTo>
                  <a:lnTo>
                    <a:pt x="282" y="363"/>
                  </a:lnTo>
                  <a:lnTo>
                    <a:pt x="292" y="377"/>
                  </a:lnTo>
                  <a:lnTo>
                    <a:pt x="301" y="396"/>
                  </a:lnTo>
                  <a:lnTo>
                    <a:pt x="305" y="411"/>
                  </a:lnTo>
                  <a:lnTo>
                    <a:pt x="307" y="431"/>
                  </a:lnTo>
                  <a:lnTo>
                    <a:pt x="307" y="450"/>
                  </a:lnTo>
                  <a:lnTo>
                    <a:pt x="305" y="470"/>
                  </a:lnTo>
                  <a:lnTo>
                    <a:pt x="287" y="503"/>
                  </a:lnTo>
                  <a:lnTo>
                    <a:pt x="266" y="531"/>
                  </a:lnTo>
                  <a:lnTo>
                    <a:pt x="250" y="556"/>
                  </a:lnTo>
                  <a:lnTo>
                    <a:pt x="239" y="576"/>
                  </a:lnTo>
                  <a:lnTo>
                    <a:pt x="232" y="598"/>
                  </a:lnTo>
                  <a:lnTo>
                    <a:pt x="225" y="620"/>
                  </a:lnTo>
                  <a:lnTo>
                    <a:pt x="217" y="642"/>
                  </a:lnTo>
                  <a:lnTo>
                    <a:pt x="204" y="664"/>
                  </a:lnTo>
                  <a:lnTo>
                    <a:pt x="200" y="672"/>
                  </a:lnTo>
                  <a:lnTo>
                    <a:pt x="192" y="679"/>
                  </a:lnTo>
                  <a:lnTo>
                    <a:pt x="178" y="690"/>
                  </a:lnTo>
                  <a:lnTo>
                    <a:pt x="161" y="698"/>
                  </a:lnTo>
                  <a:lnTo>
                    <a:pt x="178" y="694"/>
                  </a:lnTo>
                  <a:lnTo>
                    <a:pt x="199" y="690"/>
                  </a:lnTo>
                  <a:lnTo>
                    <a:pt x="215" y="687"/>
                  </a:lnTo>
                  <a:lnTo>
                    <a:pt x="235" y="685"/>
                  </a:lnTo>
                  <a:lnTo>
                    <a:pt x="254" y="685"/>
                  </a:lnTo>
                  <a:lnTo>
                    <a:pt x="273" y="686"/>
                  </a:lnTo>
                  <a:lnTo>
                    <a:pt x="288" y="690"/>
                  </a:lnTo>
                  <a:lnTo>
                    <a:pt x="302" y="700"/>
                  </a:lnTo>
                  <a:lnTo>
                    <a:pt x="312" y="711"/>
                  </a:lnTo>
                  <a:lnTo>
                    <a:pt x="321" y="723"/>
                  </a:lnTo>
                  <a:lnTo>
                    <a:pt x="328" y="731"/>
                  </a:lnTo>
                  <a:lnTo>
                    <a:pt x="328" y="728"/>
                  </a:lnTo>
                  <a:lnTo>
                    <a:pt x="325" y="711"/>
                  </a:lnTo>
                  <a:lnTo>
                    <a:pt x="324" y="698"/>
                  </a:lnTo>
                  <a:lnTo>
                    <a:pt x="319" y="678"/>
                  </a:lnTo>
                  <a:lnTo>
                    <a:pt x="328" y="698"/>
                  </a:lnTo>
                  <a:lnTo>
                    <a:pt x="336" y="708"/>
                  </a:lnTo>
                  <a:lnTo>
                    <a:pt x="345" y="714"/>
                  </a:lnTo>
                  <a:lnTo>
                    <a:pt x="356" y="717"/>
                  </a:lnTo>
                  <a:lnTo>
                    <a:pt x="370" y="714"/>
                  </a:lnTo>
                  <a:lnTo>
                    <a:pt x="387" y="710"/>
                  </a:lnTo>
                  <a:lnTo>
                    <a:pt x="407" y="706"/>
                  </a:lnTo>
                  <a:lnTo>
                    <a:pt x="428" y="703"/>
                  </a:lnTo>
                  <a:lnTo>
                    <a:pt x="447" y="706"/>
                  </a:lnTo>
                  <a:lnTo>
                    <a:pt x="465" y="710"/>
                  </a:lnTo>
                  <a:lnTo>
                    <a:pt x="430" y="691"/>
                  </a:lnTo>
                  <a:lnTo>
                    <a:pt x="416" y="680"/>
                  </a:lnTo>
                  <a:lnTo>
                    <a:pt x="405" y="668"/>
                  </a:lnTo>
                  <a:lnTo>
                    <a:pt x="400" y="652"/>
                  </a:lnTo>
                  <a:lnTo>
                    <a:pt x="395" y="632"/>
                  </a:lnTo>
                  <a:lnTo>
                    <a:pt x="394" y="602"/>
                  </a:lnTo>
                  <a:lnTo>
                    <a:pt x="396" y="582"/>
                  </a:lnTo>
                  <a:lnTo>
                    <a:pt x="398" y="565"/>
                  </a:lnTo>
                  <a:lnTo>
                    <a:pt x="403" y="544"/>
                  </a:lnTo>
                  <a:lnTo>
                    <a:pt x="403" y="527"/>
                  </a:lnTo>
                  <a:lnTo>
                    <a:pt x="402" y="507"/>
                  </a:lnTo>
                  <a:lnTo>
                    <a:pt x="403" y="483"/>
                  </a:lnTo>
                  <a:lnTo>
                    <a:pt x="401" y="465"/>
                  </a:lnTo>
                  <a:lnTo>
                    <a:pt x="397" y="451"/>
                  </a:lnTo>
                  <a:lnTo>
                    <a:pt x="392" y="436"/>
                  </a:lnTo>
                  <a:lnTo>
                    <a:pt x="391" y="427"/>
                  </a:lnTo>
                  <a:lnTo>
                    <a:pt x="394" y="415"/>
                  </a:lnTo>
                  <a:lnTo>
                    <a:pt x="398" y="398"/>
                  </a:lnTo>
                  <a:lnTo>
                    <a:pt x="400" y="381"/>
                  </a:lnTo>
                  <a:lnTo>
                    <a:pt x="397" y="362"/>
                  </a:lnTo>
                  <a:lnTo>
                    <a:pt x="391" y="346"/>
                  </a:lnTo>
                  <a:lnTo>
                    <a:pt x="382" y="331"/>
                  </a:lnTo>
                  <a:lnTo>
                    <a:pt x="374" y="319"/>
                  </a:lnTo>
                  <a:lnTo>
                    <a:pt x="371" y="307"/>
                  </a:lnTo>
                  <a:lnTo>
                    <a:pt x="372" y="294"/>
                  </a:lnTo>
                  <a:lnTo>
                    <a:pt x="378" y="281"/>
                  </a:lnTo>
                  <a:lnTo>
                    <a:pt x="387" y="270"/>
                  </a:lnTo>
                  <a:lnTo>
                    <a:pt x="409" y="253"/>
                  </a:lnTo>
                  <a:lnTo>
                    <a:pt x="434" y="239"/>
                  </a:lnTo>
                  <a:lnTo>
                    <a:pt x="461" y="228"/>
                  </a:lnTo>
                  <a:lnTo>
                    <a:pt x="484" y="222"/>
                  </a:lnTo>
                  <a:lnTo>
                    <a:pt x="504" y="217"/>
                  </a:lnTo>
                  <a:lnTo>
                    <a:pt x="523" y="213"/>
                  </a:lnTo>
                  <a:lnTo>
                    <a:pt x="543" y="205"/>
                  </a:lnTo>
                  <a:lnTo>
                    <a:pt x="562" y="195"/>
                  </a:lnTo>
                  <a:lnTo>
                    <a:pt x="574" y="186"/>
                  </a:lnTo>
                  <a:lnTo>
                    <a:pt x="590" y="172"/>
                  </a:lnTo>
                  <a:lnTo>
                    <a:pt x="607" y="157"/>
                  </a:lnTo>
                  <a:lnTo>
                    <a:pt x="624" y="139"/>
                  </a:lnTo>
                  <a:lnTo>
                    <a:pt x="638" y="129"/>
                  </a:lnTo>
                  <a:lnTo>
                    <a:pt x="653" y="123"/>
                  </a:lnTo>
                  <a:lnTo>
                    <a:pt x="670" y="117"/>
                  </a:lnTo>
                  <a:lnTo>
                    <a:pt x="690" y="114"/>
                  </a:lnTo>
                  <a:lnTo>
                    <a:pt x="711" y="113"/>
                  </a:lnTo>
                  <a:lnTo>
                    <a:pt x="732" y="113"/>
                  </a:lnTo>
                  <a:lnTo>
                    <a:pt x="757" y="115"/>
                  </a:lnTo>
                  <a:lnTo>
                    <a:pt x="781" y="118"/>
                  </a:lnTo>
                  <a:lnTo>
                    <a:pt x="804" y="124"/>
                  </a:lnTo>
                  <a:lnTo>
                    <a:pt x="828" y="127"/>
                  </a:lnTo>
                  <a:lnTo>
                    <a:pt x="849" y="126"/>
                  </a:lnTo>
                  <a:lnTo>
                    <a:pt x="870" y="123"/>
                  </a:lnTo>
                  <a:lnTo>
                    <a:pt x="888" y="117"/>
                  </a:lnTo>
                  <a:lnTo>
                    <a:pt x="904" y="107"/>
                  </a:lnTo>
                  <a:lnTo>
                    <a:pt x="920" y="94"/>
                  </a:lnTo>
                  <a:lnTo>
                    <a:pt x="934" y="84"/>
                  </a:lnTo>
                  <a:lnTo>
                    <a:pt x="948" y="76"/>
                  </a:lnTo>
                  <a:lnTo>
                    <a:pt x="963" y="70"/>
                  </a:lnTo>
                  <a:lnTo>
                    <a:pt x="982" y="65"/>
                  </a:lnTo>
                  <a:lnTo>
                    <a:pt x="1002" y="58"/>
                  </a:lnTo>
                  <a:lnTo>
                    <a:pt x="1013" y="54"/>
                  </a:lnTo>
                  <a:lnTo>
                    <a:pt x="1019" y="49"/>
                  </a:lnTo>
                  <a:lnTo>
                    <a:pt x="1024" y="44"/>
                  </a:lnTo>
                  <a:lnTo>
                    <a:pt x="1028" y="31"/>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83" name="Freeform 87">
              <a:extLst>
                <a:ext uri="{FF2B5EF4-FFF2-40B4-BE49-F238E27FC236}">
                  <a16:creationId xmlns:a16="http://schemas.microsoft.com/office/drawing/2014/main" id="{31F3A115-A995-8C44-8657-4AAB9E985012}"/>
                </a:ext>
              </a:extLst>
            </p:cNvPr>
            <p:cNvSpPr>
              <a:spLocks/>
            </p:cNvSpPr>
            <p:nvPr/>
          </p:nvSpPr>
          <p:spPr bwMode="auto">
            <a:xfrm>
              <a:off x="4145" y="1410"/>
              <a:ext cx="30" cy="57"/>
            </a:xfrm>
            <a:custGeom>
              <a:avLst/>
              <a:gdLst>
                <a:gd name="T0" fmla="*/ 55 w 89"/>
                <a:gd name="T1" fmla="*/ 66 h 173"/>
                <a:gd name="T2" fmla="*/ 52 w 89"/>
                <a:gd name="T3" fmla="*/ 74 h 173"/>
                <a:gd name="T4" fmla="*/ 47 w 89"/>
                <a:gd name="T5" fmla="*/ 85 h 173"/>
                <a:gd name="T6" fmla="*/ 39 w 89"/>
                <a:gd name="T7" fmla="*/ 94 h 173"/>
                <a:gd name="T8" fmla="*/ 27 w 89"/>
                <a:gd name="T9" fmla="*/ 102 h 173"/>
                <a:gd name="T10" fmla="*/ 15 w 89"/>
                <a:gd name="T11" fmla="*/ 108 h 173"/>
                <a:gd name="T12" fmla="*/ 7 w 89"/>
                <a:gd name="T13" fmla="*/ 114 h 173"/>
                <a:gd name="T14" fmla="*/ 0 w 89"/>
                <a:gd name="T15" fmla="*/ 124 h 173"/>
                <a:gd name="T16" fmla="*/ 0 w 89"/>
                <a:gd name="T17" fmla="*/ 126 h 173"/>
                <a:gd name="T18" fmla="*/ 3 w 89"/>
                <a:gd name="T19" fmla="*/ 129 h 173"/>
                <a:gd name="T20" fmla="*/ 15 w 89"/>
                <a:gd name="T21" fmla="*/ 133 h 173"/>
                <a:gd name="T22" fmla="*/ 29 w 89"/>
                <a:gd name="T23" fmla="*/ 135 h 173"/>
                <a:gd name="T24" fmla="*/ 42 w 89"/>
                <a:gd name="T25" fmla="*/ 139 h 173"/>
                <a:gd name="T26" fmla="*/ 50 w 89"/>
                <a:gd name="T27" fmla="*/ 142 h 173"/>
                <a:gd name="T28" fmla="*/ 56 w 89"/>
                <a:gd name="T29" fmla="*/ 150 h 173"/>
                <a:gd name="T30" fmla="*/ 61 w 89"/>
                <a:gd name="T31" fmla="*/ 159 h 173"/>
                <a:gd name="T32" fmla="*/ 64 w 89"/>
                <a:gd name="T33" fmla="*/ 173 h 173"/>
                <a:gd name="T34" fmla="*/ 65 w 89"/>
                <a:gd name="T35" fmla="*/ 149 h 173"/>
                <a:gd name="T36" fmla="*/ 66 w 89"/>
                <a:gd name="T37" fmla="*/ 144 h 173"/>
                <a:gd name="T38" fmla="*/ 68 w 89"/>
                <a:gd name="T39" fmla="*/ 138 h 173"/>
                <a:gd name="T40" fmla="*/ 76 w 89"/>
                <a:gd name="T41" fmla="*/ 128 h 173"/>
                <a:gd name="T42" fmla="*/ 84 w 89"/>
                <a:gd name="T43" fmla="*/ 112 h 173"/>
                <a:gd name="T44" fmla="*/ 89 w 89"/>
                <a:gd name="T45" fmla="*/ 92 h 173"/>
                <a:gd name="T46" fmla="*/ 89 w 89"/>
                <a:gd name="T47" fmla="*/ 73 h 173"/>
                <a:gd name="T48" fmla="*/ 88 w 89"/>
                <a:gd name="T49" fmla="*/ 57 h 173"/>
                <a:gd name="T50" fmla="*/ 88 w 89"/>
                <a:gd name="T51" fmla="*/ 52 h 173"/>
                <a:gd name="T52" fmla="*/ 86 w 89"/>
                <a:gd name="T53" fmla="*/ 33 h 173"/>
                <a:gd name="T54" fmla="*/ 83 w 89"/>
                <a:gd name="T55" fmla="*/ 20 h 173"/>
                <a:gd name="T56" fmla="*/ 78 w 89"/>
                <a:gd name="T57" fmla="*/ 9 h 173"/>
                <a:gd name="T58" fmla="*/ 72 w 89"/>
                <a:gd name="T59" fmla="*/ 0 h 17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9"/>
                <a:gd name="T91" fmla="*/ 0 h 173"/>
                <a:gd name="T92" fmla="*/ 89 w 89"/>
                <a:gd name="T93" fmla="*/ 173 h 17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9" h="173">
                  <a:moveTo>
                    <a:pt x="55" y="66"/>
                  </a:moveTo>
                  <a:lnTo>
                    <a:pt x="52" y="74"/>
                  </a:lnTo>
                  <a:lnTo>
                    <a:pt x="47" y="85"/>
                  </a:lnTo>
                  <a:lnTo>
                    <a:pt x="39" y="94"/>
                  </a:lnTo>
                  <a:lnTo>
                    <a:pt x="27" y="102"/>
                  </a:lnTo>
                  <a:lnTo>
                    <a:pt x="15" y="108"/>
                  </a:lnTo>
                  <a:lnTo>
                    <a:pt x="7" y="114"/>
                  </a:lnTo>
                  <a:lnTo>
                    <a:pt x="0" y="124"/>
                  </a:lnTo>
                  <a:lnTo>
                    <a:pt x="0" y="126"/>
                  </a:lnTo>
                  <a:lnTo>
                    <a:pt x="3" y="129"/>
                  </a:lnTo>
                  <a:lnTo>
                    <a:pt x="15" y="133"/>
                  </a:lnTo>
                  <a:lnTo>
                    <a:pt x="29" y="135"/>
                  </a:lnTo>
                  <a:lnTo>
                    <a:pt x="42" y="139"/>
                  </a:lnTo>
                  <a:lnTo>
                    <a:pt x="50" y="142"/>
                  </a:lnTo>
                  <a:lnTo>
                    <a:pt x="56" y="150"/>
                  </a:lnTo>
                  <a:lnTo>
                    <a:pt x="61" y="159"/>
                  </a:lnTo>
                  <a:lnTo>
                    <a:pt x="64" y="173"/>
                  </a:lnTo>
                  <a:lnTo>
                    <a:pt x="65" y="149"/>
                  </a:lnTo>
                  <a:lnTo>
                    <a:pt x="66" y="144"/>
                  </a:lnTo>
                  <a:lnTo>
                    <a:pt x="68" y="138"/>
                  </a:lnTo>
                  <a:lnTo>
                    <a:pt x="76" y="128"/>
                  </a:lnTo>
                  <a:lnTo>
                    <a:pt x="84" y="112"/>
                  </a:lnTo>
                  <a:lnTo>
                    <a:pt x="89" y="92"/>
                  </a:lnTo>
                  <a:lnTo>
                    <a:pt x="89" y="73"/>
                  </a:lnTo>
                  <a:lnTo>
                    <a:pt x="88" y="57"/>
                  </a:lnTo>
                  <a:lnTo>
                    <a:pt x="88" y="52"/>
                  </a:lnTo>
                  <a:lnTo>
                    <a:pt x="86" y="33"/>
                  </a:lnTo>
                  <a:lnTo>
                    <a:pt x="83" y="20"/>
                  </a:lnTo>
                  <a:lnTo>
                    <a:pt x="78" y="9"/>
                  </a:lnTo>
                  <a:lnTo>
                    <a:pt x="72"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84" name="Freeform 88">
              <a:extLst>
                <a:ext uri="{FF2B5EF4-FFF2-40B4-BE49-F238E27FC236}">
                  <a16:creationId xmlns:a16="http://schemas.microsoft.com/office/drawing/2014/main" id="{3FA10B45-2125-2344-AEBA-4D0D9C07C9DB}"/>
                </a:ext>
              </a:extLst>
            </p:cNvPr>
            <p:cNvSpPr>
              <a:spLocks/>
            </p:cNvSpPr>
            <p:nvPr/>
          </p:nvSpPr>
          <p:spPr bwMode="auto">
            <a:xfrm>
              <a:off x="4173" y="1411"/>
              <a:ext cx="14" cy="40"/>
            </a:xfrm>
            <a:custGeom>
              <a:avLst/>
              <a:gdLst>
                <a:gd name="T0" fmla="*/ 0 w 41"/>
                <a:gd name="T1" fmla="*/ 0 h 120"/>
                <a:gd name="T2" fmla="*/ 4 w 41"/>
                <a:gd name="T3" fmla="*/ 8 h 120"/>
                <a:gd name="T4" fmla="*/ 10 w 41"/>
                <a:gd name="T5" fmla="*/ 19 h 120"/>
                <a:gd name="T6" fmla="*/ 12 w 41"/>
                <a:gd name="T7" fmla="*/ 33 h 120"/>
                <a:gd name="T8" fmla="*/ 14 w 41"/>
                <a:gd name="T9" fmla="*/ 51 h 120"/>
                <a:gd name="T10" fmla="*/ 14 w 41"/>
                <a:gd name="T11" fmla="*/ 51 h 120"/>
                <a:gd name="T12" fmla="*/ 14 w 41"/>
                <a:gd name="T13" fmla="*/ 59 h 120"/>
                <a:gd name="T14" fmla="*/ 16 w 41"/>
                <a:gd name="T15" fmla="*/ 76 h 120"/>
                <a:gd name="T16" fmla="*/ 16 w 41"/>
                <a:gd name="T17" fmla="*/ 91 h 120"/>
                <a:gd name="T18" fmla="*/ 17 w 41"/>
                <a:gd name="T19" fmla="*/ 103 h 120"/>
                <a:gd name="T20" fmla="*/ 21 w 41"/>
                <a:gd name="T21" fmla="*/ 120 h 120"/>
                <a:gd name="T22" fmla="*/ 29 w 41"/>
                <a:gd name="T23" fmla="*/ 109 h 120"/>
                <a:gd name="T24" fmla="*/ 35 w 41"/>
                <a:gd name="T25" fmla="*/ 97 h 120"/>
                <a:gd name="T26" fmla="*/ 39 w 41"/>
                <a:gd name="T27" fmla="*/ 86 h 120"/>
                <a:gd name="T28" fmla="*/ 41 w 41"/>
                <a:gd name="T29" fmla="*/ 70 h 120"/>
                <a:gd name="T30" fmla="*/ 41 w 41"/>
                <a:gd name="T31" fmla="*/ 57 h 120"/>
                <a:gd name="T32" fmla="*/ 41 w 41"/>
                <a:gd name="T33" fmla="*/ 45 h 120"/>
                <a:gd name="T34" fmla="*/ 40 w 41"/>
                <a:gd name="T35" fmla="*/ 39 h 120"/>
                <a:gd name="T36" fmla="*/ 38 w 41"/>
                <a:gd name="T37" fmla="*/ 21 h 120"/>
                <a:gd name="T38" fmla="*/ 36 w 41"/>
                <a:gd name="T39" fmla="*/ 13 h 1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1"/>
                <a:gd name="T61" fmla="*/ 0 h 120"/>
                <a:gd name="T62" fmla="*/ 41 w 41"/>
                <a:gd name="T63" fmla="*/ 120 h 12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1" h="120">
                  <a:moveTo>
                    <a:pt x="0" y="0"/>
                  </a:moveTo>
                  <a:lnTo>
                    <a:pt x="4" y="8"/>
                  </a:lnTo>
                  <a:lnTo>
                    <a:pt x="10" y="19"/>
                  </a:lnTo>
                  <a:lnTo>
                    <a:pt x="12" y="33"/>
                  </a:lnTo>
                  <a:lnTo>
                    <a:pt x="14" y="51"/>
                  </a:lnTo>
                  <a:lnTo>
                    <a:pt x="14" y="59"/>
                  </a:lnTo>
                  <a:lnTo>
                    <a:pt x="16" y="76"/>
                  </a:lnTo>
                  <a:lnTo>
                    <a:pt x="16" y="91"/>
                  </a:lnTo>
                  <a:lnTo>
                    <a:pt x="17" y="103"/>
                  </a:lnTo>
                  <a:lnTo>
                    <a:pt x="21" y="120"/>
                  </a:lnTo>
                  <a:lnTo>
                    <a:pt x="29" y="109"/>
                  </a:lnTo>
                  <a:lnTo>
                    <a:pt x="35" y="97"/>
                  </a:lnTo>
                  <a:lnTo>
                    <a:pt x="39" y="86"/>
                  </a:lnTo>
                  <a:lnTo>
                    <a:pt x="41" y="70"/>
                  </a:lnTo>
                  <a:lnTo>
                    <a:pt x="41" y="57"/>
                  </a:lnTo>
                  <a:lnTo>
                    <a:pt x="41" y="45"/>
                  </a:lnTo>
                  <a:lnTo>
                    <a:pt x="40" y="39"/>
                  </a:lnTo>
                  <a:lnTo>
                    <a:pt x="38" y="21"/>
                  </a:lnTo>
                  <a:lnTo>
                    <a:pt x="36" y="1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85" name="Freeform 89">
              <a:extLst>
                <a:ext uri="{FF2B5EF4-FFF2-40B4-BE49-F238E27FC236}">
                  <a16:creationId xmlns:a16="http://schemas.microsoft.com/office/drawing/2014/main" id="{CD9302BF-A7FF-2247-B23C-1815D7E8B8B3}"/>
                </a:ext>
              </a:extLst>
            </p:cNvPr>
            <p:cNvSpPr>
              <a:spLocks/>
            </p:cNvSpPr>
            <p:nvPr/>
          </p:nvSpPr>
          <p:spPr bwMode="auto">
            <a:xfrm>
              <a:off x="4184" y="1415"/>
              <a:ext cx="41" cy="79"/>
            </a:xfrm>
            <a:custGeom>
              <a:avLst/>
              <a:gdLst>
                <a:gd name="T0" fmla="*/ 21 w 121"/>
                <a:gd name="T1" fmla="*/ 0 h 237"/>
                <a:gd name="T2" fmla="*/ 22 w 121"/>
                <a:gd name="T3" fmla="*/ 13 h 237"/>
                <a:gd name="T4" fmla="*/ 23 w 121"/>
                <a:gd name="T5" fmla="*/ 29 h 237"/>
                <a:gd name="T6" fmla="*/ 23 w 121"/>
                <a:gd name="T7" fmla="*/ 29 h 237"/>
                <a:gd name="T8" fmla="*/ 26 w 121"/>
                <a:gd name="T9" fmla="*/ 45 h 237"/>
                <a:gd name="T10" fmla="*/ 26 w 121"/>
                <a:gd name="T11" fmla="*/ 62 h 237"/>
                <a:gd name="T12" fmla="*/ 23 w 121"/>
                <a:gd name="T13" fmla="*/ 83 h 237"/>
                <a:gd name="T14" fmla="*/ 17 w 121"/>
                <a:gd name="T15" fmla="*/ 100 h 237"/>
                <a:gd name="T16" fmla="*/ 10 w 121"/>
                <a:gd name="T17" fmla="*/ 120 h 237"/>
                <a:gd name="T18" fmla="*/ 3 w 121"/>
                <a:gd name="T19" fmla="*/ 136 h 237"/>
                <a:gd name="T20" fmla="*/ 1 w 121"/>
                <a:gd name="T21" fmla="*/ 154 h 237"/>
                <a:gd name="T22" fmla="*/ 0 w 121"/>
                <a:gd name="T23" fmla="*/ 173 h 237"/>
                <a:gd name="T24" fmla="*/ 2 w 121"/>
                <a:gd name="T25" fmla="*/ 196 h 237"/>
                <a:gd name="T26" fmla="*/ 6 w 121"/>
                <a:gd name="T27" fmla="*/ 212 h 237"/>
                <a:gd name="T28" fmla="*/ 13 w 121"/>
                <a:gd name="T29" fmla="*/ 229 h 237"/>
                <a:gd name="T30" fmla="*/ 22 w 121"/>
                <a:gd name="T31" fmla="*/ 237 h 237"/>
                <a:gd name="T32" fmla="*/ 27 w 121"/>
                <a:gd name="T33" fmla="*/ 224 h 237"/>
                <a:gd name="T34" fmla="*/ 33 w 121"/>
                <a:gd name="T35" fmla="*/ 213 h 237"/>
                <a:gd name="T36" fmla="*/ 38 w 121"/>
                <a:gd name="T37" fmla="*/ 201 h 237"/>
                <a:gd name="T38" fmla="*/ 47 w 121"/>
                <a:gd name="T39" fmla="*/ 189 h 237"/>
                <a:gd name="T40" fmla="*/ 59 w 121"/>
                <a:gd name="T41" fmla="*/ 174 h 237"/>
                <a:gd name="T42" fmla="*/ 71 w 121"/>
                <a:gd name="T43" fmla="*/ 162 h 237"/>
                <a:gd name="T44" fmla="*/ 85 w 121"/>
                <a:gd name="T45" fmla="*/ 146 h 237"/>
                <a:gd name="T46" fmla="*/ 97 w 121"/>
                <a:gd name="T47" fmla="*/ 133 h 237"/>
                <a:gd name="T48" fmla="*/ 109 w 121"/>
                <a:gd name="T49" fmla="*/ 123 h 237"/>
                <a:gd name="T50" fmla="*/ 117 w 121"/>
                <a:gd name="T51" fmla="*/ 112 h 237"/>
                <a:gd name="T52" fmla="*/ 121 w 121"/>
                <a:gd name="T53" fmla="*/ 99 h 237"/>
                <a:gd name="T54" fmla="*/ 121 w 121"/>
                <a:gd name="T55" fmla="*/ 87 h 237"/>
                <a:gd name="T56" fmla="*/ 118 w 121"/>
                <a:gd name="T57" fmla="*/ 74 h 237"/>
                <a:gd name="T58" fmla="*/ 112 w 121"/>
                <a:gd name="T59" fmla="*/ 61 h 237"/>
                <a:gd name="T60" fmla="*/ 104 w 121"/>
                <a:gd name="T61" fmla="*/ 43 h 237"/>
                <a:gd name="T62" fmla="*/ 97 w 121"/>
                <a:gd name="T63" fmla="*/ 27 h 237"/>
                <a:gd name="T64" fmla="*/ 91 w 121"/>
                <a:gd name="T65" fmla="*/ 11 h 237"/>
                <a:gd name="T66" fmla="*/ 85 w 121"/>
                <a:gd name="T67" fmla="*/ 2 h 23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1"/>
                <a:gd name="T103" fmla="*/ 0 h 237"/>
                <a:gd name="T104" fmla="*/ 121 w 121"/>
                <a:gd name="T105" fmla="*/ 237 h 23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1" h="237">
                  <a:moveTo>
                    <a:pt x="21" y="0"/>
                  </a:moveTo>
                  <a:lnTo>
                    <a:pt x="22" y="13"/>
                  </a:lnTo>
                  <a:lnTo>
                    <a:pt x="23" y="29"/>
                  </a:lnTo>
                  <a:lnTo>
                    <a:pt x="26" y="45"/>
                  </a:lnTo>
                  <a:lnTo>
                    <a:pt x="26" y="62"/>
                  </a:lnTo>
                  <a:lnTo>
                    <a:pt x="23" y="83"/>
                  </a:lnTo>
                  <a:lnTo>
                    <a:pt x="17" y="100"/>
                  </a:lnTo>
                  <a:lnTo>
                    <a:pt x="10" y="120"/>
                  </a:lnTo>
                  <a:lnTo>
                    <a:pt x="3" y="136"/>
                  </a:lnTo>
                  <a:lnTo>
                    <a:pt x="1" y="154"/>
                  </a:lnTo>
                  <a:lnTo>
                    <a:pt x="0" y="173"/>
                  </a:lnTo>
                  <a:lnTo>
                    <a:pt x="2" y="196"/>
                  </a:lnTo>
                  <a:lnTo>
                    <a:pt x="6" y="212"/>
                  </a:lnTo>
                  <a:lnTo>
                    <a:pt x="13" y="229"/>
                  </a:lnTo>
                  <a:lnTo>
                    <a:pt x="22" y="237"/>
                  </a:lnTo>
                  <a:lnTo>
                    <a:pt x="27" y="224"/>
                  </a:lnTo>
                  <a:lnTo>
                    <a:pt x="33" y="213"/>
                  </a:lnTo>
                  <a:lnTo>
                    <a:pt x="38" y="201"/>
                  </a:lnTo>
                  <a:lnTo>
                    <a:pt x="47" y="189"/>
                  </a:lnTo>
                  <a:lnTo>
                    <a:pt x="59" y="174"/>
                  </a:lnTo>
                  <a:lnTo>
                    <a:pt x="71" y="162"/>
                  </a:lnTo>
                  <a:lnTo>
                    <a:pt x="85" y="146"/>
                  </a:lnTo>
                  <a:lnTo>
                    <a:pt x="97" y="133"/>
                  </a:lnTo>
                  <a:lnTo>
                    <a:pt x="109" y="123"/>
                  </a:lnTo>
                  <a:lnTo>
                    <a:pt x="117" y="112"/>
                  </a:lnTo>
                  <a:lnTo>
                    <a:pt x="121" y="99"/>
                  </a:lnTo>
                  <a:lnTo>
                    <a:pt x="121" y="87"/>
                  </a:lnTo>
                  <a:lnTo>
                    <a:pt x="118" y="74"/>
                  </a:lnTo>
                  <a:lnTo>
                    <a:pt x="112" y="61"/>
                  </a:lnTo>
                  <a:lnTo>
                    <a:pt x="104" y="43"/>
                  </a:lnTo>
                  <a:lnTo>
                    <a:pt x="97" y="27"/>
                  </a:lnTo>
                  <a:lnTo>
                    <a:pt x="91" y="11"/>
                  </a:lnTo>
                  <a:lnTo>
                    <a:pt x="85" y="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86" name="Freeform 90">
              <a:extLst>
                <a:ext uri="{FF2B5EF4-FFF2-40B4-BE49-F238E27FC236}">
                  <a16:creationId xmlns:a16="http://schemas.microsoft.com/office/drawing/2014/main" id="{C619188C-53A6-7F46-8654-DCD0270CA909}"/>
                </a:ext>
              </a:extLst>
            </p:cNvPr>
            <p:cNvSpPr>
              <a:spLocks/>
            </p:cNvSpPr>
            <p:nvPr/>
          </p:nvSpPr>
          <p:spPr bwMode="auto">
            <a:xfrm>
              <a:off x="4013" y="1302"/>
              <a:ext cx="220" cy="113"/>
            </a:xfrm>
            <a:custGeom>
              <a:avLst/>
              <a:gdLst>
                <a:gd name="T0" fmla="*/ 236 w 660"/>
                <a:gd name="T1" fmla="*/ 15 h 338"/>
                <a:gd name="T2" fmla="*/ 212 w 660"/>
                <a:gd name="T3" fmla="*/ 5 h 338"/>
                <a:gd name="T4" fmla="*/ 190 w 660"/>
                <a:gd name="T5" fmla="*/ 0 h 338"/>
                <a:gd name="T6" fmla="*/ 170 w 660"/>
                <a:gd name="T7" fmla="*/ 10 h 338"/>
                <a:gd name="T8" fmla="*/ 156 w 660"/>
                <a:gd name="T9" fmla="*/ 39 h 338"/>
                <a:gd name="T10" fmla="*/ 139 w 660"/>
                <a:gd name="T11" fmla="*/ 78 h 338"/>
                <a:gd name="T12" fmla="*/ 125 w 660"/>
                <a:gd name="T13" fmla="*/ 95 h 338"/>
                <a:gd name="T14" fmla="*/ 99 w 660"/>
                <a:gd name="T15" fmla="*/ 109 h 338"/>
                <a:gd name="T16" fmla="*/ 55 w 660"/>
                <a:gd name="T17" fmla="*/ 132 h 338"/>
                <a:gd name="T18" fmla="*/ 23 w 660"/>
                <a:gd name="T19" fmla="*/ 164 h 338"/>
                <a:gd name="T20" fmla="*/ 4 w 660"/>
                <a:gd name="T21" fmla="*/ 205 h 338"/>
                <a:gd name="T22" fmla="*/ 1 w 660"/>
                <a:gd name="T23" fmla="*/ 249 h 338"/>
                <a:gd name="T24" fmla="*/ 12 w 660"/>
                <a:gd name="T25" fmla="*/ 281 h 338"/>
                <a:gd name="T26" fmla="*/ 35 w 660"/>
                <a:gd name="T27" fmla="*/ 302 h 338"/>
                <a:gd name="T28" fmla="*/ 68 w 660"/>
                <a:gd name="T29" fmla="*/ 311 h 338"/>
                <a:gd name="T30" fmla="*/ 89 w 660"/>
                <a:gd name="T31" fmla="*/ 321 h 338"/>
                <a:gd name="T32" fmla="*/ 113 w 660"/>
                <a:gd name="T33" fmla="*/ 335 h 338"/>
                <a:gd name="T34" fmla="*/ 141 w 660"/>
                <a:gd name="T35" fmla="*/ 336 h 338"/>
                <a:gd name="T36" fmla="*/ 191 w 660"/>
                <a:gd name="T37" fmla="*/ 323 h 338"/>
                <a:gd name="T38" fmla="*/ 220 w 660"/>
                <a:gd name="T39" fmla="*/ 321 h 338"/>
                <a:gd name="T40" fmla="*/ 250 w 660"/>
                <a:gd name="T41" fmla="*/ 321 h 338"/>
                <a:gd name="T42" fmla="*/ 287 w 660"/>
                <a:gd name="T43" fmla="*/ 310 h 338"/>
                <a:gd name="T44" fmla="*/ 320 w 660"/>
                <a:gd name="T45" fmla="*/ 301 h 338"/>
                <a:gd name="T46" fmla="*/ 350 w 660"/>
                <a:gd name="T47" fmla="*/ 291 h 338"/>
                <a:gd name="T48" fmla="*/ 382 w 660"/>
                <a:gd name="T49" fmla="*/ 288 h 338"/>
                <a:gd name="T50" fmla="*/ 411 w 660"/>
                <a:gd name="T51" fmla="*/ 295 h 338"/>
                <a:gd name="T52" fmla="*/ 444 w 660"/>
                <a:gd name="T53" fmla="*/ 312 h 338"/>
                <a:gd name="T54" fmla="*/ 469 w 660"/>
                <a:gd name="T55" fmla="*/ 321 h 338"/>
                <a:gd name="T56" fmla="*/ 497 w 660"/>
                <a:gd name="T57" fmla="*/ 332 h 338"/>
                <a:gd name="T58" fmla="*/ 517 w 660"/>
                <a:gd name="T59" fmla="*/ 338 h 338"/>
                <a:gd name="T60" fmla="*/ 533 w 660"/>
                <a:gd name="T61" fmla="*/ 338 h 338"/>
                <a:gd name="T62" fmla="*/ 567 w 660"/>
                <a:gd name="T63" fmla="*/ 327 h 338"/>
                <a:gd name="T64" fmla="*/ 597 w 660"/>
                <a:gd name="T65" fmla="*/ 304 h 338"/>
                <a:gd name="T66" fmla="*/ 616 w 660"/>
                <a:gd name="T67" fmla="*/ 274 h 338"/>
                <a:gd name="T68" fmla="*/ 629 w 660"/>
                <a:gd name="T69" fmla="*/ 229 h 338"/>
                <a:gd name="T70" fmla="*/ 648 w 660"/>
                <a:gd name="T71" fmla="*/ 191 h 338"/>
                <a:gd name="T72" fmla="*/ 660 w 660"/>
                <a:gd name="T73" fmla="*/ 159 h 338"/>
                <a:gd name="T74" fmla="*/ 655 w 660"/>
                <a:gd name="T75" fmla="*/ 131 h 338"/>
                <a:gd name="T76" fmla="*/ 637 w 660"/>
                <a:gd name="T77" fmla="*/ 101 h 338"/>
                <a:gd name="T78" fmla="*/ 611 w 660"/>
                <a:gd name="T79" fmla="*/ 78 h 338"/>
                <a:gd name="T80" fmla="*/ 594 w 660"/>
                <a:gd name="T81" fmla="*/ 61 h 338"/>
                <a:gd name="T82" fmla="*/ 562 w 660"/>
                <a:gd name="T83" fmla="*/ 51 h 338"/>
                <a:gd name="T84" fmla="*/ 515 w 660"/>
                <a:gd name="T85" fmla="*/ 52 h 338"/>
                <a:gd name="T86" fmla="*/ 436 w 660"/>
                <a:gd name="T87" fmla="*/ 61 h 338"/>
                <a:gd name="T88" fmla="*/ 382 w 660"/>
                <a:gd name="T89" fmla="*/ 57 h 338"/>
                <a:gd name="T90" fmla="*/ 329 w 660"/>
                <a:gd name="T91" fmla="*/ 46 h 338"/>
                <a:gd name="T92" fmla="*/ 289 w 660"/>
                <a:gd name="T93" fmla="*/ 32 h 338"/>
                <a:gd name="T94" fmla="*/ 261 w 660"/>
                <a:gd name="T95" fmla="*/ 19 h 3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60"/>
                <a:gd name="T145" fmla="*/ 0 h 338"/>
                <a:gd name="T146" fmla="*/ 660 w 660"/>
                <a:gd name="T147" fmla="*/ 338 h 3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60" h="338">
                  <a:moveTo>
                    <a:pt x="252" y="17"/>
                  </a:moveTo>
                  <a:lnTo>
                    <a:pt x="236" y="15"/>
                  </a:lnTo>
                  <a:lnTo>
                    <a:pt x="225" y="11"/>
                  </a:lnTo>
                  <a:lnTo>
                    <a:pt x="212" y="5"/>
                  </a:lnTo>
                  <a:lnTo>
                    <a:pt x="201" y="1"/>
                  </a:lnTo>
                  <a:lnTo>
                    <a:pt x="190" y="0"/>
                  </a:lnTo>
                  <a:lnTo>
                    <a:pt x="178" y="4"/>
                  </a:lnTo>
                  <a:lnTo>
                    <a:pt x="170" y="10"/>
                  </a:lnTo>
                  <a:lnTo>
                    <a:pt x="163" y="22"/>
                  </a:lnTo>
                  <a:lnTo>
                    <a:pt x="156" y="39"/>
                  </a:lnTo>
                  <a:lnTo>
                    <a:pt x="147" y="63"/>
                  </a:lnTo>
                  <a:lnTo>
                    <a:pt x="139" y="78"/>
                  </a:lnTo>
                  <a:lnTo>
                    <a:pt x="132" y="89"/>
                  </a:lnTo>
                  <a:lnTo>
                    <a:pt x="125" y="95"/>
                  </a:lnTo>
                  <a:lnTo>
                    <a:pt x="117" y="101"/>
                  </a:lnTo>
                  <a:lnTo>
                    <a:pt x="99" y="109"/>
                  </a:lnTo>
                  <a:lnTo>
                    <a:pt x="77" y="120"/>
                  </a:lnTo>
                  <a:lnTo>
                    <a:pt x="55" y="132"/>
                  </a:lnTo>
                  <a:lnTo>
                    <a:pt x="40" y="145"/>
                  </a:lnTo>
                  <a:lnTo>
                    <a:pt x="23" y="164"/>
                  </a:lnTo>
                  <a:lnTo>
                    <a:pt x="10" y="182"/>
                  </a:lnTo>
                  <a:lnTo>
                    <a:pt x="4" y="205"/>
                  </a:lnTo>
                  <a:lnTo>
                    <a:pt x="0" y="227"/>
                  </a:lnTo>
                  <a:lnTo>
                    <a:pt x="1" y="249"/>
                  </a:lnTo>
                  <a:lnTo>
                    <a:pt x="5" y="267"/>
                  </a:lnTo>
                  <a:lnTo>
                    <a:pt x="12" y="281"/>
                  </a:lnTo>
                  <a:lnTo>
                    <a:pt x="22" y="293"/>
                  </a:lnTo>
                  <a:lnTo>
                    <a:pt x="35" y="302"/>
                  </a:lnTo>
                  <a:lnTo>
                    <a:pt x="52" y="309"/>
                  </a:lnTo>
                  <a:lnTo>
                    <a:pt x="68" y="311"/>
                  </a:lnTo>
                  <a:lnTo>
                    <a:pt x="80" y="315"/>
                  </a:lnTo>
                  <a:lnTo>
                    <a:pt x="89" y="321"/>
                  </a:lnTo>
                  <a:lnTo>
                    <a:pt x="102" y="329"/>
                  </a:lnTo>
                  <a:lnTo>
                    <a:pt x="113" y="335"/>
                  </a:lnTo>
                  <a:lnTo>
                    <a:pt x="126" y="337"/>
                  </a:lnTo>
                  <a:lnTo>
                    <a:pt x="141" y="336"/>
                  </a:lnTo>
                  <a:lnTo>
                    <a:pt x="163" y="329"/>
                  </a:lnTo>
                  <a:lnTo>
                    <a:pt x="191" y="323"/>
                  </a:lnTo>
                  <a:lnTo>
                    <a:pt x="205" y="321"/>
                  </a:lnTo>
                  <a:lnTo>
                    <a:pt x="220" y="321"/>
                  </a:lnTo>
                  <a:lnTo>
                    <a:pt x="236" y="323"/>
                  </a:lnTo>
                  <a:lnTo>
                    <a:pt x="250" y="321"/>
                  </a:lnTo>
                  <a:lnTo>
                    <a:pt x="265" y="316"/>
                  </a:lnTo>
                  <a:lnTo>
                    <a:pt x="287" y="310"/>
                  </a:lnTo>
                  <a:lnTo>
                    <a:pt x="303" y="306"/>
                  </a:lnTo>
                  <a:lnTo>
                    <a:pt x="320" y="301"/>
                  </a:lnTo>
                  <a:lnTo>
                    <a:pt x="332" y="297"/>
                  </a:lnTo>
                  <a:lnTo>
                    <a:pt x="350" y="291"/>
                  </a:lnTo>
                  <a:lnTo>
                    <a:pt x="365" y="288"/>
                  </a:lnTo>
                  <a:lnTo>
                    <a:pt x="382" y="288"/>
                  </a:lnTo>
                  <a:lnTo>
                    <a:pt x="396" y="290"/>
                  </a:lnTo>
                  <a:lnTo>
                    <a:pt x="411" y="295"/>
                  </a:lnTo>
                  <a:lnTo>
                    <a:pt x="427" y="305"/>
                  </a:lnTo>
                  <a:lnTo>
                    <a:pt x="444" y="312"/>
                  </a:lnTo>
                  <a:lnTo>
                    <a:pt x="458" y="317"/>
                  </a:lnTo>
                  <a:lnTo>
                    <a:pt x="469" y="321"/>
                  </a:lnTo>
                  <a:lnTo>
                    <a:pt x="481" y="325"/>
                  </a:lnTo>
                  <a:lnTo>
                    <a:pt x="497" y="332"/>
                  </a:lnTo>
                  <a:lnTo>
                    <a:pt x="506" y="336"/>
                  </a:lnTo>
                  <a:lnTo>
                    <a:pt x="517" y="338"/>
                  </a:lnTo>
                  <a:lnTo>
                    <a:pt x="533" y="338"/>
                  </a:lnTo>
                  <a:lnTo>
                    <a:pt x="550" y="334"/>
                  </a:lnTo>
                  <a:lnTo>
                    <a:pt x="567" y="327"/>
                  </a:lnTo>
                  <a:lnTo>
                    <a:pt x="584" y="315"/>
                  </a:lnTo>
                  <a:lnTo>
                    <a:pt x="597" y="304"/>
                  </a:lnTo>
                  <a:lnTo>
                    <a:pt x="609" y="288"/>
                  </a:lnTo>
                  <a:lnTo>
                    <a:pt x="616" y="274"/>
                  </a:lnTo>
                  <a:lnTo>
                    <a:pt x="623" y="247"/>
                  </a:lnTo>
                  <a:lnTo>
                    <a:pt x="629" y="229"/>
                  </a:lnTo>
                  <a:lnTo>
                    <a:pt x="638" y="209"/>
                  </a:lnTo>
                  <a:lnTo>
                    <a:pt x="648" y="191"/>
                  </a:lnTo>
                  <a:lnTo>
                    <a:pt x="656" y="176"/>
                  </a:lnTo>
                  <a:lnTo>
                    <a:pt x="660" y="159"/>
                  </a:lnTo>
                  <a:lnTo>
                    <a:pt x="659" y="144"/>
                  </a:lnTo>
                  <a:lnTo>
                    <a:pt x="655" y="131"/>
                  </a:lnTo>
                  <a:lnTo>
                    <a:pt x="646" y="115"/>
                  </a:lnTo>
                  <a:lnTo>
                    <a:pt x="637" y="101"/>
                  </a:lnTo>
                  <a:lnTo>
                    <a:pt x="623" y="88"/>
                  </a:lnTo>
                  <a:lnTo>
                    <a:pt x="611" y="78"/>
                  </a:lnTo>
                  <a:lnTo>
                    <a:pt x="604" y="68"/>
                  </a:lnTo>
                  <a:lnTo>
                    <a:pt x="594" y="61"/>
                  </a:lnTo>
                  <a:lnTo>
                    <a:pt x="580" y="54"/>
                  </a:lnTo>
                  <a:lnTo>
                    <a:pt x="562" y="51"/>
                  </a:lnTo>
                  <a:lnTo>
                    <a:pt x="544" y="50"/>
                  </a:lnTo>
                  <a:lnTo>
                    <a:pt x="515" y="52"/>
                  </a:lnTo>
                  <a:lnTo>
                    <a:pt x="476" y="57"/>
                  </a:lnTo>
                  <a:lnTo>
                    <a:pt x="436" y="61"/>
                  </a:lnTo>
                  <a:lnTo>
                    <a:pt x="412" y="61"/>
                  </a:lnTo>
                  <a:lnTo>
                    <a:pt x="382" y="57"/>
                  </a:lnTo>
                  <a:lnTo>
                    <a:pt x="354" y="52"/>
                  </a:lnTo>
                  <a:lnTo>
                    <a:pt x="329" y="46"/>
                  </a:lnTo>
                  <a:lnTo>
                    <a:pt x="310" y="40"/>
                  </a:lnTo>
                  <a:lnTo>
                    <a:pt x="289" y="32"/>
                  </a:lnTo>
                  <a:lnTo>
                    <a:pt x="272" y="23"/>
                  </a:lnTo>
                  <a:lnTo>
                    <a:pt x="261" y="19"/>
                  </a:lnTo>
                  <a:lnTo>
                    <a:pt x="252" y="17"/>
                  </a:lnTo>
                  <a:close/>
                </a:path>
              </a:pathLst>
            </a:custGeom>
            <a:solidFill>
              <a:srgbClr val="00C000"/>
            </a:solidFill>
            <a:ln w="0">
              <a:solidFill>
                <a:srgbClr val="0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87" name="Freeform 91">
              <a:extLst>
                <a:ext uri="{FF2B5EF4-FFF2-40B4-BE49-F238E27FC236}">
                  <a16:creationId xmlns:a16="http://schemas.microsoft.com/office/drawing/2014/main" id="{D3D41AED-645A-684E-AEF6-16895C694171}"/>
                </a:ext>
              </a:extLst>
            </p:cNvPr>
            <p:cNvSpPr>
              <a:spLocks/>
            </p:cNvSpPr>
            <p:nvPr/>
          </p:nvSpPr>
          <p:spPr bwMode="auto">
            <a:xfrm>
              <a:off x="4097" y="1267"/>
              <a:ext cx="286" cy="158"/>
            </a:xfrm>
            <a:custGeom>
              <a:avLst/>
              <a:gdLst>
                <a:gd name="T0" fmla="*/ 283 w 859"/>
                <a:gd name="T1" fmla="*/ 456 h 472"/>
                <a:gd name="T2" fmla="*/ 285 w 859"/>
                <a:gd name="T3" fmla="*/ 472 h 472"/>
                <a:gd name="T4" fmla="*/ 323 w 859"/>
                <a:gd name="T5" fmla="*/ 462 h 472"/>
                <a:gd name="T6" fmla="*/ 347 w 859"/>
                <a:gd name="T7" fmla="*/ 445 h 472"/>
                <a:gd name="T8" fmla="*/ 353 w 859"/>
                <a:gd name="T9" fmla="*/ 441 h 472"/>
                <a:gd name="T10" fmla="*/ 359 w 859"/>
                <a:gd name="T11" fmla="*/ 438 h 472"/>
                <a:gd name="T12" fmla="*/ 388 w 859"/>
                <a:gd name="T13" fmla="*/ 439 h 472"/>
                <a:gd name="T14" fmla="*/ 426 w 859"/>
                <a:gd name="T15" fmla="*/ 438 h 472"/>
                <a:gd name="T16" fmla="*/ 448 w 859"/>
                <a:gd name="T17" fmla="*/ 443 h 472"/>
                <a:gd name="T18" fmla="*/ 483 w 859"/>
                <a:gd name="T19" fmla="*/ 447 h 472"/>
                <a:gd name="T20" fmla="*/ 537 w 859"/>
                <a:gd name="T21" fmla="*/ 439 h 472"/>
                <a:gd name="T22" fmla="*/ 585 w 859"/>
                <a:gd name="T23" fmla="*/ 429 h 472"/>
                <a:gd name="T24" fmla="*/ 613 w 859"/>
                <a:gd name="T25" fmla="*/ 420 h 472"/>
                <a:gd name="T26" fmla="*/ 650 w 859"/>
                <a:gd name="T27" fmla="*/ 407 h 472"/>
                <a:gd name="T28" fmla="*/ 692 w 859"/>
                <a:gd name="T29" fmla="*/ 391 h 472"/>
                <a:gd name="T30" fmla="*/ 718 w 859"/>
                <a:gd name="T31" fmla="*/ 372 h 472"/>
                <a:gd name="T32" fmla="*/ 752 w 859"/>
                <a:gd name="T33" fmla="*/ 341 h 472"/>
                <a:gd name="T34" fmla="*/ 795 w 859"/>
                <a:gd name="T35" fmla="*/ 321 h 472"/>
                <a:gd name="T36" fmla="*/ 834 w 859"/>
                <a:gd name="T37" fmla="*/ 301 h 472"/>
                <a:gd name="T38" fmla="*/ 854 w 859"/>
                <a:gd name="T39" fmla="*/ 271 h 472"/>
                <a:gd name="T40" fmla="*/ 859 w 859"/>
                <a:gd name="T41" fmla="*/ 222 h 472"/>
                <a:gd name="T42" fmla="*/ 848 w 859"/>
                <a:gd name="T43" fmla="*/ 177 h 472"/>
                <a:gd name="T44" fmla="*/ 838 w 859"/>
                <a:gd name="T45" fmla="*/ 159 h 472"/>
                <a:gd name="T46" fmla="*/ 806 w 859"/>
                <a:gd name="T47" fmla="*/ 125 h 472"/>
                <a:gd name="T48" fmla="*/ 762 w 859"/>
                <a:gd name="T49" fmla="*/ 104 h 472"/>
                <a:gd name="T50" fmla="*/ 699 w 859"/>
                <a:gd name="T51" fmla="*/ 88 h 472"/>
                <a:gd name="T52" fmla="*/ 650 w 859"/>
                <a:gd name="T53" fmla="*/ 67 h 472"/>
                <a:gd name="T54" fmla="*/ 604 w 859"/>
                <a:gd name="T55" fmla="*/ 34 h 472"/>
                <a:gd name="T56" fmla="*/ 555 w 859"/>
                <a:gd name="T57" fmla="*/ 10 h 472"/>
                <a:gd name="T58" fmla="*/ 492 w 859"/>
                <a:gd name="T59" fmla="*/ 1 h 472"/>
                <a:gd name="T60" fmla="*/ 425 w 859"/>
                <a:gd name="T61" fmla="*/ 4 h 472"/>
                <a:gd name="T62" fmla="*/ 366 w 859"/>
                <a:gd name="T63" fmla="*/ 12 h 472"/>
                <a:gd name="T64" fmla="*/ 318 w 859"/>
                <a:gd name="T65" fmla="*/ 19 h 472"/>
                <a:gd name="T66" fmla="*/ 247 w 859"/>
                <a:gd name="T67" fmla="*/ 42 h 472"/>
                <a:gd name="T68" fmla="*/ 199 w 859"/>
                <a:gd name="T69" fmla="*/ 46 h 472"/>
                <a:gd name="T70" fmla="*/ 150 w 859"/>
                <a:gd name="T71" fmla="*/ 38 h 472"/>
                <a:gd name="T72" fmla="*/ 108 w 859"/>
                <a:gd name="T73" fmla="*/ 42 h 472"/>
                <a:gd name="T74" fmla="*/ 65 w 859"/>
                <a:gd name="T75" fmla="*/ 62 h 472"/>
                <a:gd name="T76" fmla="*/ 5 w 859"/>
                <a:gd name="T77" fmla="*/ 105 h 472"/>
                <a:gd name="T78" fmla="*/ 0 w 859"/>
                <a:gd name="T79" fmla="*/ 122 h 472"/>
                <a:gd name="T80" fmla="*/ 20 w 859"/>
                <a:gd name="T81" fmla="*/ 128 h 472"/>
                <a:gd name="T82" fmla="*/ 58 w 859"/>
                <a:gd name="T83" fmla="*/ 145 h 472"/>
                <a:gd name="T84" fmla="*/ 102 w 859"/>
                <a:gd name="T85" fmla="*/ 157 h 472"/>
                <a:gd name="T86" fmla="*/ 160 w 859"/>
                <a:gd name="T87" fmla="*/ 166 h 472"/>
                <a:gd name="T88" fmla="*/ 224 w 859"/>
                <a:gd name="T89" fmla="*/ 162 h 472"/>
                <a:gd name="T90" fmla="*/ 292 w 859"/>
                <a:gd name="T91" fmla="*/ 155 h 472"/>
                <a:gd name="T92" fmla="*/ 328 w 859"/>
                <a:gd name="T93" fmla="*/ 159 h 472"/>
                <a:gd name="T94" fmla="*/ 352 w 859"/>
                <a:gd name="T95" fmla="*/ 173 h 472"/>
                <a:gd name="T96" fmla="*/ 371 w 859"/>
                <a:gd name="T97" fmla="*/ 193 h 472"/>
                <a:gd name="T98" fmla="*/ 394 w 859"/>
                <a:gd name="T99" fmla="*/ 220 h 472"/>
                <a:gd name="T100" fmla="*/ 407 w 859"/>
                <a:gd name="T101" fmla="*/ 249 h 472"/>
                <a:gd name="T102" fmla="*/ 404 w 859"/>
                <a:gd name="T103" fmla="*/ 281 h 472"/>
                <a:gd name="T104" fmla="*/ 386 w 859"/>
                <a:gd name="T105" fmla="*/ 314 h 472"/>
                <a:gd name="T106" fmla="*/ 371 w 859"/>
                <a:gd name="T107" fmla="*/ 352 h 472"/>
                <a:gd name="T108" fmla="*/ 357 w 859"/>
                <a:gd name="T109" fmla="*/ 393 h 472"/>
                <a:gd name="T110" fmla="*/ 332 w 859"/>
                <a:gd name="T111" fmla="*/ 420 h 472"/>
                <a:gd name="T112" fmla="*/ 298 w 859"/>
                <a:gd name="T113" fmla="*/ 439 h 47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59"/>
                <a:gd name="T172" fmla="*/ 0 h 472"/>
                <a:gd name="T173" fmla="*/ 859 w 859"/>
                <a:gd name="T174" fmla="*/ 472 h 47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59" h="472">
                  <a:moveTo>
                    <a:pt x="281" y="443"/>
                  </a:moveTo>
                  <a:lnTo>
                    <a:pt x="283" y="456"/>
                  </a:lnTo>
                  <a:lnTo>
                    <a:pt x="285" y="472"/>
                  </a:lnTo>
                  <a:lnTo>
                    <a:pt x="306" y="467"/>
                  </a:lnTo>
                  <a:lnTo>
                    <a:pt x="323" y="462"/>
                  </a:lnTo>
                  <a:lnTo>
                    <a:pt x="337" y="453"/>
                  </a:lnTo>
                  <a:lnTo>
                    <a:pt x="347" y="445"/>
                  </a:lnTo>
                  <a:lnTo>
                    <a:pt x="353" y="441"/>
                  </a:lnTo>
                  <a:lnTo>
                    <a:pt x="359" y="438"/>
                  </a:lnTo>
                  <a:lnTo>
                    <a:pt x="374" y="437"/>
                  </a:lnTo>
                  <a:lnTo>
                    <a:pt x="388" y="439"/>
                  </a:lnTo>
                  <a:lnTo>
                    <a:pt x="411" y="437"/>
                  </a:lnTo>
                  <a:lnTo>
                    <a:pt x="426" y="438"/>
                  </a:lnTo>
                  <a:lnTo>
                    <a:pt x="436" y="440"/>
                  </a:lnTo>
                  <a:lnTo>
                    <a:pt x="448" y="443"/>
                  </a:lnTo>
                  <a:lnTo>
                    <a:pt x="465" y="445"/>
                  </a:lnTo>
                  <a:lnTo>
                    <a:pt x="483" y="447"/>
                  </a:lnTo>
                  <a:lnTo>
                    <a:pt x="511" y="444"/>
                  </a:lnTo>
                  <a:lnTo>
                    <a:pt x="537" y="439"/>
                  </a:lnTo>
                  <a:lnTo>
                    <a:pt x="562" y="433"/>
                  </a:lnTo>
                  <a:lnTo>
                    <a:pt x="585" y="429"/>
                  </a:lnTo>
                  <a:lnTo>
                    <a:pt x="597" y="425"/>
                  </a:lnTo>
                  <a:lnTo>
                    <a:pt x="613" y="420"/>
                  </a:lnTo>
                  <a:lnTo>
                    <a:pt x="631" y="413"/>
                  </a:lnTo>
                  <a:lnTo>
                    <a:pt x="650" y="407"/>
                  </a:lnTo>
                  <a:lnTo>
                    <a:pt x="671" y="400"/>
                  </a:lnTo>
                  <a:lnTo>
                    <a:pt x="692" y="391"/>
                  </a:lnTo>
                  <a:lnTo>
                    <a:pt x="705" y="382"/>
                  </a:lnTo>
                  <a:lnTo>
                    <a:pt x="718" y="372"/>
                  </a:lnTo>
                  <a:lnTo>
                    <a:pt x="736" y="355"/>
                  </a:lnTo>
                  <a:lnTo>
                    <a:pt x="752" y="341"/>
                  </a:lnTo>
                  <a:lnTo>
                    <a:pt x="773" y="329"/>
                  </a:lnTo>
                  <a:lnTo>
                    <a:pt x="795" y="321"/>
                  </a:lnTo>
                  <a:lnTo>
                    <a:pt x="818" y="312"/>
                  </a:lnTo>
                  <a:lnTo>
                    <a:pt x="834" y="301"/>
                  </a:lnTo>
                  <a:lnTo>
                    <a:pt x="845" y="287"/>
                  </a:lnTo>
                  <a:lnTo>
                    <a:pt x="854" y="271"/>
                  </a:lnTo>
                  <a:lnTo>
                    <a:pt x="859" y="247"/>
                  </a:lnTo>
                  <a:lnTo>
                    <a:pt x="859" y="222"/>
                  </a:lnTo>
                  <a:lnTo>
                    <a:pt x="855" y="197"/>
                  </a:lnTo>
                  <a:lnTo>
                    <a:pt x="848" y="177"/>
                  </a:lnTo>
                  <a:lnTo>
                    <a:pt x="838" y="159"/>
                  </a:lnTo>
                  <a:lnTo>
                    <a:pt x="823" y="140"/>
                  </a:lnTo>
                  <a:lnTo>
                    <a:pt x="806" y="125"/>
                  </a:lnTo>
                  <a:lnTo>
                    <a:pt x="784" y="113"/>
                  </a:lnTo>
                  <a:lnTo>
                    <a:pt x="762" y="104"/>
                  </a:lnTo>
                  <a:lnTo>
                    <a:pt x="732" y="96"/>
                  </a:lnTo>
                  <a:lnTo>
                    <a:pt x="699" y="88"/>
                  </a:lnTo>
                  <a:lnTo>
                    <a:pt x="675" y="78"/>
                  </a:lnTo>
                  <a:lnTo>
                    <a:pt x="650" y="67"/>
                  </a:lnTo>
                  <a:lnTo>
                    <a:pt x="629" y="54"/>
                  </a:lnTo>
                  <a:lnTo>
                    <a:pt x="604" y="34"/>
                  </a:lnTo>
                  <a:lnTo>
                    <a:pt x="581" y="19"/>
                  </a:lnTo>
                  <a:lnTo>
                    <a:pt x="555" y="10"/>
                  </a:lnTo>
                  <a:lnTo>
                    <a:pt x="526" y="3"/>
                  </a:lnTo>
                  <a:lnTo>
                    <a:pt x="492" y="1"/>
                  </a:lnTo>
                  <a:lnTo>
                    <a:pt x="464" y="0"/>
                  </a:lnTo>
                  <a:lnTo>
                    <a:pt x="425" y="4"/>
                  </a:lnTo>
                  <a:lnTo>
                    <a:pt x="393" y="10"/>
                  </a:lnTo>
                  <a:lnTo>
                    <a:pt x="366" y="12"/>
                  </a:lnTo>
                  <a:lnTo>
                    <a:pt x="340" y="13"/>
                  </a:lnTo>
                  <a:lnTo>
                    <a:pt x="318" y="19"/>
                  </a:lnTo>
                  <a:lnTo>
                    <a:pt x="283" y="32"/>
                  </a:lnTo>
                  <a:lnTo>
                    <a:pt x="247" y="42"/>
                  </a:lnTo>
                  <a:lnTo>
                    <a:pt x="221" y="47"/>
                  </a:lnTo>
                  <a:lnTo>
                    <a:pt x="199" y="46"/>
                  </a:lnTo>
                  <a:lnTo>
                    <a:pt x="172" y="42"/>
                  </a:lnTo>
                  <a:lnTo>
                    <a:pt x="150" y="38"/>
                  </a:lnTo>
                  <a:lnTo>
                    <a:pt x="130" y="38"/>
                  </a:lnTo>
                  <a:lnTo>
                    <a:pt x="108" y="42"/>
                  </a:lnTo>
                  <a:lnTo>
                    <a:pt x="92" y="48"/>
                  </a:lnTo>
                  <a:lnTo>
                    <a:pt x="65" y="62"/>
                  </a:lnTo>
                  <a:lnTo>
                    <a:pt x="23" y="90"/>
                  </a:lnTo>
                  <a:lnTo>
                    <a:pt x="5" y="105"/>
                  </a:lnTo>
                  <a:lnTo>
                    <a:pt x="0" y="113"/>
                  </a:lnTo>
                  <a:lnTo>
                    <a:pt x="0" y="122"/>
                  </a:lnTo>
                  <a:lnTo>
                    <a:pt x="9" y="124"/>
                  </a:lnTo>
                  <a:lnTo>
                    <a:pt x="20" y="128"/>
                  </a:lnTo>
                  <a:lnTo>
                    <a:pt x="37" y="137"/>
                  </a:lnTo>
                  <a:lnTo>
                    <a:pt x="58" y="145"/>
                  </a:lnTo>
                  <a:lnTo>
                    <a:pt x="77" y="151"/>
                  </a:lnTo>
                  <a:lnTo>
                    <a:pt x="102" y="157"/>
                  </a:lnTo>
                  <a:lnTo>
                    <a:pt x="130" y="162"/>
                  </a:lnTo>
                  <a:lnTo>
                    <a:pt x="160" y="166"/>
                  </a:lnTo>
                  <a:lnTo>
                    <a:pt x="184" y="166"/>
                  </a:lnTo>
                  <a:lnTo>
                    <a:pt x="224" y="162"/>
                  </a:lnTo>
                  <a:lnTo>
                    <a:pt x="263" y="157"/>
                  </a:lnTo>
                  <a:lnTo>
                    <a:pt x="292" y="155"/>
                  </a:lnTo>
                  <a:lnTo>
                    <a:pt x="310" y="156"/>
                  </a:lnTo>
                  <a:lnTo>
                    <a:pt x="328" y="159"/>
                  </a:lnTo>
                  <a:lnTo>
                    <a:pt x="342" y="166"/>
                  </a:lnTo>
                  <a:lnTo>
                    <a:pt x="352" y="173"/>
                  </a:lnTo>
                  <a:lnTo>
                    <a:pt x="359" y="183"/>
                  </a:lnTo>
                  <a:lnTo>
                    <a:pt x="371" y="193"/>
                  </a:lnTo>
                  <a:lnTo>
                    <a:pt x="385" y="206"/>
                  </a:lnTo>
                  <a:lnTo>
                    <a:pt x="394" y="220"/>
                  </a:lnTo>
                  <a:lnTo>
                    <a:pt x="403" y="236"/>
                  </a:lnTo>
                  <a:lnTo>
                    <a:pt x="407" y="249"/>
                  </a:lnTo>
                  <a:lnTo>
                    <a:pt x="408" y="264"/>
                  </a:lnTo>
                  <a:lnTo>
                    <a:pt x="404" y="281"/>
                  </a:lnTo>
                  <a:lnTo>
                    <a:pt x="396" y="296"/>
                  </a:lnTo>
                  <a:lnTo>
                    <a:pt x="386" y="314"/>
                  </a:lnTo>
                  <a:lnTo>
                    <a:pt x="377" y="334"/>
                  </a:lnTo>
                  <a:lnTo>
                    <a:pt x="371" y="352"/>
                  </a:lnTo>
                  <a:lnTo>
                    <a:pt x="364" y="379"/>
                  </a:lnTo>
                  <a:lnTo>
                    <a:pt x="357" y="393"/>
                  </a:lnTo>
                  <a:lnTo>
                    <a:pt x="345" y="409"/>
                  </a:lnTo>
                  <a:lnTo>
                    <a:pt x="332" y="420"/>
                  </a:lnTo>
                  <a:lnTo>
                    <a:pt x="315" y="432"/>
                  </a:lnTo>
                  <a:lnTo>
                    <a:pt x="298" y="439"/>
                  </a:lnTo>
                  <a:lnTo>
                    <a:pt x="281" y="443"/>
                  </a:lnTo>
                  <a:close/>
                </a:path>
              </a:pathLst>
            </a:custGeom>
            <a:solidFill>
              <a:srgbClr val="00C000"/>
            </a:solidFill>
            <a:ln w="0">
              <a:solidFill>
                <a:srgbClr val="0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88" name="Freeform 92">
              <a:extLst>
                <a:ext uri="{FF2B5EF4-FFF2-40B4-BE49-F238E27FC236}">
                  <a16:creationId xmlns:a16="http://schemas.microsoft.com/office/drawing/2014/main" id="{9056F0FC-30ED-A84B-9C45-C944FE94280D}"/>
                </a:ext>
              </a:extLst>
            </p:cNvPr>
            <p:cNvSpPr>
              <a:spLocks/>
            </p:cNvSpPr>
            <p:nvPr/>
          </p:nvSpPr>
          <p:spPr bwMode="auto">
            <a:xfrm>
              <a:off x="4328" y="1321"/>
              <a:ext cx="159" cy="104"/>
            </a:xfrm>
            <a:custGeom>
              <a:avLst/>
              <a:gdLst>
                <a:gd name="T0" fmla="*/ 171 w 477"/>
                <a:gd name="T1" fmla="*/ 9 h 312"/>
                <a:gd name="T2" fmla="*/ 199 w 477"/>
                <a:gd name="T3" fmla="*/ 1 h 312"/>
                <a:gd name="T4" fmla="*/ 229 w 477"/>
                <a:gd name="T5" fmla="*/ 1 h 312"/>
                <a:gd name="T6" fmla="*/ 259 w 477"/>
                <a:gd name="T7" fmla="*/ 7 h 312"/>
                <a:gd name="T8" fmla="*/ 290 w 477"/>
                <a:gd name="T9" fmla="*/ 23 h 312"/>
                <a:gd name="T10" fmla="*/ 316 w 477"/>
                <a:gd name="T11" fmla="*/ 47 h 312"/>
                <a:gd name="T12" fmla="*/ 335 w 477"/>
                <a:gd name="T13" fmla="*/ 72 h 312"/>
                <a:gd name="T14" fmla="*/ 372 w 477"/>
                <a:gd name="T15" fmla="*/ 80 h 312"/>
                <a:gd name="T16" fmla="*/ 425 w 477"/>
                <a:gd name="T17" fmla="*/ 86 h 312"/>
                <a:gd name="T18" fmla="*/ 444 w 477"/>
                <a:gd name="T19" fmla="*/ 95 h 312"/>
                <a:gd name="T20" fmla="*/ 453 w 477"/>
                <a:gd name="T21" fmla="*/ 114 h 312"/>
                <a:gd name="T22" fmla="*/ 457 w 477"/>
                <a:gd name="T23" fmla="*/ 137 h 312"/>
                <a:gd name="T24" fmla="*/ 472 w 477"/>
                <a:gd name="T25" fmla="*/ 166 h 312"/>
                <a:gd name="T26" fmla="*/ 477 w 477"/>
                <a:gd name="T27" fmla="*/ 192 h 312"/>
                <a:gd name="T28" fmla="*/ 469 w 477"/>
                <a:gd name="T29" fmla="*/ 212 h 312"/>
                <a:gd name="T30" fmla="*/ 443 w 477"/>
                <a:gd name="T31" fmla="*/ 230 h 312"/>
                <a:gd name="T32" fmla="*/ 410 w 477"/>
                <a:gd name="T33" fmla="*/ 247 h 312"/>
                <a:gd name="T34" fmla="*/ 394 w 477"/>
                <a:gd name="T35" fmla="*/ 267 h 312"/>
                <a:gd name="T36" fmla="*/ 375 w 477"/>
                <a:gd name="T37" fmla="*/ 300 h 312"/>
                <a:gd name="T38" fmla="*/ 354 w 477"/>
                <a:gd name="T39" fmla="*/ 311 h 312"/>
                <a:gd name="T40" fmla="*/ 317 w 477"/>
                <a:gd name="T41" fmla="*/ 311 h 312"/>
                <a:gd name="T42" fmla="*/ 275 w 477"/>
                <a:gd name="T43" fmla="*/ 298 h 312"/>
                <a:gd name="T44" fmla="*/ 267 w 477"/>
                <a:gd name="T45" fmla="*/ 294 h 312"/>
                <a:gd name="T46" fmla="*/ 238 w 477"/>
                <a:gd name="T47" fmla="*/ 286 h 312"/>
                <a:gd name="T48" fmla="*/ 209 w 477"/>
                <a:gd name="T49" fmla="*/ 270 h 312"/>
                <a:gd name="T50" fmla="*/ 183 w 477"/>
                <a:gd name="T51" fmla="*/ 264 h 312"/>
                <a:gd name="T52" fmla="*/ 176 w 477"/>
                <a:gd name="T53" fmla="*/ 264 h 312"/>
                <a:gd name="T54" fmla="*/ 141 w 477"/>
                <a:gd name="T55" fmla="*/ 266 h 312"/>
                <a:gd name="T56" fmla="*/ 134 w 477"/>
                <a:gd name="T57" fmla="*/ 267 h 312"/>
                <a:gd name="T58" fmla="*/ 112 w 477"/>
                <a:gd name="T59" fmla="*/ 268 h 312"/>
                <a:gd name="T60" fmla="*/ 71 w 477"/>
                <a:gd name="T61" fmla="*/ 267 h 312"/>
                <a:gd name="T62" fmla="*/ 50 w 477"/>
                <a:gd name="T63" fmla="*/ 256 h 312"/>
                <a:gd name="T64" fmla="*/ 30 w 477"/>
                <a:gd name="T65" fmla="*/ 247 h 312"/>
                <a:gd name="T66" fmla="*/ 20 w 477"/>
                <a:gd name="T67" fmla="*/ 245 h 312"/>
                <a:gd name="T68" fmla="*/ 12 w 477"/>
                <a:gd name="T69" fmla="*/ 244 h 312"/>
                <a:gd name="T70" fmla="*/ 1 w 477"/>
                <a:gd name="T71" fmla="*/ 235 h 312"/>
                <a:gd name="T72" fmla="*/ 13 w 477"/>
                <a:gd name="T73" fmla="*/ 221 h 312"/>
                <a:gd name="T74" fmla="*/ 44 w 477"/>
                <a:gd name="T75" fmla="*/ 194 h 312"/>
                <a:gd name="T76" fmla="*/ 81 w 477"/>
                <a:gd name="T77" fmla="*/ 168 h 312"/>
                <a:gd name="T78" fmla="*/ 126 w 477"/>
                <a:gd name="T79" fmla="*/ 151 h 312"/>
                <a:gd name="T80" fmla="*/ 153 w 477"/>
                <a:gd name="T81" fmla="*/ 126 h 312"/>
                <a:gd name="T82" fmla="*/ 167 w 477"/>
                <a:gd name="T83" fmla="*/ 86 h 312"/>
                <a:gd name="T84" fmla="*/ 163 w 477"/>
                <a:gd name="T85" fmla="*/ 36 h 31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77"/>
                <a:gd name="T130" fmla="*/ 0 h 312"/>
                <a:gd name="T131" fmla="*/ 477 w 477"/>
                <a:gd name="T132" fmla="*/ 312 h 31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77" h="312">
                  <a:moveTo>
                    <a:pt x="156" y="16"/>
                  </a:moveTo>
                  <a:lnTo>
                    <a:pt x="171" y="9"/>
                  </a:lnTo>
                  <a:lnTo>
                    <a:pt x="184" y="4"/>
                  </a:lnTo>
                  <a:lnTo>
                    <a:pt x="199" y="1"/>
                  </a:lnTo>
                  <a:lnTo>
                    <a:pt x="213" y="0"/>
                  </a:lnTo>
                  <a:lnTo>
                    <a:pt x="229" y="1"/>
                  </a:lnTo>
                  <a:lnTo>
                    <a:pt x="243" y="4"/>
                  </a:lnTo>
                  <a:lnTo>
                    <a:pt x="259" y="7"/>
                  </a:lnTo>
                  <a:lnTo>
                    <a:pt x="276" y="16"/>
                  </a:lnTo>
                  <a:lnTo>
                    <a:pt x="290" y="23"/>
                  </a:lnTo>
                  <a:lnTo>
                    <a:pt x="305" y="35"/>
                  </a:lnTo>
                  <a:lnTo>
                    <a:pt x="316" y="47"/>
                  </a:lnTo>
                  <a:lnTo>
                    <a:pt x="328" y="65"/>
                  </a:lnTo>
                  <a:lnTo>
                    <a:pt x="335" y="72"/>
                  </a:lnTo>
                  <a:lnTo>
                    <a:pt x="348" y="77"/>
                  </a:lnTo>
                  <a:lnTo>
                    <a:pt x="372" y="80"/>
                  </a:lnTo>
                  <a:lnTo>
                    <a:pt x="413" y="84"/>
                  </a:lnTo>
                  <a:lnTo>
                    <a:pt x="425" y="86"/>
                  </a:lnTo>
                  <a:lnTo>
                    <a:pt x="436" y="89"/>
                  </a:lnTo>
                  <a:lnTo>
                    <a:pt x="444" y="95"/>
                  </a:lnTo>
                  <a:lnTo>
                    <a:pt x="450" y="103"/>
                  </a:lnTo>
                  <a:lnTo>
                    <a:pt x="453" y="114"/>
                  </a:lnTo>
                  <a:lnTo>
                    <a:pt x="455" y="125"/>
                  </a:lnTo>
                  <a:lnTo>
                    <a:pt x="457" y="137"/>
                  </a:lnTo>
                  <a:lnTo>
                    <a:pt x="463" y="149"/>
                  </a:lnTo>
                  <a:lnTo>
                    <a:pt x="472" y="166"/>
                  </a:lnTo>
                  <a:lnTo>
                    <a:pt x="476" y="179"/>
                  </a:lnTo>
                  <a:lnTo>
                    <a:pt x="477" y="192"/>
                  </a:lnTo>
                  <a:lnTo>
                    <a:pt x="475" y="203"/>
                  </a:lnTo>
                  <a:lnTo>
                    <a:pt x="469" y="212"/>
                  </a:lnTo>
                  <a:lnTo>
                    <a:pt x="463" y="219"/>
                  </a:lnTo>
                  <a:lnTo>
                    <a:pt x="443" y="230"/>
                  </a:lnTo>
                  <a:lnTo>
                    <a:pt x="423" y="238"/>
                  </a:lnTo>
                  <a:lnTo>
                    <a:pt x="410" y="247"/>
                  </a:lnTo>
                  <a:lnTo>
                    <a:pt x="400" y="256"/>
                  </a:lnTo>
                  <a:lnTo>
                    <a:pt x="394" y="267"/>
                  </a:lnTo>
                  <a:lnTo>
                    <a:pt x="384" y="289"/>
                  </a:lnTo>
                  <a:lnTo>
                    <a:pt x="375" y="300"/>
                  </a:lnTo>
                  <a:lnTo>
                    <a:pt x="365" y="306"/>
                  </a:lnTo>
                  <a:lnTo>
                    <a:pt x="354" y="311"/>
                  </a:lnTo>
                  <a:lnTo>
                    <a:pt x="337" y="312"/>
                  </a:lnTo>
                  <a:lnTo>
                    <a:pt x="317" y="311"/>
                  </a:lnTo>
                  <a:lnTo>
                    <a:pt x="297" y="306"/>
                  </a:lnTo>
                  <a:lnTo>
                    <a:pt x="275" y="298"/>
                  </a:lnTo>
                  <a:lnTo>
                    <a:pt x="267" y="294"/>
                  </a:lnTo>
                  <a:lnTo>
                    <a:pt x="253" y="291"/>
                  </a:lnTo>
                  <a:lnTo>
                    <a:pt x="238" y="286"/>
                  </a:lnTo>
                  <a:lnTo>
                    <a:pt x="227" y="281"/>
                  </a:lnTo>
                  <a:lnTo>
                    <a:pt x="209" y="270"/>
                  </a:lnTo>
                  <a:lnTo>
                    <a:pt x="198" y="267"/>
                  </a:lnTo>
                  <a:lnTo>
                    <a:pt x="183" y="264"/>
                  </a:lnTo>
                  <a:lnTo>
                    <a:pt x="176" y="264"/>
                  </a:lnTo>
                  <a:lnTo>
                    <a:pt x="160" y="264"/>
                  </a:lnTo>
                  <a:lnTo>
                    <a:pt x="141" y="266"/>
                  </a:lnTo>
                  <a:lnTo>
                    <a:pt x="134" y="267"/>
                  </a:lnTo>
                  <a:lnTo>
                    <a:pt x="112" y="268"/>
                  </a:lnTo>
                  <a:lnTo>
                    <a:pt x="83" y="268"/>
                  </a:lnTo>
                  <a:lnTo>
                    <a:pt x="71" y="267"/>
                  </a:lnTo>
                  <a:lnTo>
                    <a:pt x="59" y="263"/>
                  </a:lnTo>
                  <a:lnTo>
                    <a:pt x="50" y="256"/>
                  </a:lnTo>
                  <a:lnTo>
                    <a:pt x="40" y="250"/>
                  </a:lnTo>
                  <a:lnTo>
                    <a:pt x="30" y="247"/>
                  </a:lnTo>
                  <a:lnTo>
                    <a:pt x="25" y="246"/>
                  </a:lnTo>
                  <a:lnTo>
                    <a:pt x="20" y="245"/>
                  </a:lnTo>
                  <a:lnTo>
                    <a:pt x="12" y="244"/>
                  </a:lnTo>
                  <a:lnTo>
                    <a:pt x="5" y="241"/>
                  </a:lnTo>
                  <a:lnTo>
                    <a:pt x="1" y="235"/>
                  </a:lnTo>
                  <a:lnTo>
                    <a:pt x="0" y="230"/>
                  </a:lnTo>
                  <a:lnTo>
                    <a:pt x="13" y="221"/>
                  </a:lnTo>
                  <a:lnTo>
                    <a:pt x="26" y="211"/>
                  </a:lnTo>
                  <a:lnTo>
                    <a:pt x="44" y="194"/>
                  </a:lnTo>
                  <a:lnTo>
                    <a:pt x="60" y="180"/>
                  </a:lnTo>
                  <a:lnTo>
                    <a:pt x="81" y="168"/>
                  </a:lnTo>
                  <a:lnTo>
                    <a:pt x="103" y="160"/>
                  </a:lnTo>
                  <a:lnTo>
                    <a:pt x="126" y="151"/>
                  </a:lnTo>
                  <a:lnTo>
                    <a:pt x="142" y="140"/>
                  </a:lnTo>
                  <a:lnTo>
                    <a:pt x="153" y="126"/>
                  </a:lnTo>
                  <a:lnTo>
                    <a:pt x="162" y="110"/>
                  </a:lnTo>
                  <a:lnTo>
                    <a:pt x="167" y="86"/>
                  </a:lnTo>
                  <a:lnTo>
                    <a:pt x="167" y="61"/>
                  </a:lnTo>
                  <a:lnTo>
                    <a:pt x="163" y="36"/>
                  </a:lnTo>
                  <a:lnTo>
                    <a:pt x="156" y="16"/>
                  </a:lnTo>
                  <a:close/>
                </a:path>
              </a:pathLst>
            </a:custGeom>
            <a:solidFill>
              <a:srgbClr val="00C000"/>
            </a:solidFill>
            <a:ln w="0">
              <a:solidFill>
                <a:srgbClr val="0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89" name="Freeform 93">
              <a:extLst>
                <a:ext uri="{FF2B5EF4-FFF2-40B4-BE49-F238E27FC236}">
                  <a16:creationId xmlns:a16="http://schemas.microsoft.com/office/drawing/2014/main" id="{02A82638-EBC9-4F40-BC24-94CBEACD2509}"/>
                </a:ext>
              </a:extLst>
            </p:cNvPr>
            <p:cNvSpPr>
              <a:spLocks/>
            </p:cNvSpPr>
            <p:nvPr/>
          </p:nvSpPr>
          <p:spPr bwMode="auto">
            <a:xfrm>
              <a:off x="4120" y="1398"/>
              <a:ext cx="55" cy="34"/>
            </a:xfrm>
            <a:custGeom>
              <a:avLst/>
              <a:gdLst>
                <a:gd name="T0" fmla="*/ 0 w 164"/>
                <a:gd name="T1" fmla="*/ 13 h 100"/>
                <a:gd name="T2" fmla="*/ 6 w 164"/>
                <a:gd name="T3" fmla="*/ 14 h 100"/>
                <a:gd name="T4" fmla="*/ 18 w 164"/>
                <a:gd name="T5" fmla="*/ 17 h 100"/>
                <a:gd name="T6" fmla="*/ 30 w 164"/>
                <a:gd name="T7" fmla="*/ 24 h 100"/>
                <a:gd name="T8" fmla="*/ 48 w 164"/>
                <a:gd name="T9" fmla="*/ 37 h 100"/>
                <a:gd name="T10" fmla="*/ 71 w 164"/>
                <a:gd name="T11" fmla="*/ 58 h 100"/>
                <a:gd name="T12" fmla="*/ 92 w 164"/>
                <a:gd name="T13" fmla="*/ 78 h 100"/>
                <a:gd name="T14" fmla="*/ 110 w 164"/>
                <a:gd name="T15" fmla="*/ 91 h 100"/>
                <a:gd name="T16" fmla="*/ 124 w 164"/>
                <a:gd name="T17" fmla="*/ 97 h 100"/>
                <a:gd name="T18" fmla="*/ 124 w 164"/>
                <a:gd name="T19" fmla="*/ 97 h 100"/>
                <a:gd name="T20" fmla="*/ 131 w 164"/>
                <a:gd name="T21" fmla="*/ 100 h 100"/>
                <a:gd name="T22" fmla="*/ 131 w 164"/>
                <a:gd name="T23" fmla="*/ 100 h 100"/>
                <a:gd name="T24" fmla="*/ 139 w 164"/>
                <a:gd name="T25" fmla="*/ 99 h 100"/>
                <a:gd name="T26" fmla="*/ 147 w 164"/>
                <a:gd name="T27" fmla="*/ 96 h 100"/>
                <a:gd name="T28" fmla="*/ 154 w 164"/>
                <a:gd name="T29" fmla="*/ 94 h 100"/>
                <a:gd name="T30" fmla="*/ 164 w 164"/>
                <a:gd name="T31" fmla="*/ 90 h 100"/>
                <a:gd name="T32" fmla="*/ 164 w 164"/>
                <a:gd name="T33" fmla="*/ 86 h 100"/>
                <a:gd name="T34" fmla="*/ 162 w 164"/>
                <a:gd name="T35" fmla="*/ 66 h 100"/>
                <a:gd name="T36" fmla="*/ 159 w 164"/>
                <a:gd name="T37" fmla="*/ 52 h 100"/>
                <a:gd name="T38" fmla="*/ 154 w 164"/>
                <a:gd name="T39" fmla="*/ 43 h 100"/>
                <a:gd name="T40" fmla="*/ 148 w 164"/>
                <a:gd name="T41" fmla="*/ 33 h 100"/>
                <a:gd name="T42" fmla="*/ 137 w 164"/>
                <a:gd name="T43" fmla="*/ 31 h 100"/>
                <a:gd name="T44" fmla="*/ 123 w 164"/>
                <a:gd name="T45" fmla="*/ 24 h 100"/>
                <a:gd name="T46" fmla="*/ 106 w 164"/>
                <a:gd name="T47" fmla="*/ 17 h 100"/>
                <a:gd name="T48" fmla="*/ 90 w 164"/>
                <a:gd name="T49" fmla="*/ 7 h 100"/>
                <a:gd name="T50" fmla="*/ 75 w 164"/>
                <a:gd name="T51" fmla="*/ 3 h 100"/>
                <a:gd name="T52" fmla="*/ 62 w 164"/>
                <a:gd name="T53" fmla="*/ 0 h 100"/>
                <a:gd name="T54" fmla="*/ 45 w 164"/>
                <a:gd name="T55" fmla="*/ 0 h 100"/>
                <a:gd name="T56" fmla="*/ 30 w 164"/>
                <a:gd name="T57" fmla="*/ 4 h 100"/>
                <a:gd name="T58" fmla="*/ 12 w 164"/>
                <a:gd name="T59" fmla="*/ 10 h 100"/>
                <a:gd name="T60" fmla="*/ 0 w 164"/>
                <a:gd name="T61" fmla="*/ 13 h 10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4"/>
                <a:gd name="T94" fmla="*/ 0 h 100"/>
                <a:gd name="T95" fmla="*/ 164 w 164"/>
                <a:gd name="T96" fmla="*/ 100 h 10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4" h="100">
                  <a:moveTo>
                    <a:pt x="0" y="13"/>
                  </a:moveTo>
                  <a:lnTo>
                    <a:pt x="6" y="14"/>
                  </a:lnTo>
                  <a:lnTo>
                    <a:pt x="18" y="17"/>
                  </a:lnTo>
                  <a:lnTo>
                    <a:pt x="30" y="24"/>
                  </a:lnTo>
                  <a:lnTo>
                    <a:pt x="48" y="37"/>
                  </a:lnTo>
                  <a:lnTo>
                    <a:pt x="71" y="58"/>
                  </a:lnTo>
                  <a:lnTo>
                    <a:pt x="92" y="78"/>
                  </a:lnTo>
                  <a:lnTo>
                    <a:pt x="110" y="91"/>
                  </a:lnTo>
                  <a:lnTo>
                    <a:pt x="124" y="97"/>
                  </a:lnTo>
                  <a:lnTo>
                    <a:pt x="131" y="100"/>
                  </a:lnTo>
                  <a:lnTo>
                    <a:pt x="139" y="99"/>
                  </a:lnTo>
                  <a:lnTo>
                    <a:pt x="147" y="96"/>
                  </a:lnTo>
                  <a:lnTo>
                    <a:pt x="154" y="94"/>
                  </a:lnTo>
                  <a:lnTo>
                    <a:pt x="164" y="90"/>
                  </a:lnTo>
                  <a:lnTo>
                    <a:pt x="164" y="86"/>
                  </a:lnTo>
                  <a:lnTo>
                    <a:pt x="162" y="66"/>
                  </a:lnTo>
                  <a:lnTo>
                    <a:pt x="159" y="52"/>
                  </a:lnTo>
                  <a:lnTo>
                    <a:pt x="154" y="43"/>
                  </a:lnTo>
                  <a:lnTo>
                    <a:pt x="148" y="33"/>
                  </a:lnTo>
                  <a:lnTo>
                    <a:pt x="137" y="31"/>
                  </a:lnTo>
                  <a:lnTo>
                    <a:pt x="123" y="24"/>
                  </a:lnTo>
                  <a:lnTo>
                    <a:pt x="106" y="17"/>
                  </a:lnTo>
                  <a:lnTo>
                    <a:pt x="90" y="7"/>
                  </a:lnTo>
                  <a:lnTo>
                    <a:pt x="75" y="3"/>
                  </a:lnTo>
                  <a:lnTo>
                    <a:pt x="62" y="0"/>
                  </a:lnTo>
                  <a:lnTo>
                    <a:pt x="45" y="0"/>
                  </a:lnTo>
                  <a:lnTo>
                    <a:pt x="30" y="4"/>
                  </a:lnTo>
                  <a:lnTo>
                    <a:pt x="12" y="10"/>
                  </a:lnTo>
                  <a:lnTo>
                    <a:pt x="0" y="13"/>
                  </a:lnTo>
                  <a:close/>
                </a:path>
              </a:pathLst>
            </a:custGeom>
            <a:solidFill>
              <a:srgbClr val="00C000"/>
            </a:solidFill>
            <a:ln w="0">
              <a:solidFill>
                <a:srgbClr val="0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90" name="Freeform 94">
              <a:extLst>
                <a:ext uri="{FF2B5EF4-FFF2-40B4-BE49-F238E27FC236}">
                  <a16:creationId xmlns:a16="http://schemas.microsoft.com/office/drawing/2014/main" id="{55275EF1-D034-9547-9432-73527C665824}"/>
                </a:ext>
              </a:extLst>
            </p:cNvPr>
            <p:cNvSpPr>
              <a:spLocks/>
            </p:cNvSpPr>
            <p:nvPr/>
          </p:nvSpPr>
          <p:spPr bwMode="auto">
            <a:xfrm>
              <a:off x="4328" y="1327"/>
              <a:ext cx="55" cy="71"/>
            </a:xfrm>
            <a:custGeom>
              <a:avLst/>
              <a:gdLst>
                <a:gd name="T0" fmla="*/ 0 w 166"/>
                <a:gd name="T1" fmla="*/ 213 h 213"/>
                <a:gd name="T2" fmla="*/ 13 w 166"/>
                <a:gd name="T3" fmla="*/ 204 h 213"/>
                <a:gd name="T4" fmla="*/ 26 w 166"/>
                <a:gd name="T5" fmla="*/ 194 h 213"/>
                <a:gd name="T6" fmla="*/ 44 w 166"/>
                <a:gd name="T7" fmla="*/ 177 h 213"/>
                <a:gd name="T8" fmla="*/ 59 w 166"/>
                <a:gd name="T9" fmla="*/ 163 h 213"/>
                <a:gd name="T10" fmla="*/ 80 w 166"/>
                <a:gd name="T11" fmla="*/ 151 h 213"/>
                <a:gd name="T12" fmla="*/ 102 w 166"/>
                <a:gd name="T13" fmla="*/ 143 h 213"/>
                <a:gd name="T14" fmla="*/ 125 w 166"/>
                <a:gd name="T15" fmla="*/ 134 h 213"/>
                <a:gd name="T16" fmla="*/ 141 w 166"/>
                <a:gd name="T17" fmla="*/ 123 h 213"/>
                <a:gd name="T18" fmla="*/ 152 w 166"/>
                <a:gd name="T19" fmla="*/ 109 h 213"/>
                <a:gd name="T20" fmla="*/ 161 w 166"/>
                <a:gd name="T21" fmla="*/ 94 h 213"/>
                <a:gd name="T22" fmla="*/ 166 w 166"/>
                <a:gd name="T23" fmla="*/ 70 h 213"/>
                <a:gd name="T24" fmla="*/ 166 w 166"/>
                <a:gd name="T25" fmla="*/ 45 h 213"/>
                <a:gd name="T26" fmla="*/ 162 w 166"/>
                <a:gd name="T27" fmla="*/ 21 h 213"/>
                <a:gd name="T28" fmla="*/ 155 w 166"/>
                <a:gd name="T29" fmla="*/ 0 h 2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6"/>
                <a:gd name="T46" fmla="*/ 0 h 213"/>
                <a:gd name="T47" fmla="*/ 166 w 166"/>
                <a:gd name="T48" fmla="*/ 213 h 2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6" h="213">
                  <a:moveTo>
                    <a:pt x="0" y="213"/>
                  </a:moveTo>
                  <a:lnTo>
                    <a:pt x="13" y="204"/>
                  </a:lnTo>
                  <a:lnTo>
                    <a:pt x="26" y="194"/>
                  </a:lnTo>
                  <a:lnTo>
                    <a:pt x="44" y="177"/>
                  </a:lnTo>
                  <a:lnTo>
                    <a:pt x="59" y="163"/>
                  </a:lnTo>
                  <a:lnTo>
                    <a:pt x="80" y="151"/>
                  </a:lnTo>
                  <a:lnTo>
                    <a:pt x="102" y="143"/>
                  </a:lnTo>
                  <a:lnTo>
                    <a:pt x="125" y="134"/>
                  </a:lnTo>
                  <a:lnTo>
                    <a:pt x="141" y="123"/>
                  </a:lnTo>
                  <a:lnTo>
                    <a:pt x="152" y="109"/>
                  </a:lnTo>
                  <a:lnTo>
                    <a:pt x="161" y="94"/>
                  </a:lnTo>
                  <a:lnTo>
                    <a:pt x="166" y="70"/>
                  </a:lnTo>
                  <a:lnTo>
                    <a:pt x="166" y="45"/>
                  </a:lnTo>
                  <a:lnTo>
                    <a:pt x="162" y="21"/>
                  </a:lnTo>
                  <a:lnTo>
                    <a:pt x="155"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91" name="Freeform 95">
              <a:extLst>
                <a:ext uri="{FF2B5EF4-FFF2-40B4-BE49-F238E27FC236}">
                  <a16:creationId xmlns:a16="http://schemas.microsoft.com/office/drawing/2014/main" id="{B8E5A40D-A8AD-CC49-8852-657CBDF91694}"/>
                </a:ext>
              </a:extLst>
            </p:cNvPr>
            <p:cNvSpPr>
              <a:spLocks/>
            </p:cNvSpPr>
            <p:nvPr/>
          </p:nvSpPr>
          <p:spPr bwMode="auto">
            <a:xfrm>
              <a:off x="2836" y="1799"/>
              <a:ext cx="483" cy="284"/>
            </a:xfrm>
            <a:custGeom>
              <a:avLst/>
              <a:gdLst>
                <a:gd name="T0" fmla="*/ 1062 w 1448"/>
                <a:gd name="T1" fmla="*/ 767 h 852"/>
                <a:gd name="T2" fmla="*/ 1089 w 1448"/>
                <a:gd name="T3" fmla="*/ 771 h 852"/>
                <a:gd name="T4" fmla="*/ 1221 w 1448"/>
                <a:gd name="T5" fmla="*/ 804 h 852"/>
                <a:gd name="T6" fmla="*/ 1379 w 1448"/>
                <a:gd name="T7" fmla="*/ 771 h 852"/>
                <a:gd name="T8" fmla="*/ 1448 w 1448"/>
                <a:gd name="T9" fmla="*/ 707 h 852"/>
                <a:gd name="T10" fmla="*/ 1406 w 1448"/>
                <a:gd name="T11" fmla="*/ 654 h 852"/>
                <a:gd name="T12" fmla="*/ 1372 w 1448"/>
                <a:gd name="T13" fmla="*/ 638 h 852"/>
                <a:gd name="T14" fmla="*/ 1414 w 1448"/>
                <a:gd name="T15" fmla="*/ 557 h 852"/>
                <a:gd name="T16" fmla="*/ 1427 w 1448"/>
                <a:gd name="T17" fmla="*/ 434 h 852"/>
                <a:gd name="T18" fmla="*/ 1338 w 1448"/>
                <a:gd name="T19" fmla="*/ 353 h 852"/>
                <a:gd name="T20" fmla="*/ 1234 w 1448"/>
                <a:gd name="T21" fmla="*/ 343 h 852"/>
                <a:gd name="T22" fmla="*/ 1255 w 1448"/>
                <a:gd name="T23" fmla="*/ 327 h 852"/>
                <a:gd name="T24" fmla="*/ 1248 w 1448"/>
                <a:gd name="T25" fmla="*/ 241 h 852"/>
                <a:gd name="T26" fmla="*/ 1131 w 1448"/>
                <a:gd name="T27" fmla="*/ 133 h 852"/>
                <a:gd name="T28" fmla="*/ 931 w 1448"/>
                <a:gd name="T29" fmla="*/ 74 h 852"/>
                <a:gd name="T30" fmla="*/ 835 w 1448"/>
                <a:gd name="T31" fmla="*/ 80 h 852"/>
                <a:gd name="T32" fmla="*/ 835 w 1448"/>
                <a:gd name="T33" fmla="*/ 80 h 852"/>
                <a:gd name="T34" fmla="*/ 779 w 1448"/>
                <a:gd name="T35" fmla="*/ 37 h 852"/>
                <a:gd name="T36" fmla="*/ 592 w 1448"/>
                <a:gd name="T37" fmla="*/ 0 h 852"/>
                <a:gd name="T38" fmla="*/ 421 w 1448"/>
                <a:gd name="T39" fmla="*/ 26 h 852"/>
                <a:gd name="T40" fmla="*/ 407 w 1448"/>
                <a:gd name="T41" fmla="*/ 102 h 852"/>
                <a:gd name="T42" fmla="*/ 428 w 1448"/>
                <a:gd name="T43" fmla="*/ 139 h 852"/>
                <a:gd name="T44" fmla="*/ 290 w 1448"/>
                <a:gd name="T45" fmla="*/ 144 h 852"/>
                <a:gd name="T46" fmla="*/ 179 w 1448"/>
                <a:gd name="T47" fmla="*/ 208 h 852"/>
                <a:gd name="T48" fmla="*/ 186 w 1448"/>
                <a:gd name="T49" fmla="*/ 337 h 852"/>
                <a:gd name="T50" fmla="*/ 227 w 1448"/>
                <a:gd name="T51" fmla="*/ 421 h 852"/>
                <a:gd name="T52" fmla="*/ 225 w 1448"/>
                <a:gd name="T53" fmla="*/ 432 h 852"/>
                <a:gd name="T54" fmla="*/ 83 w 1448"/>
                <a:gd name="T55" fmla="*/ 472 h 852"/>
                <a:gd name="T56" fmla="*/ 0 w 1448"/>
                <a:gd name="T57" fmla="*/ 525 h 852"/>
                <a:gd name="T58" fmla="*/ 90 w 1448"/>
                <a:gd name="T59" fmla="*/ 638 h 852"/>
                <a:gd name="T60" fmla="*/ 203 w 1448"/>
                <a:gd name="T61" fmla="*/ 691 h 852"/>
                <a:gd name="T62" fmla="*/ 103 w 1448"/>
                <a:gd name="T63" fmla="*/ 739 h 852"/>
                <a:gd name="T64" fmla="*/ 34 w 1448"/>
                <a:gd name="T65" fmla="*/ 793 h 852"/>
                <a:gd name="T66" fmla="*/ 186 w 1448"/>
                <a:gd name="T67" fmla="*/ 841 h 852"/>
                <a:gd name="T68" fmla="*/ 359 w 1448"/>
                <a:gd name="T69" fmla="*/ 841 h 852"/>
                <a:gd name="T70" fmla="*/ 365 w 1448"/>
                <a:gd name="T71" fmla="*/ 825 h 852"/>
                <a:gd name="T72" fmla="*/ 1055 w 1448"/>
                <a:gd name="T73" fmla="*/ 767 h 85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448"/>
                <a:gd name="T112" fmla="*/ 0 h 852"/>
                <a:gd name="T113" fmla="*/ 1448 w 1448"/>
                <a:gd name="T114" fmla="*/ 852 h 85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448" h="852">
                  <a:moveTo>
                    <a:pt x="1055" y="767"/>
                  </a:moveTo>
                  <a:lnTo>
                    <a:pt x="1062" y="767"/>
                  </a:lnTo>
                  <a:lnTo>
                    <a:pt x="1070" y="767"/>
                  </a:lnTo>
                  <a:lnTo>
                    <a:pt x="1089" y="771"/>
                  </a:lnTo>
                  <a:lnTo>
                    <a:pt x="1145" y="793"/>
                  </a:lnTo>
                  <a:lnTo>
                    <a:pt x="1221" y="804"/>
                  </a:lnTo>
                  <a:lnTo>
                    <a:pt x="1310" y="793"/>
                  </a:lnTo>
                  <a:lnTo>
                    <a:pt x="1379" y="771"/>
                  </a:lnTo>
                  <a:lnTo>
                    <a:pt x="1427" y="745"/>
                  </a:lnTo>
                  <a:lnTo>
                    <a:pt x="1448" y="707"/>
                  </a:lnTo>
                  <a:lnTo>
                    <a:pt x="1441" y="680"/>
                  </a:lnTo>
                  <a:lnTo>
                    <a:pt x="1406" y="654"/>
                  </a:lnTo>
                  <a:lnTo>
                    <a:pt x="1372" y="643"/>
                  </a:lnTo>
                  <a:lnTo>
                    <a:pt x="1372" y="638"/>
                  </a:lnTo>
                  <a:lnTo>
                    <a:pt x="1400" y="605"/>
                  </a:lnTo>
                  <a:lnTo>
                    <a:pt x="1414" y="557"/>
                  </a:lnTo>
                  <a:lnTo>
                    <a:pt x="1427" y="493"/>
                  </a:lnTo>
                  <a:lnTo>
                    <a:pt x="1427" y="434"/>
                  </a:lnTo>
                  <a:lnTo>
                    <a:pt x="1393" y="386"/>
                  </a:lnTo>
                  <a:lnTo>
                    <a:pt x="1338" y="353"/>
                  </a:lnTo>
                  <a:lnTo>
                    <a:pt x="1276" y="337"/>
                  </a:lnTo>
                  <a:lnTo>
                    <a:pt x="1234" y="343"/>
                  </a:lnTo>
                  <a:lnTo>
                    <a:pt x="1207" y="353"/>
                  </a:lnTo>
                  <a:lnTo>
                    <a:pt x="1255" y="327"/>
                  </a:lnTo>
                  <a:lnTo>
                    <a:pt x="1262" y="289"/>
                  </a:lnTo>
                  <a:lnTo>
                    <a:pt x="1248" y="241"/>
                  </a:lnTo>
                  <a:lnTo>
                    <a:pt x="1200" y="187"/>
                  </a:lnTo>
                  <a:lnTo>
                    <a:pt x="1131" y="133"/>
                  </a:lnTo>
                  <a:lnTo>
                    <a:pt x="1028" y="96"/>
                  </a:lnTo>
                  <a:lnTo>
                    <a:pt x="931" y="74"/>
                  </a:lnTo>
                  <a:lnTo>
                    <a:pt x="856" y="74"/>
                  </a:lnTo>
                  <a:lnTo>
                    <a:pt x="835" y="80"/>
                  </a:lnTo>
                  <a:lnTo>
                    <a:pt x="835" y="63"/>
                  </a:lnTo>
                  <a:lnTo>
                    <a:pt x="779" y="37"/>
                  </a:lnTo>
                  <a:lnTo>
                    <a:pt x="690" y="9"/>
                  </a:lnTo>
                  <a:lnTo>
                    <a:pt x="592" y="0"/>
                  </a:lnTo>
                  <a:lnTo>
                    <a:pt x="503" y="0"/>
                  </a:lnTo>
                  <a:lnTo>
                    <a:pt x="421" y="26"/>
                  </a:lnTo>
                  <a:lnTo>
                    <a:pt x="393" y="63"/>
                  </a:lnTo>
                  <a:lnTo>
                    <a:pt x="407" y="102"/>
                  </a:lnTo>
                  <a:lnTo>
                    <a:pt x="434" y="133"/>
                  </a:lnTo>
                  <a:lnTo>
                    <a:pt x="428" y="139"/>
                  </a:lnTo>
                  <a:lnTo>
                    <a:pt x="365" y="144"/>
                  </a:lnTo>
                  <a:lnTo>
                    <a:pt x="290" y="144"/>
                  </a:lnTo>
                  <a:lnTo>
                    <a:pt x="220" y="165"/>
                  </a:lnTo>
                  <a:lnTo>
                    <a:pt x="179" y="208"/>
                  </a:lnTo>
                  <a:lnTo>
                    <a:pt x="166" y="267"/>
                  </a:lnTo>
                  <a:lnTo>
                    <a:pt x="186" y="337"/>
                  </a:lnTo>
                  <a:lnTo>
                    <a:pt x="220" y="391"/>
                  </a:lnTo>
                  <a:lnTo>
                    <a:pt x="227" y="421"/>
                  </a:lnTo>
                  <a:lnTo>
                    <a:pt x="280" y="436"/>
                  </a:lnTo>
                  <a:lnTo>
                    <a:pt x="225" y="432"/>
                  </a:lnTo>
                  <a:lnTo>
                    <a:pt x="179" y="455"/>
                  </a:lnTo>
                  <a:lnTo>
                    <a:pt x="83" y="472"/>
                  </a:lnTo>
                  <a:lnTo>
                    <a:pt x="21" y="493"/>
                  </a:lnTo>
                  <a:lnTo>
                    <a:pt x="0" y="525"/>
                  </a:lnTo>
                  <a:lnTo>
                    <a:pt x="21" y="579"/>
                  </a:lnTo>
                  <a:lnTo>
                    <a:pt x="90" y="638"/>
                  </a:lnTo>
                  <a:lnTo>
                    <a:pt x="145" y="686"/>
                  </a:lnTo>
                  <a:lnTo>
                    <a:pt x="203" y="691"/>
                  </a:lnTo>
                  <a:lnTo>
                    <a:pt x="138" y="699"/>
                  </a:lnTo>
                  <a:lnTo>
                    <a:pt x="103" y="739"/>
                  </a:lnTo>
                  <a:lnTo>
                    <a:pt x="42" y="761"/>
                  </a:lnTo>
                  <a:lnTo>
                    <a:pt x="34" y="793"/>
                  </a:lnTo>
                  <a:lnTo>
                    <a:pt x="83" y="825"/>
                  </a:lnTo>
                  <a:lnTo>
                    <a:pt x="186" y="841"/>
                  </a:lnTo>
                  <a:lnTo>
                    <a:pt x="297" y="852"/>
                  </a:lnTo>
                  <a:lnTo>
                    <a:pt x="359" y="841"/>
                  </a:lnTo>
                  <a:lnTo>
                    <a:pt x="365" y="836"/>
                  </a:lnTo>
                  <a:lnTo>
                    <a:pt x="365" y="825"/>
                  </a:lnTo>
                  <a:lnTo>
                    <a:pt x="359" y="819"/>
                  </a:lnTo>
                  <a:lnTo>
                    <a:pt x="1055" y="767"/>
                  </a:lnTo>
                  <a:close/>
                </a:path>
              </a:pathLst>
            </a:custGeom>
            <a:solidFill>
              <a:srgbClr val="00C000"/>
            </a:solidFill>
            <a:ln w="0">
              <a:solidFill>
                <a:srgbClr val="00C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92" name="Freeform 96">
              <a:extLst>
                <a:ext uri="{FF2B5EF4-FFF2-40B4-BE49-F238E27FC236}">
                  <a16:creationId xmlns:a16="http://schemas.microsoft.com/office/drawing/2014/main" id="{E29132A2-F61E-1449-BA6E-829DB0503481}"/>
                </a:ext>
              </a:extLst>
            </p:cNvPr>
            <p:cNvSpPr>
              <a:spLocks/>
            </p:cNvSpPr>
            <p:nvPr/>
          </p:nvSpPr>
          <p:spPr bwMode="auto">
            <a:xfrm>
              <a:off x="2891" y="1861"/>
              <a:ext cx="359" cy="324"/>
            </a:xfrm>
            <a:custGeom>
              <a:avLst/>
              <a:gdLst>
                <a:gd name="T0" fmla="*/ 625 w 1079"/>
                <a:gd name="T1" fmla="*/ 552 h 973"/>
                <a:gd name="T2" fmla="*/ 645 w 1079"/>
                <a:gd name="T3" fmla="*/ 640 h 973"/>
                <a:gd name="T4" fmla="*/ 655 w 1079"/>
                <a:gd name="T5" fmla="*/ 838 h 973"/>
                <a:gd name="T6" fmla="*/ 718 w 1079"/>
                <a:gd name="T7" fmla="*/ 906 h 973"/>
                <a:gd name="T8" fmla="*/ 959 w 1079"/>
                <a:gd name="T9" fmla="*/ 973 h 973"/>
                <a:gd name="T10" fmla="*/ 190 w 1079"/>
                <a:gd name="T11" fmla="*/ 946 h 973"/>
                <a:gd name="T12" fmla="*/ 301 w 1079"/>
                <a:gd name="T13" fmla="*/ 944 h 973"/>
                <a:gd name="T14" fmla="*/ 393 w 1079"/>
                <a:gd name="T15" fmla="*/ 845 h 973"/>
                <a:gd name="T16" fmla="*/ 432 w 1079"/>
                <a:gd name="T17" fmla="*/ 554 h 973"/>
                <a:gd name="T18" fmla="*/ 210 w 1079"/>
                <a:gd name="T19" fmla="*/ 410 h 973"/>
                <a:gd name="T20" fmla="*/ 59 w 1079"/>
                <a:gd name="T21" fmla="*/ 348 h 973"/>
                <a:gd name="T22" fmla="*/ 72 w 1079"/>
                <a:gd name="T23" fmla="*/ 318 h 973"/>
                <a:gd name="T24" fmla="*/ 231 w 1079"/>
                <a:gd name="T25" fmla="*/ 388 h 973"/>
                <a:gd name="T26" fmla="*/ 377 w 1079"/>
                <a:gd name="T27" fmla="*/ 426 h 973"/>
                <a:gd name="T28" fmla="*/ 514 w 1079"/>
                <a:gd name="T29" fmla="*/ 426 h 973"/>
                <a:gd name="T30" fmla="*/ 327 w 1079"/>
                <a:gd name="T31" fmla="*/ 266 h 973"/>
                <a:gd name="T32" fmla="*/ 231 w 1079"/>
                <a:gd name="T33" fmla="*/ 151 h 973"/>
                <a:gd name="T34" fmla="*/ 390 w 1079"/>
                <a:gd name="T35" fmla="*/ 266 h 973"/>
                <a:gd name="T36" fmla="*/ 562 w 1079"/>
                <a:gd name="T37" fmla="*/ 378 h 973"/>
                <a:gd name="T38" fmla="*/ 584 w 1079"/>
                <a:gd name="T39" fmla="*/ 201 h 973"/>
                <a:gd name="T40" fmla="*/ 604 w 1079"/>
                <a:gd name="T41" fmla="*/ 71 h 973"/>
                <a:gd name="T42" fmla="*/ 642 w 1079"/>
                <a:gd name="T43" fmla="*/ 0 h 973"/>
                <a:gd name="T44" fmla="*/ 659 w 1079"/>
                <a:gd name="T45" fmla="*/ 168 h 973"/>
                <a:gd name="T46" fmla="*/ 724 w 1079"/>
                <a:gd name="T47" fmla="*/ 184 h 973"/>
                <a:gd name="T48" fmla="*/ 938 w 1079"/>
                <a:gd name="T49" fmla="*/ 139 h 973"/>
                <a:gd name="T50" fmla="*/ 869 w 1079"/>
                <a:gd name="T51" fmla="*/ 214 h 973"/>
                <a:gd name="T52" fmla="*/ 652 w 1079"/>
                <a:gd name="T53" fmla="*/ 292 h 973"/>
                <a:gd name="T54" fmla="*/ 652 w 1079"/>
                <a:gd name="T55" fmla="*/ 410 h 973"/>
                <a:gd name="T56" fmla="*/ 673 w 1079"/>
                <a:gd name="T57" fmla="*/ 420 h 973"/>
                <a:gd name="T58" fmla="*/ 859 w 1079"/>
                <a:gd name="T59" fmla="*/ 420 h 973"/>
                <a:gd name="T60" fmla="*/ 998 w 1079"/>
                <a:gd name="T61" fmla="*/ 404 h 973"/>
                <a:gd name="T62" fmla="*/ 1079 w 1079"/>
                <a:gd name="T63" fmla="*/ 420 h 973"/>
                <a:gd name="T64" fmla="*/ 908 w 1079"/>
                <a:gd name="T65" fmla="*/ 441 h 973"/>
                <a:gd name="T66" fmla="*/ 713 w 1079"/>
                <a:gd name="T67" fmla="*/ 474 h 9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079"/>
                <a:gd name="T103" fmla="*/ 0 h 973"/>
                <a:gd name="T104" fmla="*/ 1079 w 1079"/>
                <a:gd name="T105" fmla="*/ 973 h 97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079" h="973">
                  <a:moveTo>
                    <a:pt x="649" y="498"/>
                  </a:moveTo>
                  <a:lnTo>
                    <a:pt x="625" y="552"/>
                  </a:lnTo>
                  <a:lnTo>
                    <a:pt x="639" y="586"/>
                  </a:lnTo>
                  <a:lnTo>
                    <a:pt x="645" y="640"/>
                  </a:lnTo>
                  <a:lnTo>
                    <a:pt x="645" y="764"/>
                  </a:lnTo>
                  <a:lnTo>
                    <a:pt x="655" y="838"/>
                  </a:lnTo>
                  <a:lnTo>
                    <a:pt x="673" y="864"/>
                  </a:lnTo>
                  <a:lnTo>
                    <a:pt x="718" y="906"/>
                  </a:lnTo>
                  <a:lnTo>
                    <a:pt x="807" y="938"/>
                  </a:lnTo>
                  <a:lnTo>
                    <a:pt x="959" y="973"/>
                  </a:lnTo>
                  <a:lnTo>
                    <a:pt x="114" y="973"/>
                  </a:lnTo>
                  <a:lnTo>
                    <a:pt x="190" y="946"/>
                  </a:lnTo>
                  <a:lnTo>
                    <a:pt x="238" y="938"/>
                  </a:lnTo>
                  <a:lnTo>
                    <a:pt x="301" y="944"/>
                  </a:lnTo>
                  <a:lnTo>
                    <a:pt x="353" y="909"/>
                  </a:lnTo>
                  <a:lnTo>
                    <a:pt x="393" y="845"/>
                  </a:lnTo>
                  <a:lnTo>
                    <a:pt x="424" y="675"/>
                  </a:lnTo>
                  <a:lnTo>
                    <a:pt x="432" y="554"/>
                  </a:lnTo>
                  <a:lnTo>
                    <a:pt x="459" y="498"/>
                  </a:lnTo>
                  <a:lnTo>
                    <a:pt x="210" y="410"/>
                  </a:lnTo>
                  <a:lnTo>
                    <a:pt x="141" y="394"/>
                  </a:lnTo>
                  <a:lnTo>
                    <a:pt x="59" y="348"/>
                  </a:lnTo>
                  <a:lnTo>
                    <a:pt x="0" y="319"/>
                  </a:lnTo>
                  <a:lnTo>
                    <a:pt x="72" y="318"/>
                  </a:lnTo>
                  <a:lnTo>
                    <a:pt x="163" y="361"/>
                  </a:lnTo>
                  <a:lnTo>
                    <a:pt x="231" y="388"/>
                  </a:lnTo>
                  <a:lnTo>
                    <a:pt x="321" y="415"/>
                  </a:lnTo>
                  <a:lnTo>
                    <a:pt x="377" y="426"/>
                  </a:lnTo>
                  <a:lnTo>
                    <a:pt x="477" y="448"/>
                  </a:lnTo>
                  <a:lnTo>
                    <a:pt x="514" y="426"/>
                  </a:lnTo>
                  <a:lnTo>
                    <a:pt x="438" y="391"/>
                  </a:lnTo>
                  <a:lnTo>
                    <a:pt x="327" y="266"/>
                  </a:lnTo>
                  <a:lnTo>
                    <a:pt x="283" y="222"/>
                  </a:lnTo>
                  <a:lnTo>
                    <a:pt x="231" y="151"/>
                  </a:lnTo>
                  <a:lnTo>
                    <a:pt x="224" y="88"/>
                  </a:lnTo>
                  <a:lnTo>
                    <a:pt x="390" y="266"/>
                  </a:lnTo>
                  <a:lnTo>
                    <a:pt x="424" y="303"/>
                  </a:lnTo>
                  <a:lnTo>
                    <a:pt x="562" y="378"/>
                  </a:lnTo>
                  <a:lnTo>
                    <a:pt x="573" y="259"/>
                  </a:lnTo>
                  <a:lnTo>
                    <a:pt x="584" y="201"/>
                  </a:lnTo>
                  <a:lnTo>
                    <a:pt x="596" y="162"/>
                  </a:lnTo>
                  <a:lnTo>
                    <a:pt x="604" y="71"/>
                  </a:lnTo>
                  <a:lnTo>
                    <a:pt x="610" y="34"/>
                  </a:lnTo>
                  <a:lnTo>
                    <a:pt x="642" y="0"/>
                  </a:lnTo>
                  <a:lnTo>
                    <a:pt x="652" y="104"/>
                  </a:lnTo>
                  <a:lnTo>
                    <a:pt x="659" y="168"/>
                  </a:lnTo>
                  <a:lnTo>
                    <a:pt x="639" y="228"/>
                  </a:lnTo>
                  <a:lnTo>
                    <a:pt x="724" y="184"/>
                  </a:lnTo>
                  <a:lnTo>
                    <a:pt x="869" y="179"/>
                  </a:lnTo>
                  <a:lnTo>
                    <a:pt x="938" y="139"/>
                  </a:lnTo>
                  <a:lnTo>
                    <a:pt x="942" y="179"/>
                  </a:lnTo>
                  <a:lnTo>
                    <a:pt x="869" y="214"/>
                  </a:lnTo>
                  <a:lnTo>
                    <a:pt x="745" y="216"/>
                  </a:lnTo>
                  <a:lnTo>
                    <a:pt x="652" y="292"/>
                  </a:lnTo>
                  <a:lnTo>
                    <a:pt x="645" y="388"/>
                  </a:lnTo>
                  <a:lnTo>
                    <a:pt x="652" y="410"/>
                  </a:lnTo>
                  <a:lnTo>
                    <a:pt x="673" y="420"/>
                  </a:lnTo>
                  <a:lnTo>
                    <a:pt x="762" y="431"/>
                  </a:lnTo>
                  <a:lnTo>
                    <a:pt x="859" y="420"/>
                  </a:lnTo>
                  <a:lnTo>
                    <a:pt x="942" y="410"/>
                  </a:lnTo>
                  <a:lnTo>
                    <a:pt x="998" y="404"/>
                  </a:lnTo>
                  <a:lnTo>
                    <a:pt x="1066" y="399"/>
                  </a:lnTo>
                  <a:lnTo>
                    <a:pt x="1079" y="420"/>
                  </a:lnTo>
                  <a:lnTo>
                    <a:pt x="1003" y="426"/>
                  </a:lnTo>
                  <a:lnTo>
                    <a:pt x="908" y="441"/>
                  </a:lnTo>
                  <a:lnTo>
                    <a:pt x="810" y="458"/>
                  </a:lnTo>
                  <a:lnTo>
                    <a:pt x="713" y="474"/>
                  </a:lnTo>
                  <a:lnTo>
                    <a:pt x="649" y="498"/>
                  </a:lnTo>
                  <a:close/>
                </a:path>
              </a:pathLst>
            </a:custGeom>
            <a:solidFill>
              <a:srgbClr val="008080"/>
            </a:solidFill>
            <a:ln w="0">
              <a:solidFill>
                <a:srgbClr val="80000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93" name="Freeform 97">
              <a:extLst>
                <a:ext uri="{FF2B5EF4-FFF2-40B4-BE49-F238E27FC236}">
                  <a16:creationId xmlns:a16="http://schemas.microsoft.com/office/drawing/2014/main" id="{231B761C-C811-3D43-8133-0B21B3733B30}"/>
                </a:ext>
              </a:extLst>
            </p:cNvPr>
            <p:cNvSpPr>
              <a:spLocks/>
            </p:cNvSpPr>
            <p:nvPr/>
          </p:nvSpPr>
          <p:spPr bwMode="auto">
            <a:xfrm>
              <a:off x="495" y="1989"/>
              <a:ext cx="1761" cy="2242"/>
            </a:xfrm>
            <a:custGeom>
              <a:avLst/>
              <a:gdLst>
                <a:gd name="T0" fmla="*/ 0 w 5284"/>
                <a:gd name="T1" fmla="*/ 1223 h 6728"/>
                <a:gd name="T2" fmla="*/ 40 w 5284"/>
                <a:gd name="T3" fmla="*/ 1169 h 6728"/>
                <a:gd name="T4" fmla="*/ 154 w 5284"/>
                <a:gd name="T5" fmla="*/ 1031 h 6728"/>
                <a:gd name="T6" fmla="*/ 336 w 5284"/>
                <a:gd name="T7" fmla="*/ 844 h 6728"/>
                <a:gd name="T8" fmla="*/ 450 w 5284"/>
                <a:gd name="T9" fmla="*/ 743 h 6728"/>
                <a:gd name="T10" fmla="*/ 580 w 5284"/>
                <a:gd name="T11" fmla="*/ 643 h 6728"/>
                <a:gd name="T12" fmla="*/ 744 w 5284"/>
                <a:gd name="T13" fmla="*/ 528 h 6728"/>
                <a:gd name="T14" fmla="*/ 852 w 5284"/>
                <a:gd name="T15" fmla="*/ 467 h 6728"/>
                <a:gd name="T16" fmla="*/ 968 w 5284"/>
                <a:gd name="T17" fmla="*/ 422 h 6728"/>
                <a:gd name="T18" fmla="*/ 1159 w 5284"/>
                <a:gd name="T19" fmla="*/ 353 h 6728"/>
                <a:gd name="T20" fmla="*/ 1508 w 5284"/>
                <a:gd name="T21" fmla="*/ 223 h 6728"/>
                <a:gd name="T22" fmla="*/ 1725 w 5284"/>
                <a:gd name="T23" fmla="*/ 153 h 6728"/>
                <a:gd name="T24" fmla="*/ 1949 w 5284"/>
                <a:gd name="T25" fmla="*/ 110 h 6728"/>
                <a:gd name="T26" fmla="*/ 2317 w 5284"/>
                <a:gd name="T27" fmla="*/ 64 h 6728"/>
                <a:gd name="T28" fmla="*/ 2584 w 5284"/>
                <a:gd name="T29" fmla="*/ 39 h 6728"/>
                <a:gd name="T30" fmla="*/ 2749 w 5284"/>
                <a:gd name="T31" fmla="*/ 42 h 6728"/>
                <a:gd name="T32" fmla="*/ 2913 w 5284"/>
                <a:gd name="T33" fmla="*/ 55 h 6728"/>
                <a:gd name="T34" fmla="*/ 3186 w 5284"/>
                <a:gd name="T35" fmla="*/ 64 h 6728"/>
                <a:gd name="T36" fmla="*/ 3395 w 5284"/>
                <a:gd name="T37" fmla="*/ 57 h 6728"/>
                <a:gd name="T38" fmla="*/ 3552 w 5284"/>
                <a:gd name="T39" fmla="*/ 43 h 6728"/>
                <a:gd name="T40" fmla="*/ 3778 w 5284"/>
                <a:gd name="T41" fmla="*/ 10 h 6728"/>
                <a:gd name="T42" fmla="*/ 3881 w 5284"/>
                <a:gd name="T43" fmla="*/ 0 h 6728"/>
                <a:gd name="T44" fmla="*/ 3998 w 5284"/>
                <a:gd name="T45" fmla="*/ 3 h 6728"/>
                <a:gd name="T46" fmla="*/ 4147 w 5284"/>
                <a:gd name="T47" fmla="*/ 22 h 6728"/>
                <a:gd name="T48" fmla="*/ 4346 w 5284"/>
                <a:gd name="T49" fmla="*/ 64 h 6728"/>
                <a:gd name="T50" fmla="*/ 4461 w 5284"/>
                <a:gd name="T51" fmla="*/ 96 h 6728"/>
                <a:gd name="T52" fmla="*/ 4555 w 5284"/>
                <a:gd name="T53" fmla="*/ 131 h 6728"/>
                <a:gd name="T54" fmla="*/ 4701 w 5284"/>
                <a:gd name="T55" fmla="*/ 209 h 6728"/>
                <a:gd name="T56" fmla="*/ 4814 w 5284"/>
                <a:gd name="T57" fmla="*/ 285 h 6728"/>
                <a:gd name="T58" fmla="*/ 4925 w 5284"/>
                <a:gd name="T59" fmla="*/ 353 h 6728"/>
                <a:gd name="T60" fmla="*/ 4992 w 5284"/>
                <a:gd name="T61" fmla="*/ 463 h 6728"/>
                <a:gd name="T62" fmla="*/ 5069 w 5284"/>
                <a:gd name="T63" fmla="*/ 576 h 6728"/>
                <a:gd name="T64" fmla="*/ 5147 w 5284"/>
                <a:gd name="T65" fmla="*/ 722 h 6728"/>
                <a:gd name="T66" fmla="*/ 5182 w 5284"/>
                <a:gd name="T67" fmla="*/ 817 h 6728"/>
                <a:gd name="T68" fmla="*/ 5215 w 5284"/>
                <a:gd name="T69" fmla="*/ 933 h 6728"/>
                <a:gd name="T70" fmla="*/ 5260 w 5284"/>
                <a:gd name="T71" fmla="*/ 1113 h 6728"/>
                <a:gd name="T72" fmla="*/ 5284 w 5284"/>
                <a:gd name="T73" fmla="*/ 1234 h 6728"/>
                <a:gd name="T74" fmla="*/ 5272 w 5284"/>
                <a:gd name="T75" fmla="*/ 1349 h 6728"/>
                <a:gd name="T76" fmla="*/ 5215 w 5284"/>
                <a:gd name="T77" fmla="*/ 1512 h 6728"/>
                <a:gd name="T78" fmla="*/ 5156 w 5284"/>
                <a:gd name="T79" fmla="*/ 1634 h 6728"/>
                <a:gd name="T80" fmla="*/ 5096 w 5284"/>
                <a:gd name="T81" fmla="*/ 1717 h 6728"/>
                <a:gd name="T82" fmla="*/ 5036 w 5284"/>
                <a:gd name="T83" fmla="*/ 1774 h 6728"/>
                <a:gd name="T84" fmla="*/ 4971 w 5284"/>
                <a:gd name="T85" fmla="*/ 1816 h 6728"/>
                <a:gd name="T86" fmla="*/ 4823 w 5284"/>
                <a:gd name="T87" fmla="*/ 1909 h 6728"/>
                <a:gd name="T88" fmla="*/ 4735 w 5284"/>
                <a:gd name="T89" fmla="*/ 1982 h 6728"/>
                <a:gd name="T90" fmla="*/ 4635 w 5284"/>
                <a:gd name="T91" fmla="*/ 2092 h 6728"/>
                <a:gd name="T92" fmla="*/ 4426 w 5284"/>
                <a:gd name="T93" fmla="*/ 2343 h 6728"/>
                <a:gd name="T94" fmla="*/ 4303 w 5284"/>
                <a:gd name="T95" fmla="*/ 2501 h 6728"/>
                <a:gd name="T96" fmla="*/ 4201 w 5284"/>
                <a:gd name="T97" fmla="*/ 2671 h 6728"/>
                <a:gd name="T98" fmla="*/ 4056 w 5284"/>
                <a:gd name="T99" fmla="*/ 2962 h 6728"/>
                <a:gd name="T100" fmla="*/ 3936 w 5284"/>
                <a:gd name="T101" fmla="*/ 3219 h 6728"/>
                <a:gd name="T102" fmla="*/ 3876 w 5284"/>
                <a:gd name="T103" fmla="*/ 3382 h 6728"/>
                <a:gd name="T104" fmla="*/ 3835 w 5284"/>
                <a:gd name="T105" fmla="*/ 3553 h 6728"/>
                <a:gd name="T106" fmla="*/ 3767 w 5284"/>
                <a:gd name="T107" fmla="*/ 3831 h 6728"/>
                <a:gd name="T108" fmla="*/ 3655 w 5284"/>
                <a:gd name="T109" fmla="*/ 4277 h 6728"/>
                <a:gd name="T110" fmla="*/ 3602 w 5284"/>
                <a:gd name="T111" fmla="*/ 4550 h 6728"/>
                <a:gd name="T112" fmla="*/ 3559 w 5284"/>
                <a:gd name="T113" fmla="*/ 4826 h 6728"/>
                <a:gd name="T114" fmla="*/ 3525 w 5284"/>
                <a:gd name="T115" fmla="*/ 5020 h 6728"/>
                <a:gd name="T116" fmla="*/ 3476 w 5284"/>
                <a:gd name="T117" fmla="*/ 5280 h 6728"/>
                <a:gd name="T118" fmla="*/ 3270 w 5284"/>
                <a:gd name="T119" fmla="*/ 6303 h 6728"/>
                <a:gd name="T120" fmla="*/ 3186 w 5284"/>
                <a:gd name="T121" fmla="*/ 6728 h 67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284"/>
                <a:gd name="T184" fmla="*/ 0 h 6728"/>
                <a:gd name="T185" fmla="*/ 5284 w 5284"/>
                <a:gd name="T186" fmla="*/ 6728 h 672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284" h="6728">
                  <a:moveTo>
                    <a:pt x="0" y="1223"/>
                  </a:moveTo>
                  <a:lnTo>
                    <a:pt x="40" y="1169"/>
                  </a:lnTo>
                  <a:lnTo>
                    <a:pt x="154" y="1031"/>
                  </a:lnTo>
                  <a:lnTo>
                    <a:pt x="336" y="844"/>
                  </a:lnTo>
                  <a:lnTo>
                    <a:pt x="450" y="743"/>
                  </a:lnTo>
                  <a:lnTo>
                    <a:pt x="580" y="643"/>
                  </a:lnTo>
                  <a:lnTo>
                    <a:pt x="744" y="528"/>
                  </a:lnTo>
                  <a:lnTo>
                    <a:pt x="852" y="467"/>
                  </a:lnTo>
                  <a:lnTo>
                    <a:pt x="968" y="422"/>
                  </a:lnTo>
                  <a:lnTo>
                    <a:pt x="1159" y="353"/>
                  </a:lnTo>
                  <a:lnTo>
                    <a:pt x="1508" y="223"/>
                  </a:lnTo>
                  <a:lnTo>
                    <a:pt x="1725" y="153"/>
                  </a:lnTo>
                  <a:lnTo>
                    <a:pt x="1949" y="110"/>
                  </a:lnTo>
                  <a:lnTo>
                    <a:pt x="2317" y="64"/>
                  </a:lnTo>
                  <a:lnTo>
                    <a:pt x="2584" y="39"/>
                  </a:lnTo>
                  <a:lnTo>
                    <a:pt x="2749" y="42"/>
                  </a:lnTo>
                  <a:lnTo>
                    <a:pt x="2913" y="55"/>
                  </a:lnTo>
                  <a:lnTo>
                    <a:pt x="3186" y="64"/>
                  </a:lnTo>
                  <a:lnTo>
                    <a:pt x="3395" y="57"/>
                  </a:lnTo>
                  <a:lnTo>
                    <a:pt x="3552" y="43"/>
                  </a:lnTo>
                  <a:lnTo>
                    <a:pt x="3778" y="10"/>
                  </a:lnTo>
                  <a:lnTo>
                    <a:pt x="3881" y="0"/>
                  </a:lnTo>
                  <a:lnTo>
                    <a:pt x="3998" y="3"/>
                  </a:lnTo>
                  <a:lnTo>
                    <a:pt x="4147" y="22"/>
                  </a:lnTo>
                  <a:lnTo>
                    <a:pt x="4346" y="64"/>
                  </a:lnTo>
                  <a:lnTo>
                    <a:pt x="4461" y="96"/>
                  </a:lnTo>
                  <a:lnTo>
                    <a:pt x="4555" y="131"/>
                  </a:lnTo>
                  <a:lnTo>
                    <a:pt x="4701" y="209"/>
                  </a:lnTo>
                  <a:lnTo>
                    <a:pt x="4814" y="285"/>
                  </a:lnTo>
                  <a:lnTo>
                    <a:pt x="4925" y="353"/>
                  </a:lnTo>
                  <a:lnTo>
                    <a:pt x="4992" y="463"/>
                  </a:lnTo>
                  <a:lnTo>
                    <a:pt x="5069" y="576"/>
                  </a:lnTo>
                  <a:lnTo>
                    <a:pt x="5147" y="722"/>
                  </a:lnTo>
                  <a:lnTo>
                    <a:pt x="5182" y="817"/>
                  </a:lnTo>
                  <a:lnTo>
                    <a:pt x="5215" y="933"/>
                  </a:lnTo>
                  <a:lnTo>
                    <a:pt x="5260" y="1113"/>
                  </a:lnTo>
                  <a:lnTo>
                    <a:pt x="5284" y="1234"/>
                  </a:lnTo>
                  <a:lnTo>
                    <a:pt x="5272" y="1349"/>
                  </a:lnTo>
                  <a:lnTo>
                    <a:pt x="5215" y="1512"/>
                  </a:lnTo>
                  <a:lnTo>
                    <a:pt x="5156" y="1634"/>
                  </a:lnTo>
                  <a:lnTo>
                    <a:pt x="5096" y="1717"/>
                  </a:lnTo>
                  <a:lnTo>
                    <a:pt x="5036" y="1774"/>
                  </a:lnTo>
                  <a:lnTo>
                    <a:pt x="4971" y="1816"/>
                  </a:lnTo>
                  <a:lnTo>
                    <a:pt x="4823" y="1909"/>
                  </a:lnTo>
                  <a:lnTo>
                    <a:pt x="4735" y="1982"/>
                  </a:lnTo>
                  <a:lnTo>
                    <a:pt x="4635" y="2092"/>
                  </a:lnTo>
                  <a:lnTo>
                    <a:pt x="4426" y="2343"/>
                  </a:lnTo>
                  <a:lnTo>
                    <a:pt x="4303" y="2501"/>
                  </a:lnTo>
                  <a:lnTo>
                    <a:pt x="4201" y="2671"/>
                  </a:lnTo>
                  <a:lnTo>
                    <a:pt x="4056" y="2962"/>
                  </a:lnTo>
                  <a:lnTo>
                    <a:pt x="3936" y="3219"/>
                  </a:lnTo>
                  <a:lnTo>
                    <a:pt x="3876" y="3382"/>
                  </a:lnTo>
                  <a:lnTo>
                    <a:pt x="3835" y="3553"/>
                  </a:lnTo>
                  <a:lnTo>
                    <a:pt x="3767" y="3831"/>
                  </a:lnTo>
                  <a:lnTo>
                    <a:pt x="3655" y="4277"/>
                  </a:lnTo>
                  <a:lnTo>
                    <a:pt x="3602" y="4550"/>
                  </a:lnTo>
                  <a:lnTo>
                    <a:pt x="3559" y="4826"/>
                  </a:lnTo>
                  <a:lnTo>
                    <a:pt x="3525" y="5020"/>
                  </a:lnTo>
                  <a:lnTo>
                    <a:pt x="3476" y="5280"/>
                  </a:lnTo>
                  <a:lnTo>
                    <a:pt x="3270" y="6303"/>
                  </a:lnTo>
                  <a:lnTo>
                    <a:pt x="3186" y="6728"/>
                  </a:lnTo>
                </a:path>
              </a:pathLst>
            </a:custGeom>
            <a:noFill/>
            <a:ln w="444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94" name="Freeform 98">
              <a:extLst>
                <a:ext uri="{FF2B5EF4-FFF2-40B4-BE49-F238E27FC236}">
                  <a16:creationId xmlns:a16="http://schemas.microsoft.com/office/drawing/2014/main" id="{C9F1CF8C-8F47-824B-A6D9-E17101463D5E}"/>
                </a:ext>
              </a:extLst>
            </p:cNvPr>
            <p:cNvSpPr>
              <a:spLocks/>
            </p:cNvSpPr>
            <p:nvPr/>
          </p:nvSpPr>
          <p:spPr bwMode="auto">
            <a:xfrm>
              <a:off x="2136" y="2106"/>
              <a:ext cx="3187" cy="773"/>
            </a:xfrm>
            <a:custGeom>
              <a:avLst/>
              <a:gdLst>
                <a:gd name="T0" fmla="*/ 0 w 9559"/>
                <a:gd name="T1" fmla="*/ 0 h 2318"/>
                <a:gd name="T2" fmla="*/ 166 w 9559"/>
                <a:gd name="T3" fmla="*/ 94 h 2318"/>
                <a:gd name="T4" fmla="*/ 349 w 9559"/>
                <a:gd name="T5" fmla="*/ 187 h 2318"/>
                <a:gd name="T6" fmla="*/ 579 w 9559"/>
                <a:gd name="T7" fmla="*/ 290 h 2318"/>
                <a:gd name="T8" fmla="*/ 842 w 9559"/>
                <a:gd name="T9" fmla="*/ 405 h 2318"/>
                <a:gd name="T10" fmla="*/ 1004 w 9559"/>
                <a:gd name="T11" fmla="*/ 478 h 2318"/>
                <a:gd name="T12" fmla="*/ 1170 w 9559"/>
                <a:gd name="T13" fmla="*/ 528 h 2318"/>
                <a:gd name="T14" fmla="*/ 1448 w 9559"/>
                <a:gd name="T15" fmla="*/ 580 h 2318"/>
                <a:gd name="T16" fmla="*/ 1803 w 9559"/>
                <a:gd name="T17" fmla="*/ 636 h 2318"/>
                <a:gd name="T18" fmla="*/ 2070 w 9559"/>
                <a:gd name="T19" fmla="*/ 673 h 2318"/>
                <a:gd name="T20" fmla="*/ 2278 w 9559"/>
                <a:gd name="T21" fmla="*/ 693 h 2318"/>
                <a:gd name="T22" fmla="*/ 2458 w 9559"/>
                <a:gd name="T23" fmla="*/ 697 h 2318"/>
                <a:gd name="T24" fmla="*/ 2636 w 9559"/>
                <a:gd name="T25" fmla="*/ 686 h 2318"/>
                <a:gd name="T26" fmla="*/ 2847 w 9559"/>
                <a:gd name="T27" fmla="*/ 662 h 2318"/>
                <a:gd name="T28" fmla="*/ 3116 w 9559"/>
                <a:gd name="T29" fmla="*/ 626 h 2318"/>
                <a:gd name="T30" fmla="*/ 3476 w 9559"/>
                <a:gd name="T31" fmla="*/ 580 h 2318"/>
                <a:gd name="T32" fmla="*/ 3685 w 9559"/>
                <a:gd name="T33" fmla="*/ 547 h 2318"/>
                <a:gd name="T34" fmla="*/ 3839 w 9559"/>
                <a:gd name="T35" fmla="*/ 512 h 2318"/>
                <a:gd name="T36" fmla="*/ 3956 w 9559"/>
                <a:gd name="T37" fmla="*/ 475 h 2318"/>
                <a:gd name="T38" fmla="*/ 4055 w 9559"/>
                <a:gd name="T39" fmla="*/ 435 h 2318"/>
                <a:gd name="T40" fmla="*/ 4154 w 9559"/>
                <a:gd name="T41" fmla="*/ 396 h 2318"/>
                <a:gd name="T42" fmla="*/ 4270 w 9559"/>
                <a:gd name="T43" fmla="*/ 357 h 2318"/>
                <a:gd name="T44" fmla="*/ 4424 w 9559"/>
                <a:gd name="T45" fmla="*/ 322 h 2318"/>
                <a:gd name="T46" fmla="*/ 4634 w 9559"/>
                <a:gd name="T47" fmla="*/ 290 h 2318"/>
                <a:gd name="T48" fmla="*/ 4838 w 9559"/>
                <a:gd name="T49" fmla="*/ 267 h 2318"/>
                <a:gd name="T50" fmla="*/ 4991 w 9559"/>
                <a:gd name="T51" fmla="*/ 257 h 2318"/>
                <a:gd name="T52" fmla="*/ 5209 w 9559"/>
                <a:gd name="T53" fmla="*/ 261 h 2318"/>
                <a:gd name="T54" fmla="*/ 5430 w 9559"/>
                <a:gd name="T55" fmla="*/ 279 h 2318"/>
                <a:gd name="T56" fmla="*/ 5584 w 9559"/>
                <a:gd name="T57" fmla="*/ 287 h 2318"/>
                <a:gd name="T58" fmla="*/ 5793 w 9559"/>
                <a:gd name="T59" fmla="*/ 290 h 2318"/>
                <a:gd name="T60" fmla="*/ 6064 w 9559"/>
                <a:gd name="T61" fmla="*/ 281 h 2318"/>
                <a:gd name="T62" fmla="*/ 6229 w 9559"/>
                <a:gd name="T63" fmla="*/ 268 h 2318"/>
                <a:gd name="T64" fmla="*/ 6394 w 9559"/>
                <a:gd name="T65" fmla="*/ 265 h 2318"/>
                <a:gd name="T66" fmla="*/ 6663 w 9559"/>
                <a:gd name="T67" fmla="*/ 290 h 2318"/>
                <a:gd name="T68" fmla="*/ 7033 w 9559"/>
                <a:gd name="T69" fmla="*/ 332 h 2318"/>
                <a:gd name="T70" fmla="*/ 7262 w 9559"/>
                <a:gd name="T71" fmla="*/ 366 h 2318"/>
                <a:gd name="T72" fmla="*/ 7480 w 9559"/>
                <a:gd name="T73" fmla="*/ 435 h 2318"/>
                <a:gd name="T74" fmla="*/ 7821 w 9559"/>
                <a:gd name="T75" fmla="*/ 580 h 2318"/>
                <a:gd name="T76" fmla="*/ 8117 w 9559"/>
                <a:gd name="T77" fmla="*/ 713 h 2318"/>
                <a:gd name="T78" fmla="*/ 8295 w 9559"/>
                <a:gd name="T79" fmla="*/ 809 h 2318"/>
                <a:gd name="T80" fmla="*/ 8452 w 9559"/>
                <a:gd name="T81" fmla="*/ 936 h 2318"/>
                <a:gd name="T82" fmla="*/ 8690 w 9559"/>
                <a:gd name="T83" fmla="*/ 1159 h 2318"/>
                <a:gd name="T84" fmla="*/ 8891 w 9559"/>
                <a:gd name="T85" fmla="*/ 1364 h 2318"/>
                <a:gd name="T86" fmla="*/ 9066 w 9559"/>
                <a:gd name="T87" fmla="*/ 1568 h 2318"/>
                <a:gd name="T88" fmla="*/ 9216 w 9559"/>
                <a:gd name="T89" fmla="*/ 1763 h 2318"/>
                <a:gd name="T90" fmla="*/ 9338 w 9559"/>
                <a:gd name="T91" fmla="*/ 1941 h 2318"/>
                <a:gd name="T92" fmla="*/ 9434 w 9559"/>
                <a:gd name="T93" fmla="*/ 2093 h 2318"/>
                <a:gd name="T94" fmla="*/ 9503 w 9559"/>
                <a:gd name="T95" fmla="*/ 2213 h 2318"/>
                <a:gd name="T96" fmla="*/ 9559 w 9559"/>
                <a:gd name="T97" fmla="*/ 2318 h 231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9559"/>
                <a:gd name="T148" fmla="*/ 0 h 2318"/>
                <a:gd name="T149" fmla="*/ 9559 w 9559"/>
                <a:gd name="T150" fmla="*/ 2318 h 231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9559" h="2318">
                  <a:moveTo>
                    <a:pt x="0" y="0"/>
                  </a:moveTo>
                  <a:lnTo>
                    <a:pt x="166" y="94"/>
                  </a:lnTo>
                  <a:lnTo>
                    <a:pt x="349" y="187"/>
                  </a:lnTo>
                  <a:lnTo>
                    <a:pt x="579" y="290"/>
                  </a:lnTo>
                  <a:lnTo>
                    <a:pt x="842" y="405"/>
                  </a:lnTo>
                  <a:lnTo>
                    <a:pt x="1004" y="478"/>
                  </a:lnTo>
                  <a:lnTo>
                    <a:pt x="1170" y="528"/>
                  </a:lnTo>
                  <a:lnTo>
                    <a:pt x="1448" y="580"/>
                  </a:lnTo>
                  <a:lnTo>
                    <a:pt x="1803" y="636"/>
                  </a:lnTo>
                  <a:lnTo>
                    <a:pt x="2070" y="673"/>
                  </a:lnTo>
                  <a:lnTo>
                    <a:pt x="2278" y="693"/>
                  </a:lnTo>
                  <a:lnTo>
                    <a:pt x="2458" y="697"/>
                  </a:lnTo>
                  <a:lnTo>
                    <a:pt x="2636" y="686"/>
                  </a:lnTo>
                  <a:lnTo>
                    <a:pt x="2847" y="662"/>
                  </a:lnTo>
                  <a:lnTo>
                    <a:pt x="3116" y="626"/>
                  </a:lnTo>
                  <a:lnTo>
                    <a:pt x="3476" y="580"/>
                  </a:lnTo>
                  <a:lnTo>
                    <a:pt x="3685" y="547"/>
                  </a:lnTo>
                  <a:lnTo>
                    <a:pt x="3839" y="512"/>
                  </a:lnTo>
                  <a:lnTo>
                    <a:pt x="3956" y="475"/>
                  </a:lnTo>
                  <a:lnTo>
                    <a:pt x="4055" y="435"/>
                  </a:lnTo>
                  <a:lnTo>
                    <a:pt x="4154" y="396"/>
                  </a:lnTo>
                  <a:lnTo>
                    <a:pt x="4270" y="357"/>
                  </a:lnTo>
                  <a:lnTo>
                    <a:pt x="4424" y="322"/>
                  </a:lnTo>
                  <a:lnTo>
                    <a:pt x="4634" y="290"/>
                  </a:lnTo>
                  <a:lnTo>
                    <a:pt x="4838" y="267"/>
                  </a:lnTo>
                  <a:lnTo>
                    <a:pt x="4991" y="257"/>
                  </a:lnTo>
                  <a:lnTo>
                    <a:pt x="5209" y="261"/>
                  </a:lnTo>
                  <a:lnTo>
                    <a:pt x="5430" y="279"/>
                  </a:lnTo>
                  <a:lnTo>
                    <a:pt x="5584" y="287"/>
                  </a:lnTo>
                  <a:lnTo>
                    <a:pt x="5793" y="290"/>
                  </a:lnTo>
                  <a:lnTo>
                    <a:pt x="6064" y="281"/>
                  </a:lnTo>
                  <a:lnTo>
                    <a:pt x="6229" y="268"/>
                  </a:lnTo>
                  <a:lnTo>
                    <a:pt x="6394" y="265"/>
                  </a:lnTo>
                  <a:lnTo>
                    <a:pt x="6663" y="290"/>
                  </a:lnTo>
                  <a:lnTo>
                    <a:pt x="7033" y="332"/>
                  </a:lnTo>
                  <a:lnTo>
                    <a:pt x="7262" y="366"/>
                  </a:lnTo>
                  <a:lnTo>
                    <a:pt x="7480" y="435"/>
                  </a:lnTo>
                  <a:lnTo>
                    <a:pt x="7821" y="580"/>
                  </a:lnTo>
                  <a:lnTo>
                    <a:pt x="8117" y="713"/>
                  </a:lnTo>
                  <a:lnTo>
                    <a:pt x="8295" y="809"/>
                  </a:lnTo>
                  <a:lnTo>
                    <a:pt x="8452" y="936"/>
                  </a:lnTo>
                  <a:lnTo>
                    <a:pt x="8690" y="1159"/>
                  </a:lnTo>
                  <a:lnTo>
                    <a:pt x="8891" y="1364"/>
                  </a:lnTo>
                  <a:lnTo>
                    <a:pt x="9066" y="1568"/>
                  </a:lnTo>
                  <a:lnTo>
                    <a:pt x="9216" y="1763"/>
                  </a:lnTo>
                  <a:lnTo>
                    <a:pt x="9338" y="1941"/>
                  </a:lnTo>
                  <a:lnTo>
                    <a:pt x="9434" y="2093"/>
                  </a:lnTo>
                  <a:lnTo>
                    <a:pt x="9503" y="2213"/>
                  </a:lnTo>
                  <a:lnTo>
                    <a:pt x="9559" y="2318"/>
                  </a:lnTo>
                </a:path>
              </a:pathLst>
            </a:custGeom>
            <a:noFill/>
            <a:ln w="444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95" name="Freeform 99">
              <a:extLst>
                <a:ext uri="{FF2B5EF4-FFF2-40B4-BE49-F238E27FC236}">
                  <a16:creationId xmlns:a16="http://schemas.microsoft.com/office/drawing/2014/main" id="{C19D65ED-3C61-774F-841F-5B57D5000959}"/>
                </a:ext>
              </a:extLst>
            </p:cNvPr>
            <p:cNvSpPr>
              <a:spLocks/>
            </p:cNvSpPr>
            <p:nvPr/>
          </p:nvSpPr>
          <p:spPr bwMode="auto">
            <a:xfrm>
              <a:off x="3778" y="754"/>
              <a:ext cx="1545" cy="1449"/>
            </a:xfrm>
            <a:custGeom>
              <a:avLst/>
              <a:gdLst>
                <a:gd name="T0" fmla="*/ 0 w 4635"/>
                <a:gd name="T1" fmla="*/ 4346 h 4346"/>
                <a:gd name="T2" fmla="*/ 49 w 4635"/>
                <a:gd name="T3" fmla="*/ 4330 h 4346"/>
                <a:gd name="T4" fmla="*/ 182 w 4635"/>
                <a:gd name="T5" fmla="*/ 4278 h 4346"/>
                <a:gd name="T6" fmla="*/ 367 w 4635"/>
                <a:gd name="T7" fmla="*/ 4188 h 4346"/>
                <a:gd name="T8" fmla="*/ 579 w 4635"/>
                <a:gd name="T9" fmla="*/ 4056 h 4346"/>
                <a:gd name="T10" fmla="*/ 781 w 4635"/>
                <a:gd name="T11" fmla="*/ 3903 h 4346"/>
                <a:gd name="T12" fmla="*/ 894 w 4635"/>
                <a:gd name="T13" fmla="*/ 3795 h 4346"/>
                <a:gd name="T14" fmla="*/ 994 w 4635"/>
                <a:gd name="T15" fmla="*/ 3673 h 4346"/>
                <a:gd name="T16" fmla="*/ 1158 w 4635"/>
                <a:gd name="T17" fmla="*/ 3477 h 4346"/>
                <a:gd name="T18" fmla="*/ 1321 w 4635"/>
                <a:gd name="T19" fmla="*/ 3274 h 4346"/>
                <a:gd name="T20" fmla="*/ 1430 w 4635"/>
                <a:gd name="T21" fmla="*/ 3110 h 4346"/>
                <a:gd name="T22" fmla="*/ 1505 w 4635"/>
                <a:gd name="T23" fmla="*/ 2975 h 4346"/>
                <a:gd name="T24" fmla="*/ 1565 w 4635"/>
                <a:gd name="T25" fmla="*/ 2858 h 4346"/>
                <a:gd name="T26" fmla="*/ 1628 w 4635"/>
                <a:gd name="T27" fmla="*/ 2744 h 4346"/>
                <a:gd name="T28" fmla="*/ 1713 w 4635"/>
                <a:gd name="T29" fmla="*/ 2624 h 4346"/>
                <a:gd name="T30" fmla="*/ 1841 w 4635"/>
                <a:gd name="T31" fmla="*/ 2486 h 4346"/>
                <a:gd name="T32" fmla="*/ 2028 w 4635"/>
                <a:gd name="T33" fmla="*/ 2318 h 4346"/>
                <a:gd name="T34" fmla="*/ 2207 w 4635"/>
                <a:gd name="T35" fmla="*/ 2182 h 4346"/>
                <a:gd name="T36" fmla="*/ 2353 w 4635"/>
                <a:gd name="T37" fmla="*/ 2098 h 4346"/>
                <a:gd name="T38" fmla="*/ 2478 w 4635"/>
                <a:gd name="T39" fmla="*/ 2047 h 4346"/>
                <a:gd name="T40" fmla="*/ 2592 w 4635"/>
                <a:gd name="T41" fmla="*/ 2016 h 4346"/>
                <a:gd name="T42" fmla="*/ 2708 w 4635"/>
                <a:gd name="T43" fmla="*/ 1986 h 4346"/>
                <a:gd name="T44" fmla="*/ 2838 w 4635"/>
                <a:gd name="T45" fmla="*/ 1941 h 4346"/>
                <a:gd name="T46" fmla="*/ 2994 w 4635"/>
                <a:gd name="T47" fmla="*/ 1864 h 4346"/>
                <a:gd name="T48" fmla="*/ 3187 w 4635"/>
                <a:gd name="T49" fmla="*/ 1739 h 4346"/>
                <a:gd name="T50" fmla="*/ 3491 w 4635"/>
                <a:gd name="T51" fmla="*/ 1510 h 4346"/>
                <a:gd name="T52" fmla="*/ 3664 w 4635"/>
                <a:gd name="T53" fmla="*/ 1353 h 4346"/>
                <a:gd name="T54" fmla="*/ 3814 w 4635"/>
                <a:gd name="T55" fmla="*/ 1170 h 4346"/>
                <a:gd name="T56" fmla="*/ 4056 w 4635"/>
                <a:gd name="T57" fmla="*/ 869 h 4346"/>
                <a:gd name="T58" fmla="*/ 4184 w 4635"/>
                <a:gd name="T59" fmla="*/ 704 h 4346"/>
                <a:gd name="T60" fmla="*/ 4299 w 4635"/>
                <a:gd name="T61" fmla="*/ 546 h 4346"/>
                <a:gd name="T62" fmla="*/ 4481 w 4635"/>
                <a:gd name="T63" fmla="*/ 268 h 4346"/>
                <a:gd name="T64" fmla="*/ 4595 w 4635"/>
                <a:gd name="T65" fmla="*/ 73 h 4346"/>
                <a:gd name="T66" fmla="*/ 4635 w 4635"/>
                <a:gd name="T67" fmla="*/ 0 h 43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635"/>
                <a:gd name="T103" fmla="*/ 0 h 4346"/>
                <a:gd name="T104" fmla="*/ 4635 w 4635"/>
                <a:gd name="T105" fmla="*/ 4346 h 434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635" h="4346">
                  <a:moveTo>
                    <a:pt x="0" y="4346"/>
                  </a:moveTo>
                  <a:lnTo>
                    <a:pt x="49" y="4330"/>
                  </a:lnTo>
                  <a:lnTo>
                    <a:pt x="182" y="4278"/>
                  </a:lnTo>
                  <a:lnTo>
                    <a:pt x="367" y="4188"/>
                  </a:lnTo>
                  <a:lnTo>
                    <a:pt x="579" y="4056"/>
                  </a:lnTo>
                  <a:lnTo>
                    <a:pt x="781" y="3903"/>
                  </a:lnTo>
                  <a:lnTo>
                    <a:pt x="894" y="3795"/>
                  </a:lnTo>
                  <a:lnTo>
                    <a:pt x="994" y="3673"/>
                  </a:lnTo>
                  <a:lnTo>
                    <a:pt x="1158" y="3477"/>
                  </a:lnTo>
                  <a:lnTo>
                    <a:pt x="1321" y="3274"/>
                  </a:lnTo>
                  <a:lnTo>
                    <a:pt x="1430" y="3110"/>
                  </a:lnTo>
                  <a:lnTo>
                    <a:pt x="1505" y="2975"/>
                  </a:lnTo>
                  <a:lnTo>
                    <a:pt x="1565" y="2858"/>
                  </a:lnTo>
                  <a:lnTo>
                    <a:pt x="1628" y="2744"/>
                  </a:lnTo>
                  <a:lnTo>
                    <a:pt x="1713" y="2624"/>
                  </a:lnTo>
                  <a:lnTo>
                    <a:pt x="1841" y="2486"/>
                  </a:lnTo>
                  <a:lnTo>
                    <a:pt x="2028" y="2318"/>
                  </a:lnTo>
                  <a:lnTo>
                    <a:pt x="2207" y="2182"/>
                  </a:lnTo>
                  <a:lnTo>
                    <a:pt x="2353" y="2098"/>
                  </a:lnTo>
                  <a:lnTo>
                    <a:pt x="2478" y="2047"/>
                  </a:lnTo>
                  <a:lnTo>
                    <a:pt x="2592" y="2016"/>
                  </a:lnTo>
                  <a:lnTo>
                    <a:pt x="2708" y="1986"/>
                  </a:lnTo>
                  <a:lnTo>
                    <a:pt x="2838" y="1941"/>
                  </a:lnTo>
                  <a:lnTo>
                    <a:pt x="2994" y="1864"/>
                  </a:lnTo>
                  <a:lnTo>
                    <a:pt x="3187" y="1739"/>
                  </a:lnTo>
                  <a:lnTo>
                    <a:pt x="3491" y="1510"/>
                  </a:lnTo>
                  <a:lnTo>
                    <a:pt x="3664" y="1353"/>
                  </a:lnTo>
                  <a:lnTo>
                    <a:pt x="3814" y="1170"/>
                  </a:lnTo>
                  <a:lnTo>
                    <a:pt x="4056" y="869"/>
                  </a:lnTo>
                  <a:lnTo>
                    <a:pt x="4184" y="704"/>
                  </a:lnTo>
                  <a:lnTo>
                    <a:pt x="4299" y="546"/>
                  </a:lnTo>
                  <a:lnTo>
                    <a:pt x="4481" y="268"/>
                  </a:lnTo>
                  <a:lnTo>
                    <a:pt x="4595" y="73"/>
                  </a:lnTo>
                  <a:lnTo>
                    <a:pt x="4635" y="0"/>
                  </a:lnTo>
                </a:path>
              </a:pathLst>
            </a:custGeom>
            <a:noFill/>
            <a:ln w="444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96" name="Freeform 100">
              <a:extLst>
                <a:ext uri="{FF2B5EF4-FFF2-40B4-BE49-F238E27FC236}">
                  <a16:creationId xmlns:a16="http://schemas.microsoft.com/office/drawing/2014/main" id="{3FA23A09-1570-7C42-9CDC-EA0DBC4C4E67}"/>
                </a:ext>
              </a:extLst>
            </p:cNvPr>
            <p:cNvSpPr>
              <a:spLocks/>
            </p:cNvSpPr>
            <p:nvPr/>
          </p:nvSpPr>
          <p:spPr bwMode="auto">
            <a:xfrm>
              <a:off x="1461" y="870"/>
              <a:ext cx="511" cy="1142"/>
            </a:xfrm>
            <a:custGeom>
              <a:avLst/>
              <a:gdLst>
                <a:gd name="T0" fmla="*/ 579 w 1533"/>
                <a:gd name="T1" fmla="*/ 3426 h 3426"/>
                <a:gd name="T2" fmla="*/ 674 w 1533"/>
                <a:gd name="T3" fmla="*/ 3361 h 3426"/>
                <a:gd name="T4" fmla="*/ 768 w 1533"/>
                <a:gd name="T5" fmla="*/ 3284 h 3426"/>
                <a:gd name="T6" fmla="*/ 870 w 1533"/>
                <a:gd name="T7" fmla="*/ 3182 h 3426"/>
                <a:gd name="T8" fmla="*/ 984 w 1533"/>
                <a:gd name="T9" fmla="*/ 3042 h 3426"/>
                <a:gd name="T10" fmla="*/ 1045 w 1533"/>
                <a:gd name="T11" fmla="*/ 2950 h 3426"/>
                <a:gd name="T12" fmla="*/ 1090 w 1533"/>
                <a:gd name="T13" fmla="*/ 2852 h 3426"/>
                <a:gd name="T14" fmla="*/ 1159 w 1533"/>
                <a:gd name="T15" fmla="*/ 2692 h 3426"/>
                <a:gd name="T16" fmla="*/ 1289 w 1533"/>
                <a:gd name="T17" fmla="*/ 2396 h 3426"/>
                <a:gd name="T18" fmla="*/ 1359 w 1533"/>
                <a:gd name="T19" fmla="*/ 2213 h 3426"/>
                <a:gd name="T20" fmla="*/ 1402 w 1533"/>
                <a:gd name="T21" fmla="*/ 2024 h 3426"/>
                <a:gd name="T22" fmla="*/ 1449 w 1533"/>
                <a:gd name="T23" fmla="*/ 1713 h 3426"/>
                <a:gd name="T24" fmla="*/ 1472 w 1533"/>
                <a:gd name="T25" fmla="*/ 1581 h 3426"/>
                <a:gd name="T26" fmla="*/ 1497 w 1533"/>
                <a:gd name="T27" fmla="*/ 1478 h 3426"/>
                <a:gd name="T28" fmla="*/ 1533 w 1533"/>
                <a:gd name="T29" fmla="*/ 1327 h 3426"/>
                <a:gd name="T30" fmla="*/ 1528 w 1533"/>
                <a:gd name="T31" fmla="*/ 1184 h 3426"/>
                <a:gd name="T32" fmla="*/ 1499 w 1533"/>
                <a:gd name="T33" fmla="*/ 1093 h 3426"/>
                <a:gd name="T34" fmla="*/ 1449 w 1533"/>
                <a:gd name="T35" fmla="*/ 979 h 3426"/>
                <a:gd name="T36" fmla="*/ 1392 w 1533"/>
                <a:gd name="T37" fmla="*/ 874 h 3426"/>
                <a:gd name="T38" fmla="*/ 1339 w 1533"/>
                <a:gd name="T39" fmla="*/ 799 h 3426"/>
                <a:gd name="T40" fmla="*/ 1230 w 1533"/>
                <a:gd name="T41" fmla="*/ 703 h 3426"/>
                <a:gd name="T42" fmla="*/ 1084 w 1533"/>
                <a:gd name="T43" fmla="*/ 622 h 3426"/>
                <a:gd name="T44" fmla="*/ 987 w 1533"/>
                <a:gd name="T45" fmla="*/ 566 h 3426"/>
                <a:gd name="T46" fmla="*/ 870 w 1533"/>
                <a:gd name="T47" fmla="*/ 490 h 3426"/>
                <a:gd name="T48" fmla="*/ 580 w 1533"/>
                <a:gd name="T49" fmla="*/ 303 h 3426"/>
                <a:gd name="T50" fmla="*/ 357 w 1533"/>
                <a:gd name="T51" fmla="*/ 180 h 3426"/>
                <a:gd name="T52" fmla="*/ 174 w 1533"/>
                <a:gd name="T53" fmla="*/ 90 h 3426"/>
                <a:gd name="T54" fmla="*/ 0 w 1533"/>
                <a:gd name="T55" fmla="*/ 0 h 342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33"/>
                <a:gd name="T85" fmla="*/ 0 h 3426"/>
                <a:gd name="T86" fmla="*/ 1533 w 1533"/>
                <a:gd name="T87" fmla="*/ 3426 h 342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33" h="3426">
                  <a:moveTo>
                    <a:pt x="579" y="3426"/>
                  </a:moveTo>
                  <a:lnTo>
                    <a:pt x="674" y="3361"/>
                  </a:lnTo>
                  <a:lnTo>
                    <a:pt x="768" y="3284"/>
                  </a:lnTo>
                  <a:lnTo>
                    <a:pt x="870" y="3182"/>
                  </a:lnTo>
                  <a:lnTo>
                    <a:pt x="984" y="3042"/>
                  </a:lnTo>
                  <a:lnTo>
                    <a:pt x="1045" y="2950"/>
                  </a:lnTo>
                  <a:lnTo>
                    <a:pt x="1090" y="2852"/>
                  </a:lnTo>
                  <a:lnTo>
                    <a:pt x="1159" y="2692"/>
                  </a:lnTo>
                  <a:lnTo>
                    <a:pt x="1289" y="2396"/>
                  </a:lnTo>
                  <a:lnTo>
                    <a:pt x="1359" y="2213"/>
                  </a:lnTo>
                  <a:lnTo>
                    <a:pt x="1402" y="2024"/>
                  </a:lnTo>
                  <a:lnTo>
                    <a:pt x="1449" y="1713"/>
                  </a:lnTo>
                  <a:lnTo>
                    <a:pt x="1472" y="1581"/>
                  </a:lnTo>
                  <a:lnTo>
                    <a:pt x="1497" y="1478"/>
                  </a:lnTo>
                  <a:lnTo>
                    <a:pt x="1533" y="1327"/>
                  </a:lnTo>
                  <a:lnTo>
                    <a:pt x="1528" y="1184"/>
                  </a:lnTo>
                  <a:lnTo>
                    <a:pt x="1499" y="1093"/>
                  </a:lnTo>
                  <a:lnTo>
                    <a:pt x="1449" y="979"/>
                  </a:lnTo>
                  <a:lnTo>
                    <a:pt x="1392" y="874"/>
                  </a:lnTo>
                  <a:lnTo>
                    <a:pt x="1339" y="799"/>
                  </a:lnTo>
                  <a:lnTo>
                    <a:pt x="1230" y="703"/>
                  </a:lnTo>
                  <a:lnTo>
                    <a:pt x="1084" y="622"/>
                  </a:lnTo>
                  <a:lnTo>
                    <a:pt x="987" y="566"/>
                  </a:lnTo>
                  <a:lnTo>
                    <a:pt x="870" y="490"/>
                  </a:lnTo>
                  <a:lnTo>
                    <a:pt x="580" y="303"/>
                  </a:lnTo>
                  <a:lnTo>
                    <a:pt x="357" y="180"/>
                  </a:lnTo>
                  <a:lnTo>
                    <a:pt x="174" y="90"/>
                  </a:lnTo>
                  <a:lnTo>
                    <a:pt x="0" y="0"/>
                  </a:lnTo>
                </a:path>
              </a:pathLst>
            </a:custGeom>
            <a:noFill/>
            <a:ln w="444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97" name="Freeform 101">
              <a:extLst>
                <a:ext uri="{FF2B5EF4-FFF2-40B4-BE49-F238E27FC236}">
                  <a16:creationId xmlns:a16="http://schemas.microsoft.com/office/drawing/2014/main" id="{77160E68-C956-5D43-8362-098BE176FA23}"/>
                </a:ext>
              </a:extLst>
            </p:cNvPr>
            <p:cNvSpPr>
              <a:spLocks/>
            </p:cNvSpPr>
            <p:nvPr/>
          </p:nvSpPr>
          <p:spPr bwMode="auto">
            <a:xfrm>
              <a:off x="2099" y="1253"/>
              <a:ext cx="682" cy="217"/>
            </a:xfrm>
            <a:custGeom>
              <a:avLst/>
              <a:gdLst>
                <a:gd name="T0" fmla="*/ 1086 w 2046"/>
                <a:gd name="T1" fmla="*/ 73 h 652"/>
                <a:gd name="T2" fmla="*/ 1304 w 2046"/>
                <a:gd name="T3" fmla="*/ 73 h 652"/>
                <a:gd name="T4" fmla="*/ 1629 w 2046"/>
                <a:gd name="T5" fmla="*/ 0 h 652"/>
                <a:gd name="T6" fmla="*/ 1829 w 2046"/>
                <a:gd name="T7" fmla="*/ 127 h 652"/>
                <a:gd name="T8" fmla="*/ 2046 w 2046"/>
                <a:gd name="T9" fmla="*/ 254 h 652"/>
                <a:gd name="T10" fmla="*/ 1955 w 2046"/>
                <a:gd name="T11" fmla="*/ 471 h 652"/>
                <a:gd name="T12" fmla="*/ 1648 w 2046"/>
                <a:gd name="T13" fmla="*/ 526 h 652"/>
                <a:gd name="T14" fmla="*/ 1431 w 2046"/>
                <a:gd name="T15" fmla="*/ 652 h 652"/>
                <a:gd name="T16" fmla="*/ 1086 w 2046"/>
                <a:gd name="T17" fmla="*/ 652 h 652"/>
                <a:gd name="T18" fmla="*/ 942 w 2046"/>
                <a:gd name="T19" fmla="*/ 562 h 652"/>
                <a:gd name="T20" fmla="*/ 905 w 2046"/>
                <a:gd name="T21" fmla="*/ 562 h 652"/>
                <a:gd name="T22" fmla="*/ 652 w 2046"/>
                <a:gd name="T23" fmla="*/ 543 h 652"/>
                <a:gd name="T24" fmla="*/ 0 w 2046"/>
                <a:gd name="T25" fmla="*/ 435 h 652"/>
                <a:gd name="T26" fmla="*/ 217 w 2046"/>
                <a:gd name="T27" fmla="*/ 381 h 652"/>
                <a:gd name="T28" fmla="*/ 526 w 2046"/>
                <a:gd name="T29" fmla="*/ 362 h 652"/>
                <a:gd name="T30" fmla="*/ 942 w 2046"/>
                <a:gd name="T31" fmla="*/ 236 h 652"/>
                <a:gd name="T32" fmla="*/ 815 w 2046"/>
                <a:gd name="T33" fmla="*/ 217 h 652"/>
                <a:gd name="T34" fmla="*/ 815 w 2046"/>
                <a:gd name="T35" fmla="*/ 127 h 652"/>
                <a:gd name="T36" fmla="*/ 1050 w 2046"/>
                <a:gd name="T37" fmla="*/ 55 h 652"/>
                <a:gd name="T38" fmla="*/ 1105 w 2046"/>
                <a:gd name="T39" fmla="*/ 55 h 652"/>
                <a:gd name="T40" fmla="*/ 1177 w 2046"/>
                <a:gd name="T41" fmla="*/ 91 h 652"/>
                <a:gd name="T42" fmla="*/ 1177 w 2046"/>
                <a:gd name="T43" fmla="*/ 91 h 652"/>
                <a:gd name="T44" fmla="*/ 1177 w 2046"/>
                <a:gd name="T45" fmla="*/ 91 h 652"/>
                <a:gd name="T46" fmla="*/ 1177 w 2046"/>
                <a:gd name="T47" fmla="*/ 91 h 652"/>
                <a:gd name="T48" fmla="*/ 1177 w 2046"/>
                <a:gd name="T49" fmla="*/ 91 h 652"/>
                <a:gd name="T50" fmla="*/ 1086 w 2046"/>
                <a:gd name="T51" fmla="*/ 73 h 65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046"/>
                <a:gd name="T79" fmla="*/ 0 h 652"/>
                <a:gd name="T80" fmla="*/ 2046 w 2046"/>
                <a:gd name="T81" fmla="*/ 652 h 65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046" h="652">
                  <a:moveTo>
                    <a:pt x="1086" y="73"/>
                  </a:moveTo>
                  <a:lnTo>
                    <a:pt x="1304" y="73"/>
                  </a:lnTo>
                  <a:lnTo>
                    <a:pt x="1629" y="0"/>
                  </a:lnTo>
                  <a:lnTo>
                    <a:pt x="1829" y="127"/>
                  </a:lnTo>
                  <a:lnTo>
                    <a:pt x="2046" y="254"/>
                  </a:lnTo>
                  <a:lnTo>
                    <a:pt x="1955" y="471"/>
                  </a:lnTo>
                  <a:lnTo>
                    <a:pt x="1648" y="526"/>
                  </a:lnTo>
                  <a:lnTo>
                    <a:pt x="1431" y="652"/>
                  </a:lnTo>
                  <a:lnTo>
                    <a:pt x="1086" y="652"/>
                  </a:lnTo>
                  <a:lnTo>
                    <a:pt x="942" y="562"/>
                  </a:lnTo>
                  <a:lnTo>
                    <a:pt x="905" y="562"/>
                  </a:lnTo>
                  <a:lnTo>
                    <a:pt x="652" y="543"/>
                  </a:lnTo>
                  <a:lnTo>
                    <a:pt x="0" y="435"/>
                  </a:lnTo>
                  <a:lnTo>
                    <a:pt x="217" y="381"/>
                  </a:lnTo>
                  <a:lnTo>
                    <a:pt x="526" y="362"/>
                  </a:lnTo>
                  <a:lnTo>
                    <a:pt x="942" y="236"/>
                  </a:lnTo>
                  <a:lnTo>
                    <a:pt x="815" y="217"/>
                  </a:lnTo>
                  <a:lnTo>
                    <a:pt x="815" y="127"/>
                  </a:lnTo>
                  <a:lnTo>
                    <a:pt x="1050" y="55"/>
                  </a:lnTo>
                  <a:lnTo>
                    <a:pt x="1105" y="55"/>
                  </a:lnTo>
                  <a:lnTo>
                    <a:pt x="1177" y="91"/>
                  </a:lnTo>
                  <a:lnTo>
                    <a:pt x="1086" y="73"/>
                  </a:lnTo>
                  <a:close/>
                </a:path>
              </a:pathLst>
            </a:custGeom>
            <a:solidFill>
              <a:srgbClr val="0000C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98" name="Freeform 102">
              <a:extLst>
                <a:ext uri="{FF2B5EF4-FFF2-40B4-BE49-F238E27FC236}">
                  <a16:creationId xmlns:a16="http://schemas.microsoft.com/office/drawing/2014/main" id="{70EFC946-8AE1-3B4E-B57C-5E08BEB02F84}"/>
                </a:ext>
              </a:extLst>
            </p:cNvPr>
            <p:cNvSpPr>
              <a:spLocks/>
            </p:cNvSpPr>
            <p:nvPr/>
          </p:nvSpPr>
          <p:spPr bwMode="auto">
            <a:xfrm>
              <a:off x="2758" y="1527"/>
              <a:ext cx="567" cy="217"/>
            </a:xfrm>
            <a:custGeom>
              <a:avLst/>
              <a:gdLst>
                <a:gd name="T0" fmla="*/ 580 w 1703"/>
                <a:gd name="T1" fmla="*/ 90 h 652"/>
                <a:gd name="T2" fmla="*/ 779 w 1703"/>
                <a:gd name="T3" fmla="*/ 73 h 652"/>
                <a:gd name="T4" fmla="*/ 1123 w 1703"/>
                <a:gd name="T5" fmla="*/ 0 h 652"/>
                <a:gd name="T6" fmla="*/ 1358 w 1703"/>
                <a:gd name="T7" fmla="*/ 36 h 652"/>
                <a:gd name="T8" fmla="*/ 1485 w 1703"/>
                <a:gd name="T9" fmla="*/ 254 h 652"/>
                <a:gd name="T10" fmla="*/ 1630 w 1703"/>
                <a:gd name="T11" fmla="*/ 435 h 652"/>
                <a:gd name="T12" fmla="*/ 1703 w 1703"/>
                <a:gd name="T13" fmla="*/ 525 h 652"/>
                <a:gd name="T14" fmla="*/ 1177 w 1703"/>
                <a:gd name="T15" fmla="*/ 580 h 652"/>
                <a:gd name="T16" fmla="*/ 996 w 1703"/>
                <a:gd name="T17" fmla="*/ 652 h 652"/>
                <a:gd name="T18" fmla="*/ 580 w 1703"/>
                <a:gd name="T19" fmla="*/ 561 h 652"/>
                <a:gd name="T20" fmla="*/ 272 w 1703"/>
                <a:gd name="T21" fmla="*/ 488 h 652"/>
                <a:gd name="T22" fmla="*/ 0 w 1703"/>
                <a:gd name="T23" fmla="*/ 362 h 652"/>
                <a:gd name="T24" fmla="*/ 145 w 1703"/>
                <a:gd name="T25" fmla="*/ 290 h 652"/>
                <a:gd name="T26" fmla="*/ 434 w 1703"/>
                <a:gd name="T27" fmla="*/ 217 h 652"/>
                <a:gd name="T28" fmla="*/ 562 w 1703"/>
                <a:gd name="T29" fmla="*/ 217 h 652"/>
                <a:gd name="T30" fmla="*/ 617 w 1703"/>
                <a:gd name="T31" fmla="*/ 145 h 652"/>
                <a:gd name="T32" fmla="*/ 580 w 1703"/>
                <a:gd name="T33" fmla="*/ 90 h 65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03"/>
                <a:gd name="T52" fmla="*/ 0 h 652"/>
                <a:gd name="T53" fmla="*/ 1703 w 1703"/>
                <a:gd name="T54" fmla="*/ 652 h 65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03" h="652">
                  <a:moveTo>
                    <a:pt x="580" y="90"/>
                  </a:moveTo>
                  <a:lnTo>
                    <a:pt x="779" y="73"/>
                  </a:lnTo>
                  <a:lnTo>
                    <a:pt x="1123" y="0"/>
                  </a:lnTo>
                  <a:lnTo>
                    <a:pt x="1358" y="36"/>
                  </a:lnTo>
                  <a:lnTo>
                    <a:pt x="1485" y="254"/>
                  </a:lnTo>
                  <a:lnTo>
                    <a:pt x="1630" y="435"/>
                  </a:lnTo>
                  <a:lnTo>
                    <a:pt x="1703" y="525"/>
                  </a:lnTo>
                  <a:lnTo>
                    <a:pt x="1177" y="580"/>
                  </a:lnTo>
                  <a:lnTo>
                    <a:pt x="996" y="652"/>
                  </a:lnTo>
                  <a:lnTo>
                    <a:pt x="580" y="561"/>
                  </a:lnTo>
                  <a:lnTo>
                    <a:pt x="272" y="488"/>
                  </a:lnTo>
                  <a:lnTo>
                    <a:pt x="0" y="362"/>
                  </a:lnTo>
                  <a:lnTo>
                    <a:pt x="145" y="290"/>
                  </a:lnTo>
                  <a:lnTo>
                    <a:pt x="434" y="217"/>
                  </a:lnTo>
                  <a:lnTo>
                    <a:pt x="562" y="217"/>
                  </a:lnTo>
                  <a:lnTo>
                    <a:pt x="617" y="145"/>
                  </a:lnTo>
                  <a:lnTo>
                    <a:pt x="580" y="90"/>
                  </a:lnTo>
                  <a:close/>
                </a:path>
              </a:pathLst>
            </a:custGeom>
            <a:solidFill>
              <a:srgbClr val="0000C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299" name="Freeform 103">
              <a:extLst>
                <a:ext uri="{FF2B5EF4-FFF2-40B4-BE49-F238E27FC236}">
                  <a16:creationId xmlns:a16="http://schemas.microsoft.com/office/drawing/2014/main" id="{83772AF9-376F-684C-AB0E-23568387B886}"/>
                </a:ext>
              </a:extLst>
            </p:cNvPr>
            <p:cNvSpPr>
              <a:spLocks/>
            </p:cNvSpPr>
            <p:nvPr/>
          </p:nvSpPr>
          <p:spPr bwMode="auto">
            <a:xfrm>
              <a:off x="3131" y="640"/>
              <a:ext cx="2185" cy="887"/>
            </a:xfrm>
            <a:custGeom>
              <a:avLst/>
              <a:gdLst>
                <a:gd name="T0" fmla="*/ 0 w 6557"/>
                <a:gd name="T1" fmla="*/ 2631 h 2662"/>
                <a:gd name="T2" fmla="*/ 14 w 6557"/>
                <a:gd name="T3" fmla="*/ 2449 h 2662"/>
                <a:gd name="T4" fmla="*/ 120 w 6557"/>
                <a:gd name="T5" fmla="*/ 2238 h 2662"/>
                <a:gd name="T6" fmla="*/ 243 w 6557"/>
                <a:gd name="T7" fmla="*/ 2147 h 2662"/>
                <a:gd name="T8" fmla="*/ 516 w 6557"/>
                <a:gd name="T9" fmla="*/ 1955 h 2662"/>
                <a:gd name="T10" fmla="*/ 735 w 6557"/>
                <a:gd name="T11" fmla="*/ 1817 h 2662"/>
                <a:gd name="T12" fmla="*/ 1069 w 6557"/>
                <a:gd name="T13" fmla="*/ 1769 h 2662"/>
                <a:gd name="T14" fmla="*/ 1250 w 6557"/>
                <a:gd name="T15" fmla="*/ 1834 h 2662"/>
                <a:gd name="T16" fmla="*/ 1534 w 6557"/>
                <a:gd name="T17" fmla="*/ 1835 h 2662"/>
                <a:gd name="T18" fmla="*/ 1843 w 6557"/>
                <a:gd name="T19" fmla="*/ 1757 h 2662"/>
                <a:gd name="T20" fmla="*/ 2117 w 6557"/>
                <a:gd name="T21" fmla="*/ 1606 h 2662"/>
                <a:gd name="T22" fmla="*/ 2380 w 6557"/>
                <a:gd name="T23" fmla="*/ 1486 h 2662"/>
                <a:gd name="T24" fmla="*/ 2666 w 6557"/>
                <a:gd name="T25" fmla="*/ 1468 h 2662"/>
                <a:gd name="T26" fmla="*/ 2875 w 6557"/>
                <a:gd name="T27" fmla="*/ 1520 h 2662"/>
                <a:gd name="T28" fmla="*/ 2968 w 6557"/>
                <a:gd name="T29" fmla="*/ 1625 h 2662"/>
                <a:gd name="T30" fmla="*/ 3167 w 6557"/>
                <a:gd name="T31" fmla="*/ 1624 h 2662"/>
                <a:gd name="T32" fmla="*/ 3314 w 6557"/>
                <a:gd name="T33" fmla="*/ 1483 h 2662"/>
                <a:gd name="T34" fmla="*/ 3619 w 6557"/>
                <a:gd name="T35" fmla="*/ 1314 h 2662"/>
                <a:gd name="T36" fmla="*/ 3920 w 6557"/>
                <a:gd name="T37" fmla="*/ 1217 h 2662"/>
                <a:gd name="T38" fmla="*/ 4067 w 6557"/>
                <a:gd name="T39" fmla="*/ 1187 h 2662"/>
                <a:gd name="T40" fmla="*/ 4205 w 6557"/>
                <a:gd name="T41" fmla="*/ 1039 h 2662"/>
                <a:gd name="T42" fmla="*/ 4224 w 6557"/>
                <a:gd name="T43" fmla="*/ 888 h 2662"/>
                <a:gd name="T44" fmla="*/ 4388 w 6557"/>
                <a:gd name="T45" fmla="*/ 680 h 2662"/>
                <a:gd name="T46" fmla="*/ 4583 w 6557"/>
                <a:gd name="T47" fmla="*/ 588 h 2662"/>
                <a:gd name="T48" fmla="*/ 4888 w 6557"/>
                <a:gd name="T49" fmla="*/ 469 h 2662"/>
                <a:gd name="T50" fmla="*/ 5070 w 6557"/>
                <a:gd name="T51" fmla="*/ 423 h 2662"/>
                <a:gd name="T52" fmla="*/ 5347 w 6557"/>
                <a:gd name="T53" fmla="*/ 334 h 2662"/>
                <a:gd name="T54" fmla="*/ 5502 w 6557"/>
                <a:gd name="T55" fmla="*/ 273 h 2662"/>
                <a:gd name="T56" fmla="*/ 5762 w 6557"/>
                <a:gd name="T57" fmla="*/ 207 h 2662"/>
                <a:gd name="T58" fmla="*/ 5921 w 6557"/>
                <a:gd name="T59" fmla="*/ 188 h 2662"/>
                <a:gd name="T60" fmla="*/ 6271 w 6557"/>
                <a:gd name="T61" fmla="*/ 113 h 2662"/>
                <a:gd name="T62" fmla="*/ 6557 w 6557"/>
                <a:gd name="T63" fmla="*/ 0 h 266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57"/>
                <a:gd name="T97" fmla="*/ 0 h 2662"/>
                <a:gd name="T98" fmla="*/ 6557 w 6557"/>
                <a:gd name="T99" fmla="*/ 2662 h 266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57" h="2662">
                  <a:moveTo>
                    <a:pt x="4" y="2662"/>
                  </a:moveTo>
                  <a:lnTo>
                    <a:pt x="0" y="2631"/>
                  </a:lnTo>
                  <a:lnTo>
                    <a:pt x="0" y="2555"/>
                  </a:lnTo>
                  <a:lnTo>
                    <a:pt x="14" y="2449"/>
                  </a:lnTo>
                  <a:lnTo>
                    <a:pt x="58" y="2336"/>
                  </a:lnTo>
                  <a:lnTo>
                    <a:pt x="120" y="2238"/>
                  </a:lnTo>
                  <a:lnTo>
                    <a:pt x="174" y="2188"/>
                  </a:lnTo>
                  <a:lnTo>
                    <a:pt x="243" y="2147"/>
                  </a:lnTo>
                  <a:lnTo>
                    <a:pt x="348" y="2083"/>
                  </a:lnTo>
                  <a:lnTo>
                    <a:pt x="516" y="1955"/>
                  </a:lnTo>
                  <a:lnTo>
                    <a:pt x="621" y="1872"/>
                  </a:lnTo>
                  <a:lnTo>
                    <a:pt x="735" y="1817"/>
                  </a:lnTo>
                  <a:lnTo>
                    <a:pt x="927" y="1774"/>
                  </a:lnTo>
                  <a:lnTo>
                    <a:pt x="1069" y="1769"/>
                  </a:lnTo>
                  <a:lnTo>
                    <a:pt x="1159" y="1798"/>
                  </a:lnTo>
                  <a:lnTo>
                    <a:pt x="1250" y="1834"/>
                  </a:lnTo>
                  <a:lnTo>
                    <a:pt x="1398" y="1847"/>
                  </a:lnTo>
                  <a:lnTo>
                    <a:pt x="1534" y="1835"/>
                  </a:lnTo>
                  <a:lnTo>
                    <a:pt x="1651" y="1815"/>
                  </a:lnTo>
                  <a:lnTo>
                    <a:pt x="1843" y="1757"/>
                  </a:lnTo>
                  <a:lnTo>
                    <a:pt x="1991" y="1683"/>
                  </a:lnTo>
                  <a:lnTo>
                    <a:pt x="2117" y="1606"/>
                  </a:lnTo>
                  <a:lnTo>
                    <a:pt x="2240" y="1537"/>
                  </a:lnTo>
                  <a:lnTo>
                    <a:pt x="2380" y="1486"/>
                  </a:lnTo>
                  <a:lnTo>
                    <a:pt x="2557" y="1465"/>
                  </a:lnTo>
                  <a:lnTo>
                    <a:pt x="2666" y="1468"/>
                  </a:lnTo>
                  <a:lnTo>
                    <a:pt x="2792" y="1485"/>
                  </a:lnTo>
                  <a:lnTo>
                    <a:pt x="2875" y="1520"/>
                  </a:lnTo>
                  <a:lnTo>
                    <a:pt x="2923" y="1575"/>
                  </a:lnTo>
                  <a:lnTo>
                    <a:pt x="2968" y="1625"/>
                  </a:lnTo>
                  <a:lnTo>
                    <a:pt x="3046" y="1648"/>
                  </a:lnTo>
                  <a:lnTo>
                    <a:pt x="3167" y="1624"/>
                  </a:lnTo>
                  <a:lnTo>
                    <a:pt x="3241" y="1565"/>
                  </a:lnTo>
                  <a:lnTo>
                    <a:pt x="3314" y="1483"/>
                  </a:lnTo>
                  <a:lnTo>
                    <a:pt x="3444" y="1395"/>
                  </a:lnTo>
                  <a:lnTo>
                    <a:pt x="3619" y="1314"/>
                  </a:lnTo>
                  <a:lnTo>
                    <a:pt x="3806" y="1250"/>
                  </a:lnTo>
                  <a:lnTo>
                    <a:pt x="3920" y="1217"/>
                  </a:lnTo>
                  <a:lnTo>
                    <a:pt x="3999" y="1207"/>
                  </a:lnTo>
                  <a:lnTo>
                    <a:pt x="4067" y="1187"/>
                  </a:lnTo>
                  <a:lnTo>
                    <a:pt x="4150" y="1122"/>
                  </a:lnTo>
                  <a:lnTo>
                    <a:pt x="4205" y="1039"/>
                  </a:lnTo>
                  <a:lnTo>
                    <a:pt x="4215" y="964"/>
                  </a:lnTo>
                  <a:lnTo>
                    <a:pt x="4224" y="888"/>
                  </a:lnTo>
                  <a:lnTo>
                    <a:pt x="4276" y="796"/>
                  </a:lnTo>
                  <a:lnTo>
                    <a:pt x="4388" y="680"/>
                  </a:lnTo>
                  <a:lnTo>
                    <a:pt x="4477" y="625"/>
                  </a:lnTo>
                  <a:lnTo>
                    <a:pt x="4583" y="588"/>
                  </a:lnTo>
                  <a:lnTo>
                    <a:pt x="4747" y="525"/>
                  </a:lnTo>
                  <a:lnTo>
                    <a:pt x="4888" y="469"/>
                  </a:lnTo>
                  <a:lnTo>
                    <a:pt x="4977" y="444"/>
                  </a:lnTo>
                  <a:lnTo>
                    <a:pt x="5070" y="423"/>
                  </a:lnTo>
                  <a:lnTo>
                    <a:pt x="5218" y="380"/>
                  </a:lnTo>
                  <a:lnTo>
                    <a:pt x="5347" y="334"/>
                  </a:lnTo>
                  <a:lnTo>
                    <a:pt x="5424" y="303"/>
                  </a:lnTo>
                  <a:lnTo>
                    <a:pt x="5502" y="273"/>
                  </a:lnTo>
                  <a:lnTo>
                    <a:pt x="5635" y="236"/>
                  </a:lnTo>
                  <a:lnTo>
                    <a:pt x="5762" y="207"/>
                  </a:lnTo>
                  <a:lnTo>
                    <a:pt x="5841" y="197"/>
                  </a:lnTo>
                  <a:lnTo>
                    <a:pt x="5921" y="188"/>
                  </a:lnTo>
                  <a:lnTo>
                    <a:pt x="6050" y="163"/>
                  </a:lnTo>
                  <a:lnTo>
                    <a:pt x="6271" y="113"/>
                  </a:lnTo>
                  <a:lnTo>
                    <a:pt x="6485" y="36"/>
                  </a:lnTo>
                  <a:lnTo>
                    <a:pt x="6557" y="0"/>
                  </a:lnTo>
                </a:path>
              </a:pathLst>
            </a:custGeom>
            <a:noFill/>
            <a:ln w="44450">
              <a:solidFill>
                <a:srgbClr val="0000C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00" name="Freeform 104">
              <a:extLst>
                <a:ext uri="{FF2B5EF4-FFF2-40B4-BE49-F238E27FC236}">
                  <a16:creationId xmlns:a16="http://schemas.microsoft.com/office/drawing/2014/main" id="{1BCABE96-2FAF-6C42-BD4A-2ABEDCC6F6A8}"/>
                </a:ext>
              </a:extLst>
            </p:cNvPr>
            <p:cNvSpPr>
              <a:spLocks/>
            </p:cNvSpPr>
            <p:nvPr/>
          </p:nvSpPr>
          <p:spPr bwMode="auto">
            <a:xfrm>
              <a:off x="2716" y="948"/>
              <a:ext cx="204" cy="214"/>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4 h 643"/>
                <a:gd name="T14" fmla="*/ 56 w 614"/>
                <a:gd name="T15" fmla="*/ 614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4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4"/>
                  </a:lnTo>
                  <a:lnTo>
                    <a:pt x="56" y="614"/>
                  </a:lnTo>
                  <a:lnTo>
                    <a:pt x="56" y="195"/>
                  </a:lnTo>
                  <a:lnTo>
                    <a:pt x="558"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01" name="Rectangle 105">
              <a:extLst>
                <a:ext uri="{FF2B5EF4-FFF2-40B4-BE49-F238E27FC236}">
                  <a16:creationId xmlns:a16="http://schemas.microsoft.com/office/drawing/2014/main" id="{0F178428-6117-C94A-A39A-E0C5B93C56D2}"/>
                </a:ext>
              </a:extLst>
            </p:cNvPr>
            <p:cNvSpPr>
              <a:spLocks noChangeArrowheads="1"/>
            </p:cNvSpPr>
            <p:nvPr/>
          </p:nvSpPr>
          <p:spPr bwMode="auto">
            <a:xfrm>
              <a:off x="2735" y="1013"/>
              <a:ext cx="169" cy="139"/>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02" name="Rectangle 106">
              <a:extLst>
                <a:ext uri="{FF2B5EF4-FFF2-40B4-BE49-F238E27FC236}">
                  <a16:creationId xmlns:a16="http://schemas.microsoft.com/office/drawing/2014/main" id="{820D039B-716D-814B-9460-A6238BE09794}"/>
                </a:ext>
              </a:extLst>
            </p:cNvPr>
            <p:cNvSpPr>
              <a:spLocks noChangeArrowheads="1"/>
            </p:cNvSpPr>
            <p:nvPr/>
          </p:nvSpPr>
          <p:spPr bwMode="auto">
            <a:xfrm>
              <a:off x="2762" y="1046"/>
              <a:ext cx="59" cy="10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03" name="Rectangle 107">
              <a:extLst>
                <a:ext uri="{FF2B5EF4-FFF2-40B4-BE49-F238E27FC236}">
                  <a16:creationId xmlns:a16="http://schemas.microsoft.com/office/drawing/2014/main" id="{D8B70D65-22A9-5546-9FAE-ECCB12D36C02}"/>
                </a:ext>
              </a:extLst>
            </p:cNvPr>
            <p:cNvSpPr>
              <a:spLocks noChangeArrowheads="1"/>
            </p:cNvSpPr>
            <p:nvPr/>
          </p:nvSpPr>
          <p:spPr bwMode="auto">
            <a:xfrm>
              <a:off x="2847" y="1043"/>
              <a:ext cx="41" cy="51"/>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04" name="Freeform 108">
              <a:extLst>
                <a:ext uri="{FF2B5EF4-FFF2-40B4-BE49-F238E27FC236}">
                  <a16:creationId xmlns:a16="http://schemas.microsoft.com/office/drawing/2014/main" id="{28C6DB9A-9A2C-A940-9CD3-606B8B2F15F3}"/>
                </a:ext>
              </a:extLst>
            </p:cNvPr>
            <p:cNvSpPr>
              <a:spLocks/>
            </p:cNvSpPr>
            <p:nvPr/>
          </p:nvSpPr>
          <p:spPr bwMode="auto">
            <a:xfrm>
              <a:off x="2805" y="1095"/>
              <a:ext cx="8" cy="10"/>
            </a:xfrm>
            <a:custGeom>
              <a:avLst/>
              <a:gdLst>
                <a:gd name="T0" fmla="*/ 23 w 23"/>
                <a:gd name="T1" fmla="*/ 13 h 30"/>
                <a:gd name="T2" fmla="*/ 23 w 23"/>
                <a:gd name="T3" fmla="*/ 11 h 30"/>
                <a:gd name="T4" fmla="*/ 21 w 23"/>
                <a:gd name="T5" fmla="*/ 9 h 30"/>
                <a:gd name="T6" fmla="*/ 21 w 23"/>
                <a:gd name="T7" fmla="*/ 6 h 30"/>
                <a:gd name="T8" fmla="*/ 18 w 23"/>
                <a:gd name="T9" fmla="*/ 4 h 30"/>
                <a:gd name="T10" fmla="*/ 17 w 23"/>
                <a:gd name="T11" fmla="*/ 2 h 30"/>
                <a:gd name="T12" fmla="*/ 16 w 23"/>
                <a:gd name="T13" fmla="*/ 1 h 30"/>
                <a:gd name="T14" fmla="*/ 14 w 23"/>
                <a:gd name="T15" fmla="*/ 0 h 30"/>
                <a:gd name="T16" fmla="*/ 12 w 23"/>
                <a:gd name="T17" fmla="*/ 0 h 30"/>
                <a:gd name="T18" fmla="*/ 10 w 23"/>
                <a:gd name="T19" fmla="*/ 0 h 30"/>
                <a:gd name="T20" fmla="*/ 8 w 23"/>
                <a:gd name="T21" fmla="*/ 0 h 30"/>
                <a:gd name="T22" fmla="*/ 6 w 23"/>
                <a:gd name="T23" fmla="*/ 1 h 30"/>
                <a:gd name="T24" fmla="*/ 4 w 23"/>
                <a:gd name="T25" fmla="*/ 2 h 30"/>
                <a:gd name="T26" fmla="*/ 3 w 23"/>
                <a:gd name="T27" fmla="*/ 4 h 30"/>
                <a:gd name="T28" fmla="*/ 1 w 23"/>
                <a:gd name="T29" fmla="*/ 6 h 30"/>
                <a:gd name="T30" fmla="*/ 1 w 23"/>
                <a:gd name="T31" fmla="*/ 9 h 30"/>
                <a:gd name="T32" fmla="*/ 0 w 23"/>
                <a:gd name="T33" fmla="*/ 11 h 30"/>
                <a:gd name="T34" fmla="*/ 0 w 23"/>
                <a:gd name="T35" fmla="*/ 13 h 30"/>
                <a:gd name="T36" fmla="*/ 0 w 23"/>
                <a:gd name="T37" fmla="*/ 16 h 30"/>
                <a:gd name="T38" fmla="*/ 0 w 23"/>
                <a:gd name="T39" fmla="*/ 19 h 30"/>
                <a:gd name="T40" fmla="*/ 1 w 23"/>
                <a:gd name="T41" fmla="*/ 22 h 30"/>
                <a:gd name="T42" fmla="*/ 1 w 23"/>
                <a:gd name="T43" fmla="*/ 24 h 30"/>
                <a:gd name="T44" fmla="*/ 3 w 23"/>
                <a:gd name="T45" fmla="*/ 25 h 30"/>
                <a:gd name="T46" fmla="*/ 4 w 23"/>
                <a:gd name="T47" fmla="*/ 27 h 30"/>
                <a:gd name="T48" fmla="*/ 6 w 23"/>
                <a:gd name="T49" fmla="*/ 28 h 30"/>
                <a:gd name="T50" fmla="*/ 8 w 23"/>
                <a:gd name="T51" fmla="*/ 30 h 30"/>
                <a:gd name="T52" fmla="*/ 10 w 23"/>
                <a:gd name="T53" fmla="*/ 30 h 30"/>
                <a:gd name="T54" fmla="*/ 12 w 23"/>
                <a:gd name="T55" fmla="*/ 30 h 30"/>
                <a:gd name="T56" fmla="*/ 14 w 23"/>
                <a:gd name="T57" fmla="*/ 30 h 30"/>
                <a:gd name="T58" fmla="*/ 16 w 23"/>
                <a:gd name="T59" fmla="*/ 28 h 30"/>
                <a:gd name="T60" fmla="*/ 17 w 23"/>
                <a:gd name="T61" fmla="*/ 27 h 30"/>
                <a:gd name="T62" fmla="*/ 18 w 23"/>
                <a:gd name="T63" fmla="*/ 25 h 30"/>
                <a:gd name="T64" fmla="*/ 21 w 23"/>
                <a:gd name="T65" fmla="*/ 24 h 30"/>
                <a:gd name="T66" fmla="*/ 21 w 23"/>
                <a:gd name="T67" fmla="*/ 22 h 30"/>
                <a:gd name="T68" fmla="*/ 23 w 23"/>
                <a:gd name="T69" fmla="*/ 19 h 30"/>
                <a:gd name="T70" fmla="*/ 23 w 23"/>
                <a:gd name="T71" fmla="*/ 16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6"/>
                  </a:lnTo>
                  <a:lnTo>
                    <a:pt x="19" y="5"/>
                  </a:lnTo>
                  <a:lnTo>
                    <a:pt x="18" y="4"/>
                  </a:lnTo>
                  <a:lnTo>
                    <a:pt x="18" y="3"/>
                  </a:lnTo>
                  <a:lnTo>
                    <a:pt x="17" y="2"/>
                  </a:lnTo>
                  <a:lnTo>
                    <a:pt x="16" y="1"/>
                  </a:lnTo>
                  <a:lnTo>
                    <a:pt x="15" y="0"/>
                  </a:lnTo>
                  <a:lnTo>
                    <a:pt x="14" y="0"/>
                  </a:lnTo>
                  <a:lnTo>
                    <a:pt x="13" y="0"/>
                  </a:lnTo>
                  <a:lnTo>
                    <a:pt x="12" y="0"/>
                  </a:lnTo>
                  <a:lnTo>
                    <a:pt x="11" y="0"/>
                  </a:lnTo>
                  <a:lnTo>
                    <a:pt x="10" y="0"/>
                  </a:lnTo>
                  <a:lnTo>
                    <a:pt x="8" y="0"/>
                  </a:lnTo>
                  <a:lnTo>
                    <a:pt x="7" y="0"/>
                  </a:lnTo>
                  <a:lnTo>
                    <a:pt x="6" y="1"/>
                  </a:lnTo>
                  <a:lnTo>
                    <a:pt x="5" y="1"/>
                  </a:lnTo>
                  <a:lnTo>
                    <a:pt x="4" y="2"/>
                  </a:lnTo>
                  <a:lnTo>
                    <a:pt x="3" y="3"/>
                  </a:lnTo>
                  <a:lnTo>
                    <a:pt x="3" y="4"/>
                  </a:lnTo>
                  <a:lnTo>
                    <a:pt x="2" y="5"/>
                  </a:lnTo>
                  <a:lnTo>
                    <a:pt x="1" y="6"/>
                  </a:lnTo>
                  <a:lnTo>
                    <a:pt x="1" y="8"/>
                  </a:lnTo>
                  <a:lnTo>
                    <a:pt x="1" y="9"/>
                  </a:lnTo>
                  <a:lnTo>
                    <a:pt x="0" y="10"/>
                  </a:lnTo>
                  <a:lnTo>
                    <a:pt x="0" y="11"/>
                  </a:lnTo>
                  <a:lnTo>
                    <a:pt x="0" y="12"/>
                  </a:lnTo>
                  <a:lnTo>
                    <a:pt x="0" y="13"/>
                  </a:lnTo>
                  <a:lnTo>
                    <a:pt x="0" y="14"/>
                  </a:lnTo>
                  <a:lnTo>
                    <a:pt x="0" y="16"/>
                  </a:lnTo>
                  <a:lnTo>
                    <a:pt x="0" y="17"/>
                  </a:lnTo>
                  <a:lnTo>
                    <a:pt x="0" y="19"/>
                  </a:lnTo>
                  <a:lnTo>
                    <a:pt x="0" y="20"/>
                  </a:lnTo>
                  <a:lnTo>
                    <a:pt x="1" y="22"/>
                  </a:lnTo>
                  <a:lnTo>
                    <a:pt x="1" y="23"/>
                  </a:lnTo>
                  <a:lnTo>
                    <a:pt x="1" y="24"/>
                  </a:lnTo>
                  <a:lnTo>
                    <a:pt x="2" y="24"/>
                  </a:lnTo>
                  <a:lnTo>
                    <a:pt x="3" y="25"/>
                  </a:lnTo>
                  <a:lnTo>
                    <a:pt x="3" y="26"/>
                  </a:lnTo>
                  <a:lnTo>
                    <a:pt x="4" y="27"/>
                  </a:lnTo>
                  <a:lnTo>
                    <a:pt x="5" y="28"/>
                  </a:lnTo>
                  <a:lnTo>
                    <a:pt x="6" y="28"/>
                  </a:lnTo>
                  <a:lnTo>
                    <a:pt x="7" y="30"/>
                  </a:lnTo>
                  <a:lnTo>
                    <a:pt x="8" y="30"/>
                  </a:lnTo>
                  <a:lnTo>
                    <a:pt x="10" y="30"/>
                  </a:lnTo>
                  <a:lnTo>
                    <a:pt x="11" y="30"/>
                  </a:lnTo>
                  <a:lnTo>
                    <a:pt x="12" y="30"/>
                  </a:lnTo>
                  <a:lnTo>
                    <a:pt x="13" y="30"/>
                  </a:lnTo>
                  <a:lnTo>
                    <a:pt x="14" y="30"/>
                  </a:lnTo>
                  <a:lnTo>
                    <a:pt x="15" y="30"/>
                  </a:lnTo>
                  <a:lnTo>
                    <a:pt x="16" y="28"/>
                  </a:lnTo>
                  <a:lnTo>
                    <a:pt x="17" y="27"/>
                  </a:lnTo>
                  <a:lnTo>
                    <a:pt x="18" y="26"/>
                  </a:lnTo>
                  <a:lnTo>
                    <a:pt x="18" y="25"/>
                  </a:lnTo>
                  <a:lnTo>
                    <a:pt x="19" y="24"/>
                  </a:lnTo>
                  <a:lnTo>
                    <a:pt x="21" y="24"/>
                  </a:lnTo>
                  <a:lnTo>
                    <a:pt x="21" y="23"/>
                  </a:lnTo>
                  <a:lnTo>
                    <a:pt x="21" y="22"/>
                  </a:lnTo>
                  <a:lnTo>
                    <a:pt x="22" y="20"/>
                  </a:lnTo>
                  <a:lnTo>
                    <a:pt x="23" y="19"/>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05" name="Line 109">
              <a:extLst>
                <a:ext uri="{FF2B5EF4-FFF2-40B4-BE49-F238E27FC236}">
                  <a16:creationId xmlns:a16="http://schemas.microsoft.com/office/drawing/2014/main" id="{F9DD2A1E-62FC-4045-9731-BB4EF2ADD61F}"/>
                </a:ext>
              </a:extLst>
            </p:cNvPr>
            <p:cNvSpPr>
              <a:spLocks noChangeShapeType="1"/>
            </p:cNvSpPr>
            <p:nvPr/>
          </p:nvSpPr>
          <p:spPr bwMode="auto">
            <a:xfrm>
              <a:off x="2867" y="1044"/>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06" name="Line 110">
              <a:extLst>
                <a:ext uri="{FF2B5EF4-FFF2-40B4-BE49-F238E27FC236}">
                  <a16:creationId xmlns:a16="http://schemas.microsoft.com/office/drawing/2014/main" id="{004A2142-79E8-E145-BF34-A4410CD0447F}"/>
                </a:ext>
              </a:extLst>
            </p:cNvPr>
            <p:cNvSpPr>
              <a:spLocks noChangeShapeType="1"/>
            </p:cNvSpPr>
            <p:nvPr/>
          </p:nvSpPr>
          <p:spPr bwMode="auto">
            <a:xfrm>
              <a:off x="2847" y="1068"/>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07" name="Freeform 111">
              <a:extLst>
                <a:ext uri="{FF2B5EF4-FFF2-40B4-BE49-F238E27FC236}">
                  <a16:creationId xmlns:a16="http://schemas.microsoft.com/office/drawing/2014/main" id="{7B5CA536-CD36-5541-852F-8EA0925B792C}"/>
                </a:ext>
              </a:extLst>
            </p:cNvPr>
            <p:cNvSpPr>
              <a:spLocks/>
            </p:cNvSpPr>
            <p:nvPr/>
          </p:nvSpPr>
          <p:spPr bwMode="auto">
            <a:xfrm>
              <a:off x="3718" y="1314"/>
              <a:ext cx="205" cy="214"/>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08" name="Rectangle 112">
              <a:extLst>
                <a:ext uri="{FF2B5EF4-FFF2-40B4-BE49-F238E27FC236}">
                  <a16:creationId xmlns:a16="http://schemas.microsoft.com/office/drawing/2014/main" id="{FF00300C-0DEA-C74C-A173-566F20E30731}"/>
                </a:ext>
              </a:extLst>
            </p:cNvPr>
            <p:cNvSpPr>
              <a:spLocks noChangeArrowheads="1"/>
            </p:cNvSpPr>
            <p:nvPr/>
          </p:nvSpPr>
          <p:spPr bwMode="auto">
            <a:xfrm>
              <a:off x="3737" y="1379"/>
              <a:ext cx="170" cy="139"/>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09" name="Rectangle 113">
              <a:extLst>
                <a:ext uri="{FF2B5EF4-FFF2-40B4-BE49-F238E27FC236}">
                  <a16:creationId xmlns:a16="http://schemas.microsoft.com/office/drawing/2014/main" id="{45ED18C9-8F97-2F45-B958-30E36B558193}"/>
                </a:ext>
              </a:extLst>
            </p:cNvPr>
            <p:cNvSpPr>
              <a:spLocks noChangeArrowheads="1"/>
            </p:cNvSpPr>
            <p:nvPr/>
          </p:nvSpPr>
          <p:spPr bwMode="auto">
            <a:xfrm>
              <a:off x="3764" y="1412"/>
              <a:ext cx="60" cy="106"/>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10" name="Rectangle 114">
              <a:extLst>
                <a:ext uri="{FF2B5EF4-FFF2-40B4-BE49-F238E27FC236}">
                  <a16:creationId xmlns:a16="http://schemas.microsoft.com/office/drawing/2014/main" id="{4414FEE5-5E7F-394D-876F-0C59473BCCBE}"/>
                </a:ext>
              </a:extLst>
            </p:cNvPr>
            <p:cNvSpPr>
              <a:spLocks noChangeArrowheads="1"/>
            </p:cNvSpPr>
            <p:nvPr/>
          </p:nvSpPr>
          <p:spPr bwMode="auto">
            <a:xfrm>
              <a:off x="3850" y="1410"/>
              <a:ext cx="40" cy="50"/>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11" name="Freeform 115">
              <a:extLst>
                <a:ext uri="{FF2B5EF4-FFF2-40B4-BE49-F238E27FC236}">
                  <a16:creationId xmlns:a16="http://schemas.microsoft.com/office/drawing/2014/main" id="{C5C56D80-ACA5-A642-9E12-BA3F1A97A586}"/>
                </a:ext>
              </a:extLst>
            </p:cNvPr>
            <p:cNvSpPr>
              <a:spLocks/>
            </p:cNvSpPr>
            <p:nvPr/>
          </p:nvSpPr>
          <p:spPr bwMode="auto">
            <a:xfrm>
              <a:off x="3808" y="1461"/>
              <a:ext cx="8" cy="10"/>
            </a:xfrm>
            <a:custGeom>
              <a:avLst/>
              <a:gdLst>
                <a:gd name="T0" fmla="*/ 23 w 23"/>
                <a:gd name="T1" fmla="*/ 14 h 30"/>
                <a:gd name="T2" fmla="*/ 23 w 23"/>
                <a:gd name="T3" fmla="*/ 11 h 30"/>
                <a:gd name="T4" fmla="*/ 21 w 23"/>
                <a:gd name="T5" fmla="*/ 9 h 30"/>
                <a:gd name="T6" fmla="*/ 21 w 23"/>
                <a:gd name="T7" fmla="*/ 7 h 30"/>
                <a:gd name="T8" fmla="*/ 18 w 23"/>
                <a:gd name="T9" fmla="*/ 5 h 30"/>
                <a:gd name="T10" fmla="*/ 17 w 23"/>
                <a:gd name="T11" fmla="*/ 3 h 30"/>
                <a:gd name="T12" fmla="*/ 16 w 23"/>
                <a:gd name="T13" fmla="*/ 2 h 30"/>
                <a:gd name="T14" fmla="*/ 14 w 23"/>
                <a:gd name="T15" fmla="*/ 0 h 30"/>
                <a:gd name="T16" fmla="*/ 12 w 23"/>
                <a:gd name="T17" fmla="*/ 0 h 30"/>
                <a:gd name="T18" fmla="*/ 10 w 23"/>
                <a:gd name="T19" fmla="*/ 0 h 30"/>
                <a:gd name="T20" fmla="*/ 9 w 23"/>
                <a:gd name="T21" fmla="*/ 0 h 30"/>
                <a:gd name="T22" fmla="*/ 6 w 23"/>
                <a:gd name="T23" fmla="*/ 2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3 w 23"/>
                <a:gd name="T45" fmla="*/ 26 h 30"/>
                <a:gd name="T46" fmla="*/ 4 w 23"/>
                <a:gd name="T47" fmla="*/ 28 h 30"/>
                <a:gd name="T48" fmla="*/ 6 w 23"/>
                <a:gd name="T49" fmla="*/ 29 h 30"/>
                <a:gd name="T50" fmla="*/ 9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1 w 23"/>
                <a:gd name="T65" fmla="*/ 25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3"/>
                  </a:lnTo>
                  <a:lnTo>
                    <a:pt x="23" y="11"/>
                  </a:lnTo>
                  <a:lnTo>
                    <a:pt x="22" y="10"/>
                  </a:lnTo>
                  <a:lnTo>
                    <a:pt x="21" y="9"/>
                  </a:lnTo>
                  <a:lnTo>
                    <a:pt x="21" y="8"/>
                  </a:lnTo>
                  <a:lnTo>
                    <a:pt x="21" y="7"/>
                  </a:lnTo>
                  <a:lnTo>
                    <a:pt x="20" y="6"/>
                  </a:lnTo>
                  <a:lnTo>
                    <a:pt x="18" y="5"/>
                  </a:lnTo>
                  <a:lnTo>
                    <a:pt x="18" y="4"/>
                  </a:lnTo>
                  <a:lnTo>
                    <a:pt x="17" y="3"/>
                  </a:lnTo>
                  <a:lnTo>
                    <a:pt x="16" y="2"/>
                  </a:lnTo>
                  <a:lnTo>
                    <a:pt x="15" y="0"/>
                  </a:lnTo>
                  <a:lnTo>
                    <a:pt x="14" y="0"/>
                  </a:lnTo>
                  <a:lnTo>
                    <a:pt x="13" y="0"/>
                  </a:lnTo>
                  <a:lnTo>
                    <a:pt x="12" y="0"/>
                  </a:lnTo>
                  <a:lnTo>
                    <a:pt x="11" y="0"/>
                  </a:lnTo>
                  <a:lnTo>
                    <a:pt x="10" y="0"/>
                  </a:lnTo>
                  <a:lnTo>
                    <a:pt x="9" y="0"/>
                  </a:lnTo>
                  <a:lnTo>
                    <a:pt x="8" y="0"/>
                  </a:lnTo>
                  <a:lnTo>
                    <a:pt x="6" y="2"/>
                  </a:lnTo>
                  <a:lnTo>
                    <a:pt x="5" y="2"/>
                  </a:lnTo>
                  <a:lnTo>
                    <a:pt x="4" y="3"/>
                  </a:lnTo>
                  <a:lnTo>
                    <a:pt x="3" y="4"/>
                  </a:lnTo>
                  <a:lnTo>
                    <a:pt x="3" y="5"/>
                  </a:lnTo>
                  <a:lnTo>
                    <a:pt x="2" y="6"/>
                  </a:lnTo>
                  <a:lnTo>
                    <a:pt x="1" y="7"/>
                  </a:lnTo>
                  <a:lnTo>
                    <a:pt x="1" y="8"/>
                  </a:lnTo>
                  <a:lnTo>
                    <a:pt x="1" y="9"/>
                  </a:lnTo>
                  <a:lnTo>
                    <a:pt x="0" y="10"/>
                  </a:lnTo>
                  <a:lnTo>
                    <a:pt x="0" y="11"/>
                  </a:lnTo>
                  <a:lnTo>
                    <a:pt x="0" y="13"/>
                  </a:lnTo>
                  <a:lnTo>
                    <a:pt x="0" y="14"/>
                  </a:lnTo>
                  <a:lnTo>
                    <a:pt x="0" y="15"/>
                  </a:lnTo>
                  <a:lnTo>
                    <a:pt x="0" y="17"/>
                  </a:lnTo>
                  <a:lnTo>
                    <a:pt x="0" y="18"/>
                  </a:lnTo>
                  <a:lnTo>
                    <a:pt x="0" y="19"/>
                  </a:lnTo>
                  <a:lnTo>
                    <a:pt x="0" y="20"/>
                  </a:lnTo>
                  <a:lnTo>
                    <a:pt x="1" y="22"/>
                  </a:lnTo>
                  <a:lnTo>
                    <a:pt x="1" y="24"/>
                  </a:lnTo>
                  <a:lnTo>
                    <a:pt x="1" y="25"/>
                  </a:lnTo>
                  <a:lnTo>
                    <a:pt x="2" y="25"/>
                  </a:lnTo>
                  <a:lnTo>
                    <a:pt x="3" y="26"/>
                  </a:lnTo>
                  <a:lnTo>
                    <a:pt x="3" y="27"/>
                  </a:lnTo>
                  <a:lnTo>
                    <a:pt x="4" y="28"/>
                  </a:lnTo>
                  <a:lnTo>
                    <a:pt x="5" y="29"/>
                  </a:lnTo>
                  <a:lnTo>
                    <a:pt x="6" y="29"/>
                  </a:lnTo>
                  <a:lnTo>
                    <a:pt x="8" y="30"/>
                  </a:lnTo>
                  <a:lnTo>
                    <a:pt x="9" y="30"/>
                  </a:lnTo>
                  <a:lnTo>
                    <a:pt x="10" y="30"/>
                  </a:lnTo>
                  <a:lnTo>
                    <a:pt x="11" y="30"/>
                  </a:lnTo>
                  <a:lnTo>
                    <a:pt x="12" y="30"/>
                  </a:lnTo>
                  <a:lnTo>
                    <a:pt x="13" y="30"/>
                  </a:lnTo>
                  <a:lnTo>
                    <a:pt x="14" y="30"/>
                  </a:lnTo>
                  <a:lnTo>
                    <a:pt x="15" y="30"/>
                  </a:lnTo>
                  <a:lnTo>
                    <a:pt x="16" y="29"/>
                  </a:lnTo>
                  <a:lnTo>
                    <a:pt x="17" y="28"/>
                  </a:lnTo>
                  <a:lnTo>
                    <a:pt x="18" y="27"/>
                  </a:lnTo>
                  <a:lnTo>
                    <a:pt x="18" y="26"/>
                  </a:lnTo>
                  <a:lnTo>
                    <a:pt x="20" y="25"/>
                  </a:lnTo>
                  <a:lnTo>
                    <a:pt x="21" y="25"/>
                  </a:lnTo>
                  <a:lnTo>
                    <a:pt x="21" y="24"/>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12" name="Line 116">
              <a:extLst>
                <a:ext uri="{FF2B5EF4-FFF2-40B4-BE49-F238E27FC236}">
                  <a16:creationId xmlns:a16="http://schemas.microsoft.com/office/drawing/2014/main" id="{FEC5261E-D122-F249-846A-9CBEC5906224}"/>
                </a:ext>
              </a:extLst>
            </p:cNvPr>
            <p:cNvSpPr>
              <a:spLocks noChangeShapeType="1"/>
            </p:cNvSpPr>
            <p:nvPr/>
          </p:nvSpPr>
          <p:spPr bwMode="auto">
            <a:xfrm>
              <a:off x="3869" y="1410"/>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13" name="Line 117">
              <a:extLst>
                <a:ext uri="{FF2B5EF4-FFF2-40B4-BE49-F238E27FC236}">
                  <a16:creationId xmlns:a16="http://schemas.microsoft.com/office/drawing/2014/main" id="{BB09DC19-8E0A-1440-8977-D79FE2837CFB}"/>
                </a:ext>
              </a:extLst>
            </p:cNvPr>
            <p:cNvSpPr>
              <a:spLocks noChangeShapeType="1"/>
            </p:cNvSpPr>
            <p:nvPr/>
          </p:nvSpPr>
          <p:spPr bwMode="auto">
            <a:xfrm>
              <a:off x="3850" y="1434"/>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14" name="Freeform 118">
              <a:extLst>
                <a:ext uri="{FF2B5EF4-FFF2-40B4-BE49-F238E27FC236}">
                  <a16:creationId xmlns:a16="http://schemas.microsoft.com/office/drawing/2014/main" id="{DF3F6D0F-C6C0-0C4F-8701-553BCC59F30E}"/>
                </a:ext>
              </a:extLst>
            </p:cNvPr>
            <p:cNvSpPr>
              <a:spLocks/>
            </p:cNvSpPr>
            <p:nvPr/>
          </p:nvSpPr>
          <p:spPr bwMode="auto">
            <a:xfrm>
              <a:off x="3368" y="1314"/>
              <a:ext cx="205" cy="214"/>
            </a:xfrm>
            <a:custGeom>
              <a:avLst/>
              <a:gdLst>
                <a:gd name="T0" fmla="*/ 56 w 615"/>
                <a:gd name="T1" fmla="*/ 196 h 643"/>
                <a:gd name="T2" fmla="*/ 0 w 615"/>
                <a:gd name="T3" fmla="*/ 196 h 643"/>
                <a:gd name="T4" fmla="*/ 307 w 615"/>
                <a:gd name="T5" fmla="*/ 0 h 643"/>
                <a:gd name="T6" fmla="*/ 615 w 615"/>
                <a:gd name="T7" fmla="*/ 196 h 643"/>
                <a:gd name="T8" fmla="*/ 587 w 615"/>
                <a:gd name="T9" fmla="*/ 196 h 643"/>
                <a:gd name="T10" fmla="*/ 559 w 615"/>
                <a:gd name="T11" fmla="*/ 196 h 643"/>
                <a:gd name="T12" fmla="*/ 559 w 615"/>
                <a:gd name="T13" fmla="*/ 615 h 643"/>
                <a:gd name="T14" fmla="*/ 56 w 615"/>
                <a:gd name="T15" fmla="*/ 615 h 643"/>
                <a:gd name="T16" fmla="*/ 56 w 615"/>
                <a:gd name="T17" fmla="*/ 196 h 643"/>
                <a:gd name="T18" fmla="*/ 559 w 615"/>
                <a:gd name="T19" fmla="*/ 196 h 643"/>
                <a:gd name="T20" fmla="*/ 587 w 615"/>
                <a:gd name="T21" fmla="*/ 196 h 643"/>
                <a:gd name="T22" fmla="*/ 587 w 615"/>
                <a:gd name="T23" fmla="*/ 643 h 643"/>
                <a:gd name="T24" fmla="*/ 56 w 615"/>
                <a:gd name="T25" fmla="*/ 643 h 643"/>
                <a:gd name="T26" fmla="*/ 56 w 615"/>
                <a:gd name="T27" fmla="*/ 615 h 643"/>
                <a:gd name="T28" fmla="*/ 56 w 615"/>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6"/>
                  </a:moveTo>
                  <a:lnTo>
                    <a:pt x="0" y="196"/>
                  </a:lnTo>
                  <a:lnTo>
                    <a:pt x="307" y="0"/>
                  </a:lnTo>
                  <a:lnTo>
                    <a:pt x="615" y="196"/>
                  </a:lnTo>
                  <a:lnTo>
                    <a:pt x="587" y="196"/>
                  </a:lnTo>
                  <a:lnTo>
                    <a:pt x="559" y="196"/>
                  </a:lnTo>
                  <a:lnTo>
                    <a:pt x="559" y="615"/>
                  </a:lnTo>
                  <a:lnTo>
                    <a:pt x="56" y="615"/>
                  </a:lnTo>
                  <a:lnTo>
                    <a:pt x="56" y="196"/>
                  </a:lnTo>
                  <a:lnTo>
                    <a:pt x="559"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15" name="Rectangle 119">
              <a:extLst>
                <a:ext uri="{FF2B5EF4-FFF2-40B4-BE49-F238E27FC236}">
                  <a16:creationId xmlns:a16="http://schemas.microsoft.com/office/drawing/2014/main" id="{6358E219-5A9F-9C47-A4E7-99253E5FE75C}"/>
                </a:ext>
              </a:extLst>
            </p:cNvPr>
            <p:cNvSpPr>
              <a:spLocks noChangeArrowheads="1"/>
            </p:cNvSpPr>
            <p:nvPr/>
          </p:nvSpPr>
          <p:spPr bwMode="auto">
            <a:xfrm>
              <a:off x="3387" y="1379"/>
              <a:ext cx="170" cy="139"/>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16" name="Rectangle 120">
              <a:extLst>
                <a:ext uri="{FF2B5EF4-FFF2-40B4-BE49-F238E27FC236}">
                  <a16:creationId xmlns:a16="http://schemas.microsoft.com/office/drawing/2014/main" id="{C55D8F8E-A786-5E48-B488-3E4B996E3A7D}"/>
                </a:ext>
              </a:extLst>
            </p:cNvPr>
            <p:cNvSpPr>
              <a:spLocks noChangeArrowheads="1"/>
            </p:cNvSpPr>
            <p:nvPr/>
          </p:nvSpPr>
          <p:spPr bwMode="auto">
            <a:xfrm>
              <a:off x="3414" y="1412"/>
              <a:ext cx="60" cy="106"/>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17" name="Rectangle 121">
              <a:extLst>
                <a:ext uri="{FF2B5EF4-FFF2-40B4-BE49-F238E27FC236}">
                  <a16:creationId xmlns:a16="http://schemas.microsoft.com/office/drawing/2014/main" id="{1A6BF696-08AE-074D-8F7D-F6F97C48AAFE}"/>
                </a:ext>
              </a:extLst>
            </p:cNvPr>
            <p:cNvSpPr>
              <a:spLocks noChangeArrowheads="1"/>
            </p:cNvSpPr>
            <p:nvPr/>
          </p:nvSpPr>
          <p:spPr bwMode="auto">
            <a:xfrm>
              <a:off x="3500" y="1410"/>
              <a:ext cx="40" cy="50"/>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18" name="Freeform 122">
              <a:extLst>
                <a:ext uri="{FF2B5EF4-FFF2-40B4-BE49-F238E27FC236}">
                  <a16:creationId xmlns:a16="http://schemas.microsoft.com/office/drawing/2014/main" id="{3DB2DA0B-E266-994B-9D0F-8B7D8569F7BB}"/>
                </a:ext>
              </a:extLst>
            </p:cNvPr>
            <p:cNvSpPr>
              <a:spLocks/>
            </p:cNvSpPr>
            <p:nvPr/>
          </p:nvSpPr>
          <p:spPr bwMode="auto">
            <a:xfrm>
              <a:off x="3458" y="1461"/>
              <a:ext cx="8" cy="10"/>
            </a:xfrm>
            <a:custGeom>
              <a:avLst/>
              <a:gdLst>
                <a:gd name="T0" fmla="*/ 23 w 23"/>
                <a:gd name="T1" fmla="*/ 14 h 30"/>
                <a:gd name="T2" fmla="*/ 23 w 23"/>
                <a:gd name="T3" fmla="*/ 11 h 30"/>
                <a:gd name="T4" fmla="*/ 21 w 23"/>
                <a:gd name="T5" fmla="*/ 9 h 30"/>
                <a:gd name="T6" fmla="*/ 21 w 23"/>
                <a:gd name="T7" fmla="*/ 7 h 30"/>
                <a:gd name="T8" fmla="*/ 19 w 23"/>
                <a:gd name="T9" fmla="*/ 5 h 30"/>
                <a:gd name="T10" fmla="*/ 17 w 23"/>
                <a:gd name="T11" fmla="*/ 3 h 30"/>
                <a:gd name="T12" fmla="*/ 16 w 23"/>
                <a:gd name="T13" fmla="*/ 2 h 30"/>
                <a:gd name="T14" fmla="*/ 14 w 23"/>
                <a:gd name="T15" fmla="*/ 0 h 30"/>
                <a:gd name="T16" fmla="*/ 12 w 23"/>
                <a:gd name="T17" fmla="*/ 0 h 30"/>
                <a:gd name="T18" fmla="*/ 10 w 23"/>
                <a:gd name="T19" fmla="*/ 0 h 30"/>
                <a:gd name="T20" fmla="*/ 9 w 23"/>
                <a:gd name="T21" fmla="*/ 0 h 30"/>
                <a:gd name="T22" fmla="*/ 7 w 23"/>
                <a:gd name="T23" fmla="*/ 2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3 w 23"/>
                <a:gd name="T45" fmla="*/ 26 h 30"/>
                <a:gd name="T46" fmla="*/ 4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9 w 23"/>
                <a:gd name="T63" fmla="*/ 26 h 30"/>
                <a:gd name="T64" fmla="*/ 21 w 23"/>
                <a:gd name="T65" fmla="*/ 25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3"/>
                  </a:lnTo>
                  <a:lnTo>
                    <a:pt x="23" y="11"/>
                  </a:lnTo>
                  <a:lnTo>
                    <a:pt x="22" y="10"/>
                  </a:lnTo>
                  <a:lnTo>
                    <a:pt x="21" y="9"/>
                  </a:lnTo>
                  <a:lnTo>
                    <a:pt x="21" y="8"/>
                  </a:lnTo>
                  <a:lnTo>
                    <a:pt x="21" y="7"/>
                  </a:lnTo>
                  <a:lnTo>
                    <a:pt x="20" y="6"/>
                  </a:lnTo>
                  <a:lnTo>
                    <a:pt x="19" y="5"/>
                  </a:lnTo>
                  <a:lnTo>
                    <a:pt x="19" y="4"/>
                  </a:lnTo>
                  <a:lnTo>
                    <a:pt x="17" y="3"/>
                  </a:lnTo>
                  <a:lnTo>
                    <a:pt x="16" y="2"/>
                  </a:lnTo>
                  <a:lnTo>
                    <a:pt x="15" y="0"/>
                  </a:lnTo>
                  <a:lnTo>
                    <a:pt x="14" y="0"/>
                  </a:lnTo>
                  <a:lnTo>
                    <a:pt x="13" y="0"/>
                  </a:lnTo>
                  <a:lnTo>
                    <a:pt x="12" y="0"/>
                  </a:lnTo>
                  <a:lnTo>
                    <a:pt x="11" y="0"/>
                  </a:lnTo>
                  <a:lnTo>
                    <a:pt x="10" y="0"/>
                  </a:lnTo>
                  <a:lnTo>
                    <a:pt x="9" y="0"/>
                  </a:lnTo>
                  <a:lnTo>
                    <a:pt x="8" y="0"/>
                  </a:lnTo>
                  <a:lnTo>
                    <a:pt x="7" y="2"/>
                  </a:lnTo>
                  <a:lnTo>
                    <a:pt x="5" y="2"/>
                  </a:lnTo>
                  <a:lnTo>
                    <a:pt x="4" y="3"/>
                  </a:lnTo>
                  <a:lnTo>
                    <a:pt x="3" y="4"/>
                  </a:lnTo>
                  <a:lnTo>
                    <a:pt x="3" y="5"/>
                  </a:lnTo>
                  <a:lnTo>
                    <a:pt x="2" y="6"/>
                  </a:lnTo>
                  <a:lnTo>
                    <a:pt x="1" y="7"/>
                  </a:lnTo>
                  <a:lnTo>
                    <a:pt x="1" y="8"/>
                  </a:lnTo>
                  <a:lnTo>
                    <a:pt x="1" y="9"/>
                  </a:lnTo>
                  <a:lnTo>
                    <a:pt x="0" y="10"/>
                  </a:lnTo>
                  <a:lnTo>
                    <a:pt x="0" y="11"/>
                  </a:lnTo>
                  <a:lnTo>
                    <a:pt x="0" y="13"/>
                  </a:lnTo>
                  <a:lnTo>
                    <a:pt x="0" y="14"/>
                  </a:lnTo>
                  <a:lnTo>
                    <a:pt x="0" y="15"/>
                  </a:lnTo>
                  <a:lnTo>
                    <a:pt x="0" y="17"/>
                  </a:lnTo>
                  <a:lnTo>
                    <a:pt x="0" y="18"/>
                  </a:lnTo>
                  <a:lnTo>
                    <a:pt x="0" y="19"/>
                  </a:lnTo>
                  <a:lnTo>
                    <a:pt x="0" y="20"/>
                  </a:lnTo>
                  <a:lnTo>
                    <a:pt x="1" y="22"/>
                  </a:lnTo>
                  <a:lnTo>
                    <a:pt x="1" y="24"/>
                  </a:lnTo>
                  <a:lnTo>
                    <a:pt x="1" y="25"/>
                  </a:lnTo>
                  <a:lnTo>
                    <a:pt x="2" y="25"/>
                  </a:lnTo>
                  <a:lnTo>
                    <a:pt x="3" y="26"/>
                  </a:lnTo>
                  <a:lnTo>
                    <a:pt x="3" y="27"/>
                  </a:lnTo>
                  <a:lnTo>
                    <a:pt x="4" y="28"/>
                  </a:lnTo>
                  <a:lnTo>
                    <a:pt x="5" y="29"/>
                  </a:lnTo>
                  <a:lnTo>
                    <a:pt x="7" y="29"/>
                  </a:lnTo>
                  <a:lnTo>
                    <a:pt x="8" y="30"/>
                  </a:lnTo>
                  <a:lnTo>
                    <a:pt x="9" y="30"/>
                  </a:lnTo>
                  <a:lnTo>
                    <a:pt x="10" y="30"/>
                  </a:lnTo>
                  <a:lnTo>
                    <a:pt x="11" y="30"/>
                  </a:lnTo>
                  <a:lnTo>
                    <a:pt x="12" y="30"/>
                  </a:lnTo>
                  <a:lnTo>
                    <a:pt x="13" y="30"/>
                  </a:lnTo>
                  <a:lnTo>
                    <a:pt x="14" y="30"/>
                  </a:lnTo>
                  <a:lnTo>
                    <a:pt x="15" y="30"/>
                  </a:lnTo>
                  <a:lnTo>
                    <a:pt x="16" y="29"/>
                  </a:lnTo>
                  <a:lnTo>
                    <a:pt x="17" y="28"/>
                  </a:lnTo>
                  <a:lnTo>
                    <a:pt x="19" y="27"/>
                  </a:lnTo>
                  <a:lnTo>
                    <a:pt x="19" y="26"/>
                  </a:lnTo>
                  <a:lnTo>
                    <a:pt x="20" y="25"/>
                  </a:lnTo>
                  <a:lnTo>
                    <a:pt x="21" y="25"/>
                  </a:lnTo>
                  <a:lnTo>
                    <a:pt x="21" y="24"/>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19" name="Line 123">
              <a:extLst>
                <a:ext uri="{FF2B5EF4-FFF2-40B4-BE49-F238E27FC236}">
                  <a16:creationId xmlns:a16="http://schemas.microsoft.com/office/drawing/2014/main" id="{402299CA-67F7-B448-8B1B-1F190EB48091}"/>
                </a:ext>
              </a:extLst>
            </p:cNvPr>
            <p:cNvSpPr>
              <a:spLocks noChangeShapeType="1"/>
            </p:cNvSpPr>
            <p:nvPr/>
          </p:nvSpPr>
          <p:spPr bwMode="auto">
            <a:xfrm>
              <a:off x="3519" y="1410"/>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20" name="Line 124">
              <a:extLst>
                <a:ext uri="{FF2B5EF4-FFF2-40B4-BE49-F238E27FC236}">
                  <a16:creationId xmlns:a16="http://schemas.microsoft.com/office/drawing/2014/main" id="{01B45A81-DFCF-FE43-AFCE-EFB1EB20F4E7}"/>
                </a:ext>
              </a:extLst>
            </p:cNvPr>
            <p:cNvSpPr>
              <a:spLocks noChangeShapeType="1"/>
            </p:cNvSpPr>
            <p:nvPr/>
          </p:nvSpPr>
          <p:spPr bwMode="auto">
            <a:xfrm>
              <a:off x="3500" y="1434"/>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21" name="Freeform 125">
              <a:extLst>
                <a:ext uri="{FF2B5EF4-FFF2-40B4-BE49-F238E27FC236}">
                  <a16:creationId xmlns:a16="http://schemas.microsoft.com/office/drawing/2014/main" id="{AF8A464B-D181-1C41-83CE-152FDFCF0C0F}"/>
                </a:ext>
              </a:extLst>
            </p:cNvPr>
            <p:cNvSpPr>
              <a:spLocks/>
            </p:cNvSpPr>
            <p:nvPr/>
          </p:nvSpPr>
          <p:spPr bwMode="auto">
            <a:xfrm>
              <a:off x="2795" y="1282"/>
              <a:ext cx="205" cy="214"/>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4 h 643"/>
                <a:gd name="T14" fmla="*/ 56 w 614"/>
                <a:gd name="T15" fmla="*/ 614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4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4"/>
                  </a:lnTo>
                  <a:lnTo>
                    <a:pt x="56" y="614"/>
                  </a:lnTo>
                  <a:lnTo>
                    <a:pt x="56" y="195"/>
                  </a:lnTo>
                  <a:lnTo>
                    <a:pt x="558"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22" name="Rectangle 126">
              <a:extLst>
                <a:ext uri="{FF2B5EF4-FFF2-40B4-BE49-F238E27FC236}">
                  <a16:creationId xmlns:a16="http://schemas.microsoft.com/office/drawing/2014/main" id="{73A51223-7C14-CA40-A81E-18E51DCC8703}"/>
                </a:ext>
              </a:extLst>
            </p:cNvPr>
            <p:cNvSpPr>
              <a:spLocks noChangeArrowheads="1"/>
            </p:cNvSpPr>
            <p:nvPr/>
          </p:nvSpPr>
          <p:spPr bwMode="auto">
            <a:xfrm>
              <a:off x="2814" y="1347"/>
              <a:ext cx="169" cy="139"/>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23" name="Rectangle 127">
              <a:extLst>
                <a:ext uri="{FF2B5EF4-FFF2-40B4-BE49-F238E27FC236}">
                  <a16:creationId xmlns:a16="http://schemas.microsoft.com/office/drawing/2014/main" id="{FF37E1D0-B515-B642-99EA-94B5AF192ED7}"/>
                </a:ext>
              </a:extLst>
            </p:cNvPr>
            <p:cNvSpPr>
              <a:spLocks noChangeArrowheads="1"/>
            </p:cNvSpPr>
            <p:nvPr/>
          </p:nvSpPr>
          <p:spPr bwMode="auto">
            <a:xfrm>
              <a:off x="2841" y="1380"/>
              <a:ext cx="59" cy="106"/>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24" name="Rectangle 128">
              <a:extLst>
                <a:ext uri="{FF2B5EF4-FFF2-40B4-BE49-F238E27FC236}">
                  <a16:creationId xmlns:a16="http://schemas.microsoft.com/office/drawing/2014/main" id="{56E6A668-ECCE-4A4A-96A3-EDF3FA02EEEF}"/>
                </a:ext>
              </a:extLst>
            </p:cNvPr>
            <p:cNvSpPr>
              <a:spLocks noChangeArrowheads="1"/>
            </p:cNvSpPr>
            <p:nvPr/>
          </p:nvSpPr>
          <p:spPr bwMode="auto">
            <a:xfrm>
              <a:off x="2926" y="1378"/>
              <a:ext cx="41" cy="50"/>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25" name="Freeform 129">
              <a:extLst>
                <a:ext uri="{FF2B5EF4-FFF2-40B4-BE49-F238E27FC236}">
                  <a16:creationId xmlns:a16="http://schemas.microsoft.com/office/drawing/2014/main" id="{66731413-5BD8-7C46-8F6E-5046036BACA8}"/>
                </a:ext>
              </a:extLst>
            </p:cNvPr>
            <p:cNvSpPr>
              <a:spLocks/>
            </p:cNvSpPr>
            <p:nvPr/>
          </p:nvSpPr>
          <p:spPr bwMode="auto">
            <a:xfrm>
              <a:off x="2885" y="1429"/>
              <a:ext cx="7" cy="10"/>
            </a:xfrm>
            <a:custGeom>
              <a:avLst/>
              <a:gdLst>
                <a:gd name="T0" fmla="*/ 23 w 23"/>
                <a:gd name="T1" fmla="*/ 13 h 30"/>
                <a:gd name="T2" fmla="*/ 23 w 23"/>
                <a:gd name="T3" fmla="*/ 11 h 30"/>
                <a:gd name="T4" fmla="*/ 21 w 23"/>
                <a:gd name="T5" fmla="*/ 9 h 30"/>
                <a:gd name="T6" fmla="*/ 21 w 23"/>
                <a:gd name="T7" fmla="*/ 7 h 30"/>
                <a:gd name="T8" fmla="*/ 18 w 23"/>
                <a:gd name="T9" fmla="*/ 4 h 30"/>
                <a:gd name="T10" fmla="*/ 17 w 23"/>
                <a:gd name="T11" fmla="*/ 2 h 30"/>
                <a:gd name="T12" fmla="*/ 16 w 23"/>
                <a:gd name="T13" fmla="*/ 1 h 30"/>
                <a:gd name="T14" fmla="*/ 14 w 23"/>
                <a:gd name="T15" fmla="*/ 0 h 30"/>
                <a:gd name="T16" fmla="*/ 12 w 23"/>
                <a:gd name="T17" fmla="*/ 0 h 30"/>
                <a:gd name="T18" fmla="*/ 10 w 23"/>
                <a:gd name="T19" fmla="*/ 0 h 30"/>
                <a:gd name="T20" fmla="*/ 9 w 23"/>
                <a:gd name="T21" fmla="*/ 0 h 30"/>
                <a:gd name="T22" fmla="*/ 6 w 23"/>
                <a:gd name="T23" fmla="*/ 1 h 30"/>
                <a:gd name="T24" fmla="*/ 4 w 23"/>
                <a:gd name="T25" fmla="*/ 2 h 30"/>
                <a:gd name="T26" fmla="*/ 3 w 23"/>
                <a:gd name="T27" fmla="*/ 4 h 30"/>
                <a:gd name="T28" fmla="*/ 1 w 23"/>
                <a:gd name="T29" fmla="*/ 7 h 30"/>
                <a:gd name="T30" fmla="*/ 1 w 23"/>
                <a:gd name="T31" fmla="*/ 9 h 30"/>
                <a:gd name="T32" fmla="*/ 0 w 23"/>
                <a:gd name="T33" fmla="*/ 11 h 30"/>
                <a:gd name="T34" fmla="*/ 0 w 23"/>
                <a:gd name="T35" fmla="*/ 13 h 30"/>
                <a:gd name="T36" fmla="*/ 0 w 23"/>
                <a:gd name="T37" fmla="*/ 16 h 30"/>
                <a:gd name="T38" fmla="*/ 0 w 23"/>
                <a:gd name="T39" fmla="*/ 19 h 30"/>
                <a:gd name="T40" fmla="*/ 1 w 23"/>
                <a:gd name="T41" fmla="*/ 22 h 30"/>
                <a:gd name="T42" fmla="*/ 1 w 23"/>
                <a:gd name="T43" fmla="*/ 24 h 30"/>
                <a:gd name="T44" fmla="*/ 3 w 23"/>
                <a:gd name="T45" fmla="*/ 25 h 30"/>
                <a:gd name="T46" fmla="*/ 4 w 23"/>
                <a:gd name="T47" fmla="*/ 27 h 30"/>
                <a:gd name="T48" fmla="*/ 6 w 23"/>
                <a:gd name="T49" fmla="*/ 29 h 30"/>
                <a:gd name="T50" fmla="*/ 9 w 23"/>
                <a:gd name="T51" fmla="*/ 30 h 30"/>
                <a:gd name="T52" fmla="*/ 10 w 23"/>
                <a:gd name="T53" fmla="*/ 30 h 30"/>
                <a:gd name="T54" fmla="*/ 12 w 23"/>
                <a:gd name="T55" fmla="*/ 30 h 30"/>
                <a:gd name="T56" fmla="*/ 14 w 23"/>
                <a:gd name="T57" fmla="*/ 30 h 30"/>
                <a:gd name="T58" fmla="*/ 16 w 23"/>
                <a:gd name="T59" fmla="*/ 29 h 30"/>
                <a:gd name="T60" fmla="*/ 17 w 23"/>
                <a:gd name="T61" fmla="*/ 27 h 30"/>
                <a:gd name="T62" fmla="*/ 18 w 23"/>
                <a:gd name="T63" fmla="*/ 25 h 30"/>
                <a:gd name="T64" fmla="*/ 21 w 23"/>
                <a:gd name="T65" fmla="*/ 24 h 30"/>
                <a:gd name="T66" fmla="*/ 21 w 23"/>
                <a:gd name="T67" fmla="*/ 22 h 30"/>
                <a:gd name="T68" fmla="*/ 23 w 23"/>
                <a:gd name="T69" fmla="*/ 19 h 30"/>
                <a:gd name="T70" fmla="*/ 23 w 23"/>
                <a:gd name="T71" fmla="*/ 16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19" y="5"/>
                  </a:lnTo>
                  <a:lnTo>
                    <a:pt x="18" y="4"/>
                  </a:lnTo>
                  <a:lnTo>
                    <a:pt x="18" y="3"/>
                  </a:lnTo>
                  <a:lnTo>
                    <a:pt x="17" y="2"/>
                  </a:lnTo>
                  <a:lnTo>
                    <a:pt x="16" y="1"/>
                  </a:lnTo>
                  <a:lnTo>
                    <a:pt x="15" y="0"/>
                  </a:lnTo>
                  <a:lnTo>
                    <a:pt x="14" y="0"/>
                  </a:lnTo>
                  <a:lnTo>
                    <a:pt x="13" y="0"/>
                  </a:lnTo>
                  <a:lnTo>
                    <a:pt x="12" y="0"/>
                  </a:lnTo>
                  <a:lnTo>
                    <a:pt x="11" y="0"/>
                  </a:lnTo>
                  <a:lnTo>
                    <a:pt x="10" y="0"/>
                  </a:lnTo>
                  <a:lnTo>
                    <a:pt x="9" y="0"/>
                  </a:lnTo>
                  <a:lnTo>
                    <a:pt x="7" y="0"/>
                  </a:lnTo>
                  <a:lnTo>
                    <a:pt x="6" y="1"/>
                  </a:lnTo>
                  <a:lnTo>
                    <a:pt x="5" y="1"/>
                  </a:lnTo>
                  <a:lnTo>
                    <a:pt x="4" y="2"/>
                  </a:lnTo>
                  <a:lnTo>
                    <a:pt x="3" y="3"/>
                  </a:lnTo>
                  <a:lnTo>
                    <a:pt x="3" y="4"/>
                  </a:lnTo>
                  <a:lnTo>
                    <a:pt x="2" y="5"/>
                  </a:lnTo>
                  <a:lnTo>
                    <a:pt x="1" y="7"/>
                  </a:lnTo>
                  <a:lnTo>
                    <a:pt x="1" y="8"/>
                  </a:lnTo>
                  <a:lnTo>
                    <a:pt x="1" y="9"/>
                  </a:lnTo>
                  <a:lnTo>
                    <a:pt x="0" y="10"/>
                  </a:lnTo>
                  <a:lnTo>
                    <a:pt x="0" y="11"/>
                  </a:lnTo>
                  <a:lnTo>
                    <a:pt x="0" y="12"/>
                  </a:lnTo>
                  <a:lnTo>
                    <a:pt x="0" y="13"/>
                  </a:lnTo>
                  <a:lnTo>
                    <a:pt x="0" y="14"/>
                  </a:lnTo>
                  <a:lnTo>
                    <a:pt x="0" y="16"/>
                  </a:lnTo>
                  <a:lnTo>
                    <a:pt x="0" y="18"/>
                  </a:lnTo>
                  <a:lnTo>
                    <a:pt x="0" y="19"/>
                  </a:lnTo>
                  <a:lnTo>
                    <a:pt x="0" y="20"/>
                  </a:lnTo>
                  <a:lnTo>
                    <a:pt x="1" y="22"/>
                  </a:lnTo>
                  <a:lnTo>
                    <a:pt x="1" y="23"/>
                  </a:lnTo>
                  <a:lnTo>
                    <a:pt x="1" y="24"/>
                  </a:lnTo>
                  <a:lnTo>
                    <a:pt x="2" y="24"/>
                  </a:lnTo>
                  <a:lnTo>
                    <a:pt x="3" y="25"/>
                  </a:lnTo>
                  <a:lnTo>
                    <a:pt x="3" y="26"/>
                  </a:lnTo>
                  <a:lnTo>
                    <a:pt x="4" y="27"/>
                  </a:lnTo>
                  <a:lnTo>
                    <a:pt x="5" y="29"/>
                  </a:lnTo>
                  <a:lnTo>
                    <a:pt x="6" y="29"/>
                  </a:lnTo>
                  <a:lnTo>
                    <a:pt x="7" y="30"/>
                  </a:lnTo>
                  <a:lnTo>
                    <a:pt x="9" y="30"/>
                  </a:lnTo>
                  <a:lnTo>
                    <a:pt x="10" y="30"/>
                  </a:lnTo>
                  <a:lnTo>
                    <a:pt x="11" y="30"/>
                  </a:lnTo>
                  <a:lnTo>
                    <a:pt x="12" y="30"/>
                  </a:lnTo>
                  <a:lnTo>
                    <a:pt x="13" y="30"/>
                  </a:lnTo>
                  <a:lnTo>
                    <a:pt x="14" y="30"/>
                  </a:lnTo>
                  <a:lnTo>
                    <a:pt x="15" y="30"/>
                  </a:lnTo>
                  <a:lnTo>
                    <a:pt x="16" y="29"/>
                  </a:lnTo>
                  <a:lnTo>
                    <a:pt x="17" y="27"/>
                  </a:lnTo>
                  <a:lnTo>
                    <a:pt x="18" y="26"/>
                  </a:lnTo>
                  <a:lnTo>
                    <a:pt x="18" y="25"/>
                  </a:lnTo>
                  <a:lnTo>
                    <a:pt x="19" y="24"/>
                  </a:lnTo>
                  <a:lnTo>
                    <a:pt x="21" y="24"/>
                  </a:lnTo>
                  <a:lnTo>
                    <a:pt x="21" y="23"/>
                  </a:lnTo>
                  <a:lnTo>
                    <a:pt x="21" y="22"/>
                  </a:lnTo>
                  <a:lnTo>
                    <a:pt x="22" y="20"/>
                  </a:lnTo>
                  <a:lnTo>
                    <a:pt x="23" y="19"/>
                  </a:lnTo>
                  <a:lnTo>
                    <a:pt x="23" y="18"/>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26" name="Line 130">
              <a:extLst>
                <a:ext uri="{FF2B5EF4-FFF2-40B4-BE49-F238E27FC236}">
                  <a16:creationId xmlns:a16="http://schemas.microsoft.com/office/drawing/2014/main" id="{96B1E3E0-DE09-8D49-AF56-384CD8E9577E}"/>
                </a:ext>
              </a:extLst>
            </p:cNvPr>
            <p:cNvSpPr>
              <a:spLocks noChangeShapeType="1"/>
            </p:cNvSpPr>
            <p:nvPr/>
          </p:nvSpPr>
          <p:spPr bwMode="auto">
            <a:xfrm>
              <a:off x="2946" y="1378"/>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27" name="Line 131">
              <a:extLst>
                <a:ext uri="{FF2B5EF4-FFF2-40B4-BE49-F238E27FC236}">
                  <a16:creationId xmlns:a16="http://schemas.microsoft.com/office/drawing/2014/main" id="{397096DF-7EE5-B24F-A209-2DD2ECF3BEEA}"/>
                </a:ext>
              </a:extLst>
            </p:cNvPr>
            <p:cNvSpPr>
              <a:spLocks noChangeShapeType="1"/>
            </p:cNvSpPr>
            <p:nvPr/>
          </p:nvSpPr>
          <p:spPr bwMode="auto">
            <a:xfrm>
              <a:off x="2926" y="1402"/>
              <a:ext cx="40"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28" name="Freeform 132">
              <a:extLst>
                <a:ext uri="{FF2B5EF4-FFF2-40B4-BE49-F238E27FC236}">
                  <a16:creationId xmlns:a16="http://schemas.microsoft.com/office/drawing/2014/main" id="{49B0EAE8-A667-1649-9FA0-0EA4C4B26392}"/>
                </a:ext>
              </a:extLst>
            </p:cNvPr>
            <p:cNvSpPr>
              <a:spLocks/>
            </p:cNvSpPr>
            <p:nvPr/>
          </p:nvSpPr>
          <p:spPr bwMode="auto">
            <a:xfrm>
              <a:off x="2365" y="1950"/>
              <a:ext cx="205" cy="215"/>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4 h 643"/>
                <a:gd name="T14" fmla="*/ 56 w 614"/>
                <a:gd name="T15" fmla="*/ 614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4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4"/>
                  </a:lnTo>
                  <a:lnTo>
                    <a:pt x="56" y="614"/>
                  </a:lnTo>
                  <a:lnTo>
                    <a:pt x="56" y="195"/>
                  </a:lnTo>
                  <a:lnTo>
                    <a:pt x="558"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29" name="Rectangle 133">
              <a:extLst>
                <a:ext uri="{FF2B5EF4-FFF2-40B4-BE49-F238E27FC236}">
                  <a16:creationId xmlns:a16="http://schemas.microsoft.com/office/drawing/2014/main" id="{019D1D71-DFC7-834C-9049-16F77817EEF1}"/>
                </a:ext>
              </a:extLst>
            </p:cNvPr>
            <p:cNvSpPr>
              <a:spLocks noChangeArrowheads="1"/>
            </p:cNvSpPr>
            <p:nvPr/>
          </p:nvSpPr>
          <p:spPr bwMode="auto">
            <a:xfrm>
              <a:off x="2384" y="2015"/>
              <a:ext cx="170" cy="14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30" name="Rectangle 134">
              <a:extLst>
                <a:ext uri="{FF2B5EF4-FFF2-40B4-BE49-F238E27FC236}">
                  <a16:creationId xmlns:a16="http://schemas.microsoft.com/office/drawing/2014/main" id="{ACA4A223-133D-F94A-8FB0-BF6857350CE7}"/>
                </a:ext>
              </a:extLst>
            </p:cNvPr>
            <p:cNvSpPr>
              <a:spLocks noChangeArrowheads="1"/>
            </p:cNvSpPr>
            <p:nvPr/>
          </p:nvSpPr>
          <p:spPr bwMode="auto">
            <a:xfrm>
              <a:off x="2411" y="2049"/>
              <a:ext cx="60" cy="10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31" name="Rectangle 135">
              <a:extLst>
                <a:ext uri="{FF2B5EF4-FFF2-40B4-BE49-F238E27FC236}">
                  <a16:creationId xmlns:a16="http://schemas.microsoft.com/office/drawing/2014/main" id="{F7FC0F87-932A-5249-BB1A-BCA0DE279D8B}"/>
                </a:ext>
              </a:extLst>
            </p:cNvPr>
            <p:cNvSpPr>
              <a:spLocks noChangeArrowheads="1"/>
            </p:cNvSpPr>
            <p:nvPr/>
          </p:nvSpPr>
          <p:spPr bwMode="auto">
            <a:xfrm>
              <a:off x="2497" y="2046"/>
              <a:ext cx="40" cy="51"/>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32" name="Freeform 136">
              <a:extLst>
                <a:ext uri="{FF2B5EF4-FFF2-40B4-BE49-F238E27FC236}">
                  <a16:creationId xmlns:a16="http://schemas.microsoft.com/office/drawing/2014/main" id="{268C4347-526C-E64F-AE0E-D9ED1B847914}"/>
                </a:ext>
              </a:extLst>
            </p:cNvPr>
            <p:cNvSpPr>
              <a:spLocks/>
            </p:cNvSpPr>
            <p:nvPr/>
          </p:nvSpPr>
          <p:spPr bwMode="auto">
            <a:xfrm>
              <a:off x="2455" y="2097"/>
              <a:ext cx="8" cy="10"/>
            </a:xfrm>
            <a:custGeom>
              <a:avLst/>
              <a:gdLst>
                <a:gd name="T0" fmla="*/ 23 w 23"/>
                <a:gd name="T1" fmla="*/ 13 h 30"/>
                <a:gd name="T2" fmla="*/ 23 w 23"/>
                <a:gd name="T3" fmla="*/ 11 h 30"/>
                <a:gd name="T4" fmla="*/ 21 w 23"/>
                <a:gd name="T5" fmla="*/ 9 h 30"/>
                <a:gd name="T6" fmla="*/ 21 w 23"/>
                <a:gd name="T7" fmla="*/ 7 h 30"/>
                <a:gd name="T8" fmla="*/ 18 w 23"/>
                <a:gd name="T9" fmla="*/ 4 h 30"/>
                <a:gd name="T10" fmla="*/ 17 w 23"/>
                <a:gd name="T11" fmla="*/ 2 h 30"/>
                <a:gd name="T12" fmla="*/ 16 w 23"/>
                <a:gd name="T13" fmla="*/ 1 h 30"/>
                <a:gd name="T14" fmla="*/ 14 w 23"/>
                <a:gd name="T15" fmla="*/ 0 h 30"/>
                <a:gd name="T16" fmla="*/ 12 w 23"/>
                <a:gd name="T17" fmla="*/ 0 h 30"/>
                <a:gd name="T18" fmla="*/ 10 w 23"/>
                <a:gd name="T19" fmla="*/ 0 h 30"/>
                <a:gd name="T20" fmla="*/ 8 w 23"/>
                <a:gd name="T21" fmla="*/ 0 h 30"/>
                <a:gd name="T22" fmla="*/ 6 w 23"/>
                <a:gd name="T23" fmla="*/ 1 h 30"/>
                <a:gd name="T24" fmla="*/ 4 w 23"/>
                <a:gd name="T25" fmla="*/ 2 h 30"/>
                <a:gd name="T26" fmla="*/ 3 w 23"/>
                <a:gd name="T27" fmla="*/ 4 h 30"/>
                <a:gd name="T28" fmla="*/ 1 w 23"/>
                <a:gd name="T29" fmla="*/ 7 h 30"/>
                <a:gd name="T30" fmla="*/ 1 w 23"/>
                <a:gd name="T31" fmla="*/ 9 h 30"/>
                <a:gd name="T32" fmla="*/ 0 w 23"/>
                <a:gd name="T33" fmla="*/ 11 h 30"/>
                <a:gd name="T34" fmla="*/ 0 w 23"/>
                <a:gd name="T35" fmla="*/ 13 h 30"/>
                <a:gd name="T36" fmla="*/ 0 w 23"/>
                <a:gd name="T37" fmla="*/ 16 h 30"/>
                <a:gd name="T38" fmla="*/ 0 w 23"/>
                <a:gd name="T39" fmla="*/ 19 h 30"/>
                <a:gd name="T40" fmla="*/ 1 w 23"/>
                <a:gd name="T41" fmla="*/ 22 h 30"/>
                <a:gd name="T42" fmla="*/ 1 w 23"/>
                <a:gd name="T43" fmla="*/ 24 h 30"/>
                <a:gd name="T44" fmla="*/ 3 w 23"/>
                <a:gd name="T45" fmla="*/ 25 h 30"/>
                <a:gd name="T46" fmla="*/ 4 w 23"/>
                <a:gd name="T47" fmla="*/ 27 h 30"/>
                <a:gd name="T48" fmla="*/ 6 w 23"/>
                <a:gd name="T49" fmla="*/ 29 h 30"/>
                <a:gd name="T50" fmla="*/ 8 w 23"/>
                <a:gd name="T51" fmla="*/ 30 h 30"/>
                <a:gd name="T52" fmla="*/ 10 w 23"/>
                <a:gd name="T53" fmla="*/ 30 h 30"/>
                <a:gd name="T54" fmla="*/ 12 w 23"/>
                <a:gd name="T55" fmla="*/ 30 h 30"/>
                <a:gd name="T56" fmla="*/ 14 w 23"/>
                <a:gd name="T57" fmla="*/ 30 h 30"/>
                <a:gd name="T58" fmla="*/ 16 w 23"/>
                <a:gd name="T59" fmla="*/ 29 h 30"/>
                <a:gd name="T60" fmla="*/ 17 w 23"/>
                <a:gd name="T61" fmla="*/ 27 h 30"/>
                <a:gd name="T62" fmla="*/ 18 w 23"/>
                <a:gd name="T63" fmla="*/ 25 h 30"/>
                <a:gd name="T64" fmla="*/ 21 w 23"/>
                <a:gd name="T65" fmla="*/ 24 h 30"/>
                <a:gd name="T66" fmla="*/ 21 w 23"/>
                <a:gd name="T67" fmla="*/ 22 h 30"/>
                <a:gd name="T68" fmla="*/ 23 w 23"/>
                <a:gd name="T69" fmla="*/ 19 h 30"/>
                <a:gd name="T70" fmla="*/ 23 w 23"/>
                <a:gd name="T71" fmla="*/ 16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19" y="6"/>
                  </a:lnTo>
                  <a:lnTo>
                    <a:pt x="18" y="4"/>
                  </a:lnTo>
                  <a:lnTo>
                    <a:pt x="18" y="3"/>
                  </a:lnTo>
                  <a:lnTo>
                    <a:pt x="17" y="2"/>
                  </a:lnTo>
                  <a:lnTo>
                    <a:pt x="16" y="1"/>
                  </a:lnTo>
                  <a:lnTo>
                    <a:pt x="15" y="0"/>
                  </a:lnTo>
                  <a:lnTo>
                    <a:pt x="14" y="0"/>
                  </a:lnTo>
                  <a:lnTo>
                    <a:pt x="13" y="0"/>
                  </a:lnTo>
                  <a:lnTo>
                    <a:pt x="12" y="0"/>
                  </a:lnTo>
                  <a:lnTo>
                    <a:pt x="11" y="0"/>
                  </a:lnTo>
                  <a:lnTo>
                    <a:pt x="10" y="0"/>
                  </a:lnTo>
                  <a:lnTo>
                    <a:pt x="8" y="0"/>
                  </a:lnTo>
                  <a:lnTo>
                    <a:pt x="7" y="0"/>
                  </a:lnTo>
                  <a:lnTo>
                    <a:pt x="6" y="1"/>
                  </a:lnTo>
                  <a:lnTo>
                    <a:pt x="5" y="1"/>
                  </a:lnTo>
                  <a:lnTo>
                    <a:pt x="4" y="2"/>
                  </a:lnTo>
                  <a:lnTo>
                    <a:pt x="3" y="3"/>
                  </a:lnTo>
                  <a:lnTo>
                    <a:pt x="3" y="4"/>
                  </a:lnTo>
                  <a:lnTo>
                    <a:pt x="2" y="6"/>
                  </a:lnTo>
                  <a:lnTo>
                    <a:pt x="1" y="7"/>
                  </a:lnTo>
                  <a:lnTo>
                    <a:pt x="1" y="8"/>
                  </a:lnTo>
                  <a:lnTo>
                    <a:pt x="1" y="9"/>
                  </a:lnTo>
                  <a:lnTo>
                    <a:pt x="0" y="10"/>
                  </a:lnTo>
                  <a:lnTo>
                    <a:pt x="0" y="11"/>
                  </a:lnTo>
                  <a:lnTo>
                    <a:pt x="0" y="12"/>
                  </a:lnTo>
                  <a:lnTo>
                    <a:pt x="0" y="13"/>
                  </a:lnTo>
                  <a:lnTo>
                    <a:pt x="0" y="14"/>
                  </a:lnTo>
                  <a:lnTo>
                    <a:pt x="0" y="16"/>
                  </a:lnTo>
                  <a:lnTo>
                    <a:pt x="0" y="18"/>
                  </a:lnTo>
                  <a:lnTo>
                    <a:pt x="0" y="19"/>
                  </a:lnTo>
                  <a:lnTo>
                    <a:pt x="0" y="20"/>
                  </a:lnTo>
                  <a:lnTo>
                    <a:pt x="1" y="22"/>
                  </a:lnTo>
                  <a:lnTo>
                    <a:pt x="1" y="23"/>
                  </a:lnTo>
                  <a:lnTo>
                    <a:pt x="1" y="24"/>
                  </a:lnTo>
                  <a:lnTo>
                    <a:pt x="2" y="24"/>
                  </a:lnTo>
                  <a:lnTo>
                    <a:pt x="3" y="25"/>
                  </a:lnTo>
                  <a:lnTo>
                    <a:pt x="3" y="26"/>
                  </a:lnTo>
                  <a:lnTo>
                    <a:pt x="4" y="27"/>
                  </a:lnTo>
                  <a:lnTo>
                    <a:pt x="5" y="29"/>
                  </a:lnTo>
                  <a:lnTo>
                    <a:pt x="6" y="29"/>
                  </a:lnTo>
                  <a:lnTo>
                    <a:pt x="7" y="30"/>
                  </a:lnTo>
                  <a:lnTo>
                    <a:pt x="8" y="30"/>
                  </a:lnTo>
                  <a:lnTo>
                    <a:pt x="10" y="30"/>
                  </a:lnTo>
                  <a:lnTo>
                    <a:pt x="11" y="30"/>
                  </a:lnTo>
                  <a:lnTo>
                    <a:pt x="12" y="30"/>
                  </a:lnTo>
                  <a:lnTo>
                    <a:pt x="13" y="30"/>
                  </a:lnTo>
                  <a:lnTo>
                    <a:pt x="14" y="30"/>
                  </a:lnTo>
                  <a:lnTo>
                    <a:pt x="15" y="30"/>
                  </a:lnTo>
                  <a:lnTo>
                    <a:pt x="16" y="29"/>
                  </a:lnTo>
                  <a:lnTo>
                    <a:pt x="17" y="27"/>
                  </a:lnTo>
                  <a:lnTo>
                    <a:pt x="18" y="26"/>
                  </a:lnTo>
                  <a:lnTo>
                    <a:pt x="18" y="25"/>
                  </a:lnTo>
                  <a:lnTo>
                    <a:pt x="19" y="24"/>
                  </a:lnTo>
                  <a:lnTo>
                    <a:pt x="21" y="24"/>
                  </a:lnTo>
                  <a:lnTo>
                    <a:pt x="21" y="23"/>
                  </a:lnTo>
                  <a:lnTo>
                    <a:pt x="21" y="22"/>
                  </a:lnTo>
                  <a:lnTo>
                    <a:pt x="22" y="20"/>
                  </a:lnTo>
                  <a:lnTo>
                    <a:pt x="23" y="19"/>
                  </a:lnTo>
                  <a:lnTo>
                    <a:pt x="23" y="18"/>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33" name="Line 137">
              <a:extLst>
                <a:ext uri="{FF2B5EF4-FFF2-40B4-BE49-F238E27FC236}">
                  <a16:creationId xmlns:a16="http://schemas.microsoft.com/office/drawing/2014/main" id="{3DC111DA-6F0F-664D-A5BD-EE561D840F06}"/>
                </a:ext>
              </a:extLst>
            </p:cNvPr>
            <p:cNvSpPr>
              <a:spLocks noChangeShapeType="1"/>
            </p:cNvSpPr>
            <p:nvPr/>
          </p:nvSpPr>
          <p:spPr bwMode="auto">
            <a:xfrm>
              <a:off x="2516" y="2046"/>
              <a:ext cx="1" cy="5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34" name="Line 138">
              <a:extLst>
                <a:ext uri="{FF2B5EF4-FFF2-40B4-BE49-F238E27FC236}">
                  <a16:creationId xmlns:a16="http://schemas.microsoft.com/office/drawing/2014/main" id="{EB5DC98E-BDD0-B14D-979E-9F2DA610840A}"/>
                </a:ext>
              </a:extLst>
            </p:cNvPr>
            <p:cNvSpPr>
              <a:spLocks noChangeShapeType="1"/>
            </p:cNvSpPr>
            <p:nvPr/>
          </p:nvSpPr>
          <p:spPr bwMode="auto">
            <a:xfrm>
              <a:off x="2497" y="2070"/>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35" name="Freeform 139">
              <a:extLst>
                <a:ext uri="{FF2B5EF4-FFF2-40B4-BE49-F238E27FC236}">
                  <a16:creationId xmlns:a16="http://schemas.microsoft.com/office/drawing/2014/main" id="{74E1352F-6041-F74D-8F48-C1121A9D9C92}"/>
                </a:ext>
              </a:extLst>
            </p:cNvPr>
            <p:cNvSpPr>
              <a:spLocks/>
            </p:cNvSpPr>
            <p:nvPr/>
          </p:nvSpPr>
          <p:spPr bwMode="auto">
            <a:xfrm>
              <a:off x="2604" y="1720"/>
              <a:ext cx="205" cy="214"/>
            </a:xfrm>
            <a:custGeom>
              <a:avLst/>
              <a:gdLst>
                <a:gd name="T0" fmla="*/ 56 w 615"/>
                <a:gd name="T1" fmla="*/ 196 h 644"/>
                <a:gd name="T2" fmla="*/ 0 w 615"/>
                <a:gd name="T3" fmla="*/ 196 h 644"/>
                <a:gd name="T4" fmla="*/ 307 w 615"/>
                <a:gd name="T5" fmla="*/ 0 h 644"/>
                <a:gd name="T6" fmla="*/ 615 w 615"/>
                <a:gd name="T7" fmla="*/ 196 h 644"/>
                <a:gd name="T8" fmla="*/ 587 w 615"/>
                <a:gd name="T9" fmla="*/ 196 h 644"/>
                <a:gd name="T10" fmla="*/ 559 w 615"/>
                <a:gd name="T11" fmla="*/ 196 h 644"/>
                <a:gd name="T12" fmla="*/ 559 w 615"/>
                <a:gd name="T13" fmla="*/ 615 h 644"/>
                <a:gd name="T14" fmla="*/ 56 w 615"/>
                <a:gd name="T15" fmla="*/ 615 h 644"/>
                <a:gd name="T16" fmla="*/ 56 w 615"/>
                <a:gd name="T17" fmla="*/ 196 h 644"/>
                <a:gd name="T18" fmla="*/ 559 w 615"/>
                <a:gd name="T19" fmla="*/ 196 h 644"/>
                <a:gd name="T20" fmla="*/ 587 w 615"/>
                <a:gd name="T21" fmla="*/ 196 h 644"/>
                <a:gd name="T22" fmla="*/ 587 w 615"/>
                <a:gd name="T23" fmla="*/ 644 h 644"/>
                <a:gd name="T24" fmla="*/ 56 w 615"/>
                <a:gd name="T25" fmla="*/ 644 h 644"/>
                <a:gd name="T26" fmla="*/ 56 w 615"/>
                <a:gd name="T27" fmla="*/ 615 h 644"/>
                <a:gd name="T28" fmla="*/ 56 w 615"/>
                <a:gd name="T29" fmla="*/ 196 h 6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4"/>
                <a:gd name="T47" fmla="*/ 615 w 615"/>
                <a:gd name="T48" fmla="*/ 644 h 6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4">
                  <a:moveTo>
                    <a:pt x="56" y="196"/>
                  </a:moveTo>
                  <a:lnTo>
                    <a:pt x="0" y="196"/>
                  </a:lnTo>
                  <a:lnTo>
                    <a:pt x="307" y="0"/>
                  </a:lnTo>
                  <a:lnTo>
                    <a:pt x="615" y="196"/>
                  </a:lnTo>
                  <a:lnTo>
                    <a:pt x="587" y="196"/>
                  </a:lnTo>
                  <a:lnTo>
                    <a:pt x="559" y="196"/>
                  </a:lnTo>
                  <a:lnTo>
                    <a:pt x="559" y="615"/>
                  </a:lnTo>
                  <a:lnTo>
                    <a:pt x="56" y="615"/>
                  </a:lnTo>
                  <a:lnTo>
                    <a:pt x="56" y="196"/>
                  </a:lnTo>
                  <a:lnTo>
                    <a:pt x="559" y="196"/>
                  </a:lnTo>
                  <a:lnTo>
                    <a:pt x="587" y="196"/>
                  </a:lnTo>
                  <a:lnTo>
                    <a:pt x="587" y="644"/>
                  </a:lnTo>
                  <a:lnTo>
                    <a:pt x="56" y="644"/>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36" name="Rectangle 140">
              <a:extLst>
                <a:ext uri="{FF2B5EF4-FFF2-40B4-BE49-F238E27FC236}">
                  <a16:creationId xmlns:a16="http://schemas.microsoft.com/office/drawing/2014/main" id="{B3FA4988-1AE3-3343-B844-7614C70C47F8}"/>
                </a:ext>
              </a:extLst>
            </p:cNvPr>
            <p:cNvSpPr>
              <a:spLocks noChangeArrowheads="1"/>
            </p:cNvSpPr>
            <p:nvPr/>
          </p:nvSpPr>
          <p:spPr bwMode="auto">
            <a:xfrm>
              <a:off x="2623" y="1785"/>
              <a:ext cx="169" cy="139"/>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37" name="Rectangle 141">
              <a:extLst>
                <a:ext uri="{FF2B5EF4-FFF2-40B4-BE49-F238E27FC236}">
                  <a16:creationId xmlns:a16="http://schemas.microsoft.com/office/drawing/2014/main" id="{19EE849D-8C4A-5C4D-A8E8-913D37777899}"/>
                </a:ext>
              </a:extLst>
            </p:cNvPr>
            <p:cNvSpPr>
              <a:spLocks noChangeArrowheads="1"/>
            </p:cNvSpPr>
            <p:nvPr/>
          </p:nvSpPr>
          <p:spPr bwMode="auto">
            <a:xfrm>
              <a:off x="2650" y="1818"/>
              <a:ext cx="59" cy="106"/>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38" name="Rectangle 142">
              <a:extLst>
                <a:ext uri="{FF2B5EF4-FFF2-40B4-BE49-F238E27FC236}">
                  <a16:creationId xmlns:a16="http://schemas.microsoft.com/office/drawing/2014/main" id="{52850321-7EB1-1946-8368-0C42704A99F3}"/>
                </a:ext>
              </a:extLst>
            </p:cNvPr>
            <p:cNvSpPr>
              <a:spLocks noChangeArrowheads="1"/>
            </p:cNvSpPr>
            <p:nvPr/>
          </p:nvSpPr>
          <p:spPr bwMode="auto">
            <a:xfrm>
              <a:off x="2735" y="1816"/>
              <a:ext cx="41" cy="50"/>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39" name="Freeform 143">
              <a:extLst>
                <a:ext uri="{FF2B5EF4-FFF2-40B4-BE49-F238E27FC236}">
                  <a16:creationId xmlns:a16="http://schemas.microsoft.com/office/drawing/2014/main" id="{670D12D2-1CD5-DD47-B327-A55CD3D5A4DA}"/>
                </a:ext>
              </a:extLst>
            </p:cNvPr>
            <p:cNvSpPr>
              <a:spLocks/>
            </p:cNvSpPr>
            <p:nvPr/>
          </p:nvSpPr>
          <p:spPr bwMode="auto">
            <a:xfrm>
              <a:off x="2694" y="1867"/>
              <a:ext cx="7" cy="10"/>
            </a:xfrm>
            <a:custGeom>
              <a:avLst/>
              <a:gdLst>
                <a:gd name="T0" fmla="*/ 23 w 23"/>
                <a:gd name="T1" fmla="*/ 13 h 29"/>
                <a:gd name="T2" fmla="*/ 23 w 23"/>
                <a:gd name="T3" fmla="*/ 11 h 29"/>
                <a:gd name="T4" fmla="*/ 21 w 23"/>
                <a:gd name="T5" fmla="*/ 8 h 29"/>
                <a:gd name="T6" fmla="*/ 21 w 23"/>
                <a:gd name="T7" fmla="*/ 6 h 29"/>
                <a:gd name="T8" fmla="*/ 19 w 23"/>
                <a:gd name="T9" fmla="*/ 4 h 29"/>
                <a:gd name="T10" fmla="*/ 18 w 23"/>
                <a:gd name="T11" fmla="*/ 2 h 29"/>
                <a:gd name="T12" fmla="*/ 17 w 23"/>
                <a:gd name="T13" fmla="*/ 1 h 29"/>
                <a:gd name="T14" fmla="*/ 14 w 23"/>
                <a:gd name="T15" fmla="*/ 0 h 29"/>
                <a:gd name="T16" fmla="*/ 12 w 23"/>
                <a:gd name="T17" fmla="*/ 0 h 29"/>
                <a:gd name="T18" fmla="*/ 10 w 23"/>
                <a:gd name="T19" fmla="*/ 0 h 29"/>
                <a:gd name="T20" fmla="*/ 9 w 23"/>
                <a:gd name="T21" fmla="*/ 0 h 29"/>
                <a:gd name="T22" fmla="*/ 7 w 23"/>
                <a:gd name="T23" fmla="*/ 1 h 29"/>
                <a:gd name="T24" fmla="*/ 4 w 23"/>
                <a:gd name="T25" fmla="*/ 2 h 29"/>
                <a:gd name="T26" fmla="*/ 3 w 23"/>
                <a:gd name="T27" fmla="*/ 4 h 29"/>
                <a:gd name="T28" fmla="*/ 1 w 23"/>
                <a:gd name="T29" fmla="*/ 6 h 29"/>
                <a:gd name="T30" fmla="*/ 1 w 23"/>
                <a:gd name="T31" fmla="*/ 8 h 29"/>
                <a:gd name="T32" fmla="*/ 0 w 23"/>
                <a:gd name="T33" fmla="*/ 11 h 29"/>
                <a:gd name="T34" fmla="*/ 0 w 23"/>
                <a:gd name="T35" fmla="*/ 13 h 29"/>
                <a:gd name="T36" fmla="*/ 0 w 23"/>
                <a:gd name="T37" fmla="*/ 16 h 29"/>
                <a:gd name="T38" fmla="*/ 0 w 23"/>
                <a:gd name="T39" fmla="*/ 18 h 29"/>
                <a:gd name="T40" fmla="*/ 1 w 23"/>
                <a:gd name="T41" fmla="*/ 22 h 29"/>
                <a:gd name="T42" fmla="*/ 1 w 23"/>
                <a:gd name="T43" fmla="*/ 24 h 29"/>
                <a:gd name="T44" fmla="*/ 3 w 23"/>
                <a:gd name="T45" fmla="*/ 25 h 29"/>
                <a:gd name="T46" fmla="*/ 4 w 23"/>
                <a:gd name="T47" fmla="*/ 27 h 29"/>
                <a:gd name="T48" fmla="*/ 7 w 23"/>
                <a:gd name="T49" fmla="*/ 28 h 29"/>
                <a:gd name="T50" fmla="*/ 9 w 23"/>
                <a:gd name="T51" fmla="*/ 29 h 29"/>
                <a:gd name="T52" fmla="*/ 10 w 23"/>
                <a:gd name="T53" fmla="*/ 29 h 29"/>
                <a:gd name="T54" fmla="*/ 12 w 23"/>
                <a:gd name="T55" fmla="*/ 29 h 29"/>
                <a:gd name="T56" fmla="*/ 14 w 23"/>
                <a:gd name="T57" fmla="*/ 29 h 29"/>
                <a:gd name="T58" fmla="*/ 17 w 23"/>
                <a:gd name="T59" fmla="*/ 28 h 29"/>
                <a:gd name="T60" fmla="*/ 18 w 23"/>
                <a:gd name="T61" fmla="*/ 27 h 29"/>
                <a:gd name="T62" fmla="*/ 19 w 23"/>
                <a:gd name="T63" fmla="*/ 25 h 29"/>
                <a:gd name="T64" fmla="*/ 21 w 23"/>
                <a:gd name="T65" fmla="*/ 24 h 29"/>
                <a:gd name="T66" fmla="*/ 21 w 23"/>
                <a:gd name="T67" fmla="*/ 22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10"/>
                  </a:lnTo>
                  <a:lnTo>
                    <a:pt x="21" y="8"/>
                  </a:lnTo>
                  <a:lnTo>
                    <a:pt x="21" y="7"/>
                  </a:lnTo>
                  <a:lnTo>
                    <a:pt x="21" y="6"/>
                  </a:lnTo>
                  <a:lnTo>
                    <a:pt x="20" y="5"/>
                  </a:lnTo>
                  <a:lnTo>
                    <a:pt x="19" y="4"/>
                  </a:lnTo>
                  <a:lnTo>
                    <a:pt x="19" y="3"/>
                  </a:lnTo>
                  <a:lnTo>
                    <a:pt x="18" y="2"/>
                  </a:lnTo>
                  <a:lnTo>
                    <a:pt x="17" y="1"/>
                  </a:lnTo>
                  <a:lnTo>
                    <a:pt x="15" y="0"/>
                  </a:lnTo>
                  <a:lnTo>
                    <a:pt x="14" y="0"/>
                  </a:lnTo>
                  <a:lnTo>
                    <a:pt x="13" y="0"/>
                  </a:lnTo>
                  <a:lnTo>
                    <a:pt x="12" y="0"/>
                  </a:lnTo>
                  <a:lnTo>
                    <a:pt x="11" y="0"/>
                  </a:lnTo>
                  <a:lnTo>
                    <a:pt x="10" y="0"/>
                  </a:lnTo>
                  <a:lnTo>
                    <a:pt x="9" y="0"/>
                  </a:lnTo>
                  <a:lnTo>
                    <a:pt x="8" y="0"/>
                  </a:lnTo>
                  <a:lnTo>
                    <a:pt x="7" y="1"/>
                  </a:lnTo>
                  <a:lnTo>
                    <a:pt x="6" y="1"/>
                  </a:lnTo>
                  <a:lnTo>
                    <a:pt x="4" y="2"/>
                  </a:lnTo>
                  <a:lnTo>
                    <a:pt x="3" y="3"/>
                  </a:lnTo>
                  <a:lnTo>
                    <a:pt x="3" y="4"/>
                  </a:lnTo>
                  <a:lnTo>
                    <a:pt x="2" y="5"/>
                  </a:lnTo>
                  <a:lnTo>
                    <a:pt x="1" y="6"/>
                  </a:lnTo>
                  <a:lnTo>
                    <a:pt x="1" y="7"/>
                  </a:lnTo>
                  <a:lnTo>
                    <a:pt x="1" y="8"/>
                  </a:lnTo>
                  <a:lnTo>
                    <a:pt x="0" y="10"/>
                  </a:lnTo>
                  <a:lnTo>
                    <a:pt x="0" y="11"/>
                  </a:lnTo>
                  <a:lnTo>
                    <a:pt x="0" y="12"/>
                  </a:lnTo>
                  <a:lnTo>
                    <a:pt x="0" y="13"/>
                  </a:lnTo>
                  <a:lnTo>
                    <a:pt x="0" y="14"/>
                  </a:lnTo>
                  <a:lnTo>
                    <a:pt x="0" y="16"/>
                  </a:lnTo>
                  <a:lnTo>
                    <a:pt x="0" y="17"/>
                  </a:lnTo>
                  <a:lnTo>
                    <a:pt x="0" y="18"/>
                  </a:lnTo>
                  <a:lnTo>
                    <a:pt x="0" y="19"/>
                  </a:lnTo>
                  <a:lnTo>
                    <a:pt x="1" y="22"/>
                  </a:lnTo>
                  <a:lnTo>
                    <a:pt x="1" y="23"/>
                  </a:lnTo>
                  <a:lnTo>
                    <a:pt x="1" y="24"/>
                  </a:lnTo>
                  <a:lnTo>
                    <a:pt x="2" y="24"/>
                  </a:lnTo>
                  <a:lnTo>
                    <a:pt x="3" y="25"/>
                  </a:lnTo>
                  <a:lnTo>
                    <a:pt x="3" y="26"/>
                  </a:lnTo>
                  <a:lnTo>
                    <a:pt x="4" y="27"/>
                  </a:lnTo>
                  <a:lnTo>
                    <a:pt x="6" y="28"/>
                  </a:lnTo>
                  <a:lnTo>
                    <a:pt x="7" y="28"/>
                  </a:lnTo>
                  <a:lnTo>
                    <a:pt x="8" y="29"/>
                  </a:lnTo>
                  <a:lnTo>
                    <a:pt x="9" y="29"/>
                  </a:lnTo>
                  <a:lnTo>
                    <a:pt x="10" y="29"/>
                  </a:lnTo>
                  <a:lnTo>
                    <a:pt x="11" y="29"/>
                  </a:lnTo>
                  <a:lnTo>
                    <a:pt x="12" y="29"/>
                  </a:lnTo>
                  <a:lnTo>
                    <a:pt x="13" y="29"/>
                  </a:lnTo>
                  <a:lnTo>
                    <a:pt x="14" y="29"/>
                  </a:lnTo>
                  <a:lnTo>
                    <a:pt x="15" y="29"/>
                  </a:lnTo>
                  <a:lnTo>
                    <a:pt x="17" y="28"/>
                  </a:lnTo>
                  <a:lnTo>
                    <a:pt x="18" y="27"/>
                  </a:lnTo>
                  <a:lnTo>
                    <a:pt x="19" y="26"/>
                  </a:lnTo>
                  <a:lnTo>
                    <a:pt x="19" y="25"/>
                  </a:lnTo>
                  <a:lnTo>
                    <a:pt x="20" y="24"/>
                  </a:lnTo>
                  <a:lnTo>
                    <a:pt x="21" y="24"/>
                  </a:lnTo>
                  <a:lnTo>
                    <a:pt x="21" y="23"/>
                  </a:lnTo>
                  <a:lnTo>
                    <a:pt x="21" y="22"/>
                  </a:lnTo>
                  <a:lnTo>
                    <a:pt x="22" y="19"/>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40" name="Line 144">
              <a:extLst>
                <a:ext uri="{FF2B5EF4-FFF2-40B4-BE49-F238E27FC236}">
                  <a16:creationId xmlns:a16="http://schemas.microsoft.com/office/drawing/2014/main" id="{35241E28-38B4-EB4E-8CBD-08ACB44FFD02}"/>
                </a:ext>
              </a:extLst>
            </p:cNvPr>
            <p:cNvSpPr>
              <a:spLocks noChangeShapeType="1"/>
            </p:cNvSpPr>
            <p:nvPr/>
          </p:nvSpPr>
          <p:spPr bwMode="auto">
            <a:xfrm>
              <a:off x="2755" y="1816"/>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41" name="Line 145">
              <a:extLst>
                <a:ext uri="{FF2B5EF4-FFF2-40B4-BE49-F238E27FC236}">
                  <a16:creationId xmlns:a16="http://schemas.microsoft.com/office/drawing/2014/main" id="{591498A5-BF97-CC4D-94B6-3979B87E4332}"/>
                </a:ext>
              </a:extLst>
            </p:cNvPr>
            <p:cNvSpPr>
              <a:spLocks noChangeShapeType="1"/>
            </p:cNvSpPr>
            <p:nvPr/>
          </p:nvSpPr>
          <p:spPr bwMode="auto">
            <a:xfrm>
              <a:off x="2735" y="1840"/>
              <a:ext cx="40"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42" name="Freeform 146">
              <a:extLst>
                <a:ext uri="{FF2B5EF4-FFF2-40B4-BE49-F238E27FC236}">
                  <a16:creationId xmlns:a16="http://schemas.microsoft.com/office/drawing/2014/main" id="{CC8D11E5-A55A-3A4A-AAD6-482D2AFFD6D5}"/>
                </a:ext>
              </a:extLst>
            </p:cNvPr>
            <p:cNvSpPr>
              <a:spLocks/>
            </p:cNvSpPr>
            <p:nvPr/>
          </p:nvSpPr>
          <p:spPr bwMode="auto">
            <a:xfrm>
              <a:off x="2103" y="1807"/>
              <a:ext cx="205" cy="215"/>
            </a:xfrm>
            <a:custGeom>
              <a:avLst/>
              <a:gdLst>
                <a:gd name="T0" fmla="*/ 56 w 615"/>
                <a:gd name="T1" fmla="*/ 195 h 643"/>
                <a:gd name="T2" fmla="*/ 0 w 615"/>
                <a:gd name="T3" fmla="*/ 195 h 643"/>
                <a:gd name="T4" fmla="*/ 307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7"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43" name="Rectangle 147">
              <a:extLst>
                <a:ext uri="{FF2B5EF4-FFF2-40B4-BE49-F238E27FC236}">
                  <a16:creationId xmlns:a16="http://schemas.microsoft.com/office/drawing/2014/main" id="{5119514D-A332-DF40-B050-11F69E7E3DBC}"/>
                </a:ext>
              </a:extLst>
            </p:cNvPr>
            <p:cNvSpPr>
              <a:spLocks noChangeArrowheads="1"/>
            </p:cNvSpPr>
            <p:nvPr/>
          </p:nvSpPr>
          <p:spPr bwMode="auto">
            <a:xfrm>
              <a:off x="2122" y="1872"/>
              <a:ext cx="169" cy="14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44" name="Rectangle 148">
              <a:extLst>
                <a:ext uri="{FF2B5EF4-FFF2-40B4-BE49-F238E27FC236}">
                  <a16:creationId xmlns:a16="http://schemas.microsoft.com/office/drawing/2014/main" id="{E95E2ECC-38D1-9145-891A-65B3AFB5FC2B}"/>
                </a:ext>
              </a:extLst>
            </p:cNvPr>
            <p:cNvSpPr>
              <a:spLocks noChangeArrowheads="1"/>
            </p:cNvSpPr>
            <p:nvPr/>
          </p:nvSpPr>
          <p:spPr bwMode="auto">
            <a:xfrm>
              <a:off x="2149" y="1906"/>
              <a:ext cx="59" cy="10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45" name="Rectangle 149">
              <a:extLst>
                <a:ext uri="{FF2B5EF4-FFF2-40B4-BE49-F238E27FC236}">
                  <a16:creationId xmlns:a16="http://schemas.microsoft.com/office/drawing/2014/main" id="{295F046C-CC17-EB49-B081-E46798C87B02}"/>
                </a:ext>
              </a:extLst>
            </p:cNvPr>
            <p:cNvSpPr>
              <a:spLocks noChangeArrowheads="1"/>
            </p:cNvSpPr>
            <p:nvPr/>
          </p:nvSpPr>
          <p:spPr bwMode="auto">
            <a:xfrm>
              <a:off x="2234" y="1903"/>
              <a:ext cx="41" cy="51"/>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46" name="Freeform 150">
              <a:extLst>
                <a:ext uri="{FF2B5EF4-FFF2-40B4-BE49-F238E27FC236}">
                  <a16:creationId xmlns:a16="http://schemas.microsoft.com/office/drawing/2014/main" id="{68BC555E-92D1-A040-A3B1-9730F19CDB43}"/>
                </a:ext>
              </a:extLst>
            </p:cNvPr>
            <p:cNvSpPr>
              <a:spLocks/>
            </p:cNvSpPr>
            <p:nvPr/>
          </p:nvSpPr>
          <p:spPr bwMode="auto">
            <a:xfrm>
              <a:off x="2193" y="1954"/>
              <a:ext cx="7" cy="10"/>
            </a:xfrm>
            <a:custGeom>
              <a:avLst/>
              <a:gdLst>
                <a:gd name="T0" fmla="*/ 23 w 23"/>
                <a:gd name="T1" fmla="*/ 13 h 30"/>
                <a:gd name="T2" fmla="*/ 23 w 23"/>
                <a:gd name="T3" fmla="*/ 11 h 30"/>
                <a:gd name="T4" fmla="*/ 21 w 23"/>
                <a:gd name="T5" fmla="*/ 9 h 30"/>
                <a:gd name="T6" fmla="*/ 21 w 23"/>
                <a:gd name="T7" fmla="*/ 7 h 30"/>
                <a:gd name="T8" fmla="*/ 19 w 23"/>
                <a:gd name="T9" fmla="*/ 4 h 30"/>
                <a:gd name="T10" fmla="*/ 18 w 23"/>
                <a:gd name="T11" fmla="*/ 2 h 30"/>
                <a:gd name="T12" fmla="*/ 17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4 w 23"/>
                <a:gd name="T25" fmla="*/ 2 h 30"/>
                <a:gd name="T26" fmla="*/ 3 w 23"/>
                <a:gd name="T27" fmla="*/ 4 h 30"/>
                <a:gd name="T28" fmla="*/ 1 w 23"/>
                <a:gd name="T29" fmla="*/ 7 h 30"/>
                <a:gd name="T30" fmla="*/ 1 w 23"/>
                <a:gd name="T31" fmla="*/ 9 h 30"/>
                <a:gd name="T32" fmla="*/ 0 w 23"/>
                <a:gd name="T33" fmla="*/ 11 h 30"/>
                <a:gd name="T34" fmla="*/ 0 w 23"/>
                <a:gd name="T35" fmla="*/ 13 h 30"/>
                <a:gd name="T36" fmla="*/ 0 w 23"/>
                <a:gd name="T37" fmla="*/ 16 h 30"/>
                <a:gd name="T38" fmla="*/ 0 w 23"/>
                <a:gd name="T39" fmla="*/ 19 h 30"/>
                <a:gd name="T40" fmla="*/ 1 w 23"/>
                <a:gd name="T41" fmla="*/ 22 h 30"/>
                <a:gd name="T42" fmla="*/ 1 w 23"/>
                <a:gd name="T43" fmla="*/ 24 h 30"/>
                <a:gd name="T44" fmla="*/ 3 w 23"/>
                <a:gd name="T45" fmla="*/ 25 h 30"/>
                <a:gd name="T46" fmla="*/ 4 w 23"/>
                <a:gd name="T47" fmla="*/ 27 h 30"/>
                <a:gd name="T48" fmla="*/ 7 w 23"/>
                <a:gd name="T49" fmla="*/ 28 h 30"/>
                <a:gd name="T50" fmla="*/ 9 w 23"/>
                <a:gd name="T51" fmla="*/ 30 h 30"/>
                <a:gd name="T52" fmla="*/ 10 w 23"/>
                <a:gd name="T53" fmla="*/ 30 h 30"/>
                <a:gd name="T54" fmla="*/ 12 w 23"/>
                <a:gd name="T55" fmla="*/ 30 h 30"/>
                <a:gd name="T56" fmla="*/ 14 w 23"/>
                <a:gd name="T57" fmla="*/ 30 h 30"/>
                <a:gd name="T58" fmla="*/ 17 w 23"/>
                <a:gd name="T59" fmla="*/ 28 h 30"/>
                <a:gd name="T60" fmla="*/ 18 w 23"/>
                <a:gd name="T61" fmla="*/ 27 h 30"/>
                <a:gd name="T62" fmla="*/ 19 w 23"/>
                <a:gd name="T63" fmla="*/ 25 h 30"/>
                <a:gd name="T64" fmla="*/ 21 w 23"/>
                <a:gd name="T65" fmla="*/ 24 h 30"/>
                <a:gd name="T66" fmla="*/ 21 w 23"/>
                <a:gd name="T67" fmla="*/ 22 h 30"/>
                <a:gd name="T68" fmla="*/ 23 w 23"/>
                <a:gd name="T69" fmla="*/ 19 h 30"/>
                <a:gd name="T70" fmla="*/ 23 w 23"/>
                <a:gd name="T71" fmla="*/ 16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5"/>
                  </a:lnTo>
                  <a:lnTo>
                    <a:pt x="19" y="4"/>
                  </a:lnTo>
                  <a:lnTo>
                    <a:pt x="19" y="3"/>
                  </a:lnTo>
                  <a:lnTo>
                    <a:pt x="18" y="2"/>
                  </a:lnTo>
                  <a:lnTo>
                    <a:pt x="17" y="1"/>
                  </a:lnTo>
                  <a:lnTo>
                    <a:pt x="15" y="0"/>
                  </a:lnTo>
                  <a:lnTo>
                    <a:pt x="14" y="0"/>
                  </a:lnTo>
                  <a:lnTo>
                    <a:pt x="13" y="0"/>
                  </a:lnTo>
                  <a:lnTo>
                    <a:pt x="12" y="0"/>
                  </a:lnTo>
                  <a:lnTo>
                    <a:pt x="11" y="0"/>
                  </a:lnTo>
                  <a:lnTo>
                    <a:pt x="10" y="0"/>
                  </a:lnTo>
                  <a:lnTo>
                    <a:pt x="9" y="0"/>
                  </a:lnTo>
                  <a:lnTo>
                    <a:pt x="8" y="0"/>
                  </a:lnTo>
                  <a:lnTo>
                    <a:pt x="7" y="1"/>
                  </a:lnTo>
                  <a:lnTo>
                    <a:pt x="6" y="1"/>
                  </a:lnTo>
                  <a:lnTo>
                    <a:pt x="4" y="2"/>
                  </a:lnTo>
                  <a:lnTo>
                    <a:pt x="3" y="3"/>
                  </a:lnTo>
                  <a:lnTo>
                    <a:pt x="3" y="4"/>
                  </a:lnTo>
                  <a:lnTo>
                    <a:pt x="2" y="5"/>
                  </a:lnTo>
                  <a:lnTo>
                    <a:pt x="1" y="7"/>
                  </a:lnTo>
                  <a:lnTo>
                    <a:pt x="1" y="8"/>
                  </a:lnTo>
                  <a:lnTo>
                    <a:pt x="1" y="9"/>
                  </a:lnTo>
                  <a:lnTo>
                    <a:pt x="0" y="10"/>
                  </a:lnTo>
                  <a:lnTo>
                    <a:pt x="0" y="11"/>
                  </a:lnTo>
                  <a:lnTo>
                    <a:pt x="0" y="12"/>
                  </a:lnTo>
                  <a:lnTo>
                    <a:pt x="0" y="13"/>
                  </a:lnTo>
                  <a:lnTo>
                    <a:pt x="0" y="14"/>
                  </a:lnTo>
                  <a:lnTo>
                    <a:pt x="0" y="16"/>
                  </a:lnTo>
                  <a:lnTo>
                    <a:pt x="0" y="17"/>
                  </a:lnTo>
                  <a:lnTo>
                    <a:pt x="0" y="19"/>
                  </a:lnTo>
                  <a:lnTo>
                    <a:pt x="0" y="20"/>
                  </a:lnTo>
                  <a:lnTo>
                    <a:pt x="1" y="22"/>
                  </a:lnTo>
                  <a:lnTo>
                    <a:pt x="1" y="23"/>
                  </a:lnTo>
                  <a:lnTo>
                    <a:pt x="1" y="24"/>
                  </a:lnTo>
                  <a:lnTo>
                    <a:pt x="2" y="24"/>
                  </a:lnTo>
                  <a:lnTo>
                    <a:pt x="3" y="25"/>
                  </a:lnTo>
                  <a:lnTo>
                    <a:pt x="3" y="26"/>
                  </a:lnTo>
                  <a:lnTo>
                    <a:pt x="4" y="27"/>
                  </a:lnTo>
                  <a:lnTo>
                    <a:pt x="6" y="28"/>
                  </a:lnTo>
                  <a:lnTo>
                    <a:pt x="7" y="28"/>
                  </a:lnTo>
                  <a:lnTo>
                    <a:pt x="8" y="30"/>
                  </a:lnTo>
                  <a:lnTo>
                    <a:pt x="9" y="30"/>
                  </a:lnTo>
                  <a:lnTo>
                    <a:pt x="10" y="30"/>
                  </a:lnTo>
                  <a:lnTo>
                    <a:pt x="11" y="30"/>
                  </a:lnTo>
                  <a:lnTo>
                    <a:pt x="12" y="30"/>
                  </a:lnTo>
                  <a:lnTo>
                    <a:pt x="13" y="30"/>
                  </a:lnTo>
                  <a:lnTo>
                    <a:pt x="14" y="30"/>
                  </a:lnTo>
                  <a:lnTo>
                    <a:pt x="15" y="30"/>
                  </a:lnTo>
                  <a:lnTo>
                    <a:pt x="17" y="28"/>
                  </a:lnTo>
                  <a:lnTo>
                    <a:pt x="18" y="27"/>
                  </a:lnTo>
                  <a:lnTo>
                    <a:pt x="19" y="26"/>
                  </a:lnTo>
                  <a:lnTo>
                    <a:pt x="19" y="25"/>
                  </a:lnTo>
                  <a:lnTo>
                    <a:pt x="20" y="24"/>
                  </a:lnTo>
                  <a:lnTo>
                    <a:pt x="21" y="24"/>
                  </a:lnTo>
                  <a:lnTo>
                    <a:pt x="21" y="23"/>
                  </a:lnTo>
                  <a:lnTo>
                    <a:pt x="21" y="22"/>
                  </a:lnTo>
                  <a:lnTo>
                    <a:pt x="22" y="20"/>
                  </a:lnTo>
                  <a:lnTo>
                    <a:pt x="23" y="19"/>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47" name="Line 151">
              <a:extLst>
                <a:ext uri="{FF2B5EF4-FFF2-40B4-BE49-F238E27FC236}">
                  <a16:creationId xmlns:a16="http://schemas.microsoft.com/office/drawing/2014/main" id="{DA5952B7-8960-9F49-AC67-BA8C9F5D4296}"/>
                </a:ext>
              </a:extLst>
            </p:cNvPr>
            <p:cNvSpPr>
              <a:spLocks noChangeShapeType="1"/>
            </p:cNvSpPr>
            <p:nvPr/>
          </p:nvSpPr>
          <p:spPr bwMode="auto">
            <a:xfrm>
              <a:off x="2254" y="1903"/>
              <a:ext cx="1" cy="5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48" name="Line 152">
              <a:extLst>
                <a:ext uri="{FF2B5EF4-FFF2-40B4-BE49-F238E27FC236}">
                  <a16:creationId xmlns:a16="http://schemas.microsoft.com/office/drawing/2014/main" id="{E3410A77-D5BF-6643-BACB-2A7C6F7FA410}"/>
                </a:ext>
              </a:extLst>
            </p:cNvPr>
            <p:cNvSpPr>
              <a:spLocks noChangeShapeType="1"/>
            </p:cNvSpPr>
            <p:nvPr/>
          </p:nvSpPr>
          <p:spPr bwMode="auto">
            <a:xfrm>
              <a:off x="2234" y="1927"/>
              <a:ext cx="40"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49" name="Freeform 153">
              <a:extLst>
                <a:ext uri="{FF2B5EF4-FFF2-40B4-BE49-F238E27FC236}">
                  <a16:creationId xmlns:a16="http://schemas.microsoft.com/office/drawing/2014/main" id="{4768F5A9-82B3-5E45-BFE7-E644868304D1}"/>
                </a:ext>
              </a:extLst>
            </p:cNvPr>
            <p:cNvSpPr>
              <a:spLocks/>
            </p:cNvSpPr>
            <p:nvPr/>
          </p:nvSpPr>
          <p:spPr bwMode="auto">
            <a:xfrm>
              <a:off x="2341" y="1608"/>
              <a:ext cx="205" cy="215"/>
            </a:xfrm>
            <a:custGeom>
              <a:avLst/>
              <a:gdLst>
                <a:gd name="T0" fmla="*/ 56 w 615"/>
                <a:gd name="T1" fmla="*/ 195 h 643"/>
                <a:gd name="T2" fmla="*/ 0 w 615"/>
                <a:gd name="T3" fmla="*/ 195 h 643"/>
                <a:gd name="T4" fmla="*/ 308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8"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50" name="Rectangle 154">
              <a:extLst>
                <a:ext uri="{FF2B5EF4-FFF2-40B4-BE49-F238E27FC236}">
                  <a16:creationId xmlns:a16="http://schemas.microsoft.com/office/drawing/2014/main" id="{5C7D0BDC-D187-984D-83F9-67686C6762A1}"/>
                </a:ext>
              </a:extLst>
            </p:cNvPr>
            <p:cNvSpPr>
              <a:spLocks noChangeArrowheads="1"/>
            </p:cNvSpPr>
            <p:nvPr/>
          </p:nvSpPr>
          <p:spPr bwMode="auto">
            <a:xfrm>
              <a:off x="2360" y="1673"/>
              <a:ext cx="169" cy="14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51" name="Rectangle 155">
              <a:extLst>
                <a:ext uri="{FF2B5EF4-FFF2-40B4-BE49-F238E27FC236}">
                  <a16:creationId xmlns:a16="http://schemas.microsoft.com/office/drawing/2014/main" id="{66EC12D3-A11B-6249-8752-601AA4769507}"/>
                </a:ext>
              </a:extLst>
            </p:cNvPr>
            <p:cNvSpPr>
              <a:spLocks noChangeArrowheads="1"/>
            </p:cNvSpPr>
            <p:nvPr/>
          </p:nvSpPr>
          <p:spPr bwMode="auto">
            <a:xfrm>
              <a:off x="2387" y="1707"/>
              <a:ext cx="59" cy="10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52" name="Rectangle 156">
              <a:extLst>
                <a:ext uri="{FF2B5EF4-FFF2-40B4-BE49-F238E27FC236}">
                  <a16:creationId xmlns:a16="http://schemas.microsoft.com/office/drawing/2014/main" id="{6B27785C-42FD-7748-9DE1-8142B7B38AA7}"/>
                </a:ext>
              </a:extLst>
            </p:cNvPr>
            <p:cNvSpPr>
              <a:spLocks noChangeArrowheads="1"/>
            </p:cNvSpPr>
            <p:nvPr/>
          </p:nvSpPr>
          <p:spPr bwMode="auto">
            <a:xfrm>
              <a:off x="2472" y="1704"/>
              <a:ext cx="41" cy="51"/>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53" name="Freeform 157">
              <a:extLst>
                <a:ext uri="{FF2B5EF4-FFF2-40B4-BE49-F238E27FC236}">
                  <a16:creationId xmlns:a16="http://schemas.microsoft.com/office/drawing/2014/main" id="{A93AF0D4-9EC9-C54A-8D1E-7E5F1B6DFBA7}"/>
                </a:ext>
              </a:extLst>
            </p:cNvPr>
            <p:cNvSpPr>
              <a:spLocks/>
            </p:cNvSpPr>
            <p:nvPr/>
          </p:nvSpPr>
          <p:spPr bwMode="auto">
            <a:xfrm>
              <a:off x="2431" y="1755"/>
              <a:ext cx="7" cy="10"/>
            </a:xfrm>
            <a:custGeom>
              <a:avLst/>
              <a:gdLst>
                <a:gd name="T0" fmla="*/ 23 w 23"/>
                <a:gd name="T1" fmla="*/ 13 h 30"/>
                <a:gd name="T2" fmla="*/ 23 w 23"/>
                <a:gd name="T3" fmla="*/ 11 h 30"/>
                <a:gd name="T4" fmla="*/ 21 w 23"/>
                <a:gd name="T5" fmla="*/ 9 h 30"/>
                <a:gd name="T6" fmla="*/ 21 w 23"/>
                <a:gd name="T7" fmla="*/ 6 h 30"/>
                <a:gd name="T8" fmla="*/ 19 w 23"/>
                <a:gd name="T9" fmla="*/ 4 h 30"/>
                <a:gd name="T10" fmla="*/ 18 w 23"/>
                <a:gd name="T11" fmla="*/ 2 h 30"/>
                <a:gd name="T12" fmla="*/ 17 w 23"/>
                <a:gd name="T13" fmla="*/ 1 h 30"/>
                <a:gd name="T14" fmla="*/ 15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4 w 23"/>
                <a:gd name="T27" fmla="*/ 4 h 30"/>
                <a:gd name="T28" fmla="*/ 1 w 23"/>
                <a:gd name="T29" fmla="*/ 6 h 30"/>
                <a:gd name="T30" fmla="*/ 1 w 23"/>
                <a:gd name="T31" fmla="*/ 9 h 30"/>
                <a:gd name="T32" fmla="*/ 0 w 23"/>
                <a:gd name="T33" fmla="*/ 11 h 30"/>
                <a:gd name="T34" fmla="*/ 0 w 23"/>
                <a:gd name="T35" fmla="*/ 13 h 30"/>
                <a:gd name="T36" fmla="*/ 0 w 23"/>
                <a:gd name="T37" fmla="*/ 16 h 30"/>
                <a:gd name="T38" fmla="*/ 0 w 23"/>
                <a:gd name="T39" fmla="*/ 19 h 30"/>
                <a:gd name="T40" fmla="*/ 1 w 23"/>
                <a:gd name="T41" fmla="*/ 22 h 30"/>
                <a:gd name="T42" fmla="*/ 1 w 23"/>
                <a:gd name="T43" fmla="*/ 24 h 30"/>
                <a:gd name="T44" fmla="*/ 4 w 23"/>
                <a:gd name="T45" fmla="*/ 25 h 30"/>
                <a:gd name="T46" fmla="*/ 5 w 23"/>
                <a:gd name="T47" fmla="*/ 27 h 30"/>
                <a:gd name="T48" fmla="*/ 7 w 23"/>
                <a:gd name="T49" fmla="*/ 28 h 30"/>
                <a:gd name="T50" fmla="*/ 9 w 23"/>
                <a:gd name="T51" fmla="*/ 30 h 30"/>
                <a:gd name="T52" fmla="*/ 10 w 23"/>
                <a:gd name="T53" fmla="*/ 30 h 30"/>
                <a:gd name="T54" fmla="*/ 12 w 23"/>
                <a:gd name="T55" fmla="*/ 30 h 30"/>
                <a:gd name="T56" fmla="*/ 15 w 23"/>
                <a:gd name="T57" fmla="*/ 30 h 30"/>
                <a:gd name="T58" fmla="*/ 17 w 23"/>
                <a:gd name="T59" fmla="*/ 28 h 30"/>
                <a:gd name="T60" fmla="*/ 18 w 23"/>
                <a:gd name="T61" fmla="*/ 27 h 30"/>
                <a:gd name="T62" fmla="*/ 19 w 23"/>
                <a:gd name="T63" fmla="*/ 25 h 30"/>
                <a:gd name="T64" fmla="*/ 21 w 23"/>
                <a:gd name="T65" fmla="*/ 24 h 30"/>
                <a:gd name="T66" fmla="*/ 21 w 23"/>
                <a:gd name="T67" fmla="*/ 22 h 30"/>
                <a:gd name="T68" fmla="*/ 23 w 23"/>
                <a:gd name="T69" fmla="*/ 19 h 30"/>
                <a:gd name="T70" fmla="*/ 23 w 23"/>
                <a:gd name="T71" fmla="*/ 16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6"/>
                  </a:lnTo>
                  <a:lnTo>
                    <a:pt x="20" y="5"/>
                  </a:lnTo>
                  <a:lnTo>
                    <a:pt x="19" y="4"/>
                  </a:lnTo>
                  <a:lnTo>
                    <a:pt x="19" y="3"/>
                  </a:lnTo>
                  <a:lnTo>
                    <a:pt x="18" y="2"/>
                  </a:lnTo>
                  <a:lnTo>
                    <a:pt x="17" y="1"/>
                  </a:lnTo>
                  <a:lnTo>
                    <a:pt x="16" y="0"/>
                  </a:lnTo>
                  <a:lnTo>
                    <a:pt x="15" y="0"/>
                  </a:lnTo>
                  <a:lnTo>
                    <a:pt x="13" y="0"/>
                  </a:lnTo>
                  <a:lnTo>
                    <a:pt x="12" y="0"/>
                  </a:lnTo>
                  <a:lnTo>
                    <a:pt x="11" y="0"/>
                  </a:lnTo>
                  <a:lnTo>
                    <a:pt x="10" y="0"/>
                  </a:lnTo>
                  <a:lnTo>
                    <a:pt x="9" y="0"/>
                  </a:lnTo>
                  <a:lnTo>
                    <a:pt x="8" y="0"/>
                  </a:lnTo>
                  <a:lnTo>
                    <a:pt x="7" y="1"/>
                  </a:lnTo>
                  <a:lnTo>
                    <a:pt x="6" y="1"/>
                  </a:lnTo>
                  <a:lnTo>
                    <a:pt x="5" y="2"/>
                  </a:lnTo>
                  <a:lnTo>
                    <a:pt x="4" y="3"/>
                  </a:lnTo>
                  <a:lnTo>
                    <a:pt x="4" y="4"/>
                  </a:lnTo>
                  <a:lnTo>
                    <a:pt x="2" y="5"/>
                  </a:lnTo>
                  <a:lnTo>
                    <a:pt x="1" y="6"/>
                  </a:lnTo>
                  <a:lnTo>
                    <a:pt x="1" y="8"/>
                  </a:lnTo>
                  <a:lnTo>
                    <a:pt x="1" y="9"/>
                  </a:lnTo>
                  <a:lnTo>
                    <a:pt x="0" y="10"/>
                  </a:lnTo>
                  <a:lnTo>
                    <a:pt x="0" y="11"/>
                  </a:lnTo>
                  <a:lnTo>
                    <a:pt x="0" y="12"/>
                  </a:lnTo>
                  <a:lnTo>
                    <a:pt x="0" y="13"/>
                  </a:lnTo>
                  <a:lnTo>
                    <a:pt x="0" y="14"/>
                  </a:lnTo>
                  <a:lnTo>
                    <a:pt x="0" y="16"/>
                  </a:lnTo>
                  <a:lnTo>
                    <a:pt x="0" y="17"/>
                  </a:lnTo>
                  <a:lnTo>
                    <a:pt x="0" y="19"/>
                  </a:lnTo>
                  <a:lnTo>
                    <a:pt x="0" y="20"/>
                  </a:lnTo>
                  <a:lnTo>
                    <a:pt x="1" y="22"/>
                  </a:lnTo>
                  <a:lnTo>
                    <a:pt x="1" y="23"/>
                  </a:lnTo>
                  <a:lnTo>
                    <a:pt x="1" y="24"/>
                  </a:lnTo>
                  <a:lnTo>
                    <a:pt x="2" y="24"/>
                  </a:lnTo>
                  <a:lnTo>
                    <a:pt x="4" y="25"/>
                  </a:lnTo>
                  <a:lnTo>
                    <a:pt x="4" y="26"/>
                  </a:lnTo>
                  <a:lnTo>
                    <a:pt x="5" y="27"/>
                  </a:lnTo>
                  <a:lnTo>
                    <a:pt x="6" y="28"/>
                  </a:lnTo>
                  <a:lnTo>
                    <a:pt x="7" y="28"/>
                  </a:lnTo>
                  <a:lnTo>
                    <a:pt x="8" y="30"/>
                  </a:lnTo>
                  <a:lnTo>
                    <a:pt x="9" y="30"/>
                  </a:lnTo>
                  <a:lnTo>
                    <a:pt x="10" y="30"/>
                  </a:lnTo>
                  <a:lnTo>
                    <a:pt x="11" y="30"/>
                  </a:lnTo>
                  <a:lnTo>
                    <a:pt x="12" y="30"/>
                  </a:lnTo>
                  <a:lnTo>
                    <a:pt x="13" y="30"/>
                  </a:lnTo>
                  <a:lnTo>
                    <a:pt x="15" y="30"/>
                  </a:lnTo>
                  <a:lnTo>
                    <a:pt x="16" y="30"/>
                  </a:lnTo>
                  <a:lnTo>
                    <a:pt x="17" y="28"/>
                  </a:lnTo>
                  <a:lnTo>
                    <a:pt x="18" y="27"/>
                  </a:lnTo>
                  <a:lnTo>
                    <a:pt x="19" y="26"/>
                  </a:lnTo>
                  <a:lnTo>
                    <a:pt x="19" y="25"/>
                  </a:lnTo>
                  <a:lnTo>
                    <a:pt x="20" y="24"/>
                  </a:lnTo>
                  <a:lnTo>
                    <a:pt x="21" y="24"/>
                  </a:lnTo>
                  <a:lnTo>
                    <a:pt x="21" y="23"/>
                  </a:lnTo>
                  <a:lnTo>
                    <a:pt x="21" y="22"/>
                  </a:lnTo>
                  <a:lnTo>
                    <a:pt x="22" y="20"/>
                  </a:lnTo>
                  <a:lnTo>
                    <a:pt x="23" y="19"/>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54" name="Line 158">
              <a:extLst>
                <a:ext uri="{FF2B5EF4-FFF2-40B4-BE49-F238E27FC236}">
                  <a16:creationId xmlns:a16="http://schemas.microsoft.com/office/drawing/2014/main" id="{6B8607AD-19B4-5B45-A0C3-D483B49916E2}"/>
                </a:ext>
              </a:extLst>
            </p:cNvPr>
            <p:cNvSpPr>
              <a:spLocks noChangeShapeType="1"/>
            </p:cNvSpPr>
            <p:nvPr/>
          </p:nvSpPr>
          <p:spPr bwMode="auto">
            <a:xfrm>
              <a:off x="2492" y="1704"/>
              <a:ext cx="1" cy="5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55" name="Line 159">
              <a:extLst>
                <a:ext uri="{FF2B5EF4-FFF2-40B4-BE49-F238E27FC236}">
                  <a16:creationId xmlns:a16="http://schemas.microsoft.com/office/drawing/2014/main" id="{02BC374B-128C-1440-9EBB-5EAB6313F583}"/>
                </a:ext>
              </a:extLst>
            </p:cNvPr>
            <p:cNvSpPr>
              <a:spLocks noChangeShapeType="1"/>
            </p:cNvSpPr>
            <p:nvPr/>
          </p:nvSpPr>
          <p:spPr bwMode="auto">
            <a:xfrm>
              <a:off x="2472" y="1728"/>
              <a:ext cx="40"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56" name="Freeform 160">
              <a:extLst>
                <a:ext uri="{FF2B5EF4-FFF2-40B4-BE49-F238E27FC236}">
                  <a16:creationId xmlns:a16="http://schemas.microsoft.com/office/drawing/2014/main" id="{3BC3CE49-7C20-CF48-9BAC-C0EB08BC846D}"/>
                </a:ext>
              </a:extLst>
            </p:cNvPr>
            <p:cNvSpPr>
              <a:spLocks/>
            </p:cNvSpPr>
            <p:nvPr/>
          </p:nvSpPr>
          <p:spPr bwMode="auto">
            <a:xfrm>
              <a:off x="1943" y="1553"/>
              <a:ext cx="205" cy="214"/>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4 h 643"/>
                <a:gd name="T14" fmla="*/ 56 w 614"/>
                <a:gd name="T15" fmla="*/ 614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4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4"/>
                  </a:lnTo>
                  <a:lnTo>
                    <a:pt x="56" y="614"/>
                  </a:lnTo>
                  <a:lnTo>
                    <a:pt x="56" y="195"/>
                  </a:lnTo>
                  <a:lnTo>
                    <a:pt x="558"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57" name="Rectangle 161">
              <a:extLst>
                <a:ext uri="{FF2B5EF4-FFF2-40B4-BE49-F238E27FC236}">
                  <a16:creationId xmlns:a16="http://schemas.microsoft.com/office/drawing/2014/main" id="{A5EECB5E-85E4-5246-BC9D-7C3FEB66D2DA}"/>
                </a:ext>
              </a:extLst>
            </p:cNvPr>
            <p:cNvSpPr>
              <a:spLocks noChangeArrowheads="1"/>
            </p:cNvSpPr>
            <p:nvPr/>
          </p:nvSpPr>
          <p:spPr bwMode="auto">
            <a:xfrm>
              <a:off x="1962" y="1618"/>
              <a:ext cx="170" cy="139"/>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58" name="Rectangle 162">
              <a:extLst>
                <a:ext uri="{FF2B5EF4-FFF2-40B4-BE49-F238E27FC236}">
                  <a16:creationId xmlns:a16="http://schemas.microsoft.com/office/drawing/2014/main" id="{2910FBC7-FC47-BA44-A235-069D420D2E03}"/>
                </a:ext>
              </a:extLst>
            </p:cNvPr>
            <p:cNvSpPr>
              <a:spLocks noChangeArrowheads="1"/>
            </p:cNvSpPr>
            <p:nvPr/>
          </p:nvSpPr>
          <p:spPr bwMode="auto">
            <a:xfrm>
              <a:off x="1989" y="1651"/>
              <a:ext cx="60" cy="10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59" name="Rectangle 163">
              <a:extLst>
                <a:ext uri="{FF2B5EF4-FFF2-40B4-BE49-F238E27FC236}">
                  <a16:creationId xmlns:a16="http://schemas.microsoft.com/office/drawing/2014/main" id="{2275AD65-5642-384E-8B1C-E5FB252703BA}"/>
                </a:ext>
              </a:extLst>
            </p:cNvPr>
            <p:cNvSpPr>
              <a:spLocks noChangeArrowheads="1"/>
            </p:cNvSpPr>
            <p:nvPr/>
          </p:nvSpPr>
          <p:spPr bwMode="auto">
            <a:xfrm>
              <a:off x="2075" y="1648"/>
              <a:ext cx="40" cy="51"/>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60" name="Freeform 164">
              <a:extLst>
                <a:ext uri="{FF2B5EF4-FFF2-40B4-BE49-F238E27FC236}">
                  <a16:creationId xmlns:a16="http://schemas.microsoft.com/office/drawing/2014/main" id="{9E7FE005-87CB-504A-88FD-3A84618643A5}"/>
                </a:ext>
              </a:extLst>
            </p:cNvPr>
            <p:cNvSpPr>
              <a:spLocks/>
            </p:cNvSpPr>
            <p:nvPr/>
          </p:nvSpPr>
          <p:spPr bwMode="auto">
            <a:xfrm>
              <a:off x="2033" y="1700"/>
              <a:ext cx="8" cy="10"/>
            </a:xfrm>
            <a:custGeom>
              <a:avLst/>
              <a:gdLst>
                <a:gd name="T0" fmla="*/ 23 w 23"/>
                <a:gd name="T1" fmla="*/ 13 h 30"/>
                <a:gd name="T2" fmla="*/ 23 w 23"/>
                <a:gd name="T3" fmla="*/ 11 h 30"/>
                <a:gd name="T4" fmla="*/ 20 w 23"/>
                <a:gd name="T5" fmla="*/ 9 h 30"/>
                <a:gd name="T6" fmla="*/ 20 w 23"/>
                <a:gd name="T7" fmla="*/ 7 h 30"/>
                <a:gd name="T8" fmla="*/ 18 w 23"/>
                <a:gd name="T9" fmla="*/ 4 h 30"/>
                <a:gd name="T10" fmla="*/ 17 w 23"/>
                <a:gd name="T11" fmla="*/ 2 h 30"/>
                <a:gd name="T12" fmla="*/ 16 w 23"/>
                <a:gd name="T13" fmla="*/ 1 h 30"/>
                <a:gd name="T14" fmla="*/ 14 w 23"/>
                <a:gd name="T15" fmla="*/ 0 h 30"/>
                <a:gd name="T16" fmla="*/ 12 w 23"/>
                <a:gd name="T17" fmla="*/ 0 h 30"/>
                <a:gd name="T18" fmla="*/ 10 w 23"/>
                <a:gd name="T19" fmla="*/ 0 h 30"/>
                <a:gd name="T20" fmla="*/ 8 w 23"/>
                <a:gd name="T21" fmla="*/ 0 h 30"/>
                <a:gd name="T22" fmla="*/ 6 w 23"/>
                <a:gd name="T23" fmla="*/ 1 h 30"/>
                <a:gd name="T24" fmla="*/ 4 w 23"/>
                <a:gd name="T25" fmla="*/ 2 h 30"/>
                <a:gd name="T26" fmla="*/ 3 w 23"/>
                <a:gd name="T27" fmla="*/ 4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5 h 30"/>
                <a:gd name="T46" fmla="*/ 4 w 23"/>
                <a:gd name="T47" fmla="*/ 28 h 30"/>
                <a:gd name="T48" fmla="*/ 6 w 23"/>
                <a:gd name="T49" fmla="*/ 29 h 30"/>
                <a:gd name="T50" fmla="*/ 8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5 h 30"/>
                <a:gd name="T64" fmla="*/ 20 w 23"/>
                <a:gd name="T65" fmla="*/ 24 h 30"/>
                <a:gd name="T66" fmla="*/ 20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0" y="9"/>
                  </a:lnTo>
                  <a:lnTo>
                    <a:pt x="20" y="8"/>
                  </a:lnTo>
                  <a:lnTo>
                    <a:pt x="20" y="7"/>
                  </a:lnTo>
                  <a:lnTo>
                    <a:pt x="19" y="6"/>
                  </a:lnTo>
                  <a:lnTo>
                    <a:pt x="18" y="4"/>
                  </a:lnTo>
                  <a:lnTo>
                    <a:pt x="18" y="3"/>
                  </a:lnTo>
                  <a:lnTo>
                    <a:pt x="17" y="2"/>
                  </a:lnTo>
                  <a:lnTo>
                    <a:pt x="16" y="1"/>
                  </a:lnTo>
                  <a:lnTo>
                    <a:pt x="15" y="0"/>
                  </a:lnTo>
                  <a:lnTo>
                    <a:pt x="14" y="0"/>
                  </a:lnTo>
                  <a:lnTo>
                    <a:pt x="13" y="0"/>
                  </a:lnTo>
                  <a:lnTo>
                    <a:pt x="12" y="0"/>
                  </a:lnTo>
                  <a:lnTo>
                    <a:pt x="11" y="0"/>
                  </a:lnTo>
                  <a:lnTo>
                    <a:pt x="10" y="0"/>
                  </a:lnTo>
                  <a:lnTo>
                    <a:pt x="8" y="0"/>
                  </a:lnTo>
                  <a:lnTo>
                    <a:pt x="7" y="0"/>
                  </a:lnTo>
                  <a:lnTo>
                    <a:pt x="6" y="1"/>
                  </a:lnTo>
                  <a:lnTo>
                    <a:pt x="5" y="1"/>
                  </a:lnTo>
                  <a:lnTo>
                    <a:pt x="4" y="2"/>
                  </a:lnTo>
                  <a:lnTo>
                    <a:pt x="3" y="3"/>
                  </a:lnTo>
                  <a:lnTo>
                    <a:pt x="3" y="4"/>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3" y="25"/>
                  </a:lnTo>
                  <a:lnTo>
                    <a:pt x="3" y="26"/>
                  </a:lnTo>
                  <a:lnTo>
                    <a:pt x="4" y="28"/>
                  </a:lnTo>
                  <a:lnTo>
                    <a:pt x="5" y="29"/>
                  </a:lnTo>
                  <a:lnTo>
                    <a:pt x="6" y="29"/>
                  </a:lnTo>
                  <a:lnTo>
                    <a:pt x="7" y="30"/>
                  </a:lnTo>
                  <a:lnTo>
                    <a:pt x="8" y="30"/>
                  </a:lnTo>
                  <a:lnTo>
                    <a:pt x="10" y="30"/>
                  </a:lnTo>
                  <a:lnTo>
                    <a:pt x="11" y="30"/>
                  </a:lnTo>
                  <a:lnTo>
                    <a:pt x="12" y="30"/>
                  </a:lnTo>
                  <a:lnTo>
                    <a:pt x="13" y="30"/>
                  </a:lnTo>
                  <a:lnTo>
                    <a:pt x="14" y="30"/>
                  </a:lnTo>
                  <a:lnTo>
                    <a:pt x="15" y="30"/>
                  </a:lnTo>
                  <a:lnTo>
                    <a:pt x="16" y="29"/>
                  </a:lnTo>
                  <a:lnTo>
                    <a:pt x="17" y="28"/>
                  </a:lnTo>
                  <a:lnTo>
                    <a:pt x="18" y="26"/>
                  </a:lnTo>
                  <a:lnTo>
                    <a:pt x="18" y="25"/>
                  </a:lnTo>
                  <a:lnTo>
                    <a:pt x="19" y="24"/>
                  </a:lnTo>
                  <a:lnTo>
                    <a:pt x="20" y="24"/>
                  </a:lnTo>
                  <a:lnTo>
                    <a:pt x="20" y="23"/>
                  </a:lnTo>
                  <a:lnTo>
                    <a:pt x="20"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61" name="Line 165">
              <a:extLst>
                <a:ext uri="{FF2B5EF4-FFF2-40B4-BE49-F238E27FC236}">
                  <a16:creationId xmlns:a16="http://schemas.microsoft.com/office/drawing/2014/main" id="{18A3AD67-9664-3F46-AF85-489BD9787052}"/>
                </a:ext>
              </a:extLst>
            </p:cNvPr>
            <p:cNvSpPr>
              <a:spLocks noChangeShapeType="1"/>
            </p:cNvSpPr>
            <p:nvPr/>
          </p:nvSpPr>
          <p:spPr bwMode="auto">
            <a:xfrm>
              <a:off x="2094" y="1649"/>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62" name="Line 166">
              <a:extLst>
                <a:ext uri="{FF2B5EF4-FFF2-40B4-BE49-F238E27FC236}">
                  <a16:creationId xmlns:a16="http://schemas.microsoft.com/office/drawing/2014/main" id="{206E2A2D-AB87-A147-834F-1A38A1442D1D}"/>
                </a:ext>
              </a:extLst>
            </p:cNvPr>
            <p:cNvSpPr>
              <a:spLocks noChangeShapeType="1"/>
            </p:cNvSpPr>
            <p:nvPr/>
          </p:nvSpPr>
          <p:spPr bwMode="auto">
            <a:xfrm>
              <a:off x="2075" y="1673"/>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63" name="Freeform 167">
              <a:extLst>
                <a:ext uri="{FF2B5EF4-FFF2-40B4-BE49-F238E27FC236}">
                  <a16:creationId xmlns:a16="http://schemas.microsoft.com/office/drawing/2014/main" id="{1C275BD1-A047-224A-9EE4-A59CAC55CA83}"/>
                </a:ext>
              </a:extLst>
            </p:cNvPr>
            <p:cNvSpPr>
              <a:spLocks/>
            </p:cNvSpPr>
            <p:nvPr/>
          </p:nvSpPr>
          <p:spPr bwMode="auto">
            <a:xfrm>
              <a:off x="2047" y="1099"/>
              <a:ext cx="205" cy="214"/>
            </a:xfrm>
            <a:custGeom>
              <a:avLst/>
              <a:gdLst>
                <a:gd name="T0" fmla="*/ 56 w 615"/>
                <a:gd name="T1" fmla="*/ 195 h 643"/>
                <a:gd name="T2" fmla="*/ 0 w 615"/>
                <a:gd name="T3" fmla="*/ 195 h 643"/>
                <a:gd name="T4" fmla="*/ 308 w 615"/>
                <a:gd name="T5" fmla="*/ 0 h 643"/>
                <a:gd name="T6" fmla="*/ 615 w 615"/>
                <a:gd name="T7" fmla="*/ 195 h 643"/>
                <a:gd name="T8" fmla="*/ 587 w 615"/>
                <a:gd name="T9" fmla="*/ 195 h 643"/>
                <a:gd name="T10" fmla="*/ 559 w 615"/>
                <a:gd name="T11" fmla="*/ 195 h 643"/>
                <a:gd name="T12" fmla="*/ 559 w 615"/>
                <a:gd name="T13" fmla="*/ 615 h 643"/>
                <a:gd name="T14" fmla="*/ 56 w 615"/>
                <a:gd name="T15" fmla="*/ 615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5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8" y="0"/>
                  </a:lnTo>
                  <a:lnTo>
                    <a:pt x="615" y="195"/>
                  </a:lnTo>
                  <a:lnTo>
                    <a:pt x="587" y="195"/>
                  </a:lnTo>
                  <a:lnTo>
                    <a:pt x="559" y="195"/>
                  </a:lnTo>
                  <a:lnTo>
                    <a:pt x="559" y="615"/>
                  </a:lnTo>
                  <a:lnTo>
                    <a:pt x="56" y="615"/>
                  </a:lnTo>
                  <a:lnTo>
                    <a:pt x="56" y="195"/>
                  </a:lnTo>
                  <a:lnTo>
                    <a:pt x="559" y="195"/>
                  </a:lnTo>
                  <a:lnTo>
                    <a:pt x="587" y="195"/>
                  </a:lnTo>
                  <a:lnTo>
                    <a:pt x="587" y="643"/>
                  </a:lnTo>
                  <a:lnTo>
                    <a:pt x="56" y="643"/>
                  </a:lnTo>
                  <a:lnTo>
                    <a:pt x="56" y="615"/>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64" name="Rectangle 168">
              <a:extLst>
                <a:ext uri="{FF2B5EF4-FFF2-40B4-BE49-F238E27FC236}">
                  <a16:creationId xmlns:a16="http://schemas.microsoft.com/office/drawing/2014/main" id="{FC3EA095-4438-B64E-BB74-FA561D472559}"/>
                </a:ext>
              </a:extLst>
            </p:cNvPr>
            <p:cNvSpPr>
              <a:spLocks noChangeArrowheads="1"/>
            </p:cNvSpPr>
            <p:nvPr/>
          </p:nvSpPr>
          <p:spPr bwMode="auto">
            <a:xfrm>
              <a:off x="2066" y="1164"/>
              <a:ext cx="169" cy="14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65" name="Rectangle 169">
              <a:extLst>
                <a:ext uri="{FF2B5EF4-FFF2-40B4-BE49-F238E27FC236}">
                  <a16:creationId xmlns:a16="http://schemas.microsoft.com/office/drawing/2014/main" id="{C44D36E7-FB37-3244-B322-F9892E04261D}"/>
                </a:ext>
              </a:extLst>
            </p:cNvPr>
            <p:cNvSpPr>
              <a:spLocks noChangeArrowheads="1"/>
            </p:cNvSpPr>
            <p:nvPr/>
          </p:nvSpPr>
          <p:spPr bwMode="auto">
            <a:xfrm>
              <a:off x="2093" y="1197"/>
              <a:ext cx="59" cy="106"/>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66" name="Rectangle 170">
              <a:extLst>
                <a:ext uri="{FF2B5EF4-FFF2-40B4-BE49-F238E27FC236}">
                  <a16:creationId xmlns:a16="http://schemas.microsoft.com/office/drawing/2014/main" id="{6B405779-A274-2843-963E-1D806282B732}"/>
                </a:ext>
              </a:extLst>
            </p:cNvPr>
            <p:cNvSpPr>
              <a:spLocks noChangeArrowheads="1"/>
            </p:cNvSpPr>
            <p:nvPr/>
          </p:nvSpPr>
          <p:spPr bwMode="auto">
            <a:xfrm>
              <a:off x="2178" y="1195"/>
              <a:ext cx="41" cy="50"/>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67" name="Freeform 171">
              <a:extLst>
                <a:ext uri="{FF2B5EF4-FFF2-40B4-BE49-F238E27FC236}">
                  <a16:creationId xmlns:a16="http://schemas.microsoft.com/office/drawing/2014/main" id="{7580BA59-8ABA-EC4F-B24B-29DC73B2774A}"/>
                </a:ext>
              </a:extLst>
            </p:cNvPr>
            <p:cNvSpPr>
              <a:spLocks/>
            </p:cNvSpPr>
            <p:nvPr/>
          </p:nvSpPr>
          <p:spPr bwMode="auto">
            <a:xfrm>
              <a:off x="2137" y="1246"/>
              <a:ext cx="7" cy="10"/>
            </a:xfrm>
            <a:custGeom>
              <a:avLst/>
              <a:gdLst>
                <a:gd name="T0" fmla="*/ 23 w 23"/>
                <a:gd name="T1" fmla="*/ 13 h 30"/>
                <a:gd name="T2" fmla="*/ 23 w 23"/>
                <a:gd name="T3" fmla="*/ 11 h 30"/>
                <a:gd name="T4" fmla="*/ 21 w 23"/>
                <a:gd name="T5" fmla="*/ 9 h 30"/>
                <a:gd name="T6" fmla="*/ 21 w 23"/>
                <a:gd name="T7" fmla="*/ 7 h 30"/>
                <a:gd name="T8" fmla="*/ 19 w 23"/>
                <a:gd name="T9" fmla="*/ 5 h 30"/>
                <a:gd name="T10" fmla="*/ 18 w 23"/>
                <a:gd name="T11" fmla="*/ 2 h 30"/>
                <a:gd name="T12" fmla="*/ 17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4 w 23"/>
                <a:gd name="T27" fmla="*/ 5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4 w 23"/>
                <a:gd name="T45" fmla="*/ 25 h 30"/>
                <a:gd name="T46" fmla="*/ 5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8 h 30"/>
                <a:gd name="T62" fmla="*/ 19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3"/>
                  </a:lnTo>
                  <a:lnTo>
                    <a:pt x="23" y="12"/>
                  </a:lnTo>
                  <a:lnTo>
                    <a:pt x="23" y="11"/>
                  </a:lnTo>
                  <a:lnTo>
                    <a:pt x="22" y="10"/>
                  </a:lnTo>
                  <a:lnTo>
                    <a:pt x="21" y="9"/>
                  </a:lnTo>
                  <a:lnTo>
                    <a:pt x="21" y="8"/>
                  </a:lnTo>
                  <a:lnTo>
                    <a:pt x="21" y="7"/>
                  </a:lnTo>
                  <a:lnTo>
                    <a:pt x="20" y="6"/>
                  </a:lnTo>
                  <a:lnTo>
                    <a:pt x="19" y="5"/>
                  </a:lnTo>
                  <a:lnTo>
                    <a:pt x="19" y="4"/>
                  </a:lnTo>
                  <a:lnTo>
                    <a:pt x="18" y="2"/>
                  </a:lnTo>
                  <a:lnTo>
                    <a:pt x="17" y="1"/>
                  </a:lnTo>
                  <a:lnTo>
                    <a:pt x="16" y="0"/>
                  </a:lnTo>
                  <a:lnTo>
                    <a:pt x="14" y="0"/>
                  </a:lnTo>
                  <a:lnTo>
                    <a:pt x="13" y="0"/>
                  </a:lnTo>
                  <a:lnTo>
                    <a:pt x="12" y="0"/>
                  </a:lnTo>
                  <a:lnTo>
                    <a:pt x="11" y="0"/>
                  </a:lnTo>
                  <a:lnTo>
                    <a:pt x="10" y="0"/>
                  </a:lnTo>
                  <a:lnTo>
                    <a:pt x="9" y="0"/>
                  </a:lnTo>
                  <a:lnTo>
                    <a:pt x="8" y="0"/>
                  </a:lnTo>
                  <a:lnTo>
                    <a:pt x="7" y="1"/>
                  </a:lnTo>
                  <a:lnTo>
                    <a:pt x="6" y="1"/>
                  </a:lnTo>
                  <a:lnTo>
                    <a:pt x="5" y="2"/>
                  </a:lnTo>
                  <a:lnTo>
                    <a:pt x="4" y="4"/>
                  </a:lnTo>
                  <a:lnTo>
                    <a:pt x="4" y="5"/>
                  </a:lnTo>
                  <a:lnTo>
                    <a:pt x="2" y="6"/>
                  </a:lnTo>
                  <a:lnTo>
                    <a:pt x="1" y="7"/>
                  </a:lnTo>
                  <a:lnTo>
                    <a:pt x="1" y="8"/>
                  </a:lnTo>
                  <a:lnTo>
                    <a:pt x="1" y="9"/>
                  </a:lnTo>
                  <a:lnTo>
                    <a:pt x="0" y="10"/>
                  </a:lnTo>
                  <a:lnTo>
                    <a:pt x="0" y="11"/>
                  </a:lnTo>
                  <a:lnTo>
                    <a:pt x="0" y="12"/>
                  </a:lnTo>
                  <a:lnTo>
                    <a:pt x="0" y="13"/>
                  </a:lnTo>
                  <a:lnTo>
                    <a:pt x="0" y="15"/>
                  </a:lnTo>
                  <a:lnTo>
                    <a:pt x="0" y="17"/>
                  </a:lnTo>
                  <a:lnTo>
                    <a:pt x="0" y="18"/>
                  </a:lnTo>
                  <a:lnTo>
                    <a:pt x="0" y="19"/>
                  </a:lnTo>
                  <a:lnTo>
                    <a:pt x="0" y="20"/>
                  </a:lnTo>
                  <a:lnTo>
                    <a:pt x="1" y="22"/>
                  </a:lnTo>
                  <a:lnTo>
                    <a:pt x="1" y="23"/>
                  </a:lnTo>
                  <a:lnTo>
                    <a:pt x="1" y="24"/>
                  </a:lnTo>
                  <a:lnTo>
                    <a:pt x="2" y="24"/>
                  </a:lnTo>
                  <a:lnTo>
                    <a:pt x="4" y="25"/>
                  </a:lnTo>
                  <a:lnTo>
                    <a:pt x="4" y="27"/>
                  </a:lnTo>
                  <a:lnTo>
                    <a:pt x="5" y="28"/>
                  </a:lnTo>
                  <a:lnTo>
                    <a:pt x="6" y="29"/>
                  </a:lnTo>
                  <a:lnTo>
                    <a:pt x="7" y="29"/>
                  </a:lnTo>
                  <a:lnTo>
                    <a:pt x="8" y="30"/>
                  </a:lnTo>
                  <a:lnTo>
                    <a:pt x="9" y="30"/>
                  </a:lnTo>
                  <a:lnTo>
                    <a:pt x="10" y="30"/>
                  </a:lnTo>
                  <a:lnTo>
                    <a:pt x="11" y="30"/>
                  </a:lnTo>
                  <a:lnTo>
                    <a:pt x="12" y="30"/>
                  </a:lnTo>
                  <a:lnTo>
                    <a:pt x="13" y="30"/>
                  </a:lnTo>
                  <a:lnTo>
                    <a:pt x="14" y="30"/>
                  </a:lnTo>
                  <a:lnTo>
                    <a:pt x="16" y="30"/>
                  </a:lnTo>
                  <a:lnTo>
                    <a:pt x="17" y="29"/>
                  </a:lnTo>
                  <a:lnTo>
                    <a:pt x="18" y="28"/>
                  </a:lnTo>
                  <a:lnTo>
                    <a:pt x="19" y="27"/>
                  </a:lnTo>
                  <a:lnTo>
                    <a:pt x="19" y="25"/>
                  </a:lnTo>
                  <a:lnTo>
                    <a:pt x="20" y="24"/>
                  </a:lnTo>
                  <a:lnTo>
                    <a:pt x="21" y="24"/>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68" name="Line 172">
              <a:extLst>
                <a:ext uri="{FF2B5EF4-FFF2-40B4-BE49-F238E27FC236}">
                  <a16:creationId xmlns:a16="http://schemas.microsoft.com/office/drawing/2014/main" id="{7B96803F-2062-9D4F-A0DE-A713257C8459}"/>
                </a:ext>
              </a:extLst>
            </p:cNvPr>
            <p:cNvSpPr>
              <a:spLocks noChangeShapeType="1"/>
            </p:cNvSpPr>
            <p:nvPr/>
          </p:nvSpPr>
          <p:spPr bwMode="auto">
            <a:xfrm>
              <a:off x="2198" y="1195"/>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69" name="Line 173">
              <a:extLst>
                <a:ext uri="{FF2B5EF4-FFF2-40B4-BE49-F238E27FC236}">
                  <a16:creationId xmlns:a16="http://schemas.microsoft.com/office/drawing/2014/main" id="{5AA94862-796A-B748-B8AD-45B247634A6E}"/>
                </a:ext>
              </a:extLst>
            </p:cNvPr>
            <p:cNvSpPr>
              <a:spLocks noChangeShapeType="1"/>
            </p:cNvSpPr>
            <p:nvPr/>
          </p:nvSpPr>
          <p:spPr bwMode="auto">
            <a:xfrm>
              <a:off x="2178" y="1219"/>
              <a:ext cx="40"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70" name="Freeform 174">
              <a:extLst>
                <a:ext uri="{FF2B5EF4-FFF2-40B4-BE49-F238E27FC236}">
                  <a16:creationId xmlns:a16="http://schemas.microsoft.com/office/drawing/2014/main" id="{E6AF8424-EA31-DF49-9C7F-F685B06E4987}"/>
                </a:ext>
              </a:extLst>
            </p:cNvPr>
            <p:cNvSpPr>
              <a:spLocks/>
            </p:cNvSpPr>
            <p:nvPr/>
          </p:nvSpPr>
          <p:spPr bwMode="auto">
            <a:xfrm>
              <a:off x="2397" y="1027"/>
              <a:ext cx="205" cy="214"/>
            </a:xfrm>
            <a:custGeom>
              <a:avLst/>
              <a:gdLst>
                <a:gd name="T0" fmla="*/ 56 w 615"/>
                <a:gd name="T1" fmla="*/ 195 h 643"/>
                <a:gd name="T2" fmla="*/ 0 w 615"/>
                <a:gd name="T3" fmla="*/ 195 h 643"/>
                <a:gd name="T4" fmla="*/ 307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7"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71" name="Rectangle 175">
              <a:extLst>
                <a:ext uri="{FF2B5EF4-FFF2-40B4-BE49-F238E27FC236}">
                  <a16:creationId xmlns:a16="http://schemas.microsoft.com/office/drawing/2014/main" id="{072985F1-F1DE-AB48-BD86-F14B61C02F1D}"/>
                </a:ext>
              </a:extLst>
            </p:cNvPr>
            <p:cNvSpPr>
              <a:spLocks noChangeArrowheads="1"/>
            </p:cNvSpPr>
            <p:nvPr/>
          </p:nvSpPr>
          <p:spPr bwMode="auto">
            <a:xfrm>
              <a:off x="2416" y="1092"/>
              <a:ext cx="169" cy="139"/>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72" name="Rectangle 176">
              <a:extLst>
                <a:ext uri="{FF2B5EF4-FFF2-40B4-BE49-F238E27FC236}">
                  <a16:creationId xmlns:a16="http://schemas.microsoft.com/office/drawing/2014/main" id="{FC06A17C-BE8A-004A-ACDE-A0A9A42F3719}"/>
                </a:ext>
              </a:extLst>
            </p:cNvPr>
            <p:cNvSpPr>
              <a:spLocks noChangeArrowheads="1"/>
            </p:cNvSpPr>
            <p:nvPr/>
          </p:nvSpPr>
          <p:spPr bwMode="auto">
            <a:xfrm>
              <a:off x="2443" y="1125"/>
              <a:ext cx="59" cy="106"/>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73" name="Rectangle 177">
              <a:extLst>
                <a:ext uri="{FF2B5EF4-FFF2-40B4-BE49-F238E27FC236}">
                  <a16:creationId xmlns:a16="http://schemas.microsoft.com/office/drawing/2014/main" id="{17DDC0B7-D853-0747-A8A4-20CF441D70B8}"/>
                </a:ext>
              </a:extLst>
            </p:cNvPr>
            <p:cNvSpPr>
              <a:spLocks noChangeArrowheads="1"/>
            </p:cNvSpPr>
            <p:nvPr/>
          </p:nvSpPr>
          <p:spPr bwMode="auto">
            <a:xfrm>
              <a:off x="2528" y="1123"/>
              <a:ext cx="41" cy="50"/>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74" name="Freeform 178">
              <a:extLst>
                <a:ext uri="{FF2B5EF4-FFF2-40B4-BE49-F238E27FC236}">
                  <a16:creationId xmlns:a16="http://schemas.microsoft.com/office/drawing/2014/main" id="{542043DB-7499-5841-BCD5-3BAD0473B3FE}"/>
                </a:ext>
              </a:extLst>
            </p:cNvPr>
            <p:cNvSpPr>
              <a:spLocks/>
            </p:cNvSpPr>
            <p:nvPr/>
          </p:nvSpPr>
          <p:spPr bwMode="auto">
            <a:xfrm>
              <a:off x="2486" y="1174"/>
              <a:ext cx="8" cy="10"/>
            </a:xfrm>
            <a:custGeom>
              <a:avLst/>
              <a:gdLst>
                <a:gd name="T0" fmla="*/ 23 w 23"/>
                <a:gd name="T1" fmla="*/ 13 h 30"/>
                <a:gd name="T2" fmla="*/ 23 w 23"/>
                <a:gd name="T3" fmla="*/ 11 h 30"/>
                <a:gd name="T4" fmla="*/ 21 w 23"/>
                <a:gd name="T5" fmla="*/ 9 h 30"/>
                <a:gd name="T6" fmla="*/ 21 w 23"/>
                <a:gd name="T7" fmla="*/ 7 h 30"/>
                <a:gd name="T8" fmla="*/ 19 w 23"/>
                <a:gd name="T9" fmla="*/ 4 h 30"/>
                <a:gd name="T10" fmla="*/ 18 w 23"/>
                <a:gd name="T11" fmla="*/ 2 h 30"/>
                <a:gd name="T12" fmla="*/ 16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4 w 23"/>
                <a:gd name="T25" fmla="*/ 2 h 30"/>
                <a:gd name="T26" fmla="*/ 3 w 23"/>
                <a:gd name="T27" fmla="*/ 4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5 h 30"/>
                <a:gd name="T46" fmla="*/ 4 w 23"/>
                <a:gd name="T47" fmla="*/ 27 h 30"/>
                <a:gd name="T48" fmla="*/ 7 w 23"/>
                <a:gd name="T49" fmla="*/ 29 h 30"/>
                <a:gd name="T50" fmla="*/ 9 w 23"/>
                <a:gd name="T51" fmla="*/ 30 h 30"/>
                <a:gd name="T52" fmla="*/ 10 w 23"/>
                <a:gd name="T53" fmla="*/ 30 h 30"/>
                <a:gd name="T54" fmla="*/ 12 w 23"/>
                <a:gd name="T55" fmla="*/ 30 h 30"/>
                <a:gd name="T56" fmla="*/ 14 w 23"/>
                <a:gd name="T57" fmla="*/ 30 h 30"/>
                <a:gd name="T58" fmla="*/ 16 w 23"/>
                <a:gd name="T59" fmla="*/ 29 h 30"/>
                <a:gd name="T60" fmla="*/ 18 w 23"/>
                <a:gd name="T61" fmla="*/ 27 h 30"/>
                <a:gd name="T62" fmla="*/ 19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6"/>
                  </a:lnTo>
                  <a:lnTo>
                    <a:pt x="19" y="4"/>
                  </a:lnTo>
                  <a:lnTo>
                    <a:pt x="19" y="3"/>
                  </a:lnTo>
                  <a:lnTo>
                    <a:pt x="18" y="2"/>
                  </a:lnTo>
                  <a:lnTo>
                    <a:pt x="16" y="1"/>
                  </a:lnTo>
                  <a:lnTo>
                    <a:pt x="15" y="0"/>
                  </a:lnTo>
                  <a:lnTo>
                    <a:pt x="14" y="0"/>
                  </a:lnTo>
                  <a:lnTo>
                    <a:pt x="13" y="0"/>
                  </a:lnTo>
                  <a:lnTo>
                    <a:pt x="12" y="0"/>
                  </a:lnTo>
                  <a:lnTo>
                    <a:pt x="11" y="0"/>
                  </a:lnTo>
                  <a:lnTo>
                    <a:pt x="10" y="0"/>
                  </a:lnTo>
                  <a:lnTo>
                    <a:pt x="9" y="0"/>
                  </a:lnTo>
                  <a:lnTo>
                    <a:pt x="8" y="0"/>
                  </a:lnTo>
                  <a:lnTo>
                    <a:pt x="7" y="1"/>
                  </a:lnTo>
                  <a:lnTo>
                    <a:pt x="6" y="1"/>
                  </a:lnTo>
                  <a:lnTo>
                    <a:pt x="4" y="2"/>
                  </a:lnTo>
                  <a:lnTo>
                    <a:pt x="3" y="3"/>
                  </a:lnTo>
                  <a:lnTo>
                    <a:pt x="3" y="4"/>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3" y="25"/>
                  </a:lnTo>
                  <a:lnTo>
                    <a:pt x="3" y="26"/>
                  </a:lnTo>
                  <a:lnTo>
                    <a:pt x="4" y="27"/>
                  </a:lnTo>
                  <a:lnTo>
                    <a:pt x="6" y="29"/>
                  </a:lnTo>
                  <a:lnTo>
                    <a:pt x="7" y="29"/>
                  </a:lnTo>
                  <a:lnTo>
                    <a:pt x="8" y="30"/>
                  </a:lnTo>
                  <a:lnTo>
                    <a:pt x="9" y="30"/>
                  </a:lnTo>
                  <a:lnTo>
                    <a:pt x="10" y="30"/>
                  </a:lnTo>
                  <a:lnTo>
                    <a:pt x="11" y="30"/>
                  </a:lnTo>
                  <a:lnTo>
                    <a:pt x="12" y="30"/>
                  </a:lnTo>
                  <a:lnTo>
                    <a:pt x="13" y="30"/>
                  </a:lnTo>
                  <a:lnTo>
                    <a:pt x="14" y="30"/>
                  </a:lnTo>
                  <a:lnTo>
                    <a:pt x="15" y="30"/>
                  </a:lnTo>
                  <a:lnTo>
                    <a:pt x="16" y="29"/>
                  </a:lnTo>
                  <a:lnTo>
                    <a:pt x="18" y="27"/>
                  </a:lnTo>
                  <a:lnTo>
                    <a:pt x="19" y="26"/>
                  </a:lnTo>
                  <a:lnTo>
                    <a:pt x="19" y="25"/>
                  </a:lnTo>
                  <a:lnTo>
                    <a:pt x="20"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75" name="Line 179">
              <a:extLst>
                <a:ext uri="{FF2B5EF4-FFF2-40B4-BE49-F238E27FC236}">
                  <a16:creationId xmlns:a16="http://schemas.microsoft.com/office/drawing/2014/main" id="{DCC95B27-DDFC-6942-A264-73D4BFDE6FDD}"/>
                </a:ext>
              </a:extLst>
            </p:cNvPr>
            <p:cNvSpPr>
              <a:spLocks noChangeShapeType="1"/>
            </p:cNvSpPr>
            <p:nvPr/>
          </p:nvSpPr>
          <p:spPr bwMode="auto">
            <a:xfrm>
              <a:off x="2548" y="1123"/>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76" name="Line 180">
              <a:extLst>
                <a:ext uri="{FF2B5EF4-FFF2-40B4-BE49-F238E27FC236}">
                  <a16:creationId xmlns:a16="http://schemas.microsoft.com/office/drawing/2014/main" id="{C77ADA58-8D00-074C-A8F4-56BF6B1829E6}"/>
                </a:ext>
              </a:extLst>
            </p:cNvPr>
            <p:cNvSpPr>
              <a:spLocks noChangeShapeType="1"/>
            </p:cNvSpPr>
            <p:nvPr/>
          </p:nvSpPr>
          <p:spPr bwMode="auto">
            <a:xfrm>
              <a:off x="2528" y="1147"/>
              <a:ext cx="40"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77" name="Freeform 181">
              <a:extLst>
                <a:ext uri="{FF2B5EF4-FFF2-40B4-BE49-F238E27FC236}">
                  <a16:creationId xmlns:a16="http://schemas.microsoft.com/office/drawing/2014/main" id="{82795440-C046-624B-8D84-CB9F7F957169}"/>
                </a:ext>
              </a:extLst>
            </p:cNvPr>
            <p:cNvSpPr>
              <a:spLocks/>
            </p:cNvSpPr>
            <p:nvPr/>
          </p:nvSpPr>
          <p:spPr bwMode="auto">
            <a:xfrm>
              <a:off x="3997" y="1680"/>
              <a:ext cx="205" cy="214"/>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4 h 643"/>
                <a:gd name="T14" fmla="*/ 56 w 614"/>
                <a:gd name="T15" fmla="*/ 614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4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4"/>
                  </a:lnTo>
                  <a:lnTo>
                    <a:pt x="56" y="614"/>
                  </a:lnTo>
                  <a:lnTo>
                    <a:pt x="56" y="195"/>
                  </a:lnTo>
                  <a:lnTo>
                    <a:pt x="558"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78" name="Rectangle 182">
              <a:extLst>
                <a:ext uri="{FF2B5EF4-FFF2-40B4-BE49-F238E27FC236}">
                  <a16:creationId xmlns:a16="http://schemas.microsoft.com/office/drawing/2014/main" id="{847081C6-8A51-3840-951B-3F144CF374B9}"/>
                </a:ext>
              </a:extLst>
            </p:cNvPr>
            <p:cNvSpPr>
              <a:spLocks noChangeArrowheads="1"/>
            </p:cNvSpPr>
            <p:nvPr/>
          </p:nvSpPr>
          <p:spPr bwMode="auto">
            <a:xfrm>
              <a:off x="4016" y="1745"/>
              <a:ext cx="169" cy="139"/>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79" name="Rectangle 183">
              <a:extLst>
                <a:ext uri="{FF2B5EF4-FFF2-40B4-BE49-F238E27FC236}">
                  <a16:creationId xmlns:a16="http://schemas.microsoft.com/office/drawing/2014/main" id="{23DBCB60-668E-9E46-9479-48A1137F85FB}"/>
                </a:ext>
              </a:extLst>
            </p:cNvPr>
            <p:cNvSpPr>
              <a:spLocks noChangeArrowheads="1"/>
            </p:cNvSpPr>
            <p:nvPr/>
          </p:nvSpPr>
          <p:spPr bwMode="auto">
            <a:xfrm>
              <a:off x="4043" y="1778"/>
              <a:ext cx="59" cy="106"/>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80" name="Rectangle 184">
              <a:extLst>
                <a:ext uri="{FF2B5EF4-FFF2-40B4-BE49-F238E27FC236}">
                  <a16:creationId xmlns:a16="http://schemas.microsoft.com/office/drawing/2014/main" id="{3A59EE6F-7513-7346-AC2B-06FE3C64B821}"/>
                </a:ext>
              </a:extLst>
            </p:cNvPr>
            <p:cNvSpPr>
              <a:spLocks noChangeArrowheads="1"/>
            </p:cNvSpPr>
            <p:nvPr/>
          </p:nvSpPr>
          <p:spPr bwMode="auto">
            <a:xfrm>
              <a:off x="4128" y="1776"/>
              <a:ext cx="41" cy="50"/>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81" name="Freeform 185">
              <a:extLst>
                <a:ext uri="{FF2B5EF4-FFF2-40B4-BE49-F238E27FC236}">
                  <a16:creationId xmlns:a16="http://schemas.microsoft.com/office/drawing/2014/main" id="{22F3C824-ED8C-F644-8422-47B6817BB5C6}"/>
                </a:ext>
              </a:extLst>
            </p:cNvPr>
            <p:cNvSpPr>
              <a:spLocks/>
            </p:cNvSpPr>
            <p:nvPr/>
          </p:nvSpPr>
          <p:spPr bwMode="auto">
            <a:xfrm>
              <a:off x="4087" y="1827"/>
              <a:ext cx="7" cy="10"/>
            </a:xfrm>
            <a:custGeom>
              <a:avLst/>
              <a:gdLst>
                <a:gd name="T0" fmla="*/ 23 w 23"/>
                <a:gd name="T1" fmla="*/ 13 h 30"/>
                <a:gd name="T2" fmla="*/ 23 w 23"/>
                <a:gd name="T3" fmla="*/ 11 h 30"/>
                <a:gd name="T4" fmla="*/ 21 w 23"/>
                <a:gd name="T5" fmla="*/ 9 h 30"/>
                <a:gd name="T6" fmla="*/ 21 w 23"/>
                <a:gd name="T7" fmla="*/ 7 h 30"/>
                <a:gd name="T8" fmla="*/ 18 w 23"/>
                <a:gd name="T9" fmla="*/ 4 h 30"/>
                <a:gd name="T10" fmla="*/ 17 w 23"/>
                <a:gd name="T11" fmla="*/ 2 h 30"/>
                <a:gd name="T12" fmla="*/ 16 w 23"/>
                <a:gd name="T13" fmla="*/ 1 h 30"/>
                <a:gd name="T14" fmla="*/ 14 w 23"/>
                <a:gd name="T15" fmla="*/ 0 h 30"/>
                <a:gd name="T16" fmla="*/ 12 w 23"/>
                <a:gd name="T17" fmla="*/ 0 h 30"/>
                <a:gd name="T18" fmla="*/ 10 w 23"/>
                <a:gd name="T19" fmla="*/ 0 h 30"/>
                <a:gd name="T20" fmla="*/ 9 w 23"/>
                <a:gd name="T21" fmla="*/ 0 h 30"/>
                <a:gd name="T22" fmla="*/ 6 w 23"/>
                <a:gd name="T23" fmla="*/ 1 h 30"/>
                <a:gd name="T24" fmla="*/ 4 w 23"/>
                <a:gd name="T25" fmla="*/ 2 h 30"/>
                <a:gd name="T26" fmla="*/ 3 w 23"/>
                <a:gd name="T27" fmla="*/ 4 h 30"/>
                <a:gd name="T28" fmla="*/ 1 w 23"/>
                <a:gd name="T29" fmla="*/ 7 h 30"/>
                <a:gd name="T30" fmla="*/ 1 w 23"/>
                <a:gd name="T31" fmla="*/ 9 h 30"/>
                <a:gd name="T32" fmla="*/ 0 w 23"/>
                <a:gd name="T33" fmla="*/ 11 h 30"/>
                <a:gd name="T34" fmla="*/ 0 w 23"/>
                <a:gd name="T35" fmla="*/ 13 h 30"/>
                <a:gd name="T36" fmla="*/ 0 w 23"/>
                <a:gd name="T37" fmla="*/ 16 h 30"/>
                <a:gd name="T38" fmla="*/ 0 w 23"/>
                <a:gd name="T39" fmla="*/ 19 h 30"/>
                <a:gd name="T40" fmla="*/ 1 w 23"/>
                <a:gd name="T41" fmla="*/ 22 h 30"/>
                <a:gd name="T42" fmla="*/ 1 w 23"/>
                <a:gd name="T43" fmla="*/ 24 h 30"/>
                <a:gd name="T44" fmla="*/ 3 w 23"/>
                <a:gd name="T45" fmla="*/ 25 h 30"/>
                <a:gd name="T46" fmla="*/ 4 w 23"/>
                <a:gd name="T47" fmla="*/ 27 h 30"/>
                <a:gd name="T48" fmla="*/ 6 w 23"/>
                <a:gd name="T49" fmla="*/ 29 h 30"/>
                <a:gd name="T50" fmla="*/ 9 w 23"/>
                <a:gd name="T51" fmla="*/ 30 h 30"/>
                <a:gd name="T52" fmla="*/ 10 w 23"/>
                <a:gd name="T53" fmla="*/ 30 h 30"/>
                <a:gd name="T54" fmla="*/ 12 w 23"/>
                <a:gd name="T55" fmla="*/ 30 h 30"/>
                <a:gd name="T56" fmla="*/ 14 w 23"/>
                <a:gd name="T57" fmla="*/ 30 h 30"/>
                <a:gd name="T58" fmla="*/ 16 w 23"/>
                <a:gd name="T59" fmla="*/ 29 h 30"/>
                <a:gd name="T60" fmla="*/ 17 w 23"/>
                <a:gd name="T61" fmla="*/ 27 h 30"/>
                <a:gd name="T62" fmla="*/ 18 w 23"/>
                <a:gd name="T63" fmla="*/ 25 h 30"/>
                <a:gd name="T64" fmla="*/ 21 w 23"/>
                <a:gd name="T65" fmla="*/ 24 h 30"/>
                <a:gd name="T66" fmla="*/ 21 w 23"/>
                <a:gd name="T67" fmla="*/ 22 h 30"/>
                <a:gd name="T68" fmla="*/ 23 w 23"/>
                <a:gd name="T69" fmla="*/ 19 h 30"/>
                <a:gd name="T70" fmla="*/ 23 w 23"/>
                <a:gd name="T71" fmla="*/ 16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6"/>
                  </a:lnTo>
                  <a:lnTo>
                    <a:pt x="18" y="4"/>
                  </a:lnTo>
                  <a:lnTo>
                    <a:pt x="18" y="3"/>
                  </a:lnTo>
                  <a:lnTo>
                    <a:pt x="17" y="2"/>
                  </a:lnTo>
                  <a:lnTo>
                    <a:pt x="16" y="1"/>
                  </a:lnTo>
                  <a:lnTo>
                    <a:pt x="15" y="0"/>
                  </a:lnTo>
                  <a:lnTo>
                    <a:pt x="14" y="0"/>
                  </a:lnTo>
                  <a:lnTo>
                    <a:pt x="13" y="0"/>
                  </a:lnTo>
                  <a:lnTo>
                    <a:pt x="12" y="0"/>
                  </a:lnTo>
                  <a:lnTo>
                    <a:pt x="11" y="0"/>
                  </a:lnTo>
                  <a:lnTo>
                    <a:pt x="10" y="0"/>
                  </a:lnTo>
                  <a:lnTo>
                    <a:pt x="9" y="0"/>
                  </a:lnTo>
                  <a:lnTo>
                    <a:pt x="7" y="0"/>
                  </a:lnTo>
                  <a:lnTo>
                    <a:pt x="6" y="1"/>
                  </a:lnTo>
                  <a:lnTo>
                    <a:pt x="5" y="1"/>
                  </a:lnTo>
                  <a:lnTo>
                    <a:pt x="4" y="2"/>
                  </a:lnTo>
                  <a:lnTo>
                    <a:pt x="3" y="3"/>
                  </a:lnTo>
                  <a:lnTo>
                    <a:pt x="3" y="4"/>
                  </a:lnTo>
                  <a:lnTo>
                    <a:pt x="2" y="6"/>
                  </a:lnTo>
                  <a:lnTo>
                    <a:pt x="1" y="7"/>
                  </a:lnTo>
                  <a:lnTo>
                    <a:pt x="1" y="8"/>
                  </a:lnTo>
                  <a:lnTo>
                    <a:pt x="1" y="9"/>
                  </a:lnTo>
                  <a:lnTo>
                    <a:pt x="0" y="10"/>
                  </a:lnTo>
                  <a:lnTo>
                    <a:pt x="0" y="11"/>
                  </a:lnTo>
                  <a:lnTo>
                    <a:pt x="0" y="12"/>
                  </a:lnTo>
                  <a:lnTo>
                    <a:pt x="0" y="13"/>
                  </a:lnTo>
                  <a:lnTo>
                    <a:pt x="0" y="14"/>
                  </a:lnTo>
                  <a:lnTo>
                    <a:pt x="0" y="16"/>
                  </a:lnTo>
                  <a:lnTo>
                    <a:pt x="0" y="18"/>
                  </a:lnTo>
                  <a:lnTo>
                    <a:pt x="0" y="19"/>
                  </a:lnTo>
                  <a:lnTo>
                    <a:pt x="0" y="20"/>
                  </a:lnTo>
                  <a:lnTo>
                    <a:pt x="1" y="22"/>
                  </a:lnTo>
                  <a:lnTo>
                    <a:pt x="1" y="23"/>
                  </a:lnTo>
                  <a:lnTo>
                    <a:pt x="1" y="24"/>
                  </a:lnTo>
                  <a:lnTo>
                    <a:pt x="2" y="24"/>
                  </a:lnTo>
                  <a:lnTo>
                    <a:pt x="3" y="25"/>
                  </a:lnTo>
                  <a:lnTo>
                    <a:pt x="3" y="26"/>
                  </a:lnTo>
                  <a:lnTo>
                    <a:pt x="4" y="27"/>
                  </a:lnTo>
                  <a:lnTo>
                    <a:pt x="5" y="29"/>
                  </a:lnTo>
                  <a:lnTo>
                    <a:pt x="6" y="29"/>
                  </a:lnTo>
                  <a:lnTo>
                    <a:pt x="7" y="30"/>
                  </a:lnTo>
                  <a:lnTo>
                    <a:pt x="9" y="30"/>
                  </a:lnTo>
                  <a:lnTo>
                    <a:pt x="10" y="30"/>
                  </a:lnTo>
                  <a:lnTo>
                    <a:pt x="11" y="30"/>
                  </a:lnTo>
                  <a:lnTo>
                    <a:pt x="12" y="30"/>
                  </a:lnTo>
                  <a:lnTo>
                    <a:pt x="13" y="30"/>
                  </a:lnTo>
                  <a:lnTo>
                    <a:pt x="14" y="30"/>
                  </a:lnTo>
                  <a:lnTo>
                    <a:pt x="15" y="30"/>
                  </a:lnTo>
                  <a:lnTo>
                    <a:pt x="16" y="29"/>
                  </a:lnTo>
                  <a:lnTo>
                    <a:pt x="17" y="27"/>
                  </a:lnTo>
                  <a:lnTo>
                    <a:pt x="18" y="26"/>
                  </a:lnTo>
                  <a:lnTo>
                    <a:pt x="18" y="25"/>
                  </a:lnTo>
                  <a:lnTo>
                    <a:pt x="20" y="24"/>
                  </a:lnTo>
                  <a:lnTo>
                    <a:pt x="21" y="24"/>
                  </a:lnTo>
                  <a:lnTo>
                    <a:pt x="21" y="23"/>
                  </a:lnTo>
                  <a:lnTo>
                    <a:pt x="21" y="22"/>
                  </a:lnTo>
                  <a:lnTo>
                    <a:pt x="22" y="20"/>
                  </a:lnTo>
                  <a:lnTo>
                    <a:pt x="23" y="19"/>
                  </a:lnTo>
                  <a:lnTo>
                    <a:pt x="23" y="18"/>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82" name="Line 186">
              <a:extLst>
                <a:ext uri="{FF2B5EF4-FFF2-40B4-BE49-F238E27FC236}">
                  <a16:creationId xmlns:a16="http://schemas.microsoft.com/office/drawing/2014/main" id="{E9E2693F-443C-9542-8590-E69D91AD7738}"/>
                </a:ext>
              </a:extLst>
            </p:cNvPr>
            <p:cNvSpPr>
              <a:spLocks noChangeShapeType="1"/>
            </p:cNvSpPr>
            <p:nvPr/>
          </p:nvSpPr>
          <p:spPr bwMode="auto">
            <a:xfrm>
              <a:off x="4148" y="1776"/>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83" name="Line 187">
              <a:extLst>
                <a:ext uri="{FF2B5EF4-FFF2-40B4-BE49-F238E27FC236}">
                  <a16:creationId xmlns:a16="http://schemas.microsoft.com/office/drawing/2014/main" id="{B3F23140-625E-E948-88DA-E285E1A559E9}"/>
                </a:ext>
              </a:extLst>
            </p:cNvPr>
            <p:cNvSpPr>
              <a:spLocks noChangeShapeType="1"/>
            </p:cNvSpPr>
            <p:nvPr/>
          </p:nvSpPr>
          <p:spPr bwMode="auto">
            <a:xfrm>
              <a:off x="4128" y="1800"/>
              <a:ext cx="40"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84" name="Freeform 188">
              <a:extLst>
                <a:ext uri="{FF2B5EF4-FFF2-40B4-BE49-F238E27FC236}">
                  <a16:creationId xmlns:a16="http://schemas.microsoft.com/office/drawing/2014/main" id="{BB6EA696-4665-5E4B-9D58-B39A00ADCFEE}"/>
                </a:ext>
              </a:extLst>
            </p:cNvPr>
            <p:cNvSpPr>
              <a:spLocks/>
            </p:cNvSpPr>
            <p:nvPr/>
          </p:nvSpPr>
          <p:spPr bwMode="auto">
            <a:xfrm>
              <a:off x="3177" y="3757"/>
              <a:ext cx="205" cy="214"/>
            </a:xfrm>
            <a:custGeom>
              <a:avLst/>
              <a:gdLst>
                <a:gd name="T0" fmla="*/ 56 w 615"/>
                <a:gd name="T1" fmla="*/ 196 h 643"/>
                <a:gd name="T2" fmla="*/ 0 w 615"/>
                <a:gd name="T3" fmla="*/ 196 h 643"/>
                <a:gd name="T4" fmla="*/ 308 w 615"/>
                <a:gd name="T5" fmla="*/ 0 h 643"/>
                <a:gd name="T6" fmla="*/ 615 w 615"/>
                <a:gd name="T7" fmla="*/ 196 h 643"/>
                <a:gd name="T8" fmla="*/ 587 w 615"/>
                <a:gd name="T9" fmla="*/ 196 h 643"/>
                <a:gd name="T10" fmla="*/ 559 w 615"/>
                <a:gd name="T11" fmla="*/ 196 h 643"/>
                <a:gd name="T12" fmla="*/ 559 w 615"/>
                <a:gd name="T13" fmla="*/ 615 h 643"/>
                <a:gd name="T14" fmla="*/ 56 w 615"/>
                <a:gd name="T15" fmla="*/ 615 h 643"/>
                <a:gd name="T16" fmla="*/ 56 w 615"/>
                <a:gd name="T17" fmla="*/ 196 h 643"/>
                <a:gd name="T18" fmla="*/ 559 w 615"/>
                <a:gd name="T19" fmla="*/ 196 h 643"/>
                <a:gd name="T20" fmla="*/ 587 w 615"/>
                <a:gd name="T21" fmla="*/ 196 h 643"/>
                <a:gd name="T22" fmla="*/ 587 w 615"/>
                <a:gd name="T23" fmla="*/ 643 h 643"/>
                <a:gd name="T24" fmla="*/ 56 w 615"/>
                <a:gd name="T25" fmla="*/ 643 h 643"/>
                <a:gd name="T26" fmla="*/ 56 w 615"/>
                <a:gd name="T27" fmla="*/ 615 h 643"/>
                <a:gd name="T28" fmla="*/ 56 w 615"/>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6"/>
                  </a:moveTo>
                  <a:lnTo>
                    <a:pt x="0" y="196"/>
                  </a:lnTo>
                  <a:lnTo>
                    <a:pt x="308" y="0"/>
                  </a:lnTo>
                  <a:lnTo>
                    <a:pt x="615" y="196"/>
                  </a:lnTo>
                  <a:lnTo>
                    <a:pt x="587" y="196"/>
                  </a:lnTo>
                  <a:lnTo>
                    <a:pt x="559" y="196"/>
                  </a:lnTo>
                  <a:lnTo>
                    <a:pt x="559" y="615"/>
                  </a:lnTo>
                  <a:lnTo>
                    <a:pt x="56" y="615"/>
                  </a:lnTo>
                  <a:lnTo>
                    <a:pt x="56" y="196"/>
                  </a:lnTo>
                  <a:lnTo>
                    <a:pt x="559"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85" name="Rectangle 189">
              <a:extLst>
                <a:ext uri="{FF2B5EF4-FFF2-40B4-BE49-F238E27FC236}">
                  <a16:creationId xmlns:a16="http://schemas.microsoft.com/office/drawing/2014/main" id="{00596167-331E-A742-8FFB-90942249078E}"/>
                </a:ext>
              </a:extLst>
            </p:cNvPr>
            <p:cNvSpPr>
              <a:spLocks noChangeArrowheads="1"/>
            </p:cNvSpPr>
            <p:nvPr/>
          </p:nvSpPr>
          <p:spPr bwMode="auto">
            <a:xfrm>
              <a:off x="3196" y="3822"/>
              <a:ext cx="169" cy="14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86" name="Rectangle 190">
              <a:extLst>
                <a:ext uri="{FF2B5EF4-FFF2-40B4-BE49-F238E27FC236}">
                  <a16:creationId xmlns:a16="http://schemas.microsoft.com/office/drawing/2014/main" id="{4A69649D-C079-414C-A75E-4FA657D73C5D}"/>
                </a:ext>
              </a:extLst>
            </p:cNvPr>
            <p:cNvSpPr>
              <a:spLocks noChangeArrowheads="1"/>
            </p:cNvSpPr>
            <p:nvPr/>
          </p:nvSpPr>
          <p:spPr bwMode="auto">
            <a:xfrm>
              <a:off x="3223" y="3855"/>
              <a:ext cx="59" cy="106"/>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87" name="Rectangle 191">
              <a:extLst>
                <a:ext uri="{FF2B5EF4-FFF2-40B4-BE49-F238E27FC236}">
                  <a16:creationId xmlns:a16="http://schemas.microsoft.com/office/drawing/2014/main" id="{30C3C9C7-352F-0244-995D-B6BA3DF42A35}"/>
                </a:ext>
              </a:extLst>
            </p:cNvPr>
            <p:cNvSpPr>
              <a:spLocks noChangeArrowheads="1"/>
            </p:cNvSpPr>
            <p:nvPr/>
          </p:nvSpPr>
          <p:spPr bwMode="auto">
            <a:xfrm>
              <a:off x="3308" y="3853"/>
              <a:ext cx="41" cy="50"/>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88" name="Freeform 192">
              <a:extLst>
                <a:ext uri="{FF2B5EF4-FFF2-40B4-BE49-F238E27FC236}">
                  <a16:creationId xmlns:a16="http://schemas.microsoft.com/office/drawing/2014/main" id="{27094EBF-4D85-7A4E-9EE6-719120561851}"/>
                </a:ext>
              </a:extLst>
            </p:cNvPr>
            <p:cNvSpPr>
              <a:spLocks/>
            </p:cNvSpPr>
            <p:nvPr/>
          </p:nvSpPr>
          <p:spPr bwMode="auto">
            <a:xfrm>
              <a:off x="3267" y="3904"/>
              <a:ext cx="7" cy="10"/>
            </a:xfrm>
            <a:custGeom>
              <a:avLst/>
              <a:gdLst>
                <a:gd name="T0" fmla="*/ 23 w 23"/>
                <a:gd name="T1" fmla="*/ 14 h 30"/>
                <a:gd name="T2" fmla="*/ 23 w 23"/>
                <a:gd name="T3" fmla="*/ 11 h 30"/>
                <a:gd name="T4" fmla="*/ 21 w 23"/>
                <a:gd name="T5" fmla="*/ 9 h 30"/>
                <a:gd name="T6" fmla="*/ 21 w 23"/>
                <a:gd name="T7" fmla="*/ 7 h 30"/>
                <a:gd name="T8" fmla="*/ 19 w 23"/>
                <a:gd name="T9" fmla="*/ 5 h 30"/>
                <a:gd name="T10" fmla="*/ 18 w 23"/>
                <a:gd name="T11" fmla="*/ 3 h 30"/>
                <a:gd name="T12" fmla="*/ 17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5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3 w 23"/>
                <a:gd name="T45" fmla="*/ 26 h 30"/>
                <a:gd name="T46" fmla="*/ 5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8 h 30"/>
                <a:gd name="T62" fmla="*/ 19 w 23"/>
                <a:gd name="T63" fmla="*/ 26 h 30"/>
                <a:gd name="T64" fmla="*/ 21 w 23"/>
                <a:gd name="T65" fmla="*/ 25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20" y="6"/>
                  </a:lnTo>
                  <a:lnTo>
                    <a:pt x="19" y="5"/>
                  </a:lnTo>
                  <a:lnTo>
                    <a:pt x="19" y="4"/>
                  </a:lnTo>
                  <a:lnTo>
                    <a:pt x="18" y="3"/>
                  </a:lnTo>
                  <a:lnTo>
                    <a:pt x="17" y="1"/>
                  </a:lnTo>
                  <a:lnTo>
                    <a:pt x="16" y="0"/>
                  </a:lnTo>
                  <a:lnTo>
                    <a:pt x="14" y="0"/>
                  </a:lnTo>
                  <a:lnTo>
                    <a:pt x="13" y="0"/>
                  </a:lnTo>
                  <a:lnTo>
                    <a:pt x="12" y="0"/>
                  </a:lnTo>
                  <a:lnTo>
                    <a:pt x="11" y="0"/>
                  </a:lnTo>
                  <a:lnTo>
                    <a:pt x="10" y="0"/>
                  </a:lnTo>
                  <a:lnTo>
                    <a:pt x="9" y="0"/>
                  </a:lnTo>
                  <a:lnTo>
                    <a:pt x="8" y="0"/>
                  </a:lnTo>
                  <a:lnTo>
                    <a:pt x="7" y="1"/>
                  </a:lnTo>
                  <a:lnTo>
                    <a:pt x="6" y="1"/>
                  </a:lnTo>
                  <a:lnTo>
                    <a:pt x="5"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5"/>
                  </a:lnTo>
                  <a:lnTo>
                    <a:pt x="2" y="25"/>
                  </a:lnTo>
                  <a:lnTo>
                    <a:pt x="3" y="26"/>
                  </a:lnTo>
                  <a:lnTo>
                    <a:pt x="3" y="27"/>
                  </a:lnTo>
                  <a:lnTo>
                    <a:pt x="5" y="28"/>
                  </a:lnTo>
                  <a:lnTo>
                    <a:pt x="6" y="29"/>
                  </a:lnTo>
                  <a:lnTo>
                    <a:pt x="7" y="29"/>
                  </a:lnTo>
                  <a:lnTo>
                    <a:pt x="8" y="30"/>
                  </a:lnTo>
                  <a:lnTo>
                    <a:pt x="9" y="30"/>
                  </a:lnTo>
                  <a:lnTo>
                    <a:pt x="10" y="30"/>
                  </a:lnTo>
                  <a:lnTo>
                    <a:pt x="11" y="30"/>
                  </a:lnTo>
                  <a:lnTo>
                    <a:pt x="12" y="30"/>
                  </a:lnTo>
                  <a:lnTo>
                    <a:pt x="13" y="30"/>
                  </a:lnTo>
                  <a:lnTo>
                    <a:pt x="14" y="30"/>
                  </a:lnTo>
                  <a:lnTo>
                    <a:pt x="16" y="30"/>
                  </a:lnTo>
                  <a:lnTo>
                    <a:pt x="17" y="29"/>
                  </a:lnTo>
                  <a:lnTo>
                    <a:pt x="18" y="28"/>
                  </a:lnTo>
                  <a:lnTo>
                    <a:pt x="19" y="27"/>
                  </a:lnTo>
                  <a:lnTo>
                    <a:pt x="19" y="26"/>
                  </a:lnTo>
                  <a:lnTo>
                    <a:pt x="20" y="25"/>
                  </a:lnTo>
                  <a:lnTo>
                    <a:pt x="21" y="25"/>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89" name="Line 193">
              <a:extLst>
                <a:ext uri="{FF2B5EF4-FFF2-40B4-BE49-F238E27FC236}">
                  <a16:creationId xmlns:a16="http://schemas.microsoft.com/office/drawing/2014/main" id="{E0CE2D91-8F48-EA42-A24B-FF04A0B68673}"/>
                </a:ext>
              </a:extLst>
            </p:cNvPr>
            <p:cNvSpPr>
              <a:spLocks noChangeShapeType="1"/>
            </p:cNvSpPr>
            <p:nvPr/>
          </p:nvSpPr>
          <p:spPr bwMode="auto">
            <a:xfrm>
              <a:off x="3328" y="3853"/>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90" name="Line 194">
              <a:extLst>
                <a:ext uri="{FF2B5EF4-FFF2-40B4-BE49-F238E27FC236}">
                  <a16:creationId xmlns:a16="http://schemas.microsoft.com/office/drawing/2014/main" id="{73126315-E701-5A4C-88C3-B3A03D86D83B}"/>
                </a:ext>
              </a:extLst>
            </p:cNvPr>
            <p:cNvSpPr>
              <a:spLocks noChangeShapeType="1"/>
            </p:cNvSpPr>
            <p:nvPr/>
          </p:nvSpPr>
          <p:spPr bwMode="auto">
            <a:xfrm>
              <a:off x="3308" y="3877"/>
              <a:ext cx="40"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91" name="Freeform 195">
              <a:extLst>
                <a:ext uri="{FF2B5EF4-FFF2-40B4-BE49-F238E27FC236}">
                  <a16:creationId xmlns:a16="http://schemas.microsoft.com/office/drawing/2014/main" id="{C3E5EE91-EBD6-B341-A9CE-A27B9DB41798}"/>
                </a:ext>
              </a:extLst>
            </p:cNvPr>
            <p:cNvSpPr>
              <a:spLocks/>
            </p:cNvSpPr>
            <p:nvPr/>
          </p:nvSpPr>
          <p:spPr bwMode="auto">
            <a:xfrm>
              <a:off x="4800" y="892"/>
              <a:ext cx="205" cy="214"/>
            </a:xfrm>
            <a:custGeom>
              <a:avLst/>
              <a:gdLst>
                <a:gd name="T0" fmla="*/ 56 w 615"/>
                <a:gd name="T1" fmla="*/ 195 h 643"/>
                <a:gd name="T2" fmla="*/ 0 w 615"/>
                <a:gd name="T3" fmla="*/ 195 h 643"/>
                <a:gd name="T4" fmla="*/ 307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7"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92" name="Rectangle 196">
              <a:extLst>
                <a:ext uri="{FF2B5EF4-FFF2-40B4-BE49-F238E27FC236}">
                  <a16:creationId xmlns:a16="http://schemas.microsoft.com/office/drawing/2014/main" id="{E22B9AC4-1D1C-F045-AD77-A8E9F1986065}"/>
                </a:ext>
              </a:extLst>
            </p:cNvPr>
            <p:cNvSpPr>
              <a:spLocks noChangeArrowheads="1"/>
            </p:cNvSpPr>
            <p:nvPr/>
          </p:nvSpPr>
          <p:spPr bwMode="auto">
            <a:xfrm>
              <a:off x="4819" y="957"/>
              <a:ext cx="170" cy="139"/>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93" name="Rectangle 197">
              <a:extLst>
                <a:ext uri="{FF2B5EF4-FFF2-40B4-BE49-F238E27FC236}">
                  <a16:creationId xmlns:a16="http://schemas.microsoft.com/office/drawing/2014/main" id="{58D0F8A5-C6B0-504D-91FE-5962FF5647B5}"/>
                </a:ext>
              </a:extLst>
            </p:cNvPr>
            <p:cNvSpPr>
              <a:spLocks noChangeArrowheads="1"/>
            </p:cNvSpPr>
            <p:nvPr/>
          </p:nvSpPr>
          <p:spPr bwMode="auto">
            <a:xfrm>
              <a:off x="4847" y="990"/>
              <a:ext cx="59" cy="10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94" name="Rectangle 198">
              <a:extLst>
                <a:ext uri="{FF2B5EF4-FFF2-40B4-BE49-F238E27FC236}">
                  <a16:creationId xmlns:a16="http://schemas.microsoft.com/office/drawing/2014/main" id="{B2C83237-07B7-F249-9A47-2E57A6AF114A}"/>
                </a:ext>
              </a:extLst>
            </p:cNvPr>
            <p:cNvSpPr>
              <a:spLocks noChangeArrowheads="1"/>
            </p:cNvSpPr>
            <p:nvPr/>
          </p:nvSpPr>
          <p:spPr bwMode="auto">
            <a:xfrm>
              <a:off x="4932" y="987"/>
              <a:ext cx="40" cy="51"/>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95" name="Freeform 199">
              <a:extLst>
                <a:ext uri="{FF2B5EF4-FFF2-40B4-BE49-F238E27FC236}">
                  <a16:creationId xmlns:a16="http://schemas.microsoft.com/office/drawing/2014/main" id="{3A3CC230-2937-4D46-91DC-F3C5DEDAA6DD}"/>
                </a:ext>
              </a:extLst>
            </p:cNvPr>
            <p:cNvSpPr>
              <a:spLocks/>
            </p:cNvSpPr>
            <p:nvPr/>
          </p:nvSpPr>
          <p:spPr bwMode="auto">
            <a:xfrm>
              <a:off x="4890" y="1039"/>
              <a:ext cx="8" cy="10"/>
            </a:xfrm>
            <a:custGeom>
              <a:avLst/>
              <a:gdLst>
                <a:gd name="T0" fmla="*/ 23 w 23"/>
                <a:gd name="T1" fmla="*/ 13 h 30"/>
                <a:gd name="T2" fmla="*/ 23 w 23"/>
                <a:gd name="T3" fmla="*/ 11 h 30"/>
                <a:gd name="T4" fmla="*/ 21 w 23"/>
                <a:gd name="T5" fmla="*/ 9 h 30"/>
                <a:gd name="T6" fmla="*/ 21 w 23"/>
                <a:gd name="T7" fmla="*/ 7 h 30"/>
                <a:gd name="T8" fmla="*/ 19 w 23"/>
                <a:gd name="T9" fmla="*/ 4 h 30"/>
                <a:gd name="T10" fmla="*/ 18 w 23"/>
                <a:gd name="T11" fmla="*/ 2 h 30"/>
                <a:gd name="T12" fmla="*/ 17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4 w 23"/>
                <a:gd name="T25" fmla="*/ 2 h 30"/>
                <a:gd name="T26" fmla="*/ 3 w 23"/>
                <a:gd name="T27" fmla="*/ 4 h 30"/>
                <a:gd name="T28" fmla="*/ 1 w 23"/>
                <a:gd name="T29" fmla="*/ 7 h 30"/>
                <a:gd name="T30" fmla="*/ 1 w 23"/>
                <a:gd name="T31" fmla="*/ 9 h 30"/>
                <a:gd name="T32" fmla="*/ 0 w 23"/>
                <a:gd name="T33" fmla="*/ 11 h 30"/>
                <a:gd name="T34" fmla="*/ 0 w 23"/>
                <a:gd name="T35" fmla="*/ 13 h 30"/>
                <a:gd name="T36" fmla="*/ 0 w 23"/>
                <a:gd name="T37" fmla="*/ 16 h 30"/>
                <a:gd name="T38" fmla="*/ 0 w 23"/>
                <a:gd name="T39" fmla="*/ 19 h 30"/>
                <a:gd name="T40" fmla="*/ 1 w 23"/>
                <a:gd name="T41" fmla="*/ 22 h 30"/>
                <a:gd name="T42" fmla="*/ 1 w 23"/>
                <a:gd name="T43" fmla="*/ 24 h 30"/>
                <a:gd name="T44" fmla="*/ 3 w 23"/>
                <a:gd name="T45" fmla="*/ 25 h 30"/>
                <a:gd name="T46" fmla="*/ 4 w 23"/>
                <a:gd name="T47" fmla="*/ 27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7 h 30"/>
                <a:gd name="T62" fmla="*/ 19 w 23"/>
                <a:gd name="T63" fmla="*/ 25 h 30"/>
                <a:gd name="T64" fmla="*/ 21 w 23"/>
                <a:gd name="T65" fmla="*/ 24 h 30"/>
                <a:gd name="T66" fmla="*/ 21 w 23"/>
                <a:gd name="T67" fmla="*/ 22 h 30"/>
                <a:gd name="T68" fmla="*/ 23 w 23"/>
                <a:gd name="T69" fmla="*/ 19 h 30"/>
                <a:gd name="T70" fmla="*/ 23 w 23"/>
                <a:gd name="T71" fmla="*/ 16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5"/>
                  </a:lnTo>
                  <a:lnTo>
                    <a:pt x="19" y="4"/>
                  </a:lnTo>
                  <a:lnTo>
                    <a:pt x="19" y="3"/>
                  </a:lnTo>
                  <a:lnTo>
                    <a:pt x="18" y="2"/>
                  </a:lnTo>
                  <a:lnTo>
                    <a:pt x="17" y="1"/>
                  </a:lnTo>
                  <a:lnTo>
                    <a:pt x="15" y="0"/>
                  </a:lnTo>
                  <a:lnTo>
                    <a:pt x="14" y="0"/>
                  </a:lnTo>
                  <a:lnTo>
                    <a:pt x="13" y="0"/>
                  </a:lnTo>
                  <a:lnTo>
                    <a:pt x="12" y="0"/>
                  </a:lnTo>
                  <a:lnTo>
                    <a:pt x="11" y="0"/>
                  </a:lnTo>
                  <a:lnTo>
                    <a:pt x="10" y="0"/>
                  </a:lnTo>
                  <a:lnTo>
                    <a:pt x="9" y="0"/>
                  </a:lnTo>
                  <a:lnTo>
                    <a:pt x="8" y="0"/>
                  </a:lnTo>
                  <a:lnTo>
                    <a:pt x="7" y="1"/>
                  </a:lnTo>
                  <a:lnTo>
                    <a:pt x="6" y="1"/>
                  </a:lnTo>
                  <a:lnTo>
                    <a:pt x="4" y="2"/>
                  </a:lnTo>
                  <a:lnTo>
                    <a:pt x="3" y="3"/>
                  </a:lnTo>
                  <a:lnTo>
                    <a:pt x="3" y="4"/>
                  </a:lnTo>
                  <a:lnTo>
                    <a:pt x="2" y="5"/>
                  </a:lnTo>
                  <a:lnTo>
                    <a:pt x="1" y="7"/>
                  </a:lnTo>
                  <a:lnTo>
                    <a:pt x="1" y="8"/>
                  </a:lnTo>
                  <a:lnTo>
                    <a:pt x="1" y="9"/>
                  </a:lnTo>
                  <a:lnTo>
                    <a:pt x="0" y="10"/>
                  </a:lnTo>
                  <a:lnTo>
                    <a:pt x="0" y="11"/>
                  </a:lnTo>
                  <a:lnTo>
                    <a:pt x="0" y="12"/>
                  </a:lnTo>
                  <a:lnTo>
                    <a:pt x="0" y="13"/>
                  </a:lnTo>
                  <a:lnTo>
                    <a:pt x="0" y="14"/>
                  </a:lnTo>
                  <a:lnTo>
                    <a:pt x="0" y="16"/>
                  </a:lnTo>
                  <a:lnTo>
                    <a:pt x="0" y="18"/>
                  </a:lnTo>
                  <a:lnTo>
                    <a:pt x="0" y="19"/>
                  </a:lnTo>
                  <a:lnTo>
                    <a:pt x="0" y="20"/>
                  </a:lnTo>
                  <a:lnTo>
                    <a:pt x="1" y="22"/>
                  </a:lnTo>
                  <a:lnTo>
                    <a:pt x="1" y="23"/>
                  </a:lnTo>
                  <a:lnTo>
                    <a:pt x="1" y="24"/>
                  </a:lnTo>
                  <a:lnTo>
                    <a:pt x="2" y="24"/>
                  </a:lnTo>
                  <a:lnTo>
                    <a:pt x="3" y="25"/>
                  </a:lnTo>
                  <a:lnTo>
                    <a:pt x="3" y="26"/>
                  </a:lnTo>
                  <a:lnTo>
                    <a:pt x="4" y="27"/>
                  </a:lnTo>
                  <a:lnTo>
                    <a:pt x="6" y="29"/>
                  </a:lnTo>
                  <a:lnTo>
                    <a:pt x="7" y="29"/>
                  </a:lnTo>
                  <a:lnTo>
                    <a:pt x="8" y="30"/>
                  </a:lnTo>
                  <a:lnTo>
                    <a:pt x="9" y="30"/>
                  </a:lnTo>
                  <a:lnTo>
                    <a:pt x="10" y="30"/>
                  </a:lnTo>
                  <a:lnTo>
                    <a:pt x="11" y="30"/>
                  </a:lnTo>
                  <a:lnTo>
                    <a:pt x="12" y="30"/>
                  </a:lnTo>
                  <a:lnTo>
                    <a:pt x="13" y="30"/>
                  </a:lnTo>
                  <a:lnTo>
                    <a:pt x="14" y="30"/>
                  </a:lnTo>
                  <a:lnTo>
                    <a:pt x="15" y="30"/>
                  </a:lnTo>
                  <a:lnTo>
                    <a:pt x="17" y="29"/>
                  </a:lnTo>
                  <a:lnTo>
                    <a:pt x="18" y="27"/>
                  </a:lnTo>
                  <a:lnTo>
                    <a:pt x="19" y="26"/>
                  </a:lnTo>
                  <a:lnTo>
                    <a:pt x="19" y="25"/>
                  </a:lnTo>
                  <a:lnTo>
                    <a:pt x="20" y="24"/>
                  </a:lnTo>
                  <a:lnTo>
                    <a:pt x="21" y="24"/>
                  </a:lnTo>
                  <a:lnTo>
                    <a:pt x="21" y="23"/>
                  </a:lnTo>
                  <a:lnTo>
                    <a:pt x="21" y="22"/>
                  </a:lnTo>
                  <a:lnTo>
                    <a:pt x="22" y="20"/>
                  </a:lnTo>
                  <a:lnTo>
                    <a:pt x="23" y="19"/>
                  </a:lnTo>
                  <a:lnTo>
                    <a:pt x="23" y="18"/>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96" name="Line 200">
              <a:extLst>
                <a:ext uri="{FF2B5EF4-FFF2-40B4-BE49-F238E27FC236}">
                  <a16:creationId xmlns:a16="http://schemas.microsoft.com/office/drawing/2014/main" id="{9F1849C4-BAB6-FB4D-9AA8-18FB84DE9D44}"/>
                </a:ext>
              </a:extLst>
            </p:cNvPr>
            <p:cNvSpPr>
              <a:spLocks noChangeShapeType="1"/>
            </p:cNvSpPr>
            <p:nvPr/>
          </p:nvSpPr>
          <p:spPr bwMode="auto">
            <a:xfrm>
              <a:off x="4951" y="988"/>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97" name="Line 201">
              <a:extLst>
                <a:ext uri="{FF2B5EF4-FFF2-40B4-BE49-F238E27FC236}">
                  <a16:creationId xmlns:a16="http://schemas.microsoft.com/office/drawing/2014/main" id="{34FAC3CA-F83E-8149-A492-DAE4DF9A2BB0}"/>
                </a:ext>
              </a:extLst>
            </p:cNvPr>
            <p:cNvSpPr>
              <a:spLocks noChangeShapeType="1"/>
            </p:cNvSpPr>
            <p:nvPr/>
          </p:nvSpPr>
          <p:spPr bwMode="auto">
            <a:xfrm>
              <a:off x="4932" y="1012"/>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98" name="Freeform 202">
              <a:extLst>
                <a:ext uri="{FF2B5EF4-FFF2-40B4-BE49-F238E27FC236}">
                  <a16:creationId xmlns:a16="http://schemas.microsoft.com/office/drawing/2014/main" id="{C3FCB483-6F77-0C4E-A5D8-57D669CE7B57}"/>
                </a:ext>
              </a:extLst>
            </p:cNvPr>
            <p:cNvSpPr>
              <a:spLocks/>
            </p:cNvSpPr>
            <p:nvPr/>
          </p:nvSpPr>
          <p:spPr bwMode="auto">
            <a:xfrm>
              <a:off x="4530" y="1154"/>
              <a:ext cx="205" cy="215"/>
            </a:xfrm>
            <a:custGeom>
              <a:avLst/>
              <a:gdLst>
                <a:gd name="T0" fmla="*/ 56 w 615"/>
                <a:gd name="T1" fmla="*/ 195 h 643"/>
                <a:gd name="T2" fmla="*/ 0 w 615"/>
                <a:gd name="T3" fmla="*/ 195 h 643"/>
                <a:gd name="T4" fmla="*/ 308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8"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399" name="Rectangle 203">
              <a:extLst>
                <a:ext uri="{FF2B5EF4-FFF2-40B4-BE49-F238E27FC236}">
                  <a16:creationId xmlns:a16="http://schemas.microsoft.com/office/drawing/2014/main" id="{BD288EBC-2856-9C4A-96F1-3F1106CCA105}"/>
                </a:ext>
              </a:extLst>
            </p:cNvPr>
            <p:cNvSpPr>
              <a:spLocks noChangeArrowheads="1"/>
            </p:cNvSpPr>
            <p:nvPr/>
          </p:nvSpPr>
          <p:spPr bwMode="auto">
            <a:xfrm>
              <a:off x="4549" y="1219"/>
              <a:ext cx="169" cy="14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25604" name="Rectangle 204">
            <a:extLst>
              <a:ext uri="{FF2B5EF4-FFF2-40B4-BE49-F238E27FC236}">
                <a16:creationId xmlns:a16="http://schemas.microsoft.com/office/drawing/2014/main" id="{8BFDC19F-0FF2-F847-AD8D-5EB6C50640AB}"/>
              </a:ext>
            </a:extLst>
          </p:cNvPr>
          <p:cNvSpPr>
            <a:spLocks noChangeArrowheads="1"/>
          </p:cNvSpPr>
          <p:nvPr/>
        </p:nvSpPr>
        <p:spPr bwMode="auto">
          <a:xfrm>
            <a:off x="8758238" y="1985964"/>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05" name="Rectangle 205">
            <a:extLst>
              <a:ext uri="{FF2B5EF4-FFF2-40B4-BE49-F238E27FC236}">
                <a16:creationId xmlns:a16="http://schemas.microsoft.com/office/drawing/2014/main" id="{95989DDA-73A5-6F4A-90CC-F81E7CAF1C00}"/>
              </a:ext>
            </a:extLst>
          </p:cNvPr>
          <p:cNvSpPr>
            <a:spLocks noChangeArrowheads="1"/>
          </p:cNvSpPr>
          <p:nvPr/>
        </p:nvSpPr>
        <p:spPr bwMode="auto">
          <a:xfrm>
            <a:off x="8893175" y="1981201"/>
            <a:ext cx="65088"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06" name="Freeform 206">
            <a:extLst>
              <a:ext uri="{FF2B5EF4-FFF2-40B4-BE49-F238E27FC236}">
                <a16:creationId xmlns:a16="http://schemas.microsoft.com/office/drawing/2014/main" id="{68587452-AA33-244F-AF18-9105BA857BF3}"/>
              </a:ext>
            </a:extLst>
          </p:cNvPr>
          <p:cNvSpPr>
            <a:spLocks/>
          </p:cNvSpPr>
          <p:nvPr/>
        </p:nvSpPr>
        <p:spPr bwMode="auto">
          <a:xfrm>
            <a:off x="8826500" y="2062164"/>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4 h 30"/>
              <a:gd name="T10" fmla="*/ 18 w 23"/>
              <a:gd name="T11" fmla="*/ 2 h 30"/>
              <a:gd name="T12" fmla="*/ 17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4 w 23"/>
              <a:gd name="T27" fmla="*/ 4 h 30"/>
              <a:gd name="T28" fmla="*/ 1 w 23"/>
              <a:gd name="T29" fmla="*/ 7 h 30"/>
              <a:gd name="T30" fmla="*/ 1 w 23"/>
              <a:gd name="T31" fmla="*/ 9 h 30"/>
              <a:gd name="T32" fmla="*/ 0 w 23"/>
              <a:gd name="T33" fmla="*/ 11 h 30"/>
              <a:gd name="T34" fmla="*/ 0 w 23"/>
              <a:gd name="T35" fmla="*/ 13 h 30"/>
              <a:gd name="T36" fmla="*/ 0 w 23"/>
              <a:gd name="T37" fmla="*/ 16 h 30"/>
              <a:gd name="T38" fmla="*/ 0 w 23"/>
              <a:gd name="T39" fmla="*/ 19 h 30"/>
              <a:gd name="T40" fmla="*/ 1 w 23"/>
              <a:gd name="T41" fmla="*/ 22 h 30"/>
              <a:gd name="T42" fmla="*/ 1 w 23"/>
              <a:gd name="T43" fmla="*/ 24 h 30"/>
              <a:gd name="T44" fmla="*/ 4 w 23"/>
              <a:gd name="T45" fmla="*/ 25 h 30"/>
              <a:gd name="T46" fmla="*/ 5 w 23"/>
              <a:gd name="T47" fmla="*/ 27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7 h 30"/>
              <a:gd name="T62" fmla="*/ 19 w 23"/>
              <a:gd name="T63" fmla="*/ 25 h 30"/>
              <a:gd name="T64" fmla="*/ 21 w 23"/>
              <a:gd name="T65" fmla="*/ 24 h 30"/>
              <a:gd name="T66" fmla="*/ 21 w 23"/>
              <a:gd name="T67" fmla="*/ 22 h 30"/>
              <a:gd name="T68" fmla="*/ 23 w 23"/>
              <a:gd name="T69" fmla="*/ 19 h 30"/>
              <a:gd name="T70" fmla="*/ 23 w 23"/>
              <a:gd name="T71" fmla="*/ 16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5"/>
                </a:lnTo>
                <a:lnTo>
                  <a:pt x="19" y="4"/>
                </a:lnTo>
                <a:lnTo>
                  <a:pt x="19" y="3"/>
                </a:lnTo>
                <a:lnTo>
                  <a:pt x="18" y="2"/>
                </a:lnTo>
                <a:lnTo>
                  <a:pt x="17" y="1"/>
                </a:lnTo>
                <a:lnTo>
                  <a:pt x="16" y="0"/>
                </a:lnTo>
                <a:lnTo>
                  <a:pt x="14" y="0"/>
                </a:lnTo>
                <a:lnTo>
                  <a:pt x="13" y="0"/>
                </a:lnTo>
                <a:lnTo>
                  <a:pt x="12" y="0"/>
                </a:lnTo>
                <a:lnTo>
                  <a:pt x="11" y="0"/>
                </a:lnTo>
                <a:lnTo>
                  <a:pt x="10" y="0"/>
                </a:lnTo>
                <a:lnTo>
                  <a:pt x="9" y="0"/>
                </a:lnTo>
                <a:lnTo>
                  <a:pt x="8" y="0"/>
                </a:lnTo>
                <a:lnTo>
                  <a:pt x="7" y="1"/>
                </a:lnTo>
                <a:lnTo>
                  <a:pt x="6" y="1"/>
                </a:lnTo>
                <a:lnTo>
                  <a:pt x="5" y="2"/>
                </a:lnTo>
                <a:lnTo>
                  <a:pt x="4" y="3"/>
                </a:lnTo>
                <a:lnTo>
                  <a:pt x="4" y="4"/>
                </a:lnTo>
                <a:lnTo>
                  <a:pt x="2" y="5"/>
                </a:lnTo>
                <a:lnTo>
                  <a:pt x="1" y="7"/>
                </a:lnTo>
                <a:lnTo>
                  <a:pt x="1" y="8"/>
                </a:lnTo>
                <a:lnTo>
                  <a:pt x="1" y="9"/>
                </a:lnTo>
                <a:lnTo>
                  <a:pt x="0" y="10"/>
                </a:lnTo>
                <a:lnTo>
                  <a:pt x="0" y="11"/>
                </a:lnTo>
                <a:lnTo>
                  <a:pt x="0" y="12"/>
                </a:lnTo>
                <a:lnTo>
                  <a:pt x="0" y="13"/>
                </a:lnTo>
                <a:lnTo>
                  <a:pt x="0" y="14"/>
                </a:lnTo>
                <a:lnTo>
                  <a:pt x="0" y="16"/>
                </a:lnTo>
                <a:lnTo>
                  <a:pt x="0" y="18"/>
                </a:lnTo>
                <a:lnTo>
                  <a:pt x="0" y="19"/>
                </a:lnTo>
                <a:lnTo>
                  <a:pt x="0" y="20"/>
                </a:lnTo>
                <a:lnTo>
                  <a:pt x="1" y="22"/>
                </a:lnTo>
                <a:lnTo>
                  <a:pt x="1" y="23"/>
                </a:lnTo>
                <a:lnTo>
                  <a:pt x="1" y="24"/>
                </a:lnTo>
                <a:lnTo>
                  <a:pt x="2" y="24"/>
                </a:lnTo>
                <a:lnTo>
                  <a:pt x="4" y="25"/>
                </a:lnTo>
                <a:lnTo>
                  <a:pt x="4" y="26"/>
                </a:lnTo>
                <a:lnTo>
                  <a:pt x="5" y="27"/>
                </a:lnTo>
                <a:lnTo>
                  <a:pt x="6" y="29"/>
                </a:lnTo>
                <a:lnTo>
                  <a:pt x="7" y="29"/>
                </a:lnTo>
                <a:lnTo>
                  <a:pt x="8" y="30"/>
                </a:lnTo>
                <a:lnTo>
                  <a:pt x="9" y="30"/>
                </a:lnTo>
                <a:lnTo>
                  <a:pt x="10" y="30"/>
                </a:lnTo>
                <a:lnTo>
                  <a:pt x="11" y="30"/>
                </a:lnTo>
                <a:lnTo>
                  <a:pt x="12" y="30"/>
                </a:lnTo>
                <a:lnTo>
                  <a:pt x="13" y="30"/>
                </a:lnTo>
                <a:lnTo>
                  <a:pt x="14" y="30"/>
                </a:lnTo>
                <a:lnTo>
                  <a:pt x="16" y="30"/>
                </a:lnTo>
                <a:lnTo>
                  <a:pt x="17" y="29"/>
                </a:lnTo>
                <a:lnTo>
                  <a:pt x="18" y="27"/>
                </a:lnTo>
                <a:lnTo>
                  <a:pt x="19" y="26"/>
                </a:lnTo>
                <a:lnTo>
                  <a:pt x="19" y="25"/>
                </a:lnTo>
                <a:lnTo>
                  <a:pt x="20" y="24"/>
                </a:lnTo>
                <a:lnTo>
                  <a:pt x="21" y="24"/>
                </a:lnTo>
                <a:lnTo>
                  <a:pt x="21" y="23"/>
                </a:lnTo>
                <a:lnTo>
                  <a:pt x="21" y="22"/>
                </a:lnTo>
                <a:lnTo>
                  <a:pt x="22" y="20"/>
                </a:lnTo>
                <a:lnTo>
                  <a:pt x="23" y="19"/>
                </a:lnTo>
                <a:lnTo>
                  <a:pt x="23" y="18"/>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07" name="Line 207">
            <a:extLst>
              <a:ext uri="{FF2B5EF4-FFF2-40B4-BE49-F238E27FC236}">
                <a16:creationId xmlns:a16="http://schemas.microsoft.com/office/drawing/2014/main" id="{E14B43F6-989A-1649-B530-778B66B49A0C}"/>
              </a:ext>
            </a:extLst>
          </p:cNvPr>
          <p:cNvSpPr>
            <a:spLocks noChangeShapeType="1"/>
          </p:cNvSpPr>
          <p:nvPr/>
        </p:nvSpPr>
        <p:spPr bwMode="auto">
          <a:xfrm>
            <a:off x="8924925" y="1981201"/>
            <a:ext cx="1588" cy="80963"/>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8" name="Line 208">
            <a:extLst>
              <a:ext uri="{FF2B5EF4-FFF2-40B4-BE49-F238E27FC236}">
                <a16:creationId xmlns:a16="http://schemas.microsoft.com/office/drawing/2014/main" id="{33184D3B-1165-E646-B846-3489C13B0D0E}"/>
              </a:ext>
            </a:extLst>
          </p:cNvPr>
          <p:cNvSpPr>
            <a:spLocks noChangeShapeType="1"/>
          </p:cNvSpPr>
          <p:nvPr/>
        </p:nvSpPr>
        <p:spPr bwMode="auto">
          <a:xfrm>
            <a:off x="8893175" y="2019300"/>
            <a:ext cx="63500"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9" name="Freeform 209">
            <a:extLst>
              <a:ext uri="{FF2B5EF4-FFF2-40B4-BE49-F238E27FC236}">
                <a16:creationId xmlns:a16="http://schemas.microsoft.com/office/drawing/2014/main" id="{EF30F337-DDF7-9F48-8AB4-517E3D804EF2}"/>
              </a:ext>
            </a:extLst>
          </p:cNvPr>
          <p:cNvSpPr>
            <a:spLocks/>
          </p:cNvSpPr>
          <p:nvPr/>
        </p:nvSpPr>
        <p:spPr bwMode="auto">
          <a:xfrm>
            <a:off x="9482138" y="2903539"/>
            <a:ext cx="323850" cy="339725"/>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5 h 643"/>
              <a:gd name="T14" fmla="*/ 56 w 614"/>
              <a:gd name="T15" fmla="*/ 615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5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5"/>
                </a:lnTo>
                <a:lnTo>
                  <a:pt x="56" y="615"/>
                </a:lnTo>
                <a:lnTo>
                  <a:pt x="56" y="195"/>
                </a:lnTo>
                <a:lnTo>
                  <a:pt x="558" y="195"/>
                </a:lnTo>
                <a:lnTo>
                  <a:pt x="587" y="195"/>
                </a:lnTo>
                <a:lnTo>
                  <a:pt x="587" y="643"/>
                </a:lnTo>
                <a:lnTo>
                  <a:pt x="56" y="643"/>
                </a:lnTo>
                <a:lnTo>
                  <a:pt x="56" y="615"/>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10" name="Rectangle 210">
            <a:extLst>
              <a:ext uri="{FF2B5EF4-FFF2-40B4-BE49-F238E27FC236}">
                <a16:creationId xmlns:a16="http://schemas.microsoft.com/office/drawing/2014/main" id="{3715D3E5-4452-0141-985A-1A041EC7E590}"/>
              </a:ext>
            </a:extLst>
          </p:cNvPr>
          <p:cNvSpPr>
            <a:spLocks noChangeArrowheads="1"/>
          </p:cNvSpPr>
          <p:nvPr/>
        </p:nvSpPr>
        <p:spPr bwMode="auto">
          <a:xfrm>
            <a:off x="9512300" y="3006725"/>
            <a:ext cx="268288"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11" name="Rectangle 211">
            <a:extLst>
              <a:ext uri="{FF2B5EF4-FFF2-40B4-BE49-F238E27FC236}">
                <a16:creationId xmlns:a16="http://schemas.microsoft.com/office/drawing/2014/main" id="{C2045AAC-FA6B-6346-BD0C-75E2AE0C2AE7}"/>
              </a:ext>
            </a:extLst>
          </p:cNvPr>
          <p:cNvSpPr>
            <a:spLocks noChangeArrowheads="1"/>
          </p:cNvSpPr>
          <p:nvPr/>
        </p:nvSpPr>
        <p:spPr bwMode="auto">
          <a:xfrm>
            <a:off x="9555163" y="3059114"/>
            <a:ext cx="93662"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12" name="Rectangle 212">
            <a:extLst>
              <a:ext uri="{FF2B5EF4-FFF2-40B4-BE49-F238E27FC236}">
                <a16:creationId xmlns:a16="http://schemas.microsoft.com/office/drawing/2014/main" id="{4B4FD31F-8BAF-2F41-8E24-A624D18F8869}"/>
              </a:ext>
            </a:extLst>
          </p:cNvPr>
          <p:cNvSpPr>
            <a:spLocks noChangeArrowheads="1"/>
          </p:cNvSpPr>
          <p:nvPr/>
        </p:nvSpPr>
        <p:spPr bwMode="auto">
          <a:xfrm>
            <a:off x="9690100" y="3055939"/>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13" name="Freeform 213">
            <a:extLst>
              <a:ext uri="{FF2B5EF4-FFF2-40B4-BE49-F238E27FC236}">
                <a16:creationId xmlns:a16="http://schemas.microsoft.com/office/drawing/2014/main" id="{9AB0DC05-0554-C64C-9674-900782EB13AD}"/>
              </a:ext>
            </a:extLst>
          </p:cNvPr>
          <p:cNvSpPr>
            <a:spLocks/>
          </p:cNvSpPr>
          <p:nvPr/>
        </p:nvSpPr>
        <p:spPr bwMode="auto">
          <a:xfrm>
            <a:off x="9623425" y="3136901"/>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5 h 30"/>
              <a:gd name="T10" fmla="*/ 18 w 23"/>
              <a:gd name="T11" fmla="*/ 2 h 30"/>
              <a:gd name="T12" fmla="*/ 17 w 23"/>
              <a:gd name="T13" fmla="*/ 1 h 30"/>
              <a:gd name="T14" fmla="*/ 15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4 w 23"/>
              <a:gd name="T27" fmla="*/ 5 h 30"/>
              <a:gd name="T28" fmla="*/ 2 w 23"/>
              <a:gd name="T29" fmla="*/ 7 h 30"/>
              <a:gd name="T30" fmla="*/ 2 w 23"/>
              <a:gd name="T31" fmla="*/ 9 h 30"/>
              <a:gd name="T32" fmla="*/ 0 w 23"/>
              <a:gd name="T33" fmla="*/ 11 h 30"/>
              <a:gd name="T34" fmla="*/ 0 w 23"/>
              <a:gd name="T35" fmla="*/ 13 h 30"/>
              <a:gd name="T36" fmla="*/ 0 w 23"/>
              <a:gd name="T37" fmla="*/ 17 h 30"/>
              <a:gd name="T38" fmla="*/ 0 w 23"/>
              <a:gd name="T39" fmla="*/ 19 h 30"/>
              <a:gd name="T40" fmla="*/ 2 w 23"/>
              <a:gd name="T41" fmla="*/ 22 h 30"/>
              <a:gd name="T42" fmla="*/ 2 w 23"/>
              <a:gd name="T43" fmla="*/ 24 h 30"/>
              <a:gd name="T44" fmla="*/ 4 w 23"/>
              <a:gd name="T45" fmla="*/ 26 h 30"/>
              <a:gd name="T46" fmla="*/ 5 w 23"/>
              <a:gd name="T47" fmla="*/ 28 h 30"/>
              <a:gd name="T48" fmla="*/ 7 w 23"/>
              <a:gd name="T49" fmla="*/ 29 h 30"/>
              <a:gd name="T50" fmla="*/ 9 w 23"/>
              <a:gd name="T51" fmla="*/ 30 h 30"/>
              <a:gd name="T52" fmla="*/ 10 w 23"/>
              <a:gd name="T53" fmla="*/ 30 h 30"/>
              <a:gd name="T54" fmla="*/ 12 w 23"/>
              <a:gd name="T55" fmla="*/ 30 h 30"/>
              <a:gd name="T56" fmla="*/ 15 w 23"/>
              <a:gd name="T57" fmla="*/ 30 h 30"/>
              <a:gd name="T58" fmla="*/ 17 w 23"/>
              <a:gd name="T59" fmla="*/ 29 h 30"/>
              <a:gd name="T60" fmla="*/ 18 w 23"/>
              <a:gd name="T61" fmla="*/ 28 h 30"/>
              <a:gd name="T62" fmla="*/ 19 w 23"/>
              <a:gd name="T63" fmla="*/ 26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3"/>
                </a:lnTo>
                <a:lnTo>
                  <a:pt x="23" y="12"/>
                </a:lnTo>
                <a:lnTo>
                  <a:pt x="23" y="11"/>
                </a:lnTo>
                <a:lnTo>
                  <a:pt x="22" y="10"/>
                </a:lnTo>
                <a:lnTo>
                  <a:pt x="21" y="9"/>
                </a:lnTo>
                <a:lnTo>
                  <a:pt x="21" y="8"/>
                </a:lnTo>
                <a:lnTo>
                  <a:pt x="21" y="7"/>
                </a:lnTo>
                <a:lnTo>
                  <a:pt x="20" y="6"/>
                </a:lnTo>
                <a:lnTo>
                  <a:pt x="19" y="5"/>
                </a:lnTo>
                <a:lnTo>
                  <a:pt x="19" y="4"/>
                </a:lnTo>
                <a:lnTo>
                  <a:pt x="18" y="2"/>
                </a:lnTo>
                <a:lnTo>
                  <a:pt x="17" y="1"/>
                </a:lnTo>
                <a:lnTo>
                  <a:pt x="16" y="0"/>
                </a:lnTo>
                <a:lnTo>
                  <a:pt x="15" y="0"/>
                </a:lnTo>
                <a:lnTo>
                  <a:pt x="14" y="0"/>
                </a:lnTo>
                <a:lnTo>
                  <a:pt x="12" y="0"/>
                </a:lnTo>
                <a:lnTo>
                  <a:pt x="11" y="0"/>
                </a:lnTo>
                <a:lnTo>
                  <a:pt x="10" y="0"/>
                </a:lnTo>
                <a:lnTo>
                  <a:pt x="9" y="0"/>
                </a:lnTo>
                <a:lnTo>
                  <a:pt x="8" y="0"/>
                </a:lnTo>
                <a:lnTo>
                  <a:pt x="7" y="1"/>
                </a:lnTo>
                <a:lnTo>
                  <a:pt x="6" y="1"/>
                </a:lnTo>
                <a:lnTo>
                  <a:pt x="5" y="2"/>
                </a:lnTo>
                <a:lnTo>
                  <a:pt x="4" y="4"/>
                </a:lnTo>
                <a:lnTo>
                  <a:pt x="4" y="5"/>
                </a:lnTo>
                <a:lnTo>
                  <a:pt x="3" y="6"/>
                </a:lnTo>
                <a:lnTo>
                  <a:pt x="2" y="7"/>
                </a:lnTo>
                <a:lnTo>
                  <a:pt x="2" y="8"/>
                </a:lnTo>
                <a:lnTo>
                  <a:pt x="2" y="9"/>
                </a:lnTo>
                <a:lnTo>
                  <a:pt x="0" y="10"/>
                </a:lnTo>
                <a:lnTo>
                  <a:pt x="0" y="11"/>
                </a:lnTo>
                <a:lnTo>
                  <a:pt x="0" y="12"/>
                </a:lnTo>
                <a:lnTo>
                  <a:pt x="0" y="13"/>
                </a:lnTo>
                <a:lnTo>
                  <a:pt x="0" y="15"/>
                </a:lnTo>
                <a:lnTo>
                  <a:pt x="0" y="17"/>
                </a:lnTo>
                <a:lnTo>
                  <a:pt x="0" y="18"/>
                </a:lnTo>
                <a:lnTo>
                  <a:pt x="0" y="19"/>
                </a:lnTo>
                <a:lnTo>
                  <a:pt x="0" y="20"/>
                </a:lnTo>
                <a:lnTo>
                  <a:pt x="2" y="22"/>
                </a:lnTo>
                <a:lnTo>
                  <a:pt x="2" y="23"/>
                </a:lnTo>
                <a:lnTo>
                  <a:pt x="2" y="24"/>
                </a:lnTo>
                <a:lnTo>
                  <a:pt x="3" y="24"/>
                </a:lnTo>
                <a:lnTo>
                  <a:pt x="4" y="26"/>
                </a:lnTo>
                <a:lnTo>
                  <a:pt x="4" y="27"/>
                </a:lnTo>
                <a:lnTo>
                  <a:pt x="5" y="28"/>
                </a:lnTo>
                <a:lnTo>
                  <a:pt x="6" y="29"/>
                </a:lnTo>
                <a:lnTo>
                  <a:pt x="7" y="29"/>
                </a:lnTo>
                <a:lnTo>
                  <a:pt x="8" y="30"/>
                </a:lnTo>
                <a:lnTo>
                  <a:pt x="9" y="30"/>
                </a:lnTo>
                <a:lnTo>
                  <a:pt x="10" y="30"/>
                </a:lnTo>
                <a:lnTo>
                  <a:pt x="11" y="30"/>
                </a:lnTo>
                <a:lnTo>
                  <a:pt x="12" y="30"/>
                </a:lnTo>
                <a:lnTo>
                  <a:pt x="14" y="30"/>
                </a:lnTo>
                <a:lnTo>
                  <a:pt x="15" y="30"/>
                </a:lnTo>
                <a:lnTo>
                  <a:pt x="16" y="30"/>
                </a:lnTo>
                <a:lnTo>
                  <a:pt x="17" y="29"/>
                </a:lnTo>
                <a:lnTo>
                  <a:pt x="18" y="28"/>
                </a:lnTo>
                <a:lnTo>
                  <a:pt x="19" y="27"/>
                </a:lnTo>
                <a:lnTo>
                  <a:pt x="19" y="26"/>
                </a:lnTo>
                <a:lnTo>
                  <a:pt x="20" y="24"/>
                </a:lnTo>
                <a:lnTo>
                  <a:pt x="21" y="24"/>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14" name="Line 214">
            <a:extLst>
              <a:ext uri="{FF2B5EF4-FFF2-40B4-BE49-F238E27FC236}">
                <a16:creationId xmlns:a16="http://schemas.microsoft.com/office/drawing/2014/main" id="{D9A95F12-C9BD-1F4B-9565-3AD27ECC3048}"/>
              </a:ext>
            </a:extLst>
          </p:cNvPr>
          <p:cNvSpPr>
            <a:spLocks noChangeShapeType="1"/>
          </p:cNvSpPr>
          <p:nvPr/>
        </p:nvSpPr>
        <p:spPr bwMode="auto">
          <a:xfrm>
            <a:off x="9721850" y="3055939"/>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5" name="Line 215">
            <a:extLst>
              <a:ext uri="{FF2B5EF4-FFF2-40B4-BE49-F238E27FC236}">
                <a16:creationId xmlns:a16="http://schemas.microsoft.com/office/drawing/2014/main" id="{338E45ED-494B-2D4B-84CB-873243AA9CA6}"/>
              </a:ext>
            </a:extLst>
          </p:cNvPr>
          <p:cNvSpPr>
            <a:spLocks noChangeShapeType="1"/>
          </p:cNvSpPr>
          <p:nvPr/>
        </p:nvSpPr>
        <p:spPr bwMode="auto">
          <a:xfrm>
            <a:off x="9690101" y="3094039"/>
            <a:ext cx="61913"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6" name="Freeform 216">
            <a:extLst>
              <a:ext uri="{FF2B5EF4-FFF2-40B4-BE49-F238E27FC236}">
                <a16:creationId xmlns:a16="http://schemas.microsoft.com/office/drawing/2014/main" id="{315914CE-CA18-2C4E-9080-7C57073DFF16}"/>
              </a:ext>
            </a:extLst>
          </p:cNvPr>
          <p:cNvSpPr>
            <a:spLocks/>
          </p:cNvSpPr>
          <p:nvPr/>
        </p:nvSpPr>
        <p:spPr bwMode="auto">
          <a:xfrm>
            <a:off x="9456739" y="2360614"/>
            <a:ext cx="325437" cy="339725"/>
          </a:xfrm>
          <a:custGeom>
            <a:avLst/>
            <a:gdLst>
              <a:gd name="T0" fmla="*/ 56 w 615"/>
              <a:gd name="T1" fmla="*/ 195 h 643"/>
              <a:gd name="T2" fmla="*/ 0 w 615"/>
              <a:gd name="T3" fmla="*/ 195 h 643"/>
              <a:gd name="T4" fmla="*/ 308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8"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17" name="Rectangle 217">
            <a:extLst>
              <a:ext uri="{FF2B5EF4-FFF2-40B4-BE49-F238E27FC236}">
                <a16:creationId xmlns:a16="http://schemas.microsoft.com/office/drawing/2014/main" id="{614A8A4F-4C90-4641-BFFD-578B1FBDB3E3}"/>
              </a:ext>
            </a:extLst>
          </p:cNvPr>
          <p:cNvSpPr>
            <a:spLocks noChangeArrowheads="1"/>
          </p:cNvSpPr>
          <p:nvPr/>
        </p:nvSpPr>
        <p:spPr bwMode="auto">
          <a:xfrm>
            <a:off x="9486900" y="2463801"/>
            <a:ext cx="268288"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18" name="Rectangle 218">
            <a:extLst>
              <a:ext uri="{FF2B5EF4-FFF2-40B4-BE49-F238E27FC236}">
                <a16:creationId xmlns:a16="http://schemas.microsoft.com/office/drawing/2014/main" id="{1ED9A759-BD74-CE4D-9263-50748A0D10A4}"/>
              </a:ext>
            </a:extLst>
          </p:cNvPr>
          <p:cNvSpPr>
            <a:spLocks noChangeArrowheads="1"/>
          </p:cNvSpPr>
          <p:nvPr/>
        </p:nvSpPr>
        <p:spPr bwMode="auto">
          <a:xfrm>
            <a:off x="9529763" y="2516189"/>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19" name="Rectangle 219">
            <a:extLst>
              <a:ext uri="{FF2B5EF4-FFF2-40B4-BE49-F238E27FC236}">
                <a16:creationId xmlns:a16="http://schemas.microsoft.com/office/drawing/2014/main" id="{6B48276A-B732-8645-A576-01606D917BA6}"/>
              </a:ext>
            </a:extLst>
          </p:cNvPr>
          <p:cNvSpPr>
            <a:spLocks noChangeArrowheads="1"/>
          </p:cNvSpPr>
          <p:nvPr/>
        </p:nvSpPr>
        <p:spPr bwMode="auto">
          <a:xfrm>
            <a:off x="9664700" y="2511426"/>
            <a:ext cx="65088"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20" name="Freeform 220">
            <a:extLst>
              <a:ext uri="{FF2B5EF4-FFF2-40B4-BE49-F238E27FC236}">
                <a16:creationId xmlns:a16="http://schemas.microsoft.com/office/drawing/2014/main" id="{ED5575B7-9816-8F44-B25D-66A0C6B0F300}"/>
              </a:ext>
            </a:extLst>
          </p:cNvPr>
          <p:cNvSpPr>
            <a:spLocks/>
          </p:cNvSpPr>
          <p:nvPr/>
        </p:nvSpPr>
        <p:spPr bwMode="auto">
          <a:xfrm>
            <a:off x="9598025" y="2593976"/>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4 h 30"/>
              <a:gd name="T10" fmla="*/ 18 w 23"/>
              <a:gd name="T11" fmla="*/ 2 h 30"/>
              <a:gd name="T12" fmla="*/ 17 w 23"/>
              <a:gd name="T13" fmla="*/ 1 h 30"/>
              <a:gd name="T14" fmla="*/ 15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4 w 23"/>
              <a:gd name="T27" fmla="*/ 4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4 w 23"/>
              <a:gd name="T45" fmla="*/ 25 h 30"/>
              <a:gd name="T46" fmla="*/ 5 w 23"/>
              <a:gd name="T47" fmla="*/ 27 h 30"/>
              <a:gd name="T48" fmla="*/ 7 w 23"/>
              <a:gd name="T49" fmla="*/ 29 h 30"/>
              <a:gd name="T50" fmla="*/ 9 w 23"/>
              <a:gd name="T51" fmla="*/ 30 h 30"/>
              <a:gd name="T52" fmla="*/ 10 w 23"/>
              <a:gd name="T53" fmla="*/ 30 h 30"/>
              <a:gd name="T54" fmla="*/ 12 w 23"/>
              <a:gd name="T55" fmla="*/ 30 h 30"/>
              <a:gd name="T56" fmla="*/ 15 w 23"/>
              <a:gd name="T57" fmla="*/ 30 h 30"/>
              <a:gd name="T58" fmla="*/ 17 w 23"/>
              <a:gd name="T59" fmla="*/ 29 h 30"/>
              <a:gd name="T60" fmla="*/ 18 w 23"/>
              <a:gd name="T61" fmla="*/ 27 h 30"/>
              <a:gd name="T62" fmla="*/ 19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6"/>
                </a:lnTo>
                <a:lnTo>
                  <a:pt x="19" y="4"/>
                </a:lnTo>
                <a:lnTo>
                  <a:pt x="19" y="3"/>
                </a:lnTo>
                <a:lnTo>
                  <a:pt x="18" y="2"/>
                </a:lnTo>
                <a:lnTo>
                  <a:pt x="17" y="1"/>
                </a:lnTo>
                <a:lnTo>
                  <a:pt x="16" y="0"/>
                </a:lnTo>
                <a:lnTo>
                  <a:pt x="15" y="0"/>
                </a:lnTo>
                <a:lnTo>
                  <a:pt x="13" y="0"/>
                </a:lnTo>
                <a:lnTo>
                  <a:pt x="12" y="0"/>
                </a:lnTo>
                <a:lnTo>
                  <a:pt x="11" y="0"/>
                </a:lnTo>
                <a:lnTo>
                  <a:pt x="10" y="0"/>
                </a:lnTo>
                <a:lnTo>
                  <a:pt x="9" y="0"/>
                </a:lnTo>
                <a:lnTo>
                  <a:pt x="8" y="0"/>
                </a:lnTo>
                <a:lnTo>
                  <a:pt x="7" y="1"/>
                </a:lnTo>
                <a:lnTo>
                  <a:pt x="6" y="1"/>
                </a:lnTo>
                <a:lnTo>
                  <a:pt x="5" y="2"/>
                </a:lnTo>
                <a:lnTo>
                  <a:pt x="4" y="3"/>
                </a:lnTo>
                <a:lnTo>
                  <a:pt x="4" y="4"/>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4" y="25"/>
                </a:lnTo>
                <a:lnTo>
                  <a:pt x="4" y="26"/>
                </a:lnTo>
                <a:lnTo>
                  <a:pt x="5" y="27"/>
                </a:lnTo>
                <a:lnTo>
                  <a:pt x="6" y="29"/>
                </a:lnTo>
                <a:lnTo>
                  <a:pt x="7" y="29"/>
                </a:lnTo>
                <a:lnTo>
                  <a:pt x="8" y="30"/>
                </a:lnTo>
                <a:lnTo>
                  <a:pt x="9" y="30"/>
                </a:lnTo>
                <a:lnTo>
                  <a:pt x="10" y="30"/>
                </a:lnTo>
                <a:lnTo>
                  <a:pt x="11" y="30"/>
                </a:lnTo>
                <a:lnTo>
                  <a:pt x="12" y="30"/>
                </a:lnTo>
                <a:lnTo>
                  <a:pt x="13" y="30"/>
                </a:lnTo>
                <a:lnTo>
                  <a:pt x="15" y="30"/>
                </a:lnTo>
                <a:lnTo>
                  <a:pt x="16" y="30"/>
                </a:lnTo>
                <a:lnTo>
                  <a:pt x="17" y="29"/>
                </a:lnTo>
                <a:lnTo>
                  <a:pt x="18" y="27"/>
                </a:lnTo>
                <a:lnTo>
                  <a:pt x="19" y="26"/>
                </a:lnTo>
                <a:lnTo>
                  <a:pt x="19" y="25"/>
                </a:lnTo>
                <a:lnTo>
                  <a:pt x="20"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21" name="Line 221">
            <a:extLst>
              <a:ext uri="{FF2B5EF4-FFF2-40B4-BE49-F238E27FC236}">
                <a16:creationId xmlns:a16="http://schemas.microsoft.com/office/drawing/2014/main" id="{940484A2-7F3F-DA48-88EA-6202EDACD4C6}"/>
              </a:ext>
            </a:extLst>
          </p:cNvPr>
          <p:cNvSpPr>
            <a:spLocks noChangeShapeType="1"/>
          </p:cNvSpPr>
          <p:nvPr/>
        </p:nvSpPr>
        <p:spPr bwMode="auto">
          <a:xfrm>
            <a:off x="9696450" y="2513014"/>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2" name="Line 222">
            <a:extLst>
              <a:ext uri="{FF2B5EF4-FFF2-40B4-BE49-F238E27FC236}">
                <a16:creationId xmlns:a16="http://schemas.microsoft.com/office/drawing/2014/main" id="{60729F1D-B11C-8943-BD6C-C0B1A341F5BC}"/>
              </a:ext>
            </a:extLst>
          </p:cNvPr>
          <p:cNvSpPr>
            <a:spLocks noChangeShapeType="1"/>
          </p:cNvSpPr>
          <p:nvPr/>
        </p:nvSpPr>
        <p:spPr bwMode="auto">
          <a:xfrm>
            <a:off x="9664700" y="2551114"/>
            <a:ext cx="63500"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3" name="Freeform 223">
            <a:extLst>
              <a:ext uri="{FF2B5EF4-FFF2-40B4-BE49-F238E27FC236}">
                <a16:creationId xmlns:a16="http://schemas.microsoft.com/office/drawing/2014/main" id="{3DC21368-573D-CE4A-8F01-67C87B50B4FB}"/>
              </a:ext>
            </a:extLst>
          </p:cNvPr>
          <p:cNvSpPr>
            <a:spLocks/>
          </p:cNvSpPr>
          <p:nvPr/>
        </p:nvSpPr>
        <p:spPr bwMode="auto">
          <a:xfrm>
            <a:off x="8913813" y="2473326"/>
            <a:ext cx="323850" cy="341313"/>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5 h 643"/>
              <a:gd name="T14" fmla="*/ 56 w 614"/>
              <a:gd name="T15" fmla="*/ 615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5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5"/>
                </a:lnTo>
                <a:lnTo>
                  <a:pt x="56" y="615"/>
                </a:lnTo>
                <a:lnTo>
                  <a:pt x="56" y="195"/>
                </a:lnTo>
                <a:lnTo>
                  <a:pt x="558" y="195"/>
                </a:lnTo>
                <a:lnTo>
                  <a:pt x="587" y="195"/>
                </a:lnTo>
                <a:lnTo>
                  <a:pt x="587" y="643"/>
                </a:lnTo>
                <a:lnTo>
                  <a:pt x="56" y="643"/>
                </a:lnTo>
                <a:lnTo>
                  <a:pt x="56" y="615"/>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24" name="Rectangle 224">
            <a:extLst>
              <a:ext uri="{FF2B5EF4-FFF2-40B4-BE49-F238E27FC236}">
                <a16:creationId xmlns:a16="http://schemas.microsoft.com/office/drawing/2014/main" id="{63F7D6C7-4FD3-FC4A-8158-4E7067150AEE}"/>
              </a:ext>
            </a:extLst>
          </p:cNvPr>
          <p:cNvSpPr>
            <a:spLocks noChangeArrowheads="1"/>
          </p:cNvSpPr>
          <p:nvPr/>
        </p:nvSpPr>
        <p:spPr bwMode="auto">
          <a:xfrm>
            <a:off x="8943975" y="2576513"/>
            <a:ext cx="268288"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25" name="Rectangle 225">
            <a:extLst>
              <a:ext uri="{FF2B5EF4-FFF2-40B4-BE49-F238E27FC236}">
                <a16:creationId xmlns:a16="http://schemas.microsoft.com/office/drawing/2014/main" id="{0B2B18FF-CA4A-A34F-AAB6-236CD8A418FC}"/>
              </a:ext>
            </a:extLst>
          </p:cNvPr>
          <p:cNvSpPr>
            <a:spLocks noChangeArrowheads="1"/>
          </p:cNvSpPr>
          <p:nvPr/>
        </p:nvSpPr>
        <p:spPr bwMode="auto">
          <a:xfrm>
            <a:off x="8986838" y="2630489"/>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26" name="Rectangle 226">
            <a:extLst>
              <a:ext uri="{FF2B5EF4-FFF2-40B4-BE49-F238E27FC236}">
                <a16:creationId xmlns:a16="http://schemas.microsoft.com/office/drawing/2014/main" id="{5B91E883-5006-854E-8EEF-73CF0C85AB03}"/>
              </a:ext>
            </a:extLst>
          </p:cNvPr>
          <p:cNvSpPr>
            <a:spLocks noChangeArrowheads="1"/>
          </p:cNvSpPr>
          <p:nvPr/>
        </p:nvSpPr>
        <p:spPr bwMode="auto">
          <a:xfrm>
            <a:off x="9121775" y="2625726"/>
            <a:ext cx="63500"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27" name="Freeform 227">
            <a:extLst>
              <a:ext uri="{FF2B5EF4-FFF2-40B4-BE49-F238E27FC236}">
                <a16:creationId xmlns:a16="http://schemas.microsoft.com/office/drawing/2014/main" id="{2518C9C4-995F-8B43-8349-E1B03D97AB2F}"/>
              </a:ext>
            </a:extLst>
          </p:cNvPr>
          <p:cNvSpPr>
            <a:spLocks/>
          </p:cNvSpPr>
          <p:nvPr/>
        </p:nvSpPr>
        <p:spPr bwMode="auto">
          <a:xfrm>
            <a:off x="9055100" y="2706689"/>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5 h 30"/>
              <a:gd name="T10" fmla="*/ 18 w 23"/>
              <a:gd name="T11" fmla="*/ 2 h 30"/>
              <a:gd name="T12" fmla="*/ 17 w 23"/>
              <a:gd name="T13" fmla="*/ 1 h 30"/>
              <a:gd name="T14" fmla="*/ 15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4 w 23"/>
              <a:gd name="T27" fmla="*/ 5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4 w 23"/>
              <a:gd name="T45" fmla="*/ 25 h 30"/>
              <a:gd name="T46" fmla="*/ 5 w 23"/>
              <a:gd name="T47" fmla="*/ 28 h 30"/>
              <a:gd name="T48" fmla="*/ 7 w 23"/>
              <a:gd name="T49" fmla="*/ 29 h 30"/>
              <a:gd name="T50" fmla="*/ 9 w 23"/>
              <a:gd name="T51" fmla="*/ 30 h 30"/>
              <a:gd name="T52" fmla="*/ 10 w 23"/>
              <a:gd name="T53" fmla="*/ 30 h 30"/>
              <a:gd name="T54" fmla="*/ 12 w 23"/>
              <a:gd name="T55" fmla="*/ 30 h 30"/>
              <a:gd name="T56" fmla="*/ 15 w 23"/>
              <a:gd name="T57" fmla="*/ 30 h 30"/>
              <a:gd name="T58" fmla="*/ 17 w 23"/>
              <a:gd name="T59" fmla="*/ 29 h 30"/>
              <a:gd name="T60" fmla="*/ 18 w 23"/>
              <a:gd name="T61" fmla="*/ 28 h 30"/>
              <a:gd name="T62" fmla="*/ 19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6"/>
                </a:lnTo>
                <a:lnTo>
                  <a:pt x="19" y="5"/>
                </a:lnTo>
                <a:lnTo>
                  <a:pt x="19" y="3"/>
                </a:lnTo>
                <a:lnTo>
                  <a:pt x="18" y="2"/>
                </a:lnTo>
                <a:lnTo>
                  <a:pt x="17" y="1"/>
                </a:lnTo>
                <a:lnTo>
                  <a:pt x="16" y="0"/>
                </a:lnTo>
                <a:lnTo>
                  <a:pt x="15" y="0"/>
                </a:lnTo>
                <a:lnTo>
                  <a:pt x="14" y="0"/>
                </a:lnTo>
                <a:lnTo>
                  <a:pt x="12" y="0"/>
                </a:lnTo>
                <a:lnTo>
                  <a:pt x="11" y="0"/>
                </a:lnTo>
                <a:lnTo>
                  <a:pt x="10" y="0"/>
                </a:lnTo>
                <a:lnTo>
                  <a:pt x="9" y="0"/>
                </a:lnTo>
                <a:lnTo>
                  <a:pt x="8" y="0"/>
                </a:lnTo>
                <a:lnTo>
                  <a:pt x="7" y="1"/>
                </a:lnTo>
                <a:lnTo>
                  <a:pt x="6" y="1"/>
                </a:lnTo>
                <a:lnTo>
                  <a:pt x="5" y="2"/>
                </a:lnTo>
                <a:lnTo>
                  <a:pt x="4" y="3"/>
                </a:lnTo>
                <a:lnTo>
                  <a:pt x="4" y="5"/>
                </a:lnTo>
                <a:lnTo>
                  <a:pt x="3"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3" y="24"/>
                </a:lnTo>
                <a:lnTo>
                  <a:pt x="4" y="25"/>
                </a:lnTo>
                <a:lnTo>
                  <a:pt x="4" y="26"/>
                </a:lnTo>
                <a:lnTo>
                  <a:pt x="5" y="28"/>
                </a:lnTo>
                <a:lnTo>
                  <a:pt x="6" y="29"/>
                </a:lnTo>
                <a:lnTo>
                  <a:pt x="7" y="29"/>
                </a:lnTo>
                <a:lnTo>
                  <a:pt x="8" y="30"/>
                </a:lnTo>
                <a:lnTo>
                  <a:pt x="9" y="30"/>
                </a:lnTo>
                <a:lnTo>
                  <a:pt x="10" y="30"/>
                </a:lnTo>
                <a:lnTo>
                  <a:pt x="11" y="30"/>
                </a:lnTo>
                <a:lnTo>
                  <a:pt x="12" y="30"/>
                </a:lnTo>
                <a:lnTo>
                  <a:pt x="14" y="30"/>
                </a:lnTo>
                <a:lnTo>
                  <a:pt x="15" y="30"/>
                </a:lnTo>
                <a:lnTo>
                  <a:pt x="16" y="30"/>
                </a:lnTo>
                <a:lnTo>
                  <a:pt x="17" y="29"/>
                </a:lnTo>
                <a:lnTo>
                  <a:pt x="18" y="28"/>
                </a:lnTo>
                <a:lnTo>
                  <a:pt x="19" y="26"/>
                </a:lnTo>
                <a:lnTo>
                  <a:pt x="19" y="25"/>
                </a:lnTo>
                <a:lnTo>
                  <a:pt x="20"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28" name="Line 228">
            <a:extLst>
              <a:ext uri="{FF2B5EF4-FFF2-40B4-BE49-F238E27FC236}">
                <a16:creationId xmlns:a16="http://schemas.microsoft.com/office/drawing/2014/main" id="{CCF9E80E-7850-044B-A73C-9512C4452868}"/>
              </a:ext>
            </a:extLst>
          </p:cNvPr>
          <p:cNvSpPr>
            <a:spLocks noChangeShapeType="1"/>
          </p:cNvSpPr>
          <p:nvPr/>
        </p:nvSpPr>
        <p:spPr bwMode="auto">
          <a:xfrm>
            <a:off x="9153525" y="2627314"/>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9" name="Line 229">
            <a:extLst>
              <a:ext uri="{FF2B5EF4-FFF2-40B4-BE49-F238E27FC236}">
                <a16:creationId xmlns:a16="http://schemas.microsoft.com/office/drawing/2014/main" id="{32332A8D-3F97-884F-B777-9E72A7EB74C6}"/>
              </a:ext>
            </a:extLst>
          </p:cNvPr>
          <p:cNvSpPr>
            <a:spLocks noChangeShapeType="1"/>
          </p:cNvSpPr>
          <p:nvPr/>
        </p:nvSpPr>
        <p:spPr bwMode="auto">
          <a:xfrm>
            <a:off x="9121776" y="2663825"/>
            <a:ext cx="61913"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0" name="Freeform 230">
            <a:extLst>
              <a:ext uri="{FF2B5EF4-FFF2-40B4-BE49-F238E27FC236}">
                <a16:creationId xmlns:a16="http://schemas.microsoft.com/office/drawing/2014/main" id="{D1AE176B-C9CD-2740-9BB2-FC0AB8DBE2DE}"/>
              </a:ext>
            </a:extLst>
          </p:cNvPr>
          <p:cNvSpPr>
            <a:spLocks/>
          </p:cNvSpPr>
          <p:nvPr/>
        </p:nvSpPr>
        <p:spPr bwMode="auto">
          <a:xfrm>
            <a:off x="8356600" y="2613026"/>
            <a:ext cx="325438" cy="339725"/>
          </a:xfrm>
          <a:custGeom>
            <a:avLst/>
            <a:gdLst>
              <a:gd name="T0" fmla="*/ 55 w 614"/>
              <a:gd name="T1" fmla="*/ 196 h 643"/>
              <a:gd name="T2" fmla="*/ 0 w 614"/>
              <a:gd name="T3" fmla="*/ 196 h 643"/>
              <a:gd name="T4" fmla="*/ 307 w 614"/>
              <a:gd name="T5" fmla="*/ 0 h 643"/>
              <a:gd name="T6" fmla="*/ 614 w 614"/>
              <a:gd name="T7" fmla="*/ 196 h 643"/>
              <a:gd name="T8" fmla="*/ 586 w 614"/>
              <a:gd name="T9" fmla="*/ 196 h 643"/>
              <a:gd name="T10" fmla="*/ 558 w 614"/>
              <a:gd name="T11" fmla="*/ 196 h 643"/>
              <a:gd name="T12" fmla="*/ 558 w 614"/>
              <a:gd name="T13" fmla="*/ 615 h 643"/>
              <a:gd name="T14" fmla="*/ 55 w 614"/>
              <a:gd name="T15" fmla="*/ 615 h 643"/>
              <a:gd name="T16" fmla="*/ 55 w 614"/>
              <a:gd name="T17" fmla="*/ 196 h 643"/>
              <a:gd name="T18" fmla="*/ 558 w 614"/>
              <a:gd name="T19" fmla="*/ 196 h 643"/>
              <a:gd name="T20" fmla="*/ 586 w 614"/>
              <a:gd name="T21" fmla="*/ 196 h 643"/>
              <a:gd name="T22" fmla="*/ 586 w 614"/>
              <a:gd name="T23" fmla="*/ 643 h 643"/>
              <a:gd name="T24" fmla="*/ 55 w 614"/>
              <a:gd name="T25" fmla="*/ 643 h 643"/>
              <a:gd name="T26" fmla="*/ 55 w 614"/>
              <a:gd name="T27" fmla="*/ 615 h 643"/>
              <a:gd name="T28" fmla="*/ 55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5" y="196"/>
                </a:moveTo>
                <a:lnTo>
                  <a:pt x="0" y="196"/>
                </a:lnTo>
                <a:lnTo>
                  <a:pt x="307" y="0"/>
                </a:lnTo>
                <a:lnTo>
                  <a:pt x="614" y="196"/>
                </a:lnTo>
                <a:lnTo>
                  <a:pt x="586" y="196"/>
                </a:lnTo>
                <a:lnTo>
                  <a:pt x="558" y="196"/>
                </a:lnTo>
                <a:lnTo>
                  <a:pt x="558" y="615"/>
                </a:lnTo>
                <a:lnTo>
                  <a:pt x="55" y="615"/>
                </a:lnTo>
                <a:lnTo>
                  <a:pt x="55" y="196"/>
                </a:lnTo>
                <a:lnTo>
                  <a:pt x="558" y="196"/>
                </a:lnTo>
                <a:lnTo>
                  <a:pt x="586" y="196"/>
                </a:lnTo>
                <a:lnTo>
                  <a:pt x="586" y="643"/>
                </a:lnTo>
                <a:lnTo>
                  <a:pt x="55" y="643"/>
                </a:lnTo>
                <a:lnTo>
                  <a:pt x="55" y="615"/>
                </a:lnTo>
                <a:lnTo>
                  <a:pt x="55"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31" name="Rectangle 231">
            <a:extLst>
              <a:ext uri="{FF2B5EF4-FFF2-40B4-BE49-F238E27FC236}">
                <a16:creationId xmlns:a16="http://schemas.microsoft.com/office/drawing/2014/main" id="{5531CBCE-9B3F-0F4D-A050-94D7C4DCDBC6}"/>
              </a:ext>
            </a:extLst>
          </p:cNvPr>
          <p:cNvSpPr>
            <a:spLocks noChangeArrowheads="1"/>
          </p:cNvSpPr>
          <p:nvPr/>
        </p:nvSpPr>
        <p:spPr bwMode="auto">
          <a:xfrm>
            <a:off x="8386764" y="2716213"/>
            <a:ext cx="268287" cy="220662"/>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32" name="Rectangle 232">
            <a:extLst>
              <a:ext uri="{FF2B5EF4-FFF2-40B4-BE49-F238E27FC236}">
                <a16:creationId xmlns:a16="http://schemas.microsoft.com/office/drawing/2014/main" id="{0D60F8C4-259B-8843-B584-582F29D7398B}"/>
              </a:ext>
            </a:extLst>
          </p:cNvPr>
          <p:cNvSpPr>
            <a:spLocks noChangeArrowheads="1"/>
          </p:cNvSpPr>
          <p:nvPr/>
        </p:nvSpPr>
        <p:spPr bwMode="auto">
          <a:xfrm>
            <a:off x="8429626" y="2768601"/>
            <a:ext cx="93663"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33" name="Rectangle 233">
            <a:extLst>
              <a:ext uri="{FF2B5EF4-FFF2-40B4-BE49-F238E27FC236}">
                <a16:creationId xmlns:a16="http://schemas.microsoft.com/office/drawing/2014/main" id="{E70FC306-847A-B746-8971-F2BC0049A8DE}"/>
              </a:ext>
            </a:extLst>
          </p:cNvPr>
          <p:cNvSpPr>
            <a:spLocks noChangeArrowheads="1"/>
          </p:cNvSpPr>
          <p:nvPr/>
        </p:nvSpPr>
        <p:spPr bwMode="auto">
          <a:xfrm>
            <a:off x="8564564" y="2765426"/>
            <a:ext cx="65087"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34" name="Freeform 234">
            <a:extLst>
              <a:ext uri="{FF2B5EF4-FFF2-40B4-BE49-F238E27FC236}">
                <a16:creationId xmlns:a16="http://schemas.microsoft.com/office/drawing/2014/main" id="{5A0F3827-F9C5-684B-A3F4-D2992D3E1F4A}"/>
              </a:ext>
            </a:extLst>
          </p:cNvPr>
          <p:cNvSpPr>
            <a:spLocks/>
          </p:cNvSpPr>
          <p:nvPr/>
        </p:nvSpPr>
        <p:spPr bwMode="auto">
          <a:xfrm>
            <a:off x="8497888" y="2846389"/>
            <a:ext cx="12700" cy="15875"/>
          </a:xfrm>
          <a:custGeom>
            <a:avLst/>
            <a:gdLst>
              <a:gd name="T0" fmla="*/ 23 w 23"/>
              <a:gd name="T1" fmla="*/ 14 h 30"/>
              <a:gd name="T2" fmla="*/ 23 w 23"/>
              <a:gd name="T3" fmla="*/ 11 h 30"/>
              <a:gd name="T4" fmla="*/ 21 w 23"/>
              <a:gd name="T5" fmla="*/ 9 h 30"/>
              <a:gd name="T6" fmla="*/ 21 w 23"/>
              <a:gd name="T7" fmla="*/ 7 h 30"/>
              <a:gd name="T8" fmla="*/ 19 w 23"/>
              <a:gd name="T9" fmla="*/ 5 h 30"/>
              <a:gd name="T10" fmla="*/ 18 w 23"/>
              <a:gd name="T11" fmla="*/ 3 h 30"/>
              <a:gd name="T12" fmla="*/ 17 w 23"/>
              <a:gd name="T13" fmla="*/ 2 h 30"/>
              <a:gd name="T14" fmla="*/ 15 w 23"/>
              <a:gd name="T15" fmla="*/ 0 h 30"/>
              <a:gd name="T16" fmla="*/ 12 w 23"/>
              <a:gd name="T17" fmla="*/ 0 h 30"/>
              <a:gd name="T18" fmla="*/ 10 w 23"/>
              <a:gd name="T19" fmla="*/ 0 h 30"/>
              <a:gd name="T20" fmla="*/ 9 w 23"/>
              <a:gd name="T21" fmla="*/ 0 h 30"/>
              <a:gd name="T22" fmla="*/ 7 w 23"/>
              <a:gd name="T23" fmla="*/ 2 h 30"/>
              <a:gd name="T24" fmla="*/ 5 w 23"/>
              <a:gd name="T25" fmla="*/ 3 h 30"/>
              <a:gd name="T26" fmla="*/ 4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4 w 23"/>
              <a:gd name="T45" fmla="*/ 26 h 30"/>
              <a:gd name="T46" fmla="*/ 5 w 23"/>
              <a:gd name="T47" fmla="*/ 28 h 30"/>
              <a:gd name="T48" fmla="*/ 7 w 23"/>
              <a:gd name="T49" fmla="*/ 29 h 30"/>
              <a:gd name="T50" fmla="*/ 9 w 23"/>
              <a:gd name="T51" fmla="*/ 30 h 30"/>
              <a:gd name="T52" fmla="*/ 10 w 23"/>
              <a:gd name="T53" fmla="*/ 30 h 30"/>
              <a:gd name="T54" fmla="*/ 12 w 23"/>
              <a:gd name="T55" fmla="*/ 30 h 30"/>
              <a:gd name="T56" fmla="*/ 15 w 23"/>
              <a:gd name="T57" fmla="*/ 30 h 30"/>
              <a:gd name="T58" fmla="*/ 17 w 23"/>
              <a:gd name="T59" fmla="*/ 29 h 30"/>
              <a:gd name="T60" fmla="*/ 18 w 23"/>
              <a:gd name="T61" fmla="*/ 28 h 30"/>
              <a:gd name="T62" fmla="*/ 19 w 23"/>
              <a:gd name="T63" fmla="*/ 26 h 30"/>
              <a:gd name="T64" fmla="*/ 21 w 23"/>
              <a:gd name="T65" fmla="*/ 25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3"/>
                </a:lnTo>
                <a:lnTo>
                  <a:pt x="23" y="11"/>
                </a:lnTo>
                <a:lnTo>
                  <a:pt x="22" y="10"/>
                </a:lnTo>
                <a:lnTo>
                  <a:pt x="21" y="9"/>
                </a:lnTo>
                <a:lnTo>
                  <a:pt x="21" y="8"/>
                </a:lnTo>
                <a:lnTo>
                  <a:pt x="21" y="7"/>
                </a:lnTo>
                <a:lnTo>
                  <a:pt x="20" y="6"/>
                </a:lnTo>
                <a:lnTo>
                  <a:pt x="19" y="5"/>
                </a:lnTo>
                <a:lnTo>
                  <a:pt x="19" y="4"/>
                </a:lnTo>
                <a:lnTo>
                  <a:pt x="18" y="3"/>
                </a:lnTo>
                <a:lnTo>
                  <a:pt x="17" y="2"/>
                </a:lnTo>
                <a:lnTo>
                  <a:pt x="16" y="0"/>
                </a:lnTo>
                <a:lnTo>
                  <a:pt x="15" y="0"/>
                </a:lnTo>
                <a:lnTo>
                  <a:pt x="13" y="0"/>
                </a:lnTo>
                <a:lnTo>
                  <a:pt x="12" y="0"/>
                </a:lnTo>
                <a:lnTo>
                  <a:pt x="11" y="0"/>
                </a:lnTo>
                <a:lnTo>
                  <a:pt x="10" y="0"/>
                </a:lnTo>
                <a:lnTo>
                  <a:pt x="9" y="0"/>
                </a:lnTo>
                <a:lnTo>
                  <a:pt x="8" y="0"/>
                </a:lnTo>
                <a:lnTo>
                  <a:pt x="7" y="2"/>
                </a:lnTo>
                <a:lnTo>
                  <a:pt x="6" y="2"/>
                </a:lnTo>
                <a:lnTo>
                  <a:pt x="5" y="3"/>
                </a:lnTo>
                <a:lnTo>
                  <a:pt x="4" y="4"/>
                </a:lnTo>
                <a:lnTo>
                  <a:pt x="4" y="5"/>
                </a:lnTo>
                <a:lnTo>
                  <a:pt x="2" y="6"/>
                </a:lnTo>
                <a:lnTo>
                  <a:pt x="1" y="7"/>
                </a:lnTo>
                <a:lnTo>
                  <a:pt x="1" y="8"/>
                </a:lnTo>
                <a:lnTo>
                  <a:pt x="1" y="9"/>
                </a:lnTo>
                <a:lnTo>
                  <a:pt x="0" y="10"/>
                </a:lnTo>
                <a:lnTo>
                  <a:pt x="0" y="11"/>
                </a:lnTo>
                <a:lnTo>
                  <a:pt x="0" y="13"/>
                </a:lnTo>
                <a:lnTo>
                  <a:pt x="0" y="14"/>
                </a:lnTo>
                <a:lnTo>
                  <a:pt x="0" y="15"/>
                </a:lnTo>
                <a:lnTo>
                  <a:pt x="0" y="17"/>
                </a:lnTo>
                <a:lnTo>
                  <a:pt x="0" y="18"/>
                </a:lnTo>
                <a:lnTo>
                  <a:pt x="0" y="19"/>
                </a:lnTo>
                <a:lnTo>
                  <a:pt x="0" y="20"/>
                </a:lnTo>
                <a:lnTo>
                  <a:pt x="1" y="22"/>
                </a:lnTo>
                <a:lnTo>
                  <a:pt x="1" y="23"/>
                </a:lnTo>
                <a:lnTo>
                  <a:pt x="1" y="25"/>
                </a:lnTo>
                <a:lnTo>
                  <a:pt x="2" y="25"/>
                </a:lnTo>
                <a:lnTo>
                  <a:pt x="4" y="26"/>
                </a:lnTo>
                <a:lnTo>
                  <a:pt x="4" y="27"/>
                </a:lnTo>
                <a:lnTo>
                  <a:pt x="5" y="28"/>
                </a:lnTo>
                <a:lnTo>
                  <a:pt x="6" y="29"/>
                </a:lnTo>
                <a:lnTo>
                  <a:pt x="7" y="29"/>
                </a:lnTo>
                <a:lnTo>
                  <a:pt x="8" y="30"/>
                </a:lnTo>
                <a:lnTo>
                  <a:pt x="9" y="30"/>
                </a:lnTo>
                <a:lnTo>
                  <a:pt x="10" y="30"/>
                </a:lnTo>
                <a:lnTo>
                  <a:pt x="11" y="30"/>
                </a:lnTo>
                <a:lnTo>
                  <a:pt x="12" y="30"/>
                </a:lnTo>
                <a:lnTo>
                  <a:pt x="13" y="30"/>
                </a:lnTo>
                <a:lnTo>
                  <a:pt x="15" y="30"/>
                </a:lnTo>
                <a:lnTo>
                  <a:pt x="16" y="30"/>
                </a:lnTo>
                <a:lnTo>
                  <a:pt x="17" y="29"/>
                </a:lnTo>
                <a:lnTo>
                  <a:pt x="18" y="28"/>
                </a:lnTo>
                <a:lnTo>
                  <a:pt x="19" y="27"/>
                </a:lnTo>
                <a:lnTo>
                  <a:pt x="19" y="26"/>
                </a:lnTo>
                <a:lnTo>
                  <a:pt x="20" y="25"/>
                </a:lnTo>
                <a:lnTo>
                  <a:pt x="21" y="25"/>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35" name="Line 235">
            <a:extLst>
              <a:ext uri="{FF2B5EF4-FFF2-40B4-BE49-F238E27FC236}">
                <a16:creationId xmlns:a16="http://schemas.microsoft.com/office/drawing/2014/main" id="{0186CB05-7D4B-5640-ADBC-F2C0AAE8C400}"/>
              </a:ext>
            </a:extLst>
          </p:cNvPr>
          <p:cNvSpPr>
            <a:spLocks noChangeShapeType="1"/>
          </p:cNvSpPr>
          <p:nvPr/>
        </p:nvSpPr>
        <p:spPr bwMode="auto">
          <a:xfrm>
            <a:off x="8596314" y="2765426"/>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6" name="Line 236">
            <a:extLst>
              <a:ext uri="{FF2B5EF4-FFF2-40B4-BE49-F238E27FC236}">
                <a16:creationId xmlns:a16="http://schemas.microsoft.com/office/drawing/2014/main" id="{637DEFAD-634B-C847-B67D-4A2E3AE1FA24}"/>
              </a:ext>
            </a:extLst>
          </p:cNvPr>
          <p:cNvSpPr>
            <a:spLocks noChangeShapeType="1"/>
          </p:cNvSpPr>
          <p:nvPr/>
        </p:nvSpPr>
        <p:spPr bwMode="auto">
          <a:xfrm>
            <a:off x="8564563" y="2803525"/>
            <a:ext cx="63500"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7" name="Freeform 237">
            <a:extLst>
              <a:ext uri="{FF2B5EF4-FFF2-40B4-BE49-F238E27FC236}">
                <a16:creationId xmlns:a16="http://schemas.microsoft.com/office/drawing/2014/main" id="{2C78DACA-02F4-D24A-94A1-667D89012214}"/>
              </a:ext>
            </a:extLst>
          </p:cNvPr>
          <p:cNvSpPr>
            <a:spLocks/>
          </p:cNvSpPr>
          <p:nvPr/>
        </p:nvSpPr>
        <p:spPr bwMode="auto">
          <a:xfrm>
            <a:off x="7434264" y="2587626"/>
            <a:ext cx="325437" cy="339725"/>
          </a:xfrm>
          <a:custGeom>
            <a:avLst/>
            <a:gdLst>
              <a:gd name="T0" fmla="*/ 56 w 615"/>
              <a:gd name="T1" fmla="*/ 195 h 643"/>
              <a:gd name="T2" fmla="*/ 0 w 615"/>
              <a:gd name="T3" fmla="*/ 195 h 643"/>
              <a:gd name="T4" fmla="*/ 308 w 615"/>
              <a:gd name="T5" fmla="*/ 0 h 643"/>
              <a:gd name="T6" fmla="*/ 615 w 615"/>
              <a:gd name="T7" fmla="*/ 195 h 643"/>
              <a:gd name="T8" fmla="*/ 587 w 615"/>
              <a:gd name="T9" fmla="*/ 195 h 643"/>
              <a:gd name="T10" fmla="*/ 559 w 615"/>
              <a:gd name="T11" fmla="*/ 195 h 643"/>
              <a:gd name="T12" fmla="*/ 559 w 615"/>
              <a:gd name="T13" fmla="*/ 615 h 643"/>
              <a:gd name="T14" fmla="*/ 56 w 615"/>
              <a:gd name="T15" fmla="*/ 615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5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8" y="0"/>
                </a:lnTo>
                <a:lnTo>
                  <a:pt x="615" y="195"/>
                </a:lnTo>
                <a:lnTo>
                  <a:pt x="587" y="195"/>
                </a:lnTo>
                <a:lnTo>
                  <a:pt x="559" y="195"/>
                </a:lnTo>
                <a:lnTo>
                  <a:pt x="559" y="615"/>
                </a:lnTo>
                <a:lnTo>
                  <a:pt x="56" y="615"/>
                </a:lnTo>
                <a:lnTo>
                  <a:pt x="56" y="195"/>
                </a:lnTo>
                <a:lnTo>
                  <a:pt x="559" y="195"/>
                </a:lnTo>
                <a:lnTo>
                  <a:pt x="587" y="195"/>
                </a:lnTo>
                <a:lnTo>
                  <a:pt x="587" y="643"/>
                </a:lnTo>
                <a:lnTo>
                  <a:pt x="56" y="643"/>
                </a:lnTo>
                <a:lnTo>
                  <a:pt x="56" y="615"/>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38" name="Rectangle 238">
            <a:extLst>
              <a:ext uri="{FF2B5EF4-FFF2-40B4-BE49-F238E27FC236}">
                <a16:creationId xmlns:a16="http://schemas.microsoft.com/office/drawing/2014/main" id="{86B472A1-91BE-0D44-B837-465AEF54561C}"/>
              </a:ext>
            </a:extLst>
          </p:cNvPr>
          <p:cNvSpPr>
            <a:spLocks noChangeArrowheads="1"/>
          </p:cNvSpPr>
          <p:nvPr/>
        </p:nvSpPr>
        <p:spPr bwMode="auto">
          <a:xfrm>
            <a:off x="7464425" y="2690813"/>
            <a:ext cx="268288" cy="220662"/>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39" name="Rectangle 239">
            <a:extLst>
              <a:ext uri="{FF2B5EF4-FFF2-40B4-BE49-F238E27FC236}">
                <a16:creationId xmlns:a16="http://schemas.microsoft.com/office/drawing/2014/main" id="{6EC4AADF-6D9B-2944-8A84-CDF79E5029AD}"/>
              </a:ext>
            </a:extLst>
          </p:cNvPr>
          <p:cNvSpPr>
            <a:spLocks noChangeArrowheads="1"/>
          </p:cNvSpPr>
          <p:nvPr/>
        </p:nvSpPr>
        <p:spPr bwMode="auto">
          <a:xfrm>
            <a:off x="7507288" y="2743200"/>
            <a:ext cx="93662"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40" name="Rectangle 240">
            <a:extLst>
              <a:ext uri="{FF2B5EF4-FFF2-40B4-BE49-F238E27FC236}">
                <a16:creationId xmlns:a16="http://schemas.microsoft.com/office/drawing/2014/main" id="{B02FF612-F474-8C4D-9046-8E4595C12A0D}"/>
              </a:ext>
            </a:extLst>
          </p:cNvPr>
          <p:cNvSpPr>
            <a:spLocks noChangeArrowheads="1"/>
          </p:cNvSpPr>
          <p:nvPr/>
        </p:nvSpPr>
        <p:spPr bwMode="auto">
          <a:xfrm>
            <a:off x="7642225" y="2740026"/>
            <a:ext cx="65088"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41" name="Freeform 241">
            <a:extLst>
              <a:ext uri="{FF2B5EF4-FFF2-40B4-BE49-F238E27FC236}">
                <a16:creationId xmlns:a16="http://schemas.microsoft.com/office/drawing/2014/main" id="{9CFDD284-6C98-8D49-A12E-811E7772A57C}"/>
              </a:ext>
            </a:extLst>
          </p:cNvPr>
          <p:cNvSpPr>
            <a:spLocks/>
          </p:cNvSpPr>
          <p:nvPr/>
        </p:nvSpPr>
        <p:spPr bwMode="auto">
          <a:xfrm>
            <a:off x="7577138" y="2820989"/>
            <a:ext cx="11112" cy="15875"/>
          </a:xfrm>
          <a:custGeom>
            <a:avLst/>
            <a:gdLst>
              <a:gd name="T0" fmla="*/ 23 w 23"/>
              <a:gd name="T1" fmla="*/ 13 h 30"/>
              <a:gd name="T2" fmla="*/ 23 w 23"/>
              <a:gd name="T3" fmla="*/ 11 h 30"/>
              <a:gd name="T4" fmla="*/ 21 w 23"/>
              <a:gd name="T5" fmla="*/ 9 h 30"/>
              <a:gd name="T6" fmla="*/ 21 w 23"/>
              <a:gd name="T7" fmla="*/ 7 h 30"/>
              <a:gd name="T8" fmla="*/ 19 w 23"/>
              <a:gd name="T9" fmla="*/ 5 h 30"/>
              <a:gd name="T10" fmla="*/ 18 w 23"/>
              <a:gd name="T11" fmla="*/ 2 h 30"/>
              <a:gd name="T12" fmla="*/ 17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3 w 23"/>
              <a:gd name="T27" fmla="*/ 5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5 h 30"/>
              <a:gd name="T46" fmla="*/ 5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8 h 30"/>
              <a:gd name="T62" fmla="*/ 19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6"/>
                </a:lnTo>
                <a:lnTo>
                  <a:pt x="19" y="5"/>
                </a:lnTo>
                <a:lnTo>
                  <a:pt x="19" y="3"/>
                </a:lnTo>
                <a:lnTo>
                  <a:pt x="18" y="2"/>
                </a:lnTo>
                <a:lnTo>
                  <a:pt x="17" y="1"/>
                </a:lnTo>
                <a:lnTo>
                  <a:pt x="16" y="0"/>
                </a:lnTo>
                <a:lnTo>
                  <a:pt x="14" y="0"/>
                </a:lnTo>
                <a:lnTo>
                  <a:pt x="13" y="0"/>
                </a:lnTo>
                <a:lnTo>
                  <a:pt x="12" y="0"/>
                </a:lnTo>
                <a:lnTo>
                  <a:pt x="11" y="0"/>
                </a:lnTo>
                <a:lnTo>
                  <a:pt x="10" y="0"/>
                </a:lnTo>
                <a:lnTo>
                  <a:pt x="9" y="0"/>
                </a:lnTo>
                <a:lnTo>
                  <a:pt x="8" y="0"/>
                </a:lnTo>
                <a:lnTo>
                  <a:pt x="7" y="1"/>
                </a:lnTo>
                <a:lnTo>
                  <a:pt x="6" y="1"/>
                </a:lnTo>
                <a:lnTo>
                  <a:pt x="5" y="2"/>
                </a:lnTo>
                <a:lnTo>
                  <a:pt x="3" y="3"/>
                </a:lnTo>
                <a:lnTo>
                  <a:pt x="3" y="5"/>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3" y="25"/>
                </a:lnTo>
                <a:lnTo>
                  <a:pt x="3" y="26"/>
                </a:lnTo>
                <a:lnTo>
                  <a:pt x="5" y="28"/>
                </a:lnTo>
                <a:lnTo>
                  <a:pt x="6" y="29"/>
                </a:lnTo>
                <a:lnTo>
                  <a:pt x="7" y="29"/>
                </a:lnTo>
                <a:lnTo>
                  <a:pt x="8" y="30"/>
                </a:lnTo>
                <a:lnTo>
                  <a:pt x="9" y="30"/>
                </a:lnTo>
                <a:lnTo>
                  <a:pt x="10" y="30"/>
                </a:lnTo>
                <a:lnTo>
                  <a:pt x="11" y="30"/>
                </a:lnTo>
                <a:lnTo>
                  <a:pt x="12" y="30"/>
                </a:lnTo>
                <a:lnTo>
                  <a:pt x="13" y="30"/>
                </a:lnTo>
                <a:lnTo>
                  <a:pt x="14" y="30"/>
                </a:lnTo>
                <a:lnTo>
                  <a:pt x="16" y="30"/>
                </a:lnTo>
                <a:lnTo>
                  <a:pt x="17" y="29"/>
                </a:lnTo>
                <a:lnTo>
                  <a:pt x="18" y="28"/>
                </a:lnTo>
                <a:lnTo>
                  <a:pt x="19" y="26"/>
                </a:lnTo>
                <a:lnTo>
                  <a:pt x="19" y="25"/>
                </a:lnTo>
                <a:lnTo>
                  <a:pt x="20"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42" name="Line 242">
            <a:extLst>
              <a:ext uri="{FF2B5EF4-FFF2-40B4-BE49-F238E27FC236}">
                <a16:creationId xmlns:a16="http://schemas.microsoft.com/office/drawing/2014/main" id="{B25EDEBE-465A-2142-AE41-1A36CA9C4D81}"/>
              </a:ext>
            </a:extLst>
          </p:cNvPr>
          <p:cNvSpPr>
            <a:spLocks noChangeShapeType="1"/>
          </p:cNvSpPr>
          <p:nvPr/>
        </p:nvSpPr>
        <p:spPr bwMode="auto">
          <a:xfrm>
            <a:off x="7673975" y="2740026"/>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3" name="Line 243">
            <a:extLst>
              <a:ext uri="{FF2B5EF4-FFF2-40B4-BE49-F238E27FC236}">
                <a16:creationId xmlns:a16="http://schemas.microsoft.com/office/drawing/2014/main" id="{648E90B6-919D-DD43-9BB6-F79E9CC03476}"/>
              </a:ext>
            </a:extLst>
          </p:cNvPr>
          <p:cNvSpPr>
            <a:spLocks noChangeShapeType="1"/>
          </p:cNvSpPr>
          <p:nvPr/>
        </p:nvSpPr>
        <p:spPr bwMode="auto">
          <a:xfrm>
            <a:off x="7642225" y="2778125"/>
            <a:ext cx="63500"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4" name="Freeform 244">
            <a:extLst>
              <a:ext uri="{FF2B5EF4-FFF2-40B4-BE49-F238E27FC236}">
                <a16:creationId xmlns:a16="http://schemas.microsoft.com/office/drawing/2014/main" id="{A2615E5F-CEC7-F64B-9C6F-2D66F26D2A62}"/>
              </a:ext>
            </a:extLst>
          </p:cNvPr>
          <p:cNvSpPr>
            <a:spLocks/>
          </p:cNvSpPr>
          <p:nvPr/>
        </p:nvSpPr>
        <p:spPr bwMode="auto">
          <a:xfrm>
            <a:off x="7131050" y="3028951"/>
            <a:ext cx="325438" cy="341313"/>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45" name="Rectangle 245">
            <a:extLst>
              <a:ext uri="{FF2B5EF4-FFF2-40B4-BE49-F238E27FC236}">
                <a16:creationId xmlns:a16="http://schemas.microsoft.com/office/drawing/2014/main" id="{F53CEDBF-269C-AF4A-A716-7BC7A3EFF86A}"/>
              </a:ext>
            </a:extLst>
          </p:cNvPr>
          <p:cNvSpPr>
            <a:spLocks noChangeArrowheads="1"/>
          </p:cNvSpPr>
          <p:nvPr/>
        </p:nvSpPr>
        <p:spPr bwMode="auto">
          <a:xfrm>
            <a:off x="7161214" y="3133726"/>
            <a:ext cx="268287"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46" name="Rectangle 246">
            <a:extLst>
              <a:ext uri="{FF2B5EF4-FFF2-40B4-BE49-F238E27FC236}">
                <a16:creationId xmlns:a16="http://schemas.microsoft.com/office/drawing/2014/main" id="{2B032E91-EEE3-0447-9D79-7FDF65E23611}"/>
              </a:ext>
            </a:extLst>
          </p:cNvPr>
          <p:cNvSpPr>
            <a:spLocks noChangeArrowheads="1"/>
          </p:cNvSpPr>
          <p:nvPr/>
        </p:nvSpPr>
        <p:spPr bwMode="auto">
          <a:xfrm>
            <a:off x="7204076" y="3186114"/>
            <a:ext cx="93663"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47" name="Rectangle 247">
            <a:extLst>
              <a:ext uri="{FF2B5EF4-FFF2-40B4-BE49-F238E27FC236}">
                <a16:creationId xmlns:a16="http://schemas.microsoft.com/office/drawing/2014/main" id="{D6610683-E4CB-BD4A-8866-F554F3E1EA8F}"/>
              </a:ext>
            </a:extLst>
          </p:cNvPr>
          <p:cNvSpPr>
            <a:spLocks noChangeArrowheads="1"/>
          </p:cNvSpPr>
          <p:nvPr/>
        </p:nvSpPr>
        <p:spPr bwMode="auto">
          <a:xfrm>
            <a:off x="7339014" y="3181351"/>
            <a:ext cx="65087"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48" name="Freeform 248">
            <a:extLst>
              <a:ext uri="{FF2B5EF4-FFF2-40B4-BE49-F238E27FC236}">
                <a16:creationId xmlns:a16="http://schemas.microsoft.com/office/drawing/2014/main" id="{AC6786F2-467E-5B49-BD89-A14F1A7BC9D1}"/>
              </a:ext>
            </a:extLst>
          </p:cNvPr>
          <p:cNvSpPr>
            <a:spLocks/>
          </p:cNvSpPr>
          <p:nvPr/>
        </p:nvSpPr>
        <p:spPr bwMode="auto">
          <a:xfrm>
            <a:off x="7272338" y="3262314"/>
            <a:ext cx="12700" cy="15875"/>
          </a:xfrm>
          <a:custGeom>
            <a:avLst/>
            <a:gdLst>
              <a:gd name="T0" fmla="*/ 23 w 23"/>
              <a:gd name="T1" fmla="*/ 14 h 30"/>
              <a:gd name="T2" fmla="*/ 23 w 23"/>
              <a:gd name="T3" fmla="*/ 11 h 30"/>
              <a:gd name="T4" fmla="*/ 21 w 23"/>
              <a:gd name="T5" fmla="*/ 9 h 30"/>
              <a:gd name="T6" fmla="*/ 21 w 23"/>
              <a:gd name="T7" fmla="*/ 7 h 30"/>
              <a:gd name="T8" fmla="*/ 19 w 23"/>
              <a:gd name="T9" fmla="*/ 5 h 30"/>
              <a:gd name="T10" fmla="*/ 18 w 23"/>
              <a:gd name="T11" fmla="*/ 3 h 30"/>
              <a:gd name="T12" fmla="*/ 17 w 23"/>
              <a:gd name="T13" fmla="*/ 2 h 30"/>
              <a:gd name="T14" fmla="*/ 15 w 23"/>
              <a:gd name="T15" fmla="*/ 0 h 30"/>
              <a:gd name="T16" fmla="*/ 12 w 23"/>
              <a:gd name="T17" fmla="*/ 0 h 30"/>
              <a:gd name="T18" fmla="*/ 10 w 23"/>
              <a:gd name="T19" fmla="*/ 0 h 30"/>
              <a:gd name="T20" fmla="*/ 9 w 23"/>
              <a:gd name="T21" fmla="*/ 0 h 30"/>
              <a:gd name="T22" fmla="*/ 7 w 23"/>
              <a:gd name="T23" fmla="*/ 2 h 30"/>
              <a:gd name="T24" fmla="*/ 5 w 23"/>
              <a:gd name="T25" fmla="*/ 3 h 30"/>
              <a:gd name="T26" fmla="*/ 4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4 w 23"/>
              <a:gd name="T45" fmla="*/ 26 h 30"/>
              <a:gd name="T46" fmla="*/ 5 w 23"/>
              <a:gd name="T47" fmla="*/ 28 h 30"/>
              <a:gd name="T48" fmla="*/ 7 w 23"/>
              <a:gd name="T49" fmla="*/ 29 h 30"/>
              <a:gd name="T50" fmla="*/ 9 w 23"/>
              <a:gd name="T51" fmla="*/ 30 h 30"/>
              <a:gd name="T52" fmla="*/ 10 w 23"/>
              <a:gd name="T53" fmla="*/ 30 h 30"/>
              <a:gd name="T54" fmla="*/ 12 w 23"/>
              <a:gd name="T55" fmla="*/ 30 h 30"/>
              <a:gd name="T56" fmla="*/ 15 w 23"/>
              <a:gd name="T57" fmla="*/ 30 h 30"/>
              <a:gd name="T58" fmla="*/ 17 w 23"/>
              <a:gd name="T59" fmla="*/ 29 h 30"/>
              <a:gd name="T60" fmla="*/ 18 w 23"/>
              <a:gd name="T61" fmla="*/ 28 h 30"/>
              <a:gd name="T62" fmla="*/ 19 w 23"/>
              <a:gd name="T63" fmla="*/ 26 h 30"/>
              <a:gd name="T64" fmla="*/ 21 w 23"/>
              <a:gd name="T65" fmla="*/ 25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20" y="6"/>
                </a:lnTo>
                <a:lnTo>
                  <a:pt x="19" y="5"/>
                </a:lnTo>
                <a:lnTo>
                  <a:pt x="19" y="4"/>
                </a:lnTo>
                <a:lnTo>
                  <a:pt x="18" y="3"/>
                </a:lnTo>
                <a:lnTo>
                  <a:pt x="17" y="2"/>
                </a:lnTo>
                <a:lnTo>
                  <a:pt x="16" y="0"/>
                </a:lnTo>
                <a:lnTo>
                  <a:pt x="15" y="0"/>
                </a:lnTo>
                <a:lnTo>
                  <a:pt x="14" y="0"/>
                </a:lnTo>
                <a:lnTo>
                  <a:pt x="12" y="0"/>
                </a:lnTo>
                <a:lnTo>
                  <a:pt x="11" y="0"/>
                </a:lnTo>
                <a:lnTo>
                  <a:pt x="10" y="0"/>
                </a:lnTo>
                <a:lnTo>
                  <a:pt x="9" y="0"/>
                </a:lnTo>
                <a:lnTo>
                  <a:pt x="8" y="0"/>
                </a:lnTo>
                <a:lnTo>
                  <a:pt x="7" y="2"/>
                </a:lnTo>
                <a:lnTo>
                  <a:pt x="6" y="2"/>
                </a:lnTo>
                <a:lnTo>
                  <a:pt x="5" y="3"/>
                </a:lnTo>
                <a:lnTo>
                  <a:pt x="4" y="4"/>
                </a:lnTo>
                <a:lnTo>
                  <a:pt x="4" y="5"/>
                </a:lnTo>
                <a:lnTo>
                  <a:pt x="3"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5"/>
                </a:lnTo>
                <a:lnTo>
                  <a:pt x="3" y="25"/>
                </a:lnTo>
                <a:lnTo>
                  <a:pt x="4" y="26"/>
                </a:lnTo>
                <a:lnTo>
                  <a:pt x="4" y="27"/>
                </a:lnTo>
                <a:lnTo>
                  <a:pt x="5" y="28"/>
                </a:lnTo>
                <a:lnTo>
                  <a:pt x="6" y="29"/>
                </a:lnTo>
                <a:lnTo>
                  <a:pt x="7" y="29"/>
                </a:lnTo>
                <a:lnTo>
                  <a:pt x="8" y="30"/>
                </a:lnTo>
                <a:lnTo>
                  <a:pt x="9" y="30"/>
                </a:lnTo>
                <a:lnTo>
                  <a:pt x="10" y="30"/>
                </a:lnTo>
                <a:lnTo>
                  <a:pt x="11" y="30"/>
                </a:lnTo>
                <a:lnTo>
                  <a:pt x="12" y="30"/>
                </a:lnTo>
                <a:lnTo>
                  <a:pt x="14" y="30"/>
                </a:lnTo>
                <a:lnTo>
                  <a:pt x="15" y="30"/>
                </a:lnTo>
                <a:lnTo>
                  <a:pt x="16" y="30"/>
                </a:lnTo>
                <a:lnTo>
                  <a:pt x="17" y="29"/>
                </a:lnTo>
                <a:lnTo>
                  <a:pt x="18" y="28"/>
                </a:lnTo>
                <a:lnTo>
                  <a:pt x="19" y="27"/>
                </a:lnTo>
                <a:lnTo>
                  <a:pt x="19" y="26"/>
                </a:lnTo>
                <a:lnTo>
                  <a:pt x="20" y="25"/>
                </a:lnTo>
                <a:lnTo>
                  <a:pt x="21" y="25"/>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49" name="Line 249">
            <a:extLst>
              <a:ext uri="{FF2B5EF4-FFF2-40B4-BE49-F238E27FC236}">
                <a16:creationId xmlns:a16="http://schemas.microsoft.com/office/drawing/2014/main" id="{13DB4750-A7C8-424E-9614-BDA073C6FBAF}"/>
              </a:ext>
            </a:extLst>
          </p:cNvPr>
          <p:cNvSpPr>
            <a:spLocks noChangeShapeType="1"/>
          </p:cNvSpPr>
          <p:nvPr/>
        </p:nvSpPr>
        <p:spPr bwMode="auto">
          <a:xfrm>
            <a:off x="7370764" y="318293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0" name="Line 250">
            <a:extLst>
              <a:ext uri="{FF2B5EF4-FFF2-40B4-BE49-F238E27FC236}">
                <a16:creationId xmlns:a16="http://schemas.microsoft.com/office/drawing/2014/main" id="{43E59D65-9FAB-7D48-BC57-1B349A90EEAC}"/>
              </a:ext>
            </a:extLst>
          </p:cNvPr>
          <p:cNvSpPr>
            <a:spLocks noChangeShapeType="1"/>
          </p:cNvSpPr>
          <p:nvPr/>
        </p:nvSpPr>
        <p:spPr bwMode="auto">
          <a:xfrm>
            <a:off x="7339013" y="3219450"/>
            <a:ext cx="63500"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1" name="Freeform 251">
            <a:extLst>
              <a:ext uri="{FF2B5EF4-FFF2-40B4-BE49-F238E27FC236}">
                <a16:creationId xmlns:a16="http://schemas.microsoft.com/office/drawing/2014/main" id="{17DCCA05-ED5A-7E41-B928-0ADAC531BA3C}"/>
              </a:ext>
            </a:extLst>
          </p:cNvPr>
          <p:cNvSpPr>
            <a:spLocks/>
          </p:cNvSpPr>
          <p:nvPr/>
        </p:nvSpPr>
        <p:spPr bwMode="auto">
          <a:xfrm>
            <a:off x="8331200" y="4192589"/>
            <a:ext cx="325438" cy="339725"/>
          </a:xfrm>
          <a:custGeom>
            <a:avLst/>
            <a:gdLst>
              <a:gd name="T0" fmla="*/ 56 w 615"/>
              <a:gd name="T1" fmla="*/ 196 h 643"/>
              <a:gd name="T2" fmla="*/ 0 w 615"/>
              <a:gd name="T3" fmla="*/ 196 h 643"/>
              <a:gd name="T4" fmla="*/ 308 w 615"/>
              <a:gd name="T5" fmla="*/ 0 h 643"/>
              <a:gd name="T6" fmla="*/ 615 w 615"/>
              <a:gd name="T7" fmla="*/ 196 h 643"/>
              <a:gd name="T8" fmla="*/ 587 w 615"/>
              <a:gd name="T9" fmla="*/ 196 h 643"/>
              <a:gd name="T10" fmla="*/ 559 w 615"/>
              <a:gd name="T11" fmla="*/ 196 h 643"/>
              <a:gd name="T12" fmla="*/ 559 w 615"/>
              <a:gd name="T13" fmla="*/ 615 h 643"/>
              <a:gd name="T14" fmla="*/ 56 w 615"/>
              <a:gd name="T15" fmla="*/ 615 h 643"/>
              <a:gd name="T16" fmla="*/ 56 w 615"/>
              <a:gd name="T17" fmla="*/ 196 h 643"/>
              <a:gd name="T18" fmla="*/ 559 w 615"/>
              <a:gd name="T19" fmla="*/ 196 h 643"/>
              <a:gd name="T20" fmla="*/ 587 w 615"/>
              <a:gd name="T21" fmla="*/ 196 h 643"/>
              <a:gd name="T22" fmla="*/ 587 w 615"/>
              <a:gd name="T23" fmla="*/ 643 h 643"/>
              <a:gd name="T24" fmla="*/ 56 w 615"/>
              <a:gd name="T25" fmla="*/ 643 h 643"/>
              <a:gd name="T26" fmla="*/ 56 w 615"/>
              <a:gd name="T27" fmla="*/ 615 h 643"/>
              <a:gd name="T28" fmla="*/ 56 w 615"/>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6"/>
                </a:moveTo>
                <a:lnTo>
                  <a:pt x="0" y="196"/>
                </a:lnTo>
                <a:lnTo>
                  <a:pt x="308" y="0"/>
                </a:lnTo>
                <a:lnTo>
                  <a:pt x="615" y="196"/>
                </a:lnTo>
                <a:lnTo>
                  <a:pt x="587" y="196"/>
                </a:lnTo>
                <a:lnTo>
                  <a:pt x="559" y="196"/>
                </a:lnTo>
                <a:lnTo>
                  <a:pt x="559" y="615"/>
                </a:lnTo>
                <a:lnTo>
                  <a:pt x="56" y="615"/>
                </a:lnTo>
                <a:lnTo>
                  <a:pt x="56" y="196"/>
                </a:lnTo>
                <a:lnTo>
                  <a:pt x="559"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52" name="Rectangle 252">
            <a:extLst>
              <a:ext uri="{FF2B5EF4-FFF2-40B4-BE49-F238E27FC236}">
                <a16:creationId xmlns:a16="http://schemas.microsoft.com/office/drawing/2014/main" id="{7A7421BC-DB79-124A-9C23-6E8A1DC2D4D6}"/>
              </a:ext>
            </a:extLst>
          </p:cNvPr>
          <p:cNvSpPr>
            <a:spLocks noChangeArrowheads="1"/>
          </p:cNvSpPr>
          <p:nvPr/>
        </p:nvSpPr>
        <p:spPr bwMode="auto">
          <a:xfrm>
            <a:off x="8361364" y="4295776"/>
            <a:ext cx="268287"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53" name="Rectangle 253">
            <a:extLst>
              <a:ext uri="{FF2B5EF4-FFF2-40B4-BE49-F238E27FC236}">
                <a16:creationId xmlns:a16="http://schemas.microsoft.com/office/drawing/2014/main" id="{992EA4ED-D96C-5C45-9DC6-F0D21214EB1B}"/>
              </a:ext>
            </a:extLst>
          </p:cNvPr>
          <p:cNvSpPr>
            <a:spLocks noChangeArrowheads="1"/>
          </p:cNvSpPr>
          <p:nvPr/>
        </p:nvSpPr>
        <p:spPr bwMode="auto">
          <a:xfrm>
            <a:off x="8404226" y="4348164"/>
            <a:ext cx="93663"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54" name="Rectangle 254">
            <a:extLst>
              <a:ext uri="{FF2B5EF4-FFF2-40B4-BE49-F238E27FC236}">
                <a16:creationId xmlns:a16="http://schemas.microsoft.com/office/drawing/2014/main" id="{ED7BCF4F-D025-6C43-9A25-0C5E417032F1}"/>
              </a:ext>
            </a:extLst>
          </p:cNvPr>
          <p:cNvSpPr>
            <a:spLocks noChangeArrowheads="1"/>
          </p:cNvSpPr>
          <p:nvPr/>
        </p:nvSpPr>
        <p:spPr bwMode="auto">
          <a:xfrm>
            <a:off x="8539164" y="4344989"/>
            <a:ext cx="65087"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55" name="Freeform 255">
            <a:extLst>
              <a:ext uri="{FF2B5EF4-FFF2-40B4-BE49-F238E27FC236}">
                <a16:creationId xmlns:a16="http://schemas.microsoft.com/office/drawing/2014/main" id="{83CAC257-2980-664E-B94C-6CB56DBD032D}"/>
              </a:ext>
            </a:extLst>
          </p:cNvPr>
          <p:cNvSpPr>
            <a:spLocks/>
          </p:cNvSpPr>
          <p:nvPr/>
        </p:nvSpPr>
        <p:spPr bwMode="auto">
          <a:xfrm>
            <a:off x="8474076" y="4425951"/>
            <a:ext cx="11113" cy="15875"/>
          </a:xfrm>
          <a:custGeom>
            <a:avLst/>
            <a:gdLst>
              <a:gd name="T0" fmla="*/ 23 w 23"/>
              <a:gd name="T1" fmla="*/ 13 h 29"/>
              <a:gd name="T2" fmla="*/ 23 w 23"/>
              <a:gd name="T3" fmla="*/ 10 h 29"/>
              <a:gd name="T4" fmla="*/ 21 w 23"/>
              <a:gd name="T5" fmla="*/ 8 h 29"/>
              <a:gd name="T6" fmla="*/ 21 w 23"/>
              <a:gd name="T7" fmla="*/ 6 h 29"/>
              <a:gd name="T8" fmla="*/ 19 w 23"/>
              <a:gd name="T9" fmla="*/ 4 h 29"/>
              <a:gd name="T10" fmla="*/ 18 w 23"/>
              <a:gd name="T11" fmla="*/ 2 h 29"/>
              <a:gd name="T12" fmla="*/ 17 w 23"/>
              <a:gd name="T13" fmla="*/ 1 h 29"/>
              <a:gd name="T14" fmla="*/ 14 w 23"/>
              <a:gd name="T15" fmla="*/ 0 h 29"/>
              <a:gd name="T16" fmla="*/ 12 w 23"/>
              <a:gd name="T17" fmla="*/ 0 h 29"/>
              <a:gd name="T18" fmla="*/ 10 w 23"/>
              <a:gd name="T19" fmla="*/ 0 h 29"/>
              <a:gd name="T20" fmla="*/ 9 w 23"/>
              <a:gd name="T21" fmla="*/ 0 h 29"/>
              <a:gd name="T22" fmla="*/ 7 w 23"/>
              <a:gd name="T23" fmla="*/ 1 h 29"/>
              <a:gd name="T24" fmla="*/ 5 w 23"/>
              <a:gd name="T25" fmla="*/ 2 h 29"/>
              <a:gd name="T26" fmla="*/ 3 w 23"/>
              <a:gd name="T27" fmla="*/ 4 h 29"/>
              <a:gd name="T28" fmla="*/ 1 w 23"/>
              <a:gd name="T29" fmla="*/ 6 h 29"/>
              <a:gd name="T30" fmla="*/ 1 w 23"/>
              <a:gd name="T31" fmla="*/ 8 h 29"/>
              <a:gd name="T32" fmla="*/ 0 w 23"/>
              <a:gd name="T33" fmla="*/ 10 h 29"/>
              <a:gd name="T34" fmla="*/ 0 w 23"/>
              <a:gd name="T35" fmla="*/ 13 h 29"/>
              <a:gd name="T36" fmla="*/ 0 w 23"/>
              <a:gd name="T37" fmla="*/ 16 h 29"/>
              <a:gd name="T38" fmla="*/ 0 w 23"/>
              <a:gd name="T39" fmla="*/ 18 h 29"/>
              <a:gd name="T40" fmla="*/ 1 w 23"/>
              <a:gd name="T41" fmla="*/ 21 h 29"/>
              <a:gd name="T42" fmla="*/ 1 w 23"/>
              <a:gd name="T43" fmla="*/ 24 h 29"/>
              <a:gd name="T44" fmla="*/ 3 w 23"/>
              <a:gd name="T45" fmla="*/ 25 h 29"/>
              <a:gd name="T46" fmla="*/ 5 w 23"/>
              <a:gd name="T47" fmla="*/ 27 h 29"/>
              <a:gd name="T48" fmla="*/ 7 w 23"/>
              <a:gd name="T49" fmla="*/ 28 h 29"/>
              <a:gd name="T50" fmla="*/ 9 w 23"/>
              <a:gd name="T51" fmla="*/ 29 h 29"/>
              <a:gd name="T52" fmla="*/ 10 w 23"/>
              <a:gd name="T53" fmla="*/ 29 h 29"/>
              <a:gd name="T54" fmla="*/ 12 w 23"/>
              <a:gd name="T55" fmla="*/ 29 h 29"/>
              <a:gd name="T56" fmla="*/ 14 w 23"/>
              <a:gd name="T57" fmla="*/ 29 h 29"/>
              <a:gd name="T58" fmla="*/ 17 w 23"/>
              <a:gd name="T59" fmla="*/ 28 h 29"/>
              <a:gd name="T60" fmla="*/ 18 w 23"/>
              <a:gd name="T61" fmla="*/ 27 h 29"/>
              <a:gd name="T62" fmla="*/ 19 w 23"/>
              <a:gd name="T63" fmla="*/ 25 h 29"/>
              <a:gd name="T64" fmla="*/ 21 w 23"/>
              <a:gd name="T65" fmla="*/ 24 h 29"/>
              <a:gd name="T66" fmla="*/ 21 w 23"/>
              <a:gd name="T67" fmla="*/ 21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0"/>
                </a:lnTo>
                <a:lnTo>
                  <a:pt x="22" y="9"/>
                </a:lnTo>
                <a:lnTo>
                  <a:pt x="21" y="8"/>
                </a:lnTo>
                <a:lnTo>
                  <a:pt x="21" y="7"/>
                </a:lnTo>
                <a:lnTo>
                  <a:pt x="21" y="6"/>
                </a:lnTo>
                <a:lnTo>
                  <a:pt x="20" y="5"/>
                </a:lnTo>
                <a:lnTo>
                  <a:pt x="19" y="4"/>
                </a:lnTo>
                <a:lnTo>
                  <a:pt x="19" y="3"/>
                </a:lnTo>
                <a:lnTo>
                  <a:pt x="18" y="2"/>
                </a:lnTo>
                <a:lnTo>
                  <a:pt x="17" y="1"/>
                </a:lnTo>
                <a:lnTo>
                  <a:pt x="15" y="0"/>
                </a:lnTo>
                <a:lnTo>
                  <a:pt x="14" y="0"/>
                </a:lnTo>
                <a:lnTo>
                  <a:pt x="13" y="0"/>
                </a:lnTo>
                <a:lnTo>
                  <a:pt x="12" y="0"/>
                </a:lnTo>
                <a:lnTo>
                  <a:pt x="11" y="0"/>
                </a:lnTo>
                <a:lnTo>
                  <a:pt x="10" y="0"/>
                </a:lnTo>
                <a:lnTo>
                  <a:pt x="9" y="0"/>
                </a:lnTo>
                <a:lnTo>
                  <a:pt x="8" y="0"/>
                </a:lnTo>
                <a:lnTo>
                  <a:pt x="7" y="1"/>
                </a:lnTo>
                <a:lnTo>
                  <a:pt x="6" y="1"/>
                </a:lnTo>
                <a:lnTo>
                  <a:pt x="5" y="2"/>
                </a:lnTo>
                <a:lnTo>
                  <a:pt x="3" y="3"/>
                </a:lnTo>
                <a:lnTo>
                  <a:pt x="3" y="4"/>
                </a:lnTo>
                <a:lnTo>
                  <a:pt x="2" y="5"/>
                </a:lnTo>
                <a:lnTo>
                  <a:pt x="1" y="6"/>
                </a:lnTo>
                <a:lnTo>
                  <a:pt x="1" y="7"/>
                </a:lnTo>
                <a:lnTo>
                  <a:pt x="1" y="8"/>
                </a:lnTo>
                <a:lnTo>
                  <a:pt x="0" y="9"/>
                </a:lnTo>
                <a:lnTo>
                  <a:pt x="0" y="10"/>
                </a:lnTo>
                <a:lnTo>
                  <a:pt x="0" y="12"/>
                </a:lnTo>
                <a:lnTo>
                  <a:pt x="0" y="13"/>
                </a:lnTo>
                <a:lnTo>
                  <a:pt x="0" y="14"/>
                </a:lnTo>
                <a:lnTo>
                  <a:pt x="0" y="16"/>
                </a:lnTo>
                <a:lnTo>
                  <a:pt x="0" y="17"/>
                </a:lnTo>
                <a:lnTo>
                  <a:pt x="0" y="18"/>
                </a:lnTo>
                <a:lnTo>
                  <a:pt x="0" y="19"/>
                </a:lnTo>
                <a:lnTo>
                  <a:pt x="1" y="21"/>
                </a:lnTo>
                <a:lnTo>
                  <a:pt x="1" y="23"/>
                </a:lnTo>
                <a:lnTo>
                  <a:pt x="1" y="24"/>
                </a:lnTo>
                <a:lnTo>
                  <a:pt x="2" y="24"/>
                </a:lnTo>
                <a:lnTo>
                  <a:pt x="3" y="25"/>
                </a:lnTo>
                <a:lnTo>
                  <a:pt x="3" y="26"/>
                </a:lnTo>
                <a:lnTo>
                  <a:pt x="5" y="27"/>
                </a:lnTo>
                <a:lnTo>
                  <a:pt x="6" y="28"/>
                </a:lnTo>
                <a:lnTo>
                  <a:pt x="7" y="28"/>
                </a:lnTo>
                <a:lnTo>
                  <a:pt x="8" y="29"/>
                </a:lnTo>
                <a:lnTo>
                  <a:pt x="9" y="29"/>
                </a:lnTo>
                <a:lnTo>
                  <a:pt x="10" y="29"/>
                </a:lnTo>
                <a:lnTo>
                  <a:pt x="11" y="29"/>
                </a:lnTo>
                <a:lnTo>
                  <a:pt x="12" y="29"/>
                </a:lnTo>
                <a:lnTo>
                  <a:pt x="13" y="29"/>
                </a:lnTo>
                <a:lnTo>
                  <a:pt x="14" y="29"/>
                </a:lnTo>
                <a:lnTo>
                  <a:pt x="15" y="29"/>
                </a:lnTo>
                <a:lnTo>
                  <a:pt x="17" y="28"/>
                </a:lnTo>
                <a:lnTo>
                  <a:pt x="18" y="27"/>
                </a:lnTo>
                <a:lnTo>
                  <a:pt x="19" y="26"/>
                </a:lnTo>
                <a:lnTo>
                  <a:pt x="19" y="25"/>
                </a:lnTo>
                <a:lnTo>
                  <a:pt x="20" y="24"/>
                </a:lnTo>
                <a:lnTo>
                  <a:pt x="21" y="24"/>
                </a:lnTo>
                <a:lnTo>
                  <a:pt x="21" y="23"/>
                </a:lnTo>
                <a:lnTo>
                  <a:pt x="21" y="21"/>
                </a:lnTo>
                <a:lnTo>
                  <a:pt x="22" y="19"/>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56" name="Line 256">
            <a:extLst>
              <a:ext uri="{FF2B5EF4-FFF2-40B4-BE49-F238E27FC236}">
                <a16:creationId xmlns:a16="http://schemas.microsoft.com/office/drawing/2014/main" id="{9382E4D3-86A0-5045-B284-3BE2AA83776F}"/>
              </a:ext>
            </a:extLst>
          </p:cNvPr>
          <p:cNvSpPr>
            <a:spLocks noChangeShapeType="1"/>
          </p:cNvSpPr>
          <p:nvPr/>
        </p:nvSpPr>
        <p:spPr bwMode="auto">
          <a:xfrm>
            <a:off x="8570914" y="434498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7" name="Line 257">
            <a:extLst>
              <a:ext uri="{FF2B5EF4-FFF2-40B4-BE49-F238E27FC236}">
                <a16:creationId xmlns:a16="http://schemas.microsoft.com/office/drawing/2014/main" id="{0191B7FB-6F60-3C47-A926-27E7A26E0217}"/>
              </a:ext>
            </a:extLst>
          </p:cNvPr>
          <p:cNvSpPr>
            <a:spLocks noChangeShapeType="1"/>
          </p:cNvSpPr>
          <p:nvPr/>
        </p:nvSpPr>
        <p:spPr bwMode="auto">
          <a:xfrm>
            <a:off x="8539163" y="4383089"/>
            <a:ext cx="63500"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8" name="Freeform 258">
            <a:extLst>
              <a:ext uri="{FF2B5EF4-FFF2-40B4-BE49-F238E27FC236}">
                <a16:creationId xmlns:a16="http://schemas.microsoft.com/office/drawing/2014/main" id="{1EBF353C-CBCE-7D42-B837-1F23750591B0}"/>
              </a:ext>
            </a:extLst>
          </p:cNvPr>
          <p:cNvSpPr>
            <a:spLocks/>
          </p:cNvSpPr>
          <p:nvPr/>
        </p:nvSpPr>
        <p:spPr bwMode="auto">
          <a:xfrm>
            <a:off x="8343900" y="4760914"/>
            <a:ext cx="325438" cy="339725"/>
          </a:xfrm>
          <a:custGeom>
            <a:avLst/>
            <a:gdLst>
              <a:gd name="T0" fmla="*/ 56 w 615"/>
              <a:gd name="T1" fmla="*/ 195 h 643"/>
              <a:gd name="T2" fmla="*/ 0 w 615"/>
              <a:gd name="T3" fmla="*/ 195 h 643"/>
              <a:gd name="T4" fmla="*/ 308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8"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59" name="Rectangle 259">
            <a:extLst>
              <a:ext uri="{FF2B5EF4-FFF2-40B4-BE49-F238E27FC236}">
                <a16:creationId xmlns:a16="http://schemas.microsoft.com/office/drawing/2014/main" id="{AD944ABB-8DF9-C748-8EC3-9E80E4A9E244}"/>
              </a:ext>
            </a:extLst>
          </p:cNvPr>
          <p:cNvSpPr>
            <a:spLocks noChangeArrowheads="1"/>
          </p:cNvSpPr>
          <p:nvPr/>
        </p:nvSpPr>
        <p:spPr bwMode="auto">
          <a:xfrm>
            <a:off x="8374064" y="4864101"/>
            <a:ext cx="268287"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60" name="Rectangle 260">
            <a:extLst>
              <a:ext uri="{FF2B5EF4-FFF2-40B4-BE49-F238E27FC236}">
                <a16:creationId xmlns:a16="http://schemas.microsoft.com/office/drawing/2014/main" id="{DA59849D-C6DE-5046-B00E-3C9FE7770887}"/>
              </a:ext>
            </a:extLst>
          </p:cNvPr>
          <p:cNvSpPr>
            <a:spLocks noChangeArrowheads="1"/>
          </p:cNvSpPr>
          <p:nvPr/>
        </p:nvSpPr>
        <p:spPr bwMode="auto">
          <a:xfrm>
            <a:off x="8416926" y="4916489"/>
            <a:ext cx="93663"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61" name="Rectangle 261">
            <a:extLst>
              <a:ext uri="{FF2B5EF4-FFF2-40B4-BE49-F238E27FC236}">
                <a16:creationId xmlns:a16="http://schemas.microsoft.com/office/drawing/2014/main" id="{048E7874-215B-0845-9B65-4B89BE7BBF81}"/>
              </a:ext>
            </a:extLst>
          </p:cNvPr>
          <p:cNvSpPr>
            <a:spLocks noChangeArrowheads="1"/>
          </p:cNvSpPr>
          <p:nvPr/>
        </p:nvSpPr>
        <p:spPr bwMode="auto">
          <a:xfrm>
            <a:off x="8551864" y="4911726"/>
            <a:ext cx="65087"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62" name="Freeform 262">
            <a:extLst>
              <a:ext uri="{FF2B5EF4-FFF2-40B4-BE49-F238E27FC236}">
                <a16:creationId xmlns:a16="http://schemas.microsoft.com/office/drawing/2014/main" id="{2F7B51EA-3B72-6C4C-A3F9-B55D7E8E722C}"/>
              </a:ext>
            </a:extLst>
          </p:cNvPr>
          <p:cNvSpPr>
            <a:spLocks/>
          </p:cNvSpPr>
          <p:nvPr/>
        </p:nvSpPr>
        <p:spPr bwMode="auto">
          <a:xfrm>
            <a:off x="8485188" y="4994275"/>
            <a:ext cx="12700" cy="14288"/>
          </a:xfrm>
          <a:custGeom>
            <a:avLst/>
            <a:gdLst>
              <a:gd name="T0" fmla="*/ 23 w 23"/>
              <a:gd name="T1" fmla="*/ 13 h 29"/>
              <a:gd name="T2" fmla="*/ 23 w 23"/>
              <a:gd name="T3" fmla="*/ 11 h 29"/>
              <a:gd name="T4" fmla="*/ 21 w 23"/>
              <a:gd name="T5" fmla="*/ 9 h 29"/>
              <a:gd name="T6" fmla="*/ 21 w 23"/>
              <a:gd name="T7" fmla="*/ 6 h 29"/>
              <a:gd name="T8" fmla="*/ 19 w 23"/>
              <a:gd name="T9" fmla="*/ 4 h 29"/>
              <a:gd name="T10" fmla="*/ 18 w 23"/>
              <a:gd name="T11" fmla="*/ 2 h 29"/>
              <a:gd name="T12" fmla="*/ 17 w 23"/>
              <a:gd name="T13" fmla="*/ 1 h 29"/>
              <a:gd name="T14" fmla="*/ 14 w 23"/>
              <a:gd name="T15" fmla="*/ 0 h 29"/>
              <a:gd name="T16" fmla="*/ 12 w 23"/>
              <a:gd name="T17" fmla="*/ 0 h 29"/>
              <a:gd name="T18" fmla="*/ 10 w 23"/>
              <a:gd name="T19" fmla="*/ 0 h 29"/>
              <a:gd name="T20" fmla="*/ 9 w 23"/>
              <a:gd name="T21" fmla="*/ 0 h 29"/>
              <a:gd name="T22" fmla="*/ 7 w 23"/>
              <a:gd name="T23" fmla="*/ 1 h 29"/>
              <a:gd name="T24" fmla="*/ 5 w 23"/>
              <a:gd name="T25" fmla="*/ 2 h 29"/>
              <a:gd name="T26" fmla="*/ 3 w 23"/>
              <a:gd name="T27" fmla="*/ 4 h 29"/>
              <a:gd name="T28" fmla="*/ 1 w 23"/>
              <a:gd name="T29" fmla="*/ 6 h 29"/>
              <a:gd name="T30" fmla="*/ 1 w 23"/>
              <a:gd name="T31" fmla="*/ 9 h 29"/>
              <a:gd name="T32" fmla="*/ 0 w 23"/>
              <a:gd name="T33" fmla="*/ 11 h 29"/>
              <a:gd name="T34" fmla="*/ 0 w 23"/>
              <a:gd name="T35" fmla="*/ 13 h 29"/>
              <a:gd name="T36" fmla="*/ 0 w 23"/>
              <a:gd name="T37" fmla="*/ 16 h 29"/>
              <a:gd name="T38" fmla="*/ 0 w 23"/>
              <a:gd name="T39" fmla="*/ 18 h 29"/>
              <a:gd name="T40" fmla="*/ 1 w 23"/>
              <a:gd name="T41" fmla="*/ 22 h 29"/>
              <a:gd name="T42" fmla="*/ 1 w 23"/>
              <a:gd name="T43" fmla="*/ 24 h 29"/>
              <a:gd name="T44" fmla="*/ 3 w 23"/>
              <a:gd name="T45" fmla="*/ 25 h 29"/>
              <a:gd name="T46" fmla="*/ 5 w 23"/>
              <a:gd name="T47" fmla="*/ 27 h 29"/>
              <a:gd name="T48" fmla="*/ 7 w 23"/>
              <a:gd name="T49" fmla="*/ 28 h 29"/>
              <a:gd name="T50" fmla="*/ 9 w 23"/>
              <a:gd name="T51" fmla="*/ 29 h 29"/>
              <a:gd name="T52" fmla="*/ 10 w 23"/>
              <a:gd name="T53" fmla="*/ 29 h 29"/>
              <a:gd name="T54" fmla="*/ 12 w 23"/>
              <a:gd name="T55" fmla="*/ 29 h 29"/>
              <a:gd name="T56" fmla="*/ 14 w 23"/>
              <a:gd name="T57" fmla="*/ 29 h 29"/>
              <a:gd name="T58" fmla="*/ 17 w 23"/>
              <a:gd name="T59" fmla="*/ 28 h 29"/>
              <a:gd name="T60" fmla="*/ 18 w 23"/>
              <a:gd name="T61" fmla="*/ 27 h 29"/>
              <a:gd name="T62" fmla="*/ 19 w 23"/>
              <a:gd name="T63" fmla="*/ 25 h 29"/>
              <a:gd name="T64" fmla="*/ 21 w 23"/>
              <a:gd name="T65" fmla="*/ 24 h 29"/>
              <a:gd name="T66" fmla="*/ 21 w 23"/>
              <a:gd name="T67" fmla="*/ 22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10"/>
                </a:lnTo>
                <a:lnTo>
                  <a:pt x="21" y="9"/>
                </a:lnTo>
                <a:lnTo>
                  <a:pt x="21" y="8"/>
                </a:lnTo>
                <a:lnTo>
                  <a:pt x="21" y="6"/>
                </a:lnTo>
                <a:lnTo>
                  <a:pt x="20" y="5"/>
                </a:lnTo>
                <a:lnTo>
                  <a:pt x="19" y="4"/>
                </a:lnTo>
                <a:lnTo>
                  <a:pt x="19" y="3"/>
                </a:lnTo>
                <a:lnTo>
                  <a:pt x="18" y="2"/>
                </a:lnTo>
                <a:lnTo>
                  <a:pt x="17" y="1"/>
                </a:lnTo>
                <a:lnTo>
                  <a:pt x="16" y="0"/>
                </a:lnTo>
                <a:lnTo>
                  <a:pt x="14" y="0"/>
                </a:lnTo>
                <a:lnTo>
                  <a:pt x="13" y="0"/>
                </a:lnTo>
                <a:lnTo>
                  <a:pt x="12" y="0"/>
                </a:lnTo>
                <a:lnTo>
                  <a:pt x="11" y="0"/>
                </a:lnTo>
                <a:lnTo>
                  <a:pt x="10" y="0"/>
                </a:lnTo>
                <a:lnTo>
                  <a:pt x="9" y="0"/>
                </a:lnTo>
                <a:lnTo>
                  <a:pt x="8" y="0"/>
                </a:lnTo>
                <a:lnTo>
                  <a:pt x="7" y="1"/>
                </a:lnTo>
                <a:lnTo>
                  <a:pt x="6" y="1"/>
                </a:lnTo>
                <a:lnTo>
                  <a:pt x="5" y="2"/>
                </a:lnTo>
                <a:lnTo>
                  <a:pt x="3" y="3"/>
                </a:lnTo>
                <a:lnTo>
                  <a:pt x="3" y="4"/>
                </a:lnTo>
                <a:lnTo>
                  <a:pt x="2" y="5"/>
                </a:lnTo>
                <a:lnTo>
                  <a:pt x="1" y="6"/>
                </a:lnTo>
                <a:lnTo>
                  <a:pt x="1" y="8"/>
                </a:lnTo>
                <a:lnTo>
                  <a:pt x="1" y="9"/>
                </a:lnTo>
                <a:lnTo>
                  <a:pt x="0" y="10"/>
                </a:lnTo>
                <a:lnTo>
                  <a:pt x="0" y="11"/>
                </a:lnTo>
                <a:lnTo>
                  <a:pt x="0" y="12"/>
                </a:lnTo>
                <a:lnTo>
                  <a:pt x="0" y="13"/>
                </a:lnTo>
                <a:lnTo>
                  <a:pt x="0" y="14"/>
                </a:lnTo>
                <a:lnTo>
                  <a:pt x="0" y="16"/>
                </a:lnTo>
                <a:lnTo>
                  <a:pt x="0" y="17"/>
                </a:lnTo>
                <a:lnTo>
                  <a:pt x="0" y="18"/>
                </a:lnTo>
                <a:lnTo>
                  <a:pt x="0" y="20"/>
                </a:lnTo>
                <a:lnTo>
                  <a:pt x="1" y="22"/>
                </a:lnTo>
                <a:lnTo>
                  <a:pt x="1" y="23"/>
                </a:lnTo>
                <a:lnTo>
                  <a:pt x="1" y="24"/>
                </a:lnTo>
                <a:lnTo>
                  <a:pt x="2" y="24"/>
                </a:lnTo>
                <a:lnTo>
                  <a:pt x="3" y="25"/>
                </a:lnTo>
                <a:lnTo>
                  <a:pt x="3" y="26"/>
                </a:lnTo>
                <a:lnTo>
                  <a:pt x="5" y="27"/>
                </a:lnTo>
                <a:lnTo>
                  <a:pt x="6" y="28"/>
                </a:lnTo>
                <a:lnTo>
                  <a:pt x="7" y="28"/>
                </a:lnTo>
                <a:lnTo>
                  <a:pt x="8" y="29"/>
                </a:lnTo>
                <a:lnTo>
                  <a:pt x="9" y="29"/>
                </a:lnTo>
                <a:lnTo>
                  <a:pt x="10" y="29"/>
                </a:lnTo>
                <a:lnTo>
                  <a:pt x="11" y="29"/>
                </a:lnTo>
                <a:lnTo>
                  <a:pt x="12" y="29"/>
                </a:lnTo>
                <a:lnTo>
                  <a:pt x="13" y="29"/>
                </a:lnTo>
                <a:lnTo>
                  <a:pt x="14" y="29"/>
                </a:lnTo>
                <a:lnTo>
                  <a:pt x="16" y="29"/>
                </a:lnTo>
                <a:lnTo>
                  <a:pt x="17" y="28"/>
                </a:lnTo>
                <a:lnTo>
                  <a:pt x="18" y="27"/>
                </a:lnTo>
                <a:lnTo>
                  <a:pt x="19" y="26"/>
                </a:lnTo>
                <a:lnTo>
                  <a:pt x="19" y="25"/>
                </a:lnTo>
                <a:lnTo>
                  <a:pt x="20" y="24"/>
                </a:lnTo>
                <a:lnTo>
                  <a:pt x="21" y="24"/>
                </a:lnTo>
                <a:lnTo>
                  <a:pt x="21" y="23"/>
                </a:lnTo>
                <a:lnTo>
                  <a:pt x="21" y="22"/>
                </a:lnTo>
                <a:lnTo>
                  <a:pt x="22" y="20"/>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63" name="Line 263">
            <a:extLst>
              <a:ext uri="{FF2B5EF4-FFF2-40B4-BE49-F238E27FC236}">
                <a16:creationId xmlns:a16="http://schemas.microsoft.com/office/drawing/2014/main" id="{6E0413D1-D55F-B64A-840C-08E41B86864D}"/>
              </a:ext>
            </a:extLst>
          </p:cNvPr>
          <p:cNvSpPr>
            <a:spLocks noChangeShapeType="1"/>
          </p:cNvSpPr>
          <p:nvPr/>
        </p:nvSpPr>
        <p:spPr bwMode="auto">
          <a:xfrm>
            <a:off x="8583614" y="4913314"/>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4" name="Line 264">
            <a:extLst>
              <a:ext uri="{FF2B5EF4-FFF2-40B4-BE49-F238E27FC236}">
                <a16:creationId xmlns:a16="http://schemas.microsoft.com/office/drawing/2014/main" id="{D805C6F7-2461-3844-BB82-EFDD9551999A}"/>
              </a:ext>
            </a:extLst>
          </p:cNvPr>
          <p:cNvSpPr>
            <a:spLocks noChangeShapeType="1"/>
          </p:cNvSpPr>
          <p:nvPr/>
        </p:nvSpPr>
        <p:spPr bwMode="auto">
          <a:xfrm>
            <a:off x="8551863" y="4951414"/>
            <a:ext cx="63500"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5" name="Freeform 265">
            <a:extLst>
              <a:ext uri="{FF2B5EF4-FFF2-40B4-BE49-F238E27FC236}">
                <a16:creationId xmlns:a16="http://schemas.microsoft.com/office/drawing/2014/main" id="{CB0B9913-30D3-F74A-B831-D3B093761FEC}"/>
              </a:ext>
            </a:extLst>
          </p:cNvPr>
          <p:cNvSpPr>
            <a:spLocks/>
          </p:cNvSpPr>
          <p:nvPr/>
        </p:nvSpPr>
        <p:spPr bwMode="auto">
          <a:xfrm>
            <a:off x="9051925" y="4799014"/>
            <a:ext cx="323850" cy="339725"/>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5 h 643"/>
              <a:gd name="T14" fmla="*/ 56 w 614"/>
              <a:gd name="T15" fmla="*/ 615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5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5"/>
                </a:lnTo>
                <a:lnTo>
                  <a:pt x="56" y="615"/>
                </a:lnTo>
                <a:lnTo>
                  <a:pt x="56" y="195"/>
                </a:lnTo>
                <a:lnTo>
                  <a:pt x="558" y="195"/>
                </a:lnTo>
                <a:lnTo>
                  <a:pt x="587" y="195"/>
                </a:lnTo>
                <a:lnTo>
                  <a:pt x="587" y="643"/>
                </a:lnTo>
                <a:lnTo>
                  <a:pt x="56" y="643"/>
                </a:lnTo>
                <a:lnTo>
                  <a:pt x="56" y="615"/>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66" name="Rectangle 266">
            <a:extLst>
              <a:ext uri="{FF2B5EF4-FFF2-40B4-BE49-F238E27FC236}">
                <a16:creationId xmlns:a16="http://schemas.microsoft.com/office/drawing/2014/main" id="{21346768-41AD-844C-844F-58FE2BD82D08}"/>
              </a:ext>
            </a:extLst>
          </p:cNvPr>
          <p:cNvSpPr>
            <a:spLocks noChangeArrowheads="1"/>
          </p:cNvSpPr>
          <p:nvPr/>
        </p:nvSpPr>
        <p:spPr bwMode="auto">
          <a:xfrm>
            <a:off x="9082089" y="4902201"/>
            <a:ext cx="268287"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67" name="Rectangle 267">
            <a:extLst>
              <a:ext uri="{FF2B5EF4-FFF2-40B4-BE49-F238E27FC236}">
                <a16:creationId xmlns:a16="http://schemas.microsoft.com/office/drawing/2014/main" id="{990B6DF0-6B74-6046-A693-366661B7116F}"/>
              </a:ext>
            </a:extLst>
          </p:cNvPr>
          <p:cNvSpPr>
            <a:spLocks noChangeArrowheads="1"/>
          </p:cNvSpPr>
          <p:nvPr/>
        </p:nvSpPr>
        <p:spPr bwMode="auto">
          <a:xfrm>
            <a:off x="9124951" y="4954589"/>
            <a:ext cx="93663"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68" name="Rectangle 268">
            <a:extLst>
              <a:ext uri="{FF2B5EF4-FFF2-40B4-BE49-F238E27FC236}">
                <a16:creationId xmlns:a16="http://schemas.microsoft.com/office/drawing/2014/main" id="{0C2030AC-E3C6-1340-8671-CD2D73C2A1B4}"/>
              </a:ext>
            </a:extLst>
          </p:cNvPr>
          <p:cNvSpPr>
            <a:spLocks noChangeArrowheads="1"/>
          </p:cNvSpPr>
          <p:nvPr/>
        </p:nvSpPr>
        <p:spPr bwMode="auto">
          <a:xfrm>
            <a:off x="9259888" y="4951414"/>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69" name="Freeform 269">
            <a:extLst>
              <a:ext uri="{FF2B5EF4-FFF2-40B4-BE49-F238E27FC236}">
                <a16:creationId xmlns:a16="http://schemas.microsoft.com/office/drawing/2014/main" id="{B6EC2179-8BEA-F449-B680-FB9AC6305BCA}"/>
              </a:ext>
            </a:extLst>
          </p:cNvPr>
          <p:cNvSpPr>
            <a:spLocks/>
          </p:cNvSpPr>
          <p:nvPr/>
        </p:nvSpPr>
        <p:spPr bwMode="auto">
          <a:xfrm>
            <a:off x="9193213" y="5032376"/>
            <a:ext cx="12700" cy="15875"/>
          </a:xfrm>
          <a:custGeom>
            <a:avLst/>
            <a:gdLst>
              <a:gd name="T0" fmla="*/ 24 w 24"/>
              <a:gd name="T1" fmla="*/ 13 h 30"/>
              <a:gd name="T2" fmla="*/ 24 w 24"/>
              <a:gd name="T3" fmla="*/ 11 h 30"/>
              <a:gd name="T4" fmla="*/ 21 w 24"/>
              <a:gd name="T5" fmla="*/ 9 h 30"/>
              <a:gd name="T6" fmla="*/ 21 w 24"/>
              <a:gd name="T7" fmla="*/ 7 h 30"/>
              <a:gd name="T8" fmla="*/ 19 w 24"/>
              <a:gd name="T9" fmla="*/ 5 h 30"/>
              <a:gd name="T10" fmla="*/ 18 w 24"/>
              <a:gd name="T11" fmla="*/ 2 h 30"/>
              <a:gd name="T12" fmla="*/ 17 w 24"/>
              <a:gd name="T13" fmla="*/ 1 h 30"/>
              <a:gd name="T14" fmla="*/ 15 w 24"/>
              <a:gd name="T15" fmla="*/ 0 h 30"/>
              <a:gd name="T16" fmla="*/ 13 w 24"/>
              <a:gd name="T17" fmla="*/ 0 h 30"/>
              <a:gd name="T18" fmla="*/ 10 w 24"/>
              <a:gd name="T19" fmla="*/ 0 h 30"/>
              <a:gd name="T20" fmla="*/ 9 w 24"/>
              <a:gd name="T21" fmla="*/ 0 h 30"/>
              <a:gd name="T22" fmla="*/ 7 w 24"/>
              <a:gd name="T23" fmla="*/ 1 h 30"/>
              <a:gd name="T24" fmla="*/ 5 w 24"/>
              <a:gd name="T25" fmla="*/ 2 h 30"/>
              <a:gd name="T26" fmla="*/ 4 w 24"/>
              <a:gd name="T27" fmla="*/ 5 h 30"/>
              <a:gd name="T28" fmla="*/ 2 w 24"/>
              <a:gd name="T29" fmla="*/ 7 h 30"/>
              <a:gd name="T30" fmla="*/ 2 w 24"/>
              <a:gd name="T31" fmla="*/ 9 h 30"/>
              <a:gd name="T32" fmla="*/ 0 w 24"/>
              <a:gd name="T33" fmla="*/ 11 h 30"/>
              <a:gd name="T34" fmla="*/ 0 w 24"/>
              <a:gd name="T35" fmla="*/ 13 h 30"/>
              <a:gd name="T36" fmla="*/ 0 w 24"/>
              <a:gd name="T37" fmla="*/ 17 h 30"/>
              <a:gd name="T38" fmla="*/ 0 w 24"/>
              <a:gd name="T39" fmla="*/ 19 h 30"/>
              <a:gd name="T40" fmla="*/ 2 w 24"/>
              <a:gd name="T41" fmla="*/ 22 h 30"/>
              <a:gd name="T42" fmla="*/ 2 w 24"/>
              <a:gd name="T43" fmla="*/ 24 h 30"/>
              <a:gd name="T44" fmla="*/ 4 w 24"/>
              <a:gd name="T45" fmla="*/ 26 h 30"/>
              <a:gd name="T46" fmla="*/ 5 w 24"/>
              <a:gd name="T47" fmla="*/ 28 h 30"/>
              <a:gd name="T48" fmla="*/ 7 w 24"/>
              <a:gd name="T49" fmla="*/ 29 h 30"/>
              <a:gd name="T50" fmla="*/ 9 w 24"/>
              <a:gd name="T51" fmla="*/ 30 h 30"/>
              <a:gd name="T52" fmla="*/ 10 w 24"/>
              <a:gd name="T53" fmla="*/ 30 h 30"/>
              <a:gd name="T54" fmla="*/ 13 w 24"/>
              <a:gd name="T55" fmla="*/ 30 h 30"/>
              <a:gd name="T56" fmla="*/ 15 w 24"/>
              <a:gd name="T57" fmla="*/ 30 h 30"/>
              <a:gd name="T58" fmla="*/ 17 w 24"/>
              <a:gd name="T59" fmla="*/ 29 h 30"/>
              <a:gd name="T60" fmla="*/ 18 w 24"/>
              <a:gd name="T61" fmla="*/ 28 h 30"/>
              <a:gd name="T62" fmla="*/ 19 w 24"/>
              <a:gd name="T63" fmla="*/ 26 h 30"/>
              <a:gd name="T64" fmla="*/ 21 w 24"/>
              <a:gd name="T65" fmla="*/ 24 h 30"/>
              <a:gd name="T66" fmla="*/ 21 w 24"/>
              <a:gd name="T67" fmla="*/ 22 h 30"/>
              <a:gd name="T68" fmla="*/ 24 w 24"/>
              <a:gd name="T69" fmla="*/ 19 h 30"/>
              <a:gd name="T70" fmla="*/ 24 w 24"/>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4"/>
              <a:gd name="T109" fmla="*/ 0 h 30"/>
              <a:gd name="T110" fmla="*/ 24 w 24"/>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4" h="30">
                <a:moveTo>
                  <a:pt x="24" y="15"/>
                </a:moveTo>
                <a:lnTo>
                  <a:pt x="24" y="13"/>
                </a:lnTo>
                <a:lnTo>
                  <a:pt x="24" y="12"/>
                </a:lnTo>
                <a:lnTo>
                  <a:pt x="24" y="11"/>
                </a:lnTo>
                <a:lnTo>
                  <a:pt x="22" y="10"/>
                </a:lnTo>
                <a:lnTo>
                  <a:pt x="21" y="9"/>
                </a:lnTo>
                <a:lnTo>
                  <a:pt x="21" y="8"/>
                </a:lnTo>
                <a:lnTo>
                  <a:pt x="21" y="7"/>
                </a:lnTo>
                <a:lnTo>
                  <a:pt x="20" y="6"/>
                </a:lnTo>
                <a:lnTo>
                  <a:pt x="19" y="5"/>
                </a:lnTo>
                <a:lnTo>
                  <a:pt x="19" y="4"/>
                </a:lnTo>
                <a:lnTo>
                  <a:pt x="18" y="2"/>
                </a:lnTo>
                <a:lnTo>
                  <a:pt x="17" y="1"/>
                </a:lnTo>
                <a:lnTo>
                  <a:pt x="16" y="0"/>
                </a:lnTo>
                <a:lnTo>
                  <a:pt x="15" y="0"/>
                </a:lnTo>
                <a:lnTo>
                  <a:pt x="14" y="0"/>
                </a:lnTo>
                <a:lnTo>
                  <a:pt x="13" y="0"/>
                </a:lnTo>
                <a:lnTo>
                  <a:pt x="11" y="0"/>
                </a:lnTo>
                <a:lnTo>
                  <a:pt x="10" y="0"/>
                </a:lnTo>
                <a:lnTo>
                  <a:pt x="9" y="0"/>
                </a:lnTo>
                <a:lnTo>
                  <a:pt x="8" y="0"/>
                </a:lnTo>
                <a:lnTo>
                  <a:pt x="7" y="1"/>
                </a:lnTo>
                <a:lnTo>
                  <a:pt x="6" y="1"/>
                </a:lnTo>
                <a:lnTo>
                  <a:pt x="5" y="2"/>
                </a:lnTo>
                <a:lnTo>
                  <a:pt x="4" y="4"/>
                </a:lnTo>
                <a:lnTo>
                  <a:pt x="4" y="5"/>
                </a:lnTo>
                <a:lnTo>
                  <a:pt x="3" y="6"/>
                </a:lnTo>
                <a:lnTo>
                  <a:pt x="2" y="7"/>
                </a:lnTo>
                <a:lnTo>
                  <a:pt x="2" y="8"/>
                </a:lnTo>
                <a:lnTo>
                  <a:pt x="2" y="9"/>
                </a:lnTo>
                <a:lnTo>
                  <a:pt x="0" y="10"/>
                </a:lnTo>
                <a:lnTo>
                  <a:pt x="0" y="11"/>
                </a:lnTo>
                <a:lnTo>
                  <a:pt x="0" y="12"/>
                </a:lnTo>
                <a:lnTo>
                  <a:pt x="0" y="13"/>
                </a:lnTo>
                <a:lnTo>
                  <a:pt x="0" y="15"/>
                </a:lnTo>
                <a:lnTo>
                  <a:pt x="0" y="17"/>
                </a:lnTo>
                <a:lnTo>
                  <a:pt x="0" y="18"/>
                </a:lnTo>
                <a:lnTo>
                  <a:pt x="0" y="19"/>
                </a:lnTo>
                <a:lnTo>
                  <a:pt x="0" y="20"/>
                </a:lnTo>
                <a:lnTo>
                  <a:pt x="2" y="22"/>
                </a:lnTo>
                <a:lnTo>
                  <a:pt x="2" y="23"/>
                </a:lnTo>
                <a:lnTo>
                  <a:pt x="2" y="24"/>
                </a:lnTo>
                <a:lnTo>
                  <a:pt x="3" y="24"/>
                </a:lnTo>
                <a:lnTo>
                  <a:pt x="4" y="26"/>
                </a:lnTo>
                <a:lnTo>
                  <a:pt x="4" y="27"/>
                </a:lnTo>
                <a:lnTo>
                  <a:pt x="5" y="28"/>
                </a:lnTo>
                <a:lnTo>
                  <a:pt x="6" y="29"/>
                </a:lnTo>
                <a:lnTo>
                  <a:pt x="7" y="29"/>
                </a:lnTo>
                <a:lnTo>
                  <a:pt x="8" y="30"/>
                </a:lnTo>
                <a:lnTo>
                  <a:pt x="9" y="30"/>
                </a:lnTo>
                <a:lnTo>
                  <a:pt x="10" y="30"/>
                </a:lnTo>
                <a:lnTo>
                  <a:pt x="11" y="30"/>
                </a:lnTo>
                <a:lnTo>
                  <a:pt x="13" y="30"/>
                </a:lnTo>
                <a:lnTo>
                  <a:pt x="14" y="30"/>
                </a:lnTo>
                <a:lnTo>
                  <a:pt x="15" y="30"/>
                </a:lnTo>
                <a:lnTo>
                  <a:pt x="16" y="30"/>
                </a:lnTo>
                <a:lnTo>
                  <a:pt x="17" y="29"/>
                </a:lnTo>
                <a:lnTo>
                  <a:pt x="18" y="28"/>
                </a:lnTo>
                <a:lnTo>
                  <a:pt x="19" y="27"/>
                </a:lnTo>
                <a:lnTo>
                  <a:pt x="19" y="26"/>
                </a:lnTo>
                <a:lnTo>
                  <a:pt x="20" y="24"/>
                </a:lnTo>
                <a:lnTo>
                  <a:pt x="21" y="24"/>
                </a:lnTo>
                <a:lnTo>
                  <a:pt x="21" y="23"/>
                </a:lnTo>
                <a:lnTo>
                  <a:pt x="21" y="22"/>
                </a:lnTo>
                <a:lnTo>
                  <a:pt x="22" y="20"/>
                </a:lnTo>
                <a:lnTo>
                  <a:pt x="24" y="19"/>
                </a:lnTo>
                <a:lnTo>
                  <a:pt x="24" y="18"/>
                </a:lnTo>
                <a:lnTo>
                  <a:pt x="24" y="17"/>
                </a:lnTo>
                <a:lnTo>
                  <a:pt x="24"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70" name="Line 270">
            <a:extLst>
              <a:ext uri="{FF2B5EF4-FFF2-40B4-BE49-F238E27FC236}">
                <a16:creationId xmlns:a16="http://schemas.microsoft.com/office/drawing/2014/main" id="{47853678-AA1A-7E47-A0BD-F1ED59804168}"/>
              </a:ext>
            </a:extLst>
          </p:cNvPr>
          <p:cNvSpPr>
            <a:spLocks noChangeShapeType="1"/>
          </p:cNvSpPr>
          <p:nvPr/>
        </p:nvSpPr>
        <p:spPr bwMode="auto">
          <a:xfrm>
            <a:off x="9291639" y="4951414"/>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1" name="Line 271">
            <a:extLst>
              <a:ext uri="{FF2B5EF4-FFF2-40B4-BE49-F238E27FC236}">
                <a16:creationId xmlns:a16="http://schemas.microsoft.com/office/drawing/2014/main" id="{C72BCA21-7E95-AC4D-A7CB-B6EFA7507E7C}"/>
              </a:ext>
            </a:extLst>
          </p:cNvPr>
          <p:cNvSpPr>
            <a:spLocks noChangeShapeType="1"/>
          </p:cNvSpPr>
          <p:nvPr/>
        </p:nvSpPr>
        <p:spPr bwMode="auto">
          <a:xfrm>
            <a:off x="9259888" y="4989514"/>
            <a:ext cx="61912"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2" name="Freeform 272">
            <a:extLst>
              <a:ext uri="{FF2B5EF4-FFF2-40B4-BE49-F238E27FC236}">
                <a16:creationId xmlns:a16="http://schemas.microsoft.com/office/drawing/2014/main" id="{7295C097-8C09-0D42-8626-AEEA3E15D8B4}"/>
              </a:ext>
            </a:extLst>
          </p:cNvPr>
          <p:cNvSpPr>
            <a:spLocks/>
          </p:cNvSpPr>
          <p:nvPr/>
        </p:nvSpPr>
        <p:spPr bwMode="auto">
          <a:xfrm>
            <a:off x="8772525" y="4254501"/>
            <a:ext cx="325438" cy="341313"/>
          </a:xfrm>
          <a:custGeom>
            <a:avLst/>
            <a:gdLst>
              <a:gd name="T0" fmla="*/ 56 w 615"/>
              <a:gd name="T1" fmla="*/ 195 h 643"/>
              <a:gd name="T2" fmla="*/ 0 w 615"/>
              <a:gd name="T3" fmla="*/ 195 h 643"/>
              <a:gd name="T4" fmla="*/ 307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7"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73" name="Rectangle 273">
            <a:extLst>
              <a:ext uri="{FF2B5EF4-FFF2-40B4-BE49-F238E27FC236}">
                <a16:creationId xmlns:a16="http://schemas.microsoft.com/office/drawing/2014/main" id="{3A564BF9-3130-6440-8638-84353B1ED300}"/>
              </a:ext>
            </a:extLst>
          </p:cNvPr>
          <p:cNvSpPr>
            <a:spLocks noChangeArrowheads="1"/>
          </p:cNvSpPr>
          <p:nvPr/>
        </p:nvSpPr>
        <p:spPr bwMode="auto">
          <a:xfrm>
            <a:off x="8802689" y="4357688"/>
            <a:ext cx="269875"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74" name="Rectangle 274">
            <a:extLst>
              <a:ext uri="{FF2B5EF4-FFF2-40B4-BE49-F238E27FC236}">
                <a16:creationId xmlns:a16="http://schemas.microsoft.com/office/drawing/2014/main" id="{0D3BAE84-2302-7A4B-BDD7-23FEBC9EB26D}"/>
              </a:ext>
            </a:extLst>
          </p:cNvPr>
          <p:cNvSpPr>
            <a:spLocks noChangeArrowheads="1"/>
          </p:cNvSpPr>
          <p:nvPr/>
        </p:nvSpPr>
        <p:spPr bwMode="auto">
          <a:xfrm>
            <a:off x="8845550" y="4411664"/>
            <a:ext cx="95250"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75" name="Rectangle 275">
            <a:extLst>
              <a:ext uri="{FF2B5EF4-FFF2-40B4-BE49-F238E27FC236}">
                <a16:creationId xmlns:a16="http://schemas.microsoft.com/office/drawing/2014/main" id="{DC7AE1C2-0666-AF45-AB24-42A5DD05089E}"/>
              </a:ext>
            </a:extLst>
          </p:cNvPr>
          <p:cNvSpPr>
            <a:spLocks noChangeArrowheads="1"/>
          </p:cNvSpPr>
          <p:nvPr/>
        </p:nvSpPr>
        <p:spPr bwMode="auto">
          <a:xfrm>
            <a:off x="8982075" y="4406901"/>
            <a:ext cx="63500"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76" name="Freeform 276">
            <a:extLst>
              <a:ext uri="{FF2B5EF4-FFF2-40B4-BE49-F238E27FC236}">
                <a16:creationId xmlns:a16="http://schemas.microsoft.com/office/drawing/2014/main" id="{44578153-4F80-454B-8C8E-8E37B967E5C5}"/>
              </a:ext>
            </a:extLst>
          </p:cNvPr>
          <p:cNvSpPr>
            <a:spLocks/>
          </p:cNvSpPr>
          <p:nvPr/>
        </p:nvSpPr>
        <p:spPr bwMode="auto">
          <a:xfrm>
            <a:off x="8915400" y="4487864"/>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4 h 30"/>
              <a:gd name="T10" fmla="*/ 18 w 23"/>
              <a:gd name="T11" fmla="*/ 2 h 30"/>
              <a:gd name="T12" fmla="*/ 16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4 w 23"/>
              <a:gd name="T25" fmla="*/ 2 h 30"/>
              <a:gd name="T26" fmla="*/ 3 w 23"/>
              <a:gd name="T27" fmla="*/ 4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5 h 30"/>
              <a:gd name="T46" fmla="*/ 4 w 23"/>
              <a:gd name="T47" fmla="*/ 27 h 30"/>
              <a:gd name="T48" fmla="*/ 7 w 23"/>
              <a:gd name="T49" fmla="*/ 29 h 30"/>
              <a:gd name="T50" fmla="*/ 9 w 23"/>
              <a:gd name="T51" fmla="*/ 30 h 30"/>
              <a:gd name="T52" fmla="*/ 10 w 23"/>
              <a:gd name="T53" fmla="*/ 30 h 30"/>
              <a:gd name="T54" fmla="*/ 12 w 23"/>
              <a:gd name="T55" fmla="*/ 30 h 30"/>
              <a:gd name="T56" fmla="*/ 14 w 23"/>
              <a:gd name="T57" fmla="*/ 30 h 30"/>
              <a:gd name="T58" fmla="*/ 16 w 23"/>
              <a:gd name="T59" fmla="*/ 29 h 30"/>
              <a:gd name="T60" fmla="*/ 18 w 23"/>
              <a:gd name="T61" fmla="*/ 27 h 30"/>
              <a:gd name="T62" fmla="*/ 19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6"/>
                </a:lnTo>
                <a:lnTo>
                  <a:pt x="19" y="4"/>
                </a:lnTo>
                <a:lnTo>
                  <a:pt x="19" y="3"/>
                </a:lnTo>
                <a:lnTo>
                  <a:pt x="18" y="2"/>
                </a:lnTo>
                <a:lnTo>
                  <a:pt x="16" y="1"/>
                </a:lnTo>
                <a:lnTo>
                  <a:pt x="15" y="0"/>
                </a:lnTo>
                <a:lnTo>
                  <a:pt x="14" y="0"/>
                </a:lnTo>
                <a:lnTo>
                  <a:pt x="13" y="0"/>
                </a:lnTo>
                <a:lnTo>
                  <a:pt x="12" y="0"/>
                </a:lnTo>
                <a:lnTo>
                  <a:pt x="11" y="0"/>
                </a:lnTo>
                <a:lnTo>
                  <a:pt x="10" y="0"/>
                </a:lnTo>
                <a:lnTo>
                  <a:pt x="9" y="0"/>
                </a:lnTo>
                <a:lnTo>
                  <a:pt x="8" y="0"/>
                </a:lnTo>
                <a:lnTo>
                  <a:pt x="7" y="1"/>
                </a:lnTo>
                <a:lnTo>
                  <a:pt x="5" y="1"/>
                </a:lnTo>
                <a:lnTo>
                  <a:pt x="4" y="2"/>
                </a:lnTo>
                <a:lnTo>
                  <a:pt x="3" y="3"/>
                </a:lnTo>
                <a:lnTo>
                  <a:pt x="3" y="4"/>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3" y="25"/>
                </a:lnTo>
                <a:lnTo>
                  <a:pt x="3" y="26"/>
                </a:lnTo>
                <a:lnTo>
                  <a:pt x="4" y="27"/>
                </a:lnTo>
                <a:lnTo>
                  <a:pt x="5" y="29"/>
                </a:lnTo>
                <a:lnTo>
                  <a:pt x="7" y="29"/>
                </a:lnTo>
                <a:lnTo>
                  <a:pt x="8" y="30"/>
                </a:lnTo>
                <a:lnTo>
                  <a:pt x="9" y="30"/>
                </a:lnTo>
                <a:lnTo>
                  <a:pt x="10" y="30"/>
                </a:lnTo>
                <a:lnTo>
                  <a:pt x="11" y="30"/>
                </a:lnTo>
                <a:lnTo>
                  <a:pt x="12" y="30"/>
                </a:lnTo>
                <a:lnTo>
                  <a:pt x="13" y="30"/>
                </a:lnTo>
                <a:lnTo>
                  <a:pt x="14" y="30"/>
                </a:lnTo>
                <a:lnTo>
                  <a:pt x="15" y="30"/>
                </a:lnTo>
                <a:lnTo>
                  <a:pt x="16" y="29"/>
                </a:lnTo>
                <a:lnTo>
                  <a:pt x="18" y="27"/>
                </a:lnTo>
                <a:lnTo>
                  <a:pt x="19" y="26"/>
                </a:lnTo>
                <a:lnTo>
                  <a:pt x="19" y="25"/>
                </a:lnTo>
                <a:lnTo>
                  <a:pt x="20"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77" name="Line 277">
            <a:extLst>
              <a:ext uri="{FF2B5EF4-FFF2-40B4-BE49-F238E27FC236}">
                <a16:creationId xmlns:a16="http://schemas.microsoft.com/office/drawing/2014/main" id="{2252FDB5-276C-0044-A1FC-6A4C47E0777D}"/>
              </a:ext>
            </a:extLst>
          </p:cNvPr>
          <p:cNvSpPr>
            <a:spLocks noChangeShapeType="1"/>
          </p:cNvSpPr>
          <p:nvPr/>
        </p:nvSpPr>
        <p:spPr bwMode="auto">
          <a:xfrm>
            <a:off x="9012239" y="440848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8" name="Line 278">
            <a:extLst>
              <a:ext uri="{FF2B5EF4-FFF2-40B4-BE49-F238E27FC236}">
                <a16:creationId xmlns:a16="http://schemas.microsoft.com/office/drawing/2014/main" id="{EBE4612A-DF94-8A44-B215-492BCC60CAB0}"/>
              </a:ext>
            </a:extLst>
          </p:cNvPr>
          <p:cNvSpPr>
            <a:spLocks noChangeShapeType="1"/>
          </p:cNvSpPr>
          <p:nvPr/>
        </p:nvSpPr>
        <p:spPr bwMode="auto">
          <a:xfrm>
            <a:off x="8982076" y="4445000"/>
            <a:ext cx="61913"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9" name="Freeform 279">
            <a:extLst>
              <a:ext uri="{FF2B5EF4-FFF2-40B4-BE49-F238E27FC236}">
                <a16:creationId xmlns:a16="http://schemas.microsoft.com/office/drawing/2014/main" id="{1E3F0C72-C0D7-724F-BD29-761FB5E91F54}"/>
              </a:ext>
            </a:extLst>
          </p:cNvPr>
          <p:cNvSpPr>
            <a:spLocks/>
          </p:cNvSpPr>
          <p:nvPr/>
        </p:nvSpPr>
        <p:spPr bwMode="auto">
          <a:xfrm>
            <a:off x="8912225" y="3736976"/>
            <a:ext cx="325438" cy="339725"/>
          </a:xfrm>
          <a:custGeom>
            <a:avLst/>
            <a:gdLst>
              <a:gd name="T0" fmla="*/ 55 w 614"/>
              <a:gd name="T1" fmla="*/ 195 h 643"/>
              <a:gd name="T2" fmla="*/ 0 w 614"/>
              <a:gd name="T3" fmla="*/ 195 h 643"/>
              <a:gd name="T4" fmla="*/ 307 w 614"/>
              <a:gd name="T5" fmla="*/ 0 h 643"/>
              <a:gd name="T6" fmla="*/ 614 w 614"/>
              <a:gd name="T7" fmla="*/ 195 h 643"/>
              <a:gd name="T8" fmla="*/ 586 w 614"/>
              <a:gd name="T9" fmla="*/ 195 h 643"/>
              <a:gd name="T10" fmla="*/ 558 w 614"/>
              <a:gd name="T11" fmla="*/ 195 h 643"/>
              <a:gd name="T12" fmla="*/ 558 w 614"/>
              <a:gd name="T13" fmla="*/ 615 h 643"/>
              <a:gd name="T14" fmla="*/ 55 w 614"/>
              <a:gd name="T15" fmla="*/ 615 h 643"/>
              <a:gd name="T16" fmla="*/ 55 w 614"/>
              <a:gd name="T17" fmla="*/ 195 h 643"/>
              <a:gd name="T18" fmla="*/ 558 w 614"/>
              <a:gd name="T19" fmla="*/ 195 h 643"/>
              <a:gd name="T20" fmla="*/ 586 w 614"/>
              <a:gd name="T21" fmla="*/ 195 h 643"/>
              <a:gd name="T22" fmla="*/ 586 w 614"/>
              <a:gd name="T23" fmla="*/ 643 h 643"/>
              <a:gd name="T24" fmla="*/ 55 w 614"/>
              <a:gd name="T25" fmla="*/ 643 h 643"/>
              <a:gd name="T26" fmla="*/ 55 w 614"/>
              <a:gd name="T27" fmla="*/ 615 h 643"/>
              <a:gd name="T28" fmla="*/ 55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5" y="195"/>
                </a:moveTo>
                <a:lnTo>
                  <a:pt x="0" y="195"/>
                </a:lnTo>
                <a:lnTo>
                  <a:pt x="307" y="0"/>
                </a:lnTo>
                <a:lnTo>
                  <a:pt x="614" y="195"/>
                </a:lnTo>
                <a:lnTo>
                  <a:pt x="586" y="195"/>
                </a:lnTo>
                <a:lnTo>
                  <a:pt x="558" y="195"/>
                </a:lnTo>
                <a:lnTo>
                  <a:pt x="558" y="615"/>
                </a:lnTo>
                <a:lnTo>
                  <a:pt x="55" y="615"/>
                </a:lnTo>
                <a:lnTo>
                  <a:pt x="55" y="195"/>
                </a:lnTo>
                <a:lnTo>
                  <a:pt x="558" y="195"/>
                </a:lnTo>
                <a:lnTo>
                  <a:pt x="586" y="195"/>
                </a:lnTo>
                <a:lnTo>
                  <a:pt x="586" y="643"/>
                </a:lnTo>
                <a:lnTo>
                  <a:pt x="55" y="643"/>
                </a:lnTo>
                <a:lnTo>
                  <a:pt x="55" y="615"/>
                </a:lnTo>
                <a:lnTo>
                  <a:pt x="55"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80" name="Rectangle 280">
            <a:extLst>
              <a:ext uri="{FF2B5EF4-FFF2-40B4-BE49-F238E27FC236}">
                <a16:creationId xmlns:a16="http://schemas.microsoft.com/office/drawing/2014/main" id="{8D0B797F-1B19-3245-AC92-E7EB123E55F3}"/>
              </a:ext>
            </a:extLst>
          </p:cNvPr>
          <p:cNvSpPr>
            <a:spLocks noChangeArrowheads="1"/>
          </p:cNvSpPr>
          <p:nvPr/>
        </p:nvSpPr>
        <p:spPr bwMode="auto">
          <a:xfrm>
            <a:off x="8942389" y="3840163"/>
            <a:ext cx="268287" cy="220662"/>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81" name="Rectangle 281">
            <a:extLst>
              <a:ext uri="{FF2B5EF4-FFF2-40B4-BE49-F238E27FC236}">
                <a16:creationId xmlns:a16="http://schemas.microsoft.com/office/drawing/2014/main" id="{3825CAAC-DBC3-0544-8FA7-FF544FEA4A74}"/>
              </a:ext>
            </a:extLst>
          </p:cNvPr>
          <p:cNvSpPr>
            <a:spLocks noChangeArrowheads="1"/>
          </p:cNvSpPr>
          <p:nvPr/>
        </p:nvSpPr>
        <p:spPr bwMode="auto">
          <a:xfrm>
            <a:off x="8985251" y="3892551"/>
            <a:ext cx="93663"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82" name="Rectangle 282">
            <a:extLst>
              <a:ext uri="{FF2B5EF4-FFF2-40B4-BE49-F238E27FC236}">
                <a16:creationId xmlns:a16="http://schemas.microsoft.com/office/drawing/2014/main" id="{F498EE14-6D36-4341-A3CA-C3CEC656F9F4}"/>
              </a:ext>
            </a:extLst>
          </p:cNvPr>
          <p:cNvSpPr>
            <a:spLocks noChangeArrowheads="1"/>
          </p:cNvSpPr>
          <p:nvPr/>
        </p:nvSpPr>
        <p:spPr bwMode="auto">
          <a:xfrm>
            <a:off x="9120189" y="3889376"/>
            <a:ext cx="65087"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83" name="Freeform 283">
            <a:extLst>
              <a:ext uri="{FF2B5EF4-FFF2-40B4-BE49-F238E27FC236}">
                <a16:creationId xmlns:a16="http://schemas.microsoft.com/office/drawing/2014/main" id="{0CB2F932-9E96-EC4C-BA0D-EBFB09C8C366}"/>
              </a:ext>
            </a:extLst>
          </p:cNvPr>
          <p:cNvSpPr>
            <a:spLocks/>
          </p:cNvSpPr>
          <p:nvPr/>
        </p:nvSpPr>
        <p:spPr bwMode="auto">
          <a:xfrm>
            <a:off x="9055101" y="3970339"/>
            <a:ext cx="11113" cy="15875"/>
          </a:xfrm>
          <a:custGeom>
            <a:avLst/>
            <a:gdLst>
              <a:gd name="T0" fmla="*/ 23 w 23"/>
              <a:gd name="T1" fmla="*/ 13 h 30"/>
              <a:gd name="T2" fmla="*/ 23 w 23"/>
              <a:gd name="T3" fmla="*/ 11 h 30"/>
              <a:gd name="T4" fmla="*/ 21 w 23"/>
              <a:gd name="T5" fmla="*/ 9 h 30"/>
              <a:gd name="T6" fmla="*/ 21 w 23"/>
              <a:gd name="T7" fmla="*/ 7 h 30"/>
              <a:gd name="T8" fmla="*/ 19 w 23"/>
              <a:gd name="T9" fmla="*/ 5 h 30"/>
              <a:gd name="T10" fmla="*/ 18 w 23"/>
              <a:gd name="T11" fmla="*/ 2 h 30"/>
              <a:gd name="T12" fmla="*/ 17 w 23"/>
              <a:gd name="T13" fmla="*/ 1 h 30"/>
              <a:gd name="T14" fmla="*/ 15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4 w 23"/>
              <a:gd name="T27" fmla="*/ 5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4 w 23"/>
              <a:gd name="T45" fmla="*/ 25 h 30"/>
              <a:gd name="T46" fmla="*/ 5 w 23"/>
              <a:gd name="T47" fmla="*/ 28 h 30"/>
              <a:gd name="T48" fmla="*/ 7 w 23"/>
              <a:gd name="T49" fmla="*/ 29 h 30"/>
              <a:gd name="T50" fmla="*/ 9 w 23"/>
              <a:gd name="T51" fmla="*/ 30 h 30"/>
              <a:gd name="T52" fmla="*/ 10 w 23"/>
              <a:gd name="T53" fmla="*/ 30 h 30"/>
              <a:gd name="T54" fmla="*/ 12 w 23"/>
              <a:gd name="T55" fmla="*/ 30 h 30"/>
              <a:gd name="T56" fmla="*/ 15 w 23"/>
              <a:gd name="T57" fmla="*/ 30 h 30"/>
              <a:gd name="T58" fmla="*/ 17 w 23"/>
              <a:gd name="T59" fmla="*/ 29 h 30"/>
              <a:gd name="T60" fmla="*/ 18 w 23"/>
              <a:gd name="T61" fmla="*/ 28 h 30"/>
              <a:gd name="T62" fmla="*/ 19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6"/>
                </a:lnTo>
                <a:lnTo>
                  <a:pt x="19" y="5"/>
                </a:lnTo>
                <a:lnTo>
                  <a:pt x="19" y="3"/>
                </a:lnTo>
                <a:lnTo>
                  <a:pt x="18" y="2"/>
                </a:lnTo>
                <a:lnTo>
                  <a:pt x="17" y="1"/>
                </a:lnTo>
                <a:lnTo>
                  <a:pt x="16" y="0"/>
                </a:lnTo>
                <a:lnTo>
                  <a:pt x="15" y="0"/>
                </a:lnTo>
                <a:lnTo>
                  <a:pt x="13" y="0"/>
                </a:lnTo>
                <a:lnTo>
                  <a:pt x="12" y="0"/>
                </a:lnTo>
                <a:lnTo>
                  <a:pt x="11" y="0"/>
                </a:lnTo>
                <a:lnTo>
                  <a:pt x="10" y="0"/>
                </a:lnTo>
                <a:lnTo>
                  <a:pt x="9" y="0"/>
                </a:lnTo>
                <a:lnTo>
                  <a:pt x="8" y="0"/>
                </a:lnTo>
                <a:lnTo>
                  <a:pt x="7" y="1"/>
                </a:lnTo>
                <a:lnTo>
                  <a:pt x="6" y="1"/>
                </a:lnTo>
                <a:lnTo>
                  <a:pt x="5" y="2"/>
                </a:lnTo>
                <a:lnTo>
                  <a:pt x="4" y="3"/>
                </a:lnTo>
                <a:lnTo>
                  <a:pt x="4" y="5"/>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4" y="25"/>
                </a:lnTo>
                <a:lnTo>
                  <a:pt x="4" y="26"/>
                </a:lnTo>
                <a:lnTo>
                  <a:pt x="5" y="28"/>
                </a:lnTo>
                <a:lnTo>
                  <a:pt x="6" y="29"/>
                </a:lnTo>
                <a:lnTo>
                  <a:pt x="7" y="29"/>
                </a:lnTo>
                <a:lnTo>
                  <a:pt x="8" y="30"/>
                </a:lnTo>
                <a:lnTo>
                  <a:pt x="9" y="30"/>
                </a:lnTo>
                <a:lnTo>
                  <a:pt x="10" y="30"/>
                </a:lnTo>
                <a:lnTo>
                  <a:pt x="11" y="30"/>
                </a:lnTo>
                <a:lnTo>
                  <a:pt x="12" y="30"/>
                </a:lnTo>
                <a:lnTo>
                  <a:pt x="13" y="30"/>
                </a:lnTo>
                <a:lnTo>
                  <a:pt x="15" y="30"/>
                </a:lnTo>
                <a:lnTo>
                  <a:pt x="16" y="30"/>
                </a:lnTo>
                <a:lnTo>
                  <a:pt x="17" y="29"/>
                </a:lnTo>
                <a:lnTo>
                  <a:pt x="18" y="28"/>
                </a:lnTo>
                <a:lnTo>
                  <a:pt x="19" y="26"/>
                </a:lnTo>
                <a:lnTo>
                  <a:pt x="19" y="25"/>
                </a:lnTo>
                <a:lnTo>
                  <a:pt x="20"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84" name="Line 284">
            <a:extLst>
              <a:ext uri="{FF2B5EF4-FFF2-40B4-BE49-F238E27FC236}">
                <a16:creationId xmlns:a16="http://schemas.microsoft.com/office/drawing/2014/main" id="{0CB58C3E-3015-664E-BB9E-8DC6BC5C52D6}"/>
              </a:ext>
            </a:extLst>
          </p:cNvPr>
          <p:cNvSpPr>
            <a:spLocks noChangeShapeType="1"/>
          </p:cNvSpPr>
          <p:nvPr/>
        </p:nvSpPr>
        <p:spPr bwMode="auto">
          <a:xfrm>
            <a:off x="9151939" y="3889376"/>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85" name="Line 285">
            <a:extLst>
              <a:ext uri="{FF2B5EF4-FFF2-40B4-BE49-F238E27FC236}">
                <a16:creationId xmlns:a16="http://schemas.microsoft.com/office/drawing/2014/main" id="{7F3794D4-4521-5143-B442-CE2F8545068E}"/>
              </a:ext>
            </a:extLst>
          </p:cNvPr>
          <p:cNvSpPr>
            <a:spLocks noChangeShapeType="1"/>
          </p:cNvSpPr>
          <p:nvPr/>
        </p:nvSpPr>
        <p:spPr bwMode="auto">
          <a:xfrm>
            <a:off x="9120188" y="3927475"/>
            <a:ext cx="63500"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86" name="Freeform 286">
            <a:extLst>
              <a:ext uri="{FF2B5EF4-FFF2-40B4-BE49-F238E27FC236}">
                <a16:creationId xmlns:a16="http://schemas.microsoft.com/office/drawing/2014/main" id="{E5D495F3-B1D4-DB4E-BC80-B99F35555C63}"/>
              </a:ext>
            </a:extLst>
          </p:cNvPr>
          <p:cNvSpPr>
            <a:spLocks/>
          </p:cNvSpPr>
          <p:nvPr/>
        </p:nvSpPr>
        <p:spPr bwMode="auto">
          <a:xfrm>
            <a:off x="9039225" y="3181351"/>
            <a:ext cx="323850" cy="339725"/>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4 h 643"/>
              <a:gd name="T14" fmla="*/ 56 w 614"/>
              <a:gd name="T15" fmla="*/ 614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4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4"/>
                </a:lnTo>
                <a:lnTo>
                  <a:pt x="56" y="614"/>
                </a:lnTo>
                <a:lnTo>
                  <a:pt x="56" y="195"/>
                </a:lnTo>
                <a:lnTo>
                  <a:pt x="558"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87" name="Rectangle 287">
            <a:extLst>
              <a:ext uri="{FF2B5EF4-FFF2-40B4-BE49-F238E27FC236}">
                <a16:creationId xmlns:a16="http://schemas.microsoft.com/office/drawing/2014/main" id="{BE79AE48-99C8-014D-A269-D36609C3C8C2}"/>
              </a:ext>
            </a:extLst>
          </p:cNvPr>
          <p:cNvSpPr>
            <a:spLocks noChangeArrowheads="1"/>
          </p:cNvSpPr>
          <p:nvPr/>
        </p:nvSpPr>
        <p:spPr bwMode="auto">
          <a:xfrm>
            <a:off x="9069389" y="3284538"/>
            <a:ext cx="268287" cy="220662"/>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88" name="Rectangle 288">
            <a:extLst>
              <a:ext uri="{FF2B5EF4-FFF2-40B4-BE49-F238E27FC236}">
                <a16:creationId xmlns:a16="http://schemas.microsoft.com/office/drawing/2014/main" id="{4BF08693-2141-8548-B98D-EF739324A555}"/>
              </a:ext>
            </a:extLst>
          </p:cNvPr>
          <p:cNvSpPr>
            <a:spLocks noChangeArrowheads="1"/>
          </p:cNvSpPr>
          <p:nvPr/>
        </p:nvSpPr>
        <p:spPr bwMode="auto">
          <a:xfrm>
            <a:off x="9112251" y="3336926"/>
            <a:ext cx="93663"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89" name="Rectangle 289">
            <a:extLst>
              <a:ext uri="{FF2B5EF4-FFF2-40B4-BE49-F238E27FC236}">
                <a16:creationId xmlns:a16="http://schemas.microsoft.com/office/drawing/2014/main" id="{93D74EB9-A182-1F4F-B943-3545B0CC994A}"/>
              </a:ext>
            </a:extLst>
          </p:cNvPr>
          <p:cNvSpPr>
            <a:spLocks noChangeArrowheads="1"/>
          </p:cNvSpPr>
          <p:nvPr/>
        </p:nvSpPr>
        <p:spPr bwMode="auto">
          <a:xfrm>
            <a:off x="9247188" y="3333751"/>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90" name="Freeform 290">
            <a:extLst>
              <a:ext uri="{FF2B5EF4-FFF2-40B4-BE49-F238E27FC236}">
                <a16:creationId xmlns:a16="http://schemas.microsoft.com/office/drawing/2014/main" id="{05E84801-0A82-164B-A0B4-E29E306BDF68}"/>
              </a:ext>
            </a:extLst>
          </p:cNvPr>
          <p:cNvSpPr>
            <a:spLocks/>
          </p:cNvSpPr>
          <p:nvPr/>
        </p:nvSpPr>
        <p:spPr bwMode="auto">
          <a:xfrm>
            <a:off x="9180513" y="3414714"/>
            <a:ext cx="12700" cy="15875"/>
          </a:xfrm>
          <a:custGeom>
            <a:avLst/>
            <a:gdLst>
              <a:gd name="T0" fmla="*/ 23 w 23"/>
              <a:gd name="T1" fmla="*/ 13 h 29"/>
              <a:gd name="T2" fmla="*/ 23 w 23"/>
              <a:gd name="T3" fmla="*/ 11 h 29"/>
              <a:gd name="T4" fmla="*/ 21 w 23"/>
              <a:gd name="T5" fmla="*/ 9 h 29"/>
              <a:gd name="T6" fmla="*/ 21 w 23"/>
              <a:gd name="T7" fmla="*/ 6 h 29"/>
              <a:gd name="T8" fmla="*/ 19 w 23"/>
              <a:gd name="T9" fmla="*/ 4 h 29"/>
              <a:gd name="T10" fmla="*/ 18 w 23"/>
              <a:gd name="T11" fmla="*/ 2 h 29"/>
              <a:gd name="T12" fmla="*/ 17 w 23"/>
              <a:gd name="T13" fmla="*/ 1 h 29"/>
              <a:gd name="T14" fmla="*/ 15 w 23"/>
              <a:gd name="T15" fmla="*/ 0 h 29"/>
              <a:gd name="T16" fmla="*/ 12 w 23"/>
              <a:gd name="T17" fmla="*/ 0 h 29"/>
              <a:gd name="T18" fmla="*/ 10 w 23"/>
              <a:gd name="T19" fmla="*/ 0 h 29"/>
              <a:gd name="T20" fmla="*/ 9 w 23"/>
              <a:gd name="T21" fmla="*/ 0 h 29"/>
              <a:gd name="T22" fmla="*/ 7 w 23"/>
              <a:gd name="T23" fmla="*/ 1 h 29"/>
              <a:gd name="T24" fmla="*/ 5 w 23"/>
              <a:gd name="T25" fmla="*/ 2 h 29"/>
              <a:gd name="T26" fmla="*/ 4 w 23"/>
              <a:gd name="T27" fmla="*/ 4 h 29"/>
              <a:gd name="T28" fmla="*/ 1 w 23"/>
              <a:gd name="T29" fmla="*/ 6 h 29"/>
              <a:gd name="T30" fmla="*/ 1 w 23"/>
              <a:gd name="T31" fmla="*/ 9 h 29"/>
              <a:gd name="T32" fmla="*/ 0 w 23"/>
              <a:gd name="T33" fmla="*/ 11 h 29"/>
              <a:gd name="T34" fmla="*/ 0 w 23"/>
              <a:gd name="T35" fmla="*/ 13 h 29"/>
              <a:gd name="T36" fmla="*/ 0 w 23"/>
              <a:gd name="T37" fmla="*/ 16 h 29"/>
              <a:gd name="T38" fmla="*/ 0 w 23"/>
              <a:gd name="T39" fmla="*/ 19 h 29"/>
              <a:gd name="T40" fmla="*/ 1 w 23"/>
              <a:gd name="T41" fmla="*/ 22 h 29"/>
              <a:gd name="T42" fmla="*/ 1 w 23"/>
              <a:gd name="T43" fmla="*/ 24 h 29"/>
              <a:gd name="T44" fmla="*/ 4 w 23"/>
              <a:gd name="T45" fmla="*/ 25 h 29"/>
              <a:gd name="T46" fmla="*/ 5 w 23"/>
              <a:gd name="T47" fmla="*/ 27 h 29"/>
              <a:gd name="T48" fmla="*/ 7 w 23"/>
              <a:gd name="T49" fmla="*/ 28 h 29"/>
              <a:gd name="T50" fmla="*/ 9 w 23"/>
              <a:gd name="T51" fmla="*/ 29 h 29"/>
              <a:gd name="T52" fmla="*/ 10 w 23"/>
              <a:gd name="T53" fmla="*/ 29 h 29"/>
              <a:gd name="T54" fmla="*/ 12 w 23"/>
              <a:gd name="T55" fmla="*/ 29 h 29"/>
              <a:gd name="T56" fmla="*/ 15 w 23"/>
              <a:gd name="T57" fmla="*/ 29 h 29"/>
              <a:gd name="T58" fmla="*/ 17 w 23"/>
              <a:gd name="T59" fmla="*/ 28 h 29"/>
              <a:gd name="T60" fmla="*/ 18 w 23"/>
              <a:gd name="T61" fmla="*/ 27 h 29"/>
              <a:gd name="T62" fmla="*/ 19 w 23"/>
              <a:gd name="T63" fmla="*/ 25 h 29"/>
              <a:gd name="T64" fmla="*/ 21 w 23"/>
              <a:gd name="T65" fmla="*/ 24 h 29"/>
              <a:gd name="T66" fmla="*/ 21 w 23"/>
              <a:gd name="T67" fmla="*/ 22 h 29"/>
              <a:gd name="T68" fmla="*/ 23 w 23"/>
              <a:gd name="T69" fmla="*/ 19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10"/>
                </a:lnTo>
                <a:lnTo>
                  <a:pt x="21" y="9"/>
                </a:lnTo>
                <a:lnTo>
                  <a:pt x="21" y="8"/>
                </a:lnTo>
                <a:lnTo>
                  <a:pt x="21" y="6"/>
                </a:lnTo>
                <a:lnTo>
                  <a:pt x="20" y="5"/>
                </a:lnTo>
                <a:lnTo>
                  <a:pt x="19" y="4"/>
                </a:lnTo>
                <a:lnTo>
                  <a:pt x="19" y="3"/>
                </a:lnTo>
                <a:lnTo>
                  <a:pt x="18" y="2"/>
                </a:lnTo>
                <a:lnTo>
                  <a:pt x="17" y="1"/>
                </a:lnTo>
                <a:lnTo>
                  <a:pt x="16" y="0"/>
                </a:lnTo>
                <a:lnTo>
                  <a:pt x="15" y="0"/>
                </a:lnTo>
                <a:lnTo>
                  <a:pt x="14" y="0"/>
                </a:lnTo>
                <a:lnTo>
                  <a:pt x="12" y="0"/>
                </a:lnTo>
                <a:lnTo>
                  <a:pt x="11" y="0"/>
                </a:lnTo>
                <a:lnTo>
                  <a:pt x="10" y="0"/>
                </a:lnTo>
                <a:lnTo>
                  <a:pt x="9" y="0"/>
                </a:lnTo>
                <a:lnTo>
                  <a:pt x="8" y="0"/>
                </a:lnTo>
                <a:lnTo>
                  <a:pt x="7" y="1"/>
                </a:lnTo>
                <a:lnTo>
                  <a:pt x="6" y="1"/>
                </a:lnTo>
                <a:lnTo>
                  <a:pt x="5" y="2"/>
                </a:lnTo>
                <a:lnTo>
                  <a:pt x="4" y="3"/>
                </a:lnTo>
                <a:lnTo>
                  <a:pt x="4" y="4"/>
                </a:lnTo>
                <a:lnTo>
                  <a:pt x="3" y="5"/>
                </a:lnTo>
                <a:lnTo>
                  <a:pt x="1" y="6"/>
                </a:lnTo>
                <a:lnTo>
                  <a:pt x="1" y="8"/>
                </a:lnTo>
                <a:lnTo>
                  <a:pt x="1" y="9"/>
                </a:lnTo>
                <a:lnTo>
                  <a:pt x="0" y="10"/>
                </a:lnTo>
                <a:lnTo>
                  <a:pt x="0" y="11"/>
                </a:lnTo>
                <a:lnTo>
                  <a:pt x="0" y="12"/>
                </a:lnTo>
                <a:lnTo>
                  <a:pt x="0" y="13"/>
                </a:lnTo>
                <a:lnTo>
                  <a:pt x="0" y="14"/>
                </a:lnTo>
                <a:lnTo>
                  <a:pt x="0" y="16"/>
                </a:lnTo>
                <a:lnTo>
                  <a:pt x="0" y="17"/>
                </a:lnTo>
                <a:lnTo>
                  <a:pt x="0" y="19"/>
                </a:lnTo>
                <a:lnTo>
                  <a:pt x="0" y="20"/>
                </a:lnTo>
                <a:lnTo>
                  <a:pt x="1" y="22"/>
                </a:lnTo>
                <a:lnTo>
                  <a:pt x="1" y="23"/>
                </a:lnTo>
                <a:lnTo>
                  <a:pt x="1" y="24"/>
                </a:lnTo>
                <a:lnTo>
                  <a:pt x="3" y="24"/>
                </a:lnTo>
                <a:lnTo>
                  <a:pt x="4" y="25"/>
                </a:lnTo>
                <a:lnTo>
                  <a:pt x="4" y="26"/>
                </a:lnTo>
                <a:lnTo>
                  <a:pt x="5" y="27"/>
                </a:lnTo>
                <a:lnTo>
                  <a:pt x="6" y="28"/>
                </a:lnTo>
                <a:lnTo>
                  <a:pt x="7" y="28"/>
                </a:lnTo>
                <a:lnTo>
                  <a:pt x="8" y="29"/>
                </a:lnTo>
                <a:lnTo>
                  <a:pt x="9" y="29"/>
                </a:lnTo>
                <a:lnTo>
                  <a:pt x="10" y="29"/>
                </a:lnTo>
                <a:lnTo>
                  <a:pt x="11" y="29"/>
                </a:lnTo>
                <a:lnTo>
                  <a:pt x="12" y="29"/>
                </a:lnTo>
                <a:lnTo>
                  <a:pt x="14" y="29"/>
                </a:lnTo>
                <a:lnTo>
                  <a:pt x="15" y="29"/>
                </a:lnTo>
                <a:lnTo>
                  <a:pt x="16" y="29"/>
                </a:lnTo>
                <a:lnTo>
                  <a:pt x="17" y="28"/>
                </a:lnTo>
                <a:lnTo>
                  <a:pt x="18" y="27"/>
                </a:lnTo>
                <a:lnTo>
                  <a:pt x="19" y="26"/>
                </a:lnTo>
                <a:lnTo>
                  <a:pt x="19" y="25"/>
                </a:lnTo>
                <a:lnTo>
                  <a:pt x="20" y="24"/>
                </a:lnTo>
                <a:lnTo>
                  <a:pt x="21" y="24"/>
                </a:lnTo>
                <a:lnTo>
                  <a:pt x="21" y="23"/>
                </a:lnTo>
                <a:lnTo>
                  <a:pt x="21" y="22"/>
                </a:lnTo>
                <a:lnTo>
                  <a:pt x="22" y="20"/>
                </a:lnTo>
                <a:lnTo>
                  <a:pt x="23" y="19"/>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91" name="Line 291">
            <a:extLst>
              <a:ext uri="{FF2B5EF4-FFF2-40B4-BE49-F238E27FC236}">
                <a16:creationId xmlns:a16="http://schemas.microsoft.com/office/drawing/2014/main" id="{1462FD1B-F863-204B-B3C3-B4255AFD9379}"/>
              </a:ext>
            </a:extLst>
          </p:cNvPr>
          <p:cNvSpPr>
            <a:spLocks noChangeShapeType="1"/>
          </p:cNvSpPr>
          <p:nvPr/>
        </p:nvSpPr>
        <p:spPr bwMode="auto">
          <a:xfrm>
            <a:off x="9278939" y="3333751"/>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92" name="Line 292">
            <a:extLst>
              <a:ext uri="{FF2B5EF4-FFF2-40B4-BE49-F238E27FC236}">
                <a16:creationId xmlns:a16="http://schemas.microsoft.com/office/drawing/2014/main" id="{0DED9143-C67F-D44C-82AD-C07928D5CC26}"/>
              </a:ext>
            </a:extLst>
          </p:cNvPr>
          <p:cNvSpPr>
            <a:spLocks noChangeShapeType="1"/>
          </p:cNvSpPr>
          <p:nvPr/>
        </p:nvSpPr>
        <p:spPr bwMode="auto">
          <a:xfrm>
            <a:off x="9247188" y="3371850"/>
            <a:ext cx="61912"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93" name="Freeform 293">
            <a:extLst>
              <a:ext uri="{FF2B5EF4-FFF2-40B4-BE49-F238E27FC236}">
                <a16:creationId xmlns:a16="http://schemas.microsoft.com/office/drawing/2014/main" id="{8EC60B6D-603E-9A4A-A8C2-327F77126852}"/>
              </a:ext>
            </a:extLst>
          </p:cNvPr>
          <p:cNvSpPr>
            <a:spLocks/>
          </p:cNvSpPr>
          <p:nvPr/>
        </p:nvSpPr>
        <p:spPr bwMode="auto">
          <a:xfrm>
            <a:off x="8420100" y="3005139"/>
            <a:ext cx="323850" cy="339725"/>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9 w 614"/>
              <a:gd name="T11" fmla="*/ 195 h 643"/>
              <a:gd name="T12" fmla="*/ 559 w 614"/>
              <a:gd name="T13" fmla="*/ 615 h 643"/>
              <a:gd name="T14" fmla="*/ 56 w 614"/>
              <a:gd name="T15" fmla="*/ 615 h 643"/>
              <a:gd name="T16" fmla="*/ 56 w 614"/>
              <a:gd name="T17" fmla="*/ 195 h 643"/>
              <a:gd name="T18" fmla="*/ 559 w 614"/>
              <a:gd name="T19" fmla="*/ 195 h 643"/>
              <a:gd name="T20" fmla="*/ 587 w 614"/>
              <a:gd name="T21" fmla="*/ 195 h 643"/>
              <a:gd name="T22" fmla="*/ 587 w 614"/>
              <a:gd name="T23" fmla="*/ 643 h 643"/>
              <a:gd name="T24" fmla="*/ 56 w 614"/>
              <a:gd name="T25" fmla="*/ 643 h 643"/>
              <a:gd name="T26" fmla="*/ 56 w 614"/>
              <a:gd name="T27" fmla="*/ 615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9" y="195"/>
                </a:lnTo>
                <a:lnTo>
                  <a:pt x="559" y="615"/>
                </a:lnTo>
                <a:lnTo>
                  <a:pt x="56" y="615"/>
                </a:lnTo>
                <a:lnTo>
                  <a:pt x="56" y="195"/>
                </a:lnTo>
                <a:lnTo>
                  <a:pt x="559" y="195"/>
                </a:lnTo>
                <a:lnTo>
                  <a:pt x="587" y="195"/>
                </a:lnTo>
                <a:lnTo>
                  <a:pt x="587" y="643"/>
                </a:lnTo>
                <a:lnTo>
                  <a:pt x="56" y="643"/>
                </a:lnTo>
                <a:lnTo>
                  <a:pt x="56" y="615"/>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94" name="Rectangle 294">
            <a:extLst>
              <a:ext uri="{FF2B5EF4-FFF2-40B4-BE49-F238E27FC236}">
                <a16:creationId xmlns:a16="http://schemas.microsoft.com/office/drawing/2014/main" id="{2487B6B3-EE8C-C746-B4DA-E42A379A521C}"/>
              </a:ext>
            </a:extLst>
          </p:cNvPr>
          <p:cNvSpPr>
            <a:spLocks noChangeArrowheads="1"/>
          </p:cNvSpPr>
          <p:nvPr/>
        </p:nvSpPr>
        <p:spPr bwMode="auto">
          <a:xfrm>
            <a:off x="8450264" y="3108326"/>
            <a:ext cx="268287"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95" name="Rectangle 295">
            <a:extLst>
              <a:ext uri="{FF2B5EF4-FFF2-40B4-BE49-F238E27FC236}">
                <a16:creationId xmlns:a16="http://schemas.microsoft.com/office/drawing/2014/main" id="{7C7BEDE8-2407-2247-840D-92E9903662BE}"/>
              </a:ext>
            </a:extLst>
          </p:cNvPr>
          <p:cNvSpPr>
            <a:spLocks noChangeArrowheads="1"/>
          </p:cNvSpPr>
          <p:nvPr/>
        </p:nvSpPr>
        <p:spPr bwMode="auto">
          <a:xfrm>
            <a:off x="8493126" y="3160714"/>
            <a:ext cx="93663"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96" name="Rectangle 296">
            <a:extLst>
              <a:ext uri="{FF2B5EF4-FFF2-40B4-BE49-F238E27FC236}">
                <a16:creationId xmlns:a16="http://schemas.microsoft.com/office/drawing/2014/main" id="{AF4249D5-EF18-9747-BDD9-5FEBEF363ECB}"/>
              </a:ext>
            </a:extLst>
          </p:cNvPr>
          <p:cNvSpPr>
            <a:spLocks noChangeArrowheads="1"/>
          </p:cNvSpPr>
          <p:nvPr/>
        </p:nvSpPr>
        <p:spPr bwMode="auto">
          <a:xfrm>
            <a:off x="8628064" y="3157539"/>
            <a:ext cx="65087"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97" name="Freeform 297">
            <a:extLst>
              <a:ext uri="{FF2B5EF4-FFF2-40B4-BE49-F238E27FC236}">
                <a16:creationId xmlns:a16="http://schemas.microsoft.com/office/drawing/2014/main" id="{1FC19050-CD4A-B848-913B-B7D1A5268514}"/>
              </a:ext>
            </a:extLst>
          </p:cNvPr>
          <p:cNvSpPr>
            <a:spLocks/>
          </p:cNvSpPr>
          <p:nvPr/>
        </p:nvSpPr>
        <p:spPr bwMode="auto">
          <a:xfrm>
            <a:off x="8561388" y="3238501"/>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5 h 30"/>
              <a:gd name="T10" fmla="*/ 17 w 23"/>
              <a:gd name="T11" fmla="*/ 2 h 30"/>
              <a:gd name="T12" fmla="*/ 16 w 23"/>
              <a:gd name="T13" fmla="*/ 1 h 30"/>
              <a:gd name="T14" fmla="*/ 14 w 23"/>
              <a:gd name="T15" fmla="*/ 0 h 30"/>
              <a:gd name="T16" fmla="*/ 12 w 23"/>
              <a:gd name="T17" fmla="*/ 0 h 30"/>
              <a:gd name="T18" fmla="*/ 10 w 23"/>
              <a:gd name="T19" fmla="*/ 0 h 30"/>
              <a:gd name="T20" fmla="*/ 9 w 23"/>
              <a:gd name="T21" fmla="*/ 0 h 30"/>
              <a:gd name="T22" fmla="*/ 6 w 23"/>
              <a:gd name="T23" fmla="*/ 1 h 30"/>
              <a:gd name="T24" fmla="*/ 4 w 23"/>
              <a:gd name="T25" fmla="*/ 2 h 30"/>
              <a:gd name="T26" fmla="*/ 3 w 23"/>
              <a:gd name="T27" fmla="*/ 5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5 h 30"/>
              <a:gd name="T46" fmla="*/ 4 w 23"/>
              <a:gd name="T47" fmla="*/ 28 h 30"/>
              <a:gd name="T48" fmla="*/ 6 w 23"/>
              <a:gd name="T49" fmla="*/ 29 h 30"/>
              <a:gd name="T50" fmla="*/ 9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9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6"/>
                </a:lnTo>
                <a:lnTo>
                  <a:pt x="19" y="5"/>
                </a:lnTo>
                <a:lnTo>
                  <a:pt x="19" y="4"/>
                </a:lnTo>
                <a:lnTo>
                  <a:pt x="17" y="2"/>
                </a:lnTo>
                <a:lnTo>
                  <a:pt x="16" y="1"/>
                </a:lnTo>
                <a:lnTo>
                  <a:pt x="15" y="0"/>
                </a:lnTo>
                <a:lnTo>
                  <a:pt x="14" y="0"/>
                </a:lnTo>
                <a:lnTo>
                  <a:pt x="13" y="0"/>
                </a:lnTo>
                <a:lnTo>
                  <a:pt x="12" y="0"/>
                </a:lnTo>
                <a:lnTo>
                  <a:pt x="11" y="0"/>
                </a:lnTo>
                <a:lnTo>
                  <a:pt x="10" y="0"/>
                </a:lnTo>
                <a:lnTo>
                  <a:pt x="9" y="0"/>
                </a:lnTo>
                <a:lnTo>
                  <a:pt x="8" y="0"/>
                </a:lnTo>
                <a:lnTo>
                  <a:pt x="6" y="1"/>
                </a:lnTo>
                <a:lnTo>
                  <a:pt x="5" y="1"/>
                </a:lnTo>
                <a:lnTo>
                  <a:pt x="4" y="2"/>
                </a:lnTo>
                <a:lnTo>
                  <a:pt x="3" y="4"/>
                </a:lnTo>
                <a:lnTo>
                  <a:pt x="3" y="5"/>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3" y="25"/>
                </a:lnTo>
                <a:lnTo>
                  <a:pt x="3" y="27"/>
                </a:lnTo>
                <a:lnTo>
                  <a:pt x="4" y="28"/>
                </a:lnTo>
                <a:lnTo>
                  <a:pt x="5" y="29"/>
                </a:lnTo>
                <a:lnTo>
                  <a:pt x="6" y="29"/>
                </a:lnTo>
                <a:lnTo>
                  <a:pt x="8" y="30"/>
                </a:lnTo>
                <a:lnTo>
                  <a:pt x="9" y="30"/>
                </a:lnTo>
                <a:lnTo>
                  <a:pt x="10" y="30"/>
                </a:lnTo>
                <a:lnTo>
                  <a:pt x="11" y="30"/>
                </a:lnTo>
                <a:lnTo>
                  <a:pt x="12" y="30"/>
                </a:lnTo>
                <a:lnTo>
                  <a:pt x="13" y="30"/>
                </a:lnTo>
                <a:lnTo>
                  <a:pt x="14" y="30"/>
                </a:lnTo>
                <a:lnTo>
                  <a:pt x="15" y="30"/>
                </a:lnTo>
                <a:lnTo>
                  <a:pt x="16" y="29"/>
                </a:lnTo>
                <a:lnTo>
                  <a:pt x="17" y="28"/>
                </a:lnTo>
                <a:lnTo>
                  <a:pt x="19" y="27"/>
                </a:lnTo>
                <a:lnTo>
                  <a:pt x="19" y="25"/>
                </a:lnTo>
                <a:lnTo>
                  <a:pt x="20"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698" name="Line 298">
            <a:extLst>
              <a:ext uri="{FF2B5EF4-FFF2-40B4-BE49-F238E27FC236}">
                <a16:creationId xmlns:a16="http://schemas.microsoft.com/office/drawing/2014/main" id="{A6C612AB-FC0D-9D4F-A859-DA72C85439E5}"/>
              </a:ext>
            </a:extLst>
          </p:cNvPr>
          <p:cNvSpPr>
            <a:spLocks noChangeShapeType="1"/>
          </p:cNvSpPr>
          <p:nvPr/>
        </p:nvSpPr>
        <p:spPr bwMode="auto">
          <a:xfrm>
            <a:off x="8659814" y="315753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99" name="Line 299">
            <a:extLst>
              <a:ext uri="{FF2B5EF4-FFF2-40B4-BE49-F238E27FC236}">
                <a16:creationId xmlns:a16="http://schemas.microsoft.com/office/drawing/2014/main" id="{A88FE128-4E95-134A-8114-23E120EACC3B}"/>
              </a:ext>
            </a:extLst>
          </p:cNvPr>
          <p:cNvSpPr>
            <a:spLocks noChangeShapeType="1"/>
          </p:cNvSpPr>
          <p:nvPr/>
        </p:nvSpPr>
        <p:spPr bwMode="auto">
          <a:xfrm>
            <a:off x="8628063" y="3195639"/>
            <a:ext cx="61912"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00" name="Freeform 300">
            <a:extLst>
              <a:ext uri="{FF2B5EF4-FFF2-40B4-BE49-F238E27FC236}">
                <a16:creationId xmlns:a16="http://schemas.microsoft.com/office/drawing/2014/main" id="{2646B445-8366-0B43-8376-2B557E618C84}"/>
              </a:ext>
            </a:extLst>
          </p:cNvPr>
          <p:cNvSpPr>
            <a:spLocks/>
          </p:cNvSpPr>
          <p:nvPr/>
        </p:nvSpPr>
        <p:spPr bwMode="auto">
          <a:xfrm>
            <a:off x="8040689" y="3548064"/>
            <a:ext cx="325437" cy="339725"/>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01" name="Rectangle 301">
            <a:extLst>
              <a:ext uri="{FF2B5EF4-FFF2-40B4-BE49-F238E27FC236}">
                <a16:creationId xmlns:a16="http://schemas.microsoft.com/office/drawing/2014/main" id="{1EAA1A80-9979-5248-8B79-42F3A0A6C87D}"/>
              </a:ext>
            </a:extLst>
          </p:cNvPr>
          <p:cNvSpPr>
            <a:spLocks noChangeArrowheads="1"/>
          </p:cNvSpPr>
          <p:nvPr/>
        </p:nvSpPr>
        <p:spPr bwMode="auto">
          <a:xfrm>
            <a:off x="8070850" y="3651251"/>
            <a:ext cx="268288"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02" name="Rectangle 302">
            <a:extLst>
              <a:ext uri="{FF2B5EF4-FFF2-40B4-BE49-F238E27FC236}">
                <a16:creationId xmlns:a16="http://schemas.microsoft.com/office/drawing/2014/main" id="{D3BAB829-51CF-1C4A-B111-CC6684ECCDF3}"/>
              </a:ext>
            </a:extLst>
          </p:cNvPr>
          <p:cNvSpPr>
            <a:spLocks noChangeArrowheads="1"/>
          </p:cNvSpPr>
          <p:nvPr/>
        </p:nvSpPr>
        <p:spPr bwMode="auto">
          <a:xfrm>
            <a:off x="8113713" y="3703639"/>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03" name="Rectangle 303">
            <a:extLst>
              <a:ext uri="{FF2B5EF4-FFF2-40B4-BE49-F238E27FC236}">
                <a16:creationId xmlns:a16="http://schemas.microsoft.com/office/drawing/2014/main" id="{C0D986ED-8694-BF47-B44E-A502389013FF}"/>
              </a:ext>
            </a:extLst>
          </p:cNvPr>
          <p:cNvSpPr>
            <a:spLocks noChangeArrowheads="1"/>
          </p:cNvSpPr>
          <p:nvPr/>
        </p:nvSpPr>
        <p:spPr bwMode="auto">
          <a:xfrm>
            <a:off x="8248650" y="3700464"/>
            <a:ext cx="65088"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04" name="Freeform 304">
            <a:extLst>
              <a:ext uri="{FF2B5EF4-FFF2-40B4-BE49-F238E27FC236}">
                <a16:creationId xmlns:a16="http://schemas.microsoft.com/office/drawing/2014/main" id="{B4417B6D-EFCA-6546-8861-8DCC92571DF9}"/>
              </a:ext>
            </a:extLst>
          </p:cNvPr>
          <p:cNvSpPr>
            <a:spLocks/>
          </p:cNvSpPr>
          <p:nvPr/>
        </p:nvSpPr>
        <p:spPr bwMode="auto">
          <a:xfrm>
            <a:off x="8181975" y="3781426"/>
            <a:ext cx="12700" cy="15875"/>
          </a:xfrm>
          <a:custGeom>
            <a:avLst/>
            <a:gdLst>
              <a:gd name="T0" fmla="*/ 24 w 24"/>
              <a:gd name="T1" fmla="*/ 14 h 30"/>
              <a:gd name="T2" fmla="*/ 24 w 24"/>
              <a:gd name="T3" fmla="*/ 11 h 30"/>
              <a:gd name="T4" fmla="*/ 21 w 24"/>
              <a:gd name="T5" fmla="*/ 9 h 30"/>
              <a:gd name="T6" fmla="*/ 21 w 24"/>
              <a:gd name="T7" fmla="*/ 7 h 30"/>
              <a:gd name="T8" fmla="*/ 19 w 24"/>
              <a:gd name="T9" fmla="*/ 5 h 30"/>
              <a:gd name="T10" fmla="*/ 18 w 24"/>
              <a:gd name="T11" fmla="*/ 3 h 30"/>
              <a:gd name="T12" fmla="*/ 17 w 24"/>
              <a:gd name="T13" fmla="*/ 1 h 30"/>
              <a:gd name="T14" fmla="*/ 15 w 24"/>
              <a:gd name="T15" fmla="*/ 0 h 30"/>
              <a:gd name="T16" fmla="*/ 13 w 24"/>
              <a:gd name="T17" fmla="*/ 0 h 30"/>
              <a:gd name="T18" fmla="*/ 10 w 24"/>
              <a:gd name="T19" fmla="*/ 0 h 30"/>
              <a:gd name="T20" fmla="*/ 9 w 24"/>
              <a:gd name="T21" fmla="*/ 0 h 30"/>
              <a:gd name="T22" fmla="*/ 7 w 24"/>
              <a:gd name="T23" fmla="*/ 1 h 30"/>
              <a:gd name="T24" fmla="*/ 5 w 24"/>
              <a:gd name="T25" fmla="*/ 3 h 30"/>
              <a:gd name="T26" fmla="*/ 4 w 24"/>
              <a:gd name="T27" fmla="*/ 5 h 30"/>
              <a:gd name="T28" fmla="*/ 2 w 24"/>
              <a:gd name="T29" fmla="*/ 7 h 30"/>
              <a:gd name="T30" fmla="*/ 2 w 24"/>
              <a:gd name="T31" fmla="*/ 9 h 30"/>
              <a:gd name="T32" fmla="*/ 0 w 24"/>
              <a:gd name="T33" fmla="*/ 11 h 30"/>
              <a:gd name="T34" fmla="*/ 0 w 24"/>
              <a:gd name="T35" fmla="*/ 14 h 30"/>
              <a:gd name="T36" fmla="*/ 0 w 24"/>
              <a:gd name="T37" fmla="*/ 17 h 30"/>
              <a:gd name="T38" fmla="*/ 0 w 24"/>
              <a:gd name="T39" fmla="*/ 19 h 30"/>
              <a:gd name="T40" fmla="*/ 2 w 24"/>
              <a:gd name="T41" fmla="*/ 22 h 30"/>
              <a:gd name="T42" fmla="*/ 2 w 24"/>
              <a:gd name="T43" fmla="*/ 24 h 30"/>
              <a:gd name="T44" fmla="*/ 4 w 24"/>
              <a:gd name="T45" fmla="*/ 26 h 30"/>
              <a:gd name="T46" fmla="*/ 5 w 24"/>
              <a:gd name="T47" fmla="*/ 28 h 30"/>
              <a:gd name="T48" fmla="*/ 7 w 24"/>
              <a:gd name="T49" fmla="*/ 29 h 30"/>
              <a:gd name="T50" fmla="*/ 9 w 24"/>
              <a:gd name="T51" fmla="*/ 30 h 30"/>
              <a:gd name="T52" fmla="*/ 10 w 24"/>
              <a:gd name="T53" fmla="*/ 30 h 30"/>
              <a:gd name="T54" fmla="*/ 13 w 24"/>
              <a:gd name="T55" fmla="*/ 30 h 30"/>
              <a:gd name="T56" fmla="*/ 15 w 24"/>
              <a:gd name="T57" fmla="*/ 30 h 30"/>
              <a:gd name="T58" fmla="*/ 17 w 24"/>
              <a:gd name="T59" fmla="*/ 29 h 30"/>
              <a:gd name="T60" fmla="*/ 18 w 24"/>
              <a:gd name="T61" fmla="*/ 28 h 30"/>
              <a:gd name="T62" fmla="*/ 19 w 24"/>
              <a:gd name="T63" fmla="*/ 26 h 30"/>
              <a:gd name="T64" fmla="*/ 21 w 24"/>
              <a:gd name="T65" fmla="*/ 24 h 30"/>
              <a:gd name="T66" fmla="*/ 21 w 24"/>
              <a:gd name="T67" fmla="*/ 22 h 30"/>
              <a:gd name="T68" fmla="*/ 24 w 24"/>
              <a:gd name="T69" fmla="*/ 19 h 30"/>
              <a:gd name="T70" fmla="*/ 24 w 24"/>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4"/>
              <a:gd name="T109" fmla="*/ 0 h 30"/>
              <a:gd name="T110" fmla="*/ 24 w 24"/>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4" h="30">
                <a:moveTo>
                  <a:pt x="24" y="15"/>
                </a:moveTo>
                <a:lnTo>
                  <a:pt x="24" y="14"/>
                </a:lnTo>
                <a:lnTo>
                  <a:pt x="24" y="12"/>
                </a:lnTo>
                <a:lnTo>
                  <a:pt x="24" y="11"/>
                </a:lnTo>
                <a:lnTo>
                  <a:pt x="22" y="10"/>
                </a:lnTo>
                <a:lnTo>
                  <a:pt x="21" y="9"/>
                </a:lnTo>
                <a:lnTo>
                  <a:pt x="21" y="8"/>
                </a:lnTo>
                <a:lnTo>
                  <a:pt x="21" y="7"/>
                </a:lnTo>
                <a:lnTo>
                  <a:pt x="20" y="6"/>
                </a:lnTo>
                <a:lnTo>
                  <a:pt x="19" y="5"/>
                </a:lnTo>
                <a:lnTo>
                  <a:pt x="19" y="4"/>
                </a:lnTo>
                <a:lnTo>
                  <a:pt x="18" y="3"/>
                </a:lnTo>
                <a:lnTo>
                  <a:pt x="17" y="1"/>
                </a:lnTo>
                <a:lnTo>
                  <a:pt x="16" y="0"/>
                </a:lnTo>
                <a:lnTo>
                  <a:pt x="15" y="0"/>
                </a:lnTo>
                <a:lnTo>
                  <a:pt x="14" y="0"/>
                </a:lnTo>
                <a:lnTo>
                  <a:pt x="13" y="0"/>
                </a:lnTo>
                <a:lnTo>
                  <a:pt x="11" y="0"/>
                </a:lnTo>
                <a:lnTo>
                  <a:pt x="10" y="0"/>
                </a:lnTo>
                <a:lnTo>
                  <a:pt x="9" y="0"/>
                </a:lnTo>
                <a:lnTo>
                  <a:pt x="8" y="0"/>
                </a:lnTo>
                <a:lnTo>
                  <a:pt x="7" y="1"/>
                </a:lnTo>
                <a:lnTo>
                  <a:pt x="6" y="1"/>
                </a:lnTo>
                <a:lnTo>
                  <a:pt x="5" y="3"/>
                </a:lnTo>
                <a:lnTo>
                  <a:pt x="4" y="4"/>
                </a:lnTo>
                <a:lnTo>
                  <a:pt x="4" y="5"/>
                </a:lnTo>
                <a:lnTo>
                  <a:pt x="3" y="6"/>
                </a:lnTo>
                <a:lnTo>
                  <a:pt x="2" y="7"/>
                </a:lnTo>
                <a:lnTo>
                  <a:pt x="2" y="8"/>
                </a:lnTo>
                <a:lnTo>
                  <a:pt x="2" y="9"/>
                </a:lnTo>
                <a:lnTo>
                  <a:pt x="0" y="10"/>
                </a:lnTo>
                <a:lnTo>
                  <a:pt x="0" y="11"/>
                </a:lnTo>
                <a:lnTo>
                  <a:pt x="0" y="12"/>
                </a:lnTo>
                <a:lnTo>
                  <a:pt x="0" y="14"/>
                </a:lnTo>
                <a:lnTo>
                  <a:pt x="0" y="15"/>
                </a:lnTo>
                <a:lnTo>
                  <a:pt x="0" y="17"/>
                </a:lnTo>
                <a:lnTo>
                  <a:pt x="0" y="18"/>
                </a:lnTo>
                <a:lnTo>
                  <a:pt x="0" y="19"/>
                </a:lnTo>
                <a:lnTo>
                  <a:pt x="0" y="20"/>
                </a:lnTo>
                <a:lnTo>
                  <a:pt x="2" y="22"/>
                </a:lnTo>
                <a:lnTo>
                  <a:pt x="2" y="23"/>
                </a:lnTo>
                <a:lnTo>
                  <a:pt x="2" y="24"/>
                </a:lnTo>
                <a:lnTo>
                  <a:pt x="3" y="24"/>
                </a:lnTo>
                <a:lnTo>
                  <a:pt x="4" y="26"/>
                </a:lnTo>
                <a:lnTo>
                  <a:pt x="4" y="27"/>
                </a:lnTo>
                <a:lnTo>
                  <a:pt x="5" y="28"/>
                </a:lnTo>
                <a:lnTo>
                  <a:pt x="6" y="29"/>
                </a:lnTo>
                <a:lnTo>
                  <a:pt x="7" y="29"/>
                </a:lnTo>
                <a:lnTo>
                  <a:pt x="8" y="30"/>
                </a:lnTo>
                <a:lnTo>
                  <a:pt x="9" y="30"/>
                </a:lnTo>
                <a:lnTo>
                  <a:pt x="10" y="30"/>
                </a:lnTo>
                <a:lnTo>
                  <a:pt x="11" y="30"/>
                </a:lnTo>
                <a:lnTo>
                  <a:pt x="13" y="30"/>
                </a:lnTo>
                <a:lnTo>
                  <a:pt x="14" y="30"/>
                </a:lnTo>
                <a:lnTo>
                  <a:pt x="15" y="30"/>
                </a:lnTo>
                <a:lnTo>
                  <a:pt x="16" y="30"/>
                </a:lnTo>
                <a:lnTo>
                  <a:pt x="17" y="29"/>
                </a:lnTo>
                <a:lnTo>
                  <a:pt x="18" y="28"/>
                </a:lnTo>
                <a:lnTo>
                  <a:pt x="19" y="27"/>
                </a:lnTo>
                <a:lnTo>
                  <a:pt x="19" y="26"/>
                </a:lnTo>
                <a:lnTo>
                  <a:pt x="20" y="24"/>
                </a:lnTo>
                <a:lnTo>
                  <a:pt x="21" y="24"/>
                </a:lnTo>
                <a:lnTo>
                  <a:pt x="21" y="23"/>
                </a:lnTo>
                <a:lnTo>
                  <a:pt x="21" y="22"/>
                </a:lnTo>
                <a:lnTo>
                  <a:pt x="22" y="20"/>
                </a:lnTo>
                <a:lnTo>
                  <a:pt x="24" y="19"/>
                </a:lnTo>
                <a:lnTo>
                  <a:pt x="24" y="18"/>
                </a:lnTo>
                <a:lnTo>
                  <a:pt x="24" y="17"/>
                </a:lnTo>
                <a:lnTo>
                  <a:pt x="24"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05" name="Line 305">
            <a:extLst>
              <a:ext uri="{FF2B5EF4-FFF2-40B4-BE49-F238E27FC236}">
                <a16:creationId xmlns:a16="http://schemas.microsoft.com/office/drawing/2014/main" id="{203CF921-41A9-5541-A6F9-B2A1C40617D2}"/>
              </a:ext>
            </a:extLst>
          </p:cNvPr>
          <p:cNvSpPr>
            <a:spLocks noChangeShapeType="1"/>
          </p:cNvSpPr>
          <p:nvPr/>
        </p:nvSpPr>
        <p:spPr bwMode="auto">
          <a:xfrm>
            <a:off x="8280400" y="3700464"/>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06" name="Line 306">
            <a:extLst>
              <a:ext uri="{FF2B5EF4-FFF2-40B4-BE49-F238E27FC236}">
                <a16:creationId xmlns:a16="http://schemas.microsoft.com/office/drawing/2014/main" id="{3927C627-9589-B540-84C7-3F49A54BBD2D}"/>
              </a:ext>
            </a:extLst>
          </p:cNvPr>
          <p:cNvSpPr>
            <a:spLocks noChangeShapeType="1"/>
          </p:cNvSpPr>
          <p:nvPr/>
        </p:nvSpPr>
        <p:spPr bwMode="auto">
          <a:xfrm>
            <a:off x="8248650" y="3738564"/>
            <a:ext cx="63500"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07" name="Freeform 307">
            <a:extLst>
              <a:ext uri="{FF2B5EF4-FFF2-40B4-BE49-F238E27FC236}">
                <a16:creationId xmlns:a16="http://schemas.microsoft.com/office/drawing/2014/main" id="{2E5B8CEC-E8C8-6A43-BBCA-6ED65E6C703B}"/>
              </a:ext>
            </a:extLst>
          </p:cNvPr>
          <p:cNvSpPr>
            <a:spLocks/>
          </p:cNvSpPr>
          <p:nvPr/>
        </p:nvSpPr>
        <p:spPr bwMode="auto">
          <a:xfrm>
            <a:off x="7408863" y="3586164"/>
            <a:ext cx="323850" cy="339725"/>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4 h 643"/>
              <a:gd name="T14" fmla="*/ 56 w 614"/>
              <a:gd name="T15" fmla="*/ 614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4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4"/>
                </a:lnTo>
                <a:lnTo>
                  <a:pt x="56" y="614"/>
                </a:lnTo>
                <a:lnTo>
                  <a:pt x="56" y="195"/>
                </a:lnTo>
                <a:lnTo>
                  <a:pt x="558"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08" name="Rectangle 308">
            <a:extLst>
              <a:ext uri="{FF2B5EF4-FFF2-40B4-BE49-F238E27FC236}">
                <a16:creationId xmlns:a16="http://schemas.microsoft.com/office/drawing/2014/main" id="{F66CF8F0-AFBA-8C4C-B2CD-410EA9D01BE0}"/>
              </a:ext>
            </a:extLst>
          </p:cNvPr>
          <p:cNvSpPr>
            <a:spLocks noChangeArrowheads="1"/>
          </p:cNvSpPr>
          <p:nvPr/>
        </p:nvSpPr>
        <p:spPr bwMode="auto">
          <a:xfrm>
            <a:off x="7439025" y="3689351"/>
            <a:ext cx="268288"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09" name="Rectangle 309">
            <a:extLst>
              <a:ext uri="{FF2B5EF4-FFF2-40B4-BE49-F238E27FC236}">
                <a16:creationId xmlns:a16="http://schemas.microsoft.com/office/drawing/2014/main" id="{7AD1C579-2833-3343-8EA2-87688B341DF7}"/>
              </a:ext>
            </a:extLst>
          </p:cNvPr>
          <p:cNvSpPr>
            <a:spLocks noChangeArrowheads="1"/>
          </p:cNvSpPr>
          <p:nvPr/>
        </p:nvSpPr>
        <p:spPr bwMode="auto">
          <a:xfrm>
            <a:off x="7481888" y="3741739"/>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10" name="Rectangle 310">
            <a:extLst>
              <a:ext uri="{FF2B5EF4-FFF2-40B4-BE49-F238E27FC236}">
                <a16:creationId xmlns:a16="http://schemas.microsoft.com/office/drawing/2014/main" id="{80F05133-DB5E-4E40-9B57-CE9B279EE41C}"/>
              </a:ext>
            </a:extLst>
          </p:cNvPr>
          <p:cNvSpPr>
            <a:spLocks noChangeArrowheads="1"/>
          </p:cNvSpPr>
          <p:nvPr/>
        </p:nvSpPr>
        <p:spPr bwMode="auto">
          <a:xfrm>
            <a:off x="7616825" y="3736976"/>
            <a:ext cx="65088"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11" name="Freeform 311">
            <a:extLst>
              <a:ext uri="{FF2B5EF4-FFF2-40B4-BE49-F238E27FC236}">
                <a16:creationId xmlns:a16="http://schemas.microsoft.com/office/drawing/2014/main" id="{31CA6B5E-8A6F-1A45-9831-7B381A518B52}"/>
              </a:ext>
            </a:extLst>
          </p:cNvPr>
          <p:cNvSpPr>
            <a:spLocks/>
          </p:cNvSpPr>
          <p:nvPr/>
        </p:nvSpPr>
        <p:spPr bwMode="auto">
          <a:xfrm>
            <a:off x="7550150" y="3819525"/>
            <a:ext cx="12700" cy="14288"/>
          </a:xfrm>
          <a:custGeom>
            <a:avLst/>
            <a:gdLst>
              <a:gd name="T0" fmla="*/ 23 w 23"/>
              <a:gd name="T1" fmla="*/ 13 h 29"/>
              <a:gd name="T2" fmla="*/ 23 w 23"/>
              <a:gd name="T3" fmla="*/ 11 h 29"/>
              <a:gd name="T4" fmla="*/ 21 w 23"/>
              <a:gd name="T5" fmla="*/ 8 h 29"/>
              <a:gd name="T6" fmla="*/ 21 w 23"/>
              <a:gd name="T7" fmla="*/ 6 h 29"/>
              <a:gd name="T8" fmla="*/ 18 w 23"/>
              <a:gd name="T9" fmla="*/ 4 h 29"/>
              <a:gd name="T10" fmla="*/ 17 w 23"/>
              <a:gd name="T11" fmla="*/ 2 h 29"/>
              <a:gd name="T12" fmla="*/ 16 w 23"/>
              <a:gd name="T13" fmla="*/ 1 h 29"/>
              <a:gd name="T14" fmla="*/ 14 w 23"/>
              <a:gd name="T15" fmla="*/ 0 h 29"/>
              <a:gd name="T16" fmla="*/ 12 w 23"/>
              <a:gd name="T17" fmla="*/ 0 h 29"/>
              <a:gd name="T18" fmla="*/ 10 w 23"/>
              <a:gd name="T19" fmla="*/ 0 h 29"/>
              <a:gd name="T20" fmla="*/ 9 w 23"/>
              <a:gd name="T21" fmla="*/ 0 h 29"/>
              <a:gd name="T22" fmla="*/ 6 w 23"/>
              <a:gd name="T23" fmla="*/ 1 h 29"/>
              <a:gd name="T24" fmla="*/ 4 w 23"/>
              <a:gd name="T25" fmla="*/ 2 h 29"/>
              <a:gd name="T26" fmla="*/ 3 w 23"/>
              <a:gd name="T27" fmla="*/ 4 h 29"/>
              <a:gd name="T28" fmla="*/ 1 w 23"/>
              <a:gd name="T29" fmla="*/ 6 h 29"/>
              <a:gd name="T30" fmla="*/ 1 w 23"/>
              <a:gd name="T31" fmla="*/ 8 h 29"/>
              <a:gd name="T32" fmla="*/ 0 w 23"/>
              <a:gd name="T33" fmla="*/ 11 h 29"/>
              <a:gd name="T34" fmla="*/ 0 w 23"/>
              <a:gd name="T35" fmla="*/ 13 h 29"/>
              <a:gd name="T36" fmla="*/ 0 w 23"/>
              <a:gd name="T37" fmla="*/ 16 h 29"/>
              <a:gd name="T38" fmla="*/ 0 w 23"/>
              <a:gd name="T39" fmla="*/ 18 h 29"/>
              <a:gd name="T40" fmla="*/ 1 w 23"/>
              <a:gd name="T41" fmla="*/ 22 h 29"/>
              <a:gd name="T42" fmla="*/ 1 w 23"/>
              <a:gd name="T43" fmla="*/ 24 h 29"/>
              <a:gd name="T44" fmla="*/ 3 w 23"/>
              <a:gd name="T45" fmla="*/ 25 h 29"/>
              <a:gd name="T46" fmla="*/ 4 w 23"/>
              <a:gd name="T47" fmla="*/ 27 h 29"/>
              <a:gd name="T48" fmla="*/ 6 w 23"/>
              <a:gd name="T49" fmla="*/ 28 h 29"/>
              <a:gd name="T50" fmla="*/ 9 w 23"/>
              <a:gd name="T51" fmla="*/ 29 h 29"/>
              <a:gd name="T52" fmla="*/ 10 w 23"/>
              <a:gd name="T53" fmla="*/ 29 h 29"/>
              <a:gd name="T54" fmla="*/ 12 w 23"/>
              <a:gd name="T55" fmla="*/ 29 h 29"/>
              <a:gd name="T56" fmla="*/ 14 w 23"/>
              <a:gd name="T57" fmla="*/ 29 h 29"/>
              <a:gd name="T58" fmla="*/ 16 w 23"/>
              <a:gd name="T59" fmla="*/ 28 h 29"/>
              <a:gd name="T60" fmla="*/ 17 w 23"/>
              <a:gd name="T61" fmla="*/ 27 h 29"/>
              <a:gd name="T62" fmla="*/ 18 w 23"/>
              <a:gd name="T63" fmla="*/ 25 h 29"/>
              <a:gd name="T64" fmla="*/ 21 w 23"/>
              <a:gd name="T65" fmla="*/ 24 h 29"/>
              <a:gd name="T66" fmla="*/ 21 w 23"/>
              <a:gd name="T67" fmla="*/ 22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10"/>
                </a:lnTo>
                <a:lnTo>
                  <a:pt x="21" y="8"/>
                </a:lnTo>
                <a:lnTo>
                  <a:pt x="21" y="7"/>
                </a:lnTo>
                <a:lnTo>
                  <a:pt x="21" y="6"/>
                </a:lnTo>
                <a:lnTo>
                  <a:pt x="20" y="5"/>
                </a:lnTo>
                <a:lnTo>
                  <a:pt x="18" y="4"/>
                </a:lnTo>
                <a:lnTo>
                  <a:pt x="18" y="3"/>
                </a:lnTo>
                <a:lnTo>
                  <a:pt x="17" y="2"/>
                </a:lnTo>
                <a:lnTo>
                  <a:pt x="16" y="1"/>
                </a:lnTo>
                <a:lnTo>
                  <a:pt x="15" y="0"/>
                </a:lnTo>
                <a:lnTo>
                  <a:pt x="14" y="0"/>
                </a:lnTo>
                <a:lnTo>
                  <a:pt x="13" y="0"/>
                </a:lnTo>
                <a:lnTo>
                  <a:pt x="12" y="0"/>
                </a:lnTo>
                <a:lnTo>
                  <a:pt x="11" y="0"/>
                </a:lnTo>
                <a:lnTo>
                  <a:pt x="10" y="0"/>
                </a:lnTo>
                <a:lnTo>
                  <a:pt x="9" y="0"/>
                </a:lnTo>
                <a:lnTo>
                  <a:pt x="7" y="0"/>
                </a:lnTo>
                <a:lnTo>
                  <a:pt x="6" y="1"/>
                </a:lnTo>
                <a:lnTo>
                  <a:pt x="5" y="1"/>
                </a:lnTo>
                <a:lnTo>
                  <a:pt x="4" y="2"/>
                </a:lnTo>
                <a:lnTo>
                  <a:pt x="3" y="3"/>
                </a:lnTo>
                <a:lnTo>
                  <a:pt x="3" y="4"/>
                </a:lnTo>
                <a:lnTo>
                  <a:pt x="2" y="5"/>
                </a:lnTo>
                <a:lnTo>
                  <a:pt x="1" y="6"/>
                </a:lnTo>
                <a:lnTo>
                  <a:pt x="1" y="7"/>
                </a:lnTo>
                <a:lnTo>
                  <a:pt x="1" y="8"/>
                </a:lnTo>
                <a:lnTo>
                  <a:pt x="0" y="10"/>
                </a:lnTo>
                <a:lnTo>
                  <a:pt x="0" y="11"/>
                </a:lnTo>
                <a:lnTo>
                  <a:pt x="0" y="12"/>
                </a:lnTo>
                <a:lnTo>
                  <a:pt x="0" y="13"/>
                </a:lnTo>
                <a:lnTo>
                  <a:pt x="0" y="14"/>
                </a:lnTo>
                <a:lnTo>
                  <a:pt x="0" y="16"/>
                </a:lnTo>
                <a:lnTo>
                  <a:pt x="0" y="17"/>
                </a:lnTo>
                <a:lnTo>
                  <a:pt x="0" y="18"/>
                </a:lnTo>
                <a:lnTo>
                  <a:pt x="0" y="19"/>
                </a:lnTo>
                <a:lnTo>
                  <a:pt x="1" y="22"/>
                </a:lnTo>
                <a:lnTo>
                  <a:pt x="1" y="23"/>
                </a:lnTo>
                <a:lnTo>
                  <a:pt x="1" y="24"/>
                </a:lnTo>
                <a:lnTo>
                  <a:pt x="2" y="24"/>
                </a:lnTo>
                <a:lnTo>
                  <a:pt x="3" y="25"/>
                </a:lnTo>
                <a:lnTo>
                  <a:pt x="3" y="26"/>
                </a:lnTo>
                <a:lnTo>
                  <a:pt x="4" y="27"/>
                </a:lnTo>
                <a:lnTo>
                  <a:pt x="5" y="28"/>
                </a:lnTo>
                <a:lnTo>
                  <a:pt x="6" y="28"/>
                </a:lnTo>
                <a:lnTo>
                  <a:pt x="7" y="29"/>
                </a:lnTo>
                <a:lnTo>
                  <a:pt x="9" y="29"/>
                </a:lnTo>
                <a:lnTo>
                  <a:pt x="10" y="29"/>
                </a:lnTo>
                <a:lnTo>
                  <a:pt x="11" y="29"/>
                </a:lnTo>
                <a:lnTo>
                  <a:pt x="12" y="29"/>
                </a:lnTo>
                <a:lnTo>
                  <a:pt x="13" y="29"/>
                </a:lnTo>
                <a:lnTo>
                  <a:pt x="14" y="29"/>
                </a:lnTo>
                <a:lnTo>
                  <a:pt x="15" y="29"/>
                </a:lnTo>
                <a:lnTo>
                  <a:pt x="16" y="28"/>
                </a:lnTo>
                <a:lnTo>
                  <a:pt x="17" y="27"/>
                </a:lnTo>
                <a:lnTo>
                  <a:pt x="18" y="26"/>
                </a:lnTo>
                <a:lnTo>
                  <a:pt x="18" y="25"/>
                </a:lnTo>
                <a:lnTo>
                  <a:pt x="20" y="24"/>
                </a:lnTo>
                <a:lnTo>
                  <a:pt x="21" y="24"/>
                </a:lnTo>
                <a:lnTo>
                  <a:pt x="21" y="23"/>
                </a:lnTo>
                <a:lnTo>
                  <a:pt x="21" y="22"/>
                </a:lnTo>
                <a:lnTo>
                  <a:pt x="22" y="19"/>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12" name="Line 312">
            <a:extLst>
              <a:ext uri="{FF2B5EF4-FFF2-40B4-BE49-F238E27FC236}">
                <a16:creationId xmlns:a16="http://schemas.microsoft.com/office/drawing/2014/main" id="{9932ABED-4FFF-E64C-AA0F-EE41D038D687}"/>
              </a:ext>
            </a:extLst>
          </p:cNvPr>
          <p:cNvSpPr>
            <a:spLocks noChangeShapeType="1"/>
          </p:cNvSpPr>
          <p:nvPr/>
        </p:nvSpPr>
        <p:spPr bwMode="auto">
          <a:xfrm>
            <a:off x="7648575" y="3738564"/>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13" name="Line 313">
            <a:extLst>
              <a:ext uri="{FF2B5EF4-FFF2-40B4-BE49-F238E27FC236}">
                <a16:creationId xmlns:a16="http://schemas.microsoft.com/office/drawing/2014/main" id="{8A51C308-0DBA-9348-B231-877D14E01E60}"/>
              </a:ext>
            </a:extLst>
          </p:cNvPr>
          <p:cNvSpPr>
            <a:spLocks noChangeShapeType="1"/>
          </p:cNvSpPr>
          <p:nvPr/>
        </p:nvSpPr>
        <p:spPr bwMode="auto">
          <a:xfrm>
            <a:off x="7616826" y="3775075"/>
            <a:ext cx="61913"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14" name="Freeform 314">
            <a:extLst>
              <a:ext uri="{FF2B5EF4-FFF2-40B4-BE49-F238E27FC236}">
                <a16:creationId xmlns:a16="http://schemas.microsoft.com/office/drawing/2014/main" id="{711F353D-01F5-3B47-A41F-9C62F4382B7F}"/>
              </a:ext>
            </a:extLst>
          </p:cNvPr>
          <p:cNvSpPr>
            <a:spLocks/>
          </p:cNvSpPr>
          <p:nvPr/>
        </p:nvSpPr>
        <p:spPr bwMode="auto">
          <a:xfrm>
            <a:off x="6815138" y="3775076"/>
            <a:ext cx="323850" cy="339725"/>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15" name="Rectangle 315">
            <a:extLst>
              <a:ext uri="{FF2B5EF4-FFF2-40B4-BE49-F238E27FC236}">
                <a16:creationId xmlns:a16="http://schemas.microsoft.com/office/drawing/2014/main" id="{1C7A014A-D981-0F49-8A35-F26675C06723}"/>
              </a:ext>
            </a:extLst>
          </p:cNvPr>
          <p:cNvSpPr>
            <a:spLocks noChangeArrowheads="1"/>
          </p:cNvSpPr>
          <p:nvPr/>
        </p:nvSpPr>
        <p:spPr bwMode="auto">
          <a:xfrm>
            <a:off x="6845300" y="3878263"/>
            <a:ext cx="268288"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16" name="Rectangle 316">
            <a:extLst>
              <a:ext uri="{FF2B5EF4-FFF2-40B4-BE49-F238E27FC236}">
                <a16:creationId xmlns:a16="http://schemas.microsoft.com/office/drawing/2014/main" id="{7DCAD4BA-00C9-8646-BC89-A6969B028097}"/>
              </a:ext>
            </a:extLst>
          </p:cNvPr>
          <p:cNvSpPr>
            <a:spLocks noChangeArrowheads="1"/>
          </p:cNvSpPr>
          <p:nvPr/>
        </p:nvSpPr>
        <p:spPr bwMode="auto">
          <a:xfrm>
            <a:off x="6888163" y="3932239"/>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17" name="Rectangle 317">
            <a:extLst>
              <a:ext uri="{FF2B5EF4-FFF2-40B4-BE49-F238E27FC236}">
                <a16:creationId xmlns:a16="http://schemas.microsoft.com/office/drawing/2014/main" id="{26648B20-2A8B-1F42-9439-363082ADBCA2}"/>
              </a:ext>
            </a:extLst>
          </p:cNvPr>
          <p:cNvSpPr>
            <a:spLocks noChangeArrowheads="1"/>
          </p:cNvSpPr>
          <p:nvPr/>
        </p:nvSpPr>
        <p:spPr bwMode="auto">
          <a:xfrm>
            <a:off x="7023100" y="3927476"/>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18" name="Freeform 318">
            <a:extLst>
              <a:ext uri="{FF2B5EF4-FFF2-40B4-BE49-F238E27FC236}">
                <a16:creationId xmlns:a16="http://schemas.microsoft.com/office/drawing/2014/main" id="{2F5829F7-C43E-7C4B-BA97-DCF379C6FD71}"/>
              </a:ext>
            </a:extLst>
          </p:cNvPr>
          <p:cNvSpPr>
            <a:spLocks/>
          </p:cNvSpPr>
          <p:nvPr/>
        </p:nvSpPr>
        <p:spPr bwMode="auto">
          <a:xfrm>
            <a:off x="6956425" y="4008439"/>
            <a:ext cx="12700" cy="15875"/>
          </a:xfrm>
          <a:custGeom>
            <a:avLst/>
            <a:gdLst>
              <a:gd name="T0" fmla="*/ 24 w 24"/>
              <a:gd name="T1" fmla="*/ 13 h 29"/>
              <a:gd name="T2" fmla="*/ 24 w 24"/>
              <a:gd name="T3" fmla="*/ 11 h 29"/>
              <a:gd name="T4" fmla="*/ 21 w 24"/>
              <a:gd name="T5" fmla="*/ 8 h 29"/>
              <a:gd name="T6" fmla="*/ 21 w 24"/>
              <a:gd name="T7" fmla="*/ 6 h 29"/>
              <a:gd name="T8" fmla="*/ 19 w 24"/>
              <a:gd name="T9" fmla="*/ 4 h 29"/>
              <a:gd name="T10" fmla="*/ 18 w 24"/>
              <a:gd name="T11" fmla="*/ 2 h 29"/>
              <a:gd name="T12" fmla="*/ 17 w 24"/>
              <a:gd name="T13" fmla="*/ 1 h 29"/>
              <a:gd name="T14" fmla="*/ 15 w 24"/>
              <a:gd name="T15" fmla="*/ 0 h 29"/>
              <a:gd name="T16" fmla="*/ 13 w 24"/>
              <a:gd name="T17" fmla="*/ 0 h 29"/>
              <a:gd name="T18" fmla="*/ 10 w 24"/>
              <a:gd name="T19" fmla="*/ 0 h 29"/>
              <a:gd name="T20" fmla="*/ 9 w 24"/>
              <a:gd name="T21" fmla="*/ 0 h 29"/>
              <a:gd name="T22" fmla="*/ 7 w 24"/>
              <a:gd name="T23" fmla="*/ 1 h 29"/>
              <a:gd name="T24" fmla="*/ 5 w 24"/>
              <a:gd name="T25" fmla="*/ 2 h 29"/>
              <a:gd name="T26" fmla="*/ 4 w 24"/>
              <a:gd name="T27" fmla="*/ 4 h 29"/>
              <a:gd name="T28" fmla="*/ 2 w 24"/>
              <a:gd name="T29" fmla="*/ 6 h 29"/>
              <a:gd name="T30" fmla="*/ 2 w 24"/>
              <a:gd name="T31" fmla="*/ 8 h 29"/>
              <a:gd name="T32" fmla="*/ 0 w 24"/>
              <a:gd name="T33" fmla="*/ 11 h 29"/>
              <a:gd name="T34" fmla="*/ 0 w 24"/>
              <a:gd name="T35" fmla="*/ 13 h 29"/>
              <a:gd name="T36" fmla="*/ 0 w 24"/>
              <a:gd name="T37" fmla="*/ 16 h 29"/>
              <a:gd name="T38" fmla="*/ 0 w 24"/>
              <a:gd name="T39" fmla="*/ 18 h 29"/>
              <a:gd name="T40" fmla="*/ 2 w 24"/>
              <a:gd name="T41" fmla="*/ 21 h 29"/>
              <a:gd name="T42" fmla="*/ 2 w 24"/>
              <a:gd name="T43" fmla="*/ 24 h 29"/>
              <a:gd name="T44" fmla="*/ 4 w 24"/>
              <a:gd name="T45" fmla="*/ 25 h 29"/>
              <a:gd name="T46" fmla="*/ 5 w 24"/>
              <a:gd name="T47" fmla="*/ 27 h 29"/>
              <a:gd name="T48" fmla="*/ 7 w 24"/>
              <a:gd name="T49" fmla="*/ 28 h 29"/>
              <a:gd name="T50" fmla="*/ 9 w 24"/>
              <a:gd name="T51" fmla="*/ 29 h 29"/>
              <a:gd name="T52" fmla="*/ 10 w 24"/>
              <a:gd name="T53" fmla="*/ 29 h 29"/>
              <a:gd name="T54" fmla="*/ 13 w 24"/>
              <a:gd name="T55" fmla="*/ 29 h 29"/>
              <a:gd name="T56" fmla="*/ 15 w 24"/>
              <a:gd name="T57" fmla="*/ 29 h 29"/>
              <a:gd name="T58" fmla="*/ 17 w 24"/>
              <a:gd name="T59" fmla="*/ 28 h 29"/>
              <a:gd name="T60" fmla="*/ 18 w 24"/>
              <a:gd name="T61" fmla="*/ 27 h 29"/>
              <a:gd name="T62" fmla="*/ 19 w 24"/>
              <a:gd name="T63" fmla="*/ 25 h 29"/>
              <a:gd name="T64" fmla="*/ 21 w 24"/>
              <a:gd name="T65" fmla="*/ 24 h 29"/>
              <a:gd name="T66" fmla="*/ 21 w 24"/>
              <a:gd name="T67" fmla="*/ 21 h 29"/>
              <a:gd name="T68" fmla="*/ 24 w 24"/>
              <a:gd name="T69" fmla="*/ 18 h 29"/>
              <a:gd name="T70" fmla="*/ 24 w 24"/>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4"/>
              <a:gd name="T109" fmla="*/ 0 h 29"/>
              <a:gd name="T110" fmla="*/ 24 w 24"/>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4" h="29">
                <a:moveTo>
                  <a:pt x="24" y="14"/>
                </a:moveTo>
                <a:lnTo>
                  <a:pt x="24" y="13"/>
                </a:lnTo>
                <a:lnTo>
                  <a:pt x="24" y="12"/>
                </a:lnTo>
                <a:lnTo>
                  <a:pt x="24" y="11"/>
                </a:lnTo>
                <a:lnTo>
                  <a:pt x="22" y="9"/>
                </a:lnTo>
                <a:lnTo>
                  <a:pt x="21" y="8"/>
                </a:lnTo>
                <a:lnTo>
                  <a:pt x="21" y="7"/>
                </a:lnTo>
                <a:lnTo>
                  <a:pt x="21" y="6"/>
                </a:lnTo>
                <a:lnTo>
                  <a:pt x="20" y="5"/>
                </a:lnTo>
                <a:lnTo>
                  <a:pt x="19" y="4"/>
                </a:lnTo>
                <a:lnTo>
                  <a:pt x="19" y="3"/>
                </a:lnTo>
                <a:lnTo>
                  <a:pt x="18" y="2"/>
                </a:lnTo>
                <a:lnTo>
                  <a:pt x="17" y="1"/>
                </a:lnTo>
                <a:lnTo>
                  <a:pt x="16" y="0"/>
                </a:lnTo>
                <a:lnTo>
                  <a:pt x="15" y="0"/>
                </a:lnTo>
                <a:lnTo>
                  <a:pt x="14" y="0"/>
                </a:lnTo>
                <a:lnTo>
                  <a:pt x="13" y="0"/>
                </a:lnTo>
                <a:lnTo>
                  <a:pt x="11" y="0"/>
                </a:lnTo>
                <a:lnTo>
                  <a:pt x="10" y="0"/>
                </a:lnTo>
                <a:lnTo>
                  <a:pt x="9" y="0"/>
                </a:lnTo>
                <a:lnTo>
                  <a:pt x="8" y="0"/>
                </a:lnTo>
                <a:lnTo>
                  <a:pt x="7" y="1"/>
                </a:lnTo>
                <a:lnTo>
                  <a:pt x="6" y="1"/>
                </a:lnTo>
                <a:lnTo>
                  <a:pt x="5" y="2"/>
                </a:lnTo>
                <a:lnTo>
                  <a:pt x="4" y="3"/>
                </a:lnTo>
                <a:lnTo>
                  <a:pt x="4" y="4"/>
                </a:lnTo>
                <a:lnTo>
                  <a:pt x="3" y="5"/>
                </a:lnTo>
                <a:lnTo>
                  <a:pt x="2" y="6"/>
                </a:lnTo>
                <a:lnTo>
                  <a:pt x="2" y="7"/>
                </a:lnTo>
                <a:lnTo>
                  <a:pt x="2" y="8"/>
                </a:lnTo>
                <a:lnTo>
                  <a:pt x="0" y="9"/>
                </a:lnTo>
                <a:lnTo>
                  <a:pt x="0" y="11"/>
                </a:lnTo>
                <a:lnTo>
                  <a:pt x="0" y="12"/>
                </a:lnTo>
                <a:lnTo>
                  <a:pt x="0" y="13"/>
                </a:lnTo>
                <a:lnTo>
                  <a:pt x="0" y="14"/>
                </a:lnTo>
                <a:lnTo>
                  <a:pt x="0" y="16"/>
                </a:lnTo>
                <a:lnTo>
                  <a:pt x="0" y="17"/>
                </a:lnTo>
                <a:lnTo>
                  <a:pt x="0" y="18"/>
                </a:lnTo>
                <a:lnTo>
                  <a:pt x="0" y="19"/>
                </a:lnTo>
                <a:lnTo>
                  <a:pt x="2" y="21"/>
                </a:lnTo>
                <a:lnTo>
                  <a:pt x="2" y="23"/>
                </a:lnTo>
                <a:lnTo>
                  <a:pt x="2" y="24"/>
                </a:lnTo>
                <a:lnTo>
                  <a:pt x="3" y="24"/>
                </a:lnTo>
                <a:lnTo>
                  <a:pt x="4" y="25"/>
                </a:lnTo>
                <a:lnTo>
                  <a:pt x="4" y="26"/>
                </a:lnTo>
                <a:lnTo>
                  <a:pt x="5" y="27"/>
                </a:lnTo>
                <a:lnTo>
                  <a:pt x="6" y="28"/>
                </a:lnTo>
                <a:lnTo>
                  <a:pt x="7" y="28"/>
                </a:lnTo>
                <a:lnTo>
                  <a:pt x="8" y="29"/>
                </a:lnTo>
                <a:lnTo>
                  <a:pt x="9" y="29"/>
                </a:lnTo>
                <a:lnTo>
                  <a:pt x="10" y="29"/>
                </a:lnTo>
                <a:lnTo>
                  <a:pt x="11" y="29"/>
                </a:lnTo>
                <a:lnTo>
                  <a:pt x="13" y="29"/>
                </a:lnTo>
                <a:lnTo>
                  <a:pt x="14" y="29"/>
                </a:lnTo>
                <a:lnTo>
                  <a:pt x="15" y="29"/>
                </a:lnTo>
                <a:lnTo>
                  <a:pt x="16" y="29"/>
                </a:lnTo>
                <a:lnTo>
                  <a:pt x="17" y="28"/>
                </a:lnTo>
                <a:lnTo>
                  <a:pt x="18" y="27"/>
                </a:lnTo>
                <a:lnTo>
                  <a:pt x="19" y="26"/>
                </a:lnTo>
                <a:lnTo>
                  <a:pt x="19" y="25"/>
                </a:lnTo>
                <a:lnTo>
                  <a:pt x="20" y="24"/>
                </a:lnTo>
                <a:lnTo>
                  <a:pt x="21" y="24"/>
                </a:lnTo>
                <a:lnTo>
                  <a:pt x="21" y="23"/>
                </a:lnTo>
                <a:lnTo>
                  <a:pt x="21" y="21"/>
                </a:lnTo>
                <a:lnTo>
                  <a:pt x="22" y="19"/>
                </a:lnTo>
                <a:lnTo>
                  <a:pt x="24" y="18"/>
                </a:lnTo>
                <a:lnTo>
                  <a:pt x="24" y="17"/>
                </a:lnTo>
                <a:lnTo>
                  <a:pt x="24" y="16"/>
                </a:lnTo>
                <a:lnTo>
                  <a:pt x="24"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19" name="Line 319">
            <a:extLst>
              <a:ext uri="{FF2B5EF4-FFF2-40B4-BE49-F238E27FC236}">
                <a16:creationId xmlns:a16="http://schemas.microsoft.com/office/drawing/2014/main" id="{EE5BB618-1C96-2349-8101-B98B70F683EC}"/>
              </a:ext>
            </a:extLst>
          </p:cNvPr>
          <p:cNvSpPr>
            <a:spLocks noChangeShapeType="1"/>
          </p:cNvSpPr>
          <p:nvPr/>
        </p:nvSpPr>
        <p:spPr bwMode="auto">
          <a:xfrm>
            <a:off x="7054850" y="3927476"/>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20" name="Line 320">
            <a:extLst>
              <a:ext uri="{FF2B5EF4-FFF2-40B4-BE49-F238E27FC236}">
                <a16:creationId xmlns:a16="http://schemas.microsoft.com/office/drawing/2014/main" id="{9ED7C0EE-427A-ED40-8B88-80B5A0749B7A}"/>
              </a:ext>
            </a:extLst>
          </p:cNvPr>
          <p:cNvSpPr>
            <a:spLocks noChangeShapeType="1"/>
          </p:cNvSpPr>
          <p:nvPr/>
        </p:nvSpPr>
        <p:spPr bwMode="auto">
          <a:xfrm>
            <a:off x="7023101" y="3965575"/>
            <a:ext cx="61913"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21" name="Freeform 321">
            <a:extLst>
              <a:ext uri="{FF2B5EF4-FFF2-40B4-BE49-F238E27FC236}">
                <a16:creationId xmlns:a16="http://schemas.microsoft.com/office/drawing/2014/main" id="{E707694B-AD3B-1647-9B3B-C34B06C0FF02}"/>
              </a:ext>
            </a:extLst>
          </p:cNvPr>
          <p:cNvSpPr>
            <a:spLocks/>
          </p:cNvSpPr>
          <p:nvPr/>
        </p:nvSpPr>
        <p:spPr bwMode="auto">
          <a:xfrm>
            <a:off x="6624639" y="5316539"/>
            <a:ext cx="325437" cy="339725"/>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5 h 643"/>
              <a:gd name="T14" fmla="*/ 56 w 614"/>
              <a:gd name="T15" fmla="*/ 615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5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5"/>
                </a:lnTo>
                <a:lnTo>
                  <a:pt x="56" y="615"/>
                </a:lnTo>
                <a:lnTo>
                  <a:pt x="56" y="195"/>
                </a:lnTo>
                <a:lnTo>
                  <a:pt x="558" y="195"/>
                </a:lnTo>
                <a:lnTo>
                  <a:pt x="587" y="195"/>
                </a:lnTo>
                <a:lnTo>
                  <a:pt x="587" y="643"/>
                </a:lnTo>
                <a:lnTo>
                  <a:pt x="56" y="643"/>
                </a:lnTo>
                <a:lnTo>
                  <a:pt x="56" y="615"/>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22" name="Rectangle 322">
            <a:extLst>
              <a:ext uri="{FF2B5EF4-FFF2-40B4-BE49-F238E27FC236}">
                <a16:creationId xmlns:a16="http://schemas.microsoft.com/office/drawing/2014/main" id="{83FF62FD-10BF-C942-99F6-4DA3142D8550}"/>
              </a:ext>
            </a:extLst>
          </p:cNvPr>
          <p:cNvSpPr>
            <a:spLocks noChangeArrowheads="1"/>
          </p:cNvSpPr>
          <p:nvPr/>
        </p:nvSpPr>
        <p:spPr bwMode="auto">
          <a:xfrm>
            <a:off x="6654801" y="5419725"/>
            <a:ext cx="269875"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23" name="Rectangle 323">
            <a:extLst>
              <a:ext uri="{FF2B5EF4-FFF2-40B4-BE49-F238E27FC236}">
                <a16:creationId xmlns:a16="http://schemas.microsoft.com/office/drawing/2014/main" id="{45A99675-B549-7E42-88F7-FDD52F249F96}"/>
              </a:ext>
            </a:extLst>
          </p:cNvPr>
          <p:cNvSpPr>
            <a:spLocks noChangeArrowheads="1"/>
          </p:cNvSpPr>
          <p:nvPr/>
        </p:nvSpPr>
        <p:spPr bwMode="auto">
          <a:xfrm>
            <a:off x="6697663" y="5472114"/>
            <a:ext cx="95250"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24" name="Rectangle 324">
            <a:extLst>
              <a:ext uri="{FF2B5EF4-FFF2-40B4-BE49-F238E27FC236}">
                <a16:creationId xmlns:a16="http://schemas.microsoft.com/office/drawing/2014/main" id="{D96B1503-518F-8C44-A1A9-A4111BCD98A0}"/>
              </a:ext>
            </a:extLst>
          </p:cNvPr>
          <p:cNvSpPr>
            <a:spLocks noChangeArrowheads="1"/>
          </p:cNvSpPr>
          <p:nvPr/>
        </p:nvSpPr>
        <p:spPr bwMode="auto">
          <a:xfrm>
            <a:off x="6834188" y="5468939"/>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25" name="Freeform 325">
            <a:extLst>
              <a:ext uri="{FF2B5EF4-FFF2-40B4-BE49-F238E27FC236}">
                <a16:creationId xmlns:a16="http://schemas.microsoft.com/office/drawing/2014/main" id="{82693157-CC1D-7943-8BD8-EB1BB85EAAC2}"/>
              </a:ext>
            </a:extLst>
          </p:cNvPr>
          <p:cNvSpPr>
            <a:spLocks/>
          </p:cNvSpPr>
          <p:nvPr/>
        </p:nvSpPr>
        <p:spPr bwMode="auto">
          <a:xfrm>
            <a:off x="6767513" y="5549901"/>
            <a:ext cx="12700" cy="15875"/>
          </a:xfrm>
          <a:custGeom>
            <a:avLst/>
            <a:gdLst>
              <a:gd name="T0" fmla="*/ 23 w 23"/>
              <a:gd name="T1" fmla="*/ 13 h 30"/>
              <a:gd name="T2" fmla="*/ 23 w 23"/>
              <a:gd name="T3" fmla="*/ 11 h 30"/>
              <a:gd name="T4" fmla="*/ 21 w 23"/>
              <a:gd name="T5" fmla="*/ 9 h 30"/>
              <a:gd name="T6" fmla="*/ 21 w 23"/>
              <a:gd name="T7" fmla="*/ 7 h 30"/>
              <a:gd name="T8" fmla="*/ 18 w 23"/>
              <a:gd name="T9" fmla="*/ 5 h 30"/>
              <a:gd name="T10" fmla="*/ 17 w 23"/>
              <a:gd name="T11" fmla="*/ 2 h 30"/>
              <a:gd name="T12" fmla="*/ 16 w 23"/>
              <a:gd name="T13" fmla="*/ 1 h 30"/>
              <a:gd name="T14" fmla="*/ 14 w 23"/>
              <a:gd name="T15" fmla="*/ 0 h 30"/>
              <a:gd name="T16" fmla="*/ 12 w 23"/>
              <a:gd name="T17" fmla="*/ 0 h 30"/>
              <a:gd name="T18" fmla="*/ 10 w 23"/>
              <a:gd name="T19" fmla="*/ 0 h 30"/>
              <a:gd name="T20" fmla="*/ 9 w 23"/>
              <a:gd name="T21" fmla="*/ 0 h 30"/>
              <a:gd name="T22" fmla="*/ 6 w 23"/>
              <a:gd name="T23" fmla="*/ 1 h 30"/>
              <a:gd name="T24" fmla="*/ 4 w 23"/>
              <a:gd name="T25" fmla="*/ 2 h 30"/>
              <a:gd name="T26" fmla="*/ 3 w 23"/>
              <a:gd name="T27" fmla="*/ 5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5 h 30"/>
              <a:gd name="T46" fmla="*/ 4 w 23"/>
              <a:gd name="T47" fmla="*/ 28 h 30"/>
              <a:gd name="T48" fmla="*/ 6 w 23"/>
              <a:gd name="T49" fmla="*/ 29 h 30"/>
              <a:gd name="T50" fmla="*/ 9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6"/>
                </a:lnTo>
                <a:lnTo>
                  <a:pt x="18" y="5"/>
                </a:lnTo>
                <a:lnTo>
                  <a:pt x="18" y="3"/>
                </a:lnTo>
                <a:lnTo>
                  <a:pt x="17" y="2"/>
                </a:lnTo>
                <a:lnTo>
                  <a:pt x="16" y="1"/>
                </a:lnTo>
                <a:lnTo>
                  <a:pt x="15" y="0"/>
                </a:lnTo>
                <a:lnTo>
                  <a:pt x="14" y="0"/>
                </a:lnTo>
                <a:lnTo>
                  <a:pt x="13" y="0"/>
                </a:lnTo>
                <a:lnTo>
                  <a:pt x="12" y="0"/>
                </a:lnTo>
                <a:lnTo>
                  <a:pt x="11" y="0"/>
                </a:lnTo>
                <a:lnTo>
                  <a:pt x="10" y="0"/>
                </a:lnTo>
                <a:lnTo>
                  <a:pt x="9" y="0"/>
                </a:lnTo>
                <a:lnTo>
                  <a:pt x="8" y="0"/>
                </a:lnTo>
                <a:lnTo>
                  <a:pt x="6" y="1"/>
                </a:lnTo>
                <a:lnTo>
                  <a:pt x="5" y="1"/>
                </a:lnTo>
                <a:lnTo>
                  <a:pt x="4" y="2"/>
                </a:lnTo>
                <a:lnTo>
                  <a:pt x="3" y="3"/>
                </a:lnTo>
                <a:lnTo>
                  <a:pt x="3" y="5"/>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3" y="25"/>
                </a:lnTo>
                <a:lnTo>
                  <a:pt x="3" y="27"/>
                </a:lnTo>
                <a:lnTo>
                  <a:pt x="4" y="28"/>
                </a:lnTo>
                <a:lnTo>
                  <a:pt x="5" y="29"/>
                </a:lnTo>
                <a:lnTo>
                  <a:pt x="6" y="29"/>
                </a:lnTo>
                <a:lnTo>
                  <a:pt x="8" y="30"/>
                </a:lnTo>
                <a:lnTo>
                  <a:pt x="9" y="30"/>
                </a:lnTo>
                <a:lnTo>
                  <a:pt x="10" y="30"/>
                </a:lnTo>
                <a:lnTo>
                  <a:pt x="11" y="30"/>
                </a:lnTo>
                <a:lnTo>
                  <a:pt x="12" y="30"/>
                </a:lnTo>
                <a:lnTo>
                  <a:pt x="13" y="30"/>
                </a:lnTo>
                <a:lnTo>
                  <a:pt x="14" y="30"/>
                </a:lnTo>
                <a:lnTo>
                  <a:pt x="15" y="30"/>
                </a:lnTo>
                <a:lnTo>
                  <a:pt x="16" y="29"/>
                </a:lnTo>
                <a:lnTo>
                  <a:pt x="17" y="28"/>
                </a:lnTo>
                <a:lnTo>
                  <a:pt x="18" y="27"/>
                </a:lnTo>
                <a:lnTo>
                  <a:pt x="18" y="25"/>
                </a:lnTo>
                <a:lnTo>
                  <a:pt x="20"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26" name="Line 326">
            <a:extLst>
              <a:ext uri="{FF2B5EF4-FFF2-40B4-BE49-F238E27FC236}">
                <a16:creationId xmlns:a16="http://schemas.microsoft.com/office/drawing/2014/main" id="{9ED02B4A-E51E-744C-833F-893CD4672FC2}"/>
              </a:ext>
            </a:extLst>
          </p:cNvPr>
          <p:cNvSpPr>
            <a:spLocks noChangeShapeType="1"/>
          </p:cNvSpPr>
          <p:nvPr/>
        </p:nvSpPr>
        <p:spPr bwMode="auto">
          <a:xfrm>
            <a:off x="6864350" y="5468939"/>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27" name="Line 327">
            <a:extLst>
              <a:ext uri="{FF2B5EF4-FFF2-40B4-BE49-F238E27FC236}">
                <a16:creationId xmlns:a16="http://schemas.microsoft.com/office/drawing/2014/main" id="{159A9D7C-A6A7-C74B-8419-BD3092D96811}"/>
              </a:ext>
            </a:extLst>
          </p:cNvPr>
          <p:cNvSpPr>
            <a:spLocks noChangeShapeType="1"/>
          </p:cNvSpPr>
          <p:nvPr/>
        </p:nvSpPr>
        <p:spPr bwMode="auto">
          <a:xfrm>
            <a:off x="6834188" y="5507039"/>
            <a:ext cx="61912"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28" name="Freeform 328">
            <a:extLst>
              <a:ext uri="{FF2B5EF4-FFF2-40B4-BE49-F238E27FC236}">
                <a16:creationId xmlns:a16="http://schemas.microsoft.com/office/drawing/2014/main" id="{02CFC419-A973-214C-AFCF-15BECDFEECF5}"/>
              </a:ext>
            </a:extLst>
          </p:cNvPr>
          <p:cNvSpPr>
            <a:spLocks/>
          </p:cNvSpPr>
          <p:nvPr/>
        </p:nvSpPr>
        <p:spPr bwMode="auto">
          <a:xfrm>
            <a:off x="6904038" y="5897563"/>
            <a:ext cx="323850" cy="341312"/>
          </a:xfrm>
          <a:custGeom>
            <a:avLst/>
            <a:gdLst>
              <a:gd name="T0" fmla="*/ 55 w 614"/>
              <a:gd name="T1" fmla="*/ 195 h 643"/>
              <a:gd name="T2" fmla="*/ 0 w 614"/>
              <a:gd name="T3" fmla="*/ 195 h 643"/>
              <a:gd name="T4" fmla="*/ 307 w 614"/>
              <a:gd name="T5" fmla="*/ 0 h 643"/>
              <a:gd name="T6" fmla="*/ 614 w 614"/>
              <a:gd name="T7" fmla="*/ 195 h 643"/>
              <a:gd name="T8" fmla="*/ 586 w 614"/>
              <a:gd name="T9" fmla="*/ 195 h 643"/>
              <a:gd name="T10" fmla="*/ 558 w 614"/>
              <a:gd name="T11" fmla="*/ 195 h 643"/>
              <a:gd name="T12" fmla="*/ 558 w 614"/>
              <a:gd name="T13" fmla="*/ 614 h 643"/>
              <a:gd name="T14" fmla="*/ 55 w 614"/>
              <a:gd name="T15" fmla="*/ 614 h 643"/>
              <a:gd name="T16" fmla="*/ 55 w 614"/>
              <a:gd name="T17" fmla="*/ 195 h 643"/>
              <a:gd name="T18" fmla="*/ 558 w 614"/>
              <a:gd name="T19" fmla="*/ 195 h 643"/>
              <a:gd name="T20" fmla="*/ 586 w 614"/>
              <a:gd name="T21" fmla="*/ 195 h 643"/>
              <a:gd name="T22" fmla="*/ 586 w 614"/>
              <a:gd name="T23" fmla="*/ 643 h 643"/>
              <a:gd name="T24" fmla="*/ 55 w 614"/>
              <a:gd name="T25" fmla="*/ 643 h 643"/>
              <a:gd name="T26" fmla="*/ 55 w 614"/>
              <a:gd name="T27" fmla="*/ 614 h 643"/>
              <a:gd name="T28" fmla="*/ 55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5" y="195"/>
                </a:moveTo>
                <a:lnTo>
                  <a:pt x="0" y="195"/>
                </a:lnTo>
                <a:lnTo>
                  <a:pt x="307" y="0"/>
                </a:lnTo>
                <a:lnTo>
                  <a:pt x="614" y="195"/>
                </a:lnTo>
                <a:lnTo>
                  <a:pt x="586" y="195"/>
                </a:lnTo>
                <a:lnTo>
                  <a:pt x="558" y="195"/>
                </a:lnTo>
                <a:lnTo>
                  <a:pt x="558" y="614"/>
                </a:lnTo>
                <a:lnTo>
                  <a:pt x="55" y="614"/>
                </a:lnTo>
                <a:lnTo>
                  <a:pt x="55" y="195"/>
                </a:lnTo>
                <a:lnTo>
                  <a:pt x="558" y="195"/>
                </a:lnTo>
                <a:lnTo>
                  <a:pt x="586" y="195"/>
                </a:lnTo>
                <a:lnTo>
                  <a:pt x="586" y="643"/>
                </a:lnTo>
                <a:lnTo>
                  <a:pt x="55" y="643"/>
                </a:lnTo>
                <a:lnTo>
                  <a:pt x="55" y="614"/>
                </a:lnTo>
                <a:lnTo>
                  <a:pt x="55"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29" name="Rectangle 329">
            <a:extLst>
              <a:ext uri="{FF2B5EF4-FFF2-40B4-BE49-F238E27FC236}">
                <a16:creationId xmlns:a16="http://schemas.microsoft.com/office/drawing/2014/main" id="{4F41E0CC-A519-5341-9855-89641545BE81}"/>
              </a:ext>
            </a:extLst>
          </p:cNvPr>
          <p:cNvSpPr>
            <a:spLocks noChangeArrowheads="1"/>
          </p:cNvSpPr>
          <p:nvPr/>
        </p:nvSpPr>
        <p:spPr bwMode="auto">
          <a:xfrm>
            <a:off x="6934200" y="6000750"/>
            <a:ext cx="268288"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30" name="Rectangle 330">
            <a:extLst>
              <a:ext uri="{FF2B5EF4-FFF2-40B4-BE49-F238E27FC236}">
                <a16:creationId xmlns:a16="http://schemas.microsoft.com/office/drawing/2014/main" id="{9D7EAF8E-BD1F-5142-8EED-DBA6A7794096}"/>
              </a:ext>
            </a:extLst>
          </p:cNvPr>
          <p:cNvSpPr>
            <a:spLocks noChangeArrowheads="1"/>
          </p:cNvSpPr>
          <p:nvPr/>
        </p:nvSpPr>
        <p:spPr bwMode="auto">
          <a:xfrm>
            <a:off x="6977063" y="6054725"/>
            <a:ext cx="93662"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31" name="Rectangle 331">
            <a:extLst>
              <a:ext uri="{FF2B5EF4-FFF2-40B4-BE49-F238E27FC236}">
                <a16:creationId xmlns:a16="http://schemas.microsoft.com/office/drawing/2014/main" id="{42D378FF-BF3D-C34B-8006-8A6A37A03B7B}"/>
              </a:ext>
            </a:extLst>
          </p:cNvPr>
          <p:cNvSpPr>
            <a:spLocks noChangeArrowheads="1"/>
          </p:cNvSpPr>
          <p:nvPr/>
        </p:nvSpPr>
        <p:spPr bwMode="auto">
          <a:xfrm>
            <a:off x="7112000" y="6049963"/>
            <a:ext cx="63500" cy="80962"/>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32" name="Freeform 332">
            <a:extLst>
              <a:ext uri="{FF2B5EF4-FFF2-40B4-BE49-F238E27FC236}">
                <a16:creationId xmlns:a16="http://schemas.microsoft.com/office/drawing/2014/main" id="{96CEAB4E-797E-3444-9688-3BD3D7939166}"/>
              </a:ext>
            </a:extLst>
          </p:cNvPr>
          <p:cNvSpPr>
            <a:spLocks/>
          </p:cNvSpPr>
          <p:nvPr/>
        </p:nvSpPr>
        <p:spPr bwMode="auto">
          <a:xfrm>
            <a:off x="7045325" y="6130926"/>
            <a:ext cx="12700" cy="15875"/>
          </a:xfrm>
          <a:custGeom>
            <a:avLst/>
            <a:gdLst>
              <a:gd name="T0" fmla="*/ 23 w 23"/>
              <a:gd name="T1" fmla="*/ 13 h 29"/>
              <a:gd name="T2" fmla="*/ 23 w 23"/>
              <a:gd name="T3" fmla="*/ 11 h 29"/>
              <a:gd name="T4" fmla="*/ 21 w 23"/>
              <a:gd name="T5" fmla="*/ 9 h 29"/>
              <a:gd name="T6" fmla="*/ 21 w 23"/>
              <a:gd name="T7" fmla="*/ 6 h 29"/>
              <a:gd name="T8" fmla="*/ 19 w 23"/>
              <a:gd name="T9" fmla="*/ 4 h 29"/>
              <a:gd name="T10" fmla="*/ 18 w 23"/>
              <a:gd name="T11" fmla="*/ 2 h 29"/>
              <a:gd name="T12" fmla="*/ 17 w 23"/>
              <a:gd name="T13" fmla="*/ 1 h 29"/>
              <a:gd name="T14" fmla="*/ 15 w 23"/>
              <a:gd name="T15" fmla="*/ 0 h 29"/>
              <a:gd name="T16" fmla="*/ 12 w 23"/>
              <a:gd name="T17" fmla="*/ 0 h 29"/>
              <a:gd name="T18" fmla="*/ 10 w 23"/>
              <a:gd name="T19" fmla="*/ 0 h 29"/>
              <a:gd name="T20" fmla="*/ 9 w 23"/>
              <a:gd name="T21" fmla="*/ 0 h 29"/>
              <a:gd name="T22" fmla="*/ 7 w 23"/>
              <a:gd name="T23" fmla="*/ 1 h 29"/>
              <a:gd name="T24" fmla="*/ 5 w 23"/>
              <a:gd name="T25" fmla="*/ 2 h 29"/>
              <a:gd name="T26" fmla="*/ 4 w 23"/>
              <a:gd name="T27" fmla="*/ 4 h 29"/>
              <a:gd name="T28" fmla="*/ 1 w 23"/>
              <a:gd name="T29" fmla="*/ 6 h 29"/>
              <a:gd name="T30" fmla="*/ 1 w 23"/>
              <a:gd name="T31" fmla="*/ 9 h 29"/>
              <a:gd name="T32" fmla="*/ 0 w 23"/>
              <a:gd name="T33" fmla="*/ 11 h 29"/>
              <a:gd name="T34" fmla="*/ 0 w 23"/>
              <a:gd name="T35" fmla="*/ 13 h 29"/>
              <a:gd name="T36" fmla="*/ 0 w 23"/>
              <a:gd name="T37" fmla="*/ 16 h 29"/>
              <a:gd name="T38" fmla="*/ 0 w 23"/>
              <a:gd name="T39" fmla="*/ 18 h 29"/>
              <a:gd name="T40" fmla="*/ 1 w 23"/>
              <a:gd name="T41" fmla="*/ 22 h 29"/>
              <a:gd name="T42" fmla="*/ 1 w 23"/>
              <a:gd name="T43" fmla="*/ 24 h 29"/>
              <a:gd name="T44" fmla="*/ 4 w 23"/>
              <a:gd name="T45" fmla="*/ 25 h 29"/>
              <a:gd name="T46" fmla="*/ 5 w 23"/>
              <a:gd name="T47" fmla="*/ 27 h 29"/>
              <a:gd name="T48" fmla="*/ 7 w 23"/>
              <a:gd name="T49" fmla="*/ 28 h 29"/>
              <a:gd name="T50" fmla="*/ 9 w 23"/>
              <a:gd name="T51" fmla="*/ 29 h 29"/>
              <a:gd name="T52" fmla="*/ 10 w 23"/>
              <a:gd name="T53" fmla="*/ 29 h 29"/>
              <a:gd name="T54" fmla="*/ 12 w 23"/>
              <a:gd name="T55" fmla="*/ 29 h 29"/>
              <a:gd name="T56" fmla="*/ 15 w 23"/>
              <a:gd name="T57" fmla="*/ 29 h 29"/>
              <a:gd name="T58" fmla="*/ 17 w 23"/>
              <a:gd name="T59" fmla="*/ 28 h 29"/>
              <a:gd name="T60" fmla="*/ 18 w 23"/>
              <a:gd name="T61" fmla="*/ 27 h 29"/>
              <a:gd name="T62" fmla="*/ 19 w 23"/>
              <a:gd name="T63" fmla="*/ 25 h 29"/>
              <a:gd name="T64" fmla="*/ 21 w 23"/>
              <a:gd name="T65" fmla="*/ 24 h 29"/>
              <a:gd name="T66" fmla="*/ 21 w 23"/>
              <a:gd name="T67" fmla="*/ 22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10"/>
                </a:lnTo>
                <a:lnTo>
                  <a:pt x="21" y="9"/>
                </a:lnTo>
                <a:lnTo>
                  <a:pt x="21" y="7"/>
                </a:lnTo>
                <a:lnTo>
                  <a:pt x="21" y="6"/>
                </a:lnTo>
                <a:lnTo>
                  <a:pt x="20" y="5"/>
                </a:lnTo>
                <a:lnTo>
                  <a:pt x="19" y="4"/>
                </a:lnTo>
                <a:lnTo>
                  <a:pt x="19" y="3"/>
                </a:lnTo>
                <a:lnTo>
                  <a:pt x="18" y="2"/>
                </a:lnTo>
                <a:lnTo>
                  <a:pt x="17" y="1"/>
                </a:lnTo>
                <a:lnTo>
                  <a:pt x="16" y="0"/>
                </a:lnTo>
                <a:lnTo>
                  <a:pt x="15" y="0"/>
                </a:lnTo>
                <a:lnTo>
                  <a:pt x="13" y="0"/>
                </a:lnTo>
                <a:lnTo>
                  <a:pt x="12" y="0"/>
                </a:lnTo>
                <a:lnTo>
                  <a:pt x="11" y="0"/>
                </a:lnTo>
                <a:lnTo>
                  <a:pt x="10" y="0"/>
                </a:lnTo>
                <a:lnTo>
                  <a:pt x="9" y="0"/>
                </a:lnTo>
                <a:lnTo>
                  <a:pt x="8" y="0"/>
                </a:lnTo>
                <a:lnTo>
                  <a:pt x="7" y="1"/>
                </a:lnTo>
                <a:lnTo>
                  <a:pt x="6" y="1"/>
                </a:lnTo>
                <a:lnTo>
                  <a:pt x="5" y="2"/>
                </a:lnTo>
                <a:lnTo>
                  <a:pt x="4" y="3"/>
                </a:lnTo>
                <a:lnTo>
                  <a:pt x="4" y="4"/>
                </a:lnTo>
                <a:lnTo>
                  <a:pt x="3" y="5"/>
                </a:lnTo>
                <a:lnTo>
                  <a:pt x="1" y="6"/>
                </a:lnTo>
                <a:lnTo>
                  <a:pt x="1" y="7"/>
                </a:lnTo>
                <a:lnTo>
                  <a:pt x="1" y="9"/>
                </a:lnTo>
                <a:lnTo>
                  <a:pt x="0" y="10"/>
                </a:lnTo>
                <a:lnTo>
                  <a:pt x="0" y="11"/>
                </a:lnTo>
                <a:lnTo>
                  <a:pt x="0" y="12"/>
                </a:lnTo>
                <a:lnTo>
                  <a:pt x="0" y="13"/>
                </a:lnTo>
                <a:lnTo>
                  <a:pt x="0" y="14"/>
                </a:lnTo>
                <a:lnTo>
                  <a:pt x="0" y="16"/>
                </a:lnTo>
                <a:lnTo>
                  <a:pt x="0" y="17"/>
                </a:lnTo>
                <a:lnTo>
                  <a:pt x="0" y="18"/>
                </a:lnTo>
                <a:lnTo>
                  <a:pt x="0" y="20"/>
                </a:lnTo>
                <a:lnTo>
                  <a:pt x="1" y="22"/>
                </a:lnTo>
                <a:lnTo>
                  <a:pt x="1" y="23"/>
                </a:lnTo>
                <a:lnTo>
                  <a:pt x="1" y="24"/>
                </a:lnTo>
                <a:lnTo>
                  <a:pt x="3" y="24"/>
                </a:lnTo>
                <a:lnTo>
                  <a:pt x="4" y="25"/>
                </a:lnTo>
                <a:lnTo>
                  <a:pt x="4" y="26"/>
                </a:lnTo>
                <a:lnTo>
                  <a:pt x="5" y="27"/>
                </a:lnTo>
                <a:lnTo>
                  <a:pt x="6" y="28"/>
                </a:lnTo>
                <a:lnTo>
                  <a:pt x="7" y="28"/>
                </a:lnTo>
                <a:lnTo>
                  <a:pt x="8" y="29"/>
                </a:lnTo>
                <a:lnTo>
                  <a:pt x="9" y="29"/>
                </a:lnTo>
                <a:lnTo>
                  <a:pt x="10" y="29"/>
                </a:lnTo>
                <a:lnTo>
                  <a:pt x="11" y="29"/>
                </a:lnTo>
                <a:lnTo>
                  <a:pt x="12" y="29"/>
                </a:lnTo>
                <a:lnTo>
                  <a:pt x="13" y="29"/>
                </a:lnTo>
                <a:lnTo>
                  <a:pt x="15" y="29"/>
                </a:lnTo>
                <a:lnTo>
                  <a:pt x="16" y="29"/>
                </a:lnTo>
                <a:lnTo>
                  <a:pt x="17" y="28"/>
                </a:lnTo>
                <a:lnTo>
                  <a:pt x="18" y="27"/>
                </a:lnTo>
                <a:lnTo>
                  <a:pt x="19" y="26"/>
                </a:lnTo>
                <a:lnTo>
                  <a:pt x="19" y="25"/>
                </a:lnTo>
                <a:lnTo>
                  <a:pt x="20" y="24"/>
                </a:lnTo>
                <a:lnTo>
                  <a:pt x="21" y="24"/>
                </a:lnTo>
                <a:lnTo>
                  <a:pt x="21" y="23"/>
                </a:lnTo>
                <a:lnTo>
                  <a:pt x="21" y="22"/>
                </a:lnTo>
                <a:lnTo>
                  <a:pt x="22" y="20"/>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33" name="Line 333">
            <a:extLst>
              <a:ext uri="{FF2B5EF4-FFF2-40B4-BE49-F238E27FC236}">
                <a16:creationId xmlns:a16="http://schemas.microsoft.com/office/drawing/2014/main" id="{1F1A2419-0E30-E341-8231-80EAC67D8EE2}"/>
              </a:ext>
            </a:extLst>
          </p:cNvPr>
          <p:cNvSpPr>
            <a:spLocks noChangeShapeType="1"/>
          </p:cNvSpPr>
          <p:nvPr/>
        </p:nvSpPr>
        <p:spPr bwMode="auto">
          <a:xfrm>
            <a:off x="7143750" y="6049963"/>
            <a:ext cx="1588" cy="80962"/>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34" name="Line 334">
            <a:extLst>
              <a:ext uri="{FF2B5EF4-FFF2-40B4-BE49-F238E27FC236}">
                <a16:creationId xmlns:a16="http://schemas.microsoft.com/office/drawing/2014/main" id="{6523972D-8E28-C24D-BC21-809D75135394}"/>
              </a:ext>
            </a:extLst>
          </p:cNvPr>
          <p:cNvSpPr>
            <a:spLocks noChangeShapeType="1"/>
          </p:cNvSpPr>
          <p:nvPr/>
        </p:nvSpPr>
        <p:spPr bwMode="auto">
          <a:xfrm>
            <a:off x="7112001" y="6088064"/>
            <a:ext cx="61913"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35" name="Freeform 335">
            <a:extLst>
              <a:ext uri="{FF2B5EF4-FFF2-40B4-BE49-F238E27FC236}">
                <a16:creationId xmlns:a16="http://schemas.microsoft.com/office/drawing/2014/main" id="{5EBDC5A7-CEC8-D04B-8180-58D151412231}"/>
              </a:ext>
            </a:extLst>
          </p:cNvPr>
          <p:cNvSpPr>
            <a:spLocks/>
          </p:cNvSpPr>
          <p:nvPr/>
        </p:nvSpPr>
        <p:spPr bwMode="auto">
          <a:xfrm>
            <a:off x="7383464" y="5872164"/>
            <a:ext cx="325437" cy="339725"/>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36" name="Rectangle 336">
            <a:extLst>
              <a:ext uri="{FF2B5EF4-FFF2-40B4-BE49-F238E27FC236}">
                <a16:creationId xmlns:a16="http://schemas.microsoft.com/office/drawing/2014/main" id="{54B3B06C-FB14-3A4C-9846-C1207DCFBBC1}"/>
              </a:ext>
            </a:extLst>
          </p:cNvPr>
          <p:cNvSpPr>
            <a:spLocks noChangeArrowheads="1"/>
          </p:cNvSpPr>
          <p:nvPr/>
        </p:nvSpPr>
        <p:spPr bwMode="auto">
          <a:xfrm>
            <a:off x="7413625" y="5975350"/>
            <a:ext cx="268288"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37" name="Rectangle 337">
            <a:extLst>
              <a:ext uri="{FF2B5EF4-FFF2-40B4-BE49-F238E27FC236}">
                <a16:creationId xmlns:a16="http://schemas.microsoft.com/office/drawing/2014/main" id="{5BCFF194-D115-FE45-BC95-8A30B869A858}"/>
              </a:ext>
            </a:extLst>
          </p:cNvPr>
          <p:cNvSpPr>
            <a:spLocks noChangeArrowheads="1"/>
          </p:cNvSpPr>
          <p:nvPr/>
        </p:nvSpPr>
        <p:spPr bwMode="auto">
          <a:xfrm>
            <a:off x="7456488" y="6029325"/>
            <a:ext cx="93662"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38" name="Rectangle 338">
            <a:extLst>
              <a:ext uri="{FF2B5EF4-FFF2-40B4-BE49-F238E27FC236}">
                <a16:creationId xmlns:a16="http://schemas.microsoft.com/office/drawing/2014/main" id="{9CE7A169-85C0-5A46-92E4-17CE7C54D291}"/>
              </a:ext>
            </a:extLst>
          </p:cNvPr>
          <p:cNvSpPr>
            <a:spLocks noChangeArrowheads="1"/>
          </p:cNvSpPr>
          <p:nvPr/>
        </p:nvSpPr>
        <p:spPr bwMode="auto">
          <a:xfrm>
            <a:off x="7591425" y="6024564"/>
            <a:ext cx="65088"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39" name="Freeform 339">
            <a:extLst>
              <a:ext uri="{FF2B5EF4-FFF2-40B4-BE49-F238E27FC236}">
                <a16:creationId xmlns:a16="http://schemas.microsoft.com/office/drawing/2014/main" id="{D5F9CE61-2687-4040-8A9F-C5F72B74609A}"/>
              </a:ext>
            </a:extLst>
          </p:cNvPr>
          <p:cNvSpPr>
            <a:spLocks/>
          </p:cNvSpPr>
          <p:nvPr/>
        </p:nvSpPr>
        <p:spPr bwMode="auto">
          <a:xfrm>
            <a:off x="7526338" y="6105526"/>
            <a:ext cx="11112" cy="15875"/>
          </a:xfrm>
          <a:custGeom>
            <a:avLst/>
            <a:gdLst>
              <a:gd name="T0" fmla="*/ 23 w 23"/>
              <a:gd name="T1" fmla="*/ 14 h 30"/>
              <a:gd name="T2" fmla="*/ 23 w 23"/>
              <a:gd name="T3" fmla="*/ 11 h 30"/>
              <a:gd name="T4" fmla="*/ 20 w 23"/>
              <a:gd name="T5" fmla="*/ 9 h 30"/>
              <a:gd name="T6" fmla="*/ 20 w 23"/>
              <a:gd name="T7" fmla="*/ 7 h 30"/>
              <a:gd name="T8" fmla="*/ 18 w 23"/>
              <a:gd name="T9" fmla="*/ 5 h 30"/>
              <a:gd name="T10" fmla="*/ 17 w 23"/>
              <a:gd name="T11" fmla="*/ 3 h 30"/>
              <a:gd name="T12" fmla="*/ 16 w 23"/>
              <a:gd name="T13" fmla="*/ 2 h 30"/>
              <a:gd name="T14" fmla="*/ 14 w 23"/>
              <a:gd name="T15" fmla="*/ 0 h 30"/>
              <a:gd name="T16" fmla="*/ 12 w 23"/>
              <a:gd name="T17" fmla="*/ 0 h 30"/>
              <a:gd name="T18" fmla="*/ 9 w 23"/>
              <a:gd name="T19" fmla="*/ 0 h 30"/>
              <a:gd name="T20" fmla="*/ 8 w 23"/>
              <a:gd name="T21" fmla="*/ 0 h 30"/>
              <a:gd name="T22" fmla="*/ 6 w 23"/>
              <a:gd name="T23" fmla="*/ 2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3 w 23"/>
              <a:gd name="T45" fmla="*/ 26 h 30"/>
              <a:gd name="T46" fmla="*/ 4 w 23"/>
              <a:gd name="T47" fmla="*/ 28 h 30"/>
              <a:gd name="T48" fmla="*/ 6 w 23"/>
              <a:gd name="T49" fmla="*/ 29 h 30"/>
              <a:gd name="T50" fmla="*/ 8 w 23"/>
              <a:gd name="T51" fmla="*/ 30 h 30"/>
              <a:gd name="T52" fmla="*/ 9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0 w 23"/>
              <a:gd name="T65" fmla="*/ 25 h 30"/>
              <a:gd name="T66" fmla="*/ 20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3"/>
                </a:lnTo>
                <a:lnTo>
                  <a:pt x="23" y="11"/>
                </a:lnTo>
                <a:lnTo>
                  <a:pt x="22" y="10"/>
                </a:lnTo>
                <a:lnTo>
                  <a:pt x="20" y="9"/>
                </a:lnTo>
                <a:lnTo>
                  <a:pt x="20" y="8"/>
                </a:lnTo>
                <a:lnTo>
                  <a:pt x="20" y="7"/>
                </a:lnTo>
                <a:lnTo>
                  <a:pt x="19" y="6"/>
                </a:lnTo>
                <a:lnTo>
                  <a:pt x="18" y="5"/>
                </a:lnTo>
                <a:lnTo>
                  <a:pt x="18" y="4"/>
                </a:lnTo>
                <a:lnTo>
                  <a:pt x="17" y="3"/>
                </a:lnTo>
                <a:lnTo>
                  <a:pt x="16" y="2"/>
                </a:lnTo>
                <a:lnTo>
                  <a:pt x="15" y="0"/>
                </a:lnTo>
                <a:lnTo>
                  <a:pt x="14" y="0"/>
                </a:lnTo>
                <a:lnTo>
                  <a:pt x="13" y="0"/>
                </a:lnTo>
                <a:lnTo>
                  <a:pt x="12" y="0"/>
                </a:lnTo>
                <a:lnTo>
                  <a:pt x="11" y="0"/>
                </a:lnTo>
                <a:lnTo>
                  <a:pt x="9" y="0"/>
                </a:lnTo>
                <a:lnTo>
                  <a:pt x="8" y="0"/>
                </a:lnTo>
                <a:lnTo>
                  <a:pt x="7" y="0"/>
                </a:lnTo>
                <a:lnTo>
                  <a:pt x="6" y="2"/>
                </a:lnTo>
                <a:lnTo>
                  <a:pt x="5" y="2"/>
                </a:lnTo>
                <a:lnTo>
                  <a:pt x="4" y="3"/>
                </a:lnTo>
                <a:lnTo>
                  <a:pt x="3" y="4"/>
                </a:lnTo>
                <a:lnTo>
                  <a:pt x="3" y="5"/>
                </a:lnTo>
                <a:lnTo>
                  <a:pt x="2" y="6"/>
                </a:lnTo>
                <a:lnTo>
                  <a:pt x="1" y="7"/>
                </a:lnTo>
                <a:lnTo>
                  <a:pt x="1" y="8"/>
                </a:lnTo>
                <a:lnTo>
                  <a:pt x="1" y="9"/>
                </a:lnTo>
                <a:lnTo>
                  <a:pt x="0" y="10"/>
                </a:lnTo>
                <a:lnTo>
                  <a:pt x="0" y="11"/>
                </a:lnTo>
                <a:lnTo>
                  <a:pt x="0" y="13"/>
                </a:lnTo>
                <a:lnTo>
                  <a:pt x="0" y="14"/>
                </a:lnTo>
                <a:lnTo>
                  <a:pt x="0" y="15"/>
                </a:lnTo>
                <a:lnTo>
                  <a:pt x="0" y="17"/>
                </a:lnTo>
                <a:lnTo>
                  <a:pt x="0" y="18"/>
                </a:lnTo>
                <a:lnTo>
                  <a:pt x="0" y="19"/>
                </a:lnTo>
                <a:lnTo>
                  <a:pt x="0" y="20"/>
                </a:lnTo>
                <a:lnTo>
                  <a:pt x="1" y="22"/>
                </a:lnTo>
                <a:lnTo>
                  <a:pt x="1" y="24"/>
                </a:lnTo>
                <a:lnTo>
                  <a:pt x="1" y="25"/>
                </a:lnTo>
                <a:lnTo>
                  <a:pt x="2" y="25"/>
                </a:lnTo>
                <a:lnTo>
                  <a:pt x="3" y="26"/>
                </a:lnTo>
                <a:lnTo>
                  <a:pt x="3" y="27"/>
                </a:lnTo>
                <a:lnTo>
                  <a:pt x="4" y="28"/>
                </a:lnTo>
                <a:lnTo>
                  <a:pt x="5" y="29"/>
                </a:lnTo>
                <a:lnTo>
                  <a:pt x="6" y="29"/>
                </a:lnTo>
                <a:lnTo>
                  <a:pt x="7" y="30"/>
                </a:lnTo>
                <a:lnTo>
                  <a:pt x="8" y="30"/>
                </a:lnTo>
                <a:lnTo>
                  <a:pt x="9" y="30"/>
                </a:lnTo>
                <a:lnTo>
                  <a:pt x="11" y="30"/>
                </a:lnTo>
                <a:lnTo>
                  <a:pt x="12" y="30"/>
                </a:lnTo>
                <a:lnTo>
                  <a:pt x="13" y="30"/>
                </a:lnTo>
                <a:lnTo>
                  <a:pt x="14" y="30"/>
                </a:lnTo>
                <a:lnTo>
                  <a:pt x="15" y="30"/>
                </a:lnTo>
                <a:lnTo>
                  <a:pt x="16" y="29"/>
                </a:lnTo>
                <a:lnTo>
                  <a:pt x="17" y="28"/>
                </a:lnTo>
                <a:lnTo>
                  <a:pt x="18" y="27"/>
                </a:lnTo>
                <a:lnTo>
                  <a:pt x="18" y="26"/>
                </a:lnTo>
                <a:lnTo>
                  <a:pt x="19" y="25"/>
                </a:lnTo>
                <a:lnTo>
                  <a:pt x="20" y="25"/>
                </a:lnTo>
                <a:lnTo>
                  <a:pt x="20" y="24"/>
                </a:lnTo>
                <a:lnTo>
                  <a:pt x="20"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40" name="Line 340">
            <a:extLst>
              <a:ext uri="{FF2B5EF4-FFF2-40B4-BE49-F238E27FC236}">
                <a16:creationId xmlns:a16="http://schemas.microsoft.com/office/drawing/2014/main" id="{20A1347D-4F49-EF4A-AA40-20090CD4690C}"/>
              </a:ext>
            </a:extLst>
          </p:cNvPr>
          <p:cNvSpPr>
            <a:spLocks noChangeShapeType="1"/>
          </p:cNvSpPr>
          <p:nvPr/>
        </p:nvSpPr>
        <p:spPr bwMode="auto">
          <a:xfrm>
            <a:off x="7623175" y="6024564"/>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41" name="Line 341">
            <a:extLst>
              <a:ext uri="{FF2B5EF4-FFF2-40B4-BE49-F238E27FC236}">
                <a16:creationId xmlns:a16="http://schemas.microsoft.com/office/drawing/2014/main" id="{9D8EC10A-3DEE-6B43-A25F-1329B5C99A0E}"/>
              </a:ext>
            </a:extLst>
          </p:cNvPr>
          <p:cNvSpPr>
            <a:spLocks noChangeShapeType="1"/>
          </p:cNvSpPr>
          <p:nvPr/>
        </p:nvSpPr>
        <p:spPr bwMode="auto">
          <a:xfrm>
            <a:off x="7591425" y="6062664"/>
            <a:ext cx="63500"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42" name="Freeform 342">
            <a:extLst>
              <a:ext uri="{FF2B5EF4-FFF2-40B4-BE49-F238E27FC236}">
                <a16:creationId xmlns:a16="http://schemas.microsoft.com/office/drawing/2014/main" id="{9B152A14-C42C-5241-AACA-CF63451DC6C6}"/>
              </a:ext>
            </a:extLst>
          </p:cNvPr>
          <p:cNvSpPr>
            <a:spLocks/>
          </p:cNvSpPr>
          <p:nvPr/>
        </p:nvSpPr>
        <p:spPr bwMode="auto">
          <a:xfrm>
            <a:off x="7824789" y="5607051"/>
            <a:ext cx="325437" cy="341313"/>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4 h 643"/>
              <a:gd name="T14" fmla="*/ 56 w 614"/>
              <a:gd name="T15" fmla="*/ 614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4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4"/>
                </a:lnTo>
                <a:lnTo>
                  <a:pt x="56" y="614"/>
                </a:lnTo>
                <a:lnTo>
                  <a:pt x="56" y="195"/>
                </a:lnTo>
                <a:lnTo>
                  <a:pt x="558"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43" name="Rectangle 343">
            <a:extLst>
              <a:ext uri="{FF2B5EF4-FFF2-40B4-BE49-F238E27FC236}">
                <a16:creationId xmlns:a16="http://schemas.microsoft.com/office/drawing/2014/main" id="{8A8F8C6B-88FA-424F-9324-F580D024204C}"/>
              </a:ext>
            </a:extLst>
          </p:cNvPr>
          <p:cNvSpPr>
            <a:spLocks noChangeArrowheads="1"/>
          </p:cNvSpPr>
          <p:nvPr/>
        </p:nvSpPr>
        <p:spPr bwMode="auto">
          <a:xfrm>
            <a:off x="7854951" y="5710238"/>
            <a:ext cx="269875"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44" name="Rectangle 344">
            <a:extLst>
              <a:ext uri="{FF2B5EF4-FFF2-40B4-BE49-F238E27FC236}">
                <a16:creationId xmlns:a16="http://schemas.microsoft.com/office/drawing/2014/main" id="{7B23BB5E-BEF8-FF46-B9E9-4BD7C0FD3AF0}"/>
              </a:ext>
            </a:extLst>
          </p:cNvPr>
          <p:cNvSpPr>
            <a:spLocks noChangeArrowheads="1"/>
          </p:cNvSpPr>
          <p:nvPr/>
        </p:nvSpPr>
        <p:spPr bwMode="auto">
          <a:xfrm>
            <a:off x="7897813" y="5764214"/>
            <a:ext cx="95250"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45" name="Rectangle 345">
            <a:extLst>
              <a:ext uri="{FF2B5EF4-FFF2-40B4-BE49-F238E27FC236}">
                <a16:creationId xmlns:a16="http://schemas.microsoft.com/office/drawing/2014/main" id="{9D145594-3A26-614F-8F0A-1737057B25CD}"/>
              </a:ext>
            </a:extLst>
          </p:cNvPr>
          <p:cNvSpPr>
            <a:spLocks noChangeArrowheads="1"/>
          </p:cNvSpPr>
          <p:nvPr/>
        </p:nvSpPr>
        <p:spPr bwMode="auto">
          <a:xfrm>
            <a:off x="8034338" y="5759451"/>
            <a:ext cx="63500"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46" name="Freeform 346">
            <a:extLst>
              <a:ext uri="{FF2B5EF4-FFF2-40B4-BE49-F238E27FC236}">
                <a16:creationId xmlns:a16="http://schemas.microsoft.com/office/drawing/2014/main" id="{E3185BB1-4424-3F44-AE1E-AF0B20BA6E4D}"/>
              </a:ext>
            </a:extLst>
          </p:cNvPr>
          <p:cNvSpPr>
            <a:spLocks/>
          </p:cNvSpPr>
          <p:nvPr/>
        </p:nvSpPr>
        <p:spPr bwMode="auto">
          <a:xfrm>
            <a:off x="7967663" y="5840414"/>
            <a:ext cx="12700" cy="15875"/>
          </a:xfrm>
          <a:custGeom>
            <a:avLst/>
            <a:gdLst>
              <a:gd name="T0" fmla="*/ 24 w 24"/>
              <a:gd name="T1" fmla="*/ 13 h 30"/>
              <a:gd name="T2" fmla="*/ 24 w 24"/>
              <a:gd name="T3" fmla="*/ 11 h 30"/>
              <a:gd name="T4" fmla="*/ 21 w 24"/>
              <a:gd name="T5" fmla="*/ 9 h 30"/>
              <a:gd name="T6" fmla="*/ 21 w 24"/>
              <a:gd name="T7" fmla="*/ 7 h 30"/>
              <a:gd name="T8" fmla="*/ 19 w 24"/>
              <a:gd name="T9" fmla="*/ 4 h 30"/>
              <a:gd name="T10" fmla="*/ 18 w 24"/>
              <a:gd name="T11" fmla="*/ 2 h 30"/>
              <a:gd name="T12" fmla="*/ 17 w 24"/>
              <a:gd name="T13" fmla="*/ 1 h 30"/>
              <a:gd name="T14" fmla="*/ 15 w 24"/>
              <a:gd name="T15" fmla="*/ 0 h 30"/>
              <a:gd name="T16" fmla="*/ 13 w 24"/>
              <a:gd name="T17" fmla="*/ 0 h 30"/>
              <a:gd name="T18" fmla="*/ 10 w 24"/>
              <a:gd name="T19" fmla="*/ 0 h 30"/>
              <a:gd name="T20" fmla="*/ 9 w 24"/>
              <a:gd name="T21" fmla="*/ 0 h 30"/>
              <a:gd name="T22" fmla="*/ 7 w 24"/>
              <a:gd name="T23" fmla="*/ 1 h 30"/>
              <a:gd name="T24" fmla="*/ 5 w 24"/>
              <a:gd name="T25" fmla="*/ 2 h 30"/>
              <a:gd name="T26" fmla="*/ 4 w 24"/>
              <a:gd name="T27" fmla="*/ 4 h 30"/>
              <a:gd name="T28" fmla="*/ 2 w 24"/>
              <a:gd name="T29" fmla="*/ 7 h 30"/>
              <a:gd name="T30" fmla="*/ 2 w 24"/>
              <a:gd name="T31" fmla="*/ 9 h 30"/>
              <a:gd name="T32" fmla="*/ 0 w 24"/>
              <a:gd name="T33" fmla="*/ 11 h 30"/>
              <a:gd name="T34" fmla="*/ 0 w 24"/>
              <a:gd name="T35" fmla="*/ 13 h 30"/>
              <a:gd name="T36" fmla="*/ 0 w 24"/>
              <a:gd name="T37" fmla="*/ 16 h 30"/>
              <a:gd name="T38" fmla="*/ 0 w 24"/>
              <a:gd name="T39" fmla="*/ 19 h 30"/>
              <a:gd name="T40" fmla="*/ 2 w 24"/>
              <a:gd name="T41" fmla="*/ 22 h 30"/>
              <a:gd name="T42" fmla="*/ 2 w 24"/>
              <a:gd name="T43" fmla="*/ 24 h 30"/>
              <a:gd name="T44" fmla="*/ 4 w 24"/>
              <a:gd name="T45" fmla="*/ 25 h 30"/>
              <a:gd name="T46" fmla="*/ 5 w 24"/>
              <a:gd name="T47" fmla="*/ 27 h 30"/>
              <a:gd name="T48" fmla="*/ 7 w 24"/>
              <a:gd name="T49" fmla="*/ 29 h 30"/>
              <a:gd name="T50" fmla="*/ 9 w 24"/>
              <a:gd name="T51" fmla="*/ 30 h 30"/>
              <a:gd name="T52" fmla="*/ 10 w 24"/>
              <a:gd name="T53" fmla="*/ 30 h 30"/>
              <a:gd name="T54" fmla="*/ 13 w 24"/>
              <a:gd name="T55" fmla="*/ 30 h 30"/>
              <a:gd name="T56" fmla="*/ 15 w 24"/>
              <a:gd name="T57" fmla="*/ 30 h 30"/>
              <a:gd name="T58" fmla="*/ 17 w 24"/>
              <a:gd name="T59" fmla="*/ 29 h 30"/>
              <a:gd name="T60" fmla="*/ 18 w 24"/>
              <a:gd name="T61" fmla="*/ 27 h 30"/>
              <a:gd name="T62" fmla="*/ 19 w 24"/>
              <a:gd name="T63" fmla="*/ 25 h 30"/>
              <a:gd name="T64" fmla="*/ 21 w 24"/>
              <a:gd name="T65" fmla="*/ 24 h 30"/>
              <a:gd name="T66" fmla="*/ 21 w 24"/>
              <a:gd name="T67" fmla="*/ 22 h 30"/>
              <a:gd name="T68" fmla="*/ 24 w 24"/>
              <a:gd name="T69" fmla="*/ 19 h 30"/>
              <a:gd name="T70" fmla="*/ 24 w 24"/>
              <a:gd name="T71" fmla="*/ 16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4"/>
              <a:gd name="T109" fmla="*/ 0 h 30"/>
              <a:gd name="T110" fmla="*/ 24 w 24"/>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4" h="30">
                <a:moveTo>
                  <a:pt x="24" y="14"/>
                </a:moveTo>
                <a:lnTo>
                  <a:pt x="24" y="13"/>
                </a:lnTo>
                <a:lnTo>
                  <a:pt x="24" y="12"/>
                </a:lnTo>
                <a:lnTo>
                  <a:pt x="24" y="11"/>
                </a:lnTo>
                <a:lnTo>
                  <a:pt x="22" y="10"/>
                </a:lnTo>
                <a:lnTo>
                  <a:pt x="21" y="9"/>
                </a:lnTo>
                <a:lnTo>
                  <a:pt x="21" y="8"/>
                </a:lnTo>
                <a:lnTo>
                  <a:pt x="21" y="7"/>
                </a:lnTo>
                <a:lnTo>
                  <a:pt x="20" y="6"/>
                </a:lnTo>
                <a:lnTo>
                  <a:pt x="19" y="4"/>
                </a:lnTo>
                <a:lnTo>
                  <a:pt x="19" y="3"/>
                </a:lnTo>
                <a:lnTo>
                  <a:pt x="18" y="2"/>
                </a:lnTo>
                <a:lnTo>
                  <a:pt x="17" y="1"/>
                </a:lnTo>
                <a:lnTo>
                  <a:pt x="16" y="0"/>
                </a:lnTo>
                <a:lnTo>
                  <a:pt x="15" y="0"/>
                </a:lnTo>
                <a:lnTo>
                  <a:pt x="14" y="0"/>
                </a:lnTo>
                <a:lnTo>
                  <a:pt x="13" y="0"/>
                </a:lnTo>
                <a:lnTo>
                  <a:pt x="11" y="0"/>
                </a:lnTo>
                <a:lnTo>
                  <a:pt x="10" y="0"/>
                </a:lnTo>
                <a:lnTo>
                  <a:pt x="9" y="0"/>
                </a:lnTo>
                <a:lnTo>
                  <a:pt x="8" y="0"/>
                </a:lnTo>
                <a:lnTo>
                  <a:pt x="7" y="1"/>
                </a:lnTo>
                <a:lnTo>
                  <a:pt x="6" y="1"/>
                </a:lnTo>
                <a:lnTo>
                  <a:pt x="5" y="2"/>
                </a:lnTo>
                <a:lnTo>
                  <a:pt x="4" y="3"/>
                </a:lnTo>
                <a:lnTo>
                  <a:pt x="4" y="4"/>
                </a:lnTo>
                <a:lnTo>
                  <a:pt x="3" y="6"/>
                </a:lnTo>
                <a:lnTo>
                  <a:pt x="2" y="7"/>
                </a:lnTo>
                <a:lnTo>
                  <a:pt x="2" y="8"/>
                </a:lnTo>
                <a:lnTo>
                  <a:pt x="2" y="9"/>
                </a:lnTo>
                <a:lnTo>
                  <a:pt x="0" y="10"/>
                </a:lnTo>
                <a:lnTo>
                  <a:pt x="0" y="11"/>
                </a:lnTo>
                <a:lnTo>
                  <a:pt x="0" y="12"/>
                </a:lnTo>
                <a:lnTo>
                  <a:pt x="0" y="13"/>
                </a:lnTo>
                <a:lnTo>
                  <a:pt x="0" y="14"/>
                </a:lnTo>
                <a:lnTo>
                  <a:pt x="0" y="16"/>
                </a:lnTo>
                <a:lnTo>
                  <a:pt x="0" y="18"/>
                </a:lnTo>
                <a:lnTo>
                  <a:pt x="0" y="19"/>
                </a:lnTo>
                <a:lnTo>
                  <a:pt x="0" y="20"/>
                </a:lnTo>
                <a:lnTo>
                  <a:pt x="2" y="22"/>
                </a:lnTo>
                <a:lnTo>
                  <a:pt x="2" y="23"/>
                </a:lnTo>
                <a:lnTo>
                  <a:pt x="2" y="24"/>
                </a:lnTo>
                <a:lnTo>
                  <a:pt x="3" y="24"/>
                </a:lnTo>
                <a:lnTo>
                  <a:pt x="4" y="25"/>
                </a:lnTo>
                <a:lnTo>
                  <a:pt x="4" y="26"/>
                </a:lnTo>
                <a:lnTo>
                  <a:pt x="5" y="27"/>
                </a:lnTo>
                <a:lnTo>
                  <a:pt x="6" y="29"/>
                </a:lnTo>
                <a:lnTo>
                  <a:pt x="7" y="29"/>
                </a:lnTo>
                <a:lnTo>
                  <a:pt x="8" y="30"/>
                </a:lnTo>
                <a:lnTo>
                  <a:pt x="9" y="30"/>
                </a:lnTo>
                <a:lnTo>
                  <a:pt x="10" y="30"/>
                </a:lnTo>
                <a:lnTo>
                  <a:pt x="11" y="30"/>
                </a:lnTo>
                <a:lnTo>
                  <a:pt x="13" y="30"/>
                </a:lnTo>
                <a:lnTo>
                  <a:pt x="14" y="30"/>
                </a:lnTo>
                <a:lnTo>
                  <a:pt x="15" y="30"/>
                </a:lnTo>
                <a:lnTo>
                  <a:pt x="16" y="30"/>
                </a:lnTo>
                <a:lnTo>
                  <a:pt x="17" y="29"/>
                </a:lnTo>
                <a:lnTo>
                  <a:pt x="18" y="27"/>
                </a:lnTo>
                <a:lnTo>
                  <a:pt x="19" y="26"/>
                </a:lnTo>
                <a:lnTo>
                  <a:pt x="19" y="25"/>
                </a:lnTo>
                <a:lnTo>
                  <a:pt x="20" y="24"/>
                </a:lnTo>
                <a:lnTo>
                  <a:pt x="21" y="24"/>
                </a:lnTo>
                <a:lnTo>
                  <a:pt x="21" y="23"/>
                </a:lnTo>
                <a:lnTo>
                  <a:pt x="21" y="22"/>
                </a:lnTo>
                <a:lnTo>
                  <a:pt x="22" y="20"/>
                </a:lnTo>
                <a:lnTo>
                  <a:pt x="24" y="19"/>
                </a:lnTo>
                <a:lnTo>
                  <a:pt x="24" y="18"/>
                </a:lnTo>
                <a:lnTo>
                  <a:pt x="24" y="16"/>
                </a:lnTo>
                <a:lnTo>
                  <a:pt x="24"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47" name="Line 347">
            <a:extLst>
              <a:ext uri="{FF2B5EF4-FFF2-40B4-BE49-F238E27FC236}">
                <a16:creationId xmlns:a16="http://schemas.microsoft.com/office/drawing/2014/main" id="{4CDD4800-36DE-C949-9916-90BCC31201B0}"/>
              </a:ext>
            </a:extLst>
          </p:cNvPr>
          <p:cNvSpPr>
            <a:spLocks noChangeShapeType="1"/>
          </p:cNvSpPr>
          <p:nvPr/>
        </p:nvSpPr>
        <p:spPr bwMode="auto">
          <a:xfrm>
            <a:off x="8064500" y="5759451"/>
            <a:ext cx="1588" cy="80963"/>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48" name="Line 348">
            <a:extLst>
              <a:ext uri="{FF2B5EF4-FFF2-40B4-BE49-F238E27FC236}">
                <a16:creationId xmlns:a16="http://schemas.microsoft.com/office/drawing/2014/main" id="{50F58605-FBBC-1147-A142-2FCC79F238F9}"/>
              </a:ext>
            </a:extLst>
          </p:cNvPr>
          <p:cNvSpPr>
            <a:spLocks noChangeShapeType="1"/>
          </p:cNvSpPr>
          <p:nvPr/>
        </p:nvSpPr>
        <p:spPr bwMode="auto">
          <a:xfrm>
            <a:off x="8034338" y="5797550"/>
            <a:ext cx="61912"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49" name="Freeform 349">
            <a:extLst>
              <a:ext uri="{FF2B5EF4-FFF2-40B4-BE49-F238E27FC236}">
                <a16:creationId xmlns:a16="http://schemas.microsoft.com/office/drawing/2014/main" id="{83FC6915-ECB9-0449-ADE5-E2A28A5E1AE0}"/>
              </a:ext>
            </a:extLst>
          </p:cNvPr>
          <p:cNvSpPr>
            <a:spLocks/>
          </p:cNvSpPr>
          <p:nvPr/>
        </p:nvSpPr>
        <p:spPr bwMode="auto">
          <a:xfrm>
            <a:off x="7129464" y="5480051"/>
            <a:ext cx="325437" cy="341313"/>
          </a:xfrm>
          <a:custGeom>
            <a:avLst/>
            <a:gdLst>
              <a:gd name="T0" fmla="*/ 56 w 615"/>
              <a:gd name="T1" fmla="*/ 195 h 643"/>
              <a:gd name="T2" fmla="*/ 0 w 615"/>
              <a:gd name="T3" fmla="*/ 195 h 643"/>
              <a:gd name="T4" fmla="*/ 308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8"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50" name="Rectangle 350">
            <a:extLst>
              <a:ext uri="{FF2B5EF4-FFF2-40B4-BE49-F238E27FC236}">
                <a16:creationId xmlns:a16="http://schemas.microsoft.com/office/drawing/2014/main" id="{2ED0A795-1C36-5D41-A0F7-566C8F4F09B9}"/>
              </a:ext>
            </a:extLst>
          </p:cNvPr>
          <p:cNvSpPr>
            <a:spLocks noChangeArrowheads="1"/>
          </p:cNvSpPr>
          <p:nvPr/>
        </p:nvSpPr>
        <p:spPr bwMode="auto">
          <a:xfrm>
            <a:off x="7159625" y="5583238"/>
            <a:ext cx="268288"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51" name="Rectangle 351">
            <a:extLst>
              <a:ext uri="{FF2B5EF4-FFF2-40B4-BE49-F238E27FC236}">
                <a16:creationId xmlns:a16="http://schemas.microsoft.com/office/drawing/2014/main" id="{DC14F214-819F-2E4F-845A-E6339B51043C}"/>
              </a:ext>
            </a:extLst>
          </p:cNvPr>
          <p:cNvSpPr>
            <a:spLocks noChangeArrowheads="1"/>
          </p:cNvSpPr>
          <p:nvPr/>
        </p:nvSpPr>
        <p:spPr bwMode="auto">
          <a:xfrm>
            <a:off x="7202488" y="5637214"/>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52" name="Rectangle 352">
            <a:extLst>
              <a:ext uri="{FF2B5EF4-FFF2-40B4-BE49-F238E27FC236}">
                <a16:creationId xmlns:a16="http://schemas.microsoft.com/office/drawing/2014/main" id="{1882A34F-019A-B14F-AFE4-E86ACBD077D5}"/>
              </a:ext>
            </a:extLst>
          </p:cNvPr>
          <p:cNvSpPr>
            <a:spLocks noChangeArrowheads="1"/>
          </p:cNvSpPr>
          <p:nvPr/>
        </p:nvSpPr>
        <p:spPr bwMode="auto">
          <a:xfrm>
            <a:off x="7337425" y="5632451"/>
            <a:ext cx="65088"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53" name="Freeform 353">
            <a:extLst>
              <a:ext uri="{FF2B5EF4-FFF2-40B4-BE49-F238E27FC236}">
                <a16:creationId xmlns:a16="http://schemas.microsoft.com/office/drawing/2014/main" id="{3B569153-3332-DE40-9BE8-BC4EC26A2853}"/>
              </a:ext>
            </a:extLst>
          </p:cNvPr>
          <p:cNvSpPr>
            <a:spLocks/>
          </p:cNvSpPr>
          <p:nvPr/>
        </p:nvSpPr>
        <p:spPr bwMode="auto">
          <a:xfrm>
            <a:off x="7272338" y="5713414"/>
            <a:ext cx="11112" cy="15875"/>
          </a:xfrm>
          <a:custGeom>
            <a:avLst/>
            <a:gdLst>
              <a:gd name="T0" fmla="*/ 23 w 23"/>
              <a:gd name="T1" fmla="*/ 13 h 29"/>
              <a:gd name="T2" fmla="*/ 23 w 23"/>
              <a:gd name="T3" fmla="*/ 11 h 29"/>
              <a:gd name="T4" fmla="*/ 21 w 23"/>
              <a:gd name="T5" fmla="*/ 8 h 29"/>
              <a:gd name="T6" fmla="*/ 21 w 23"/>
              <a:gd name="T7" fmla="*/ 6 h 29"/>
              <a:gd name="T8" fmla="*/ 19 w 23"/>
              <a:gd name="T9" fmla="*/ 4 h 29"/>
              <a:gd name="T10" fmla="*/ 18 w 23"/>
              <a:gd name="T11" fmla="*/ 2 h 29"/>
              <a:gd name="T12" fmla="*/ 17 w 23"/>
              <a:gd name="T13" fmla="*/ 1 h 29"/>
              <a:gd name="T14" fmla="*/ 14 w 23"/>
              <a:gd name="T15" fmla="*/ 0 h 29"/>
              <a:gd name="T16" fmla="*/ 12 w 23"/>
              <a:gd name="T17" fmla="*/ 0 h 29"/>
              <a:gd name="T18" fmla="*/ 10 w 23"/>
              <a:gd name="T19" fmla="*/ 0 h 29"/>
              <a:gd name="T20" fmla="*/ 9 w 23"/>
              <a:gd name="T21" fmla="*/ 0 h 29"/>
              <a:gd name="T22" fmla="*/ 7 w 23"/>
              <a:gd name="T23" fmla="*/ 1 h 29"/>
              <a:gd name="T24" fmla="*/ 5 w 23"/>
              <a:gd name="T25" fmla="*/ 2 h 29"/>
              <a:gd name="T26" fmla="*/ 3 w 23"/>
              <a:gd name="T27" fmla="*/ 4 h 29"/>
              <a:gd name="T28" fmla="*/ 1 w 23"/>
              <a:gd name="T29" fmla="*/ 6 h 29"/>
              <a:gd name="T30" fmla="*/ 1 w 23"/>
              <a:gd name="T31" fmla="*/ 8 h 29"/>
              <a:gd name="T32" fmla="*/ 0 w 23"/>
              <a:gd name="T33" fmla="*/ 11 h 29"/>
              <a:gd name="T34" fmla="*/ 0 w 23"/>
              <a:gd name="T35" fmla="*/ 13 h 29"/>
              <a:gd name="T36" fmla="*/ 0 w 23"/>
              <a:gd name="T37" fmla="*/ 16 h 29"/>
              <a:gd name="T38" fmla="*/ 0 w 23"/>
              <a:gd name="T39" fmla="*/ 18 h 29"/>
              <a:gd name="T40" fmla="*/ 1 w 23"/>
              <a:gd name="T41" fmla="*/ 22 h 29"/>
              <a:gd name="T42" fmla="*/ 1 w 23"/>
              <a:gd name="T43" fmla="*/ 24 h 29"/>
              <a:gd name="T44" fmla="*/ 3 w 23"/>
              <a:gd name="T45" fmla="*/ 25 h 29"/>
              <a:gd name="T46" fmla="*/ 5 w 23"/>
              <a:gd name="T47" fmla="*/ 27 h 29"/>
              <a:gd name="T48" fmla="*/ 7 w 23"/>
              <a:gd name="T49" fmla="*/ 28 h 29"/>
              <a:gd name="T50" fmla="*/ 9 w 23"/>
              <a:gd name="T51" fmla="*/ 29 h 29"/>
              <a:gd name="T52" fmla="*/ 10 w 23"/>
              <a:gd name="T53" fmla="*/ 29 h 29"/>
              <a:gd name="T54" fmla="*/ 12 w 23"/>
              <a:gd name="T55" fmla="*/ 29 h 29"/>
              <a:gd name="T56" fmla="*/ 14 w 23"/>
              <a:gd name="T57" fmla="*/ 29 h 29"/>
              <a:gd name="T58" fmla="*/ 17 w 23"/>
              <a:gd name="T59" fmla="*/ 28 h 29"/>
              <a:gd name="T60" fmla="*/ 18 w 23"/>
              <a:gd name="T61" fmla="*/ 27 h 29"/>
              <a:gd name="T62" fmla="*/ 19 w 23"/>
              <a:gd name="T63" fmla="*/ 25 h 29"/>
              <a:gd name="T64" fmla="*/ 21 w 23"/>
              <a:gd name="T65" fmla="*/ 24 h 29"/>
              <a:gd name="T66" fmla="*/ 21 w 23"/>
              <a:gd name="T67" fmla="*/ 22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10"/>
                </a:lnTo>
                <a:lnTo>
                  <a:pt x="21" y="8"/>
                </a:lnTo>
                <a:lnTo>
                  <a:pt x="21" y="7"/>
                </a:lnTo>
                <a:lnTo>
                  <a:pt x="21" y="6"/>
                </a:lnTo>
                <a:lnTo>
                  <a:pt x="20" y="5"/>
                </a:lnTo>
                <a:lnTo>
                  <a:pt x="19" y="4"/>
                </a:lnTo>
                <a:lnTo>
                  <a:pt x="19" y="3"/>
                </a:lnTo>
                <a:lnTo>
                  <a:pt x="18" y="2"/>
                </a:lnTo>
                <a:lnTo>
                  <a:pt x="17" y="1"/>
                </a:lnTo>
                <a:lnTo>
                  <a:pt x="16" y="0"/>
                </a:lnTo>
                <a:lnTo>
                  <a:pt x="14" y="0"/>
                </a:lnTo>
                <a:lnTo>
                  <a:pt x="13" y="0"/>
                </a:lnTo>
                <a:lnTo>
                  <a:pt x="12" y="0"/>
                </a:lnTo>
                <a:lnTo>
                  <a:pt x="11" y="0"/>
                </a:lnTo>
                <a:lnTo>
                  <a:pt x="10" y="0"/>
                </a:lnTo>
                <a:lnTo>
                  <a:pt x="9" y="0"/>
                </a:lnTo>
                <a:lnTo>
                  <a:pt x="8" y="0"/>
                </a:lnTo>
                <a:lnTo>
                  <a:pt x="7" y="1"/>
                </a:lnTo>
                <a:lnTo>
                  <a:pt x="6" y="1"/>
                </a:lnTo>
                <a:lnTo>
                  <a:pt x="5" y="2"/>
                </a:lnTo>
                <a:lnTo>
                  <a:pt x="3" y="3"/>
                </a:lnTo>
                <a:lnTo>
                  <a:pt x="3" y="4"/>
                </a:lnTo>
                <a:lnTo>
                  <a:pt x="2" y="5"/>
                </a:lnTo>
                <a:lnTo>
                  <a:pt x="1" y="6"/>
                </a:lnTo>
                <a:lnTo>
                  <a:pt x="1" y="7"/>
                </a:lnTo>
                <a:lnTo>
                  <a:pt x="1" y="8"/>
                </a:lnTo>
                <a:lnTo>
                  <a:pt x="0" y="10"/>
                </a:lnTo>
                <a:lnTo>
                  <a:pt x="0" y="11"/>
                </a:lnTo>
                <a:lnTo>
                  <a:pt x="0" y="12"/>
                </a:lnTo>
                <a:lnTo>
                  <a:pt x="0" y="13"/>
                </a:lnTo>
                <a:lnTo>
                  <a:pt x="0" y="14"/>
                </a:lnTo>
                <a:lnTo>
                  <a:pt x="0" y="16"/>
                </a:lnTo>
                <a:lnTo>
                  <a:pt x="0" y="17"/>
                </a:lnTo>
                <a:lnTo>
                  <a:pt x="0" y="18"/>
                </a:lnTo>
                <a:lnTo>
                  <a:pt x="0" y="19"/>
                </a:lnTo>
                <a:lnTo>
                  <a:pt x="1" y="22"/>
                </a:lnTo>
                <a:lnTo>
                  <a:pt x="1" y="23"/>
                </a:lnTo>
                <a:lnTo>
                  <a:pt x="1" y="24"/>
                </a:lnTo>
                <a:lnTo>
                  <a:pt x="2" y="24"/>
                </a:lnTo>
                <a:lnTo>
                  <a:pt x="3" y="25"/>
                </a:lnTo>
                <a:lnTo>
                  <a:pt x="3" y="26"/>
                </a:lnTo>
                <a:lnTo>
                  <a:pt x="5" y="27"/>
                </a:lnTo>
                <a:lnTo>
                  <a:pt x="6" y="28"/>
                </a:lnTo>
                <a:lnTo>
                  <a:pt x="7" y="28"/>
                </a:lnTo>
                <a:lnTo>
                  <a:pt x="8" y="29"/>
                </a:lnTo>
                <a:lnTo>
                  <a:pt x="9" y="29"/>
                </a:lnTo>
                <a:lnTo>
                  <a:pt x="10" y="29"/>
                </a:lnTo>
                <a:lnTo>
                  <a:pt x="11" y="29"/>
                </a:lnTo>
                <a:lnTo>
                  <a:pt x="12" y="29"/>
                </a:lnTo>
                <a:lnTo>
                  <a:pt x="13" y="29"/>
                </a:lnTo>
                <a:lnTo>
                  <a:pt x="14" y="29"/>
                </a:lnTo>
                <a:lnTo>
                  <a:pt x="16" y="29"/>
                </a:lnTo>
                <a:lnTo>
                  <a:pt x="17" y="28"/>
                </a:lnTo>
                <a:lnTo>
                  <a:pt x="18" y="27"/>
                </a:lnTo>
                <a:lnTo>
                  <a:pt x="19" y="26"/>
                </a:lnTo>
                <a:lnTo>
                  <a:pt x="19" y="25"/>
                </a:lnTo>
                <a:lnTo>
                  <a:pt x="20" y="24"/>
                </a:lnTo>
                <a:lnTo>
                  <a:pt x="21" y="24"/>
                </a:lnTo>
                <a:lnTo>
                  <a:pt x="21" y="23"/>
                </a:lnTo>
                <a:lnTo>
                  <a:pt x="21" y="22"/>
                </a:lnTo>
                <a:lnTo>
                  <a:pt x="22" y="19"/>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54" name="Line 354">
            <a:extLst>
              <a:ext uri="{FF2B5EF4-FFF2-40B4-BE49-F238E27FC236}">
                <a16:creationId xmlns:a16="http://schemas.microsoft.com/office/drawing/2014/main" id="{03EC7BF4-D852-4948-86A7-E2E6EC68AC3C}"/>
              </a:ext>
            </a:extLst>
          </p:cNvPr>
          <p:cNvSpPr>
            <a:spLocks noChangeShapeType="1"/>
          </p:cNvSpPr>
          <p:nvPr/>
        </p:nvSpPr>
        <p:spPr bwMode="auto">
          <a:xfrm>
            <a:off x="7369175" y="5632451"/>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55" name="Line 355">
            <a:extLst>
              <a:ext uri="{FF2B5EF4-FFF2-40B4-BE49-F238E27FC236}">
                <a16:creationId xmlns:a16="http://schemas.microsoft.com/office/drawing/2014/main" id="{F07F2326-DA28-7C46-8DEE-32BE8BBE646A}"/>
              </a:ext>
            </a:extLst>
          </p:cNvPr>
          <p:cNvSpPr>
            <a:spLocks noChangeShapeType="1"/>
          </p:cNvSpPr>
          <p:nvPr/>
        </p:nvSpPr>
        <p:spPr bwMode="auto">
          <a:xfrm>
            <a:off x="7337425" y="5670550"/>
            <a:ext cx="63500"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56" name="Freeform 356">
            <a:extLst>
              <a:ext uri="{FF2B5EF4-FFF2-40B4-BE49-F238E27FC236}">
                <a16:creationId xmlns:a16="http://schemas.microsoft.com/office/drawing/2014/main" id="{92B8821D-E63D-7C46-B3BE-1CD31301AB26}"/>
              </a:ext>
            </a:extLst>
          </p:cNvPr>
          <p:cNvSpPr>
            <a:spLocks/>
          </p:cNvSpPr>
          <p:nvPr/>
        </p:nvSpPr>
        <p:spPr bwMode="auto">
          <a:xfrm>
            <a:off x="3276600" y="5922964"/>
            <a:ext cx="323850" cy="339725"/>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4 h 643"/>
              <a:gd name="T14" fmla="*/ 56 w 614"/>
              <a:gd name="T15" fmla="*/ 614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4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4"/>
                </a:lnTo>
                <a:lnTo>
                  <a:pt x="56" y="614"/>
                </a:lnTo>
                <a:lnTo>
                  <a:pt x="56" y="195"/>
                </a:lnTo>
                <a:lnTo>
                  <a:pt x="558"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57" name="Rectangle 357">
            <a:extLst>
              <a:ext uri="{FF2B5EF4-FFF2-40B4-BE49-F238E27FC236}">
                <a16:creationId xmlns:a16="http://schemas.microsoft.com/office/drawing/2014/main" id="{EBB4045C-8C75-524C-A6E5-24FFF9417D2D}"/>
              </a:ext>
            </a:extLst>
          </p:cNvPr>
          <p:cNvSpPr>
            <a:spLocks noChangeArrowheads="1"/>
          </p:cNvSpPr>
          <p:nvPr/>
        </p:nvSpPr>
        <p:spPr bwMode="auto">
          <a:xfrm>
            <a:off x="3306764" y="6026151"/>
            <a:ext cx="268287"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58" name="Rectangle 358">
            <a:extLst>
              <a:ext uri="{FF2B5EF4-FFF2-40B4-BE49-F238E27FC236}">
                <a16:creationId xmlns:a16="http://schemas.microsoft.com/office/drawing/2014/main" id="{9F8DF231-6135-8544-AABF-2EAF04F3B329}"/>
              </a:ext>
            </a:extLst>
          </p:cNvPr>
          <p:cNvSpPr>
            <a:spLocks noChangeArrowheads="1"/>
          </p:cNvSpPr>
          <p:nvPr/>
        </p:nvSpPr>
        <p:spPr bwMode="auto">
          <a:xfrm>
            <a:off x="3349626" y="6078539"/>
            <a:ext cx="93663"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59" name="Rectangle 359">
            <a:extLst>
              <a:ext uri="{FF2B5EF4-FFF2-40B4-BE49-F238E27FC236}">
                <a16:creationId xmlns:a16="http://schemas.microsoft.com/office/drawing/2014/main" id="{8D735E71-0319-DE4D-8FB7-78C8215B56FF}"/>
              </a:ext>
            </a:extLst>
          </p:cNvPr>
          <p:cNvSpPr>
            <a:spLocks noChangeArrowheads="1"/>
          </p:cNvSpPr>
          <p:nvPr/>
        </p:nvSpPr>
        <p:spPr bwMode="auto">
          <a:xfrm>
            <a:off x="3484564" y="6075364"/>
            <a:ext cx="65087"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60" name="Freeform 360">
            <a:extLst>
              <a:ext uri="{FF2B5EF4-FFF2-40B4-BE49-F238E27FC236}">
                <a16:creationId xmlns:a16="http://schemas.microsoft.com/office/drawing/2014/main" id="{3A53E006-CF9E-574A-9F89-6A4707F29735}"/>
              </a:ext>
            </a:extLst>
          </p:cNvPr>
          <p:cNvSpPr>
            <a:spLocks/>
          </p:cNvSpPr>
          <p:nvPr/>
        </p:nvSpPr>
        <p:spPr bwMode="auto">
          <a:xfrm>
            <a:off x="3417888" y="6156326"/>
            <a:ext cx="12700" cy="15875"/>
          </a:xfrm>
          <a:custGeom>
            <a:avLst/>
            <a:gdLst>
              <a:gd name="T0" fmla="*/ 23 w 23"/>
              <a:gd name="T1" fmla="*/ 13 h 30"/>
              <a:gd name="T2" fmla="*/ 23 w 23"/>
              <a:gd name="T3" fmla="*/ 11 h 30"/>
              <a:gd name="T4" fmla="*/ 21 w 23"/>
              <a:gd name="T5" fmla="*/ 9 h 30"/>
              <a:gd name="T6" fmla="*/ 21 w 23"/>
              <a:gd name="T7" fmla="*/ 7 h 30"/>
              <a:gd name="T8" fmla="*/ 18 w 23"/>
              <a:gd name="T9" fmla="*/ 4 h 30"/>
              <a:gd name="T10" fmla="*/ 17 w 23"/>
              <a:gd name="T11" fmla="*/ 2 h 30"/>
              <a:gd name="T12" fmla="*/ 16 w 23"/>
              <a:gd name="T13" fmla="*/ 1 h 30"/>
              <a:gd name="T14" fmla="*/ 14 w 23"/>
              <a:gd name="T15" fmla="*/ 0 h 30"/>
              <a:gd name="T16" fmla="*/ 12 w 23"/>
              <a:gd name="T17" fmla="*/ 0 h 30"/>
              <a:gd name="T18" fmla="*/ 10 w 23"/>
              <a:gd name="T19" fmla="*/ 0 h 30"/>
              <a:gd name="T20" fmla="*/ 9 w 23"/>
              <a:gd name="T21" fmla="*/ 0 h 30"/>
              <a:gd name="T22" fmla="*/ 6 w 23"/>
              <a:gd name="T23" fmla="*/ 1 h 30"/>
              <a:gd name="T24" fmla="*/ 4 w 23"/>
              <a:gd name="T25" fmla="*/ 2 h 30"/>
              <a:gd name="T26" fmla="*/ 3 w 23"/>
              <a:gd name="T27" fmla="*/ 4 h 30"/>
              <a:gd name="T28" fmla="*/ 1 w 23"/>
              <a:gd name="T29" fmla="*/ 7 h 30"/>
              <a:gd name="T30" fmla="*/ 1 w 23"/>
              <a:gd name="T31" fmla="*/ 9 h 30"/>
              <a:gd name="T32" fmla="*/ 0 w 23"/>
              <a:gd name="T33" fmla="*/ 11 h 30"/>
              <a:gd name="T34" fmla="*/ 0 w 23"/>
              <a:gd name="T35" fmla="*/ 13 h 30"/>
              <a:gd name="T36" fmla="*/ 0 w 23"/>
              <a:gd name="T37" fmla="*/ 16 h 30"/>
              <a:gd name="T38" fmla="*/ 0 w 23"/>
              <a:gd name="T39" fmla="*/ 19 h 30"/>
              <a:gd name="T40" fmla="*/ 1 w 23"/>
              <a:gd name="T41" fmla="*/ 22 h 30"/>
              <a:gd name="T42" fmla="*/ 1 w 23"/>
              <a:gd name="T43" fmla="*/ 24 h 30"/>
              <a:gd name="T44" fmla="*/ 3 w 23"/>
              <a:gd name="T45" fmla="*/ 25 h 30"/>
              <a:gd name="T46" fmla="*/ 4 w 23"/>
              <a:gd name="T47" fmla="*/ 27 h 30"/>
              <a:gd name="T48" fmla="*/ 6 w 23"/>
              <a:gd name="T49" fmla="*/ 28 h 30"/>
              <a:gd name="T50" fmla="*/ 9 w 23"/>
              <a:gd name="T51" fmla="*/ 30 h 30"/>
              <a:gd name="T52" fmla="*/ 10 w 23"/>
              <a:gd name="T53" fmla="*/ 30 h 30"/>
              <a:gd name="T54" fmla="*/ 12 w 23"/>
              <a:gd name="T55" fmla="*/ 30 h 30"/>
              <a:gd name="T56" fmla="*/ 14 w 23"/>
              <a:gd name="T57" fmla="*/ 30 h 30"/>
              <a:gd name="T58" fmla="*/ 16 w 23"/>
              <a:gd name="T59" fmla="*/ 28 h 30"/>
              <a:gd name="T60" fmla="*/ 17 w 23"/>
              <a:gd name="T61" fmla="*/ 27 h 30"/>
              <a:gd name="T62" fmla="*/ 18 w 23"/>
              <a:gd name="T63" fmla="*/ 25 h 30"/>
              <a:gd name="T64" fmla="*/ 21 w 23"/>
              <a:gd name="T65" fmla="*/ 24 h 30"/>
              <a:gd name="T66" fmla="*/ 21 w 23"/>
              <a:gd name="T67" fmla="*/ 22 h 30"/>
              <a:gd name="T68" fmla="*/ 23 w 23"/>
              <a:gd name="T69" fmla="*/ 19 h 30"/>
              <a:gd name="T70" fmla="*/ 23 w 23"/>
              <a:gd name="T71" fmla="*/ 16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5"/>
                </a:lnTo>
                <a:lnTo>
                  <a:pt x="18" y="4"/>
                </a:lnTo>
                <a:lnTo>
                  <a:pt x="18" y="3"/>
                </a:lnTo>
                <a:lnTo>
                  <a:pt x="17" y="2"/>
                </a:lnTo>
                <a:lnTo>
                  <a:pt x="16" y="1"/>
                </a:lnTo>
                <a:lnTo>
                  <a:pt x="15" y="0"/>
                </a:lnTo>
                <a:lnTo>
                  <a:pt x="14" y="0"/>
                </a:lnTo>
                <a:lnTo>
                  <a:pt x="13" y="0"/>
                </a:lnTo>
                <a:lnTo>
                  <a:pt x="12" y="0"/>
                </a:lnTo>
                <a:lnTo>
                  <a:pt x="11" y="0"/>
                </a:lnTo>
                <a:lnTo>
                  <a:pt x="10" y="0"/>
                </a:lnTo>
                <a:lnTo>
                  <a:pt x="9" y="0"/>
                </a:lnTo>
                <a:lnTo>
                  <a:pt x="8" y="0"/>
                </a:lnTo>
                <a:lnTo>
                  <a:pt x="6" y="1"/>
                </a:lnTo>
                <a:lnTo>
                  <a:pt x="5" y="1"/>
                </a:lnTo>
                <a:lnTo>
                  <a:pt x="4" y="2"/>
                </a:lnTo>
                <a:lnTo>
                  <a:pt x="3" y="3"/>
                </a:lnTo>
                <a:lnTo>
                  <a:pt x="3" y="4"/>
                </a:lnTo>
                <a:lnTo>
                  <a:pt x="2" y="5"/>
                </a:lnTo>
                <a:lnTo>
                  <a:pt x="1" y="7"/>
                </a:lnTo>
                <a:lnTo>
                  <a:pt x="1" y="8"/>
                </a:lnTo>
                <a:lnTo>
                  <a:pt x="1" y="9"/>
                </a:lnTo>
                <a:lnTo>
                  <a:pt x="0" y="10"/>
                </a:lnTo>
                <a:lnTo>
                  <a:pt x="0" y="11"/>
                </a:lnTo>
                <a:lnTo>
                  <a:pt x="0" y="12"/>
                </a:lnTo>
                <a:lnTo>
                  <a:pt x="0" y="13"/>
                </a:lnTo>
                <a:lnTo>
                  <a:pt x="0" y="14"/>
                </a:lnTo>
                <a:lnTo>
                  <a:pt x="0" y="16"/>
                </a:lnTo>
                <a:lnTo>
                  <a:pt x="0" y="18"/>
                </a:lnTo>
                <a:lnTo>
                  <a:pt x="0" y="19"/>
                </a:lnTo>
                <a:lnTo>
                  <a:pt x="0" y="20"/>
                </a:lnTo>
                <a:lnTo>
                  <a:pt x="1" y="22"/>
                </a:lnTo>
                <a:lnTo>
                  <a:pt x="1" y="23"/>
                </a:lnTo>
                <a:lnTo>
                  <a:pt x="1" y="24"/>
                </a:lnTo>
                <a:lnTo>
                  <a:pt x="2" y="24"/>
                </a:lnTo>
                <a:lnTo>
                  <a:pt x="3" y="25"/>
                </a:lnTo>
                <a:lnTo>
                  <a:pt x="3" y="26"/>
                </a:lnTo>
                <a:lnTo>
                  <a:pt x="4" y="27"/>
                </a:lnTo>
                <a:lnTo>
                  <a:pt x="5" y="28"/>
                </a:lnTo>
                <a:lnTo>
                  <a:pt x="6" y="28"/>
                </a:lnTo>
                <a:lnTo>
                  <a:pt x="8" y="30"/>
                </a:lnTo>
                <a:lnTo>
                  <a:pt x="9" y="30"/>
                </a:lnTo>
                <a:lnTo>
                  <a:pt x="10" y="30"/>
                </a:lnTo>
                <a:lnTo>
                  <a:pt x="11" y="30"/>
                </a:lnTo>
                <a:lnTo>
                  <a:pt x="12" y="30"/>
                </a:lnTo>
                <a:lnTo>
                  <a:pt x="13" y="30"/>
                </a:lnTo>
                <a:lnTo>
                  <a:pt x="14" y="30"/>
                </a:lnTo>
                <a:lnTo>
                  <a:pt x="15" y="30"/>
                </a:lnTo>
                <a:lnTo>
                  <a:pt x="16" y="28"/>
                </a:lnTo>
                <a:lnTo>
                  <a:pt x="17" y="27"/>
                </a:lnTo>
                <a:lnTo>
                  <a:pt x="18" y="26"/>
                </a:lnTo>
                <a:lnTo>
                  <a:pt x="18" y="25"/>
                </a:lnTo>
                <a:lnTo>
                  <a:pt x="20" y="24"/>
                </a:lnTo>
                <a:lnTo>
                  <a:pt x="21" y="24"/>
                </a:lnTo>
                <a:lnTo>
                  <a:pt x="21" y="23"/>
                </a:lnTo>
                <a:lnTo>
                  <a:pt x="21" y="22"/>
                </a:lnTo>
                <a:lnTo>
                  <a:pt x="22" y="20"/>
                </a:lnTo>
                <a:lnTo>
                  <a:pt x="23" y="19"/>
                </a:lnTo>
                <a:lnTo>
                  <a:pt x="23" y="18"/>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61" name="Line 361">
            <a:extLst>
              <a:ext uri="{FF2B5EF4-FFF2-40B4-BE49-F238E27FC236}">
                <a16:creationId xmlns:a16="http://schemas.microsoft.com/office/drawing/2014/main" id="{CDE8148B-699C-7447-9C9F-90AF340C57AD}"/>
              </a:ext>
            </a:extLst>
          </p:cNvPr>
          <p:cNvSpPr>
            <a:spLocks noChangeShapeType="1"/>
          </p:cNvSpPr>
          <p:nvPr/>
        </p:nvSpPr>
        <p:spPr bwMode="auto">
          <a:xfrm>
            <a:off x="3516314" y="6075364"/>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62" name="Line 362">
            <a:extLst>
              <a:ext uri="{FF2B5EF4-FFF2-40B4-BE49-F238E27FC236}">
                <a16:creationId xmlns:a16="http://schemas.microsoft.com/office/drawing/2014/main" id="{AD72FF00-3438-724F-B442-277F0441F6AA}"/>
              </a:ext>
            </a:extLst>
          </p:cNvPr>
          <p:cNvSpPr>
            <a:spLocks noChangeShapeType="1"/>
          </p:cNvSpPr>
          <p:nvPr/>
        </p:nvSpPr>
        <p:spPr bwMode="auto">
          <a:xfrm>
            <a:off x="3484563" y="6113464"/>
            <a:ext cx="61912"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63" name="Freeform 363">
            <a:extLst>
              <a:ext uri="{FF2B5EF4-FFF2-40B4-BE49-F238E27FC236}">
                <a16:creationId xmlns:a16="http://schemas.microsoft.com/office/drawing/2014/main" id="{C2F4A935-0955-7048-B4A7-F3436C612E43}"/>
              </a:ext>
            </a:extLst>
          </p:cNvPr>
          <p:cNvSpPr>
            <a:spLocks/>
          </p:cNvSpPr>
          <p:nvPr/>
        </p:nvSpPr>
        <p:spPr bwMode="auto">
          <a:xfrm>
            <a:off x="3605213" y="5329239"/>
            <a:ext cx="323850" cy="339725"/>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5 h 643"/>
              <a:gd name="T14" fmla="*/ 56 w 614"/>
              <a:gd name="T15" fmla="*/ 615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5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5"/>
                </a:lnTo>
                <a:lnTo>
                  <a:pt x="56" y="615"/>
                </a:lnTo>
                <a:lnTo>
                  <a:pt x="56" y="195"/>
                </a:lnTo>
                <a:lnTo>
                  <a:pt x="558" y="195"/>
                </a:lnTo>
                <a:lnTo>
                  <a:pt x="587" y="195"/>
                </a:lnTo>
                <a:lnTo>
                  <a:pt x="587" y="643"/>
                </a:lnTo>
                <a:lnTo>
                  <a:pt x="56" y="643"/>
                </a:lnTo>
                <a:lnTo>
                  <a:pt x="56" y="615"/>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64" name="Rectangle 364">
            <a:extLst>
              <a:ext uri="{FF2B5EF4-FFF2-40B4-BE49-F238E27FC236}">
                <a16:creationId xmlns:a16="http://schemas.microsoft.com/office/drawing/2014/main" id="{777DF44E-F438-7F43-83C4-B0C90327C17A}"/>
              </a:ext>
            </a:extLst>
          </p:cNvPr>
          <p:cNvSpPr>
            <a:spLocks noChangeArrowheads="1"/>
          </p:cNvSpPr>
          <p:nvPr/>
        </p:nvSpPr>
        <p:spPr bwMode="auto">
          <a:xfrm>
            <a:off x="3635375" y="5432426"/>
            <a:ext cx="268288"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65" name="Rectangle 365">
            <a:extLst>
              <a:ext uri="{FF2B5EF4-FFF2-40B4-BE49-F238E27FC236}">
                <a16:creationId xmlns:a16="http://schemas.microsoft.com/office/drawing/2014/main" id="{BB3432F5-FC93-D84E-ACB5-D0D5B795BED3}"/>
              </a:ext>
            </a:extLst>
          </p:cNvPr>
          <p:cNvSpPr>
            <a:spLocks noChangeArrowheads="1"/>
          </p:cNvSpPr>
          <p:nvPr/>
        </p:nvSpPr>
        <p:spPr bwMode="auto">
          <a:xfrm>
            <a:off x="3678238" y="5484814"/>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66" name="Rectangle 366">
            <a:extLst>
              <a:ext uri="{FF2B5EF4-FFF2-40B4-BE49-F238E27FC236}">
                <a16:creationId xmlns:a16="http://schemas.microsoft.com/office/drawing/2014/main" id="{AB278864-FA78-FA4B-AF72-5B503F91DD97}"/>
              </a:ext>
            </a:extLst>
          </p:cNvPr>
          <p:cNvSpPr>
            <a:spLocks noChangeArrowheads="1"/>
          </p:cNvSpPr>
          <p:nvPr/>
        </p:nvSpPr>
        <p:spPr bwMode="auto">
          <a:xfrm>
            <a:off x="3813175" y="5481639"/>
            <a:ext cx="65088"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67" name="Freeform 367">
            <a:extLst>
              <a:ext uri="{FF2B5EF4-FFF2-40B4-BE49-F238E27FC236}">
                <a16:creationId xmlns:a16="http://schemas.microsoft.com/office/drawing/2014/main" id="{4F0306AA-D4A5-2348-9BE1-64DAD0D0EEF1}"/>
              </a:ext>
            </a:extLst>
          </p:cNvPr>
          <p:cNvSpPr>
            <a:spLocks/>
          </p:cNvSpPr>
          <p:nvPr/>
        </p:nvSpPr>
        <p:spPr bwMode="auto">
          <a:xfrm>
            <a:off x="3746500" y="5562601"/>
            <a:ext cx="12700" cy="15875"/>
          </a:xfrm>
          <a:custGeom>
            <a:avLst/>
            <a:gdLst>
              <a:gd name="T0" fmla="*/ 23 w 23"/>
              <a:gd name="T1" fmla="*/ 13 h 30"/>
              <a:gd name="T2" fmla="*/ 23 w 23"/>
              <a:gd name="T3" fmla="*/ 11 h 30"/>
              <a:gd name="T4" fmla="*/ 21 w 23"/>
              <a:gd name="T5" fmla="*/ 9 h 30"/>
              <a:gd name="T6" fmla="*/ 21 w 23"/>
              <a:gd name="T7" fmla="*/ 7 h 30"/>
              <a:gd name="T8" fmla="*/ 18 w 23"/>
              <a:gd name="T9" fmla="*/ 5 h 30"/>
              <a:gd name="T10" fmla="*/ 17 w 23"/>
              <a:gd name="T11" fmla="*/ 2 h 30"/>
              <a:gd name="T12" fmla="*/ 16 w 23"/>
              <a:gd name="T13" fmla="*/ 1 h 30"/>
              <a:gd name="T14" fmla="*/ 14 w 23"/>
              <a:gd name="T15" fmla="*/ 0 h 30"/>
              <a:gd name="T16" fmla="*/ 12 w 23"/>
              <a:gd name="T17" fmla="*/ 0 h 30"/>
              <a:gd name="T18" fmla="*/ 10 w 23"/>
              <a:gd name="T19" fmla="*/ 0 h 30"/>
              <a:gd name="T20" fmla="*/ 9 w 23"/>
              <a:gd name="T21" fmla="*/ 0 h 30"/>
              <a:gd name="T22" fmla="*/ 6 w 23"/>
              <a:gd name="T23" fmla="*/ 1 h 30"/>
              <a:gd name="T24" fmla="*/ 4 w 23"/>
              <a:gd name="T25" fmla="*/ 2 h 30"/>
              <a:gd name="T26" fmla="*/ 3 w 23"/>
              <a:gd name="T27" fmla="*/ 5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5 h 30"/>
              <a:gd name="T46" fmla="*/ 4 w 23"/>
              <a:gd name="T47" fmla="*/ 28 h 30"/>
              <a:gd name="T48" fmla="*/ 6 w 23"/>
              <a:gd name="T49" fmla="*/ 29 h 30"/>
              <a:gd name="T50" fmla="*/ 9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3"/>
                </a:lnTo>
                <a:lnTo>
                  <a:pt x="23" y="12"/>
                </a:lnTo>
                <a:lnTo>
                  <a:pt x="23" y="11"/>
                </a:lnTo>
                <a:lnTo>
                  <a:pt x="22" y="10"/>
                </a:lnTo>
                <a:lnTo>
                  <a:pt x="21" y="9"/>
                </a:lnTo>
                <a:lnTo>
                  <a:pt x="21" y="8"/>
                </a:lnTo>
                <a:lnTo>
                  <a:pt x="21" y="7"/>
                </a:lnTo>
                <a:lnTo>
                  <a:pt x="20" y="6"/>
                </a:lnTo>
                <a:lnTo>
                  <a:pt x="18" y="5"/>
                </a:lnTo>
                <a:lnTo>
                  <a:pt x="18" y="4"/>
                </a:lnTo>
                <a:lnTo>
                  <a:pt x="17" y="2"/>
                </a:lnTo>
                <a:lnTo>
                  <a:pt x="16" y="1"/>
                </a:lnTo>
                <a:lnTo>
                  <a:pt x="15" y="0"/>
                </a:lnTo>
                <a:lnTo>
                  <a:pt x="14" y="0"/>
                </a:lnTo>
                <a:lnTo>
                  <a:pt x="13" y="0"/>
                </a:lnTo>
                <a:lnTo>
                  <a:pt x="12" y="0"/>
                </a:lnTo>
                <a:lnTo>
                  <a:pt x="11" y="0"/>
                </a:lnTo>
                <a:lnTo>
                  <a:pt x="10" y="0"/>
                </a:lnTo>
                <a:lnTo>
                  <a:pt x="9" y="0"/>
                </a:lnTo>
                <a:lnTo>
                  <a:pt x="7" y="0"/>
                </a:lnTo>
                <a:lnTo>
                  <a:pt x="6" y="1"/>
                </a:lnTo>
                <a:lnTo>
                  <a:pt x="5" y="1"/>
                </a:lnTo>
                <a:lnTo>
                  <a:pt x="4" y="2"/>
                </a:lnTo>
                <a:lnTo>
                  <a:pt x="3" y="4"/>
                </a:lnTo>
                <a:lnTo>
                  <a:pt x="3" y="5"/>
                </a:lnTo>
                <a:lnTo>
                  <a:pt x="2" y="6"/>
                </a:lnTo>
                <a:lnTo>
                  <a:pt x="1" y="7"/>
                </a:lnTo>
                <a:lnTo>
                  <a:pt x="1" y="8"/>
                </a:lnTo>
                <a:lnTo>
                  <a:pt x="1" y="9"/>
                </a:lnTo>
                <a:lnTo>
                  <a:pt x="0" y="10"/>
                </a:lnTo>
                <a:lnTo>
                  <a:pt x="0" y="11"/>
                </a:lnTo>
                <a:lnTo>
                  <a:pt x="0" y="12"/>
                </a:lnTo>
                <a:lnTo>
                  <a:pt x="0" y="13"/>
                </a:lnTo>
                <a:lnTo>
                  <a:pt x="0" y="15"/>
                </a:lnTo>
                <a:lnTo>
                  <a:pt x="0" y="17"/>
                </a:lnTo>
                <a:lnTo>
                  <a:pt x="0" y="18"/>
                </a:lnTo>
                <a:lnTo>
                  <a:pt x="0" y="19"/>
                </a:lnTo>
                <a:lnTo>
                  <a:pt x="0" y="20"/>
                </a:lnTo>
                <a:lnTo>
                  <a:pt x="1" y="22"/>
                </a:lnTo>
                <a:lnTo>
                  <a:pt x="1" y="23"/>
                </a:lnTo>
                <a:lnTo>
                  <a:pt x="1" y="24"/>
                </a:lnTo>
                <a:lnTo>
                  <a:pt x="2" y="24"/>
                </a:lnTo>
                <a:lnTo>
                  <a:pt x="3" y="25"/>
                </a:lnTo>
                <a:lnTo>
                  <a:pt x="3" y="27"/>
                </a:lnTo>
                <a:lnTo>
                  <a:pt x="4" y="28"/>
                </a:lnTo>
                <a:lnTo>
                  <a:pt x="5" y="29"/>
                </a:lnTo>
                <a:lnTo>
                  <a:pt x="6" y="29"/>
                </a:lnTo>
                <a:lnTo>
                  <a:pt x="7" y="30"/>
                </a:lnTo>
                <a:lnTo>
                  <a:pt x="9" y="30"/>
                </a:lnTo>
                <a:lnTo>
                  <a:pt x="10" y="30"/>
                </a:lnTo>
                <a:lnTo>
                  <a:pt x="11" y="30"/>
                </a:lnTo>
                <a:lnTo>
                  <a:pt x="12" y="30"/>
                </a:lnTo>
                <a:lnTo>
                  <a:pt x="13" y="30"/>
                </a:lnTo>
                <a:lnTo>
                  <a:pt x="14" y="30"/>
                </a:lnTo>
                <a:lnTo>
                  <a:pt x="15" y="30"/>
                </a:lnTo>
                <a:lnTo>
                  <a:pt x="16" y="29"/>
                </a:lnTo>
                <a:lnTo>
                  <a:pt x="17" y="28"/>
                </a:lnTo>
                <a:lnTo>
                  <a:pt x="18" y="27"/>
                </a:lnTo>
                <a:lnTo>
                  <a:pt x="18" y="25"/>
                </a:lnTo>
                <a:lnTo>
                  <a:pt x="20" y="24"/>
                </a:lnTo>
                <a:lnTo>
                  <a:pt x="21" y="24"/>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68" name="Line 368">
            <a:extLst>
              <a:ext uri="{FF2B5EF4-FFF2-40B4-BE49-F238E27FC236}">
                <a16:creationId xmlns:a16="http://schemas.microsoft.com/office/drawing/2014/main" id="{69A0FE2B-FF9A-EE48-9026-A93E0A229F97}"/>
              </a:ext>
            </a:extLst>
          </p:cNvPr>
          <p:cNvSpPr>
            <a:spLocks noChangeShapeType="1"/>
          </p:cNvSpPr>
          <p:nvPr/>
        </p:nvSpPr>
        <p:spPr bwMode="auto">
          <a:xfrm>
            <a:off x="3844925" y="5481639"/>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69" name="Line 369">
            <a:extLst>
              <a:ext uri="{FF2B5EF4-FFF2-40B4-BE49-F238E27FC236}">
                <a16:creationId xmlns:a16="http://schemas.microsoft.com/office/drawing/2014/main" id="{B4432A29-318C-904B-BA9B-96FE3F135440}"/>
              </a:ext>
            </a:extLst>
          </p:cNvPr>
          <p:cNvSpPr>
            <a:spLocks noChangeShapeType="1"/>
          </p:cNvSpPr>
          <p:nvPr/>
        </p:nvSpPr>
        <p:spPr bwMode="auto">
          <a:xfrm>
            <a:off x="3813176" y="5519739"/>
            <a:ext cx="61913"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70" name="Freeform 370">
            <a:extLst>
              <a:ext uri="{FF2B5EF4-FFF2-40B4-BE49-F238E27FC236}">
                <a16:creationId xmlns:a16="http://schemas.microsoft.com/office/drawing/2014/main" id="{3E6A3DA3-AE41-8542-A443-15A98AB5F770}"/>
              </a:ext>
            </a:extLst>
          </p:cNvPr>
          <p:cNvSpPr>
            <a:spLocks/>
          </p:cNvSpPr>
          <p:nvPr/>
        </p:nvSpPr>
        <p:spPr bwMode="auto">
          <a:xfrm>
            <a:off x="4640264" y="5808663"/>
            <a:ext cx="325437" cy="341312"/>
          </a:xfrm>
          <a:custGeom>
            <a:avLst/>
            <a:gdLst>
              <a:gd name="T0" fmla="*/ 56 w 615"/>
              <a:gd name="T1" fmla="*/ 195 h 643"/>
              <a:gd name="T2" fmla="*/ 0 w 615"/>
              <a:gd name="T3" fmla="*/ 195 h 643"/>
              <a:gd name="T4" fmla="*/ 307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7"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71" name="Rectangle 371">
            <a:extLst>
              <a:ext uri="{FF2B5EF4-FFF2-40B4-BE49-F238E27FC236}">
                <a16:creationId xmlns:a16="http://schemas.microsoft.com/office/drawing/2014/main" id="{9F75DE26-346D-9F47-B1A1-E60666FC394F}"/>
              </a:ext>
            </a:extLst>
          </p:cNvPr>
          <p:cNvSpPr>
            <a:spLocks noChangeArrowheads="1"/>
          </p:cNvSpPr>
          <p:nvPr/>
        </p:nvSpPr>
        <p:spPr bwMode="auto">
          <a:xfrm>
            <a:off x="4670426" y="5911850"/>
            <a:ext cx="269875"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72" name="Rectangle 372">
            <a:extLst>
              <a:ext uri="{FF2B5EF4-FFF2-40B4-BE49-F238E27FC236}">
                <a16:creationId xmlns:a16="http://schemas.microsoft.com/office/drawing/2014/main" id="{8D69C19B-EA93-204E-AB29-DD32DE516D2B}"/>
              </a:ext>
            </a:extLst>
          </p:cNvPr>
          <p:cNvSpPr>
            <a:spLocks noChangeArrowheads="1"/>
          </p:cNvSpPr>
          <p:nvPr/>
        </p:nvSpPr>
        <p:spPr bwMode="auto">
          <a:xfrm>
            <a:off x="4713288" y="5965825"/>
            <a:ext cx="95250"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73" name="Rectangle 373">
            <a:extLst>
              <a:ext uri="{FF2B5EF4-FFF2-40B4-BE49-F238E27FC236}">
                <a16:creationId xmlns:a16="http://schemas.microsoft.com/office/drawing/2014/main" id="{DCB8F26B-7009-4746-9784-280B75E3CC3B}"/>
              </a:ext>
            </a:extLst>
          </p:cNvPr>
          <p:cNvSpPr>
            <a:spLocks noChangeArrowheads="1"/>
          </p:cNvSpPr>
          <p:nvPr/>
        </p:nvSpPr>
        <p:spPr bwMode="auto">
          <a:xfrm>
            <a:off x="4849813" y="5961063"/>
            <a:ext cx="63500" cy="80962"/>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74" name="Freeform 374">
            <a:extLst>
              <a:ext uri="{FF2B5EF4-FFF2-40B4-BE49-F238E27FC236}">
                <a16:creationId xmlns:a16="http://schemas.microsoft.com/office/drawing/2014/main" id="{18C3DAAC-00BF-374F-AF99-6F2580E1F289}"/>
              </a:ext>
            </a:extLst>
          </p:cNvPr>
          <p:cNvSpPr>
            <a:spLocks/>
          </p:cNvSpPr>
          <p:nvPr/>
        </p:nvSpPr>
        <p:spPr bwMode="auto">
          <a:xfrm>
            <a:off x="4783138" y="6042026"/>
            <a:ext cx="12700" cy="15875"/>
          </a:xfrm>
          <a:custGeom>
            <a:avLst/>
            <a:gdLst>
              <a:gd name="T0" fmla="*/ 23 w 23"/>
              <a:gd name="T1" fmla="*/ 13 h 29"/>
              <a:gd name="T2" fmla="*/ 23 w 23"/>
              <a:gd name="T3" fmla="*/ 11 h 29"/>
              <a:gd name="T4" fmla="*/ 21 w 23"/>
              <a:gd name="T5" fmla="*/ 9 h 29"/>
              <a:gd name="T6" fmla="*/ 21 w 23"/>
              <a:gd name="T7" fmla="*/ 6 h 29"/>
              <a:gd name="T8" fmla="*/ 19 w 23"/>
              <a:gd name="T9" fmla="*/ 4 h 29"/>
              <a:gd name="T10" fmla="*/ 18 w 23"/>
              <a:gd name="T11" fmla="*/ 2 h 29"/>
              <a:gd name="T12" fmla="*/ 16 w 23"/>
              <a:gd name="T13" fmla="*/ 1 h 29"/>
              <a:gd name="T14" fmla="*/ 14 w 23"/>
              <a:gd name="T15" fmla="*/ 0 h 29"/>
              <a:gd name="T16" fmla="*/ 12 w 23"/>
              <a:gd name="T17" fmla="*/ 0 h 29"/>
              <a:gd name="T18" fmla="*/ 10 w 23"/>
              <a:gd name="T19" fmla="*/ 0 h 29"/>
              <a:gd name="T20" fmla="*/ 9 w 23"/>
              <a:gd name="T21" fmla="*/ 0 h 29"/>
              <a:gd name="T22" fmla="*/ 7 w 23"/>
              <a:gd name="T23" fmla="*/ 1 h 29"/>
              <a:gd name="T24" fmla="*/ 4 w 23"/>
              <a:gd name="T25" fmla="*/ 2 h 29"/>
              <a:gd name="T26" fmla="*/ 3 w 23"/>
              <a:gd name="T27" fmla="*/ 4 h 29"/>
              <a:gd name="T28" fmla="*/ 1 w 23"/>
              <a:gd name="T29" fmla="*/ 6 h 29"/>
              <a:gd name="T30" fmla="*/ 1 w 23"/>
              <a:gd name="T31" fmla="*/ 9 h 29"/>
              <a:gd name="T32" fmla="*/ 0 w 23"/>
              <a:gd name="T33" fmla="*/ 11 h 29"/>
              <a:gd name="T34" fmla="*/ 0 w 23"/>
              <a:gd name="T35" fmla="*/ 13 h 29"/>
              <a:gd name="T36" fmla="*/ 0 w 23"/>
              <a:gd name="T37" fmla="*/ 16 h 29"/>
              <a:gd name="T38" fmla="*/ 0 w 23"/>
              <a:gd name="T39" fmla="*/ 19 h 29"/>
              <a:gd name="T40" fmla="*/ 1 w 23"/>
              <a:gd name="T41" fmla="*/ 22 h 29"/>
              <a:gd name="T42" fmla="*/ 1 w 23"/>
              <a:gd name="T43" fmla="*/ 24 h 29"/>
              <a:gd name="T44" fmla="*/ 3 w 23"/>
              <a:gd name="T45" fmla="*/ 25 h 29"/>
              <a:gd name="T46" fmla="*/ 4 w 23"/>
              <a:gd name="T47" fmla="*/ 27 h 29"/>
              <a:gd name="T48" fmla="*/ 7 w 23"/>
              <a:gd name="T49" fmla="*/ 28 h 29"/>
              <a:gd name="T50" fmla="*/ 9 w 23"/>
              <a:gd name="T51" fmla="*/ 29 h 29"/>
              <a:gd name="T52" fmla="*/ 10 w 23"/>
              <a:gd name="T53" fmla="*/ 29 h 29"/>
              <a:gd name="T54" fmla="*/ 12 w 23"/>
              <a:gd name="T55" fmla="*/ 29 h 29"/>
              <a:gd name="T56" fmla="*/ 14 w 23"/>
              <a:gd name="T57" fmla="*/ 29 h 29"/>
              <a:gd name="T58" fmla="*/ 16 w 23"/>
              <a:gd name="T59" fmla="*/ 28 h 29"/>
              <a:gd name="T60" fmla="*/ 18 w 23"/>
              <a:gd name="T61" fmla="*/ 27 h 29"/>
              <a:gd name="T62" fmla="*/ 19 w 23"/>
              <a:gd name="T63" fmla="*/ 25 h 29"/>
              <a:gd name="T64" fmla="*/ 21 w 23"/>
              <a:gd name="T65" fmla="*/ 24 h 29"/>
              <a:gd name="T66" fmla="*/ 21 w 23"/>
              <a:gd name="T67" fmla="*/ 22 h 29"/>
              <a:gd name="T68" fmla="*/ 23 w 23"/>
              <a:gd name="T69" fmla="*/ 19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10"/>
                </a:lnTo>
                <a:lnTo>
                  <a:pt x="21" y="9"/>
                </a:lnTo>
                <a:lnTo>
                  <a:pt x="21" y="8"/>
                </a:lnTo>
                <a:lnTo>
                  <a:pt x="21" y="6"/>
                </a:lnTo>
                <a:lnTo>
                  <a:pt x="20" y="5"/>
                </a:lnTo>
                <a:lnTo>
                  <a:pt x="19" y="4"/>
                </a:lnTo>
                <a:lnTo>
                  <a:pt x="19" y="3"/>
                </a:lnTo>
                <a:lnTo>
                  <a:pt x="18" y="2"/>
                </a:lnTo>
                <a:lnTo>
                  <a:pt x="16" y="1"/>
                </a:lnTo>
                <a:lnTo>
                  <a:pt x="15" y="0"/>
                </a:lnTo>
                <a:lnTo>
                  <a:pt x="14" y="0"/>
                </a:lnTo>
                <a:lnTo>
                  <a:pt x="13" y="0"/>
                </a:lnTo>
                <a:lnTo>
                  <a:pt x="12" y="0"/>
                </a:lnTo>
                <a:lnTo>
                  <a:pt x="11" y="0"/>
                </a:lnTo>
                <a:lnTo>
                  <a:pt x="10" y="0"/>
                </a:lnTo>
                <a:lnTo>
                  <a:pt x="9" y="0"/>
                </a:lnTo>
                <a:lnTo>
                  <a:pt x="8" y="0"/>
                </a:lnTo>
                <a:lnTo>
                  <a:pt x="7" y="1"/>
                </a:lnTo>
                <a:lnTo>
                  <a:pt x="6" y="1"/>
                </a:lnTo>
                <a:lnTo>
                  <a:pt x="4" y="2"/>
                </a:lnTo>
                <a:lnTo>
                  <a:pt x="3" y="3"/>
                </a:lnTo>
                <a:lnTo>
                  <a:pt x="3" y="4"/>
                </a:lnTo>
                <a:lnTo>
                  <a:pt x="2" y="5"/>
                </a:lnTo>
                <a:lnTo>
                  <a:pt x="1" y="6"/>
                </a:lnTo>
                <a:lnTo>
                  <a:pt x="1" y="8"/>
                </a:lnTo>
                <a:lnTo>
                  <a:pt x="1" y="9"/>
                </a:lnTo>
                <a:lnTo>
                  <a:pt x="0" y="10"/>
                </a:lnTo>
                <a:lnTo>
                  <a:pt x="0" y="11"/>
                </a:lnTo>
                <a:lnTo>
                  <a:pt x="0" y="12"/>
                </a:lnTo>
                <a:lnTo>
                  <a:pt x="0" y="13"/>
                </a:lnTo>
                <a:lnTo>
                  <a:pt x="0" y="14"/>
                </a:lnTo>
                <a:lnTo>
                  <a:pt x="0" y="16"/>
                </a:lnTo>
                <a:lnTo>
                  <a:pt x="0" y="17"/>
                </a:lnTo>
                <a:lnTo>
                  <a:pt x="0" y="19"/>
                </a:lnTo>
                <a:lnTo>
                  <a:pt x="0" y="20"/>
                </a:lnTo>
                <a:lnTo>
                  <a:pt x="1" y="22"/>
                </a:lnTo>
                <a:lnTo>
                  <a:pt x="1" y="23"/>
                </a:lnTo>
                <a:lnTo>
                  <a:pt x="1" y="24"/>
                </a:lnTo>
                <a:lnTo>
                  <a:pt x="2" y="24"/>
                </a:lnTo>
                <a:lnTo>
                  <a:pt x="3" y="25"/>
                </a:lnTo>
                <a:lnTo>
                  <a:pt x="3" y="26"/>
                </a:lnTo>
                <a:lnTo>
                  <a:pt x="4" y="27"/>
                </a:lnTo>
                <a:lnTo>
                  <a:pt x="6" y="28"/>
                </a:lnTo>
                <a:lnTo>
                  <a:pt x="7" y="28"/>
                </a:lnTo>
                <a:lnTo>
                  <a:pt x="8" y="29"/>
                </a:lnTo>
                <a:lnTo>
                  <a:pt x="9" y="29"/>
                </a:lnTo>
                <a:lnTo>
                  <a:pt x="10" y="29"/>
                </a:lnTo>
                <a:lnTo>
                  <a:pt x="11" y="29"/>
                </a:lnTo>
                <a:lnTo>
                  <a:pt x="12" y="29"/>
                </a:lnTo>
                <a:lnTo>
                  <a:pt x="13" y="29"/>
                </a:lnTo>
                <a:lnTo>
                  <a:pt x="14" y="29"/>
                </a:lnTo>
                <a:lnTo>
                  <a:pt x="15" y="29"/>
                </a:lnTo>
                <a:lnTo>
                  <a:pt x="16" y="28"/>
                </a:lnTo>
                <a:lnTo>
                  <a:pt x="18" y="27"/>
                </a:lnTo>
                <a:lnTo>
                  <a:pt x="19" y="26"/>
                </a:lnTo>
                <a:lnTo>
                  <a:pt x="19" y="25"/>
                </a:lnTo>
                <a:lnTo>
                  <a:pt x="20" y="24"/>
                </a:lnTo>
                <a:lnTo>
                  <a:pt x="21" y="24"/>
                </a:lnTo>
                <a:lnTo>
                  <a:pt x="21" y="23"/>
                </a:lnTo>
                <a:lnTo>
                  <a:pt x="21" y="22"/>
                </a:lnTo>
                <a:lnTo>
                  <a:pt x="22" y="20"/>
                </a:lnTo>
                <a:lnTo>
                  <a:pt x="23" y="19"/>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75" name="Line 375">
            <a:extLst>
              <a:ext uri="{FF2B5EF4-FFF2-40B4-BE49-F238E27FC236}">
                <a16:creationId xmlns:a16="http://schemas.microsoft.com/office/drawing/2014/main" id="{95728101-B0A5-4547-B2B6-9EB0E4CE4923}"/>
              </a:ext>
            </a:extLst>
          </p:cNvPr>
          <p:cNvSpPr>
            <a:spLocks noChangeShapeType="1"/>
          </p:cNvSpPr>
          <p:nvPr/>
        </p:nvSpPr>
        <p:spPr bwMode="auto">
          <a:xfrm>
            <a:off x="4879975" y="5961063"/>
            <a:ext cx="1588" cy="80962"/>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76" name="Line 376">
            <a:extLst>
              <a:ext uri="{FF2B5EF4-FFF2-40B4-BE49-F238E27FC236}">
                <a16:creationId xmlns:a16="http://schemas.microsoft.com/office/drawing/2014/main" id="{1DC91E7E-683D-FA46-8FF9-3458B3A7B432}"/>
              </a:ext>
            </a:extLst>
          </p:cNvPr>
          <p:cNvSpPr>
            <a:spLocks noChangeShapeType="1"/>
          </p:cNvSpPr>
          <p:nvPr/>
        </p:nvSpPr>
        <p:spPr bwMode="auto">
          <a:xfrm>
            <a:off x="4849813" y="5999164"/>
            <a:ext cx="61912"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77" name="Freeform 377">
            <a:extLst>
              <a:ext uri="{FF2B5EF4-FFF2-40B4-BE49-F238E27FC236}">
                <a16:creationId xmlns:a16="http://schemas.microsoft.com/office/drawing/2014/main" id="{BBD80A0F-FE95-BA46-8711-F99B8B4676F9}"/>
              </a:ext>
            </a:extLst>
          </p:cNvPr>
          <p:cNvSpPr>
            <a:spLocks/>
          </p:cNvSpPr>
          <p:nvPr/>
        </p:nvSpPr>
        <p:spPr bwMode="auto">
          <a:xfrm>
            <a:off x="4578350" y="4457701"/>
            <a:ext cx="323850" cy="339725"/>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4 h 643"/>
              <a:gd name="T14" fmla="*/ 56 w 614"/>
              <a:gd name="T15" fmla="*/ 614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4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4"/>
                </a:lnTo>
                <a:lnTo>
                  <a:pt x="56" y="614"/>
                </a:lnTo>
                <a:lnTo>
                  <a:pt x="56" y="195"/>
                </a:lnTo>
                <a:lnTo>
                  <a:pt x="558"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78" name="Rectangle 378">
            <a:extLst>
              <a:ext uri="{FF2B5EF4-FFF2-40B4-BE49-F238E27FC236}">
                <a16:creationId xmlns:a16="http://schemas.microsoft.com/office/drawing/2014/main" id="{65CDBA7E-BFF1-D64B-9811-8563AC496DD8}"/>
              </a:ext>
            </a:extLst>
          </p:cNvPr>
          <p:cNvSpPr>
            <a:spLocks noChangeArrowheads="1"/>
          </p:cNvSpPr>
          <p:nvPr/>
        </p:nvSpPr>
        <p:spPr bwMode="auto">
          <a:xfrm>
            <a:off x="4608514" y="4560888"/>
            <a:ext cx="268287" cy="220662"/>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79" name="Rectangle 379">
            <a:extLst>
              <a:ext uri="{FF2B5EF4-FFF2-40B4-BE49-F238E27FC236}">
                <a16:creationId xmlns:a16="http://schemas.microsoft.com/office/drawing/2014/main" id="{15AD1CC9-AE37-EB47-9261-5F8CA2566E8C}"/>
              </a:ext>
            </a:extLst>
          </p:cNvPr>
          <p:cNvSpPr>
            <a:spLocks noChangeArrowheads="1"/>
          </p:cNvSpPr>
          <p:nvPr/>
        </p:nvSpPr>
        <p:spPr bwMode="auto">
          <a:xfrm>
            <a:off x="4651376" y="4613275"/>
            <a:ext cx="93663"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80" name="Rectangle 380">
            <a:extLst>
              <a:ext uri="{FF2B5EF4-FFF2-40B4-BE49-F238E27FC236}">
                <a16:creationId xmlns:a16="http://schemas.microsoft.com/office/drawing/2014/main" id="{CEA85941-3921-694D-A1AA-05381E2AB4DD}"/>
              </a:ext>
            </a:extLst>
          </p:cNvPr>
          <p:cNvSpPr>
            <a:spLocks noChangeArrowheads="1"/>
          </p:cNvSpPr>
          <p:nvPr/>
        </p:nvSpPr>
        <p:spPr bwMode="auto">
          <a:xfrm>
            <a:off x="4786313" y="4608513"/>
            <a:ext cx="63500" cy="80962"/>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81" name="Freeform 381">
            <a:extLst>
              <a:ext uri="{FF2B5EF4-FFF2-40B4-BE49-F238E27FC236}">
                <a16:creationId xmlns:a16="http://schemas.microsoft.com/office/drawing/2014/main" id="{A39D881C-AEF0-0F4E-BF5B-D474E71B737E}"/>
              </a:ext>
            </a:extLst>
          </p:cNvPr>
          <p:cNvSpPr>
            <a:spLocks/>
          </p:cNvSpPr>
          <p:nvPr/>
        </p:nvSpPr>
        <p:spPr bwMode="auto">
          <a:xfrm>
            <a:off x="4719638" y="4691064"/>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4 h 30"/>
              <a:gd name="T10" fmla="*/ 18 w 23"/>
              <a:gd name="T11" fmla="*/ 2 h 30"/>
              <a:gd name="T12" fmla="*/ 17 w 23"/>
              <a:gd name="T13" fmla="*/ 1 h 30"/>
              <a:gd name="T14" fmla="*/ 15 w 23"/>
              <a:gd name="T15" fmla="*/ 0 h 30"/>
              <a:gd name="T16" fmla="*/ 13 w 23"/>
              <a:gd name="T17" fmla="*/ 0 h 30"/>
              <a:gd name="T18" fmla="*/ 10 w 23"/>
              <a:gd name="T19" fmla="*/ 0 h 30"/>
              <a:gd name="T20" fmla="*/ 9 w 23"/>
              <a:gd name="T21" fmla="*/ 0 h 30"/>
              <a:gd name="T22" fmla="*/ 7 w 23"/>
              <a:gd name="T23" fmla="*/ 1 h 30"/>
              <a:gd name="T24" fmla="*/ 5 w 23"/>
              <a:gd name="T25" fmla="*/ 2 h 30"/>
              <a:gd name="T26" fmla="*/ 4 w 23"/>
              <a:gd name="T27" fmla="*/ 4 h 30"/>
              <a:gd name="T28" fmla="*/ 2 w 23"/>
              <a:gd name="T29" fmla="*/ 7 h 30"/>
              <a:gd name="T30" fmla="*/ 2 w 23"/>
              <a:gd name="T31" fmla="*/ 9 h 30"/>
              <a:gd name="T32" fmla="*/ 0 w 23"/>
              <a:gd name="T33" fmla="*/ 11 h 30"/>
              <a:gd name="T34" fmla="*/ 0 w 23"/>
              <a:gd name="T35" fmla="*/ 13 h 30"/>
              <a:gd name="T36" fmla="*/ 0 w 23"/>
              <a:gd name="T37" fmla="*/ 16 h 30"/>
              <a:gd name="T38" fmla="*/ 0 w 23"/>
              <a:gd name="T39" fmla="*/ 19 h 30"/>
              <a:gd name="T40" fmla="*/ 2 w 23"/>
              <a:gd name="T41" fmla="*/ 22 h 30"/>
              <a:gd name="T42" fmla="*/ 2 w 23"/>
              <a:gd name="T43" fmla="*/ 24 h 30"/>
              <a:gd name="T44" fmla="*/ 4 w 23"/>
              <a:gd name="T45" fmla="*/ 25 h 30"/>
              <a:gd name="T46" fmla="*/ 5 w 23"/>
              <a:gd name="T47" fmla="*/ 27 h 30"/>
              <a:gd name="T48" fmla="*/ 7 w 23"/>
              <a:gd name="T49" fmla="*/ 28 h 30"/>
              <a:gd name="T50" fmla="*/ 9 w 23"/>
              <a:gd name="T51" fmla="*/ 30 h 30"/>
              <a:gd name="T52" fmla="*/ 10 w 23"/>
              <a:gd name="T53" fmla="*/ 30 h 30"/>
              <a:gd name="T54" fmla="*/ 13 w 23"/>
              <a:gd name="T55" fmla="*/ 30 h 30"/>
              <a:gd name="T56" fmla="*/ 15 w 23"/>
              <a:gd name="T57" fmla="*/ 30 h 30"/>
              <a:gd name="T58" fmla="*/ 17 w 23"/>
              <a:gd name="T59" fmla="*/ 28 h 30"/>
              <a:gd name="T60" fmla="*/ 18 w 23"/>
              <a:gd name="T61" fmla="*/ 27 h 30"/>
              <a:gd name="T62" fmla="*/ 19 w 23"/>
              <a:gd name="T63" fmla="*/ 25 h 30"/>
              <a:gd name="T64" fmla="*/ 21 w 23"/>
              <a:gd name="T65" fmla="*/ 24 h 30"/>
              <a:gd name="T66" fmla="*/ 21 w 23"/>
              <a:gd name="T67" fmla="*/ 22 h 30"/>
              <a:gd name="T68" fmla="*/ 23 w 23"/>
              <a:gd name="T69" fmla="*/ 19 h 30"/>
              <a:gd name="T70" fmla="*/ 23 w 23"/>
              <a:gd name="T71" fmla="*/ 16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5"/>
                </a:lnTo>
                <a:lnTo>
                  <a:pt x="19" y="4"/>
                </a:lnTo>
                <a:lnTo>
                  <a:pt x="19" y="3"/>
                </a:lnTo>
                <a:lnTo>
                  <a:pt x="18" y="2"/>
                </a:lnTo>
                <a:lnTo>
                  <a:pt x="17" y="1"/>
                </a:lnTo>
                <a:lnTo>
                  <a:pt x="16" y="0"/>
                </a:lnTo>
                <a:lnTo>
                  <a:pt x="15" y="0"/>
                </a:lnTo>
                <a:lnTo>
                  <a:pt x="14" y="0"/>
                </a:lnTo>
                <a:lnTo>
                  <a:pt x="13" y="0"/>
                </a:lnTo>
                <a:lnTo>
                  <a:pt x="11" y="0"/>
                </a:lnTo>
                <a:lnTo>
                  <a:pt x="10" y="0"/>
                </a:lnTo>
                <a:lnTo>
                  <a:pt x="9" y="0"/>
                </a:lnTo>
                <a:lnTo>
                  <a:pt x="8" y="0"/>
                </a:lnTo>
                <a:lnTo>
                  <a:pt x="7" y="1"/>
                </a:lnTo>
                <a:lnTo>
                  <a:pt x="6" y="1"/>
                </a:lnTo>
                <a:lnTo>
                  <a:pt x="5" y="2"/>
                </a:lnTo>
                <a:lnTo>
                  <a:pt x="4" y="3"/>
                </a:lnTo>
                <a:lnTo>
                  <a:pt x="4" y="4"/>
                </a:lnTo>
                <a:lnTo>
                  <a:pt x="3" y="5"/>
                </a:lnTo>
                <a:lnTo>
                  <a:pt x="2" y="7"/>
                </a:lnTo>
                <a:lnTo>
                  <a:pt x="2" y="8"/>
                </a:lnTo>
                <a:lnTo>
                  <a:pt x="2" y="9"/>
                </a:lnTo>
                <a:lnTo>
                  <a:pt x="0" y="10"/>
                </a:lnTo>
                <a:lnTo>
                  <a:pt x="0" y="11"/>
                </a:lnTo>
                <a:lnTo>
                  <a:pt x="0" y="12"/>
                </a:lnTo>
                <a:lnTo>
                  <a:pt x="0" y="13"/>
                </a:lnTo>
                <a:lnTo>
                  <a:pt x="0" y="14"/>
                </a:lnTo>
                <a:lnTo>
                  <a:pt x="0" y="16"/>
                </a:lnTo>
                <a:lnTo>
                  <a:pt x="0" y="18"/>
                </a:lnTo>
                <a:lnTo>
                  <a:pt x="0" y="19"/>
                </a:lnTo>
                <a:lnTo>
                  <a:pt x="0" y="20"/>
                </a:lnTo>
                <a:lnTo>
                  <a:pt x="2" y="22"/>
                </a:lnTo>
                <a:lnTo>
                  <a:pt x="2" y="23"/>
                </a:lnTo>
                <a:lnTo>
                  <a:pt x="2" y="24"/>
                </a:lnTo>
                <a:lnTo>
                  <a:pt x="3" y="24"/>
                </a:lnTo>
                <a:lnTo>
                  <a:pt x="4" y="25"/>
                </a:lnTo>
                <a:lnTo>
                  <a:pt x="4" y="26"/>
                </a:lnTo>
                <a:lnTo>
                  <a:pt x="5" y="27"/>
                </a:lnTo>
                <a:lnTo>
                  <a:pt x="6" y="28"/>
                </a:lnTo>
                <a:lnTo>
                  <a:pt x="7" y="28"/>
                </a:lnTo>
                <a:lnTo>
                  <a:pt x="8" y="30"/>
                </a:lnTo>
                <a:lnTo>
                  <a:pt x="9" y="30"/>
                </a:lnTo>
                <a:lnTo>
                  <a:pt x="10" y="30"/>
                </a:lnTo>
                <a:lnTo>
                  <a:pt x="11" y="30"/>
                </a:lnTo>
                <a:lnTo>
                  <a:pt x="13" y="30"/>
                </a:lnTo>
                <a:lnTo>
                  <a:pt x="14" y="30"/>
                </a:lnTo>
                <a:lnTo>
                  <a:pt x="15" y="30"/>
                </a:lnTo>
                <a:lnTo>
                  <a:pt x="16" y="30"/>
                </a:lnTo>
                <a:lnTo>
                  <a:pt x="17" y="28"/>
                </a:lnTo>
                <a:lnTo>
                  <a:pt x="18" y="27"/>
                </a:lnTo>
                <a:lnTo>
                  <a:pt x="19" y="26"/>
                </a:lnTo>
                <a:lnTo>
                  <a:pt x="19" y="25"/>
                </a:lnTo>
                <a:lnTo>
                  <a:pt x="20" y="24"/>
                </a:lnTo>
                <a:lnTo>
                  <a:pt x="21" y="24"/>
                </a:lnTo>
                <a:lnTo>
                  <a:pt x="21" y="23"/>
                </a:lnTo>
                <a:lnTo>
                  <a:pt x="21" y="22"/>
                </a:lnTo>
                <a:lnTo>
                  <a:pt x="22" y="20"/>
                </a:lnTo>
                <a:lnTo>
                  <a:pt x="23" y="19"/>
                </a:lnTo>
                <a:lnTo>
                  <a:pt x="23" y="18"/>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82" name="Line 382">
            <a:extLst>
              <a:ext uri="{FF2B5EF4-FFF2-40B4-BE49-F238E27FC236}">
                <a16:creationId xmlns:a16="http://schemas.microsoft.com/office/drawing/2014/main" id="{A5DEB9E5-8D78-054D-A086-92C08A2C6B94}"/>
              </a:ext>
            </a:extLst>
          </p:cNvPr>
          <p:cNvSpPr>
            <a:spLocks noChangeShapeType="1"/>
          </p:cNvSpPr>
          <p:nvPr/>
        </p:nvSpPr>
        <p:spPr bwMode="auto">
          <a:xfrm>
            <a:off x="4818064" y="4610101"/>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83" name="Line 383">
            <a:extLst>
              <a:ext uri="{FF2B5EF4-FFF2-40B4-BE49-F238E27FC236}">
                <a16:creationId xmlns:a16="http://schemas.microsoft.com/office/drawing/2014/main" id="{B0459F9A-BB5C-0B45-8194-C5ED44C788F1}"/>
              </a:ext>
            </a:extLst>
          </p:cNvPr>
          <p:cNvSpPr>
            <a:spLocks noChangeShapeType="1"/>
          </p:cNvSpPr>
          <p:nvPr/>
        </p:nvSpPr>
        <p:spPr bwMode="auto">
          <a:xfrm>
            <a:off x="4786313" y="4648200"/>
            <a:ext cx="61912"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84" name="Freeform 384">
            <a:extLst>
              <a:ext uri="{FF2B5EF4-FFF2-40B4-BE49-F238E27FC236}">
                <a16:creationId xmlns:a16="http://schemas.microsoft.com/office/drawing/2014/main" id="{3614B522-05B2-D243-95BB-C78B9EE00311}"/>
              </a:ext>
            </a:extLst>
          </p:cNvPr>
          <p:cNvSpPr>
            <a:spLocks/>
          </p:cNvSpPr>
          <p:nvPr/>
        </p:nvSpPr>
        <p:spPr bwMode="auto">
          <a:xfrm>
            <a:off x="4691064" y="5038726"/>
            <a:ext cx="325437" cy="339725"/>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85" name="Rectangle 385">
            <a:extLst>
              <a:ext uri="{FF2B5EF4-FFF2-40B4-BE49-F238E27FC236}">
                <a16:creationId xmlns:a16="http://schemas.microsoft.com/office/drawing/2014/main" id="{23842827-A6D6-FC4C-9D49-7847D6811E53}"/>
              </a:ext>
            </a:extLst>
          </p:cNvPr>
          <p:cNvSpPr>
            <a:spLocks noChangeArrowheads="1"/>
          </p:cNvSpPr>
          <p:nvPr/>
        </p:nvSpPr>
        <p:spPr bwMode="auto">
          <a:xfrm>
            <a:off x="4721226" y="5141913"/>
            <a:ext cx="269875" cy="220662"/>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86" name="Rectangle 386">
            <a:extLst>
              <a:ext uri="{FF2B5EF4-FFF2-40B4-BE49-F238E27FC236}">
                <a16:creationId xmlns:a16="http://schemas.microsoft.com/office/drawing/2014/main" id="{4C8E8981-36A9-CE4F-8B9B-645400779FFF}"/>
              </a:ext>
            </a:extLst>
          </p:cNvPr>
          <p:cNvSpPr>
            <a:spLocks noChangeArrowheads="1"/>
          </p:cNvSpPr>
          <p:nvPr/>
        </p:nvSpPr>
        <p:spPr bwMode="auto">
          <a:xfrm>
            <a:off x="4764088" y="5194301"/>
            <a:ext cx="95250"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87" name="Rectangle 387">
            <a:extLst>
              <a:ext uri="{FF2B5EF4-FFF2-40B4-BE49-F238E27FC236}">
                <a16:creationId xmlns:a16="http://schemas.microsoft.com/office/drawing/2014/main" id="{03724AE1-4C2D-9641-A47C-0B39483B2C6B}"/>
              </a:ext>
            </a:extLst>
          </p:cNvPr>
          <p:cNvSpPr>
            <a:spLocks noChangeArrowheads="1"/>
          </p:cNvSpPr>
          <p:nvPr/>
        </p:nvSpPr>
        <p:spPr bwMode="auto">
          <a:xfrm>
            <a:off x="4900613" y="5191126"/>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88" name="Freeform 388">
            <a:extLst>
              <a:ext uri="{FF2B5EF4-FFF2-40B4-BE49-F238E27FC236}">
                <a16:creationId xmlns:a16="http://schemas.microsoft.com/office/drawing/2014/main" id="{26CE6476-F7AA-544B-B347-B04F4E002937}"/>
              </a:ext>
            </a:extLst>
          </p:cNvPr>
          <p:cNvSpPr>
            <a:spLocks/>
          </p:cNvSpPr>
          <p:nvPr/>
        </p:nvSpPr>
        <p:spPr bwMode="auto">
          <a:xfrm>
            <a:off x="4833938" y="5272089"/>
            <a:ext cx="12700" cy="15875"/>
          </a:xfrm>
          <a:custGeom>
            <a:avLst/>
            <a:gdLst>
              <a:gd name="T0" fmla="*/ 24 w 24"/>
              <a:gd name="T1" fmla="*/ 13 h 29"/>
              <a:gd name="T2" fmla="*/ 24 w 24"/>
              <a:gd name="T3" fmla="*/ 10 h 29"/>
              <a:gd name="T4" fmla="*/ 21 w 24"/>
              <a:gd name="T5" fmla="*/ 8 h 29"/>
              <a:gd name="T6" fmla="*/ 21 w 24"/>
              <a:gd name="T7" fmla="*/ 6 h 29"/>
              <a:gd name="T8" fmla="*/ 19 w 24"/>
              <a:gd name="T9" fmla="*/ 4 h 29"/>
              <a:gd name="T10" fmla="*/ 18 w 24"/>
              <a:gd name="T11" fmla="*/ 2 h 29"/>
              <a:gd name="T12" fmla="*/ 17 w 24"/>
              <a:gd name="T13" fmla="*/ 1 h 29"/>
              <a:gd name="T14" fmla="*/ 15 w 24"/>
              <a:gd name="T15" fmla="*/ 0 h 29"/>
              <a:gd name="T16" fmla="*/ 13 w 24"/>
              <a:gd name="T17" fmla="*/ 0 h 29"/>
              <a:gd name="T18" fmla="*/ 10 w 24"/>
              <a:gd name="T19" fmla="*/ 0 h 29"/>
              <a:gd name="T20" fmla="*/ 9 w 24"/>
              <a:gd name="T21" fmla="*/ 0 h 29"/>
              <a:gd name="T22" fmla="*/ 7 w 24"/>
              <a:gd name="T23" fmla="*/ 1 h 29"/>
              <a:gd name="T24" fmla="*/ 5 w 24"/>
              <a:gd name="T25" fmla="*/ 2 h 29"/>
              <a:gd name="T26" fmla="*/ 4 w 24"/>
              <a:gd name="T27" fmla="*/ 4 h 29"/>
              <a:gd name="T28" fmla="*/ 2 w 24"/>
              <a:gd name="T29" fmla="*/ 6 h 29"/>
              <a:gd name="T30" fmla="*/ 2 w 24"/>
              <a:gd name="T31" fmla="*/ 8 h 29"/>
              <a:gd name="T32" fmla="*/ 0 w 24"/>
              <a:gd name="T33" fmla="*/ 10 h 29"/>
              <a:gd name="T34" fmla="*/ 0 w 24"/>
              <a:gd name="T35" fmla="*/ 13 h 29"/>
              <a:gd name="T36" fmla="*/ 0 w 24"/>
              <a:gd name="T37" fmla="*/ 16 h 29"/>
              <a:gd name="T38" fmla="*/ 0 w 24"/>
              <a:gd name="T39" fmla="*/ 18 h 29"/>
              <a:gd name="T40" fmla="*/ 2 w 24"/>
              <a:gd name="T41" fmla="*/ 21 h 29"/>
              <a:gd name="T42" fmla="*/ 2 w 24"/>
              <a:gd name="T43" fmla="*/ 24 h 29"/>
              <a:gd name="T44" fmla="*/ 4 w 24"/>
              <a:gd name="T45" fmla="*/ 25 h 29"/>
              <a:gd name="T46" fmla="*/ 5 w 24"/>
              <a:gd name="T47" fmla="*/ 27 h 29"/>
              <a:gd name="T48" fmla="*/ 7 w 24"/>
              <a:gd name="T49" fmla="*/ 28 h 29"/>
              <a:gd name="T50" fmla="*/ 9 w 24"/>
              <a:gd name="T51" fmla="*/ 29 h 29"/>
              <a:gd name="T52" fmla="*/ 10 w 24"/>
              <a:gd name="T53" fmla="*/ 29 h 29"/>
              <a:gd name="T54" fmla="*/ 13 w 24"/>
              <a:gd name="T55" fmla="*/ 29 h 29"/>
              <a:gd name="T56" fmla="*/ 15 w 24"/>
              <a:gd name="T57" fmla="*/ 29 h 29"/>
              <a:gd name="T58" fmla="*/ 17 w 24"/>
              <a:gd name="T59" fmla="*/ 28 h 29"/>
              <a:gd name="T60" fmla="*/ 18 w 24"/>
              <a:gd name="T61" fmla="*/ 27 h 29"/>
              <a:gd name="T62" fmla="*/ 19 w 24"/>
              <a:gd name="T63" fmla="*/ 25 h 29"/>
              <a:gd name="T64" fmla="*/ 21 w 24"/>
              <a:gd name="T65" fmla="*/ 24 h 29"/>
              <a:gd name="T66" fmla="*/ 21 w 24"/>
              <a:gd name="T67" fmla="*/ 21 h 29"/>
              <a:gd name="T68" fmla="*/ 24 w 24"/>
              <a:gd name="T69" fmla="*/ 18 h 29"/>
              <a:gd name="T70" fmla="*/ 24 w 24"/>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4"/>
              <a:gd name="T109" fmla="*/ 0 h 29"/>
              <a:gd name="T110" fmla="*/ 24 w 24"/>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4" h="29">
                <a:moveTo>
                  <a:pt x="24" y="14"/>
                </a:moveTo>
                <a:lnTo>
                  <a:pt x="24" y="13"/>
                </a:lnTo>
                <a:lnTo>
                  <a:pt x="24" y="12"/>
                </a:lnTo>
                <a:lnTo>
                  <a:pt x="24" y="10"/>
                </a:lnTo>
                <a:lnTo>
                  <a:pt x="22" y="9"/>
                </a:lnTo>
                <a:lnTo>
                  <a:pt x="21" y="8"/>
                </a:lnTo>
                <a:lnTo>
                  <a:pt x="21" y="7"/>
                </a:lnTo>
                <a:lnTo>
                  <a:pt x="21" y="6"/>
                </a:lnTo>
                <a:lnTo>
                  <a:pt x="20" y="5"/>
                </a:lnTo>
                <a:lnTo>
                  <a:pt x="19" y="4"/>
                </a:lnTo>
                <a:lnTo>
                  <a:pt x="19" y="3"/>
                </a:lnTo>
                <a:lnTo>
                  <a:pt x="18" y="2"/>
                </a:lnTo>
                <a:lnTo>
                  <a:pt x="17" y="1"/>
                </a:lnTo>
                <a:lnTo>
                  <a:pt x="16" y="0"/>
                </a:lnTo>
                <a:lnTo>
                  <a:pt x="15" y="0"/>
                </a:lnTo>
                <a:lnTo>
                  <a:pt x="14" y="0"/>
                </a:lnTo>
                <a:lnTo>
                  <a:pt x="13" y="0"/>
                </a:lnTo>
                <a:lnTo>
                  <a:pt x="11" y="0"/>
                </a:lnTo>
                <a:lnTo>
                  <a:pt x="10" y="0"/>
                </a:lnTo>
                <a:lnTo>
                  <a:pt x="9" y="0"/>
                </a:lnTo>
                <a:lnTo>
                  <a:pt x="8" y="0"/>
                </a:lnTo>
                <a:lnTo>
                  <a:pt x="7" y="1"/>
                </a:lnTo>
                <a:lnTo>
                  <a:pt x="6" y="1"/>
                </a:lnTo>
                <a:lnTo>
                  <a:pt x="5" y="2"/>
                </a:lnTo>
                <a:lnTo>
                  <a:pt x="4" y="3"/>
                </a:lnTo>
                <a:lnTo>
                  <a:pt x="4" y="4"/>
                </a:lnTo>
                <a:lnTo>
                  <a:pt x="3" y="5"/>
                </a:lnTo>
                <a:lnTo>
                  <a:pt x="2" y="6"/>
                </a:lnTo>
                <a:lnTo>
                  <a:pt x="2" y="7"/>
                </a:lnTo>
                <a:lnTo>
                  <a:pt x="2" y="8"/>
                </a:lnTo>
                <a:lnTo>
                  <a:pt x="0" y="9"/>
                </a:lnTo>
                <a:lnTo>
                  <a:pt x="0" y="10"/>
                </a:lnTo>
                <a:lnTo>
                  <a:pt x="0" y="12"/>
                </a:lnTo>
                <a:lnTo>
                  <a:pt x="0" y="13"/>
                </a:lnTo>
                <a:lnTo>
                  <a:pt x="0" y="14"/>
                </a:lnTo>
                <a:lnTo>
                  <a:pt x="0" y="16"/>
                </a:lnTo>
                <a:lnTo>
                  <a:pt x="0" y="17"/>
                </a:lnTo>
                <a:lnTo>
                  <a:pt x="0" y="18"/>
                </a:lnTo>
                <a:lnTo>
                  <a:pt x="0" y="19"/>
                </a:lnTo>
                <a:lnTo>
                  <a:pt x="2" y="21"/>
                </a:lnTo>
                <a:lnTo>
                  <a:pt x="2" y="23"/>
                </a:lnTo>
                <a:lnTo>
                  <a:pt x="2" y="24"/>
                </a:lnTo>
                <a:lnTo>
                  <a:pt x="3" y="24"/>
                </a:lnTo>
                <a:lnTo>
                  <a:pt x="4" y="25"/>
                </a:lnTo>
                <a:lnTo>
                  <a:pt x="4" y="26"/>
                </a:lnTo>
                <a:lnTo>
                  <a:pt x="5" y="27"/>
                </a:lnTo>
                <a:lnTo>
                  <a:pt x="6" y="28"/>
                </a:lnTo>
                <a:lnTo>
                  <a:pt x="7" y="28"/>
                </a:lnTo>
                <a:lnTo>
                  <a:pt x="8" y="29"/>
                </a:lnTo>
                <a:lnTo>
                  <a:pt x="9" y="29"/>
                </a:lnTo>
                <a:lnTo>
                  <a:pt x="10" y="29"/>
                </a:lnTo>
                <a:lnTo>
                  <a:pt x="11" y="29"/>
                </a:lnTo>
                <a:lnTo>
                  <a:pt x="13" y="29"/>
                </a:lnTo>
                <a:lnTo>
                  <a:pt x="14" y="29"/>
                </a:lnTo>
                <a:lnTo>
                  <a:pt x="15" y="29"/>
                </a:lnTo>
                <a:lnTo>
                  <a:pt x="16" y="29"/>
                </a:lnTo>
                <a:lnTo>
                  <a:pt x="17" y="28"/>
                </a:lnTo>
                <a:lnTo>
                  <a:pt x="18" y="27"/>
                </a:lnTo>
                <a:lnTo>
                  <a:pt x="19" y="26"/>
                </a:lnTo>
                <a:lnTo>
                  <a:pt x="19" y="25"/>
                </a:lnTo>
                <a:lnTo>
                  <a:pt x="20" y="24"/>
                </a:lnTo>
                <a:lnTo>
                  <a:pt x="21" y="24"/>
                </a:lnTo>
                <a:lnTo>
                  <a:pt x="21" y="23"/>
                </a:lnTo>
                <a:lnTo>
                  <a:pt x="21" y="21"/>
                </a:lnTo>
                <a:lnTo>
                  <a:pt x="22" y="19"/>
                </a:lnTo>
                <a:lnTo>
                  <a:pt x="24" y="18"/>
                </a:lnTo>
                <a:lnTo>
                  <a:pt x="24" y="17"/>
                </a:lnTo>
                <a:lnTo>
                  <a:pt x="24" y="16"/>
                </a:lnTo>
                <a:lnTo>
                  <a:pt x="24"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89" name="Line 389">
            <a:extLst>
              <a:ext uri="{FF2B5EF4-FFF2-40B4-BE49-F238E27FC236}">
                <a16:creationId xmlns:a16="http://schemas.microsoft.com/office/drawing/2014/main" id="{96BB7302-2577-CE44-AD13-A44956E74122}"/>
              </a:ext>
            </a:extLst>
          </p:cNvPr>
          <p:cNvSpPr>
            <a:spLocks noChangeShapeType="1"/>
          </p:cNvSpPr>
          <p:nvPr/>
        </p:nvSpPr>
        <p:spPr bwMode="auto">
          <a:xfrm>
            <a:off x="4930775" y="5191126"/>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90" name="Line 390">
            <a:extLst>
              <a:ext uri="{FF2B5EF4-FFF2-40B4-BE49-F238E27FC236}">
                <a16:creationId xmlns:a16="http://schemas.microsoft.com/office/drawing/2014/main" id="{4E4E16CA-5F50-424F-9232-99059B3FA901}"/>
              </a:ext>
            </a:extLst>
          </p:cNvPr>
          <p:cNvSpPr>
            <a:spLocks noChangeShapeType="1"/>
          </p:cNvSpPr>
          <p:nvPr/>
        </p:nvSpPr>
        <p:spPr bwMode="auto">
          <a:xfrm>
            <a:off x="4900613" y="5229225"/>
            <a:ext cx="61912"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91" name="Freeform 391">
            <a:extLst>
              <a:ext uri="{FF2B5EF4-FFF2-40B4-BE49-F238E27FC236}">
                <a16:creationId xmlns:a16="http://schemas.microsoft.com/office/drawing/2014/main" id="{DB19A930-4F50-B048-B653-4511533AC85E}"/>
              </a:ext>
            </a:extLst>
          </p:cNvPr>
          <p:cNvSpPr>
            <a:spLocks/>
          </p:cNvSpPr>
          <p:nvPr/>
        </p:nvSpPr>
        <p:spPr bwMode="auto">
          <a:xfrm>
            <a:off x="5248275" y="5392739"/>
            <a:ext cx="323850" cy="339725"/>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4 h 643"/>
              <a:gd name="T14" fmla="*/ 56 w 614"/>
              <a:gd name="T15" fmla="*/ 614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4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4"/>
                </a:lnTo>
                <a:lnTo>
                  <a:pt x="56" y="614"/>
                </a:lnTo>
                <a:lnTo>
                  <a:pt x="56" y="195"/>
                </a:lnTo>
                <a:lnTo>
                  <a:pt x="558"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92" name="Rectangle 392">
            <a:extLst>
              <a:ext uri="{FF2B5EF4-FFF2-40B4-BE49-F238E27FC236}">
                <a16:creationId xmlns:a16="http://schemas.microsoft.com/office/drawing/2014/main" id="{B6FAA2CC-029F-6942-9D97-F79FC7FD4EE2}"/>
              </a:ext>
            </a:extLst>
          </p:cNvPr>
          <p:cNvSpPr>
            <a:spLocks noChangeArrowheads="1"/>
          </p:cNvSpPr>
          <p:nvPr/>
        </p:nvSpPr>
        <p:spPr bwMode="auto">
          <a:xfrm>
            <a:off x="5278439" y="5495926"/>
            <a:ext cx="268287"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93" name="Rectangle 393">
            <a:extLst>
              <a:ext uri="{FF2B5EF4-FFF2-40B4-BE49-F238E27FC236}">
                <a16:creationId xmlns:a16="http://schemas.microsoft.com/office/drawing/2014/main" id="{C2B01534-CDDA-6D42-8898-28A60C0D9CD3}"/>
              </a:ext>
            </a:extLst>
          </p:cNvPr>
          <p:cNvSpPr>
            <a:spLocks noChangeArrowheads="1"/>
          </p:cNvSpPr>
          <p:nvPr/>
        </p:nvSpPr>
        <p:spPr bwMode="auto">
          <a:xfrm>
            <a:off x="5321301" y="5548314"/>
            <a:ext cx="93663"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94" name="Rectangle 394">
            <a:extLst>
              <a:ext uri="{FF2B5EF4-FFF2-40B4-BE49-F238E27FC236}">
                <a16:creationId xmlns:a16="http://schemas.microsoft.com/office/drawing/2014/main" id="{CE080009-8EB5-B74A-A6D6-DF9C9C4DAFDC}"/>
              </a:ext>
            </a:extLst>
          </p:cNvPr>
          <p:cNvSpPr>
            <a:spLocks noChangeArrowheads="1"/>
          </p:cNvSpPr>
          <p:nvPr/>
        </p:nvSpPr>
        <p:spPr bwMode="auto">
          <a:xfrm>
            <a:off x="5456238" y="5543551"/>
            <a:ext cx="63500"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95" name="Freeform 395">
            <a:extLst>
              <a:ext uri="{FF2B5EF4-FFF2-40B4-BE49-F238E27FC236}">
                <a16:creationId xmlns:a16="http://schemas.microsoft.com/office/drawing/2014/main" id="{865C1553-64EC-5D49-8928-DB2B67A96CF9}"/>
              </a:ext>
            </a:extLst>
          </p:cNvPr>
          <p:cNvSpPr>
            <a:spLocks/>
          </p:cNvSpPr>
          <p:nvPr/>
        </p:nvSpPr>
        <p:spPr bwMode="auto">
          <a:xfrm>
            <a:off x="5389563" y="5626101"/>
            <a:ext cx="12700" cy="15875"/>
          </a:xfrm>
          <a:custGeom>
            <a:avLst/>
            <a:gdLst>
              <a:gd name="T0" fmla="*/ 24 w 24"/>
              <a:gd name="T1" fmla="*/ 13 h 30"/>
              <a:gd name="T2" fmla="*/ 24 w 24"/>
              <a:gd name="T3" fmla="*/ 11 h 30"/>
              <a:gd name="T4" fmla="*/ 21 w 24"/>
              <a:gd name="T5" fmla="*/ 9 h 30"/>
              <a:gd name="T6" fmla="*/ 21 w 24"/>
              <a:gd name="T7" fmla="*/ 6 h 30"/>
              <a:gd name="T8" fmla="*/ 19 w 24"/>
              <a:gd name="T9" fmla="*/ 4 h 30"/>
              <a:gd name="T10" fmla="*/ 18 w 24"/>
              <a:gd name="T11" fmla="*/ 2 h 30"/>
              <a:gd name="T12" fmla="*/ 17 w 24"/>
              <a:gd name="T13" fmla="*/ 1 h 30"/>
              <a:gd name="T14" fmla="*/ 15 w 24"/>
              <a:gd name="T15" fmla="*/ 0 h 30"/>
              <a:gd name="T16" fmla="*/ 13 w 24"/>
              <a:gd name="T17" fmla="*/ 0 h 30"/>
              <a:gd name="T18" fmla="*/ 10 w 24"/>
              <a:gd name="T19" fmla="*/ 0 h 30"/>
              <a:gd name="T20" fmla="*/ 9 w 24"/>
              <a:gd name="T21" fmla="*/ 0 h 30"/>
              <a:gd name="T22" fmla="*/ 7 w 24"/>
              <a:gd name="T23" fmla="*/ 1 h 30"/>
              <a:gd name="T24" fmla="*/ 5 w 24"/>
              <a:gd name="T25" fmla="*/ 2 h 30"/>
              <a:gd name="T26" fmla="*/ 4 w 24"/>
              <a:gd name="T27" fmla="*/ 4 h 30"/>
              <a:gd name="T28" fmla="*/ 2 w 24"/>
              <a:gd name="T29" fmla="*/ 6 h 30"/>
              <a:gd name="T30" fmla="*/ 2 w 24"/>
              <a:gd name="T31" fmla="*/ 9 h 30"/>
              <a:gd name="T32" fmla="*/ 0 w 24"/>
              <a:gd name="T33" fmla="*/ 11 h 30"/>
              <a:gd name="T34" fmla="*/ 0 w 24"/>
              <a:gd name="T35" fmla="*/ 13 h 30"/>
              <a:gd name="T36" fmla="*/ 0 w 24"/>
              <a:gd name="T37" fmla="*/ 16 h 30"/>
              <a:gd name="T38" fmla="*/ 0 w 24"/>
              <a:gd name="T39" fmla="*/ 19 h 30"/>
              <a:gd name="T40" fmla="*/ 2 w 24"/>
              <a:gd name="T41" fmla="*/ 22 h 30"/>
              <a:gd name="T42" fmla="*/ 2 w 24"/>
              <a:gd name="T43" fmla="*/ 24 h 30"/>
              <a:gd name="T44" fmla="*/ 4 w 24"/>
              <a:gd name="T45" fmla="*/ 25 h 30"/>
              <a:gd name="T46" fmla="*/ 5 w 24"/>
              <a:gd name="T47" fmla="*/ 27 h 30"/>
              <a:gd name="T48" fmla="*/ 7 w 24"/>
              <a:gd name="T49" fmla="*/ 28 h 30"/>
              <a:gd name="T50" fmla="*/ 9 w 24"/>
              <a:gd name="T51" fmla="*/ 30 h 30"/>
              <a:gd name="T52" fmla="*/ 10 w 24"/>
              <a:gd name="T53" fmla="*/ 30 h 30"/>
              <a:gd name="T54" fmla="*/ 13 w 24"/>
              <a:gd name="T55" fmla="*/ 30 h 30"/>
              <a:gd name="T56" fmla="*/ 15 w 24"/>
              <a:gd name="T57" fmla="*/ 30 h 30"/>
              <a:gd name="T58" fmla="*/ 17 w 24"/>
              <a:gd name="T59" fmla="*/ 28 h 30"/>
              <a:gd name="T60" fmla="*/ 18 w 24"/>
              <a:gd name="T61" fmla="*/ 27 h 30"/>
              <a:gd name="T62" fmla="*/ 19 w 24"/>
              <a:gd name="T63" fmla="*/ 25 h 30"/>
              <a:gd name="T64" fmla="*/ 21 w 24"/>
              <a:gd name="T65" fmla="*/ 24 h 30"/>
              <a:gd name="T66" fmla="*/ 21 w 24"/>
              <a:gd name="T67" fmla="*/ 22 h 30"/>
              <a:gd name="T68" fmla="*/ 24 w 24"/>
              <a:gd name="T69" fmla="*/ 19 h 30"/>
              <a:gd name="T70" fmla="*/ 24 w 24"/>
              <a:gd name="T71" fmla="*/ 16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4"/>
              <a:gd name="T109" fmla="*/ 0 h 30"/>
              <a:gd name="T110" fmla="*/ 24 w 24"/>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4" h="30">
                <a:moveTo>
                  <a:pt x="24" y="14"/>
                </a:moveTo>
                <a:lnTo>
                  <a:pt x="24" y="13"/>
                </a:lnTo>
                <a:lnTo>
                  <a:pt x="24" y="12"/>
                </a:lnTo>
                <a:lnTo>
                  <a:pt x="24" y="11"/>
                </a:lnTo>
                <a:lnTo>
                  <a:pt x="22" y="10"/>
                </a:lnTo>
                <a:lnTo>
                  <a:pt x="21" y="9"/>
                </a:lnTo>
                <a:lnTo>
                  <a:pt x="21" y="8"/>
                </a:lnTo>
                <a:lnTo>
                  <a:pt x="21" y="6"/>
                </a:lnTo>
                <a:lnTo>
                  <a:pt x="20" y="5"/>
                </a:lnTo>
                <a:lnTo>
                  <a:pt x="19" y="4"/>
                </a:lnTo>
                <a:lnTo>
                  <a:pt x="19" y="3"/>
                </a:lnTo>
                <a:lnTo>
                  <a:pt x="18" y="2"/>
                </a:lnTo>
                <a:lnTo>
                  <a:pt x="17" y="1"/>
                </a:lnTo>
                <a:lnTo>
                  <a:pt x="16" y="0"/>
                </a:lnTo>
                <a:lnTo>
                  <a:pt x="15" y="0"/>
                </a:lnTo>
                <a:lnTo>
                  <a:pt x="14" y="0"/>
                </a:lnTo>
                <a:lnTo>
                  <a:pt x="13" y="0"/>
                </a:lnTo>
                <a:lnTo>
                  <a:pt x="11" y="0"/>
                </a:lnTo>
                <a:lnTo>
                  <a:pt x="10" y="0"/>
                </a:lnTo>
                <a:lnTo>
                  <a:pt x="9" y="0"/>
                </a:lnTo>
                <a:lnTo>
                  <a:pt x="8" y="0"/>
                </a:lnTo>
                <a:lnTo>
                  <a:pt x="7" y="1"/>
                </a:lnTo>
                <a:lnTo>
                  <a:pt x="6" y="1"/>
                </a:lnTo>
                <a:lnTo>
                  <a:pt x="5" y="2"/>
                </a:lnTo>
                <a:lnTo>
                  <a:pt x="4" y="3"/>
                </a:lnTo>
                <a:lnTo>
                  <a:pt x="4" y="4"/>
                </a:lnTo>
                <a:lnTo>
                  <a:pt x="3" y="5"/>
                </a:lnTo>
                <a:lnTo>
                  <a:pt x="2" y="6"/>
                </a:lnTo>
                <a:lnTo>
                  <a:pt x="2" y="8"/>
                </a:lnTo>
                <a:lnTo>
                  <a:pt x="2" y="9"/>
                </a:lnTo>
                <a:lnTo>
                  <a:pt x="0" y="10"/>
                </a:lnTo>
                <a:lnTo>
                  <a:pt x="0" y="11"/>
                </a:lnTo>
                <a:lnTo>
                  <a:pt x="0" y="12"/>
                </a:lnTo>
                <a:lnTo>
                  <a:pt x="0" y="13"/>
                </a:lnTo>
                <a:lnTo>
                  <a:pt x="0" y="14"/>
                </a:lnTo>
                <a:lnTo>
                  <a:pt x="0" y="16"/>
                </a:lnTo>
                <a:lnTo>
                  <a:pt x="0" y="17"/>
                </a:lnTo>
                <a:lnTo>
                  <a:pt x="0" y="19"/>
                </a:lnTo>
                <a:lnTo>
                  <a:pt x="0" y="20"/>
                </a:lnTo>
                <a:lnTo>
                  <a:pt x="2" y="22"/>
                </a:lnTo>
                <a:lnTo>
                  <a:pt x="2" y="23"/>
                </a:lnTo>
                <a:lnTo>
                  <a:pt x="2" y="24"/>
                </a:lnTo>
                <a:lnTo>
                  <a:pt x="3" y="24"/>
                </a:lnTo>
                <a:lnTo>
                  <a:pt x="4" y="25"/>
                </a:lnTo>
                <a:lnTo>
                  <a:pt x="4" y="26"/>
                </a:lnTo>
                <a:lnTo>
                  <a:pt x="5" y="27"/>
                </a:lnTo>
                <a:lnTo>
                  <a:pt x="6" y="28"/>
                </a:lnTo>
                <a:lnTo>
                  <a:pt x="7" y="28"/>
                </a:lnTo>
                <a:lnTo>
                  <a:pt x="8" y="30"/>
                </a:lnTo>
                <a:lnTo>
                  <a:pt x="9" y="30"/>
                </a:lnTo>
                <a:lnTo>
                  <a:pt x="10" y="30"/>
                </a:lnTo>
                <a:lnTo>
                  <a:pt x="11" y="30"/>
                </a:lnTo>
                <a:lnTo>
                  <a:pt x="13" y="30"/>
                </a:lnTo>
                <a:lnTo>
                  <a:pt x="14" y="30"/>
                </a:lnTo>
                <a:lnTo>
                  <a:pt x="15" y="30"/>
                </a:lnTo>
                <a:lnTo>
                  <a:pt x="16" y="30"/>
                </a:lnTo>
                <a:lnTo>
                  <a:pt x="17" y="28"/>
                </a:lnTo>
                <a:lnTo>
                  <a:pt x="18" y="27"/>
                </a:lnTo>
                <a:lnTo>
                  <a:pt x="19" y="26"/>
                </a:lnTo>
                <a:lnTo>
                  <a:pt x="19" y="25"/>
                </a:lnTo>
                <a:lnTo>
                  <a:pt x="20" y="24"/>
                </a:lnTo>
                <a:lnTo>
                  <a:pt x="21" y="24"/>
                </a:lnTo>
                <a:lnTo>
                  <a:pt x="21" y="23"/>
                </a:lnTo>
                <a:lnTo>
                  <a:pt x="21" y="22"/>
                </a:lnTo>
                <a:lnTo>
                  <a:pt x="22" y="20"/>
                </a:lnTo>
                <a:lnTo>
                  <a:pt x="24" y="19"/>
                </a:lnTo>
                <a:lnTo>
                  <a:pt x="24" y="17"/>
                </a:lnTo>
                <a:lnTo>
                  <a:pt x="24" y="16"/>
                </a:lnTo>
                <a:lnTo>
                  <a:pt x="24"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96" name="Line 396">
            <a:extLst>
              <a:ext uri="{FF2B5EF4-FFF2-40B4-BE49-F238E27FC236}">
                <a16:creationId xmlns:a16="http://schemas.microsoft.com/office/drawing/2014/main" id="{1D65F69B-56CE-DB40-A685-C518C0BD5076}"/>
              </a:ext>
            </a:extLst>
          </p:cNvPr>
          <p:cNvSpPr>
            <a:spLocks noChangeShapeType="1"/>
          </p:cNvSpPr>
          <p:nvPr/>
        </p:nvSpPr>
        <p:spPr bwMode="auto">
          <a:xfrm>
            <a:off x="5487989" y="554513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97" name="Line 397">
            <a:extLst>
              <a:ext uri="{FF2B5EF4-FFF2-40B4-BE49-F238E27FC236}">
                <a16:creationId xmlns:a16="http://schemas.microsoft.com/office/drawing/2014/main" id="{93A720B9-1108-264F-9BA0-AA8690CF0922}"/>
              </a:ext>
            </a:extLst>
          </p:cNvPr>
          <p:cNvSpPr>
            <a:spLocks noChangeShapeType="1"/>
          </p:cNvSpPr>
          <p:nvPr/>
        </p:nvSpPr>
        <p:spPr bwMode="auto">
          <a:xfrm>
            <a:off x="5486401" y="5586414"/>
            <a:ext cx="61913"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98" name="Freeform 398">
            <a:extLst>
              <a:ext uri="{FF2B5EF4-FFF2-40B4-BE49-F238E27FC236}">
                <a16:creationId xmlns:a16="http://schemas.microsoft.com/office/drawing/2014/main" id="{CC1AFB3B-3365-D041-AF2E-36D88FED71D5}"/>
              </a:ext>
            </a:extLst>
          </p:cNvPr>
          <p:cNvSpPr>
            <a:spLocks/>
          </p:cNvSpPr>
          <p:nvPr/>
        </p:nvSpPr>
        <p:spPr bwMode="auto">
          <a:xfrm>
            <a:off x="5846763" y="5129213"/>
            <a:ext cx="323850" cy="341312"/>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799" name="Rectangle 399">
            <a:extLst>
              <a:ext uri="{FF2B5EF4-FFF2-40B4-BE49-F238E27FC236}">
                <a16:creationId xmlns:a16="http://schemas.microsoft.com/office/drawing/2014/main" id="{1ED099DD-DD29-BA4C-899F-89B74A94D3A2}"/>
              </a:ext>
            </a:extLst>
          </p:cNvPr>
          <p:cNvSpPr>
            <a:spLocks noChangeArrowheads="1"/>
          </p:cNvSpPr>
          <p:nvPr/>
        </p:nvSpPr>
        <p:spPr bwMode="auto">
          <a:xfrm>
            <a:off x="5876925" y="5233988"/>
            <a:ext cx="268288" cy="220662"/>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00" name="Rectangle 400">
            <a:extLst>
              <a:ext uri="{FF2B5EF4-FFF2-40B4-BE49-F238E27FC236}">
                <a16:creationId xmlns:a16="http://schemas.microsoft.com/office/drawing/2014/main" id="{171F623A-4557-8D43-96A6-861EEFCBA3B2}"/>
              </a:ext>
            </a:extLst>
          </p:cNvPr>
          <p:cNvSpPr>
            <a:spLocks noChangeArrowheads="1"/>
          </p:cNvSpPr>
          <p:nvPr/>
        </p:nvSpPr>
        <p:spPr bwMode="auto">
          <a:xfrm>
            <a:off x="5919788" y="5286375"/>
            <a:ext cx="93662"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01" name="Rectangle 401">
            <a:extLst>
              <a:ext uri="{FF2B5EF4-FFF2-40B4-BE49-F238E27FC236}">
                <a16:creationId xmlns:a16="http://schemas.microsoft.com/office/drawing/2014/main" id="{88F71E0E-78E9-DC47-B48D-91D694DB49A9}"/>
              </a:ext>
            </a:extLst>
          </p:cNvPr>
          <p:cNvSpPr>
            <a:spLocks noChangeArrowheads="1"/>
          </p:cNvSpPr>
          <p:nvPr/>
        </p:nvSpPr>
        <p:spPr bwMode="auto">
          <a:xfrm>
            <a:off x="6054725" y="5281613"/>
            <a:ext cx="63500" cy="80962"/>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02" name="Freeform 402">
            <a:extLst>
              <a:ext uri="{FF2B5EF4-FFF2-40B4-BE49-F238E27FC236}">
                <a16:creationId xmlns:a16="http://schemas.microsoft.com/office/drawing/2014/main" id="{E18D9A21-EC53-7F4C-9C0B-A20410A47A6E}"/>
              </a:ext>
            </a:extLst>
          </p:cNvPr>
          <p:cNvSpPr>
            <a:spLocks/>
          </p:cNvSpPr>
          <p:nvPr/>
        </p:nvSpPr>
        <p:spPr bwMode="auto">
          <a:xfrm>
            <a:off x="5988050" y="5362576"/>
            <a:ext cx="12700" cy="15875"/>
          </a:xfrm>
          <a:custGeom>
            <a:avLst/>
            <a:gdLst>
              <a:gd name="T0" fmla="*/ 23 w 23"/>
              <a:gd name="T1" fmla="*/ 14 h 30"/>
              <a:gd name="T2" fmla="*/ 23 w 23"/>
              <a:gd name="T3" fmla="*/ 11 h 30"/>
              <a:gd name="T4" fmla="*/ 20 w 23"/>
              <a:gd name="T5" fmla="*/ 9 h 30"/>
              <a:gd name="T6" fmla="*/ 20 w 23"/>
              <a:gd name="T7" fmla="*/ 7 h 30"/>
              <a:gd name="T8" fmla="*/ 18 w 23"/>
              <a:gd name="T9" fmla="*/ 5 h 30"/>
              <a:gd name="T10" fmla="*/ 17 w 23"/>
              <a:gd name="T11" fmla="*/ 3 h 30"/>
              <a:gd name="T12" fmla="*/ 16 w 23"/>
              <a:gd name="T13" fmla="*/ 1 h 30"/>
              <a:gd name="T14" fmla="*/ 14 w 23"/>
              <a:gd name="T15" fmla="*/ 0 h 30"/>
              <a:gd name="T16" fmla="*/ 12 w 23"/>
              <a:gd name="T17" fmla="*/ 0 h 30"/>
              <a:gd name="T18" fmla="*/ 9 w 23"/>
              <a:gd name="T19" fmla="*/ 0 h 30"/>
              <a:gd name="T20" fmla="*/ 8 w 23"/>
              <a:gd name="T21" fmla="*/ 0 h 30"/>
              <a:gd name="T22" fmla="*/ 6 w 23"/>
              <a:gd name="T23" fmla="*/ 1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4 h 30"/>
              <a:gd name="T44" fmla="*/ 3 w 23"/>
              <a:gd name="T45" fmla="*/ 26 h 30"/>
              <a:gd name="T46" fmla="*/ 4 w 23"/>
              <a:gd name="T47" fmla="*/ 28 h 30"/>
              <a:gd name="T48" fmla="*/ 6 w 23"/>
              <a:gd name="T49" fmla="*/ 29 h 30"/>
              <a:gd name="T50" fmla="*/ 8 w 23"/>
              <a:gd name="T51" fmla="*/ 30 h 30"/>
              <a:gd name="T52" fmla="*/ 9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0 w 23"/>
              <a:gd name="T65" fmla="*/ 24 h 30"/>
              <a:gd name="T66" fmla="*/ 20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1" y="10"/>
                </a:lnTo>
                <a:lnTo>
                  <a:pt x="20" y="9"/>
                </a:lnTo>
                <a:lnTo>
                  <a:pt x="20" y="8"/>
                </a:lnTo>
                <a:lnTo>
                  <a:pt x="20" y="7"/>
                </a:lnTo>
                <a:lnTo>
                  <a:pt x="19" y="6"/>
                </a:lnTo>
                <a:lnTo>
                  <a:pt x="18" y="5"/>
                </a:lnTo>
                <a:lnTo>
                  <a:pt x="18" y="4"/>
                </a:lnTo>
                <a:lnTo>
                  <a:pt x="17" y="3"/>
                </a:lnTo>
                <a:lnTo>
                  <a:pt x="16" y="1"/>
                </a:lnTo>
                <a:lnTo>
                  <a:pt x="15" y="0"/>
                </a:lnTo>
                <a:lnTo>
                  <a:pt x="14" y="0"/>
                </a:lnTo>
                <a:lnTo>
                  <a:pt x="13" y="0"/>
                </a:lnTo>
                <a:lnTo>
                  <a:pt x="12" y="0"/>
                </a:lnTo>
                <a:lnTo>
                  <a:pt x="10" y="0"/>
                </a:lnTo>
                <a:lnTo>
                  <a:pt x="9" y="0"/>
                </a:lnTo>
                <a:lnTo>
                  <a:pt x="8" y="0"/>
                </a:lnTo>
                <a:lnTo>
                  <a:pt x="7" y="0"/>
                </a:lnTo>
                <a:lnTo>
                  <a:pt x="6" y="1"/>
                </a:lnTo>
                <a:lnTo>
                  <a:pt x="5" y="1"/>
                </a:lnTo>
                <a:lnTo>
                  <a:pt x="4"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4"/>
                </a:lnTo>
                <a:lnTo>
                  <a:pt x="2" y="24"/>
                </a:lnTo>
                <a:lnTo>
                  <a:pt x="3" y="26"/>
                </a:lnTo>
                <a:lnTo>
                  <a:pt x="3" y="27"/>
                </a:lnTo>
                <a:lnTo>
                  <a:pt x="4" y="28"/>
                </a:lnTo>
                <a:lnTo>
                  <a:pt x="5" y="29"/>
                </a:lnTo>
                <a:lnTo>
                  <a:pt x="6" y="29"/>
                </a:lnTo>
                <a:lnTo>
                  <a:pt x="7" y="30"/>
                </a:lnTo>
                <a:lnTo>
                  <a:pt x="8" y="30"/>
                </a:lnTo>
                <a:lnTo>
                  <a:pt x="9" y="30"/>
                </a:lnTo>
                <a:lnTo>
                  <a:pt x="10" y="30"/>
                </a:lnTo>
                <a:lnTo>
                  <a:pt x="12" y="30"/>
                </a:lnTo>
                <a:lnTo>
                  <a:pt x="13" y="30"/>
                </a:lnTo>
                <a:lnTo>
                  <a:pt x="14" y="30"/>
                </a:lnTo>
                <a:lnTo>
                  <a:pt x="15" y="30"/>
                </a:lnTo>
                <a:lnTo>
                  <a:pt x="16" y="29"/>
                </a:lnTo>
                <a:lnTo>
                  <a:pt x="17" y="28"/>
                </a:lnTo>
                <a:lnTo>
                  <a:pt x="18" y="27"/>
                </a:lnTo>
                <a:lnTo>
                  <a:pt x="18" y="26"/>
                </a:lnTo>
                <a:lnTo>
                  <a:pt x="19" y="24"/>
                </a:lnTo>
                <a:lnTo>
                  <a:pt x="20" y="24"/>
                </a:lnTo>
                <a:lnTo>
                  <a:pt x="20" y="23"/>
                </a:lnTo>
                <a:lnTo>
                  <a:pt x="20" y="22"/>
                </a:lnTo>
                <a:lnTo>
                  <a:pt x="21"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03" name="Line 403">
            <a:extLst>
              <a:ext uri="{FF2B5EF4-FFF2-40B4-BE49-F238E27FC236}">
                <a16:creationId xmlns:a16="http://schemas.microsoft.com/office/drawing/2014/main" id="{00ED3674-5C61-0B4F-A2F5-31AF54ADBFC9}"/>
              </a:ext>
            </a:extLst>
          </p:cNvPr>
          <p:cNvSpPr>
            <a:spLocks noChangeShapeType="1"/>
          </p:cNvSpPr>
          <p:nvPr/>
        </p:nvSpPr>
        <p:spPr bwMode="auto">
          <a:xfrm>
            <a:off x="6086475" y="5283201"/>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04" name="Line 404">
            <a:extLst>
              <a:ext uri="{FF2B5EF4-FFF2-40B4-BE49-F238E27FC236}">
                <a16:creationId xmlns:a16="http://schemas.microsoft.com/office/drawing/2014/main" id="{58F0D18F-609B-3E4F-9542-7445F632991E}"/>
              </a:ext>
            </a:extLst>
          </p:cNvPr>
          <p:cNvSpPr>
            <a:spLocks noChangeShapeType="1"/>
          </p:cNvSpPr>
          <p:nvPr/>
        </p:nvSpPr>
        <p:spPr bwMode="auto">
          <a:xfrm>
            <a:off x="6054726" y="5319714"/>
            <a:ext cx="61913"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05" name="Freeform 405">
            <a:extLst>
              <a:ext uri="{FF2B5EF4-FFF2-40B4-BE49-F238E27FC236}">
                <a16:creationId xmlns:a16="http://schemas.microsoft.com/office/drawing/2014/main" id="{647BDEB8-FE80-7940-90D0-F957EF19E2E0}"/>
              </a:ext>
            </a:extLst>
          </p:cNvPr>
          <p:cNvSpPr>
            <a:spLocks/>
          </p:cNvSpPr>
          <p:nvPr/>
        </p:nvSpPr>
        <p:spPr bwMode="auto">
          <a:xfrm>
            <a:off x="5454650" y="4611689"/>
            <a:ext cx="325438" cy="339725"/>
          </a:xfrm>
          <a:custGeom>
            <a:avLst/>
            <a:gdLst>
              <a:gd name="T0" fmla="*/ 56 w 615"/>
              <a:gd name="T1" fmla="*/ 196 h 643"/>
              <a:gd name="T2" fmla="*/ 0 w 615"/>
              <a:gd name="T3" fmla="*/ 196 h 643"/>
              <a:gd name="T4" fmla="*/ 307 w 615"/>
              <a:gd name="T5" fmla="*/ 0 h 643"/>
              <a:gd name="T6" fmla="*/ 615 w 615"/>
              <a:gd name="T7" fmla="*/ 196 h 643"/>
              <a:gd name="T8" fmla="*/ 587 w 615"/>
              <a:gd name="T9" fmla="*/ 196 h 643"/>
              <a:gd name="T10" fmla="*/ 559 w 615"/>
              <a:gd name="T11" fmla="*/ 196 h 643"/>
              <a:gd name="T12" fmla="*/ 559 w 615"/>
              <a:gd name="T13" fmla="*/ 615 h 643"/>
              <a:gd name="T14" fmla="*/ 56 w 615"/>
              <a:gd name="T15" fmla="*/ 615 h 643"/>
              <a:gd name="T16" fmla="*/ 56 w 615"/>
              <a:gd name="T17" fmla="*/ 196 h 643"/>
              <a:gd name="T18" fmla="*/ 559 w 615"/>
              <a:gd name="T19" fmla="*/ 196 h 643"/>
              <a:gd name="T20" fmla="*/ 587 w 615"/>
              <a:gd name="T21" fmla="*/ 196 h 643"/>
              <a:gd name="T22" fmla="*/ 587 w 615"/>
              <a:gd name="T23" fmla="*/ 643 h 643"/>
              <a:gd name="T24" fmla="*/ 56 w 615"/>
              <a:gd name="T25" fmla="*/ 643 h 643"/>
              <a:gd name="T26" fmla="*/ 56 w 615"/>
              <a:gd name="T27" fmla="*/ 615 h 643"/>
              <a:gd name="T28" fmla="*/ 56 w 615"/>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6"/>
                </a:moveTo>
                <a:lnTo>
                  <a:pt x="0" y="196"/>
                </a:lnTo>
                <a:lnTo>
                  <a:pt x="307" y="0"/>
                </a:lnTo>
                <a:lnTo>
                  <a:pt x="615" y="196"/>
                </a:lnTo>
                <a:lnTo>
                  <a:pt x="587" y="196"/>
                </a:lnTo>
                <a:lnTo>
                  <a:pt x="559" y="196"/>
                </a:lnTo>
                <a:lnTo>
                  <a:pt x="559" y="615"/>
                </a:lnTo>
                <a:lnTo>
                  <a:pt x="56" y="615"/>
                </a:lnTo>
                <a:lnTo>
                  <a:pt x="56" y="196"/>
                </a:lnTo>
                <a:lnTo>
                  <a:pt x="559"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06" name="Rectangle 406">
            <a:extLst>
              <a:ext uri="{FF2B5EF4-FFF2-40B4-BE49-F238E27FC236}">
                <a16:creationId xmlns:a16="http://schemas.microsoft.com/office/drawing/2014/main" id="{2069A49C-DBD0-C44B-ADFF-ED19EEB96A54}"/>
              </a:ext>
            </a:extLst>
          </p:cNvPr>
          <p:cNvSpPr>
            <a:spLocks noChangeArrowheads="1"/>
          </p:cNvSpPr>
          <p:nvPr/>
        </p:nvSpPr>
        <p:spPr bwMode="auto">
          <a:xfrm>
            <a:off x="5484814" y="4714875"/>
            <a:ext cx="268287"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07" name="Rectangle 407">
            <a:extLst>
              <a:ext uri="{FF2B5EF4-FFF2-40B4-BE49-F238E27FC236}">
                <a16:creationId xmlns:a16="http://schemas.microsoft.com/office/drawing/2014/main" id="{B419B904-1BAD-884D-A8B8-82ACA8ED037F}"/>
              </a:ext>
            </a:extLst>
          </p:cNvPr>
          <p:cNvSpPr>
            <a:spLocks noChangeArrowheads="1"/>
          </p:cNvSpPr>
          <p:nvPr/>
        </p:nvSpPr>
        <p:spPr bwMode="auto">
          <a:xfrm>
            <a:off x="5527676" y="4767264"/>
            <a:ext cx="93663"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08" name="Rectangle 408">
            <a:extLst>
              <a:ext uri="{FF2B5EF4-FFF2-40B4-BE49-F238E27FC236}">
                <a16:creationId xmlns:a16="http://schemas.microsoft.com/office/drawing/2014/main" id="{37459CF8-8C20-3149-BE9A-ECA6F9978015}"/>
              </a:ext>
            </a:extLst>
          </p:cNvPr>
          <p:cNvSpPr>
            <a:spLocks noChangeArrowheads="1"/>
          </p:cNvSpPr>
          <p:nvPr/>
        </p:nvSpPr>
        <p:spPr bwMode="auto">
          <a:xfrm>
            <a:off x="5662614" y="4764089"/>
            <a:ext cx="65087"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09" name="Freeform 409">
            <a:extLst>
              <a:ext uri="{FF2B5EF4-FFF2-40B4-BE49-F238E27FC236}">
                <a16:creationId xmlns:a16="http://schemas.microsoft.com/office/drawing/2014/main" id="{873CE47A-EAB8-9545-8F9D-011DF11760E1}"/>
              </a:ext>
            </a:extLst>
          </p:cNvPr>
          <p:cNvSpPr>
            <a:spLocks/>
          </p:cNvSpPr>
          <p:nvPr/>
        </p:nvSpPr>
        <p:spPr bwMode="auto">
          <a:xfrm>
            <a:off x="5595938" y="4845051"/>
            <a:ext cx="12700" cy="15875"/>
          </a:xfrm>
          <a:custGeom>
            <a:avLst/>
            <a:gdLst>
              <a:gd name="T0" fmla="*/ 23 w 23"/>
              <a:gd name="T1" fmla="*/ 14 h 30"/>
              <a:gd name="T2" fmla="*/ 23 w 23"/>
              <a:gd name="T3" fmla="*/ 11 h 30"/>
              <a:gd name="T4" fmla="*/ 21 w 23"/>
              <a:gd name="T5" fmla="*/ 9 h 30"/>
              <a:gd name="T6" fmla="*/ 21 w 23"/>
              <a:gd name="T7" fmla="*/ 7 h 30"/>
              <a:gd name="T8" fmla="*/ 19 w 23"/>
              <a:gd name="T9" fmla="*/ 5 h 30"/>
              <a:gd name="T10" fmla="*/ 18 w 23"/>
              <a:gd name="T11" fmla="*/ 3 h 30"/>
              <a:gd name="T12" fmla="*/ 16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3 w 23"/>
              <a:gd name="T45" fmla="*/ 26 h 30"/>
              <a:gd name="T46" fmla="*/ 4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6 w 23"/>
              <a:gd name="T59" fmla="*/ 29 h 30"/>
              <a:gd name="T60" fmla="*/ 18 w 23"/>
              <a:gd name="T61" fmla="*/ 28 h 30"/>
              <a:gd name="T62" fmla="*/ 19 w 23"/>
              <a:gd name="T63" fmla="*/ 26 h 30"/>
              <a:gd name="T64" fmla="*/ 21 w 23"/>
              <a:gd name="T65" fmla="*/ 25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20" y="6"/>
                </a:lnTo>
                <a:lnTo>
                  <a:pt x="19" y="5"/>
                </a:lnTo>
                <a:lnTo>
                  <a:pt x="19" y="4"/>
                </a:lnTo>
                <a:lnTo>
                  <a:pt x="18" y="3"/>
                </a:lnTo>
                <a:lnTo>
                  <a:pt x="16" y="1"/>
                </a:lnTo>
                <a:lnTo>
                  <a:pt x="15" y="0"/>
                </a:lnTo>
                <a:lnTo>
                  <a:pt x="14" y="0"/>
                </a:lnTo>
                <a:lnTo>
                  <a:pt x="13" y="0"/>
                </a:lnTo>
                <a:lnTo>
                  <a:pt x="12" y="0"/>
                </a:lnTo>
                <a:lnTo>
                  <a:pt x="11" y="0"/>
                </a:lnTo>
                <a:lnTo>
                  <a:pt x="10" y="0"/>
                </a:lnTo>
                <a:lnTo>
                  <a:pt x="9" y="0"/>
                </a:lnTo>
                <a:lnTo>
                  <a:pt x="8" y="0"/>
                </a:lnTo>
                <a:lnTo>
                  <a:pt x="7" y="1"/>
                </a:lnTo>
                <a:lnTo>
                  <a:pt x="5" y="1"/>
                </a:lnTo>
                <a:lnTo>
                  <a:pt x="4"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5"/>
                </a:lnTo>
                <a:lnTo>
                  <a:pt x="2" y="25"/>
                </a:lnTo>
                <a:lnTo>
                  <a:pt x="3" y="26"/>
                </a:lnTo>
                <a:lnTo>
                  <a:pt x="3" y="27"/>
                </a:lnTo>
                <a:lnTo>
                  <a:pt x="4" y="28"/>
                </a:lnTo>
                <a:lnTo>
                  <a:pt x="5" y="29"/>
                </a:lnTo>
                <a:lnTo>
                  <a:pt x="7" y="29"/>
                </a:lnTo>
                <a:lnTo>
                  <a:pt x="8" y="30"/>
                </a:lnTo>
                <a:lnTo>
                  <a:pt x="9" y="30"/>
                </a:lnTo>
                <a:lnTo>
                  <a:pt x="10" y="30"/>
                </a:lnTo>
                <a:lnTo>
                  <a:pt x="11" y="30"/>
                </a:lnTo>
                <a:lnTo>
                  <a:pt x="12" y="30"/>
                </a:lnTo>
                <a:lnTo>
                  <a:pt x="13" y="30"/>
                </a:lnTo>
                <a:lnTo>
                  <a:pt x="14" y="30"/>
                </a:lnTo>
                <a:lnTo>
                  <a:pt x="15" y="30"/>
                </a:lnTo>
                <a:lnTo>
                  <a:pt x="16" y="29"/>
                </a:lnTo>
                <a:lnTo>
                  <a:pt x="18" y="28"/>
                </a:lnTo>
                <a:lnTo>
                  <a:pt x="19" y="27"/>
                </a:lnTo>
                <a:lnTo>
                  <a:pt x="19" y="26"/>
                </a:lnTo>
                <a:lnTo>
                  <a:pt x="20" y="25"/>
                </a:lnTo>
                <a:lnTo>
                  <a:pt x="21" y="25"/>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10" name="Line 410">
            <a:extLst>
              <a:ext uri="{FF2B5EF4-FFF2-40B4-BE49-F238E27FC236}">
                <a16:creationId xmlns:a16="http://schemas.microsoft.com/office/drawing/2014/main" id="{93EBE863-D39D-9B4B-91A8-024BE79F42F7}"/>
              </a:ext>
            </a:extLst>
          </p:cNvPr>
          <p:cNvSpPr>
            <a:spLocks noChangeShapeType="1"/>
          </p:cNvSpPr>
          <p:nvPr/>
        </p:nvSpPr>
        <p:spPr bwMode="auto">
          <a:xfrm>
            <a:off x="5694364" y="476408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11" name="Line 411">
            <a:extLst>
              <a:ext uri="{FF2B5EF4-FFF2-40B4-BE49-F238E27FC236}">
                <a16:creationId xmlns:a16="http://schemas.microsoft.com/office/drawing/2014/main" id="{54E52036-194D-8B46-A661-DF16EE13E169}"/>
              </a:ext>
            </a:extLst>
          </p:cNvPr>
          <p:cNvSpPr>
            <a:spLocks noChangeShapeType="1"/>
          </p:cNvSpPr>
          <p:nvPr/>
        </p:nvSpPr>
        <p:spPr bwMode="auto">
          <a:xfrm>
            <a:off x="5662613" y="4802189"/>
            <a:ext cx="63500"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12" name="Freeform 412">
            <a:extLst>
              <a:ext uri="{FF2B5EF4-FFF2-40B4-BE49-F238E27FC236}">
                <a16:creationId xmlns:a16="http://schemas.microsoft.com/office/drawing/2014/main" id="{0582A61C-3537-1249-84D6-D8DB84096787}"/>
              </a:ext>
            </a:extLst>
          </p:cNvPr>
          <p:cNvSpPr>
            <a:spLocks/>
          </p:cNvSpPr>
          <p:nvPr/>
        </p:nvSpPr>
        <p:spPr bwMode="auto">
          <a:xfrm>
            <a:off x="5238750" y="3702051"/>
            <a:ext cx="325438" cy="341313"/>
          </a:xfrm>
          <a:custGeom>
            <a:avLst/>
            <a:gdLst>
              <a:gd name="T0" fmla="*/ 56 w 615"/>
              <a:gd name="T1" fmla="*/ 195 h 643"/>
              <a:gd name="T2" fmla="*/ 0 w 615"/>
              <a:gd name="T3" fmla="*/ 195 h 643"/>
              <a:gd name="T4" fmla="*/ 307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7"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13" name="Rectangle 413">
            <a:extLst>
              <a:ext uri="{FF2B5EF4-FFF2-40B4-BE49-F238E27FC236}">
                <a16:creationId xmlns:a16="http://schemas.microsoft.com/office/drawing/2014/main" id="{3C016A40-5382-7F4B-B84B-94A50E145F31}"/>
              </a:ext>
            </a:extLst>
          </p:cNvPr>
          <p:cNvSpPr>
            <a:spLocks noChangeArrowheads="1"/>
          </p:cNvSpPr>
          <p:nvPr/>
        </p:nvSpPr>
        <p:spPr bwMode="auto">
          <a:xfrm>
            <a:off x="5268914" y="3805238"/>
            <a:ext cx="269875"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14" name="Rectangle 414">
            <a:extLst>
              <a:ext uri="{FF2B5EF4-FFF2-40B4-BE49-F238E27FC236}">
                <a16:creationId xmlns:a16="http://schemas.microsoft.com/office/drawing/2014/main" id="{57D4510B-B6A2-084C-8CAD-29DB47CFF880}"/>
              </a:ext>
            </a:extLst>
          </p:cNvPr>
          <p:cNvSpPr>
            <a:spLocks noChangeArrowheads="1"/>
          </p:cNvSpPr>
          <p:nvPr/>
        </p:nvSpPr>
        <p:spPr bwMode="auto">
          <a:xfrm>
            <a:off x="5313363" y="3859214"/>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15" name="Rectangle 415">
            <a:extLst>
              <a:ext uri="{FF2B5EF4-FFF2-40B4-BE49-F238E27FC236}">
                <a16:creationId xmlns:a16="http://schemas.microsoft.com/office/drawing/2014/main" id="{A2BE88C7-D5BA-0F47-99F9-2A1BD8D33964}"/>
              </a:ext>
            </a:extLst>
          </p:cNvPr>
          <p:cNvSpPr>
            <a:spLocks noChangeArrowheads="1"/>
          </p:cNvSpPr>
          <p:nvPr/>
        </p:nvSpPr>
        <p:spPr bwMode="auto">
          <a:xfrm>
            <a:off x="5448300" y="3854451"/>
            <a:ext cx="63500"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16" name="Freeform 416">
            <a:extLst>
              <a:ext uri="{FF2B5EF4-FFF2-40B4-BE49-F238E27FC236}">
                <a16:creationId xmlns:a16="http://schemas.microsoft.com/office/drawing/2014/main" id="{7CD49824-9AF3-8C45-85B6-649D504723DC}"/>
              </a:ext>
            </a:extLst>
          </p:cNvPr>
          <p:cNvSpPr>
            <a:spLocks/>
          </p:cNvSpPr>
          <p:nvPr/>
        </p:nvSpPr>
        <p:spPr bwMode="auto">
          <a:xfrm>
            <a:off x="5381625" y="3935414"/>
            <a:ext cx="12700" cy="15875"/>
          </a:xfrm>
          <a:custGeom>
            <a:avLst/>
            <a:gdLst>
              <a:gd name="T0" fmla="*/ 23 w 23"/>
              <a:gd name="T1" fmla="*/ 13 h 29"/>
              <a:gd name="T2" fmla="*/ 23 w 23"/>
              <a:gd name="T3" fmla="*/ 11 h 29"/>
              <a:gd name="T4" fmla="*/ 21 w 23"/>
              <a:gd name="T5" fmla="*/ 9 h 29"/>
              <a:gd name="T6" fmla="*/ 21 w 23"/>
              <a:gd name="T7" fmla="*/ 6 h 29"/>
              <a:gd name="T8" fmla="*/ 19 w 23"/>
              <a:gd name="T9" fmla="*/ 4 h 29"/>
              <a:gd name="T10" fmla="*/ 18 w 23"/>
              <a:gd name="T11" fmla="*/ 2 h 29"/>
              <a:gd name="T12" fmla="*/ 17 w 23"/>
              <a:gd name="T13" fmla="*/ 1 h 29"/>
              <a:gd name="T14" fmla="*/ 14 w 23"/>
              <a:gd name="T15" fmla="*/ 0 h 29"/>
              <a:gd name="T16" fmla="*/ 12 w 23"/>
              <a:gd name="T17" fmla="*/ 0 h 29"/>
              <a:gd name="T18" fmla="*/ 10 w 23"/>
              <a:gd name="T19" fmla="*/ 0 h 29"/>
              <a:gd name="T20" fmla="*/ 9 w 23"/>
              <a:gd name="T21" fmla="*/ 0 h 29"/>
              <a:gd name="T22" fmla="*/ 7 w 23"/>
              <a:gd name="T23" fmla="*/ 1 h 29"/>
              <a:gd name="T24" fmla="*/ 4 w 23"/>
              <a:gd name="T25" fmla="*/ 2 h 29"/>
              <a:gd name="T26" fmla="*/ 3 w 23"/>
              <a:gd name="T27" fmla="*/ 4 h 29"/>
              <a:gd name="T28" fmla="*/ 1 w 23"/>
              <a:gd name="T29" fmla="*/ 6 h 29"/>
              <a:gd name="T30" fmla="*/ 1 w 23"/>
              <a:gd name="T31" fmla="*/ 9 h 29"/>
              <a:gd name="T32" fmla="*/ 0 w 23"/>
              <a:gd name="T33" fmla="*/ 11 h 29"/>
              <a:gd name="T34" fmla="*/ 0 w 23"/>
              <a:gd name="T35" fmla="*/ 13 h 29"/>
              <a:gd name="T36" fmla="*/ 0 w 23"/>
              <a:gd name="T37" fmla="*/ 16 h 29"/>
              <a:gd name="T38" fmla="*/ 0 w 23"/>
              <a:gd name="T39" fmla="*/ 18 h 29"/>
              <a:gd name="T40" fmla="*/ 1 w 23"/>
              <a:gd name="T41" fmla="*/ 22 h 29"/>
              <a:gd name="T42" fmla="*/ 1 w 23"/>
              <a:gd name="T43" fmla="*/ 24 h 29"/>
              <a:gd name="T44" fmla="*/ 3 w 23"/>
              <a:gd name="T45" fmla="*/ 25 h 29"/>
              <a:gd name="T46" fmla="*/ 4 w 23"/>
              <a:gd name="T47" fmla="*/ 27 h 29"/>
              <a:gd name="T48" fmla="*/ 7 w 23"/>
              <a:gd name="T49" fmla="*/ 28 h 29"/>
              <a:gd name="T50" fmla="*/ 9 w 23"/>
              <a:gd name="T51" fmla="*/ 29 h 29"/>
              <a:gd name="T52" fmla="*/ 10 w 23"/>
              <a:gd name="T53" fmla="*/ 29 h 29"/>
              <a:gd name="T54" fmla="*/ 12 w 23"/>
              <a:gd name="T55" fmla="*/ 29 h 29"/>
              <a:gd name="T56" fmla="*/ 14 w 23"/>
              <a:gd name="T57" fmla="*/ 29 h 29"/>
              <a:gd name="T58" fmla="*/ 17 w 23"/>
              <a:gd name="T59" fmla="*/ 28 h 29"/>
              <a:gd name="T60" fmla="*/ 18 w 23"/>
              <a:gd name="T61" fmla="*/ 27 h 29"/>
              <a:gd name="T62" fmla="*/ 19 w 23"/>
              <a:gd name="T63" fmla="*/ 25 h 29"/>
              <a:gd name="T64" fmla="*/ 21 w 23"/>
              <a:gd name="T65" fmla="*/ 24 h 29"/>
              <a:gd name="T66" fmla="*/ 21 w 23"/>
              <a:gd name="T67" fmla="*/ 22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10"/>
                </a:lnTo>
                <a:lnTo>
                  <a:pt x="21" y="9"/>
                </a:lnTo>
                <a:lnTo>
                  <a:pt x="21" y="7"/>
                </a:lnTo>
                <a:lnTo>
                  <a:pt x="21" y="6"/>
                </a:lnTo>
                <a:lnTo>
                  <a:pt x="20" y="5"/>
                </a:lnTo>
                <a:lnTo>
                  <a:pt x="19" y="4"/>
                </a:lnTo>
                <a:lnTo>
                  <a:pt x="19" y="3"/>
                </a:lnTo>
                <a:lnTo>
                  <a:pt x="18" y="2"/>
                </a:lnTo>
                <a:lnTo>
                  <a:pt x="17" y="1"/>
                </a:lnTo>
                <a:lnTo>
                  <a:pt x="15" y="0"/>
                </a:lnTo>
                <a:lnTo>
                  <a:pt x="14" y="0"/>
                </a:lnTo>
                <a:lnTo>
                  <a:pt x="13" y="0"/>
                </a:lnTo>
                <a:lnTo>
                  <a:pt x="12" y="0"/>
                </a:lnTo>
                <a:lnTo>
                  <a:pt x="11" y="0"/>
                </a:lnTo>
                <a:lnTo>
                  <a:pt x="10" y="0"/>
                </a:lnTo>
                <a:lnTo>
                  <a:pt x="9" y="0"/>
                </a:lnTo>
                <a:lnTo>
                  <a:pt x="8" y="0"/>
                </a:lnTo>
                <a:lnTo>
                  <a:pt x="7" y="1"/>
                </a:lnTo>
                <a:lnTo>
                  <a:pt x="6" y="1"/>
                </a:lnTo>
                <a:lnTo>
                  <a:pt x="4" y="2"/>
                </a:lnTo>
                <a:lnTo>
                  <a:pt x="3" y="3"/>
                </a:lnTo>
                <a:lnTo>
                  <a:pt x="3" y="4"/>
                </a:lnTo>
                <a:lnTo>
                  <a:pt x="2" y="5"/>
                </a:lnTo>
                <a:lnTo>
                  <a:pt x="1" y="6"/>
                </a:lnTo>
                <a:lnTo>
                  <a:pt x="1" y="7"/>
                </a:lnTo>
                <a:lnTo>
                  <a:pt x="1" y="9"/>
                </a:lnTo>
                <a:lnTo>
                  <a:pt x="0" y="10"/>
                </a:lnTo>
                <a:lnTo>
                  <a:pt x="0" y="11"/>
                </a:lnTo>
                <a:lnTo>
                  <a:pt x="0" y="12"/>
                </a:lnTo>
                <a:lnTo>
                  <a:pt x="0" y="13"/>
                </a:lnTo>
                <a:lnTo>
                  <a:pt x="0" y="14"/>
                </a:lnTo>
                <a:lnTo>
                  <a:pt x="0" y="16"/>
                </a:lnTo>
                <a:lnTo>
                  <a:pt x="0" y="17"/>
                </a:lnTo>
                <a:lnTo>
                  <a:pt x="0" y="18"/>
                </a:lnTo>
                <a:lnTo>
                  <a:pt x="0" y="20"/>
                </a:lnTo>
                <a:lnTo>
                  <a:pt x="1" y="22"/>
                </a:lnTo>
                <a:lnTo>
                  <a:pt x="1" y="23"/>
                </a:lnTo>
                <a:lnTo>
                  <a:pt x="1" y="24"/>
                </a:lnTo>
                <a:lnTo>
                  <a:pt x="2" y="24"/>
                </a:lnTo>
                <a:lnTo>
                  <a:pt x="3" y="25"/>
                </a:lnTo>
                <a:lnTo>
                  <a:pt x="3" y="26"/>
                </a:lnTo>
                <a:lnTo>
                  <a:pt x="4" y="27"/>
                </a:lnTo>
                <a:lnTo>
                  <a:pt x="6" y="28"/>
                </a:lnTo>
                <a:lnTo>
                  <a:pt x="7" y="28"/>
                </a:lnTo>
                <a:lnTo>
                  <a:pt x="8" y="29"/>
                </a:lnTo>
                <a:lnTo>
                  <a:pt x="9" y="29"/>
                </a:lnTo>
                <a:lnTo>
                  <a:pt x="10" y="29"/>
                </a:lnTo>
                <a:lnTo>
                  <a:pt x="11" y="29"/>
                </a:lnTo>
                <a:lnTo>
                  <a:pt x="12" y="29"/>
                </a:lnTo>
                <a:lnTo>
                  <a:pt x="13" y="29"/>
                </a:lnTo>
                <a:lnTo>
                  <a:pt x="14" y="29"/>
                </a:lnTo>
                <a:lnTo>
                  <a:pt x="15" y="29"/>
                </a:lnTo>
                <a:lnTo>
                  <a:pt x="17" y="28"/>
                </a:lnTo>
                <a:lnTo>
                  <a:pt x="18" y="27"/>
                </a:lnTo>
                <a:lnTo>
                  <a:pt x="19" y="26"/>
                </a:lnTo>
                <a:lnTo>
                  <a:pt x="19" y="25"/>
                </a:lnTo>
                <a:lnTo>
                  <a:pt x="20" y="24"/>
                </a:lnTo>
                <a:lnTo>
                  <a:pt x="21" y="24"/>
                </a:lnTo>
                <a:lnTo>
                  <a:pt x="21" y="23"/>
                </a:lnTo>
                <a:lnTo>
                  <a:pt x="21" y="22"/>
                </a:lnTo>
                <a:lnTo>
                  <a:pt x="22" y="20"/>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17" name="Line 417">
            <a:extLst>
              <a:ext uri="{FF2B5EF4-FFF2-40B4-BE49-F238E27FC236}">
                <a16:creationId xmlns:a16="http://schemas.microsoft.com/office/drawing/2014/main" id="{1B96B804-769A-614E-9379-D713ABC50A79}"/>
              </a:ext>
            </a:extLst>
          </p:cNvPr>
          <p:cNvSpPr>
            <a:spLocks noChangeShapeType="1"/>
          </p:cNvSpPr>
          <p:nvPr/>
        </p:nvSpPr>
        <p:spPr bwMode="auto">
          <a:xfrm>
            <a:off x="5478464" y="3854451"/>
            <a:ext cx="1587" cy="80963"/>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18" name="Line 418">
            <a:extLst>
              <a:ext uri="{FF2B5EF4-FFF2-40B4-BE49-F238E27FC236}">
                <a16:creationId xmlns:a16="http://schemas.microsoft.com/office/drawing/2014/main" id="{2CAD74B6-80F8-FD4E-BACA-2A5DEBD2BBD4}"/>
              </a:ext>
            </a:extLst>
          </p:cNvPr>
          <p:cNvSpPr>
            <a:spLocks noChangeShapeType="1"/>
          </p:cNvSpPr>
          <p:nvPr/>
        </p:nvSpPr>
        <p:spPr bwMode="auto">
          <a:xfrm>
            <a:off x="5448301" y="3892550"/>
            <a:ext cx="61913"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19" name="Freeform 419">
            <a:extLst>
              <a:ext uri="{FF2B5EF4-FFF2-40B4-BE49-F238E27FC236}">
                <a16:creationId xmlns:a16="http://schemas.microsoft.com/office/drawing/2014/main" id="{9C7DB40D-350E-684C-BE7A-9C7632A401C3}"/>
              </a:ext>
            </a:extLst>
          </p:cNvPr>
          <p:cNvSpPr>
            <a:spLocks/>
          </p:cNvSpPr>
          <p:nvPr/>
        </p:nvSpPr>
        <p:spPr bwMode="auto">
          <a:xfrm>
            <a:off x="6869114" y="2589213"/>
            <a:ext cx="325437" cy="341312"/>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4 h 643"/>
              <a:gd name="T14" fmla="*/ 56 w 614"/>
              <a:gd name="T15" fmla="*/ 614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4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4"/>
                </a:lnTo>
                <a:lnTo>
                  <a:pt x="56" y="614"/>
                </a:lnTo>
                <a:lnTo>
                  <a:pt x="56" y="195"/>
                </a:lnTo>
                <a:lnTo>
                  <a:pt x="558"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20" name="Rectangle 420">
            <a:extLst>
              <a:ext uri="{FF2B5EF4-FFF2-40B4-BE49-F238E27FC236}">
                <a16:creationId xmlns:a16="http://schemas.microsoft.com/office/drawing/2014/main" id="{D16EC385-19FF-2143-A189-7955C3FC2A87}"/>
              </a:ext>
            </a:extLst>
          </p:cNvPr>
          <p:cNvSpPr>
            <a:spLocks noChangeArrowheads="1"/>
          </p:cNvSpPr>
          <p:nvPr/>
        </p:nvSpPr>
        <p:spPr bwMode="auto">
          <a:xfrm>
            <a:off x="6899275" y="2692400"/>
            <a:ext cx="268288"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21" name="Rectangle 421">
            <a:extLst>
              <a:ext uri="{FF2B5EF4-FFF2-40B4-BE49-F238E27FC236}">
                <a16:creationId xmlns:a16="http://schemas.microsoft.com/office/drawing/2014/main" id="{831D36E1-83D5-2449-BCFC-AE8828E277EF}"/>
              </a:ext>
            </a:extLst>
          </p:cNvPr>
          <p:cNvSpPr>
            <a:spLocks noChangeArrowheads="1"/>
          </p:cNvSpPr>
          <p:nvPr/>
        </p:nvSpPr>
        <p:spPr bwMode="auto">
          <a:xfrm>
            <a:off x="6942138" y="2746375"/>
            <a:ext cx="93662"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22" name="Rectangle 422">
            <a:extLst>
              <a:ext uri="{FF2B5EF4-FFF2-40B4-BE49-F238E27FC236}">
                <a16:creationId xmlns:a16="http://schemas.microsoft.com/office/drawing/2014/main" id="{44F3AE9B-DF5B-614C-B504-C905C180974D}"/>
              </a:ext>
            </a:extLst>
          </p:cNvPr>
          <p:cNvSpPr>
            <a:spLocks noChangeArrowheads="1"/>
          </p:cNvSpPr>
          <p:nvPr/>
        </p:nvSpPr>
        <p:spPr bwMode="auto">
          <a:xfrm>
            <a:off x="7077075" y="2741613"/>
            <a:ext cx="65088" cy="80962"/>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23" name="Freeform 423">
            <a:extLst>
              <a:ext uri="{FF2B5EF4-FFF2-40B4-BE49-F238E27FC236}">
                <a16:creationId xmlns:a16="http://schemas.microsoft.com/office/drawing/2014/main" id="{3848D8B3-D527-7540-9142-3F9A34206790}"/>
              </a:ext>
            </a:extLst>
          </p:cNvPr>
          <p:cNvSpPr>
            <a:spLocks/>
          </p:cNvSpPr>
          <p:nvPr/>
        </p:nvSpPr>
        <p:spPr bwMode="auto">
          <a:xfrm>
            <a:off x="7011988" y="2822576"/>
            <a:ext cx="11112" cy="15875"/>
          </a:xfrm>
          <a:custGeom>
            <a:avLst/>
            <a:gdLst>
              <a:gd name="T0" fmla="*/ 23 w 23"/>
              <a:gd name="T1" fmla="*/ 13 h 30"/>
              <a:gd name="T2" fmla="*/ 23 w 23"/>
              <a:gd name="T3" fmla="*/ 11 h 30"/>
              <a:gd name="T4" fmla="*/ 20 w 23"/>
              <a:gd name="T5" fmla="*/ 9 h 30"/>
              <a:gd name="T6" fmla="*/ 20 w 23"/>
              <a:gd name="T7" fmla="*/ 7 h 30"/>
              <a:gd name="T8" fmla="*/ 18 w 23"/>
              <a:gd name="T9" fmla="*/ 4 h 30"/>
              <a:gd name="T10" fmla="*/ 17 w 23"/>
              <a:gd name="T11" fmla="*/ 2 h 30"/>
              <a:gd name="T12" fmla="*/ 16 w 23"/>
              <a:gd name="T13" fmla="*/ 1 h 30"/>
              <a:gd name="T14" fmla="*/ 14 w 23"/>
              <a:gd name="T15" fmla="*/ 0 h 30"/>
              <a:gd name="T16" fmla="*/ 12 w 23"/>
              <a:gd name="T17" fmla="*/ 0 h 30"/>
              <a:gd name="T18" fmla="*/ 9 w 23"/>
              <a:gd name="T19" fmla="*/ 0 h 30"/>
              <a:gd name="T20" fmla="*/ 8 w 23"/>
              <a:gd name="T21" fmla="*/ 0 h 30"/>
              <a:gd name="T22" fmla="*/ 6 w 23"/>
              <a:gd name="T23" fmla="*/ 1 h 30"/>
              <a:gd name="T24" fmla="*/ 4 w 23"/>
              <a:gd name="T25" fmla="*/ 2 h 30"/>
              <a:gd name="T26" fmla="*/ 3 w 23"/>
              <a:gd name="T27" fmla="*/ 4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5 h 30"/>
              <a:gd name="T46" fmla="*/ 4 w 23"/>
              <a:gd name="T47" fmla="*/ 27 h 30"/>
              <a:gd name="T48" fmla="*/ 6 w 23"/>
              <a:gd name="T49" fmla="*/ 29 h 30"/>
              <a:gd name="T50" fmla="*/ 8 w 23"/>
              <a:gd name="T51" fmla="*/ 30 h 30"/>
              <a:gd name="T52" fmla="*/ 9 w 23"/>
              <a:gd name="T53" fmla="*/ 30 h 30"/>
              <a:gd name="T54" fmla="*/ 12 w 23"/>
              <a:gd name="T55" fmla="*/ 30 h 30"/>
              <a:gd name="T56" fmla="*/ 14 w 23"/>
              <a:gd name="T57" fmla="*/ 30 h 30"/>
              <a:gd name="T58" fmla="*/ 16 w 23"/>
              <a:gd name="T59" fmla="*/ 29 h 30"/>
              <a:gd name="T60" fmla="*/ 17 w 23"/>
              <a:gd name="T61" fmla="*/ 27 h 30"/>
              <a:gd name="T62" fmla="*/ 18 w 23"/>
              <a:gd name="T63" fmla="*/ 25 h 30"/>
              <a:gd name="T64" fmla="*/ 20 w 23"/>
              <a:gd name="T65" fmla="*/ 24 h 30"/>
              <a:gd name="T66" fmla="*/ 20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1" y="10"/>
                </a:lnTo>
                <a:lnTo>
                  <a:pt x="20" y="9"/>
                </a:lnTo>
                <a:lnTo>
                  <a:pt x="20" y="8"/>
                </a:lnTo>
                <a:lnTo>
                  <a:pt x="20" y="7"/>
                </a:lnTo>
                <a:lnTo>
                  <a:pt x="19" y="6"/>
                </a:lnTo>
                <a:lnTo>
                  <a:pt x="18" y="4"/>
                </a:lnTo>
                <a:lnTo>
                  <a:pt x="18" y="3"/>
                </a:lnTo>
                <a:lnTo>
                  <a:pt x="17" y="2"/>
                </a:lnTo>
                <a:lnTo>
                  <a:pt x="16" y="1"/>
                </a:lnTo>
                <a:lnTo>
                  <a:pt x="15" y="0"/>
                </a:lnTo>
                <a:lnTo>
                  <a:pt x="14" y="0"/>
                </a:lnTo>
                <a:lnTo>
                  <a:pt x="13" y="0"/>
                </a:lnTo>
                <a:lnTo>
                  <a:pt x="12" y="0"/>
                </a:lnTo>
                <a:lnTo>
                  <a:pt x="11" y="0"/>
                </a:lnTo>
                <a:lnTo>
                  <a:pt x="9" y="0"/>
                </a:lnTo>
                <a:lnTo>
                  <a:pt x="8" y="0"/>
                </a:lnTo>
                <a:lnTo>
                  <a:pt x="7" y="0"/>
                </a:lnTo>
                <a:lnTo>
                  <a:pt x="6" y="1"/>
                </a:lnTo>
                <a:lnTo>
                  <a:pt x="5" y="1"/>
                </a:lnTo>
                <a:lnTo>
                  <a:pt x="4" y="2"/>
                </a:lnTo>
                <a:lnTo>
                  <a:pt x="3" y="3"/>
                </a:lnTo>
                <a:lnTo>
                  <a:pt x="3" y="4"/>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3" y="25"/>
                </a:lnTo>
                <a:lnTo>
                  <a:pt x="3" y="26"/>
                </a:lnTo>
                <a:lnTo>
                  <a:pt x="4" y="27"/>
                </a:lnTo>
                <a:lnTo>
                  <a:pt x="5" y="29"/>
                </a:lnTo>
                <a:lnTo>
                  <a:pt x="6" y="29"/>
                </a:lnTo>
                <a:lnTo>
                  <a:pt x="7" y="30"/>
                </a:lnTo>
                <a:lnTo>
                  <a:pt x="8" y="30"/>
                </a:lnTo>
                <a:lnTo>
                  <a:pt x="9" y="30"/>
                </a:lnTo>
                <a:lnTo>
                  <a:pt x="11" y="30"/>
                </a:lnTo>
                <a:lnTo>
                  <a:pt x="12" y="30"/>
                </a:lnTo>
                <a:lnTo>
                  <a:pt x="13" y="30"/>
                </a:lnTo>
                <a:lnTo>
                  <a:pt x="14" y="30"/>
                </a:lnTo>
                <a:lnTo>
                  <a:pt x="15" y="30"/>
                </a:lnTo>
                <a:lnTo>
                  <a:pt x="16" y="29"/>
                </a:lnTo>
                <a:lnTo>
                  <a:pt x="17" y="27"/>
                </a:lnTo>
                <a:lnTo>
                  <a:pt x="18" y="26"/>
                </a:lnTo>
                <a:lnTo>
                  <a:pt x="18" y="25"/>
                </a:lnTo>
                <a:lnTo>
                  <a:pt x="19" y="24"/>
                </a:lnTo>
                <a:lnTo>
                  <a:pt x="20" y="24"/>
                </a:lnTo>
                <a:lnTo>
                  <a:pt x="20" y="23"/>
                </a:lnTo>
                <a:lnTo>
                  <a:pt x="20" y="22"/>
                </a:lnTo>
                <a:lnTo>
                  <a:pt x="21"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24" name="Line 424">
            <a:extLst>
              <a:ext uri="{FF2B5EF4-FFF2-40B4-BE49-F238E27FC236}">
                <a16:creationId xmlns:a16="http://schemas.microsoft.com/office/drawing/2014/main" id="{059F7BBA-6C46-AE4B-AA98-F3CE7E37F914}"/>
              </a:ext>
            </a:extLst>
          </p:cNvPr>
          <p:cNvSpPr>
            <a:spLocks noChangeShapeType="1"/>
          </p:cNvSpPr>
          <p:nvPr/>
        </p:nvSpPr>
        <p:spPr bwMode="auto">
          <a:xfrm>
            <a:off x="7108825" y="2743201"/>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25" name="Line 425">
            <a:extLst>
              <a:ext uri="{FF2B5EF4-FFF2-40B4-BE49-F238E27FC236}">
                <a16:creationId xmlns:a16="http://schemas.microsoft.com/office/drawing/2014/main" id="{83EBFB65-B579-0948-9A50-B01C2BD63560}"/>
              </a:ext>
            </a:extLst>
          </p:cNvPr>
          <p:cNvSpPr>
            <a:spLocks noChangeShapeType="1"/>
          </p:cNvSpPr>
          <p:nvPr/>
        </p:nvSpPr>
        <p:spPr bwMode="auto">
          <a:xfrm>
            <a:off x="7077075" y="2779714"/>
            <a:ext cx="63500"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26" name="Freeform 426">
            <a:extLst>
              <a:ext uri="{FF2B5EF4-FFF2-40B4-BE49-F238E27FC236}">
                <a16:creationId xmlns:a16="http://schemas.microsoft.com/office/drawing/2014/main" id="{501BEE8B-3298-5746-BE1F-76F219E0CCB0}"/>
              </a:ext>
            </a:extLst>
          </p:cNvPr>
          <p:cNvSpPr>
            <a:spLocks/>
          </p:cNvSpPr>
          <p:nvPr/>
        </p:nvSpPr>
        <p:spPr bwMode="auto">
          <a:xfrm>
            <a:off x="3255964" y="3449639"/>
            <a:ext cx="325437" cy="339725"/>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5 h 643"/>
              <a:gd name="T14" fmla="*/ 56 w 614"/>
              <a:gd name="T15" fmla="*/ 615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5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5"/>
                </a:lnTo>
                <a:lnTo>
                  <a:pt x="56" y="615"/>
                </a:lnTo>
                <a:lnTo>
                  <a:pt x="56" y="195"/>
                </a:lnTo>
                <a:lnTo>
                  <a:pt x="558" y="195"/>
                </a:lnTo>
                <a:lnTo>
                  <a:pt x="587" y="195"/>
                </a:lnTo>
                <a:lnTo>
                  <a:pt x="587" y="643"/>
                </a:lnTo>
                <a:lnTo>
                  <a:pt x="56" y="643"/>
                </a:lnTo>
                <a:lnTo>
                  <a:pt x="56" y="615"/>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27" name="Rectangle 427">
            <a:extLst>
              <a:ext uri="{FF2B5EF4-FFF2-40B4-BE49-F238E27FC236}">
                <a16:creationId xmlns:a16="http://schemas.microsoft.com/office/drawing/2014/main" id="{24710955-A501-C44F-8453-9A718761E4AA}"/>
              </a:ext>
            </a:extLst>
          </p:cNvPr>
          <p:cNvSpPr>
            <a:spLocks noChangeArrowheads="1"/>
          </p:cNvSpPr>
          <p:nvPr/>
        </p:nvSpPr>
        <p:spPr bwMode="auto">
          <a:xfrm>
            <a:off x="3286125" y="3552826"/>
            <a:ext cx="268288"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28" name="Rectangle 428">
            <a:extLst>
              <a:ext uri="{FF2B5EF4-FFF2-40B4-BE49-F238E27FC236}">
                <a16:creationId xmlns:a16="http://schemas.microsoft.com/office/drawing/2014/main" id="{80524FD7-2EF2-534B-B4FE-754D6AD6F498}"/>
              </a:ext>
            </a:extLst>
          </p:cNvPr>
          <p:cNvSpPr>
            <a:spLocks noChangeArrowheads="1"/>
          </p:cNvSpPr>
          <p:nvPr/>
        </p:nvSpPr>
        <p:spPr bwMode="auto">
          <a:xfrm>
            <a:off x="3328988" y="3605214"/>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29" name="Rectangle 429">
            <a:extLst>
              <a:ext uri="{FF2B5EF4-FFF2-40B4-BE49-F238E27FC236}">
                <a16:creationId xmlns:a16="http://schemas.microsoft.com/office/drawing/2014/main" id="{9C7AC592-87FB-5247-835C-FA1D86847B31}"/>
              </a:ext>
            </a:extLst>
          </p:cNvPr>
          <p:cNvSpPr>
            <a:spLocks noChangeArrowheads="1"/>
          </p:cNvSpPr>
          <p:nvPr/>
        </p:nvSpPr>
        <p:spPr bwMode="auto">
          <a:xfrm>
            <a:off x="3463925" y="3602039"/>
            <a:ext cx="65088"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30" name="Freeform 430">
            <a:extLst>
              <a:ext uri="{FF2B5EF4-FFF2-40B4-BE49-F238E27FC236}">
                <a16:creationId xmlns:a16="http://schemas.microsoft.com/office/drawing/2014/main" id="{1D6D888F-43EC-644D-AD12-129CB100E8B8}"/>
              </a:ext>
            </a:extLst>
          </p:cNvPr>
          <p:cNvSpPr>
            <a:spLocks/>
          </p:cNvSpPr>
          <p:nvPr/>
        </p:nvSpPr>
        <p:spPr bwMode="auto">
          <a:xfrm>
            <a:off x="3397250" y="3683001"/>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5 h 30"/>
              <a:gd name="T10" fmla="*/ 18 w 23"/>
              <a:gd name="T11" fmla="*/ 2 h 30"/>
              <a:gd name="T12" fmla="*/ 17 w 23"/>
              <a:gd name="T13" fmla="*/ 1 h 30"/>
              <a:gd name="T14" fmla="*/ 15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4 w 23"/>
              <a:gd name="T27" fmla="*/ 5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4 w 23"/>
              <a:gd name="T45" fmla="*/ 26 h 30"/>
              <a:gd name="T46" fmla="*/ 5 w 23"/>
              <a:gd name="T47" fmla="*/ 28 h 30"/>
              <a:gd name="T48" fmla="*/ 7 w 23"/>
              <a:gd name="T49" fmla="*/ 29 h 30"/>
              <a:gd name="T50" fmla="*/ 9 w 23"/>
              <a:gd name="T51" fmla="*/ 30 h 30"/>
              <a:gd name="T52" fmla="*/ 10 w 23"/>
              <a:gd name="T53" fmla="*/ 30 h 30"/>
              <a:gd name="T54" fmla="*/ 12 w 23"/>
              <a:gd name="T55" fmla="*/ 30 h 30"/>
              <a:gd name="T56" fmla="*/ 15 w 23"/>
              <a:gd name="T57" fmla="*/ 30 h 30"/>
              <a:gd name="T58" fmla="*/ 17 w 23"/>
              <a:gd name="T59" fmla="*/ 29 h 30"/>
              <a:gd name="T60" fmla="*/ 18 w 23"/>
              <a:gd name="T61" fmla="*/ 28 h 30"/>
              <a:gd name="T62" fmla="*/ 19 w 23"/>
              <a:gd name="T63" fmla="*/ 26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3"/>
                </a:lnTo>
                <a:lnTo>
                  <a:pt x="23" y="12"/>
                </a:lnTo>
                <a:lnTo>
                  <a:pt x="23" y="11"/>
                </a:lnTo>
                <a:lnTo>
                  <a:pt x="22" y="10"/>
                </a:lnTo>
                <a:lnTo>
                  <a:pt x="21" y="9"/>
                </a:lnTo>
                <a:lnTo>
                  <a:pt x="21" y="8"/>
                </a:lnTo>
                <a:lnTo>
                  <a:pt x="21" y="7"/>
                </a:lnTo>
                <a:lnTo>
                  <a:pt x="20" y="6"/>
                </a:lnTo>
                <a:lnTo>
                  <a:pt x="19" y="5"/>
                </a:lnTo>
                <a:lnTo>
                  <a:pt x="19" y="4"/>
                </a:lnTo>
                <a:lnTo>
                  <a:pt x="18" y="2"/>
                </a:lnTo>
                <a:lnTo>
                  <a:pt x="17" y="1"/>
                </a:lnTo>
                <a:lnTo>
                  <a:pt x="16" y="0"/>
                </a:lnTo>
                <a:lnTo>
                  <a:pt x="15" y="0"/>
                </a:lnTo>
                <a:lnTo>
                  <a:pt x="14" y="0"/>
                </a:lnTo>
                <a:lnTo>
                  <a:pt x="12" y="0"/>
                </a:lnTo>
                <a:lnTo>
                  <a:pt x="11" y="0"/>
                </a:lnTo>
                <a:lnTo>
                  <a:pt x="10" y="0"/>
                </a:lnTo>
                <a:lnTo>
                  <a:pt x="9" y="0"/>
                </a:lnTo>
                <a:lnTo>
                  <a:pt x="8" y="0"/>
                </a:lnTo>
                <a:lnTo>
                  <a:pt x="7" y="1"/>
                </a:lnTo>
                <a:lnTo>
                  <a:pt x="6" y="1"/>
                </a:lnTo>
                <a:lnTo>
                  <a:pt x="5" y="2"/>
                </a:lnTo>
                <a:lnTo>
                  <a:pt x="4" y="4"/>
                </a:lnTo>
                <a:lnTo>
                  <a:pt x="4" y="5"/>
                </a:lnTo>
                <a:lnTo>
                  <a:pt x="3" y="6"/>
                </a:lnTo>
                <a:lnTo>
                  <a:pt x="1" y="7"/>
                </a:lnTo>
                <a:lnTo>
                  <a:pt x="1" y="8"/>
                </a:lnTo>
                <a:lnTo>
                  <a:pt x="1" y="9"/>
                </a:lnTo>
                <a:lnTo>
                  <a:pt x="0" y="10"/>
                </a:lnTo>
                <a:lnTo>
                  <a:pt x="0" y="11"/>
                </a:lnTo>
                <a:lnTo>
                  <a:pt x="0" y="12"/>
                </a:lnTo>
                <a:lnTo>
                  <a:pt x="0" y="13"/>
                </a:lnTo>
                <a:lnTo>
                  <a:pt x="0" y="15"/>
                </a:lnTo>
                <a:lnTo>
                  <a:pt x="0" y="17"/>
                </a:lnTo>
                <a:lnTo>
                  <a:pt x="0" y="18"/>
                </a:lnTo>
                <a:lnTo>
                  <a:pt x="0" y="19"/>
                </a:lnTo>
                <a:lnTo>
                  <a:pt x="0" y="20"/>
                </a:lnTo>
                <a:lnTo>
                  <a:pt x="1" y="22"/>
                </a:lnTo>
                <a:lnTo>
                  <a:pt x="1" y="23"/>
                </a:lnTo>
                <a:lnTo>
                  <a:pt x="1" y="24"/>
                </a:lnTo>
                <a:lnTo>
                  <a:pt x="3" y="24"/>
                </a:lnTo>
                <a:lnTo>
                  <a:pt x="4" y="26"/>
                </a:lnTo>
                <a:lnTo>
                  <a:pt x="4" y="27"/>
                </a:lnTo>
                <a:lnTo>
                  <a:pt x="5" y="28"/>
                </a:lnTo>
                <a:lnTo>
                  <a:pt x="6" y="29"/>
                </a:lnTo>
                <a:lnTo>
                  <a:pt x="7" y="29"/>
                </a:lnTo>
                <a:lnTo>
                  <a:pt x="8" y="30"/>
                </a:lnTo>
                <a:lnTo>
                  <a:pt x="9" y="30"/>
                </a:lnTo>
                <a:lnTo>
                  <a:pt x="10" y="30"/>
                </a:lnTo>
                <a:lnTo>
                  <a:pt x="11" y="30"/>
                </a:lnTo>
                <a:lnTo>
                  <a:pt x="12" y="30"/>
                </a:lnTo>
                <a:lnTo>
                  <a:pt x="14" y="30"/>
                </a:lnTo>
                <a:lnTo>
                  <a:pt x="15" y="30"/>
                </a:lnTo>
                <a:lnTo>
                  <a:pt x="16" y="30"/>
                </a:lnTo>
                <a:lnTo>
                  <a:pt x="17" y="29"/>
                </a:lnTo>
                <a:lnTo>
                  <a:pt x="18" y="28"/>
                </a:lnTo>
                <a:lnTo>
                  <a:pt x="19" y="27"/>
                </a:lnTo>
                <a:lnTo>
                  <a:pt x="19" y="26"/>
                </a:lnTo>
                <a:lnTo>
                  <a:pt x="20" y="24"/>
                </a:lnTo>
                <a:lnTo>
                  <a:pt x="21" y="24"/>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31" name="Line 431">
            <a:extLst>
              <a:ext uri="{FF2B5EF4-FFF2-40B4-BE49-F238E27FC236}">
                <a16:creationId xmlns:a16="http://schemas.microsoft.com/office/drawing/2014/main" id="{D52AFCA9-DF00-174E-A942-4DDF06DA687A}"/>
              </a:ext>
            </a:extLst>
          </p:cNvPr>
          <p:cNvSpPr>
            <a:spLocks noChangeShapeType="1"/>
          </p:cNvSpPr>
          <p:nvPr/>
        </p:nvSpPr>
        <p:spPr bwMode="auto">
          <a:xfrm>
            <a:off x="3495675" y="3602039"/>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32" name="Line 432">
            <a:extLst>
              <a:ext uri="{FF2B5EF4-FFF2-40B4-BE49-F238E27FC236}">
                <a16:creationId xmlns:a16="http://schemas.microsoft.com/office/drawing/2014/main" id="{82E9B126-1F7A-E144-B836-09CF2EFF6D62}"/>
              </a:ext>
            </a:extLst>
          </p:cNvPr>
          <p:cNvSpPr>
            <a:spLocks noChangeShapeType="1"/>
          </p:cNvSpPr>
          <p:nvPr/>
        </p:nvSpPr>
        <p:spPr bwMode="auto">
          <a:xfrm>
            <a:off x="3463925" y="3640139"/>
            <a:ext cx="63500"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33" name="Freeform 433">
            <a:extLst>
              <a:ext uri="{FF2B5EF4-FFF2-40B4-BE49-F238E27FC236}">
                <a16:creationId xmlns:a16="http://schemas.microsoft.com/office/drawing/2014/main" id="{85AD2DA4-A413-D541-A52F-87E54CB4195C}"/>
              </a:ext>
            </a:extLst>
          </p:cNvPr>
          <p:cNvSpPr>
            <a:spLocks/>
          </p:cNvSpPr>
          <p:nvPr/>
        </p:nvSpPr>
        <p:spPr bwMode="auto">
          <a:xfrm>
            <a:off x="4064000" y="3386139"/>
            <a:ext cx="325438" cy="339725"/>
          </a:xfrm>
          <a:custGeom>
            <a:avLst/>
            <a:gdLst>
              <a:gd name="T0" fmla="*/ 56 w 614"/>
              <a:gd name="T1" fmla="*/ 196 h 644"/>
              <a:gd name="T2" fmla="*/ 0 w 614"/>
              <a:gd name="T3" fmla="*/ 196 h 644"/>
              <a:gd name="T4" fmla="*/ 307 w 614"/>
              <a:gd name="T5" fmla="*/ 0 h 644"/>
              <a:gd name="T6" fmla="*/ 614 w 614"/>
              <a:gd name="T7" fmla="*/ 196 h 644"/>
              <a:gd name="T8" fmla="*/ 587 w 614"/>
              <a:gd name="T9" fmla="*/ 196 h 644"/>
              <a:gd name="T10" fmla="*/ 558 w 614"/>
              <a:gd name="T11" fmla="*/ 196 h 644"/>
              <a:gd name="T12" fmla="*/ 558 w 614"/>
              <a:gd name="T13" fmla="*/ 615 h 644"/>
              <a:gd name="T14" fmla="*/ 56 w 614"/>
              <a:gd name="T15" fmla="*/ 615 h 644"/>
              <a:gd name="T16" fmla="*/ 56 w 614"/>
              <a:gd name="T17" fmla="*/ 196 h 644"/>
              <a:gd name="T18" fmla="*/ 558 w 614"/>
              <a:gd name="T19" fmla="*/ 196 h 644"/>
              <a:gd name="T20" fmla="*/ 587 w 614"/>
              <a:gd name="T21" fmla="*/ 196 h 644"/>
              <a:gd name="T22" fmla="*/ 587 w 614"/>
              <a:gd name="T23" fmla="*/ 644 h 644"/>
              <a:gd name="T24" fmla="*/ 56 w 614"/>
              <a:gd name="T25" fmla="*/ 644 h 644"/>
              <a:gd name="T26" fmla="*/ 56 w 614"/>
              <a:gd name="T27" fmla="*/ 615 h 644"/>
              <a:gd name="T28" fmla="*/ 56 w 614"/>
              <a:gd name="T29" fmla="*/ 196 h 6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4"/>
              <a:gd name="T47" fmla="*/ 614 w 614"/>
              <a:gd name="T48" fmla="*/ 644 h 6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4">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4"/>
                </a:lnTo>
                <a:lnTo>
                  <a:pt x="56" y="644"/>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34" name="Rectangle 434">
            <a:extLst>
              <a:ext uri="{FF2B5EF4-FFF2-40B4-BE49-F238E27FC236}">
                <a16:creationId xmlns:a16="http://schemas.microsoft.com/office/drawing/2014/main" id="{F0B3BA3F-D6CE-484A-B888-8C431A579AA9}"/>
              </a:ext>
            </a:extLst>
          </p:cNvPr>
          <p:cNvSpPr>
            <a:spLocks noChangeArrowheads="1"/>
          </p:cNvSpPr>
          <p:nvPr/>
        </p:nvSpPr>
        <p:spPr bwMode="auto">
          <a:xfrm>
            <a:off x="4094164" y="3489326"/>
            <a:ext cx="269875"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35" name="Rectangle 435">
            <a:extLst>
              <a:ext uri="{FF2B5EF4-FFF2-40B4-BE49-F238E27FC236}">
                <a16:creationId xmlns:a16="http://schemas.microsoft.com/office/drawing/2014/main" id="{9014249B-BAC0-2047-90EC-F27FF8FB350E}"/>
              </a:ext>
            </a:extLst>
          </p:cNvPr>
          <p:cNvSpPr>
            <a:spLocks noChangeArrowheads="1"/>
          </p:cNvSpPr>
          <p:nvPr/>
        </p:nvSpPr>
        <p:spPr bwMode="auto">
          <a:xfrm>
            <a:off x="4137025" y="3541714"/>
            <a:ext cx="95250"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36" name="Rectangle 436">
            <a:extLst>
              <a:ext uri="{FF2B5EF4-FFF2-40B4-BE49-F238E27FC236}">
                <a16:creationId xmlns:a16="http://schemas.microsoft.com/office/drawing/2014/main" id="{E2310885-DCF5-F046-BB25-227F25E05B4D}"/>
              </a:ext>
            </a:extLst>
          </p:cNvPr>
          <p:cNvSpPr>
            <a:spLocks noChangeArrowheads="1"/>
          </p:cNvSpPr>
          <p:nvPr/>
        </p:nvSpPr>
        <p:spPr bwMode="auto">
          <a:xfrm>
            <a:off x="4273550" y="3538539"/>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37" name="Freeform 437">
            <a:extLst>
              <a:ext uri="{FF2B5EF4-FFF2-40B4-BE49-F238E27FC236}">
                <a16:creationId xmlns:a16="http://schemas.microsoft.com/office/drawing/2014/main" id="{6803A9C4-585D-AB4C-A831-AB2F128F617C}"/>
              </a:ext>
            </a:extLst>
          </p:cNvPr>
          <p:cNvSpPr>
            <a:spLocks/>
          </p:cNvSpPr>
          <p:nvPr/>
        </p:nvSpPr>
        <p:spPr bwMode="auto">
          <a:xfrm>
            <a:off x="4206875" y="3619501"/>
            <a:ext cx="12700" cy="15875"/>
          </a:xfrm>
          <a:custGeom>
            <a:avLst/>
            <a:gdLst>
              <a:gd name="T0" fmla="*/ 23 w 23"/>
              <a:gd name="T1" fmla="*/ 13 h 29"/>
              <a:gd name="T2" fmla="*/ 23 w 23"/>
              <a:gd name="T3" fmla="*/ 11 h 29"/>
              <a:gd name="T4" fmla="*/ 20 w 23"/>
              <a:gd name="T5" fmla="*/ 8 h 29"/>
              <a:gd name="T6" fmla="*/ 20 w 23"/>
              <a:gd name="T7" fmla="*/ 6 h 29"/>
              <a:gd name="T8" fmla="*/ 18 w 23"/>
              <a:gd name="T9" fmla="*/ 4 h 29"/>
              <a:gd name="T10" fmla="*/ 17 w 23"/>
              <a:gd name="T11" fmla="*/ 2 h 29"/>
              <a:gd name="T12" fmla="*/ 16 w 23"/>
              <a:gd name="T13" fmla="*/ 1 h 29"/>
              <a:gd name="T14" fmla="*/ 14 w 23"/>
              <a:gd name="T15" fmla="*/ 0 h 29"/>
              <a:gd name="T16" fmla="*/ 12 w 23"/>
              <a:gd name="T17" fmla="*/ 0 h 29"/>
              <a:gd name="T18" fmla="*/ 9 w 23"/>
              <a:gd name="T19" fmla="*/ 0 h 29"/>
              <a:gd name="T20" fmla="*/ 8 w 23"/>
              <a:gd name="T21" fmla="*/ 0 h 29"/>
              <a:gd name="T22" fmla="*/ 6 w 23"/>
              <a:gd name="T23" fmla="*/ 1 h 29"/>
              <a:gd name="T24" fmla="*/ 4 w 23"/>
              <a:gd name="T25" fmla="*/ 2 h 29"/>
              <a:gd name="T26" fmla="*/ 3 w 23"/>
              <a:gd name="T27" fmla="*/ 4 h 29"/>
              <a:gd name="T28" fmla="*/ 1 w 23"/>
              <a:gd name="T29" fmla="*/ 6 h 29"/>
              <a:gd name="T30" fmla="*/ 1 w 23"/>
              <a:gd name="T31" fmla="*/ 8 h 29"/>
              <a:gd name="T32" fmla="*/ 0 w 23"/>
              <a:gd name="T33" fmla="*/ 11 h 29"/>
              <a:gd name="T34" fmla="*/ 0 w 23"/>
              <a:gd name="T35" fmla="*/ 13 h 29"/>
              <a:gd name="T36" fmla="*/ 0 w 23"/>
              <a:gd name="T37" fmla="*/ 16 h 29"/>
              <a:gd name="T38" fmla="*/ 0 w 23"/>
              <a:gd name="T39" fmla="*/ 18 h 29"/>
              <a:gd name="T40" fmla="*/ 1 w 23"/>
              <a:gd name="T41" fmla="*/ 22 h 29"/>
              <a:gd name="T42" fmla="*/ 1 w 23"/>
              <a:gd name="T43" fmla="*/ 24 h 29"/>
              <a:gd name="T44" fmla="*/ 3 w 23"/>
              <a:gd name="T45" fmla="*/ 25 h 29"/>
              <a:gd name="T46" fmla="*/ 4 w 23"/>
              <a:gd name="T47" fmla="*/ 27 h 29"/>
              <a:gd name="T48" fmla="*/ 6 w 23"/>
              <a:gd name="T49" fmla="*/ 28 h 29"/>
              <a:gd name="T50" fmla="*/ 8 w 23"/>
              <a:gd name="T51" fmla="*/ 29 h 29"/>
              <a:gd name="T52" fmla="*/ 9 w 23"/>
              <a:gd name="T53" fmla="*/ 29 h 29"/>
              <a:gd name="T54" fmla="*/ 12 w 23"/>
              <a:gd name="T55" fmla="*/ 29 h 29"/>
              <a:gd name="T56" fmla="*/ 14 w 23"/>
              <a:gd name="T57" fmla="*/ 29 h 29"/>
              <a:gd name="T58" fmla="*/ 16 w 23"/>
              <a:gd name="T59" fmla="*/ 28 h 29"/>
              <a:gd name="T60" fmla="*/ 17 w 23"/>
              <a:gd name="T61" fmla="*/ 27 h 29"/>
              <a:gd name="T62" fmla="*/ 18 w 23"/>
              <a:gd name="T63" fmla="*/ 25 h 29"/>
              <a:gd name="T64" fmla="*/ 20 w 23"/>
              <a:gd name="T65" fmla="*/ 24 h 29"/>
              <a:gd name="T66" fmla="*/ 20 w 23"/>
              <a:gd name="T67" fmla="*/ 22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10"/>
                </a:lnTo>
                <a:lnTo>
                  <a:pt x="20" y="8"/>
                </a:lnTo>
                <a:lnTo>
                  <a:pt x="20" y="7"/>
                </a:lnTo>
                <a:lnTo>
                  <a:pt x="20" y="6"/>
                </a:lnTo>
                <a:lnTo>
                  <a:pt x="19" y="5"/>
                </a:lnTo>
                <a:lnTo>
                  <a:pt x="18" y="4"/>
                </a:lnTo>
                <a:lnTo>
                  <a:pt x="18" y="3"/>
                </a:lnTo>
                <a:lnTo>
                  <a:pt x="17" y="2"/>
                </a:lnTo>
                <a:lnTo>
                  <a:pt x="16" y="1"/>
                </a:lnTo>
                <a:lnTo>
                  <a:pt x="15" y="0"/>
                </a:lnTo>
                <a:lnTo>
                  <a:pt x="14" y="0"/>
                </a:lnTo>
                <a:lnTo>
                  <a:pt x="13" y="0"/>
                </a:lnTo>
                <a:lnTo>
                  <a:pt x="12" y="0"/>
                </a:lnTo>
                <a:lnTo>
                  <a:pt x="11" y="0"/>
                </a:lnTo>
                <a:lnTo>
                  <a:pt x="9" y="0"/>
                </a:lnTo>
                <a:lnTo>
                  <a:pt x="8" y="0"/>
                </a:lnTo>
                <a:lnTo>
                  <a:pt x="7" y="0"/>
                </a:lnTo>
                <a:lnTo>
                  <a:pt x="6" y="1"/>
                </a:lnTo>
                <a:lnTo>
                  <a:pt x="5" y="1"/>
                </a:lnTo>
                <a:lnTo>
                  <a:pt x="4" y="2"/>
                </a:lnTo>
                <a:lnTo>
                  <a:pt x="3" y="3"/>
                </a:lnTo>
                <a:lnTo>
                  <a:pt x="3" y="4"/>
                </a:lnTo>
                <a:lnTo>
                  <a:pt x="2" y="5"/>
                </a:lnTo>
                <a:lnTo>
                  <a:pt x="1" y="6"/>
                </a:lnTo>
                <a:lnTo>
                  <a:pt x="1" y="7"/>
                </a:lnTo>
                <a:lnTo>
                  <a:pt x="1" y="8"/>
                </a:lnTo>
                <a:lnTo>
                  <a:pt x="0" y="10"/>
                </a:lnTo>
                <a:lnTo>
                  <a:pt x="0" y="11"/>
                </a:lnTo>
                <a:lnTo>
                  <a:pt x="0" y="12"/>
                </a:lnTo>
                <a:lnTo>
                  <a:pt x="0" y="13"/>
                </a:lnTo>
                <a:lnTo>
                  <a:pt x="0" y="14"/>
                </a:lnTo>
                <a:lnTo>
                  <a:pt x="0" y="16"/>
                </a:lnTo>
                <a:lnTo>
                  <a:pt x="0" y="17"/>
                </a:lnTo>
                <a:lnTo>
                  <a:pt x="0" y="18"/>
                </a:lnTo>
                <a:lnTo>
                  <a:pt x="0" y="19"/>
                </a:lnTo>
                <a:lnTo>
                  <a:pt x="1" y="22"/>
                </a:lnTo>
                <a:lnTo>
                  <a:pt x="1" y="23"/>
                </a:lnTo>
                <a:lnTo>
                  <a:pt x="1" y="24"/>
                </a:lnTo>
                <a:lnTo>
                  <a:pt x="2" y="24"/>
                </a:lnTo>
                <a:lnTo>
                  <a:pt x="3" y="25"/>
                </a:lnTo>
                <a:lnTo>
                  <a:pt x="3" y="26"/>
                </a:lnTo>
                <a:lnTo>
                  <a:pt x="4" y="27"/>
                </a:lnTo>
                <a:lnTo>
                  <a:pt x="5" y="28"/>
                </a:lnTo>
                <a:lnTo>
                  <a:pt x="6" y="28"/>
                </a:lnTo>
                <a:lnTo>
                  <a:pt x="7" y="29"/>
                </a:lnTo>
                <a:lnTo>
                  <a:pt x="8" y="29"/>
                </a:lnTo>
                <a:lnTo>
                  <a:pt x="9" y="29"/>
                </a:lnTo>
                <a:lnTo>
                  <a:pt x="11" y="29"/>
                </a:lnTo>
                <a:lnTo>
                  <a:pt x="12" y="29"/>
                </a:lnTo>
                <a:lnTo>
                  <a:pt x="13" y="29"/>
                </a:lnTo>
                <a:lnTo>
                  <a:pt x="14" y="29"/>
                </a:lnTo>
                <a:lnTo>
                  <a:pt x="15" y="29"/>
                </a:lnTo>
                <a:lnTo>
                  <a:pt x="16" y="28"/>
                </a:lnTo>
                <a:lnTo>
                  <a:pt x="17" y="27"/>
                </a:lnTo>
                <a:lnTo>
                  <a:pt x="18" y="26"/>
                </a:lnTo>
                <a:lnTo>
                  <a:pt x="18" y="25"/>
                </a:lnTo>
                <a:lnTo>
                  <a:pt x="19" y="24"/>
                </a:lnTo>
                <a:lnTo>
                  <a:pt x="20" y="24"/>
                </a:lnTo>
                <a:lnTo>
                  <a:pt x="20" y="23"/>
                </a:lnTo>
                <a:lnTo>
                  <a:pt x="20" y="22"/>
                </a:lnTo>
                <a:lnTo>
                  <a:pt x="22" y="19"/>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38" name="Line 438">
            <a:extLst>
              <a:ext uri="{FF2B5EF4-FFF2-40B4-BE49-F238E27FC236}">
                <a16:creationId xmlns:a16="http://schemas.microsoft.com/office/drawing/2014/main" id="{EDC3F4D1-4170-0346-AC98-72602E85408C}"/>
              </a:ext>
            </a:extLst>
          </p:cNvPr>
          <p:cNvSpPr>
            <a:spLocks noChangeShapeType="1"/>
          </p:cNvSpPr>
          <p:nvPr/>
        </p:nvSpPr>
        <p:spPr bwMode="auto">
          <a:xfrm>
            <a:off x="4303714" y="353853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39" name="Line 439">
            <a:extLst>
              <a:ext uri="{FF2B5EF4-FFF2-40B4-BE49-F238E27FC236}">
                <a16:creationId xmlns:a16="http://schemas.microsoft.com/office/drawing/2014/main" id="{7A6D973D-05D9-FB4C-AD36-F23A917C3966}"/>
              </a:ext>
            </a:extLst>
          </p:cNvPr>
          <p:cNvSpPr>
            <a:spLocks noChangeShapeType="1"/>
          </p:cNvSpPr>
          <p:nvPr/>
        </p:nvSpPr>
        <p:spPr bwMode="auto">
          <a:xfrm>
            <a:off x="4273551" y="3576639"/>
            <a:ext cx="61913"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40" name="Freeform 440">
            <a:extLst>
              <a:ext uri="{FF2B5EF4-FFF2-40B4-BE49-F238E27FC236}">
                <a16:creationId xmlns:a16="http://schemas.microsoft.com/office/drawing/2014/main" id="{FC0876E7-CF1A-0B42-86C6-8874B6A1EC9E}"/>
              </a:ext>
            </a:extLst>
          </p:cNvPr>
          <p:cNvSpPr>
            <a:spLocks/>
          </p:cNvSpPr>
          <p:nvPr/>
        </p:nvSpPr>
        <p:spPr bwMode="auto">
          <a:xfrm>
            <a:off x="4468814" y="3878263"/>
            <a:ext cx="325437" cy="341312"/>
          </a:xfrm>
          <a:custGeom>
            <a:avLst/>
            <a:gdLst>
              <a:gd name="T0" fmla="*/ 56 w 615"/>
              <a:gd name="T1" fmla="*/ 196 h 643"/>
              <a:gd name="T2" fmla="*/ 0 w 615"/>
              <a:gd name="T3" fmla="*/ 196 h 643"/>
              <a:gd name="T4" fmla="*/ 308 w 615"/>
              <a:gd name="T5" fmla="*/ 0 h 643"/>
              <a:gd name="T6" fmla="*/ 615 w 615"/>
              <a:gd name="T7" fmla="*/ 196 h 643"/>
              <a:gd name="T8" fmla="*/ 587 w 615"/>
              <a:gd name="T9" fmla="*/ 196 h 643"/>
              <a:gd name="T10" fmla="*/ 559 w 615"/>
              <a:gd name="T11" fmla="*/ 196 h 643"/>
              <a:gd name="T12" fmla="*/ 559 w 615"/>
              <a:gd name="T13" fmla="*/ 615 h 643"/>
              <a:gd name="T14" fmla="*/ 56 w 615"/>
              <a:gd name="T15" fmla="*/ 615 h 643"/>
              <a:gd name="T16" fmla="*/ 56 w 615"/>
              <a:gd name="T17" fmla="*/ 196 h 643"/>
              <a:gd name="T18" fmla="*/ 559 w 615"/>
              <a:gd name="T19" fmla="*/ 196 h 643"/>
              <a:gd name="T20" fmla="*/ 587 w 615"/>
              <a:gd name="T21" fmla="*/ 196 h 643"/>
              <a:gd name="T22" fmla="*/ 587 w 615"/>
              <a:gd name="T23" fmla="*/ 643 h 643"/>
              <a:gd name="T24" fmla="*/ 56 w 615"/>
              <a:gd name="T25" fmla="*/ 643 h 643"/>
              <a:gd name="T26" fmla="*/ 56 w 615"/>
              <a:gd name="T27" fmla="*/ 615 h 643"/>
              <a:gd name="T28" fmla="*/ 56 w 615"/>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6"/>
                </a:moveTo>
                <a:lnTo>
                  <a:pt x="0" y="196"/>
                </a:lnTo>
                <a:lnTo>
                  <a:pt x="308" y="0"/>
                </a:lnTo>
                <a:lnTo>
                  <a:pt x="615" y="196"/>
                </a:lnTo>
                <a:lnTo>
                  <a:pt x="587" y="196"/>
                </a:lnTo>
                <a:lnTo>
                  <a:pt x="559" y="196"/>
                </a:lnTo>
                <a:lnTo>
                  <a:pt x="559" y="615"/>
                </a:lnTo>
                <a:lnTo>
                  <a:pt x="56" y="615"/>
                </a:lnTo>
                <a:lnTo>
                  <a:pt x="56" y="196"/>
                </a:lnTo>
                <a:lnTo>
                  <a:pt x="559"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41" name="Rectangle 441">
            <a:extLst>
              <a:ext uri="{FF2B5EF4-FFF2-40B4-BE49-F238E27FC236}">
                <a16:creationId xmlns:a16="http://schemas.microsoft.com/office/drawing/2014/main" id="{7323CC94-E500-414D-A7D3-22A0475A63A8}"/>
              </a:ext>
            </a:extLst>
          </p:cNvPr>
          <p:cNvSpPr>
            <a:spLocks noChangeArrowheads="1"/>
          </p:cNvSpPr>
          <p:nvPr/>
        </p:nvSpPr>
        <p:spPr bwMode="auto">
          <a:xfrm>
            <a:off x="4498975" y="3983038"/>
            <a:ext cx="268288" cy="220662"/>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42" name="Rectangle 442">
            <a:extLst>
              <a:ext uri="{FF2B5EF4-FFF2-40B4-BE49-F238E27FC236}">
                <a16:creationId xmlns:a16="http://schemas.microsoft.com/office/drawing/2014/main" id="{F81EB838-EB35-8243-AA62-042AFD620A9D}"/>
              </a:ext>
            </a:extLst>
          </p:cNvPr>
          <p:cNvSpPr>
            <a:spLocks noChangeArrowheads="1"/>
          </p:cNvSpPr>
          <p:nvPr/>
        </p:nvSpPr>
        <p:spPr bwMode="auto">
          <a:xfrm>
            <a:off x="4541838" y="4035425"/>
            <a:ext cx="93662"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43" name="Rectangle 443">
            <a:extLst>
              <a:ext uri="{FF2B5EF4-FFF2-40B4-BE49-F238E27FC236}">
                <a16:creationId xmlns:a16="http://schemas.microsoft.com/office/drawing/2014/main" id="{38A01EA3-93D6-DC40-AE36-7E6355025554}"/>
              </a:ext>
            </a:extLst>
          </p:cNvPr>
          <p:cNvSpPr>
            <a:spLocks noChangeArrowheads="1"/>
          </p:cNvSpPr>
          <p:nvPr/>
        </p:nvSpPr>
        <p:spPr bwMode="auto">
          <a:xfrm>
            <a:off x="4676775" y="4030663"/>
            <a:ext cx="65088" cy="80962"/>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44" name="Freeform 444">
            <a:extLst>
              <a:ext uri="{FF2B5EF4-FFF2-40B4-BE49-F238E27FC236}">
                <a16:creationId xmlns:a16="http://schemas.microsoft.com/office/drawing/2014/main" id="{43B41951-03CF-2F4B-AB12-BFADE48722C7}"/>
              </a:ext>
            </a:extLst>
          </p:cNvPr>
          <p:cNvSpPr>
            <a:spLocks/>
          </p:cNvSpPr>
          <p:nvPr/>
        </p:nvSpPr>
        <p:spPr bwMode="auto">
          <a:xfrm>
            <a:off x="4610100" y="4111626"/>
            <a:ext cx="12700" cy="15875"/>
          </a:xfrm>
          <a:custGeom>
            <a:avLst/>
            <a:gdLst>
              <a:gd name="T0" fmla="*/ 23 w 23"/>
              <a:gd name="T1" fmla="*/ 14 h 30"/>
              <a:gd name="T2" fmla="*/ 23 w 23"/>
              <a:gd name="T3" fmla="*/ 11 h 30"/>
              <a:gd name="T4" fmla="*/ 21 w 23"/>
              <a:gd name="T5" fmla="*/ 9 h 30"/>
              <a:gd name="T6" fmla="*/ 21 w 23"/>
              <a:gd name="T7" fmla="*/ 7 h 30"/>
              <a:gd name="T8" fmla="*/ 19 w 23"/>
              <a:gd name="T9" fmla="*/ 5 h 30"/>
              <a:gd name="T10" fmla="*/ 18 w 23"/>
              <a:gd name="T11" fmla="*/ 3 h 30"/>
              <a:gd name="T12" fmla="*/ 17 w 23"/>
              <a:gd name="T13" fmla="*/ 2 h 30"/>
              <a:gd name="T14" fmla="*/ 14 w 23"/>
              <a:gd name="T15" fmla="*/ 0 h 30"/>
              <a:gd name="T16" fmla="*/ 12 w 23"/>
              <a:gd name="T17" fmla="*/ 0 h 30"/>
              <a:gd name="T18" fmla="*/ 10 w 23"/>
              <a:gd name="T19" fmla="*/ 0 h 30"/>
              <a:gd name="T20" fmla="*/ 9 w 23"/>
              <a:gd name="T21" fmla="*/ 0 h 30"/>
              <a:gd name="T22" fmla="*/ 7 w 23"/>
              <a:gd name="T23" fmla="*/ 2 h 30"/>
              <a:gd name="T24" fmla="*/ 5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3 w 23"/>
              <a:gd name="T45" fmla="*/ 26 h 30"/>
              <a:gd name="T46" fmla="*/ 5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8 h 30"/>
              <a:gd name="T62" fmla="*/ 19 w 23"/>
              <a:gd name="T63" fmla="*/ 26 h 30"/>
              <a:gd name="T64" fmla="*/ 21 w 23"/>
              <a:gd name="T65" fmla="*/ 25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20" y="6"/>
                </a:lnTo>
                <a:lnTo>
                  <a:pt x="19" y="5"/>
                </a:lnTo>
                <a:lnTo>
                  <a:pt x="19" y="4"/>
                </a:lnTo>
                <a:lnTo>
                  <a:pt x="18" y="3"/>
                </a:lnTo>
                <a:lnTo>
                  <a:pt x="17" y="2"/>
                </a:lnTo>
                <a:lnTo>
                  <a:pt x="16" y="0"/>
                </a:lnTo>
                <a:lnTo>
                  <a:pt x="14" y="0"/>
                </a:lnTo>
                <a:lnTo>
                  <a:pt x="13" y="0"/>
                </a:lnTo>
                <a:lnTo>
                  <a:pt x="12" y="0"/>
                </a:lnTo>
                <a:lnTo>
                  <a:pt x="11" y="0"/>
                </a:lnTo>
                <a:lnTo>
                  <a:pt x="10" y="0"/>
                </a:lnTo>
                <a:lnTo>
                  <a:pt x="9" y="0"/>
                </a:lnTo>
                <a:lnTo>
                  <a:pt x="8" y="0"/>
                </a:lnTo>
                <a:lnTo>
                  <a:pt x="7" y="2"/>
                </a:lnTo>
                <a:lnTo>
                  <a:pt x="6" y="2"/>
                </a:lnTo>
                <a:lnTo>
                  <a:pt x="5"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5"/>
                </a:lnTo>
                <a:lnTo>
                  <a:pt x="2" y="25"/>
                </a:lnTo>
                <a:lnTo>
                  <a:pt x="3" y="26"/>
                </a:lnTo>
                <a:lnTo>
                  <a:pt x="3" y="27"/>
                </a:lnTo>
                <a:lnTo>
                  <a:pt x="5" y="28"/>
                </a:lnTo>
                <a:lnTo>
                  <a:pt x="6" y="29"/>
                </a:lnTo>
                <a:lnTo>
                  <a:pt x="7" y="29"/>
                </a:lnTo>
                <a:lnTo>
                  <a:pt x="8" y="30"/>
                </a:lnTo>
                <a:lnTo>
                  <a:pt x="9" y="30"/>
                </a:lnTo>
                <a:lnTo>
                  <a:pt x="10" y="30"/>
                </a:lnTo>
                <a:lnTo>
                  <a:pt x="11" y="30"/>
                </a:lnTo>
                <a:lnTo>
                  <a:pt x="12" y="30"/>
                </a:lnTo>
                <a:lnTo>
                  <a:pt x="13" y="30"/>
                </a:lnTo>
                <a:lnTo>
                  <a:pt x="14" y="30"/>
                </a:lnTo>
                <a:lnTo>
                  <a:pt x="16" y="30"/>
                </a:lnTo>
                <a:lnTo>
                  <a:pt x="17" y="29"/>
                </a:lnTo>
                <a:lnTo>
                  <a:pt x="18" y="28"/>
                </a:lnTo>
                <a:lnTo>
                  <a:pt x="19" y="27"/>
                </a:lnTo>
                <a:lnTo>
                  <a:pt x="19" y="26"/>
                </a:lnTo>
                <a:lnTo>
                  <a:pt x="20" y="25"/>
                </a:lnTo>
                <a:lnTo>
                  <a:pt x="21" y="25"/>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45" name="Line 445">
            <a:extLst>
              <a:ext uri="{FF2B5EF4-FFF2-40B4-BE49-F238E27FC236}">
                <a16:creationId xmlns:a16="http://schemas.microsoft.com/office/drawing/2014/main" id="{8F254FEF-1F2C-9F43-BB26-0B77AF74A993}"/>
              </a:ext>
            </a:extLst>
          </p:cNvPr>
          <p:cNvSpPr>
            <a:spLocks noChangeShapeType="1"/>
          </p:cNvSpPr>
          <p:nvPr/>
        </p:nvSpPr>
        <p:spPr bwMode="auto">
          <a:xfrm>
            <a:off x="4708525" y="4032251"/>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46" name="Line 446">
            <a:extLst>
              <a:ext uri="{FF2B5EF4-FFF2-40B4-BE49-F238E27FC236}">
                <a16:creationId xmlns:a16="http://schemas.microsoft.com/office/drawing/2014/main" id="{28A8E766-CAFD-3846-84AB-9F3292EAA050}"/>
              </a:ext>
            </a:extLst>
          </p:cNvPr>
          <p:cNvSpPr>
            <a:spLocks noChangeShapeType="1"/>
          </p:cNvSpPr>
          <p:nvPr/>
        </p:nvSpPr>
        <p:spPr bwMode="auto">
          <a:xfrm>
            <a:off x="4676775" y="4068764"/>
            <a:ext cx="63500"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47" name="Freeform 447">
            <a:extLst>
              <a:ext uri="{FF2B5EF4-FFF2-40B4-BE49-F238E27FC236}">
                <a16:creationId xmlns:a16="http://schemas.microsoft.com/office/drawing/2014/main" id="{F8886494-C95F-DD41-9992-731F9DBAE8B9}"/>
              </a:ext>
            </a:extLst>
          </p:cNvPr>
          <p:cNvSpPr>
            <a:spLocks/>
          </p:cNvSpPr>
          <p:nvPr/>
        </p:nvSpPr>
        <p:spPr bwMode="auto">
          <a:xfrm>
            <a:off x="3798889" y="3878263"/>
            <a:ext cx="325437" cy="341312"/>
          </a:xfrm>
          <a:custGeom>
            <a:avLst/>
            <a:gdLst>
              <a:gd name="T0" fmla="*/ 56 w 615"/>
              <a:gd name="T1" fmla="*/ 196 h 643"/>
              <a:gd name="T2" fmla="*/ 0 w 615"/>
              <a:gd name="T3" fmla="*/ 196 h 643"/>
              <a:gd name="T4" fmla="*/ 308 w 615"/>
              <a:gd name="T5" fmla="*/ 0 h 643"/>
              <a:gd name="T6" fmla="*/ 615 w 615"/>
              <a:gd name="T7" fmla="*/ 196 h 643"/>
              <a:gd name="T8" fmla="*/ 587 w 615"/>
              <a:gd name="T9" fmla="*/ 196 h 643"/>
              <a:gd name="T10" fmla="*/ 559 w 615"/>
              <a:gd name="T11" fmla="*/ 196 h 643"/>
              <a:gd name="T12" fmla="*/ 559 w 615"/>
              <a:gd name="T13" fmla="*/ 615 h 643"/>
              <a:gd name="T14" fmla="*/ 56 w 615"/>
              <a:gd name="T15" fmla="*/ 615 h 643"/>
              <a:gd name="T16" fmla="*/ 56 w 615"/>
              <a:gd name="T17" fmla="*/ 196 h 643"/>
              <a:gd name="T18" fmla="*/ 559 w 615"/>
              <a:gd name="T19" fmla="*/ 196 h 643"/>
              <a:gd name="T20" fmla="*/ 587 w 615"/>
              <a:gd name="T21" fmla="*/ 196 h 643"/>
              <a:gd name="T22" fmla="*/ 587 w 615"/>
              <a:gd name="T23" fmla="*/ 643 h 643"/>
              <a:gd name="T24" fmla="*/ 56 w 615"/>
              <a:gd name="T25" fmla="*/ 643 h 643"/>
              <a:gd name="T26" fmla="*/ 56 w 615"/>
              <a:gd name="T27" fmla="*/ 615 h 643"/>
              <a:gd name="T28" fmla="*/ 56 w 615"/>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6"/>
                </a:moveTo>
                <a:lnTo>
                  <a:pt x="0" y="196"/>
                </a:lnTo>
                <a:lnTo>
                  <a:pt x="308" y="0"/>
                </a:lnTo>
                <a:lnTo>
                  <a:pt x="615" y="196"/>
                </a:lnTo>
                <a:lnTo>
                  <a:pt x="587" y="196"/>
                </a:lnTo>
                <a:lnTo>
                  <a:pt x="559" y="196"/>
                </a:lnTo>
                <a:lnTo>
                  <a:pt x="559" y="615"/>
                </a:lnTo>
                <a:lnTo>
                  <a:pt x="56" y="615"/>
                </a:lnTo>
                <a:lnTo>
                  <a:pt x="56" y="196"/>
                </a:lnTo>
                <a:lnTo>
                  <a:pt x="559"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48" name="Rectangle 448">
            <a:extLst>
              <a:ext uri="{FF2B5EF4-FFF2-40B4-BE49-F238E27FC236}">
                <a16:creationId xmlns:a16="http://schemas.microsoft.com/office/drawing/2014/main" id="{524203EA-76FC-4343-A61E-80B50152DD86}"/>
              </a:ext>
            </a:extLst>
          </p:cNvPr>
          <p:cNvSpPr>
            <a:spLocks noChangeArrowheads="1"/>
          </p:cNvSpPr>
          <p:nvPr/>
        </p:nvSpPr>
        <p:spPr bwMode="auto">
          <a:xfrm>
            <a:off x="3829050" y="3983038"/>
            <a:ext cx="268288" cy="220662"/>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49" name="Rectangle 449">
            <a:extLst>
              <a:ext uri="{FF2B5EF4-FFF2-40B4-BE49-F238E27FC236}">
                <a16:creationId xmlns:a16="http://schemas.microsoft.com/office/drawing/2014/main" id="{045CC589-EFF3-AC48-AFE5-FAD468C6F06B}"/>
              </a:ext>
            </a:extLst>
          </p:cNvPr>
          <p:cNvSpPr>
            <a:spLocks noChangeArrowheads="1"/>
          </p:cNvSpPr>
          <p:nvPr/>
        </p:nvSpPr>
        <p:spPr bwMode="auto">
          <a:xfrm>
            <a:off x="3871913" y="4035425"/>
            <a:ext cx="93662"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50" name="Rectangle 450">
            <a:extLst>
              <a:ext uri="{FF2B5EF4-FFF2-40B4-BE49-F238E27FC236}">
                <a16:creationId xmlns:a16="http://schemas.microsoft.com/office/drawing/2014/main" id="{EAB09AFD-C657-CF40-81A2-393454013CD0}"/>
              </a:ext>
            </a:extLst>
          </p:cNvPr>
          <p:cNvSpPr>
            <a:spLocks noChangeArrowheads="1"/>
          </p:cNvSpPr>
          <p:nvPr/>
        </p:nvSpPr>
        <p:spPr bwMode="auto">
          <a:xfrm>
            <a:off x="4006850" y="4030663"/>
            <a:ext cx="65088" cy="80962"/>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51" name="Freeform 451">
            <a:extLst>
              <a:ext uri="{FF2B5EF4-FFF2-40B4-BE49-F238E27FC236}">
                <a16:creationId xmlns:a16="http://schemas.microsoft.com/office/drawing/2014/main" id="{A7396033-2997-284B-A5DC-53E21FE16D93}"/>
              </a:ext>
            </a:extLst>
          </p:cNvPr>
          <p:cNvSpPr>
            <a:spLocks/>
          </p:cNvSpPr>
          <p:nvPr/>
        </p:nvSpPr>
        <p:spPr bwMode="auto">
          <a:xfrm>
            <a:off x="3940175" y="4111626"/>
            <a:ext cx="12700" cy="15875"/>
          </a:xfrm>
          <a:custGeom>
            <a:avLst/>
            <a:gdLst>
              <a:gd name="T0" fmla="*/ 23 w 23"/>
              <a:gd name="T1" fmla="*/ 14 h 30"/>
              <a:gd name="T2" fmla="*/ 23 w 23"/>
              <a:gd name="T3" fmla="*/ 11 h 30"/>
              <a:gd name="T4" fmla="*/ 21 w 23"/>
              <a:gd name="T5" fmla="*/ 9 h 30"/>
              <a:gd name="T6" fmla="*/ 21 w 23"/>
              <a:gd name="T7" fmla="*/ 7 h 30"/>
              <a:gd name="T8" fmla="*/ 19 w 23"/>
              <a:gd name="T9" fmla="*/ 5 h 30"/>
              <a:gd name="T10" fmla="*/ 18 w 23"/>
              <a:gd name="T11" fmla="*/ 3 h 30"/>
              <a:gd name="T12" fmla="*/ 17 w 23"/>
              <a:gd name="T13" fmla="*/ 2 h 30"/>
              <a:gd name="T14" fmla="*/ 14 w 23"/>
              <a:gd name="T15" fmla="*/ 0 h 30"/>
              <a:gd name="T16" fmla="*/ 12 w 23"/>
              <a:gd name="T17" fmla="*/ 0 h 30"/>
              <a:gd name="T18" fmla="*/ 10 w 23"/>
              <a:gd name="T19" fmla="*/ 0 h 30"/>
              <a:gd name="T20" fmla="*/ 9 w 23"/>
              <a:gd name="T21" fmla="*/ 0 h 30"/>
              <a:gd name="T22" fmla="*/ 7 w 23"/>
              <a:gd name="T23" fmla="*/ 2 h 30"/>
              <a:gd name="T24" fmla="*/ 5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3 w 23"/>
              <a:gd name="T45" fmla="*/ 26 h 30"/>
              <a:gd name="T46" fmla="*/ 5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8 h 30"/>
              <a:gd name="T62" fmla="*/ 19 w 23"/>
              <a:gd name="T63" fmla="*/ 26 h 30"/>
              <a:gd name="T64" fmla="*/ 21 w 23"/>
              <a:gd name="T65" fmla="*/ 25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20" y="6"/>
                </a:lnTo>
                <a:lnTo>
                  <a:pt x="19" y="5"/>
                </a:lnTo>
                <a:lnTo>
                  <a:pt x="19" y="4"/>
                </a:lnTo>
                <a:lnTo>
                  <a:pt x="18" y="3"/>
                </a:lnTo>
                <a:lnTo>
                  <a:pt x="17" y="2"/>
                </a:lnTo>
                <a:lnTo>
                  <a:pt x="16" y="0"/>
                </a:lnTo>
                <a:lnTo>
                  <a:pt x="14" y="0"/>
                </a:lnTo>
                <a:lnTo>
                  <a:pt x="13" y="0"/>
                </a:lnTo>
                <a:lnTo>
                  <a:pt x="12" y="0"/>
                </a:lnTo>
                <a:lnTo>
                  <a:pt x="11" y="0"/>
                </a:lnTo>
                <a:lnTo>
                  <a:pt x="10" y="0"/>
                </a:lnTo>
                <a:lnTo>
                  <a:pt x="9" y="0"/>
                </a:lnTo>
                <a:lnTo>
                  <a:pt x="8" y="0"/>
                </a:lnTo>
                <a:lnTo>
                  <a:pt x="7" y="2"/>
                </a:lnTo>
                <a:lnTo>
                  <a:pt x="6" y="2"/>
                </a:lnTo>
                <a:lnTo>
                  <a:pt x="5"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5"/>
                </a:lnTo>
                <a:lnTo>
                  <a:pt x="2" y="25"/>
                </a:lnTo>
                <a:lnTo>
                  <a:pt x="3" y="26"/>
                </a:lnTo>
                <a:lnTo>
                  <a:pt x="3" y="27"/>
                </a:lnTo>
                <a:lnTo>
                  <a:pt x="5" y="28"/>
                </a:lnTo>
                <a:lnTo>
                  <a:pt x="6" y="29"/>
                </a:lnTo>
                <a:lnTo>
                  <a:pt x="7" y="29"/>
                </a:lnTo>
                <a:lnTo>
                  <a:pt x="8" y="30"/>
                </a:lnTo>
                <a:lnTo>
                  <a:pt x="9" y="30"/>
                </a:lnTo>
                <a:lnTo>
                  <a:pt x="10" y="30"/>
                </a:lnTo>
                <a:lnTo>
                  <a:pt x="11" y="30"/>
                </a:lnTo>
                <a:lnTo>
                  <a:pt x="12" y="30"/>
                </a:lnTo>
                <a:lnTo>
                  <a:pt x="13" y="30"/>
                </a:lnTo>
                <a:lnTo>
                  <a:pt x="14" y="30"/>
                </a:lnTo>
                <a:lnTo>
                  <a:pt x="16" y="30"/>
                </a:lnTo>
                <a:lnTo>
                  <a:pt x="17" y="29"/>
                </a:lnTo>
                <a:lnTo>
                  <a:pt x="18" y="28"/>
                </a:lnTo>
                <a:lnTo>
                  <a:pt x="19" y="27"/>
                </a:lnTo>
                <a:lnTo>
                  <a:pt x="19" y="26"/>
                </a:lnTo>
                <a:lnTo>
                  <a:pt x="20" y="25"/>
                </a:lnTo>
                <a:lnTo>
                  <a:pt x="21" y="25"/>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52" name="Line 452">
            <a:extLst>
              <a:ext uri="{FF2B5EF4-FFF2-40B4-BE49-F238E27FC236}">
                <a16:creationId xmlns:a16="http://schemas.microsoft.com/office/drawing/2014/main" id="{EB88BD57-633D-8844-8CA4-64DA4403A4A0}"/>
              </a:ext>
            </a:extLst>
          </p:cNvPr>
          <p:cNvSpPr>
            <a:spLocks noChangeShapeType="1"/>
          </p:cNvSpPr>
          <p:nvPr/>
        </p:nvSpPr>
        <p:spPr bwMode="auto">
          <a:xfrm>
            <a:off x="4038600" y="4032251"/>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53" name="Line 453">
            <a:extLst>
              <a:ext uri="{FF2B5EF4-FFF2-40B4-BE49-F238E27FC236}">
                <a16:creationId xmlns:a16="http://schemas.microsoft.com/office/drawing/2014/main" id="{91F511AE-C83B-9845-A23C-8F11F865792D}"/>
              </a:ext>
            </a:extLst>
          </p:cNvPr>
          <p:cNvSpPr>
            <a:spLocks noChangeShapeType="1"/>
          </p:cNvSpPr>
          <p:nvPr/>
        </p:nvSpPr>
        <p:spPr bwMode="auto">
          <a:xfrm>
            <a:off x="4006850" y="4068764"/>
            <a:ext cx="63500"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54" name="Freeform 454">
            <a:extLst>
              <a:ext uri="{FF2B5EF4-FFF2-40B4-BE49-F238E27FC236}">
                <a16:creationId xmlns:a16="http://schemas.microsoft.com/office/drawing/2014/main" id="{AFA4BAE1-3162-3E41-9DB6-C5E6C2C298FD}"/>
              </a:ext>
            </a:extLst>
          </p:cNvPr>
          <p:cNvSpPr>
            <a:spLocks/>
          </p:cNvSpPr>
          <p:nvPr/>
        </p:nvSpPr>
        <p:spPr bwMode="auto">
          <a:xfrm>
            <a:off x="3078164" y="4094164"/>
            <a:ext cx="325437" cy="339725"/>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55" name="Rectangle 455">
            <a:extLst>
              <a:ext uri="{FF2B5EF4-FFF2-40B4-BE49-F238E27FC236}">
                <a16:creationId xmlns:a16="http://schemas.microsoft.com/office/drawing/2014/main" id="{490A0585-7CD7-D945-8B18-49BE82E3BE9A}"/>
              </a:ext>
            </a:extLst>
          </p:cNvPr>
          <p:cNvSpPr>
            <a:spLocks noChangeArrowheads="1"/>
          </p:cNvSpPr>
          <p:nvPr/>
        </p:nvSpPr>
        <p:spPr bwMode="auto">
          <a:xfrm>
            <a:off x="3108326" y="4197351"/>
            <a:ext cx="269875"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56" name="Rectangle 456">
            <a:extLst>
              <a:ext uri="{FF2B5EF4-FFF2-40B4-BE49-F238E27FC236}">
                <a16:creationId xmlns:a16="http://schemas.microsoft.com/office/drawing/2014/main" id="{D9F53CF7-5B08-354F-B0D0-7E34F998EBAB}"/>
              </a:ext>
            </a:extLst>
          </p:cNvPr>
          <p:cNvSpPr>
            <a:spLocks noChangeArrowheads="1"/>
          </p:cNvSpPr>
          <p:nvPr/>
        </p:nvSpPr>
        <p:spPr bwMode="auto">
          <a:xfrm>
            <a:off x="3151188" y="4249739"/>
            <a:ext cx="95250"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57" name="Rectangle 457">
            <a:extLst>
              <a:ext uri="{FF2B5EF4-FFF2-40B4-BE49-F238E27FC236}">
                <a16:creationId xmlns:a16="http://schemas.microsoft.com/office/drawing/2014/main" id="{BCAEAF10-1670-8443-8199-9D7B26383554}"/>
              </a:ext>
            </a:extLst>
          </p:cNvPr>
          <p:cNvSpPr>
            <a:spLocks noChangeArrowheads="1"/>
          </p:cNvSpPr>
          <p:nvPr/>
        </p:nvSpPr>
        <p:spPr bwMode="auto">
          <a:xfrm>
            <a:off x="3287713" y="4246564"/>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58" name="Freeform 458">
            <a:extLst>
              <a:ext uri="{FF2B5EF4-FFF2-40B4-BE49-F238E27FC236}">
                <a16:creationId xmlns:a16="http://schemas.microsoft.com/office/drawing/2014/main" id="{60894B07-1BE9-3649-81CF-E5B349E150A5}"/>
              </a:ext>
            </a:extLst>
          </p:cNvPr>
          <p:cNvSpPr>
            <a:spLocks/>
          </p:cNvSpPr>
          <p:nvPr/>
        </p:nvSpPr>
        <p:spPr bwMode="auto">
          <a:xfrm>
            <a:off x="3221038" y="4327526"/>
            <a:ext cx="12700" cy="15875"/>
          </a:xfrm>
          <a:custGeom>
            <a:avLst/>
            <a:gdLst>
              <a:gd name="T0" fmla="*/ 23 w 23"/>
              <a:gd name="T1" fmla="*/ 14 h 30"/>
              <a:gd name="T2" fmla="*/ 23 w 23"/>
              <a:gd name="T3" fmla="*/ 11 h 30"/>
              <a:gd name="T4" fmla="*/ 21 w 23"/>
              <a:gd name="T5" fmla="*/ 9 h 30"/>
              <a:gd name="T6" fmla="*/ 21 w 23"/>
              <a:gd name="T7" fmla="*/ 7 h 30"/>
              <a:gd name="T8" fmla="*/ 18 w 23"/>
              <a:gd name="T9" fmla="*/ 5 h 30"/>
              <a:gd name="T10" fmla="*/ 17 w 23"/>
              <a:gd name="T11" fmla="*/ 3 h 30"/>
              <a:gd name="T12" fmla="*/ 16 w 23"/>
              <a:gd name="T13" fmla="*/ 2 h 30"/>
              <a:gd name="T14" fmla="*/ 14 w 23"/>
              <a:gd name="T15" fmla="*/ 0 h 30"/>
              <a:gd name="T16" fmla="*/ 12 w 23"/>
              <a:gd name="T17" fmla="*/ 0 h 30"/>
              <a:gd name="T18" fmla="*/ 10 w 23"/>
              <a:gd name="T19" fmla="*/ 0 h 30"/>
              <a:gd name="T20" fmla="*/ 9 w 23"/>
              <a:gd name="T21" fmla="*/ 0 h 30"/>
              <a:gd name="T22" fmla="*/ 6 w 23"/>
              <a:gd name="T23" fmla="*/ 2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3 w 23"/>
              <a:gd name="T45" fmla="*/ 26 h 30"/>
              <a:gd name="T46" fmla="*/ 4 w 23"/>
              <a:gd name="T47" fmla="*/ 28 h 30"/>
              <a:gd name="T48" fmla="*/ 6 w 23"/>
              <a:gd name="T49" fmla="*/ 29 h 30"/>
              <a:gd name="T50" fmla="*/ 9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1 w 23"/>
              <a:gd name="T65" fmla="*/ 25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3"/>
                </a:lnTo>
                <a:lnTo>
                  <a:pt x="23" y="11"/>
                </a:lnTo>
                <a:lnTo>
                  <a:pt x="22" y="10"/>
                </a:lnTo>
                <a:lnTo>
                  <a:pt x="21" y="9"/>
                </a:lnTo>
                <a:lnTo>
                  <a:pt x="21" y="8"/>
                </a:lnTo>
                <a:lnTo>
                  <a:pt x="21" y="7"/>
                </a:lnTo>
                <a:lnTo>
                  <a:pt x="20" y="6"/>
                </a:lnTo>
                <a:lnTo>
                  <a:pt x="18" y="5"/>
                </a:lnTo>
                <a:lnTo>
                  <a:pt x="18" y="4"/>
                </a:lnTo>
                <a:lnTo>
                  <a:pt x="17" y="3"/>
                </a:lnTo>
                <a:lnTo>
                  <a:pt x="16" y="2"/>
                </a:lnTo>
                <a:lnTo>
                  <a:pt x="15" y="0"/>
                </a:lnTo>
                <a:lnTo>
                  <a:pt x="14" y="0"/>
                </a:lnTo>
                <a:lnTo>
                  <a:pt x="13" y="0"/>
                </a:lnTo>
                <a:lnTo>
                  <a:pt x="12" y="0"/>
                </a:lnTo>
                <a:lnTo>
                  <a:pt x="11" y="0"/>
                </a:lnTo>
                <a:lnTo>
                  <a:pt x="10" y="0"/>
                </a:lnTo>
                <a:lnTo>
                  <a:pt x="9" y="0"/>
                </a:lnTo>
                <a:lnTo>
                  <a:pt x="7" y="0"/>
                </a:lnTo>
                <a:lnTo>
                  <a:pt x="6" y="2"/>
                </a:lnTo>
                <a:lnTo>
                  <a:pt x="5" y="2"/>
                </a:lnTo>
                <a:lnTo>
                  <a:pt x="4" y="3"/>
                </a:lnTo>
                <a:lnTo>
                  <a:pt x="3" y="4"/>
                </a:lnTo>
                <a:lnTo>
                  <a:pt x="3" y="5"/>
                </a:lnTo>
                <a:lnTo>
                  <a:pt x="2" y="6"/>
                </a:lnTo>
                <a:lnTo>
                  <a:pt x="1" y="7"/>
                </a:lnTo>
                <a:lnTo>
                  <a:pt x="1" y="8"/>
                </a:lnTo>
                <a:lnTo>
                  <a:pt x="1" y="9"/>
                </a:lnTo>
                <a:lnTo>
                  <a:pt x="0" y="10"/>
                </a:lnTo>
                <a:lnTo>
                  <a:pt x="0" y="11"/>
                </a:lnTo>
                <a:lnTo>
                  <a:pt x="0" y="13"/>
                </a:lnTo>
                <a:lnTo>
                  <a:pt x="0" y="14"/>
                </a:lnTo>
                <a:lnTo>
                  <a:pt x="0" y="15"/>
                </a:lnTo>
                <a:lnTo>
                  <a:pt x="0" y="17"/>
                </a:lnTo>
                <a:lnTo>
                  <a:pt x="0" y="18"/>
                </a:lnTo>
                <a:lnTo>
                  <a:pt x="0" y="19"/>
                </a:lnTo>
                <a:lnTo>
                  <a:pt x="0" y="20"/>
                </a:lnTo>
                <a:lnTo>
                  <a:pt x="1" y="22"/>
                </a:lnTo>
                <a:lnTo>
                  <a:pt x="1" y="24"/>
                </a:lnTo>
                <a:lnTo>
                  <a:pt x="1" y="25"/>
                </a:lnTo>
                <a:lnTo>
                  <a:pt x="2" y="25"/>
                </a:lnTo>
                <a:lnTo>
                  <a:pt x="3" y="26"/>
                </a:lnTo>
                <a:lnTo>
                  <a:pt x="3" y="27"/>
                </a:lnTo>
                <a:lnTo>
                  <a:pt x="4" y="28"/>
                </a:lnTo>
                <a:lnTo>
                  <a:pt x="5" y="29"/>
                </a:lnTo>
                <a:lnTo>
                  <a:pt x="6" y="29"/>
                </a:lnTo>
                <a:lnTo>
                  <a:pt x="7" y="30"/>
                </a:lnTo>
                <a:lnTo>
                  <a:pt x="9" y="30"/>
                </a:lnTo>
                <a:lnTo>
                  <a:pt x="10" y="30"/>
                </a:lnTo>
                <a:lnTo>
                  <a:pt x="11" y="30"/>
                </a:lnTo>
                <a:lnTo>
                  <a:pt x="12" y="30"/>
                </a:lnTo>
                <a:lnTo>
                  <a:pt x="13" y="30"/>
                </a:lnTo>
                <a:lnTo>
                  <a:pt x="14" y="30"/>
                </a:lnTo>
                <a:lnTo>
                  <a:pt x="15" y="30"/>
                </a:lnTo>
                <a:lnTo>
                  <a:pt x="16" y="29"/>
                </a:lnTo>
                <a:lnTo>
                  <a:pt x="17" y="28"/>
                </a:lnTo>
                <a:lnTo>
                  <a:pt x="18" y="27"/>
                </a:lnTo>
                <a:lnTo>
                  <a:pt x="18" y="26"/>
                </a:lnTo>
                <a:lnTo>
                  <a:pt x="20" y="25"/>
                </a:lnTo>
                <a:lnTo>
                  <a:pt x="21" y="25"/>
                </a:lnTo>
                <a:lnTo>
                  <a:pt x="21" y="24"/>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59" name="Line 459">
            <a:extLst>
              <a:ext uri="{FF2B5EF4-FFF2-40B4-BE49-F238E27FC236}">
                <a16:creationId xmlns:a16="http://schemas.microsoft.com/office/drawing/2014/main" id="{52B23814-795F-2447-9CD4-3C2169B7F74B}"/>
              </a:ext>
            </a:extLst>
          </p:cNvPr>
          <p:cNvSpPr>
            <a:spLocks noChangeShapeType="1"/>
          </p:cNvSpPr>
          <p:nvPr/>
        </p:nvSpPr>
        <p:spPr bwMode="auto">
          <a:xfrm>
            <a:off x="3317875" y="4246564"/>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60" name="Line 460">
            <a:extLst>
              <a:ext uri="{FF2B5EF4-FFF2-40B4-BE49-F238E27FC236}">
                <a16:creationId xmlns:a16="http://schemas.microsoft.com/office/drawing/2014/main" id="{B5EB7493-B5C1-AA4B-87C6-0908C2DDC373}"/>
              </a:ext>
            </a:extLst>
          </p:cNvPr>
          <p:cNvSpPr>
            <a:spLocks noChangeShapeType="1"/>
          </p:cNvSpPr>
          <p:nvPr/>
        </p:nvSpPr>
        <p:spPr bwMode="auto">
          <a:xfrm>
            <a:off x="3287713" y="4284664"/>
            <a:ext cx="61912"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61" name="Freeform 461">
            <a:extLst>
              <a:ext uri="{FF2B5EF4-FFF2-40B4-BE49-F238E27FC236}">
                <a16:creationId xmlns:a16="http://schemas.microsoft.com/office/drawing/2014/main" id="{6631B8BF-EF55-4144-ADBE-28DD7AE183EF}"/>
              </a:ext>
            </a:extLst>
          </p:cNvPr>
          <p:cNvSpPr>
            <a:spLocks/>
          </p:cNvSpPr>
          <p:nvPr/>
        </p:nvSpPr>
        <p:spPr bwMode="auto">
          <a:xfrm>
            <a:off x="3684589" y="4371976"/>
            <a:ext cx="325437" cy="339725"/>
          </a:xfrm>
          <a:custGeom>
            <a:avLst/>
            <a:gdLst>
              <a:gd name="T0" fmla="*/ 56 w 615"/>
              <a:gd name="T1" fmla="*/ 195 h 643"/>
              <a:gd name="T2" fmla="*/ 0 w 615"/>
              <a:gd name="T3" fmla="*/ 195 h 643"/>
              <a:gd name="T4" fmla="*/ 308 w 615"/>
              <a:gd name="T5" fmla="*/ 0 h 643"/>
              <a:gd name="T6" fmla="*/ 615 w 615"/>
              <a:gd name="T7" fmla="*/ 195 h 643"/>
              <a:gd name="T8" fmla="*/ 587 w 615"/>
              <a:gd name="T9" fmla="*/ 195 h 643"/>
              <a:gd name="T10" fmla="*/ 559 w 615"/>
              <a:gd name="T11" fmla="*/ 195 h 643"/>
              <a:gd name="T12" fmla="*/ 559 w 615"/>
              <a:gd name="T13" fmla="*/ 615 h 643"/>
              <a:gd name="T14" fmla="*/ 56 w 615"/>
              <a:gd name="T15" fmla="*/ 615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5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8" y="0"/>
                </a:lnTo>
                <a:lnTo>
                  <a:pt x="615" y="195"/>
                </a:lnTo>
                <a:lnTo>
                  <a:pt x="587" y="195"/>
                </a:lnTo>
                <a:lnTo>
                  <a:pt x="559" y="195"/>
                </a:lnTo>
                <a:lnTo>
                  <a:pt x="559" y="615"/>
                </a:lnTo>
                <a:lnTo>
                  <a:pt x="56" y="615"/>
                </a:lnTo>
                <a:lnTo>
                  <a:pt x="56" y="195"/>
                </a:lnTo>
                <a:lnTo>
                  <a:pt x="559" y="195"/>
                </a:lnTo>
                <a:lnTo>
                  <a:pt x="587" y="195"/>
                </a:lnTo>
                <a:lnTo>
                  <a:pt x="587" y="643"/>
                </a:lnTo>
                <a:lnTo>
                  <a:pt x="56" y="643"/>
                </a:lnTo>
                <a:lnTo>
                  <a:pt x="56" y="615"/>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62" name="Rectangle 462">
            <a:extLst>
              <a:ext uri="{FF2B5EF4-FFF2-40B4-BE49-F238E27FC236}">
                <a16:creationId xmlns:a16="http://schemas.microsoft.com/office/drawing/2014/main" id="{1A57F443-5566-4D4A-8FC2-C10823FF24BD}"/>
              </a:ext>
            </a:extLst>
          </p:cNvPr>
          <p:cNvSpPr>
            <a:spLocks noChangeArrowheads="1"/>
          </p:cNvSpPr>
          <p:nvPr/>
        </p:nvSpPr>
        <p:spPr bwMode="auto">
          <a:xfrm>
            <a:off x="3714751" y="4475163"/>
            <a:ext cx="269875" cy="220662"/>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63" name="Rectangle 463">
            <a:extLst>
              <a:ext uri="{FF2B5EF4-FFF2-40B4-BE49-F238E27FC236}">
                <a16:creationId xmlns:a16="http://schemas.microsoft.com/office/drawing/2014/main" id="{F9B11B80-B7ED-D240-9965-3EA61A7E9C13}"/>
              </a:ext>
            </a:extLst>
          </p:cNvPr>
          <p:cNvSpPr>
            <a:spLocks noChangeArrowheads="1"/>
          </p:cNvSpPr>
          <p:nvPr/>
        </p:nvSpPr>
        <p:spPr bwMode="auto">
          <a:xfrm>
            <a:off x="3759201" y="4527551"/>
            <a:ext cx="93663"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64" name="Rectangle 464">
            <a:extLst>
              <a:ext uri="{FF2B5EF4-FFF2-40B4-BE49-F238E27FC236}">
                <a16:creationId xmlns:a16="http://schemas.microsoft.com/office/drawing/2014/main" id="{FF5A8534-D720-0D43-8DFD-2A084465B9D8}"/>
              </a:ext>
            </a:extLst>
          </p:cNvPr>
          <p:cNvSpPr>
            <a:spLocks noChangeArrowheads="1"/>
          </p:cNvSpPr>
          <p:nvPr/>
        </p:nvSpPr>
        <p:spPr bwMode="auto">
          <a:xfrm>
            <a:off x="3894138" y="4524376"/>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65" name="Freeform 465">
            <a:extLst>
              <a:ext uri="{FF2B5EF4-FFF2-40B4-BE49-F238E27FC236}">
                <a16:creationId xmlns:a16="http://schemas.microsoft.com/office/drawing/2014/main" id="{E4A52A9D-1953-6247-B0D0-5DE3C96CE0CA}"/>
              </a:ext>
            </a:extLst>
          </p:cNvPr>
          <p:cNvSpPr>
            <a:spLocks/>
          </p:cNvSpPr>
          <p:nvPr/>
        </p:nvSpPr>
        <p:spPr bwMode="auto">
          <a:xfrm>
            <a:off x="3827463" y="4605339"/>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5 h 30"/>
              <a:gd name="T10" fmla="*/ 18 w 23"/>
              <a:gd name="T11" fmla="*/ 2 h 30"/>
              <a:gd name="T12" fmla="*/ 17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4 w 23"/>
              <a:gd name="T27" fmla="*/ 5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4 w 23"/>
              <a:gd name="T45" fmla="*/ 25 h 30"/>
              <a:gd name="T46" fmla="*/ 5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8 h 30"/>
              <a:gd name="T62" fmla="*/ 19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6"/>
                </a:lnTo>
                <a:lnTo>
                  <a:pt x="19" y="5"/>
                </a:lnTo>
                <a:lnTo>
                  <a:pt x="19" y="3"/>
                </a:lnTo>
                <a:lnTo>
                  <a:pt x="18" y="2"/>
                </a:lnTo>
                <a:lnTo>
                  <a:pt x="17" y="1"/>
                </a:lnTo>
                <a:lnTo>
                  <a:pt x="16" y="0"/>
                </a:lnTo>
                <a:lnTo>
                  <a:pt x="14" y="0"/>
                </a:lnTo>
                <a:lnTo>
                  <a:pt x="13" y="0"/>
                </a:lnTo>
                <a:lnTo>
                  <a:pt x="12" y="0"/>
                </a:lnTo>
                <a:lnTo>
                  <a:pt x="11" y="0"/>
                </a:lnTo>
                <a:lnTo>
                  <a:pt x="10" y="0"/>
                </a:lnTo>
                <a:lnTo>
                  <a:pt x="9" y="0"/>
                </a:lnTo>
                <a:lnTo>
                  <a:pt x="8" y="0"/>
                </a:lnTo>
                <a:lnTo>
                  <a:pt x="7" y="1"/>
                </a:lnTo>
                <a:lnTo>
                  <a:pt x="6" y="1"/>
                </a:lnTo>
                <a:lnTo>
                  <a:pt x="5" y="2"/>
                </a:lnTo>
                <a:lnTo>
                  <a:pt x="4" y="3"/>
                </a:lnTo>
                <a:lnTo>
                  <a:pt x="4" y="5"/>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4" y="25"/>
                </a:lnTo>
                <a:lnTo>
                  <a:pt x="4" y="26"/>
                </a:lnTo>
                <a:lnTo>
                  <a:pt x="5" y="28"/>
                </a:lnTo>
                <a:lnTo>
                  <a:pt x="6" y="29"/>
                </a:lnTo>
                <a:lnTo>
                  <a:pt x="7" y="29"/>
                </a:lnTo>
                <a:lnTo>
                  <a:pt x="8" y="30"/>
                </a:lnTo>
                <a:lnTo>
                  <a:pt x="9" y="30"/>
                </a:lnTo>
                <a:lnTo>
                  <a:pt x="10" y="30"/>
                </a:lnTo>
                <a:lnTo>
                  <a:pt x="11" y="30"/>
                </a:lnTo>
                <a:lnTo>
                  <a:pt x="12" y="30"/>
                </a:lnTo>
                <a:lnTo>
                  <a:pt x="13" y="30"/>
                </a:lnTo>
                <a:lnTo>
                  <a:pt x="14" y="30"/>
                </a:lnTo>
                <a:lnTo>
                  <a:pt x="16" y="30"/>
                </a:lnTo>
                <a:lnTo>
                  <a:pt x="17" y="29"/>
                </a:lnTo>
                <a:lnTo>
                  <a:pt x="18" y="28"/>
                </a:lnTo>
                <a:lnTo>
                  <a:pt x="19" y="26"/>
                </a:lnTo>
                <a:lnTo>
                  <a:pt x="19" y="25"/>
                </a:lnTo>
                <a:lnTo>
                  <a:pt x="20"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66" name="Line 466">
            <a:extLst>
              <a:ext uri="{FF2B5EF4-FFF2-40B4-BE49-F238E27FC236}">
                <a16:creationId xmlns:a16="http://schemas.microsoft.com/office/drawing/2014/main" id="{EC0FE700-1F6D-2D48-8C81-1F693BB51A09}"/>
              </a:ext>
            </a:extLst>
          </p:cNvPr>
          <p:cNvSpPr>
            <a:spLocks noChangeShapeType="1"/>
          </p:cNvSpPr>
          <p:nvPr/>
        </p:nvSpPr>
        <p:spPr bwMode="auto">
          <a:xfrm>
            <a:off x="3925889" y="4524376"/>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67" name="Line 467">
            <a:extLst>
              <a:ext uri="{FF2B5EF4-FFF2-40B4-BE49-F238E27FC236}">
                <a16:creationId xmlns:a16="http://schemas.microsoft.com/office/drawing/2014/main" id="{E398311A-669E-DA4F-A8D7-B0F9CB9F5490}"/>
              </a:ext>
            </a:extLst>
          </p:cNvPr>
          <p:cNvSpPr>
            <a:spLocks noChangeShapeType="1"/>
          </p:cNvSpPr>
          <p:nvPr/>
        </p:nvSpPr>
        <p:spPr bwMode="auto">
          <a:xfrm>
            <a:off x="3894138" y="4562475"/>
            <a:ext cx="61912"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68" name="Freeform 468">
            <a:extLst>
              <a:ext uri="{FF2B5EF4-FFF2-40B4-BE49-F238E27FC236}">
                <a16:creationId xmlns:a16="http://schemas.microsoft.com/office/drawing/2014/main" id="{FA081AE9-E653-CE4E-8436-5AE44B17DFF1}"/>
              </a:ext>
            </a:extLst>
          </p:cNvPr>
          <p:cNvSpPr>
            <a:spLocks/>
          </p:cNvSpPr>
          <p:nvPr/>
        </p:nvSpPr>
        <p:spPr bwMode="auto">
          <a:xfrm>
            <a:off x="3937000" y="4838701"/>
            <a:ext cx="325438" cy="341313"/>
          </a:xfrm>
          <a:custGeom>
            <a:avLst/>
            <a:gdLst>
              <a:gd name="T0" fmla="*/ 56 w 614"/>
              <a:gd name="T1" fmla="*/ 196 h 644"/>
              <a:gd name="T2" fmla="*/ 0 w 614"/>
              <a:gd name="T3" fmla="*/ 196 h 644"/>
              <a:gd name="T4" fmla="*/ 307 w 614"/>
              <a:gd name="T5" fmla="*/ 0 h 644"/>
              <a:gd name="T6" fmla="*/ 614 w 614"/>
              <a:gd name="T7" fmla="*/ 196 h 644"/>
              <a:gd name="T8" fmla="*/ 586 w 614"/>
              <a:gd name="T9" fmla="*/ 196 h 644"/>
              <a:gd name="T10" fmla="*/ 558 w 614"/>
              <a:gd name="T11" fmla="*/ 196 h 644"/>
              <a:gd name="T12" fmla="*/ 558 w 614"/>
              <a:gd name="T13" fmla="*/ 615 h 644"/>
              <a:gd name="T14" fmla="*/ 56 w 614"/>
              <a:gd name="T15" fmla="*/ 615 h 644"/>
              <a:gd name="T16" fmla="*/ 56 w 614"/>
              <a:gd name="T17" fmla="*/ 196 h 644"/>
              <a:gd name="T18" fmla="*/ 558 w 614"/>
              <a:gd name="T19" fmla="*/ 196 h 644"/>
              <a:gd name="T20" fmla="*/ 586 w 614"/>
              <a:gd name="T21" fmla="*/ 196 h 644"/>
              <a:gd name="T22" fmla="*/ 586 w 614"/>
              <a:gd name="T23" fmla="*/ 644 h 644"/>
              <a:gd name="T24" fmla="*/ 56 w 614"/>
              <a:gd name="T25" fmla="*/ 644 h 644"/>
              <a:gd name="T26" fmla="*/ 56 w 614"/>
              <a:gd name="T27" fmla="*/ 615 h 644"/>
              <a:gd name="T28" fmla="*/ 56 w 614"/>
              <a:gd name="T29" fmla="*/ 196 h 6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4"/>
              <a:gd name="T47" fmla="*/ 614 w 614"/>
              <a:gd name="T48" fmla="*/ 644 h 6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4">
                <a:moveTo>
                  <a:pt x="56" y="196"/>
                </a:moveTo>
                <a:lnTo>
                  <a:pt x="0" y="196"/>
                </a:lnTo>
                <a:lnTo>
                  <a:pt x="307" y="0"/>
                </a:lnTo>
                <a:lnTo>
                  <a:pt x="614" y="196"/>
                </a:lnTo>
                <a:lnTo>
                  <a:pt x="586" y="196"/>
                </a:lnTo>
                <a:lnTo>
                  <a:pt x="558" y="196"/>
                </a:lnTo>
                <a:lnTo>
                  <a:pt x="558" y="615"/>
                </a:lnTo>
                <a:lnTo>
                  <a:pt x="56" y="615"/>
                </a:lnTo>
                <a:lnTo>
                  <a:pt x="56" y="196"/>
                </a:lnTo>
                <a:lnTo>
                  <a:pt x="558" y="196"/>
                </a:lnTo>
                <a:lnTo>
                  <a:pt x="586" y="196"/>
                </a:lnTo>
                <a:lnTo>
                  <a:pt x="586" y="644"/>
                </a:lnTo>
                <a:lnTo>
                  <a:pt x="56" y="644"/>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69" name="Rectangle 469">
            <a:extLst>
              <a:ext uri="{FF2B5EF4-FFF2-40B4-BE49-F238E27FC236}">
                <a16:creationId xmlns:a16="http://schemas.microsoft.com/office/drawing/2014/main" id="{1BEBB2DD-5BCD-9646-B55C-740E5A1A4490}"/>
              </a:ext>
            </a:extLst>
          </p:cNvPr>
          <p:cNvSpPr>
            <a:spLocks noChangeArrowheads="1"/>
          </p:cNvSpPr>
          <p:nvPr/>
        </p:nvSpPr>
        <p:spPr bwMode="auto">
          <a:xfrm>
            <a:off x="3967164" y="4943476"/>
            <a:ext cx="269875"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70" name="Rectangle 470">
            <a:extLst>
              <a:ext uri="{FF2B5EF4-FFF2-40B4-BE49-F238E27FC236}">
                <a16:creationId xmlns:a16="http://schemas.microsoft.com/office/drawing/2014/main" id="{A6FFDBA2-2302-5B4A-A018-DC87C872EF0D}"/>
              </a:ext>
            </a:extLst>
          </p:cNvPr>
          <p:cNvSpPr>
            <a:spLocks noChangeArrowheads="1"/>
          </p:cNvSpPr>
          <p:nvPr/>
        </p:nvSpPr>
        <p:spPr bwMode="auto">
          <a:xfrm>
            <a:off x="4010025" y="4995864"/>
            <a:ext cx="95250"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71" name="Rectangle 471">
            <a:extLst>
              <a:ext uri="{FF2B5EF4-FFF2-40B4-BE49-F238E27FC236}">
                <a16:creationId xmlns:a16="http://schemas.microsoft.com/office/drawing/2014/main" id="{635CCF57-22BB-634E-BCB3-1BF350DC3C0A}"/>
              </a:ext>
            </a:extLst>
          </p:cNvPr>
          <p:cNvSpPr>
            <a:spLocks noChangeArrowheads="1"/>
          </p:cNvSpPr>
          <p:nvPr/>
        </p:nvSpPr>
        <p:spPr bwMode="auto">
          <a:xfrm>
            <a:off x="4144964" y="4991101"/>
            <a:ext cx="65087"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72" name="Freeform 472">
            <a:extLst>
              <a:ext uri="{FF2B5EF4-FFF2-40B4-BE49-F238E27FC236}">
                <a16:creationId xmlns:a16="http://schemas.microsoft.com/office/drawing/2014/main" id="{3D4579C3-D36F-D848-96A8-588FFC4E2A6A}"/>
              </a:ext>
            </a:extLst>
          </p:cNvPr>
          <p:cNvSpPr>
            <a:spLocks/>
          </p:cNvSpPr>
          <p:nvPr/>
        </p:nvSpPr>
        <p:spPr bwMode="auto">
          <a:xfrm>
            <a:off x="4079876" y="5073650"/>
            <a:ext cx="11113" cy="14288"/>
          </a:xfrm>
          <a:custGeom>
            <a:avLst/>
            <a:gdLst>
              <a:gd name="T0" fmla="*/ 23 w 23"/>
              <a:gd name="T1" fmla="*/ 13 h 29"/>
              <a:gd name="T2" fmla="*/ 23 w 23"/>
              <a:gd name="T3" fmla="*/ 11 h 29"/>
              <a:gd name="T4" fmla="*/ 21 w 23"/>
              <a:gd name="T5" fmla="*/ 8 h 29"/>
              <a:gd name="T6" fmla="*/ 21 w 23"/>
              <a:gd name="T7" fmla="*/ 6 h 29"/>
              <a:gd name="T8" fmla="*/ 19 w 23"/>
              <a:gd name="T9" fmla="*/ 4 h 29"/>
              <a:gd name="T10" fmla="*/ 18 w 23"/>
              <a:gd name="T11" fmla="*/ 2 h 29"/>
              <a:gd name="T12" fmla="*/ 17 w 23"/>
              <a:gd name="T13" fmla="*/ 1 h 29"/>
              <a:gd name="T14" fmla="*/ 15 w 23"/>
              <a:gd name="T15" fmla="*/ 0 h 29"/>
              <a:gd name="T16" fmla="*/ 12 w 23"/>
              <a:gd name="T17" fmla="*/ 0 h 29"/>
              <a:gd name="T18" fmla="*/ 10 w 23"/>
              <a:gd name="T19" fmla="*/ 0 h 29"/>
              <a:gd name="T20" fmla="*/ 9 w 23"/>
              <a:gd name="T21" fmla="*/ 0 h 29"/>
              <a:gd name="T22" fmla="*/ 7 w 23"/>
              <a:gd name="T23" fmla="*/ 1 h 29"/>
              <a:gd name="T24" fmla="*/ 5 w 23"/>
              <a:gd name="T25" fmla="*/ 2 h 29"/>
              <a:gd name="T26" fmla="*/ 4 w 23"/>
              <a:gd name="T27" fmla="*/ 4 h 29"/>
              <a:gd name="T28" fmla="*/ 1 w 23"/>
              <a:gd name="T29" fmla="*/ 6 h 29"/>
              <a:gd name="T30" fmla="*/ 1 w 23"/>
              <a:gd name="T31" fmla="*/ 8 h 29"/>
              <a:gd name="T32" fmla="*/ 0 w 23"/>
              <a:gd name="T33" fmla="*/ 11 h 29"/>
              <a:gd name="T34" fmla="*/ 0 w 23"/>
              <a:gd name="T35" fmla="*/ 13 h 29"/>
              <a:gd name="T36" fmla="*/ 0 w 23"/>
              <a:gd name="T37" fmla="*/ 16 h 29"/>
              <a:gd name="T38" fmla="*/ 0 w 23"/>
              <a:gd name="T39" fmla="*/ 18 h 29"/>
              <a:gd name="T40" fmla="*/ 1 w 23"/>
              <a:gd name="T41" fmla="*/ 22 h 29"/>
              <a:gd name="T42" fmla="*/ 1 w 23"/>
              <a:gd name="T43" fmla="*/ 24 h 29"/>
              <a:gd name="T44" fmla="*/ 4 w 23"/>
              <a:gd name="T45" fmla="*/ 25 h 29"/>
              <a:gd name="T46" fmla="*/ 5 w 23"/>
              <a:gd name="T47" fmla="*/ 27 h 29"/>
              <a:gd name="T48" fmla="*/ 7 w 23"/>
              <a:gd name="T49" fmla="*/ 28 h 29"/>
              <a:gd name="T50" fmla="*/ 9 w 23"/>
              <a:gd name="T51" fmla="*/ 29 h 29"/>
              <a:gd name="T52" fmla="*/ 10 w 23"/>
              <a:gd name="T53" fmla="*/ 29 h 29"/>
              <a:gd name="T54" fmla="*/ 12 w 23"/>
              <a:gd name="T55" fmla="*/ 29 h 29"/>
              <a:gd name="T56" fmla="*/ 15 w 23"/>
              <a:gd name="T57" fmla="*/ 29 h 29"/>
              <a:gd name="T58" fmla="*/ 17 w 23"/>
              <a:gd name="T59" fmla="*/ 28 h 29"/>
              <a:gd name="T60" fmla="*/ 18 w 23"/>
              <a:gd name="T61" fmla="*/ 27 h 29"/>
              <a:gd name="T62" fmla="*/ 19 w 23"/>
              <a:gd name="T63" fmla="*/ 25 h 29"/>
              <a:gd name="T64" fmla="*/ 21 w 23"/>
              <a:gd name="T65" fmla="*/ 24 h 29"/>
              <a:gd name="T66" fmla="*/ 21 w 23"/>
              <a:gd name="T67" fmla="*/ 22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9"/>
                </a:lnTo>
                <a:lnTo>
                  <a:pt x="21" y="8"/>
                </a:lnTo>
                <a:lnTo>
                  <a:pt x="21" y="7"/>
                </a:lnTo>
                <a:lnTo>
                  <a:pt x="21" y="6"/>
                </a:lnTo>
                <a:lnTo>
                  <a:pt x="20" y="5"/>
                </a:lnTo>
                <a:lnTo>
                  <a:pt x="19" y="4"/>
                </a:lnTo>
                <a:lnTo>
                  <a:pt x="19" y="3"/>
                </a:lnTo>
                <a:lnTo>
                  <a:pt x="18" y="2"/>
                </a:lnTo>
                <a:lnTo>
                  <a:pt x="17" y="1"/>
                </a:lnTo>
                <a:lnTo>
                  <a:pt x="16" y="0"/>
                </a:lnTo>
                <a:lnTo>
                  <a:pt x="15" y="0"/>
                </a:lnTo>
                <a:lnTo>
                  <a:pt x="14" y="0"/>
                </a:lnTo>
                <a:lnTo>
                  <a:pt x="12" y="0"/>
                </a:lnTo>
                <a:lnTo>
                  <a:pt x="11" y="0"/>
                </a:lnTo>
                <a:lnTo>
                  <a:pt x="10" y="0"/>
                </a:lnTo>
                <a:lnTo>
                  <a:pt x="9" y="0"/>
                </a:lnTo>
                <a:lnTo>
                  <a:pt x="8" y="0"/>
                </a:lnTo>
                <a:lnTo>
                  <a:pt x="7" y="1"/>
                </a:lnTo>
                <a:lnTo>
                  <a:pt x="6" y="1"/>
                </a:lnTo>
                <a:lnTo>
                  <a:pt x="5" y="2"/>
                </a:lnTo>
                <a:lnTo>
                  <a:pt x="4" y="3"/>
                </a:lnTo>
                <a:lnTo>
                  <a:pt x="4" y="4"/>
                </a:lnTo>
                <a:lnTo>
                  <a:pt x="3" y="5"/>
                </a:lnTo>
                <a:lnTo>
                  <a:pt x="1" y="6"/>
                </a:lnTo>
                <a:lnTo>
                  <a:pt x="1" y="7"/>
                </a:lnTo>
                <a:lnTo>
                  <a:pt x="1" y="8"/>
                </a:lnTo>
                <a:lnTo>
                  <a:pt x="0" y="9"/>
                </a:lnTo>
                <a:lnTo>
                  <a:pt x="0" y="11"/>
                </a:lnTo>
                <a:lnTo>
                  <a:pt x="0" y="12"/>
                </a:lnTo>
                <a:lnTo>
                  <a:pt x="0" y="13"/>
                </a:lnTo>
                <a:lnTo>
                  <a:pt x="0" y="14"/>
                </a:lnTo>
                <a:lnTo>
                  <a:pt x="0" y="16"/>
                </a:lnTo>
                <a:lnTo>
                  <a:pt x="0" y="17"/>
                </a:lnTo>
                <a:lnTo>
                  <a:pt x="0" y="18"/>
                </a:lnTo>
                <a:lnTo>
                  <a:pt x="0" y="19"/>
                </a:lnTo>
                <a:lnTo>
                  <a:pt x="1" y="22"/>
                </a:lnTo>
                <a:lnTo>
                  <a:pt x="1" y="23"/>
                </a:lnTo>
                <a:lnTo>
                  <a:pt x="1" y="24"/>
                </a:lnTo>
                <a:lnTo>
                  <a:pt x="3" y="24"/>
                </a:lnTo>
                <a:lnTo>
                  <a:pt x="4" y="25"/>
                </a:lnTo>
                <a:lnTo>
                  <a:pt x="4" y="26"/>
                </a:lnTo>
                <a:lnTo>
                  <a:pt x="5" y="27"/>
                </a:lnTo>
                <a:lnTo>
                  <a:pt x="6" y="28"/>
                </a:lnTo>
                <a:lnTo>
                  <a:pt x="7" y="28"/>
                </a:lnTo>
                <a:lnTo>
                  <a:pt x="8" y="29"/>
                </a:lnTo>
                <a:lnTo>
                  <a:pt x="9" y="29"/>
                </a:lnTo>
                <a:lnTo>
                  <a:pt x="10" y="29"/>
                </a:lnTo>
                <a:lnTo>
                  <a:pt x="11" y="29"/>
                </a:lnTo>
                <a:lnTo>
                  <a:pt x="12" y="29"/>
                </a:lnTo>
                <a:lnTo>
                  <a:pt x="14" y="29"/>
                </a:lnTo>
                <a:lnTo>
                  <a:pt x="15" y="29"/>
                </a:lnTo>
                <a:lnTo>
                  <a:pt x="16" y="29"/>
                </a:lnTo>
                <a:lnTo>
                  <a:pt x="17" y="28"/>
                </a:lnTo>
                <a:lnTo>
                  <a:pt x="18" y="27"/>
                </a:lnTo>
                <a:lnTo>
                  <a:pt x="19" y="26"/>
                </a:lnTo>
                <a:lnTo>
                  <a:pt x="19" y="25"/>
                </a:lnTo>
                <a:lnTo>
                  <a:pt x="20" y="24"/>
                </a:lnTo>
                <a:lnTo>
                  <a:pt x="21" y="24"/>
                </a:lnTo>
                <a:lnTo>
                  <a:pt x="21" y="23"/>
                </a:lnTo>
                <a:lnTo>
                  <a:pt x="21" y="22"/>
                </a:lnTo>
                <a:lnTo>
                  <a:pt x="22" y="19"/>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73" name="Line 473">
            <a:extLst>
              <a:ext uri="{FF2B5EF4-FFF2-40B4-BE49-F238E27FC236}">
                <a16:creationId xmlns:a16="http://schemas.microsoft.com/office/drawing/2014/main" id="{5D332CBD-21D9-0848-9890-C102F24C7134}"/>
              </a:ext>
            </a:extLst>
          </p:cNvPr>
          <p:cNvSpPr>
            <a:spLocks noChangeShapeType="1"/>
          </p:cNvSpPr>
          <p:nvPr/>
        </p:nvSpPr>
        <p:spPr bwMode="auto">
          <a:xfrm>
            <a:off x="4176714" y="499268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74" name="Line 474">
            <a:extLst>
              <a:ext uri="{FF2B5EF4-FFF2-40B4-BE49-F238E27FC236}">
                <a16:creationId xmlns:a16="http://schemas.microsoft.com/office/drawing/2014/main" id="{86D4C622-0DAB-7A44-A3B1-D1164E6D3587}"/>
              </a:ext>
            </a:extLst>
          </p:cNvPr>
          <p:cNvSpPr>
            <a:spLocks noChangeShapeType="1"/>
          </p:cNvSpPr>
          <p:nvPr/>
        </p:nvSpPr>
        <p:spPr bwMode="auto">
          <a:xfrm>
            <a:off x="4144963" y="5029200"/>
            <a:ext cx="63500"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75" name="Freeform 475">
            <a:extLst>
              <a:ext uri="{FF2B5EF4-FFF2-40B4-BE49-F238E27FC236}">
                <a16:creationId xmlns:a16="http://schemas.microsoft.com/office/drawing/2014/main" id="{228F575B-766D-894B-9FBE-D5FA23688353}"/>
              </a:ext>
            </a:extLst>
          </p:cNvPr>
          <p:cNvSpPr>
            <a:spLocks/>
          </p:cNvSpPr>
          <p:nvPr/>
        </p:nvSpPr>
        <p:spPr bwMode="auto">
          <a:xfrm>
            <a:off x="2635250" y="5988051"/>
            <a:ext cx="325438" cy="341313"/>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76" name="Rectangle 476">
            <a:extLst>
              <a:ext uri="{FF2B5EF4-FFF2-40B4-BE49-F238E27FC236}">
                <a16:creationId xmlns:a16="http://schemas.microsoft.com/office/drawing/2014/main" id="{267B0E56-BBB4-A84B-A4E1-E7A9DE8C37DC}"/>
              </a:ext>
            </a:extLst>
          </p:cNvPr>
          <p:cNvSpPr>
            <a:spLocks noChangeArrowheads="1"/>
          </p:cNvSpPr>
          <p:nvPr/>
        </p:nvSpPr>
        <p:spPr bwMode="auto">
          <a:xfrm>
            <a:off x="2665414" y="6092826"/>
            <a:ext cx="269875"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77" name="Rectangle 477">
            <a:extLst>
              <a:ext uri="{FF2B5EF4-FFF2-40B4-BE49-F238E27FC236}">
                <a16:creationId xmlns:a16="http://schemas.microsoft.com/office/drawing/2014/main" id="{343F4415-29EF-2A4A-8643-07BE365AA08A}"/>
              </a:ext>
            </a:extLst>
          </p:cNvPr>
          <p:cNvSpPr>
            <a:spLocks noChangeArrowheads="1"/>
          </p:cNvSpPr>
          <p:nvPr/>
        </p:nvSpPr>
        <p:spPr bwMode="auto">
          <a:xfrm>
            <a:off x="2708275" y="6145214"/>
            <a:ext cx="95250"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78" name="Rectangle 478">
            <a:extLst>
              <a:ext uri="{FF2B5EF4-FFF2-40B4-BE49-F238E27FC236}">
                <a16:creationId xmlns:a16="http://schemas.microsoft.com/office/drawing/2014/main" id="{E853D88D-8606-BD4F-857C-4D4C54007524}"/>
              </a:ext>
            </a:extLst>
          </p:cNvPr>
          <p:cNvSpPr>
            <a:spLocks noChangeArrowheads="1"/>
          </p:cNvSpPr>
          <p:nvPr/>
        </p:nvSpPr>
        <p:spPr bwMode="auto">
          <a:xfrm>
            <a:off x="2844800" y="6140451"/>
            <a:ext cx="63500"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79" name="Freeform 479">
            <a:extLst>
              <a:ext uri="{FF2B5EF4-FFF2-40B4-BE49-F238E27FC236}">
                <a16:creationId xmlns:a16="http://schemas.microsoft.com/office/drawing/2014/main" id="{3372C062-A3B7-584D-80BF-C0066345D6B5}"/>
              </a:ext>
            </a:extLst>
          </p:cNvPr>
          <p:cNvSpPr>
            <a:spLocks/>
          </p:cNvSpPr>
          <p:nvPr/>
        </p:nvSpPr>
        <p:spPr bwMode="auto">
          <a:xfrm>
            <a:off x="2778125" y="6221414"/>
            <a:ext cx="12700" cy="15875"/>
          </a:xfrm>
          <a:custGeom>
            <a:avLst/>
            <a:gdLst>
              <a:gd name="T0" fmla="*/ 23 w 23"/>
              <a:gd name="T1" fmla="*/ 14 h 30"/>
              <a:gd name="T2" fmla="*/ 23 w 23"/>
              <a:gd name="T3" fmla="*/ 11 h 30"/>
              <a:gd name="T4" fmla="*/ 21 w 23"/>
              <a:gd name="T5" fmla="*/ 9 h 30"/>
              <a:gd name="T6" fmla="*/ 21 w 23"/>
              <a:gd name="T7" fmla="*/ 7 h 30"/>
              <a:gd name="T8" fmla="*/ 18 w 23"/>
              <a:gd name="T9" fmla="*/ 5 h 30"/>
              <a:gd name="T10" fmla="*/ 17 w 23"/>
              <a:gd name="T11" fmla="*/ 3 h 30"/>
              <a:gd name="T12" fmla="*/ 16 w 23"/>
              <a:gd name="T13" fmla="*/ 2 h 30"/>
              <a:gd name="T14" fmla="*/ 14 w 23"/>
              <a:gd name="T15" fmla="*/ 0 h 30"/>
              <a:gd name="T16" fmla="*/ 12 w 23"/>
              <a:gd name="T17" fmla="*/ 0 h 30"/>
              <a:gd name="T18" fmla="*/ 10 w 23"/>
              <a:gd name="T19" fmla="*/ 0 h 30"/>
              <a:gd name="T20" fmla="*/ 8 w 23"/>
              <a:gd name="T21" fmla="*/ 0 h 30"/>
              <a:gd name="T22" fmla="*/ 6 w 23"/>
              <a:gd name="T23" fmla="*/ 2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3 w 23"/>
              <a:gd name="T45" fmla="*/ 26 h 30"/>
              <a:gd name="T46" fmla="*/ 4 w 23"/>
              <a:gd name="T47" fmla="*/ 28 h 30"/>
              <a:gd name="T48" fmla="*/ 6 w 23"/>
              <a:gd name="T49" fmla="*/ 29 h 30"/>
              <a:gd name="T50" fmla="*/ 8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1 w 23"/>
              <a:gd name="T65" fmla="*/ 25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3"/>
                </a:lnTo>
                <a:lnTo>
                  <a:pt x="23" y="11"/>
                </a:lnTo>
                <a:lnTo>
                  <a:pt x="22" y="10"/>
                </a:lnTo>
                <a:lnTo>
                  <a:pt x="21" y="9"/>
                </a:lnTo>
                <a:lnTo>
                  <a:pt x="21" y="8"/>
                </a:lnTo>
                <a:lnTo>
                  <a:pt x="21" y="7"/>
                </a:lnTo>
                <a:lnTo>
                  <a:pt x="19" y="6"/>
                </a:lnTo>
                <a:lnTo>
                  <a:pt x="18" y="5"/>
                </a:lnTo>
                <a:lnTo>
                  <a:pt x="18" y="4"/>
                </a:lnTo>
                <a:lnTo>
                  <a:pt x="17" y="3"/>
                </a:lnTo>
                <a:lnTo>
                  <a:pt x="16" y="2"/>
                </a:lnTo>
                <a:lnTo>
                  <a:pt x="15" y="0"/>
                </a:lnTo>
                <a:lnTo>
                  <a:pt x="14" y="0"/>
                </a:lnTo>
                <a:lnTo>
                  <a:pt x="13" y="0"/>
                </a:lnTo>
                <a:lnTo>
                  <a:pt x="12" y="0"/>
                </a:lnTo>
                <a:lnTo>
                  <a:pt x="11" y="0"/>
                </a:lnTo>
                <a:lnTo>
                  <a:pt x="10" y="0"/>
                </a:lnTo>
                <a:lnTo>
                  <a:pt x="8" y="0"/>
                </a:lnTo>
                <a:lnTo>
                  <a:pt x="7" y="0"/>
                </a:lnTo>
                <a:lnTo>
                  <a:pt x="6" y="2"/>
                </a:lnTo>
                <a:lnTo>
                  <a:pt x="5" y="2"/>
                </a:lnTo>
                <a:lnTo>
                  <a:pt x="4" y="3"/>
                </a:lnTo>
                <a:lnTo>
                  <a:pt x="3" y="4"/>
                </a:lnTo>
                <a:lnTo>
                  <a:pt x="3" y="5"/>
                </a:lnTo>
                <a:lnTo>
                  <a:pt x="2" y="6"/>
                </a:lnTo>
                <a:lnTo>
                  <a:pt x="1" y="7"/>
                </a:lnTo>
                <a:lnTo>
                  <a:pt x="1" y="8"/>
                </a:lnTo>
                <a:lnTo>
                  <a:pt x="1" y="9"/>
                </a:lnTo>
                <a:lnTo>
                  <a:pt x="0" y="10"/>
                </a:lnTo>
                <a:lnTo>
                  <a:pt x="0" y="11"/>
                </a:lnTo>
                <a:lnTo>
                  <a:pt x="0" y="13"/>
                </a:lnTo>
                <a:lnTo>
                  <a:pt x="0" y="14"/>
                </a:lnTo>
                <a:lnTo>
                  <a:pt x="0" y="15"/>
                </a:lnTo>
                <a:lnTo>
                  <a:pt x="0" y="17"/>
                </a:lnTo>
                <a:lnTo>
                  <a:pt x="0" y="18"/>
                </a:lnTo>
                <a:lnTo>
                  <a:pt x="0" y="19"/>
                </a:lnTo>
                <a:lnTo>
                  <a:pt x="0" y="20"/>
                </a:lnTo>
                <a:lnTo>
                  <a:pt x="1" y="22"/>
                </a:lnTo>
                <a:lnTo>
                  <a:pt x="1" y="24"/>
                </a:lnTo>
                <a:lnTo>
                  <a:pt x="1" y="25"/>
                </a:lnTo>
                <a:lnTo>
                  <a:pt x="2" y="25"/>
                </a:lnTo>
                <a:lnTo>
                  <a:pt x="3" y="26"/>
                </a:lnTo>
                <a:lnTo>
                  <a:pt x="3" y="27"/>
                </a:lnTo>
                <a:lnTo>
                  <a:pt x="4" y="28"/>
                </a:lnTo>
                <a:lnTo>
                  <a:pt x="5" y="29"/>
                </a:lnTo>
                <a:lnTo>
                  <a:pt x="6" y="29"/>
                </a:lnTo>
                <a:lnTo>
                  <a:pt x="7" y="30"/>
                </a:lnTo>
                <a:lnTo>
                  <a:pt x="8" y="30"/>
                </a:lnTo>
                <a:lnTo>
                  <a:pt x="10" y="30"/>
                </a:lnTo>
                <a:lnTo>
                  <a:pt x="11" y="30"/>
                </a:lnTo>
                <a:lnTo>
                  <a:pt x="12" y="30"/>
                </a:lnTo>
                <a:lnTo>
                  <a:pt x="13" y="30"/>
                </a:lnTo>
                <a:lnTo>
                  <a:pt x="14" y="30"/>
                </a:lnTo>
                <a:lnTo>
                  <a:pt x="15" y="30"/>
                </a:lnTo>
                <a:lnTo>
                  <a:pt x="16" y="29"/>
                </a:lnTo>
                <a:lnTo>
                  <a:pt x="17" y="28"/>
                </a:lnTo>
                <a:lnTo>
                  <a:pt x="18" y="27"/>
                </a:lnTo>
                <a:lnTo>
                  <a:pt x="18" y="26"/>
                </a:lnTo>
                <a:lnTo>
                  <a:pt x="19" y="25"/>
                </a:lnTo>
                <a:lnTo>
                  <a:pt x="21" y="25"/>
                </a:lnTo>
                <a:lnTo>
                  <a:pt x="21" y="24"/>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80" name="Line 480">
            <a:extLst>
              <a:ext uri="{FF2B5EF4-FFF2-40B4-BE49-F238E27FC236}">
                <a16:creationId xmlns:a16="http://schemas.microsoft.com/office/drawing/2014/main" id="{22DD7F9B-3939-554E-9938-F235DC21035E}"/>
              </a:ext>
            </a:extLst>
          </p:cNvPr>
          <p:cNvSpPr>
            <a:spLocks noChangeShapeType="1"/>
          </p:cNvSpPr>
          <p:nvPr/>
        </p:nvSpPr>
        <p:spPr bwMode="auto">
          <a:xfrm>
            <a:off x="2874964" y="614203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81" name="Line 481">
            <a:extLst>
              <a:ext uri="{FF2B5EF4-FFF2-40B4-BE49-F238E27FC236}">
                <a16:creationId xmlns:a16="http://schemas.microsoft.com/office/drawing/2014/main" id="{B837FC57-12AA-714F-844B-64260861E7FD}"/>
              </a:ext>
            </a:extLst>
          </p:cNvPr>
          <p:cNvSpPr>
            <a:spLocks noChangeShapeType="1"/>
          </p:cNvSpPr>
          <p:nvPr/>
        </p:nvSpPr>
        <p:spPr bwMode="auto">
          <a:xfrm>
            <a:off x="2844801" y="6178550"/>
            <a:ext cx="61913"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82" name="Freeform 482">
            <a:extLst>
              <a:ext uri="{FF2B5EF4-FFF2-40B4-BE49-F238E27FC236}">
                <a16:creationId xmlns:a16="http://schemas.microsoft.com/office/drawing/2014/main" id="{CD14EDDE-2589-6E4B-BDF2-B4EF60352B17}"/>
              </a:ext>
            </a:extLst>
          </p:cNvPr>
          <p:cNvSpPr>
            <a:spLocks/>
          </p:cNvSpPr>
          <p:nvPr/>
        </p:nvSpPr>
        <p:spPr bwMode="auto">
          <a:xfrm>
            <a:off x="2344739" y="4170364"/>
            <a:ext cx="325437" cy="339725"/>
          </a:xfrm>
          <a:custGeom>
            <a:avLst/>
            <a:gdLst>
              <a:gd name="T0" fmla="*/ 56 w 615"/>
              <a:gd name="T1" fmla="*/ 195 h 643"/>
              <a:gd name="T2" fmla="*/ 0 w 615"/>
              <a:gd name="T3" fmla="*/ 195 h 643"/>
              <a:gd name="T4" fmla="*/ 308 w 615"/>
              <a:gd name="T5" fmla="*/ 0 h 643"/>
              <a:gd name="T6" fmla="*/ 615 w 615"/>
              <a:gd name="T7" fmla="*/ 195 h 643"/>
              <a:gd name="T8" fmla="*/ 587 w 615"/>
              <a:gd name="T9" fmla="*/ 195 h 643"/>
              <a:gd name="T10" fmla="*/ 559 w 615"/>
              <a:gd name="T11" fmla="*/ 195 h 643"/>
              <a:gd name="T12" fmla="*/ 559 w 615"/>
              <a:gd name="T13" fmla="*/ 615 h 643"/>
              <a:gd name="T14" fmla="*/ 56 w 615"/>
              <a:gd name="T15" fmla="*/ 615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5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8" y="0"/>
                </a:lnTo>
                <a:lnTo>
                  <a:pt x="615" y="195"/>
                </a:lnTo>
                <a:lnTo>
                  <a:pt x="587" y="195"/>
                </a:lnTo>
                <a:lnTo>
                  <a:pt x="559" y="195"/>
                </a:lnTo>
                <a:lnTo>
                  <a:pt x="559" y="615"/>
                </a:lnTo>
                <a:lnTo>
                  <a:pt x="56" y="615"/>
                </a:lnTo>
                <a:lnTo>
                  <a:pt x="56" y="195"/>
                </a:lnTo>
                <a:lnTo>
                  <a:pt x="559" y="195"/>
                </a:lnTo>
                <a:lnTo>
                  <a:pt x="587" y="195"/>
                </a:lnTo>
                <a:lnTo>
                  <a:pt x="587" y="643"/>
                </a:lnTo>
                <a:lnTo>
                  <a:pt x="56" y="643"/>
                </a:lnTo>
                <a:lnTo>
                  <a:pt x="56" y="615"/>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83" name="Rectangle 483">
            <a:extLst>
              <a:ext uri="{FF2B5EF4-FFF2-40B4-BE49-F238E27FC236}">
                <a16:creationId xmlns:a16="http://schemas.microsoft.com/office/drawing/2014/main" id="{AFB4FAF8-6410-6F40-919A-CE8B9A76C388}"/>
              </a:ext>
            </a:extLst>
          </p:cNvPr>
          <p:cNvSpPr>
            <a:spLocks noChangeArrowheads="1"/>
          </p:cNvSpPr>
          <p:nvPr/>
        </p:nvSpPr>
        <p:spPr bwMode="auto">
          <a:xfrm>
            <a:off x="2374901" y="4273551"/>
            <a:ext cx="269875"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84" name="Rectangle 484">
            <a:extLst>
              <a:ext uri="{FF2B5EF4-FFF2-40B4-BE49-F238E27FC236}">
                <a16:creationId xmlns:a16="http://schemas.microsoft.com/office/drawing/2014/main" id="{9D3DC092-251D-0F46-A778-C2A71724DE9D}"/>
              </a:ext>
            </a:extLst>
          </p:cNvPr>
          <p:cNvSpPr>
            <a:spLocks noChangeArrowheads="1"/>
          </p:cNvSpPr>
          <p:nvPr/>
        </p:nvSpPr>
        <p:spPr bwMode="auto">
          <a:xfrm>
            <a:off x="2419351" y="4325939"/>
            <a:ext cx="93663"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85" name="Rectangle 485">
            <a:extLst>
              <a:ext uri="{FF2B5EF4-FFF2-40B4-BE49-F238E27FC236}">
                <a16:creationId xmlns:a16="http://schemas.microsoft.com/office/drawing/2014/main" id="{6810A1C9-DF4B-8348-A6A8-5BB4DE08AAB7}"/>
              </a:ext>
            </a:extLst>
          </p:cNvPr>
          <p:cNvSpPr>
            <a:spLocks noChangeArrowheads="1"/>
          </p:cNvSpPr>
          <p:nvPr/>
        </p:nvSpPr>
        <p:spPr bwMode="auto">
          <a:xfrm>
            <a:off x="2554288" y="4322764"/>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86" name="Freeform 486">
            <a:extLst>
              <a:ext uri="{FF2B5EF4-FFF2-40B4-BE49-F238E27FC236}">
                <a16:creationId xmlns:a16="http://schemas.microsoft.com/office/drawing/2014/main" id="{72374EE1-F77A-074D-9C30-1C2F396FCA1F}"/>
              </a:ext>
            </a:extLst>
          </p:cNvPr>
          <p:cNvSpPr>
            <a:spLocks/>
          </p:cNvSpPr>
          <p:nvPr/>
        </p:nvSpPr>
        <p:spPr bwMode="auto">
          <a:xfrm>
            <a:off x="2487613" y="4403726"/>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5 h 30"/>
              <a:gd name="T10" fmla="*/ 18 w 23"/>
              <a:gd name="T11" fmla="*/ 2 h 30"/>
              <a:gd name="T12" fmla="*/ 17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3 w 23"/>
              <a:gd name="T27" fmla="*/ 5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5 h 30"/>
              <a:gd name="T46" fmla="*/ 5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8 h 30"/>
              <a:gd name="T62" fmla="*/ 19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3"/>
                </a:lnTo>
                <a:lnTo>
                  <a:pt x="23" y="12"/>
                </a:lnTo>
                <a:lnTo>
                  <a:pt x="23" y="11"/>
                </a:lnTo>
                <a:lnTo>
                  <a:pt x="22" y="10"/>
                </a:lnTo>
                <a:lnTo>
                  <a:pt x="21" y="9"/>
                </a:lnTo>
                <a:lnTo>
                  <a:pt x="21" y="8"/>
                </a:lnTo>
                <a:lnTo>
                  <a:pt x="21" y="7"/>
                </a:lnTo>
                <a:lnTo>
                  <a:pt x="20" y="6"/>
                </a:lnTo>
                <a:lnTo>
                  <a:pt x="19" y="5"/>
                </a:lnTo>
                <a:lnTo>
                  <a:pt x="19" y="4"/>
                </a:lnTo>
                <a:lnTo>
                  <a:pt x="18" y="2"/>
                </a:lnTo>
                <a:lnTo>
                  <a:pt x="17" y="1"/>
                </a:lnTo>
                <a:lnTo>
                  <a:pt x="16" y="0"/>
                </a:lnTo>
                <a:lnTo>
                  <a:pt x="14" y="0"/>
                </a:lnTo>
                <a:lnTo>
                  <a:pt x="13" y="0"/>
                </a:lnTo>
                <a:lnTo>
                  <a:pt x="12" y="0"/>
                </a:lnTo>
                <a:lnTo>
                  <a:pt x="11" y="0"/>
                </a:lnTo>
                <a:lnTo>
                  <a:pt x="10" y="0"/>
                </a:lnTo>
                <a:lnTo>
                  <a:pt x="9" y="0"/>
                </a:lnTo>
                <a:lnTo>
                  <a:pt x="8" y="0"/>
                </a:lnTo>
                <a:lnTo>
                  <a:pt x="7" y="1"/>
                </a:lnTo>
                <a:lnTo>
                  <a:pt x="6" y="1"/>
                </a:lnTo>
                <a:lnTo>
                  <a:pt x="5" y="2"/>
                </a:lnTo>
                <a:lnTo>
                  <a:pt x="3" y="4"/>
                </a:lnTo>
                <a:lnTo>
                  <a:pt x="3" y="5"/>
                </a:lnTo>
                <a:lnTo>
                  <a:pt x="2" y="6"/>
                </a:lnTo>
                <a:lnTo>
                  <a:pt x="1" y="7"/>
                </a:lnTo>
                <a:lnTo>
                  <a:pt x="1" y="8"/>
                </a:lnTo>
                <a:lnTo>
                  <a:pt x="1" y="9"/>
                </a:lnTo>
                <a:lnTo>
                  <a:pt x="0" y="10"/>
                </a:lnTo>
                <a:lnTo>
                  <a:pt x="0" y="11"/>
                </a:lnTo>
                <a:lnTo>
                  <a:pt x="0" y="12"/>
                </a:lnTo>
                <a:lnTo>
                  <a:pt x="0" y="13"/>
                </a:lnTo>
                <a:lnTo>
                  <a:pt x="0" y="15"/>
                </a:lnTo>
                <a:lnTo>
                  <a:pt x="0" y="17"/>
                </a:lnTo>
                <a:lnTo>
                  <a:pt x="0" y="18"/>
                </a:lnTo>
                <a:lnTo>
                  <a:pt x="0" y="19"/>
                </a:lnTo>
                <a:lnTo>
                  <a:pt x="0" y="20"/>
                </a:lnTo>
                <a:lnTo>
                  <a:pt x="1" y="22"/>
                </a:lnTo>
                <a:lnTo>
                  <a:pt x="1" y="23"/>
                </a:lnTo>
                <a:lnTo>
                  <a:pt x="1" y="24"/>
                </a:lnTo>
                <a:lnTo>
                  <a:pt x="2" y="24"/>
                </a:lnTo>
                <a:lnTo>
                  <a:pt x="3" y="25"/>
                </a:lnTo>
                <a:lnTo>
                  <a:pt x="3" y="27"/>
                </a:lnTo>
                <a:lnTo>
                  <a:pt x="5" y="28"/>
                </a:lnTo>
                <a:lnTo>
                  <a:pt x="6" y="29"/>
                </a:lnTo>
                <a:lnTo>
                  <a:pt x="7" y="29"/>
                </a:lnTo>
                <a:lnTo>
                  <a:pt x="8" y="30"/>
                </a:lnTo>
                <a:lnTo>
                  <a:pt x="9" y="30"/>
                </a:lnTo>
                <a:lnTo>
                  <a:pt x="10" y="30"/>
                </a:lnTo>
                <a:lnTo>
                  <a:pt x="11" y="30"/>
                </a:lnTo>
                <a:lnTo>
                  <a:pt x="12" y="30"/>
                </a:lnTo>
                <a:lnTo>
                  <a:pt x="13" y="30"/>
                </a:lnTo>
                <a:lnTo>
                  <a:pt x="14" y="30"/>
                </a:lnTo>
                <a:lnTo>
                  <a:pt x="16" y="30"/>
                </a:lnTo>
                <a:lnTo>
                  <a:pt x="17" y="29"/>
                </a:lnTo>
                <a:lnTo>
                  <a:pt x="18" y="28"/>
                </a:lnTo>
                <a:lnTo>
                  <a:pt x="19" y="27"/>
                </a:lnTo>
                <a:lnTo>
                  <a:pt x="19" y="25"/>
                </a:lnTo>
                <a:lnTo>
                  <a:pt x="20" y="24"/>
                </a:lnTo>
                <a:lnTo>
                  <a:pt x="21" y="24"/>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87" name="Line 487">
            <a:extLst>
              <a:ext uri="{FF2B5EF4-FFF2-40B4-BE49-F238E27FC236}">
                <a16:creationId xmlns:a16="http://schemas.microsoft.com/office/drawing/2014/main" id="{A9946C0C-698F-B14A-B719-9129FC28EEB6}"/>
              </a:ext>
            </a:extLst>
          </p:cNvPr>
          <p:cNvSpPr>
            <a:spLocks noChangeShapeType="1"/>
          </p:cNvSpPr>
          <p:nvPr/>
        </p:nvSpPr>
        <p:spPr bwMode="auto">
          <a:xfrm>
            <a:off x="2584450" y="4322764"/>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88" name="Line 488">
            <a:extLst>
              <a:ext uri="{FF2B5EF4-FFF2-40B4-BE49-F238E27FC236}">
                <a16:creationId xmlns:a16="http://schemas.microsoft.com/office/drawing/2014/main" id="{101061E9-0BBE-7140-A5F4-DB031280AF61}"/>
              </a:ext>
            </a:extLst>
          </p:cNvPr>
          <p:cNvSpPr>
            <a:spLocks noChangeShapeType="1"/>
          </p:cNvSpPr>
          <p:nvPr/>
        </p:nvSpPr>
        <p:spPr bwMode="auto">
          <a:xfrm>
            <a:off x="2554288" y="4360864"/>
            <a:ext cx="61912"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889" name="Group 489">
            <a:extLst>
              <a:ext uri="{FF2B5EF4-FFF2-40B4-BE49-F238E27FC236}">
                <a16:creationId xmlns:a16="http://schemas.microsoft.com/office/drawing/2014/main" id="{2A66F1CD-72C4-6845-BD18-9A983D11B9A9}"/>
              </a:ext>
            </a:extLst>
          </p:cNvPr>
          <p:cNvGrpSpPr>
            <a:grpSpLocks/>
          </p:cNvGrpSpPr>
          <p:nvPr/>
        </p:nvGrpSpPr>
        <p:grpSpPr bwMode="auto">
          <a:xfrm>
            <a:off x="1941514" y="2728914"/>
            <a:ext cx="325437" cy="339725"/>
            <a:chOff x="263" y="1719"/>
            <a:chExt cx="205" cy="214"/>
          </a:xfrm>
        </p:grpSpPr>
        <p:sp>
          <p:nvSpPr>
            <p:cNvPr id="26193" name="Freeform 490">
              <a:extLst>
                <a:ext uri="{FF2B5EF4-FFF2-40B4-BE49-F238E27FC236}">
                  <a16:creationId xmlns:a16="http://schemas.microsoft.com/office/drawing/2014/main" id="{3643D996-8128-A247-BEF5-C916BC67148F}"/>
                </a:ext>
              </a:extLst>
            </p:cNvPr>
            <p:cNvSpPr>
              <a:spLocks/>
            </p:cNvSpPr>
            <p:nvPr/>
          </p:nvSpPr>
          <p:spPr bwMode="auto">
            <a:xfrm>
              <a:off x="263" y="1719"/>
              <a:ext cx="205" cy="214"/>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94" name="Rectangle 491">
              <a:extLst>
                <a:ext uri="{FF2B5EF4-FFF2-40B4-BE49-F238E27FC236}">
                  <a16:creationId xmlns:a16="http://schemas.microsoft.com/office/drawing/2014/main" id="{0C2C0BE9-F416-A84D-B3A9-8B0DDB608805}"/>
                </a:ext>
              </a:extLst>
            </p:cNvPr>
            <p:cNvSpPr>
              <a:spLocks noChangeArrowheads="1"/>
            </p:cNvSpPr>
            <p:nvPr/>
          </p:nvSpPr>
          <p:spPr bwMode="auto">
            <a:xfrm>
              <a:off x="282" y="1784"/>
              <a:ext cx="170" cy="139"/>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95" name="Rectangle 492">
              <a:extLst>
                <a:ext uri="{FF2B5EF4-FFF2-40B4-BE49-F238E27FC236}">
                  <a16:creationId xmlns:a16="http://schemas.microsoft.com/office/drawing/2014/main" id="{8D8A002A-CE95-CE4A-A312-71FF9F1C5967}"/>
                </a:ext>
              </a:extLst>
            </p:cNvPr>
            <p:cNvSpPr>
              <a:spLocks noChangeArrowheads="1"/>
            </p:cNvSpPr>
            <p:nvPr/>
          </p:nvSpPr>
          <p:spPr bwMode="auto">
            <a:xfrm>
              <a:off x="309" y="1817"/>
              <a:ext cx="60" cy="10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96" name="Rectangle 493">
              <a:extLst>
                <a:ext uri="{FF2B5EF4-FFF2-40B4-BE49-F238E27FC236}">
                  <a16:creationId xmlns:a16="http://schemas.microsoft.com/office/drawing/2014/main" id="{D967690E-0804-654F-A001-EDB2D7172329}"/>
                </a:ext>
              </a:extLst>
            </p:cNvPr>
            <p:cNvSpPr>
              <a:spLocks noChangeArrowheads="1"/>
            </p:cNvSpPr>
            <p:nvPr/>
          </p:nvSpPr>
          <p:spPr bwMode="auto">
            <a:xfrm>
              <a:off x="395" y="1815"/>
              <a:ext cx="40" cy="50"/>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97" name="Freeform 494">
              <a:extLst>
                <a:ext uri="{FF2B5EF4-FFF2-40B4-BE49-F238E27FC236}">
                  <a16:creationId xmlns:a16="http://schemas.microsoft.com/office/drawing/2014/main" id="{1B8611A8-1BFA-964B-9A37-F97F3BBF8528}"/>
                </a:ext>
              </a:extLst>
            </p:cNvPr>
            <p:cNvSpPr>
              <a:spLocks/>
            </p:cNvSpPr>
            <p:nvPr/>
          </p:nvSpPr>
          <p:spPr bwMode="auto">
            <a:xfrm>
              <a:off x="353" y="1866"/>
              <a:ext cx="8" cy="10"/>
            </a:xfrm>
            <a:custGeom>
              <a:avLst/>
              <a:gdLst>
                <a:gd name="T0" fmla="*/ 23 w 23"/>
                <a:gd name="T1" fmla="*/ 14 h 30"/>
                <a:gd name="T2" fmla="*/ 23 w 23"/>
                <a:gd name="T3" fmla="*/ 11 h 30"/>
                <a:gd name="T4" fmla="*/ 21 w 23"/>
                <a:gd name="T5" fmla="*/ 9 h 30"/>
                <a:gd name="T6" fmla="*/ 21 w 23"/>
                <a:gd name="T7" fmla="*/ 7 h 30"/>
                <a:gd name="T8" fmla="*/ 18 w 23"/>
                <a:gd name="T9" fmla="*/ 5 h 30"/>
                <a:gd name="T10" fmla="*/ 17 w 23"/>
                <a:gd name="T11" fmla="*/ 3 h 30"/>
                <a:gd name="T12" fmla="*/ 16 w 23"/>
                <a:gd name="T13" fmla="*/ 1 h 30"/>
                <a:gd name="T14" fmla="*/ 14 w 23"/>
                <a:gd name="T15" fmla="*/ 0 h 30"/>
                <a:gd name="T16" fmla="*/ 12 w 23"/>
                <a:gd name="T17" fmla="*/ 0 h 30"/>
                <a:gd name="T18" fmla="*/ 10 w 23"/>
                <a:gd name="T19" fmla="*/ 0 h 30"/>
                <a:gd name="T20" fmla="*/ 8 w 23"/>
                <a:gd name="T21" fmla="*/ 0 h 30"/>
                <a:gd name="T22" fmla="*/ 6 w 23"/>
                <a:gd name="T23" fmla="*/ 1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4 h 30"/>
                <a:gd name="T44" fmla="*/ 3 w 23"/>
                <a:gd name="T45" fmla="*/ 26 h 30"/>
                <a:gd name="T46" fmla="*/ 4 w 23"/>
                <a:gd name="T47" fmla="*/ 28 h 30"/>
                <a:gd name="T48" fmla="*/ 6 w 23"/>
                <a:gd name="T49" fmla="*/ 29 h 30"/>
                <a:gd name="T50" fmla="*/ 8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19" y="6"/>
                  </a:lnTo>
                  <a:lnTo>
                    <a:pt x="18" y="5"/>
                  </a:lnTo>
                  <a:lnTo>
                    <a:pt x="18" y="4"/>
                  </a:lnTo>
                  <a:lnTo>
                    <a:pt x="17" y="3"/>
                  </a:lnTo>
                  <a:lnTo>
                    <a:pt x="16" y="1"/>
                  </a:lnTo>
                  <a:lnTo>
                    <a:pt x="15" y="0"/>
                  </a:lnTo>
                  <a:lnTo>
                    <a:pt x="14" y="0"/>
                  </a:lnTo>
                  <a:lnTo>
                    <a:pt x="13" y="0"/>
                  </a:lnTo>
                  <a:lnTo>
                    <a:pt x="12" y="0"/>
                  </a:lnTo>
                  <a:lnTo>
                    <a:pt x="11" y="0"/>
                  </a:lnTo>
                  <a:lnTo>
                    <a:pt x="10" y="0"/>
                  </a:lnTo>
                  <a:lnTo>
                    <a:pt x="8" y="0"/>
                  </a:lnTo>
                  <a:lnTo>
                    <a:pt x="7" y="0"/>
                  </a:lnTo>
                  <a:lnTo>
                    <a:pt x="6" y="1"/>
                  </a:lnTo>
                  <a:lnTo>
                    <a:pt x="5" y="1"/>
                  </a:lnTo>
                  <a:lnTo>
                    <a:pt x="4"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4"/>
                  </a:lnTo>
                  <a:lnTo>
                    <a:pt x="2" y="24"/>
                  </a:lnTo>
                  <a:lnTo>
                    <a:pt x="3" y="26"/>
                  </a:lnTo>
                  <a:lnTo>
                    <a:pt x="3" y="27"/>
                  </a:lnTo>
                  <a:lnTo>
                    <a:pt x="4" y="28"/>
                  </a:lnTo>
                  <a:lnTo>
                    <a:pt x="5" y="29"/>
                  </a:lnTo>
                  <a:lnTo>
                    <a:pt x="6" y="29"/>
                  </a:lnTo>
                  <a:lnTo>
                    <a:pt x="7" y="30"/>
                  </a:lnTo>
                  <a:lnTo>
                    <a:pt x="8" y="30"/>
                  </a:lnTo>
                  <a:lnTo>
                    <a:pt x="10" y="30"/>
                  </a:lnTo>
                  <a:lnTo>
                    <a:pt x="11" y="30"/>
                  </a:lnTo>
                  <a:lnTo>
                    <a:pt x="12" y="30"/>
                  </a:lnTo>
                  <a:lnTo>
                    <a:pt x="13" y="30"/>
                  </a:lnTo>
                  <a:lnTo>
                    <a:pt x="14" y="30"/>
                  </a:lnTo>
                  <a:lnTo>
                    <a:pt x="15" y="30"/>
                  </a:lnTo>
                  <a:lnTo>
                    <a:pt x="16" y="29"/>
                  </a:lnTo>
                  <a:lnTo>
                    <a:pt x="17" y="28"/>
                  </a:lnTo>
                  <a:lnTo>
                    <a:pt x="18" y="27"/>
                  </a:lnTo>
                  <a:lnTo>
                    <a:pt x="18" y="26"/>
                  </a:lnTo>
                  <a:lnTo>
                    <a:pt x="19" y="24"/>
                  </a:lnTo>
                  <a:lnTo>
                    <a:pt x="21" y="24"/>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98" name="Line 495">
              <a:extLst>
                <a:ext uri="{FF2B5EF4-FFF2-40B4-BE49-F238E27FC236}">
                  <a16:creationId xmlns:a16="http://schemas.microsoft.com/office/drawing/2014/main" id="{B10CCA88-90CE-CE44-87A5-B514413DBA66}"/>
                </a:ext>
              </a:extLst>
            </p:cNvPr>
            <p:cNvSpPr>
              <a:spLocks noChangeShapeType="1"/>
            </p:cNvSpPr>
            <p:nvPr/>
          </p:nvSpPr>
          <p:spPr bwMode="auto">
            <a:xfrm>
              <a:off x="414" y="1815"/>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199" name="Line 496">
              <a:extLst>
                <a:ext uri="{FF2B5EF4-FFF2-40B4-BE49-F238E27FC236}">
                  <a16:creationId xmlns:a16="http://schemas.microsoft.com/office/drawing/2014/main" id="{60240F55-328B-844F-BB60-D7505A478E2D}"/>
                </a:ext>
              </a:extLst>
            </p:cNvPr>
            <p:cNvSpPr>
              <a:spLocks noChangeShapeType="1"/>
            </p:cNvSpPr>
            <p:nvPr/>
          </p:nvSpPr>
          <p:spPr bwMode="auto">
            <a:xfrm>
              <a:off x="395" y="1839"/>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5890" name="Freeform 497">
            <a:extLst>
              <a:ext uri="{FF2B5EF4-FFF2-40B4-BE49-F238E27FC236}">
                <a16:creationId xmlns:a16="http://schemas.microsoft.com/office/drawing/2014/main" id="{E3222EB4-FA27-0344-BC42-368FCC5A2128}"/>
              </a:ext>
            </a:extLst>
          </p:cNvPr>
          <p:cNvSpPr>
            <a:spLocks/>
          </p:cNvSpPr>
          <p:nvPr/>
        </p:nvSpPr>
        <p:spPr bwMode="auto">
          <a:xfrm>
            <a:off x="3179764" y="4889501"/>
            <a:ext cx="325437" cy="341313"/>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4 h 643"/>
              <a:gd name="T14" fmla="*/ 56 w 614"/>
              <a:gd name="T15" fmla="*/ 614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4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4"/>
                </a:lnTo>
                <a:lnTo>
                  <a:pt x="56" y="614"/>
                </a:lnTo>
                <a:lnTo>
                  <a:pt x="56" y="195"/>
                </a:lnTo>
                <a:lnTo>
                  <a:pt x="558"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91" name="Rectangle 498">
            <a:extLst>
              <a:ext uri="{FF2B5EF4-FFF2-40B4-BE49-F238E27FC236}">
                <a16:creationId xmlns:a16="http://schemas.microsoft.com/office/drawing/2014/main" id="{DAFCBC4F-504B-4441-8C9F-B4E39A7C1490}"/>
              </a:ext>
            </a:extLst>
          </p:cNvPr>
          <p:cNvSpPr>
            <a:spLocks noChangeArrowheads="1"/>
          </p:cNvSpPr>
          <p:nvPr/>
        </p:nvSpPr>
        <p:spPr bwMode="auto">
          <a:xfrm>
            <a:off x="3209925" y="4992688"/>
            <a:ext cx="268288"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92" name="Rectangle 499">
            <a:extLst>
              <a:ext uri="{FF2B5EF4-FFF2-40B4-BE49-F238E27FC236}">
                <a16:creationId xmlns:a16="http://schemas.microsoft.com/office/drawing/2014/main" id="{22DACAE5-2C48-7E4D-AE56-E5955C8BD56F}"/>
              </a:ext>
            </a:extLst>
          </p:cNvPr>
          <p:cNvSpPr>
            <a:spLocks noChangeArrowheads="1"/>
          </p:cNvSpPr>
          <p:nvPr/>
        </p:nvSpPr>
        <p:spPr bwMode="auto">
          <a:xfrm>
            <a:off x="3252788" y="5046664"/>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93" name="Rectangle 500">
            <a:extLst>
              <a:ext uri="{FF2B5EF4-FFF2-40B4-BE49-F238E27FC236}">
                <a16:creationId xmlns:a16="http://schemas.microsoft.com/office/drawing/2014/main" id="{B3EE9A18-892C-464C-BACA-4B006EDFE71E}"/>
              </a:ext>
            </a:extLst>
          </p:cNvPr>
          <p:cNvSpPr>
            <a:spLocks noChangeArrowheads="1"/>
          </p:cNvSpPr>
          <p:nvPr/>
        </p:nvSpPr>
        <p:spPr bwMode="auto">
          <a:xfrm>
            <a:off x="3387725" y="5041901"/>
            <a:ext cx="65088"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94" name="Freeform 501">
            <a:extLst>
              <a:ext uri="{FF2B5EF4-FFF2-40B4-BE49-F238E27FC236}">
                <a16:creationId xmlns:a16="http://schemas.microsoft.com/office/drawing/2014/main" id="{A12B4BD1-B492-A643-B75F-40C906029F19}"/>
              </a:ext>
            </a:extLst>
          </p:cNvPr>
          <p:cNvSpPr>
            <a:spLocks/>
          </p:cNvSpPr>
          <p:nvPr/>
        </p:nvSpPr>
        <p:spPr bwMode="auto">
          <a:xfrm>
            <a:off x="3322638" y="5122864"/>
            <a:ext cx="11112" cy="15875"/>
          </a:xfrm>
          <a:custGeom>
            <a:avLst/>
            <a:gdLst>
              <a:gd name="T0" fmla="*/ 23 w 23"/>
              <a:gd name="T1" fmla="*/ 13 h 30"/>
              <a:gd name="T2" fmla="*/ 23 w 23"/>
              <a:gd name="T3" fmla="*/ 11 h 30"/>
              <a:gd name="T4" fmla="*/ 21 w 23"/>
              <a:gd name="T5" fmla="*/ 9 h 30"/>
              <a:gd name="T6" fmla="*/ 21 w 23"/>
              <a:gd name="T7" fmla="*/ 7 h 30"/>
              <a:gd name="T8" fmla="*/ 18 w 23"/>
              <a:gd name="T9" fmla="*/ 4 h 30"/>
              <a:gd name="T10" fmla="*/ 17 w 23"/>
              <a:gd name="T11" fmla="*/ 2 h 30"/>
              <a:gd name="T12" fmla="*/ 16 w 23"/>
              <a:gd name="T13" fmla="*/ 1 h 30"/>
              <a:gd name="T14" fmla="*/ 14 w 23"/>
              <a:gd name="T15" fmla="*/ 0 h 30"/>
              <a:gd name="T16" fmla="*/ 12 w 23"/>
              <a:gd name="T17" fmla="*/ 0 h 30"/>
              <a:gd name="T18" fmla="*/ 10 w 23"/>
              <a:gd name="T19" fmla="*/ 0 h 30"/>
              <a:gd name="T20" fmla="*/ 8 w 23"/>
              <a:gd name="T21" fmla="*/ 0 h 30"/>
              <a:gd name="T22" fmla="*/ 6 w 23"/>
              <a:gd name="T23" fmla="*/ 1 h 30"/>
              <a:gd name="T24" fmla="*/ 4 w 23"/>
              <a:gd name="T25" fmla="*/ 2 h 30"/>
              <a:gd name="T26" fmla="*/ 3 w 23"/>
              <a:gd name="T27" fmla="*/ 4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5 h 30"/>
              <a:gd name="T46" fmla="*/ 4 w 23"/>
              <a:gd name="T47" fmla="*/ 28 h 30"/>
              <a:gd name="T48" fmla="*/ 6 w 23"/>
              <a:gd name="T49" fmla="*/ 29 h 30"/>
              <a:gd name="T50" fmla="*/ 8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19" y="6"/>
                </a:lnTo>
                <a:lnTo>
                  <a:pt x="18" y="4"/>
                </a:lnTo>
                <a:lnTo>
                  <a:pt x="18" y="3"/>
                </a:lnTo>
                <a:lnTo>
                  <a:pt x="17" y="2"/>
                </a:lnTo>
                <a:lnTo>
                  <a:pt x="16" y="1"/>
                </a:lnTo>
                <a:lnTo>
                  <a:pt x="15" y="0"/>
                </a:lnTo>
                <a:lnTo>
                  <a:pt x="14" y="0"/>
                </a:lnTo>
                <a:lnTo>
                  <a:pt x="13" y="0"/>
                </a:lnTo>
                <a:lnTo>
                  <a:pt x="12" y="0"/>
                </a:lnTo>
                <a:lnTo>
                  <a:pt x="11" y="0"/>
                </a:lnTo>
                <a:lnTo>
                  <a:pt x="10" y="0"/>
                </a:lnTo>
                <a:lnTo>
                  <a:pt x="8" y="0"/>
                </a:lnTo>
                <a:lnTo>
                  <a:pt x="7" y="0"/>
                </a:lnTo>
                <a:lnTo>
                  <a:pt x="6" y="1"/>
                </a:lnTo>
                <a:lnTo>
                  <a:pt x="5" y="1"/>
                </a:lnTo>
                <a:lnTo>
                  <a:pt x="4" y="2"/>
                </a:lnTo>
                <a:lnTo>
                  <a:pt x="3" y="3"/>
                </a:lnTo>
                <a:lnTo>
                  <a:pt x="3" y="4"/>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3" y="25"/>
                </a:lnTo>
                <a:lnTo>
                  <a:pt x="3" y="26"/>
                </a:lnTo>
                <a:lnTo>
                  <a:pt x="4" y="28"/>
                </a:lnTo>
                <a:lnTo>
                  <a:pt x="5" y="29"/>
                </a:lnTo>
                <a:lnTo>
                  <a:pt x="6" y="29"/>
                </a:lnTo>
                <a:lnTo>
                  <a:pt x="7" y="30"/>
                </a:lnTo>
                <a:lnTo>
                  <a:pt x="8" y="30"/>
                </a:lnTo>
                <a:lnTo>
                  <a:pt x="10" y="30"/>
                </a:lnTo>
                <a:lnTo>
                  <a:pt x="11" y="30"/>
                </a:lnTo>
                <a:lnTo>
                  <a:pt x="12" y="30"/>
                </a:lnTo>
                <a:lnTo>
                  <a:pt x="13" y="30"/>
                </a:lnTo>
                <a:lnTo>
                  <a:pt x="14" y="30"/>
                </a:lnTo>
                <a:lnTo>
                  <a:pt x="15" y="30"/>
                </a:lnTo>
                <a:lnTo>
                  <a:pt x="16" y="29"/>
                </a:lnTo>
                <a:lnTo>
                  <a:pt x="17" y="28"/>
                </a:lnTo>
                <a:lnTo>
                  <a:pt x="18" y="26"/>
                </a:lnTo>
                <a:lnTo>
                  <a:pt x="18" y="25"/>
                </a:lnTo>
                <a:lnTo>
                  <a:pt x="19"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95" name="Line 502">
            <a:extLst>
              <a:ext uri="{FF2B5EF4-FFF2-40B4-BE49-F238E27FC236}">
                <a16:creationId xmlns:a16="http://schemas.microsoft.com/office/drawing/2014/main" id="{F2E1A701-7593-C04C-93C2-4FC9C8FB814A}"/>
              </a:ext>
            </a:extLst>
          </p:cNvPr>
          <p:cNvSpPr>
            <a:spLocks noChangeShapeType="1"/>
          </p:cNvSpPr>
          <p:nvPr/>
        </p:nvSpPr>
        <p:spPr bwMode="auto">
          <a:xfrm>
            <a:off x="3419475" y="5043489"/>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96" name="Line 503">
            <a:extLst>
              <a:ext uri="{FF2B5EF4-FFF2-40B4-BE49-F238E27FC236}">
                <a16:creationId xmlns:a16="http://schemas.microsoft.com/office/drawing/2014/main" id="{734AE4A4-44E7-7D49-9825-B1A000453764}"/>
              </a:ext>
            </a:extLst>
          </p:cNvPr>
          <p:cNvSpPr>
            <a:spLocks noChangeShapeType="1"/>
          </p:cNvSpPr>
          <p:nvPr/>
        </p:nvSpPr>
        <p:spPr bwMode="auto">
          <a:xfrm>
            <a:off x="3387725" y="5080000"/>
            <a:ext cx="63500"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97" name="Freeform 504">
            <a:extLst>
              <a:ext uri="{FF2B5EF4-FFF2-40B4-BE49-F238E27FC236}">
                <a16:creationId xmlns:a16="http://schemas.microsoft.com/office/drawing/2014/main" id="{DC0F9C4D-5F91-CA44-81BA-2F86AEB6E4F5}"/>
              </a:ext>
            </a:extLst>
          </p:cNvPr>
          <p:cNvSpPr>
            <a:spLocks/>
          </p:cNvSpPr>
          <p:nvPr/>
        </p:nvSpPr>
        <p:spPr bwMode="auto">
          <a:xfrm>
            <a:off x="3444875" y="1350963"/>
            <a:ext cx="325438" cy="341312"/>
          </a:xfrm>
          <a:custGeom>
            <a:avLst/>
            <a:gdLst>
              <a:gd name="T0" fmla="*/ 56 w 615"/>
              <a:gd name="T1" fmla="*/ 195 h 643"/>
              <a:gd name="T2" fmla="*/ 0 w 615"/>
              <a:gd name="T3" fmla="*/ 195 h 643"/>
              <a:gd name="T4" fmla="*/ 308 w 615"/>
              <a:gd name="T5" fmla="*/ 0 h 643"/>
              <a:gd name="T6" fmla="*/ 615 w 615"/>
              <a:gd name="T7" fmla="*/ 195 h 643"/>
              <a:gd name="T8" fmla="*/ 587 w 615"/>
              <a:gd name="T9" fmla="*/ 195 h 643"/>
              <a:gd name="T10" fmla="*/ 559 w 615"/>
              <a:gd name="T11" fmla="*/ 195 h 643"/>
              <a:gd name="T12" fmla="*/ 559 w 615"/>
              <a:gd name="T13" fmla="*/ 615 h 643"/>
              <a:gd name="T14" fmla="*/ 56 w 615"/>
              <a:gd name="T15" fmla="*/ 615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5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8" y="0"/>
                </a:lnTo>
                <a:lnTo>
                  <a:pt x="615" y="195"/>
                </a:lnTo>
                <a:lnTo>
                  <a:pt x="587" y="195"/>
                </a:lnTo>
                <a:lnTo>
                  <a:pt x="559" y="195"/>
                </a:lnTo>
                <a:lnTo>
                  <a:pt x="559" y="615"/>
                </a:lnTo>
                <a:lnTo>
                  <a:pt x="56" y="615"/>
                </a:lnTo>
                <a:lnTo>
                  <a:pt x="56" y="195"/>
                </a:lnTo>
                <a:lnTo>
                  <a:pt x="559" y="195"/>
                </a:lnTo>
                <a:lnTo>
                  <a:pt x="587" y="195"/>
                </a:lnTo>
                <a:lnTo>
                  <a:pt x="587" y="643"/>
                </a:lnTo>
                <a:lnTo>
                  <a:pt x="56" y="643"/>
                </a:lnTo>
                <a:lnTo>
                  <a:pt x="56" y="615"/>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98" name="Rectangle 505">
            <a:extLst>
              <a:ext uri="{FF2B5EF4-FFF2-40B4-BE49-F238E27FC236}">
                <a16:creationId xmlns:a16="http://schemas.microsoft.com/office/drawing/2014/main" id="{560A0C18-84C8-F648-84F4-265D9D2FB705}"/>
              </a:ext>
            </a:extLst>
          </p:cNvPr>
          <p:cNvSpPr>
            <a:spLocks noChangeArrowheads="1"/>
          </p:cNvSpPr>
          <p:nvPr/>
        </p:nvSpPr>
        <p:spPr bwMode="auto">
          <a:xfrm>
            <a:off x="3475039" y="1454150"/>
            <a:ext cx="269875"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899" name="Rectangle 506">
            <a:extLst>
              <a:ext uri="{FF2B5EF4-FFF2-40B4-BE49-F238E27FC236}">
                <a16:creationId xmlns:a16="http://schemas.microsoft.com/office/drawing/2014/main" id="{B2F92B3D-4FCA-2949-AAF3-11A20A50AA73}"/>
              </a:ext>
            </a:extLst>
          </p:cNvPr>
          <p:cNvSpPr>
            <a:spLocks noChangeArrowheads="1"/>
          </p:cNvSpPr>
          <p:nvPr/>
        </p:nvSpPr>
        <p:spPr bwMode="auto">
          <a:xfrm>
            <a:off x="3519488" y="1508125"/>
            <a:ext cx="93662"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00" name="Rectangle 507">
            <a:extLst>
              <a:ext uri="{FF2B5EF4-FFF2-40B4-BE49-F238E27FC236}">
                <a16:creationId xmlns:a16="http://schemas.microsoft.com/office/drawing/2014/main" id="{4F59D69A-167D-2243-B0C4-B8C859DDC293}"/>
              </a:ext>
            </a:extLst>
          </p:cNvPr>
          <p:cNvSpPr>
            <a:spLocks noChangeArrowheads="1"/>
          </p:cNvSpPr>
          <p:nvPr/>
        </p:nvSpPr>
        <p:spPr bwMode="auto">
          <a:xfrm>
            <a:off x="3654425" y="1503363"/>
            <a:ext cx="63500" cy="80962"/>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01" name="Freeform 508">
            <a:extLst>
              <a:ext uri="{FF2B5EF4-FFF2-40B4-BE49-F238E27FC236}">
                <a16:creationId xmlns:a16="http://schemas.microsoft.com/office/drawing/2014/main" id="{26A5AE66-CBD4-BB4B-9DFC-1202E02F2083}"/>
              </a:ext>
            </a:extLst>
          </p:cNvPr>
          <p:cNvSpPr>
            <a:spLocks/>
          </p:cNvSpPr>
          <p:nvPr/>
        </p:nvSpPr>
        <p:spPr bwMode="auto">
          <a:xfrm>
            <a:off x="3587750" y="1584326"/>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5 h 30"/>
              <a:gd name="T10" fmla="*/ 18 w 23"/>
              <a:gd name="T11" fmla="*/ 2 h 30"/>
              <a:gd name="T12" fmla="*/ 17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3 w 23"/>
              <a:gd name="T27" fmla="*/ 5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6 h 30"/>
              <a:gd name="T46" fmla="*/ 5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8 h 30"/>
              <a:gd name="T62" fmla="*/ 19 w 23"/>
              <a:gd name="T63" fmla="*/ 26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3"/>
                </a:lnTo>
                <a:lnTo>
                  <a:pt x="23" y="12"/>
                </a:lnTo>
                <a:lnTo>
                  <a:pt x="23" y="11"/>
                </a:lnTo>
                <a:lnTo>
                  <a:pt x="22" y="10"/>
                </a:lnTo>
                <a:lnTo>
                  <a:pt x="21" y="9"/>
                </a:lnTo>
                <a:lnTo>
                  <a:pt x="21" y="8"/>
                </a:lnTo>
                <a:lnTo>
                  <a:pt x="21" y="7"/>
                </a:lnTo>
                <a:lnTo>
                  <a:pt x="20" y="6"/>
                </a:lnTo>
                <a:lnTo>
                  <a:pt x="19" y="5"/>
                </a:lnTo>
                <a:lnTo>
                  <a:pt x="19" y="4"/>
                </a:lnTo>
                <a:lnTo>
                  <a:pt x="18" y="2"/>
                </a:lnTo>
                <a:lnTo>
                  <a:pt x="17" y="1"/>
                </a:lnTo>
                <a:lnTo>
                  <a:pt x="15" y="0"/>
                </a:lnTo>
                <a:lnTo>
                  <a:pt x="14" y="0"/>
                </a:lnTo>
                <a:lnTo>
                  <a:pt x="13" y="0"/>
                </a:lnTo>
                <a:lnTo>
                  <a:pt x="12" y="0"/>
                </a:lnTo>
                <a:lnTo>
                  <a:pt x="11" y="0"/>
                </a:lnTo>
                <a:lnTo>
                  <a:pt x="10" y="0"/>
                </a:lnTo>
                <a:lnTo>
                  <a:pt x="9" y="0"/>
                </a:lnTo>
                <a:lnTo>
                  <a:pt x="8" y="0"/>
                </a:lnTo>
                <a:lnTo>
                  <a:pt x="7" y="1"/>
                </a:lnTo>
                <a:lnTo>
                  <a:pt x="6" y="1"/>
                </a:lnTo>
                <a:lnTo>
                  <a:pt x="5" y="2"/>
                </a:lnTo>
                <a:lnTo>
                  <a:pt x="3" y="4"/>
                </a:lnTo>
                <a:lnTo>
                  <a:pt x="3" y="5"/>
                </a:lnTo>
                <a:lnTo>
                  <a:pt x="2" y="6"/>
                </a:lnTo>
                <a:lnTo>
                  <a:pt x="1" y="7"/>
                </a:lnTo>
                <a:lnTo>
                  <a:pt x="1" y="8"/>
                </a:lnTo>
                <a:lnTo>
                  <a:pt x="1" y="9"/>
                </a:lnTo>
                <a:lnTo>
                  <a:pt x="0" y="10"/>
                </a:lnTo>
                <a:lnTo>
                  <a:pt x="0" y="11"/>
                </a:lnTo>
                <a:lnTo>
                  <a:pt x="0" y="12"/>
                </a:lnTo>
                <a:lnTo>
                  <a:pt x="0" y="13"/>
                </a:lnTo>
                <a:lnTo>
                  <a:pt x="0" y="15"/>
                </a:lnTo>
                <a:lnTo>
                  <a:pt x="0" y="17"/>
                </a:lnTo>
                <a:lnTo>
                  <a:pt x="0" y="18"/>
                </a:lnTo>
                <a:lnTo>
                  <a:pt x="0" y="19"/>
                </a:lnTo>
                <a:lnTo>
                  <a:pt x="0" y="20"/>
                </a:lnTo>
                <a:lnTo>
                  <a:pt x="1" y="22"/>
                </a:lnTo>
                <a:lnTo>
                  <a:pt x="1" y="23"/>
                </a:lnTo>
                <a:lnTo>
                  <a:pt x="1" y="24"/>
                </a:lnTo>
                <a:lnTo>
                  <a:pt x="2" y="24"/>
                </a:lnTo>
                <a:lnTo>
                  <a:pt x="3" y="26"/>
                </a:lnTo>
                <a:lnTo>
                  <a:pt x="3" y="27"/>
                </a:lnTo>
                <a:lnTo>
                  <a:pt x="5" y="28"/>
                </a:lnTo>
                <a:lnTo>
                  <a:pt x="6" y="29"/>
                </a:lnTo>
                <a:lnTo>
                  <a:pt x="7" y="29"/>
                </a:lnTo>
                <a:lnTo>
                  <a:pt x="8" y="30"/>
                </a:lnTo>
                <a:lnTo>
                  <a:pt x="9" y="30"/>
                </a:lnTo>
                <a:lnTo>
                  <a:pt x="10" y="30"/>
                </a:lnTo>
                <a:lnTo>
                  <a:pt x="11" y="30"/>
                </a:lnTo>
                <a:lnTo>
                  <a:pt x="12" y="30"/>
                </a:lnTo>
                <a:lnTo>
                  <a:pt x="13" y="30"/>
                </a:lnTo>
                <a:lnTo>
                  <a:pt x="14" y="30"/>
                </a:lnTo>
                <a:lnTo>
                  <a:pt x="15" y="30"/>
                </a:lnTo>
                <a:lnTo>
                  <a:pt x="17" y="29"/>
                </a:lnTo>
                <a:lnTo>
                  <a:pt x="18" y="28"/>
                </a:lnTo>
                <a:lnTo>
                  <a:pt x="19" y="27"/>
                </a:lnTo>
                <a:lnTo>
                  <a:pt x="19" y="26"/>
                </a:lnTo>
                <a:lnTo>
                  <a:pt x="20" y="24"/>
                </a:lnTo>
                <a:lnTo>
                  <a:pt x="21" y="24"/>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02" name="Line 509">
            <a:extLst>
              <a:ext uri="{FF2B5EF4-FFF2-40B4-BE49-F238E27FC236}">
                <a16:creationId xmlns:a16="http://schemas.microsoft.com/office/drawing/2014/main" id="{5D1F8537-1AFD-CE4B-A9DD-5C9C8740CDC6}"/>
              </a:ext>
            </a:extLst>
          </p:cNvPr>
          <p:cNvSpPr>
            <a:spLocks noChangeShapeType="1"/>
          </p:cNvSpPr>
          <p:nvPr/>
        </p:nvSpPr>
        <p:spPr bwMode="auto">
          <a:xfrm>
            <a:off x="3684589" y="1504951"/>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03" name="Line 510">
            <a:extLst>
              <a:ext uri="{FF2B5EF4-FFF2-40B4-BE49-F238E27FC236}">
                <a16:creationId xmlns:a16="http://schemas.microsoft.com/office/drawing/2014/main" id="{49319CD1-8D88-9E4B-802E-2E19C3C00A5A}"/>
              </a:ext>
            </a:extLst>
          </p:cNvPr>
          <p:cNvSpPr>
            <a:spLocks noChangeShapeType="1"/>
          </p:cNvSpPr>
          <p:nvPr/>
        </p:nvSpPr>
        <p:spPr bwMode="auto">
          <a:xfrm>
            <a:off x="3654426" y="1541464"/>
            <a:ext cx="61913"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04" name="Freeform 511">
            <a:extLst>
              <a:ext uri="{FF2B5EF4-FFF2-40B4-BE49-F238E27FC236}">
                <a16:creationId xmlns:a16="http://schemas.microsoft.com/office/drawing/2014/main" id="{6087BFB0-9ACE-3543-95E8-87D64D88F236}"/>
              </a:ext>
            </a:extLst>
          </p:cNvPr>
          <p:cNvSpPr>
            <a:spLocks/>
          </p:cNvSpPr>
          <p:nvPr/>
        </p:nvSpPr>
        <p:spPr bwMode="auto">
          <a:xfrm>
            <a:off x="3938588" y="1781176"/>
            <a:ext cx="323850" cy="339725"/>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5 h 643"/>
              <a:gd name="T14" fmla="*/ 56 w 614"/>
              <a:gd name="T15" fmla="*/ 615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5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5"/>
                </a:lnTo>
                <a:lnTo>
                  <a:pt x="56" y="615"/>
                </a:lnTo>
                <a:lnTo>
                  <a:pt x="56" y="195"/>
                </a:lnTo>
                <a:lnTo>
                  <a:pt x="558" y="195"/>
                </a:lnTo>
                <a:lnTo>
                  <a:pt x="587" y="195"/>
                </a:lnTo>
                <a:lnTo>
                  <a:pt x="587" y="643"/>
                </a:lnTo>
                <a:lnTo>
                  <a:pt x="56" y="643"/>
                </a:lnTo>
                <a:lnTo>
                  <a:pt x="56" y="615"/>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05" name="Rectangle 512">
            <a:extLst>
              <a:ext uri="{FF2B5EF4-FFF2-40B4-BE49-F238E27FC236}">
                <a16:creationId xmlns:a16="http://schemas.microsoft.com/office/drawing/2014/main" id="{A6EFE60F-D8E5-184C-858A-ACA477D0920E}"/>
              </a:ext>
            </a:extLst>
          </p:cNvPr>
          <p:cNvSpPr>
            <a:spLocks noChangeArrowheads="1"/>
          </p:cNvSpPr>
          <p:nvPr/>
        </p:nvSpPr>
        <p:spPr bwMode="auto">
          <a:xfrm>
            <a:off x="3968750" y="1884363"/>
            <a:ext cx="268288" cy="220662"/>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06" name="Rectangle 513">
            <a:extLst>
              <a:ext uri="{FF2B5EF4-FFF2-40B4-BE49-F238E27FC236}">
                <a16:creationId xmlns:a16="http://schemas.microsoft.com/office/drawing/2014/main" id="{1CAE9F78-3802-4C4C-938C-9AD109AA5997}"/>
              </a:ext>
            </a:extLst>
          </p:cNvPr>
          <p:cNvSpPr>
            <a:spLocks noChangeArrowheads="1"/>
          </p:cNvSpPr>
          <p:nvPr/>
        </p:nvSpPr>
        <p:spPr bwMode="auto">
          <a:xfrm>
            <a:off x="4011613" y="1936750"/>
            <a:ext cx="93662"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07" name="Rectangle 514">
            <a:extLst>
              <a:ext uri="{FF2B5EF4-FFF2-40B4-BE49-F238E27FC236}">
                <a16:creationId xmlns:a16="http://schemas.microsoft.com/office/drawing/2014/main" id="{EC00862A-FAEE-1A48-ABB1-E3C375FF8774}"/>
              </a:ext>
            </a:extLst>
          </p:cNvPr>
          <p:cNvSpPr>
            <a:spLocks noChangeArrowheads="1"/>
          </p:cNvSpPr>
          <p:nvPr/>
        </p:nvSpPr>
        <p:spPr bwMode="auto">
          <a:xfrm>
            <a:off x="4146550" y="1933576"/>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08" name="Freeform 515">
            <a:extLst>
              <a:ext uri="{FF2B5EF4-FFF2-40B4-BE49-F238E27FC236}">
                <a16:creationId xmlns:a16="http://schemas.microsoft.com/office/drawing/2014/main" id="{9EFAA6D2-A663-3D4D-AFEB-66E415F77426}"/>
              </a:ext>
            </a:extLst>
          </p:cNvPr>
          <p:cNvSpPr>
            <a:spLocks/>
          </p:cNvSpPr>
          <p:nvPr/>
        </p:nvSpPr>
        <p:spPr bwMode="auto">
          <a:xfrm>
            <a:off x="4079875" y="2014539"/>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5 h 30"/>
              <a:gd name="T10" fmla="*/ 18 w 23"/>
              <a:gd name="T11" fmla="*/ 2 h 30"/>
              <a:gd name="T12" fmla="*/ 17 w 23"/>
              <a:gd name="T13" fmla="*/ 1 h 30"/>
              <a:gd name="T14" fmla="*/ 15 w 23"/>
              <a:gd name="T15" fmla="*/ 0 h 30"/>
              <a:gd name="T16" fmla="*/ 13 w 23"/>
              <a:gd name="T17" fmla="*/ 0 h 30"/>
              <a:gd name="T18" fmla="*/ 10 w 23"/>
              <a:gd name="T19" fmla="*/ 0 h 30"/>
              <a:gd name="T20" fmla="*/ 9 w 23"/>
              <a:gd name="T21" fmla="*/ 0 h 30"/>
              <a:gd name="T22" fmla="*/ 7 w 23"/>
              <a:gd name="T23" fmla="*/ 1 h 30"/>
              <a:gd name="T24" fmla="*/ 5 w 23"/>
              <a:gd name="T25" fmla="*/ 2 h 30"/>
              <a:gd name="T26" fmla="*/ 4 w 23"/>
              <a:gd name="T27" fmla="*/ 5 h 30"/>
              <a:gd name="T28" fmla="*/ 2 w 23"/>
              <a:gd name="T29" fmla="*/ 7 h 30"/>
              <a:gd name="T30" fmla="*/ 2 w 23"/>
              <a:gd name="T31" fmla="*/ 9 h 30"/>
              <a:gd name="T32" fmla="*/ 0 w 23"/>
              <a:gd name="T33" fmla="*/ 11 h 30"/>
              <a:gd name="T34" fmla="*/ 0 w 23"/>
              <a:gd name="T35" fmla="*/ 13 h 30"/>
              <a:gd name="T36" fmla="*/ 0 w 23"/>
              <a:gd name="T37" fmla="*/ 17 h 30"/>
              <a:gd name="T38" fmla="*/ 0 w 23"/>
              <a:gd name="T39" fmla="*/ 19 h 30"/>
              <a:gd name="T40" fmla="*/ 2 w 23"/>
              <a:gd name="T41" fmla="*/ 22 h 30"/>
              <a:gd name="T42" fmla="*/ 2 w 23"/>
              <a:gd name="T43" fmla="*/ 24 h 30"/>
              <a:gd name="T44" fmla="*/ 4 w 23"/>
              <a:gd name="T45" fmla="*/ 26 h 30"/>
              <a:gd name="T46" fmla="*/ 5 w 23"/>
              <a:gd name="T47" fmla="*/ 28 h 30"/>
              <a:gd name="T48" fmla="*/ 7 w 23"/>
              <a:gd name="T49" fmla="*/ 29 h 30"/>
              <a:gd name="T50" fmla="*/ 9 w 23"/>
              <a:gd name="T51" fmla="*/ 30 h 30"/>
              <a:gd name="T52" fmla="*/ 10 w 23"/>
              <a:gd name="T53" fmla="*/ 30 h 30"/>
              <a:gd name="T54" fmla="*/ 13 w 23"/>
              <a:gd name="T55" fmla="*/ 30 h 30"/>
              <a:gd name="T56" fmla="*/ 15 w 23"/>
              <a:gd name="T57" fmla="*/ 30 h 30"/>
              <a:gd name="T58" fmla="*/ 17 w 23"/>
              <a:gd name="T59" fmla="*/ 29 h 30"/>
              <a:gd name="T60" fmla="*/ 18 w 23"/>
              <a:gd name="T61" fmla="*/ 28 h 30"/>
              <a:gd name="T62" fmla="*/ 19 w 23"/>
              <a:gd name="T63" fmla="*/ 26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3"/>
                </a:lnTo>
                <a:lnTo>
                  <a:pt x="23" y="12"/>
                </a:lnTo>
                <a:lnTo>
                  <a:pt x="23" y="11"/>
                </a:lnTo>
                <a:lnTo>
                  <a:pt x="22" y="10"/>
                </a:lnTo>
                <a:lnTo>
                  <a:pt x="21" y="9"/>
                </a:lnTo>
                <a:lnTo>
                  <a:pt x="21" y="8"/>
                </a:lnTo>
                <a:lnTo>
                  <a:pt x="21" y="7"/>
                </a:lnTo>
                <a:lnTo>
                  <a:pt x="20" y="6"/>
                </a:lnTo>
                <a:lnTo>
                  <a:pt x="19" y="5"/>
                </a:lnTo>
                <a:lnTo>
                  <a:pt x="19" y="4"/>
                </a:lnTo>
                <a:lnTo>
                  <a:pt x="18" y="2"/>
                </a:lnTo>
                <a:lnTo>
                  <a:pt x="17" y="1"/>
                </a:lnTo>
                <a:lnTo>
                  <a:pt x="16" y="0"/>
                </a:lnTo>
                <a:lnTo>
                  <a:pt x="15" y="0"/>
                </a:lnTo>
                <a:lnTo>
                  <a:pt x="14" y="0"/>
                </a:lnTo>
                <a:lnTo>
                  <a:pt x="13" y="0"/>
                </a:lnTo>
                <a:lnTo>
                  <a:pt x="11" y="0"/>
                </a:lnTo>
                <a:lnTo>
                  <a:pt x="10" y="0"/>
                </a:lnTo>
                <a:lnTo>
                  <a:pt x="9" y="0"/>
                </a:lnTo>
                <a:lnTo>
                  <a:pt x="8" y="0"/>
                </a:lnTo>
                <a:lnTo>
                  <a:pt x="7" y="1"/>
                </a:lnTo>
                <a:lnTo>
                  <a:pt x="6" y="1"/>
                </a:lnTo>
                <a:lnTo>
                  <a:pt x="5" y="2"/>
                </a:lnTo>
                <a:lnTo>
                  <a:pt x="4" y="4"/>
                </a:lnTo>
                <a:lnTo>
                  <a:pt x="4" y="5"/>
                </a:lnTo>
                <a:lnTo>
                  <a:pt x="3" y="6"/>
                </a:lnTo>
                <a:lnTo>
                  <a:pt x="2" y="7"/>
                </a:lnTo>
                <a:lnTo>
                  <a:pt x="2" y="8"/>
                </a:lnTo>
                <a:lnTo>
                  <a:pt x="2" y="9"/>
                </a:lnTo>
                <a:lnTo>
                  <a:pt x="0" y="10"/>
                </a:lnTo>
                <a:lnTo>
                  <a:pt x="0" y="11"/>
                </a:lnTo>
                <a:lnTo>
                  <a:pt x="0" y="12"/>
                </a:lnTo>
                <a:lnTo>
                  <a:pt x="0" y="13"/>
                </a:lnTo>
                <a:lnTo>
                  <a:pt x="0" y="15"/>
                </a:lnTo>
                <a:lnTo>
                  <a:pt x="0" y="17"/>
                </a:lnTo>
                <a:lnTo>
                  <a:pt x="0" y="18"/>
                </a:lnTo>
                <a:lnTo>
                  <a:pt x="0" y="19"/>
                </a:lnTo>
                <a:lnTo>
                  <a:pt x="0" y="20"/>
                </a:lnTo>
                <a:lnTo>
                  <a:pt x="2" y="22"/>
                </a:lnTo>
                <a:lnTo>
                  <a:pt x="2" y="23"/>
                </a:lnTo>
                <a:lnTo>
                  <a:pt x="2" y="24"/>
                </a:lnTo>
                <a:lnTo>
                  <a:pt x="3" y="24"/>
                </a:lnTo>
                <a:lnTo>
                  <a:pt x="4" y="26"/>
                </a:lnTo>
                <a:lnTo>
                  <a:pt x="4" y="27"/>
                </a:lnTo>
                <a:lnTo>
                  <a:pt x="5" y="28"/>
                </a:lnTo>
                <a:lnTo>
                  <a:pt x="6" y="29"/>
                </a:lnTo>
                <a:lnTo>
                  <a:pt x="7" y="29"/>
                </a:lnTo>
                <a:lnTo>
                  <a:pt x="8" y="30"/>
                </a:lnTo>
                <a:lnTo>
                  <a:pt x="9" y="30"/>
                </a:lnTo>
                <a:lnTo>
                  <a:pt x="10" y="30"/>
                </a:lnTo>
                <a:lnTo>
                  <a:pt x="11" y="30"/>
                </a:lnTo>
                <a:lnTo>
                  <a:pt x="13" y="30"/>
                </a:lnTo>
                <a:lnTo>
                  <a:pt x="14" y="30"/>
                </a:lnTo>
                <a:lnTo>
                  <a:pt x="15" y="30"/>
                </a:lnTo>
                <a:lnTo>
                  <a:pt x="16" y="30"/>
                </a:lnTo>
                <a:lnTo>
                  <a:pt x="17" y="29"/>
                </a:lnTo>
                <a:lnTo>
                  <a:pt x="18" y="28"/>
                </a:lnTo>
                <a:lnTo>
                  <a:pt x="19" y="27"/>
                </a:lnTo>
                <a:lnTo>
                  <a:pt x="19" y="26"/>
                </a:lnTo>
                <a:lnTo>
                  <a:pt x="20" y="24"/>
                </a:lnTo>
                <a:lnTo>
                  <a:pt x="21" y="24"/>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09" name="Line 516">
            <a:extLst>
              <a:ext uri="{FF2B5EF4-FFF2-40B4-BE49-F238E27FC236}">
                <a16:creationId xmlns:a16="http://schemas.microsoft.com/office/drawing/2014/main" id="{B6B50D5B-E919-744E-9C41-87AB1DA94056}"/>
              </a:ext>
            </a:extLst>
          </p:cNvPr>
          <p:cNvSpPr>
            <a:spLocks noChangeShapeType="1"/>
          </p:cNvSpPr>
          <p:nvPr/>
        </p:nvSpPr>
        <p:spPr bwMode="auto">
          <a:xfrm>
            <a:off x="4178300" y="1933576"/>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10" name="Line 517">
            <a:extLst>
              <a:ext uri="{FF2B5EF4-FFF2-40B4-BE49-F238E27FC236}">
                <a16:creationId xmlns:a16="http://schemas.microsoft.com/office/drawing/2014/main" id="{88C2AEE8-4803-A541-9AD3-D088966BBD62}"/>
              </a:ext>
            </a:extLst>
          </p:cNvPr>
          <p:cNvSpPr>
            <a:spLocks noChangeShapeType="1"/>
          </p:cNvSpPr>
          <p:nvPr/>
        </p:nvSpPr>
        <p:spPr bwMode="auto">
          <a:xfrm>
            <a:off x="4146551" y="1971675"/>
            <a:ext cx="61913"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11" name="Freeform 518">
            <a:extLst>
              <a:ext uri="{FF2B5EF4-FFF2-40B4-BE49-F238E27FC236}">
                <a16:creationId xmlns:a16="http://schemas.microsoft.com/office/drawing/2014/main" id="{618CA9AC-C38F-1145-804A-6A94D1D520C6}"/>
              </a:ext>
            </a:extLst>
          </p:cNvPr>
          <p:cNvSpPr>
            <a:spLocks/>
          </p:cNvSpPr>
          <p:nvPr/>
        </p:nvSpPr>
        <p:spPr bwMode="auto">
          <a:xfrm>
            <a:off x="3962400" y="2311401"/>
            <a:ext cx="325438" cy="341313"/>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12" name="Rectangle 519">
            <a:extLst>
              <a:ext uri="{FF2B5EF4-FFF2-40B4-BE49-F238E27FC236}">
                <a16:creationId xmlns:a16="http://schemas.microsoft.com/office/drawing/2014/main" id="{34F697A3-E861-9C46-9A36-8473CDFD6CD6}"/>
              </a:ext>
            </a:extLst>
          </p:cNvPr>
          <p:cNvSpPr>
            <a:spLocks noChangeArrowheads="1"/>
          </p:cNvSpPr>
          <p:nvPr/>
        </p:nvSpPr>
        <p:spPr bwMode="auto">
          <a:xfrm>
            <a:off x="3992564" y="2416176"/>
            <a:ext cx="269875"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13" name="Rectangle 520">
            <a:extLst>
              <a:ext uri="{FF2B5EF4-FFF2-40B4-BE49-F238E27FC236}">
                <a16:creationId xmlns:a16="http://schemas.microsoft.com/office/drawing/2014/main" id="{09A178ED-7E16-0742-8720-2216C5C25F5B}"/>
              </a:ext>
            </a:extLst>
          </p:cNvPr>
          <p:cNvSpPr>
            <a:spLocks noChangeArrowheads="1"/>
          </p:cNvSpPr>
          <p:nvPr/>
        </p:nvSpPr>
        <p:spPr bwMode="auto">
          <a:xfrm>
            <a:off x="4035425" y="2468564"/>
            <a:ext cx="95250"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14" name="Rectangle 521">
            <a:extLst>
              <a:ext uri="{FF2B5EF4-FFF2-40B4-BE49-F238E27FC236}">
                <a16:creationId xmlns:a16="http://schemas.microsoft.com/office/drawing/2014/main" id="{5CEBE25D-424A-B143-A0E1-B3007EBB0F66}"/>
              </a:ext>
            </a:extLst>
          </p:cNvPr>
          <p:cNvSpPr>
            <a:spLocks noChangeArrowheads="1"/>
          </p:cNvSpPr>
          <p:nvPr/>
        </p:nvSpPr>
        <p:spPr bwMode="auto">
          <a:xfrm>
            <a:off x="4171950" y="2463801"/>
            <a:ext cx="63500"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15" name="Freeform 522">
            <a:extLst>
              <a:ext uri="{FF2B5EF4-FFF2-40B4-BE49-F238E27FC236}">
                <a16:creationId xmlns:a16="http://schemas.microsoft.com/office/drawing/2014/main" id="{5BF00FEE-BAA9-CD49-90B1-4C9B8E033894}"/>
              </a:ext>
            </a:extLst>
          </p:cNvPr>
          <p:cNvSpPr>
            <a:spLocks/>
          </p:cNvSpPr>
          <p:nvPr/>
        </p:nvSpPr>
        <p:spPr bwMode="auto">
          <a:xfrm>
            <a:off x="4105275" y="2544764"/>
            <a:ext cx="12700" cy="15875"/>
          </a:xfrm>
          <a:custGeom>
            <a:avLst/>
            <a:gdLst>
              <a:gd name="T0" fmla="*/ 23 w 23"/>
              <a:gd name="T1" fmla="*/ 14 h 30"/>
              <a:gd name="T2" fmla="*/ 23 w 23"/>
              <a:gd name="T3" fmla="*/ 11 h 30"/>
              <a:gd name="T4" fmla="*/ 20 w 23"/>
              <a:gd name="T5" fmla="*/ 9 h 30"/>
              <a:gd name="T6" fmla="*/ 20 w 23"/>
              <a:gd name="T7" fmla="*/ 7 h 30"/>
              <a:gd name="T8" fmla="*/ 18 w 23"/>
              <a:gd name="T9" fmla="*/ 5 h 30"/>
              <a:gd name="T10" fmla="*/ 17 w 23"/>
              <a:gd name="T11" fmla="*/ 3 h 30"/>
              <a:gd name="T12" fmla="*/ 16 w 23"/>
              <a:gd name="T13" fmla="*/ 2 h 30"/>
              <a:gd name="T14" fmla="*/ 14 w 23"/>
              <a:gd name="T15" fmla="*/ 0 h 30"/>
              <a:gd name="T16" fmla="*/ 12 w 23"/>
              <a:gd name="T17" fmla="*/ 0 h 30"/>
              <a:gd name="T18" fmla="*/ 9 w 23"/>
              <a:gd name="T19" fmla="*/ 0 h 30"/>
              <a:gd name="T20" fmla="*/ 8 w 23"/>
              <a:gd name="T21" fmla="*/ 0 h 30"/>
              <a:gd name="T22" fmla="*/ 6 w 23"/>
              <a:gd name="T23" fmla="*/ 2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3 w 23"/>
              <a:gd name="T45" fmla="*/ 26 h 30"/>
              <a:gd name="T46" fmla="*/ 4 w 23"/>
              <a:gd name="T47" fmla="*/ 28 h 30"/>
              <a:gd name="T48" fmla="*/ 6 w 23"/>
              <a:gd name="T49" fmla="*/ 29 h 30"/>
              <a:gd name="T50" fmla="*/ 8 w 23"/>
              <a:gd name="T51" fmla="*/ 30 h 30"/>
              <a:gd name="T52" fmla="*/ 9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0 w 23"/>
              <a:gd name="T65" fmla="*/ 25 h 30"/>
              <a:gd name="T66" fmla="*/ 20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3"/>
                </a:lnTo>
                <a:lnTo>
                  <a:pt x="23" y="11"/>
                </a:lnTo>
                <a:lnTo>
                  <a:pt x="22" y="10"/>
                </a:lnTo>
                <a:lnTo>
                  <a:pt x="20" y="9"/>
                </a:lnTo>
                <a:lnTo>
                  <a:pt x="20" y="8"/>
                </a:lnTo>
                <a:lnTo>
                  <a:pt x="20" y="7"/>
                </a:lnTo>
                <a:lnTo>
                  <a:pt x="19" y="6"/>
                </a:lnTo>
                <a:lnTo>
                  <a:pt x="18" y="5"/>
                </a:lnTo>
                <a:lnTo>
                  <a:pt x="18" y="4"/>
                </a:lnTo>
                <a:lnTo>
                  <a:pt x="17" y="3"/>
                </a:lnTo>
                <a:lnTo>
                  <a:pt x="16" y="2"/>
                </a:lnTo>
                <a:lnTo>
                  <a:pt x="15" y="0"/>
                </a:lnTo>
                <a:lnTo>
                  <a:pt x="14" y="0"/>
                </a:lnTo>
                <a:lnTo>
                  <a:pt x="13" y="0"/>
                </a:lnTo>
                <a:lnTo>
                  <a:pt x="12" y="0"/>
                </a:lnTo>
                <a:lnTo>
                  <a:pt x="11" y="0"/>
                </a:lnTo>
                <a:lnTo>
                  <a:pt x="9" y="0"/>
                </a:lnTo>
                <a:lnTo>
                  <a:pt x="8" y="0"/>
                </a:lnTo>
                <a:lnTo>
                  <a:pt x="7" y="0"/>
                </a:lnTo>
                <a:lnTo>
                  <a:pt x="6" y="2"/>
                </a:lnTo>
                <a:lnTo>
                  <a:pt x="5" y="2"/>
                </a:lnTo>
                <a:lnTo>
                  <a:pt x="4" y="3"/>
                </a:lnTo>
                <a:lnTo>
                  <a:pt x="3" y="4"/>
                </a:lnTo>
                <a:lnTo>
                  <a:pt x="3" y="5"/>
                </a:lnTo>
                <a:lnTo>
                  <a:pt x="2" y="6"/>
                </a:lnTo>
                <a:lnTo>
                  <a:pt x="1" y="7"/>
                </a:lnTo>
                <a:lnTo>
                  <a:pt x="1" y="8"/>
                </a:lnTo>
                <a:lnTo>
                  <a:pt x="1" y="9"/>
                </a:lnTo>
                <a:lnTo>
                  <a:pt x="0" y="10"/>
                </a:lnTo>
                <a:lnTo>
                  <a:pt x="0" y="11"/>
                </a:lnTo>
                <a:lnTo>
                  <a:pt x="0" y="13"/>
                </a:lnTo>
                <a:lnTo>
                  <a:pt x="0" y="14"/>
                </a:lnTo>
                <a:lnTo>
                  <a:pt x="0" y="15"/>
                </a:lnTo>
                <a:lnTo>
                  <a:pt x="0" y="17"/>
                </a:lnTo>
                <a:lnTo>
                  <a:pt x="0" y="18"/>
                </a:lnTo>
                <a:lnTo>
                  <a:pt x="0" y="19"/>
                </a:lnTo>
                <a:lnTo>
                  <a:pt x="0" y="20"/>
                </a:lnTo>
                <a:lnTo>
                  <a:pt x="1" y="22"/>
                </a:lnTo>
                <a:lnTo>
                  <a:pt x="1" y="24"/>
                </a:lnTo>
                <a:lnTo>
                  <a:pt x="1" y="25"/>
                </a:lnTo>
                <a:lnTo>
                  <a:pt x="2" y="25"/>
                </a:lnTo>
                <a:lnTo>
                  <a:pt x="3" y="26"/>
                </a:lnTo>
                <a:lnTo>
                  <a:pt x="3" y="27"/>
                </a:lnTo>
                <a:lnTo>
                  <a:pt x="4" y="28"/>
                </a:lnTo>
                <a:lnTo>
                  <a:pt x="5" y="29"/>
                </a:lnTo>
                <a:lnTo>
                  <a:pt x="6" y="29"/>
                </a:lnTo>
                <a:lnTo>
                  <a:pt x="7" y="30"/>
                </a:lnTo>
                <a:lnTo>
                  <a:pt x="8" y="30"/>
                </a:lnTo>
                <a:lnTo>
                  <a:pt x="9" y="30"/>
                </a:lnTo>
                <a:lnTo>
                  <a:pt x="11" y="30"/>
                </a:lnTo>
                <a:lnTo>
                  <a:pt x="12" y="30"/>
                </a:lnTo>
                <a:lnTo>
                  <a:pt x="13" y="30"/>
                </a:lnTo>
                <a:lnTo>
                  <a:pt x="14" y="30"/>
                </a:lnTo>
                <a:lnTo>
                  <a:pt x="15" y="30"/>
                </a:lnTo>
                <a:lnTo>
                  <a:pt x="16" y="29"/>
                </a:lnTo>
                <a:lnTo>
                  <a:pt x="17" y="28"/>
                </a:lnTo>
                <a:lnTo>
                  <a:pt x="18" y="27"/>
                </a:lnTo>
                <a:lnTo>
                  <a:pt x="18" y="26"/>
                </a:lnTo>
                <a:lnTo>
                  <a:pt x="19" y="25"/>
                </a:lnTo>
                <a:lnTo>
                  <a:pt x="20" y="25"/>
                </a:lnTo>
                <a:lnTo>
                  <a:pt x="20" y="24"/>
                </a:lnTo>
                <a:lnTo>
                  <a:pt x="20"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16" name="Line 523">
            <a:extLst>
              <a:ext uri="{FF2B5EF4-FFF2-40B4-BE49-F238E27FC236}">
                <a16:creationId xmlns:a16="http://schemas.microsoft.com/office/drawing/2014/main" id="{AC8BDE0E-BE99-D844-9D41-A13EE160A83B}"/>
              </a:ext>
            </a:extLst>
          </p:cNvPr>
          <p:cNvSpPr>
            <a:spLocks noChangeShapeType="1"/>
          </p:cNvSpPr>
          <p:nvPr/>
        </p:nvSpPr>
        <p:spPr bwMode="auto">
          <a:xfrm>
            <a:off x="4202114" y="246538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17" name="Line 524">
            <a:extLst>
              <a:ext uri="{FF2B5EF4-FFF2-40B4-BE49-F238E27FC236}">
                <a16:creationId xmlns:a16="http://schemas.microsoft.com/office/drawing/2014/main" id="{BB4FD84F-AD02-A047-9298-3F890532097B}"/>
              </a:ext>
            </a:extLst>
          </p:cNvPr>
          <p:cNvSpPr>
            <a:spLocks noChangeShapeType="1"/>
          </p:cNvSpPr>
          <p:nvPr/>
        </p:nvSpPr>
        <p:spPr bwMode="auto">
          <a:xfrm>
            <a:off x="4171951" y="2501900"/>
            <a:ext cx="61913"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18" name="Freeform 525">
            <a:extLst>
              <a:ext uri="{FF2B5EF4-FFF2-40B4-BE49-F238E27FC236}">
                <a16:creationId xmlns:a16="http://schemas.microsoft.com/office/drawing/2014/main" id="{73969299-C807-484D-8F48-3664A7C6C2E9}"/>
              </a:ext>
            </a:extLst>
          </p:cNvPr>
          <p:cNvSpPr>
            <a:spLocks/>
          </p:cNvSpPr>
          <p:nvPr/>
        </p:nvSpPr>
        <p:spPr bwMode="auto">
          <a:xfrm>
            <a:off x="3684589" y="3221038"/>
            <a:ext cx="325437" cy="341312"/>
          </a:xfrm>
          <a:custGeom>
            <a:avLst/>
            <a:gdLst>
              <a:gd name="T0" fmla="*/ 56 w 615"/>
              <a:gd name="T1" fmla="*/ 195 h 643"/>
              <a:gd name="T2" fmla="*/ 0 w 615"/>
              <a:gd name="T3" fmla="*/ 195 h 643"/>
              <a:gd name="T4" fmla="*/ 308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8"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19" name="Rectangle 526">
            <a:extLst>
              <a:ext uri="{FF2B5EF4-FFF2-40B4-BE49-F238E27FC236}">
                <a16:creationId xmlns:a16="http://schemas.microsoft.com/office/drawing/2014/main" id="{D73EBE39-8C3D-B64C-92FE-49807C92ACD5}"/>
              </a:ext>
            </a:extLst>
          </p:cNvPr>
          <p:cNvSpPr>
            <a:spLocks noChangeArrowheads="1"/>
          </p:cNvSpPr>
          <p:nvPr/>
        </p:nvSpPr>
        <p:spPr bwMode="auto">
          <a:xfrm>
            <a:off x="3714751" y="3324225"/>
            <a:ext cx="269875"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20" name="Rectangle 527">
            <a:extLst>
              <a:ext uri="{FF2B5EF4-FFF2-40B4-BE49-F238E27FC236}">
                <a16:creationId xmlns:a16="http://schemas.microsoft.com/office/drawing/2014/main" id="{AA718207-4D29-A44C-B71C-F85A705AD421}"/>
              </a:ext>
            </a:extLst>
          </p:cNvPr>
          <p:cNvSpPr>
            <a:spLocks noChangeArrowheads="1"/>
          </p:cNvSpPr>
          <p:nvPr/>
        </p:nvSpPr>
        <p:spPr bwMode="auto">
          <a:xfrm>
            <a:off x="3759201" y="3378200"/>
            <a:ext cx="93663"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21" name="Rectangle 528">
            <a:extLst>
              <a:ext uri="{FF2B5EF4-FFF2-40B4-BE49-F238E27FC236}">
                <a16:creationId xmlns:a16="http://schemas.microsoft.com/office/drawing/2014/main" id="{F85ADEF3-9B84-4448-B086-3DFEA8C54640}"/>
              </a:ext>
            </a:extLst>
          </p:cNvPr>
          <p:cNvSpPr>
            <a:spLocks noChangeArrowheads="1"/>
          </p:cNvSpPr>
          <p:nvPr/>
        </p:nvSpPr>
        <p:spPr bwMode="auto">
          <a:xfrm>
            <a:off x="3894138" y="3373438"/>
            <a:ext cx="63500" cy="80962"/>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22" name="Freeform 529">
            <a:extLst>
              <a:ext uri="{FF2B5EF4-FFF2-40B4-BE49-F238E27FC236}">
                <a16:creationId xmlns:a16="http://schemas.microsoft.com/office/drawing/2014/main" id="{A6CE8A1E-E0F9-6043-8563-8E55F1D58CEF}"/>
              </a:ext>
            </a:extLst>
          </p:cNvPr>
          <p:cNvSpPr>
            <a:spLocks/>
          </p:cNvSpPr>
          <p:nvPr/>
        </p:nvSpPr>
        <p:spPr bwMode="auto">
          <a:xfrm>
            <a:off x="3827463" y="3454401"/>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4 h 30"/>
              <a:gd name="T10" fmla="*/ 18 w 23"/>
              <a:gd name="T11" fmla="*/ 2 h 30"/>
              <a:gd name="T12" fmla="*/ 17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4 w 23"/>
              <a:gd name="T27" fmla="*/ 4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4 w 23"/>
              <a:gd name="T45" fmla="*/ 25 h 30"/>
              <a:gd name="T46" fmla="*/ 5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8 h 30"/>
              <a:gd name="T62" fmla="*/ 19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6"/>
                </a:lnTo>
                <a:lnTo>
                  <a:pt x="19" y="4"/>
                </a:lnTo>
                <a:lnTo>
                  <a:pt x="19" y="3"/>
                </a:lnTo>
                <a:lnTo>
                  <a:pt x="18" y="2"/>
                </a:lnTo>
                <a:lnTo>
                  <a:pt x="17" y="1"/>
                </a:lnTo>
                <a:lnTo>
                  <a:pt x="16" y="0"/>
                </a:lnTo>
                <a:lnTo>
                  <a:pt x="14" y="0"/>
                </a:lnTo>
                <a:lnTo>
                  <a:pt x="13" y="0"/>
                </a:lnTo>
                <a:lnTo>
                  <a:pt x="12" y="0"/>
                </a:lnTo>
                <a:lnTo>
                  <a:pt x="11" y="0"/>
                </a:lnTo>
                <a:lnTo>
                  <a:pt x="10" y="0"/>
                </a:lnTo>
                <a:lnTo>
                  <a:pt x="9" y="0"/>
                </a:lnTo>
                <a:lnTo>
                  <a:pt x="8" y="0"/>
                </a:lnTo>
                <a:lnTo>
                  <a:pt x="7" y="1"/>
                </a:lnTo>
                <a:lnTo>
                  <a:pt x="6" y="1"/>
                </a:lnTo>
                <a:lnTo>
                  <a:pt x="5" y="2"/>
                </a:lnTo>
                <a:lnTo>
                  <a:pt x="4" y="3"/>
                </a:lnTo>
                <a:lnTo>
                  <a:pt x="4" y="4"/>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4" y="25"/>
                </a:lnTo>
                <a:lnTo>
                  <a:pt x="4" y="26"/>
                </a:lnTo>
                <a:lnTo>
                  <a:pt x="5" y="28"/>
                </a:lnTo>
                <a:lnTo>
                  <a:pt x="6" y="29"/>
                </a:lnTo>
                <a:lnTo>
                  <a:pt x="7" y="29"/>
                </a:lnTo>
                <a:lnTo>
                  <a:pt x="8" y="30"/>
                </a:lnTo>
                <a:lnTo>
                  <a:pt x="9" y="30"/>
                </a:lnTo>
                <a:lnTo>
                  <a:pt x="10" y="30"/>
                </a:lnTo>
                <a:lnTo>
                  <a:pt x="11" y="30"/>
                </a:lnTo>
                <a:lnTo>
                  <a:pt x="12" y="30"/>
                </a:lnTo>
                <a:lnTo>
                  <a:pt x="13" y="30"/>
                </a:lnTo>
                <a:lnTo>
                  <a:pt x="14" y="30"/>
                </a:lnTo>
                <a:lnTo>
                  <a:pt x="16" y="30"/>
                </a:lnTo>
                <a:lnTo>
                  <a:pt x="17" y="29"/>
                </a:lnTo>
                <a:lnTo>
                  <a:pt x="18" y="28"/>
                </a:lnTo>
                <a:lnTo>
                  <a:pt x="19" y="26"/>
                </a:lnTo>
                <a:lnTo>
                  <a:pt x="19" y="25"/>
                </a:lnTo>
                <a:lnTo>
                  <a:pt x="20"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23" name="Line 530">
            <a:extLst>
              <a:ext uri="{FF2B5EF4-FFF2-40B4-BE49-F238E27FC236}">
                <a16:creationId xmlns:a16="http://schemas.microsoft.com/office/drawing/2014/main" id="{A232EF8D-AB3E-DA4C-BB31-27AF896C195C}"/>
              </a:ext>
            </a:extLst>
          </p:cNvPr>
          <p:cNvSpPr>
            <a:spLocks noChangeShapeType="1"/>
          </p:cNvSpPr>
          <p:nvPr/>
        </p:nvSpPr>
        <p:spPr bwMode="auto">
          <a:xfrm>
            <a:off x="3925889" y="3375026"/>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24" name="Line 531">
            <a:extLst>
              <a:ext uri="{FF2B5EF4-FFF2-40B4-BE49-F238E27FC236}">
                <a16:creationId xmlns:a16="http://schemas.microsoft.com/office/drawing/2014/main" id="{029364F4-8BA3-2545-BC15-01E4BAD1B6A8}"/>
              </a:ext>
            </a:extLst>
          </p:cNvPr>
          <p:cNvSpPr>
            <a:spLocks noChangeShapeType="1"/>
          </p:cNvSpPr>
          <p:nvPr/>
        </p:nvSpPr>
        <p:spPr bwMode="auto">
          <a:xfrm>
            <a:off x="3894138" y="3411539"/>
            <a:ext cx="61912"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25" name="Freeform 532">
            <a:extLst>
              <a:ext uri="{FF2B5EF4-FFF2-40B4-BE49-F238E27FC236}">
                <a16:creationId xmlns:a16="http://schemas.microsoft.com/office/drawing/2014/main" id="{C00F3961-2C3E-5E47-855F-013ACB7B2EC9}"/>
              </a:ext>
            </a:extLst>
          </p:cNvPr>
          <p:cNvSpPr>
            <a:spLocks/>
          </p:cNvSpPr>
          <p:nvPr/>
        </p:nvSpPr>
        <p:spPr bwMode="auto">
          <a:xfrm>
            <a:off x="1992314" y="1630364"/>
            <a:ext cx="325437" cy="339725"/>
          </a:xfrm>
          <a:custGeom>
            <a:avLst/>
            <a:gdLst>
              <a:gd name="T0" fmla="*/ 56 w 615"/>
              <a:gd name="T1" fmla="*/ 195 h 643"/>
              <a:gd name="T2" fmla="*/ 0 w 615"/>
              <a:gd name="T3" fmla="*/ 195 h 643"/>
              <a:gd name="T4" fmla="*/ 307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7"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26" name="Rectangle 533">
            <a:extLst>
              <a:ext uri="{FF2B5EF4-FFF2-40B4-BE49-F238E27FC236}">
                <a16:creationId xmlns:a16="http://schemas.microsoft.com/office/drawing/2014/main" id="{F4EF0957-D84C-1C48-A3FD-7F98503388FA}"/>
              </a:ext>
            </a:extLst>
          </p:cNvPr>
          <p:cNvSpPr>
            <a:spLocks noChangeArrowheads="1"/>
          </p:cNvSpPr>
          <p:nvPr/>
        </p:nvSpPr>
        <p:spPr bwMode="auto">
          <a:xfrm>
            <a:off x="2022475" y="1733551"/>
            <a:ext cx="268288"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27" name="Rectangle 534">
            <a:extLst>
              <a:ext uri="{FF2B5EF4-FFF2-40B4-BE49-F238E27FC236}">
                <a16:creationId xmlns:a16="http://schemas.microsoft.com/office/drawing/2014/main" id="{07C49346-7AF0-6A4A-B940-97A725C48971}"/>
              </a:ext>
            </a:extLst>
          </p:cNvPr>
          <p:cNvSpPr>
            <a:spLocks noChangeArrowheads="1"/>
          </p:cNvSpPr>
          <p:nvPr/>
        </p:nvSpPr>
        <p:spPr bwMode="auto">
          <a:xfrm>
            <a:off x="2065338" y="1785939"/>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28" name="Rectangle 535">
            <a:extLst>
              <a:ext uri="{FF2B5EF4-FFF2-40B4-BE49-F238E27FC236}">
                <a16:creationId xmlns:a16="http://schemas.microsoft.com/office/drawing/2014/main" id="{551F5C05-BCF4-2646-A92D-7C2F31E33026}"/>
              </a:ext>
            </a:extLst>
          </p:cNvPr>
          <p:cNvSpPr>
            <a:spLocks noChangeArrowheads="1"/>
          </p:cNvSpPr>
          <p:nvPr/>
        </p:nvSpPr>
        <p:spPr bwMode="auto">
          <a:xfrm>
            <a:off x="2200275" y="1781176"/>
            <a:ext cx="65088"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29" name="Freeform 536">
            <a:extLst>
              <a:ext uri="{FF2B5EF4-FFF2-40B4-BE49-F238E27FC236}">
                <a16:creationId xmlns:a16="http://schemas.microsoft.com/office/drawing/2014/main" id="{6BAD4EBE-C445-9F4D-8142-46BDDB6C5CF8}"/>
              </a:ext>
            </a:extLst>
          </p:cNvPr>
          <p:cNvSpPr>
            <a:spLocks/>
          </p:cNvSpPr>
          <p:nvPr/>
        </p:nvSpPr>
        <p:spPr bwMode="auto">
          <a:xfrm>
            <a:off x="2133600" y="1863726"/>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4 h 30"/>
              <a:gd name="T10" fmla="*/ 18 w 23"/>
              <a:gd name="T11" fmla="*/ 2 h 30"/>
              <a:gd name="T12" fmla="*/ 17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4 w 23"/>
              <a:gd name="T25" fmla="*/ 2 h 30"/>
              <a:gd name="T26" fmla="*/ 3 w 23"/>
              <a:gd name="T27" fmla="*/ 4 h 30"/>
              <a:gd name="T28" fmla="*/ 1 w 23"/>
              <a:gd name="T29" fmla="*/ 7 h 30"/>
              <a:gd name="T30" fmla="*/ 1 w 23"/>
              <a:gd name="T31" fmla="*/ 9 h 30"/>
              <a:gd name="T32" fmla="*/ 0 w 23"/>
              <a:gd name="T33" fmla="*/ 11 h 30"/>
              <a:gd name="T34" fmla="*/ 0 w 23"/>
              <a:gd name="T35" fmla="*/ 13 h 30"/>
              <a:gd name="T36" fmla="*/ 0 w 23"/>
              <a:gd name="T37" fmla="*/ 16 h 30"/>
              <a:gd name="T38" fmla="*/ 0 w 23"/>
              <a:gd name="T39" fmla="*/ 19 h 30"/>
              <a:gd name="T40" fmla="*/ 1 w 23"/>
              <a:gd name="T41" fmla="*/ 22 h 30"/>
              <a:gd name="T42" fmla="*/ 1 w 23"/>
              <a:gd name="T43" fmla="*/ 24 h 30"/>
              <a:gd name="T44" fmla="*/ 3 w 23"/>
              <a:gd name="T45" fmla="*/ 25 h 30"/>
              <a:gd name="T46" fmla="*/ 4 w 23"/>
              <a:gd name="T47" fmla="*/ 27 h 30"/>
              <a:gd name="T48" fmla="*/ 7 w 23"/>
              <a:gd name="T49" fmla="*/ 28 h 30"/>
              <a:gd name="T50" fmla="*/ 9 w 23"/>
              <a:gd name="T51" fmla="*/ 30 h 30"/>
              <a:gd name="T52" fmla="*/ 10 w 23"/>
              <a:gd name="T53" fmla="*/ 30 h 30"/>
              <a:gd name="T54" fmla="*/ 12 w 23"/>
              <a:gd name="T55" fmla="*/ 30 h 30"/>
              <a:gd name="T56" fmla="*/ 14 w 23"/>
              <a:gd name="T57" fmla="*/ 30 h 30"/>
              <a:gd name="T58" fmla="*/ 17 w 23"/>
              <a:gd name="T59" fmla="*/ 28 h 30"/>
              <a:gd name="T60" fmla="*/ 18 w 23"/>
              <a:gd name="T61" fmla="*/ 27 h 30"/>
              <a:gd name="T62" fmla="*/ 19 w 23"/>
              <a:gd name="T63" fmla="*/ 25 h 30"/>
              <a:gd name="T64" fmla="*/ 21 w 23"/>
              <a:gd name="T65" fmla="*/ 24 h 30"/>
              <a:gd name="T66" fmla="*/ 21 w 23"/>
              <a:gd name="T67" fmla="*/ 22 h 30"/>
              <a:gd name="T68" fmla="*/ 23 w 23"/>
              <a:gd name="T69" fmla="*/ 19 h 30"/>
              <a:gd name="T70" fmla="*/ 23 w 23"/>
              <a:gd name="T71" fmla="*/ 16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5"/>
                </a:lnTo>
                <a:lnTo>
                  <a:pt x="19" y="4"/>
                </a:lnTo>
                <a:lnTo>
                  <a:pt x="19" y="3"/>
                </a:lnTo>
                <a:lnTo>
                  <a:pt x="18" y="2"/>
                </a:lnTo>
                <a:lnTo>
                  <a:pt x="17" y="1"/>
                </a:lnTo>
                <a:lnTo>
                  <a:pt x="15" y="0"/>
                </a:lnTo>
                <a:lnTo>
                  <a:pt x="14" y="0"/>
                </a:lnTo>
                <a:lnTo>
                  <a:pt x="13" y="0"/>
                </a:lnTo>
                <a:lnTo>
                  <a:pt x="12" y="0"/>
                </a:lnTo>
                <a:lnTo>
                  <a:pt x="11" y="0"/>
                </a:lnTo>
                <a:lnTo>
                  <a:pt x="10" y="0"/>
                </a:lnTo>
                <a:lnTo>
                  <a:pt x="9" y="0"/>
                </a:lnTo>
                <a:lnTo>
                  <a:pt x="8" y="0"/>
                </a:lnTo>
                <a:lnTo>
                  <a:pt x="7" y="1"/>
                </a:lnTo>
                <a:lnTo>
                  <a:pt x="6" y="1"/>
                </a:lnTo>
                <a:lnTo>
                  <a:pt x="4" y="2"/>
                </a:lnTo>
                <a:lnTo>
                  <a:pt x="3" y="3"/>
                </a:lnTo>
                <a:lnTo>
                  <a:pt x="3" y="4"/>
                </a:lnTo>
                <a:lnTo>
                  <a:pt x="2" y="5"/>
                </a:lnTo>
                <a:lnTo>
                  <a:pt x="1" y="7"/>
                </a:lnTo>
                <a:lnTo>
                  <a:pt x="1" y="8"/>
                </a:lnTo>
                <a:lnTo>
                  <a:pt x="1" y="9"/>
                </a:lnTo>
                <a:lnTo>
                  <a:pt x="0" y="10"/>
                </a:lnTo>
                <a:lnTo>
                  <a:pt x="0" y="11"/>
                </a:lnTo>
                <a:lnTo>
                  <a:pt x="0" y="12"/>
                </a:lnTo>
                <a:lnTo>
                  <a:pt x="0" y="13"/>
                </a:lnTo>
                <a:lnTo>
                  <a:pt x="0" y="14"/>
                </a:lnTo>
                <a:lnTo>
                  <a:pt x="0" y="16"/>
                </a:lnTo>
                <a:lnTo>
                  <a:pt x="0" y="18"/>
                </a:lnTo>
                <a:lnTo>
                  <a:pt x="0" y="19"/>
                </a:lnTo>
                <a:lnTo>
                  <a:pt x="0" y="20"/>
                </a:lnTo>
                <a:lnTo>
                  <a:pt x="1" y="22"/>
                </a:lnTo>
                <a:lnTo>
                  <a:pt x="1" y="23"/>
                </a:lnTo>
                <a:lnTo>
                  <a:pt x="1" y="24"/>
                </a:lnTo>
                <a:lnTo>
                  <a:pt x="2" y="24"/>
                </a:lnTo>
                <a:lnTo>
                  <a:pt x="3" y="25"/>
                </a:lnTo>
                <a:lnTo>
                  <a:pt x="3" y="26"/>
                </a:lnTo>
                <a:lnTo>
                  <a:pt x="4" y="27"/>
                </a:lnTo>
                <a:lnTo>
                  <a:pt x="6" y="28"/>
                </a:lnTo>
                <a:lnTo>
                  <a:pt x="7" y="28"/>
                </a:lnTo>
                <a:lnTo>
                  <a:pt x="8" y="30"/>
                </a:lnTo>
                <a:lnTo>
                  <a:pt x="9" y="30"/>
                </a:lnTo>
                <a:lnTo>
                  <a:pt x="10" y="30"/>
                </a:lnTo>
                <a:lnTo>
                  <a:pt x="11" y="30"/>
                </a:lnTo>
                <a:lnTo>
                  <a:pt x="12" y="30"/>
                </a:lnTo>
                <a:lnTo>
                  <a:pt x="13" y="30"/>
                </a:lnTo>
                <a:lnTo>
                  <a:pt x="14" y="30"/>
                </a:lnTo>
                <a:lnTo>
                  <a:pt x="15" y="30"/>
                </a:lnTo>
                <a:lnTo>
                  <a:pt x="17" y="28"/>
                </a:lnTo>
                <a:lnTo>
                  <a:pt x="18" y="27"/>
                </a:lnTo>
                <a:lnTo>
                  <a:pt x="19" y="26"/>
                </a:lnTo>
                <a:lnTo>
                  <a:pt x="19" y="25"/>
                </a:lnTo>
                <a:lnTo>
                  <a:pt x="20" y="24"/>
                </a:lnTo>
                <a:lnTo>
                  <a:pt x="21" y="24"/>
                </a:lnTo>
                <a:lnTo>
                  <a:pt x="21" y="23"/>
                </a:lnTo>
                <a:lnTo>
                  <a:pt x="21" y="22"/>
                </a:lnTo>
                <a:lnTo>
                  <a:pt x="22" y="20"/>
                </a:lnTo>
                <a:lnTo>
                  <a:pt x="23" y="19"/>
                </a:lnTo>
                <a:lnTo>
                  <a:pt x="23" y="18"/>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30" name="Line 537">
            <a:extLst>
              <a:ext uri="{FF2B5EF4-FFF2-40B4-BE49-F238E27FC236}">
                <a16:creationId xmlns:a16="http://schemas.microsoft.com/office/drawing/2014/main" id="{E7E123B7-1ED4-8542-B293-6346E394A470}"/>
              </a:ext>
            </a:extLst>
          </p:cNvPr>
          <p:cNvSpPr>
            <a:spLocks noChangeShapeType="1"/>
          </p:cNvSpPr>
          <p:nvPr/>
        </p:nvSpPr>
        <p:spPr bwMode="auto">
          <a:xfrm>
            <a:off x="2232025" y="1782764"/>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31" name="Line 538">
            <a:extLst>
              <a:ext uri="{FF2B5EF4-FFF2-40B4-BE49-F238E27FC236}">
                <a16:creationId xmlns:a16="http://schemas.microsoft.com/office/drawing/2014/main" id="{4C2210DD-926A-7546-91A4-6ACA490F9B6C}"/>
              </a:ext>
            </a:extLst>
          </p:cNvPr>
          <p:cNvSpPr>
            <a:spLocks noChangeShapeType="1"/>
          </p:cNvSpPr>
          <p:nvPr/>
        </p:nvSpPr>
        <p:spPr bwMode="auto">
          <a:xfrm>
            <a:off x="2200275" y="1820864"/>
            <a:ext cx="63500"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32" name="Freeform 539">
            <a:extLst>
              <a:ext uri="{FF2B5EF4-FFF2-40B4-BE49-F238E27FC236}">
                <a16:creationId xmlns:a16="http://schemas.microsoft.com/office/drawing/2014/main" id="{D886D430-E1DD-F543-AD56-732B992F4EDF}"/>
              </a:ext>
            </a:extLst>
          </p:cNvPr>
          <p:cNvSpPr>
            <a:spLocks/>
          </p:cNvSpPr>
          <p:nvPr/>
        </p:nvSpPr>
        <p:spPr bwMode="auto">
          <a:xfrm>
            <a:off x="2749550" y="3297238"/>
            <a:ext cx="325438" cy="341312"/>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4 h 643"/>
              <a:gd name="T14" fmla="*/ 56 w 614"/>
              <a:gd name="T15" fmla="*/ 614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4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4"/>
                </a:lnTo>
                <a:lnTo>
                  <a:pt x="56" y="614"/>
                </a:lnTo>
                <a:lnTo>
                  <a:pt x="56" y="195"/>
                </a:lnTo>
                <a:lnTo>
                  <a:pt x="558"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33" name="Rectangle 540">
            <a:extLst>
              <a:ext uri="{FF2B5EF4-FFF2-40B4-BE49-F238E27FC236}">
                <a16:creationId xmlns:a16="http://schemas.microsoft.com/office/drawing/2014/main" id="{893E00B5-7555-5D4B-BB9C-499D152003CB}"/>
              </a:ext>
            </a:extLst>
          </p:cNvPr>
          <p:cNvSpPr>
            <a:spLocks noChangeArrowheads="1"/>
          </p:cNvSpPr>
          <p:nvPr/>
        </p:nvSpPr>
        <p:spPr bwMode="auto">
          <a:xfrm>
            <a:off x="2779714" y="3400425"/>
            <a:ext cx="269875"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34" name="Rectangle 541">
            <a:extLst>
              <a:ext uri="{FF2B5EF4-FFF2-40B4-BE49-F238E27FC236}">
                <a16:creationId xmlns:a16="http://schemas.microsoft.com/office/drawing/2014/main" id="{E8549EBD-BA98-234A-A206-85C1B70680A9}"/>
              </a:ext>
            </a:extLst>
          </p:cNvPr>
          <p:cNvSpPr>
            <a:spLocks noChangeArrowheads="1"/>
          </p:cNvSpPr>
          <p:nvPr/>
        </p:nvSpPr>
        <p:spPr bwMode="auto">
          <a:xfrm>
            <a:off x="2822575" y="3454400"/>
            <a:ext cx="95250"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35" name="Rectangle 542">
            <a:extLst>
              <a:ext uri="{FF2B5EF4-FFF2-40B4-BE49-F238E27FC236}">
                <a16:creationId xmlns:a16="http://schemas.microsoft.com/office/drawing/2014/main" id="{C15AA856-8ABF-6D4B-9BC0-FF61021B0568}"/>
              </a:ext>
            </a:extLst>
          </p:cNvPr>
          <p:cNvSpPr>
            <a:spLocks noChangeArrowheads="1"/>
          </p:cNvSpPr>
          <p:nvPr/>
        </p:nvSpPr>
        <p:spPr bwMode="auto">
          <a:xfrm>
            <a:off x="2959100" y="3449638"/>
            <a:ext cx="63500" cy="80962"/>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36" name="Freeform 543">
            <a:extLst>
              <a:ext uri="{FF2B5EF4-FFF2-40B4-BE49-F238E27FC236}">
                <a16:creationId xmlns:a16="http://schemas.microsoft.com/office/drawing/2014/main" id="{42620E2B-90A6-7E4C-B997-F507A291859D}"/>
              </a:ext>
            </a:extLst>
          </p:cNvPr>
          <p:cNvSpPr>
            <a:spLocks/>
          </p:cNvSpPr>
          <p:nvPr/>
        </p:nvSpPr>
        <p:spPr bwMode="auto">
          <a:xfrm>
            <a:off x="2892425" y="3530601"/>
            <a:ext cx="12700" cy="15875"/>
          </a:xfrm>
          <a:custGeom>
            <a:avLst/>
            <a:gdLst>
              <a:gd name="T0" fmla="*/ 23 w 23"/>
              <a:gd name="T1" fmla="*/ 13 h 29"/>
              <a:gd name="T2" fmla="*/ 23 w 23"/>
              <a:gd name="T3" fmla="*/ 11 h 29"/>
              <a:gd name="T4" fmla="*/ 21 w 23"/>
              <a:gd name="T5" fmla="*/ 9 h 29"/>
              <a:gd name="T6" fmla="*/ 21 w 23"/>
              <a:gd name="T7" fmla="*/ 6 h 29"/>
              <a:gd name="T8" fmla="*/ 18 w 23"/>
              <a:gd name="T9" fmla="*/ 4 h 29"/>
              <a:gd name="T10" fmla="*/ 17 w 23"/>
              <a:gd name="T11" fmla="*/ 2 h 29"/>
              <a:gd name="T12" fmla="*/ 16 w 23"/>
              <a:gd name="T13" fmla="*/ 1 h 29"/>
              <a:gd name="T14" fmla="*/ 14 w 23"/>
              <a:gd name="T15" fmla="*/ 0 h 29"/>
              <a:gd name="T16" fmla="*/ 12 w 23"/>
              <a:gd name="T17" fmla="*/ 0 h 29"/>
              <a:gd name="T18" fmla="*/ 10 w 23"/>
              <a:gd name="T19" fmla="*/ 0 h 29"/>
              <a:gd name="T20" fmla="*/ 9 w 23"/>
              <a:gd name="T21" fmla="*/ 0 h 29"/>
              <a:gd name="T22" fmla="*/ 6 w 23"/>
              <a:gd name="T23" fmla="*/ 1 h 29"/>
              <a:gd name="T24" fmla="*/ 4 w 23"/>
              <a:gd name="T25" fmla="*/ 2 h 29"/>
              <a:gd name="T26" fmla="*/ 3 w 23"/>
              <a:gd name="T27" fmla="*/ 4 h 29"/>
              <a:gd name="T28" fmla="*/ 1 w 23"/>
              <a:gd name="T29" fmla="*/ 6 h 29"/>
              <a:gd name="T30" fmla="*/ 1 w 23"/>
              <a:gd name="T31" fmla="*/ 9 h 29"/>
              <a:gd name="T32" fmla="*/ 0 w 23"/>
              <a:gd name="T33" fmla="*/ 11 h 29"/>
              <a:gd name="T34" fmla="*/ 0 w 23"/>
              <a:gd name="T35" fmla="*/ 13 h 29"/>
              <a:gd name="T36" fmla="*/ 0 w 23"/>
              <a:gd name="T37" fmla="*/ 16 h 29"/>
              <a:gd name="T38" fmla="*/ 0 w 23"/>
              <a:gd name="T39" fmla="*/ 19 h 29"/>
              <a:gd name="T40" fmla="*/ 1 w 23"/>
              <a:gd name="T41" fmla="*/ 22 h 29"/>
              <a:gd name="T42" fmla="*/ 1 w 23"/>
              <a:gd name="T43" fmla="*/ 24 h 29"/>
              <a:gd name="T44" fmla="*/ 3 w 23"/>
              <a:gd name="T45" fmla="*/ 25 h 29"/>
              <a:gd name="T46" fmla="*/ 4 w 23"/>
              <a:gd name="T47" fmla="*/ 27 h 29"/>
              <a:gd name="T48" fmla="*/ 6 w 23"/>
              <a:gd name="T49" fmla="*/ 28 h 29"/>
              <a:gd name="T50" fmla="*/ 9 w 23"/>
              <a:gd name="T51" fmla="*/ 29 h 29"/>
              <a:gd name="T52" fmla="*/ 10 w 23"/>
              <a:gd name="T53" fmla="*/ 29 h 29"/>
              <a:gd name="T54" fmla="*/ 12 w 23"/>
              <a:gd name="T55" fmla="*/ 29 h 29"/>
              <a:gd name="T56" fmla="*/ 14 w 23"/>
              <a:gd name="T57" fmla="*/ 29 h 29"/>
              <a:gd name="T58" fmla="*/ 16 w 23"/>
              <a:gd name="T59" fmla="*/ 28 h 29"/>
              <a:gd name="T60" fmla="*/ 17 w 23"/>
              <a:gd name="T61" fmla="*/ 27 h 29"/>
              <a:gd name="T62" fmla="*/ 18 w 23"/>
              <a:gd name="T63" fmla="*/ 25 h 29"/>
              <a:gd name="T64" fmla="*/ 21 w 23"/>
              <a:gd name="T65" fmla="*/ 24 h 29"/>
              <a:gd name="T66" fmla="*/ 21 w 23"/>
              <a:gd name="T67" fmla="*/ 22 h 29"/>
              <a:gd name="T68" fmla="*/ 23 w 23"/>
              <a:gd name="T69" fmla="*/ 19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10"/>
                </a:lnTo>
                <a:lnTo>
                  <a:pt x="21" y="9"/>
                </a:lnTo>
                <a:lnTo>
                  <a:pt x="21" y="8"/>
                </a:lnTo>
                <a:lnTo>
                  <a:pt x="21" y="6"/>
                </a:lnTo>
                <a:lnTo>
                  <a:pt x="20" y="5"/>
                </a:lnTo>
                <a:lnTo>
                  <a:pt x="18" y="4"/>
                </a:lnTo>
                <a:lnTo>
                  <a:pt x="18" y="3"/>
                </a:lnTo>
                <a:lnTo>
                  <a:pt x="17" y="2"/>
                </a:lnTo>
                <a:lnTo>
                  <a:pt x="16" y="1"/>
                </a:lnTo>
                <a:lnTo>
                  <a:pt x="15" y="0"/>
                </a:lnTo>
                <a:lnTo>
                  <a:pt x="14" y="0"/>
                </a:lnTo>
                <a:lnTo>
                  <a:pt x="13" y="0"/>
                </a:lnTo>
                <a:lnTo>
                  <a:pt x="12" y="0"/>
                </a:lnTo>
                <a:lnTo>
                  <a:pt x="11" y="0"/>
                </a:lnTo>
                <a:lnTo>
                  <a:pt x="10" y="0"/>
                </a:lnTo>
                <a:lnTo>
                  <a:pt x="9" y="0"/>
                </a:lnTo>
                <a:lnTo>
                  <a:pt x="8" y="0"/>
                </a:lnTo>
                <a:lnTo>
                  <a:pt x="6" y="1"/>
                </a:lnTo>
                <a:lnTo>
                  <a:pt x="5" y="1"/>
                </a:lnTo>
                <a:lnTo>
                  <a:pt x="4" y="2"/>
                </a:lnTo>
                <a:lnTo>
                  <a:pt x="3" y="3"/>
                </a:lnTo>
                <a:lnTo>
                  <a:pt x="3" y="4"/>
                </a:lnTo>
                <a:lnTo>
                  <a:pt x="2" y="5"/>
                </a:lnTo>
                <a:lnTo>
                  <a:pt x="1" y="6"/>
                </a:lnTo>
                <a:lnTo>
                  <a:pt x="1" y="8"/>
                </a:lnTo>
                <a:lnTo>
                  <a:pt x="1" y="9"/>
                </a:lnTo>
                <a:lnTo>
                  <a:pt x="0" y="10"/>
                </a:lnTo>
                <a:lnTo>
                  <a:pt x="0" y="11"/>
                </a:lnTo>
                <a:lnTo>
                  <a:pt x="0" y="12"/>
                </a:lnTo>
                <a:lnTo>
                  <a:pt x="0" y="13"/>
                </a:lnTo>
                <a:lnTo>
                  <a:pt x="0" y="14"/>
                </a:lnTo>
                <a:lnTo>
                  <a:pt x="0" y="16"/>
                </a:lnTo>
                <a:lnTo>
                  <a:pt x="0" y="17"/>
                </a:lnTo>
                <a:lnTo>
                  <a:pt x="0" y="19"/>
                </a:lnTo>
                <a:lnTo>
                  <a:pt x="0" y="20"/>
                </a:lnTo>
                <a:lnTo>
                  <a:pt x="1" y="22"/>
                </a:lnTo>
                <a:lnTo>
                  <a:pt x="1" y="23"/>
                </a:lnTo>
                <a:lnTo>
                  <a:pt x="1" y="24"/>
                </a:lnTo>
                <a:lnTo>
                  <a:pt x="2" y="24"/>
                </a:lnTo>
                <a:lnTo>
                  <a:pt x="3" y="25"/>
                </a:lnTo>
                <a:lnTo>
                  <a:pt x="3" y="26"/>
                </a:lnTo>
                <a:lnTo>
                  <a:pt x="4" y="27"/>
                </a:lnTo>
                <a:lnTo>
                  <a:pt x="5" y="28"/>
                </a:lnTo>
                <a:lnTo>
                  <a:pt x="6" y="28"/>
                </a:lnTo>
                <a:lnTo>
                  <a:pt x="8" y="29"/>
                </a:lnTo>
                <a:lnTo>
                  <a:pt x="9" y="29"/>
                </a:lnTo>
                <a:lnTo>
                  <a:pt x="10" y="29"/>
                </a:lnTo>
                <a:lnTo>
                  <a:pt x="11" y="29"/>
                </a:lnTo>
                <a:lnTo>
                  <a:pt x="12" y="29"/>
                </a:lnTo>
                <a:lnTo>
                  <a:pt x="13" y="29"/>
                </a:lnTo>
                <a:lnTo>
                  <a:pt x="14" y="29"/>
                </a:lnTo>
                <a:lnTo>
                  <a:pt x="15" y="29"/>
                </a:lnTo>
                <a:lnTo>
                  <a:pt x="16" y="28"/>
                </a:lnTo>
                <a:lnTo>
                  <a:pt x="17" y="27"/>
                </a:lnTo>
                <a:lnTo>
                  <a:pt x="18" y="26"/>
                </a:lnTo>
                <a:lnTo>
                  <a:pt x="18" y="25"/>
                </a:lnTo>
                <a:lnTo>
                  <a:pt x="20" y="24"/>
                </a:lnTo>
                <a:lnTo>
                  <a:pt x="21" y="24"/>
                </a:lnTo>
                <a:lnTo>
                  <a:pt x="21" y="23"/>
                </a:lnTo>
                <a:lnTo>
                  <a:pt x="21" y="22"/>
                </a:lnTo>
                <a:lnTo>
                  <a:pt x="22" y="20"/>
                </a:lnTo>
                <a:lnTo>
                  <a:pt x="23" y="19"/>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37" name="Line 544">
            <a:extLst>
              <a:ext uri="{FF2B5EF4-FFF2-40B4-BE49-F238E27FC236}">
                <a16:creationId xmlns:a16="http://schemas.microsoft.com/office/drawing/2014/main" id="{B78196DE-EF9D-ED40-855D-9FB7CEE829D4}"/>
              </a:ext>
            </a:extLst>
          </p:cNvPr>
          <p:cNvSpPr>
            <a:spLocks noChangeShapeType="1"/>
          </p:cNvSpPr>
          <p:nvPr/>
        </p:nvSpPr>
        <p:spPr bwMode="auto">
          <a:xfrm>
            <a:off x="2989264" y="3449638"/>
            <a:ext cx="1587" cy="80962"/>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38" name="Line 545">
            <a:extLst>
              <a:ext uri="{FF2B5EF4-FFF2-40B4-BE49-F238E27FC236}">
                <a16:creationId xmlns:a16="http://schemas.microsoft.com/office/drawing/2014/main" id="{65D897F4-BF43-2A44-A65E-35248C31F5C8}"/>
              </a:ext>
            </a:extLst>
          </p:cNvPr>
          <p:cNvSpPr>
            <a:spLocks noChangeShapeType="1"/>
          </p:cNvSpPr>
          <p:nvPr/>
        </p:nvSpPr>
        <p:spPr bwMode="auto">
          <a:xfrm>
            <a:off x="2959101" y="3487739"/>
            <a:ext cx="61913"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39" name="Freeform 546">
            <a:extLst>
              <a:ext uri="{FF2B5EF4-FFF2-40B4-BE49-F238E27FC236}">
                <a16:creationId xmlns:a16="http://schemas.microsoft.com/office/drawing/2014/main" id="{2652DDED-C1F2-D84A-824F-2431FDA62E11}"/>
              </a:ext>
            </a:extLst>
          </p:cNvPr>
          <p:cNvSpPr>
            <a:spLocks/>
          </p:cNvSpPr>
          <p:nvPr/>
        </p:nvSpPr>
        <p:spPr bwMode="auto">
          <a:xfrm>
            <a:off x="8448675" y="3676651"/>
            <a:ext cx="325438" cy="339725"/>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40" name="Rectangle 547">
            <a:extLst>
              <a:ext uri="{FF2B5EF4-FFF2-40B4-BE49-F238E27FC236}">
                <a16:creationId xmlns:a16="http://schemas.microsoft.com/office/drawing/2014/main" id="{B6E8484F-D0E0-844B-8C3E-3D103137542D}"/>
              </a:ext>
            </a:extLst>
          </p:cNvPr>
          <p:cNvSpPr>
            <a:spLocks noChangeArrowheads="1"/>
          </p:cNvSpPr>
          <p:nvPr/>
        </p:nvSpPr>
        <p:spPr bwMode="auto">
          <a:xfrm>
            <a:off x="8478839" y="3779838"/>
            <a:ext cx="269875"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41" name="Rectangle 548">
            <a:extLst>
              <a:ext uri="{FF2B5EF4-FFF2-40B4-BE49-F238E27FC236}">
                <a16:creationId xmlns:a16="http://schemas.microsoft.com/office/drawing/2014/main" id="{0C112A7D-0089-8C4C-811D-ED3B738E98ED}"/>
              </a:ext>
            </a:extLst>
          </p:cNvPr>
          <p:cNvSpPr>
            <a:spLocks noChangeArrowheads="1"/>
          </p:cNvSpPr>
          <p:nvPr/>
        </p:nvSpPr>
        <p:spPr bwMode="auto">
          <a:xfrm>
            <a:off x="8521700" y="3833814"/>
            <a:ext cx="95250"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42" name="Rectangle 549">
            <a:extLst>
              <a:ext uri="{FF2B5EF4-FFF2-40B4-BE49-F238E27FC236}">
                <a16:creationId xmlns:a16="http://schemas.microsoft.com/office/drawing/2014/main" id="{5CECAADA-F702-6348-BD4C-683E7C830F48}"/>
              </a:ext>
            </a:extLst>
          </p:cNvPr>
          <p:cNvSpPr>
            <a:spLocks noChangeArrowheads="1"/>
          </p:cNvSpPr>
          <p:nvPr/>
        </p:nvSpPr>
        <p:spPr bwMode="auto">
          <a:xfrm>
            <a:off x="8658225" y="3829051"/>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43" name="Freeform 550">
            <a:extLst>
              <a:ext uri="{FF2B5EF4-FFF2-40B4-BE49-F238E27FC236}">
                <a16:creationId xmlns:a16="http://schemas.microsoft.com/office/drawing/2014/main" id="{754556DD-4D08-DA49-B387-77BF1FC1BBF6}"/>
              </a:ext>
            </a:extLst>
          </p:cNvPr>
          <p:cNvSpPr>
            <a:spLocks/>
          </p:cNvSpPr>
          <p:nvPr/>
        </p:nvSpPr>
        <p:spPr bwMode="auto">
          <a:xfrm>
            <a:off x="8591550" y="3910014"/>
            <a:ext cx="12700" cy="15875"/>
          </a:xfrm>
          <a:custGeom>
            <a:avLst/>
            <a:gdLst>
              <a:gd name="T0" fmla="*/ 23 w 23"/>
              <a:gd name="T1" fmla="*/ 14 h 30"/>
              <a:gd name="T2" fmla="*/ 23 w 23"/>
              <a:gd name="T3" fmla="*/ 11 h 30"/>
              <a:gd name="T4" fmla="*/ 21 w 23"/>
              <a:gd name="T5" fmla="*/ 9 h 30"/>
              <a:gd name="T6" fmla="*/ 21 w 23"/>
              <a:gd name="T7" fmla="*/ 7 h 30"/>
              <a:gd name="T8" fmla="*/ 18 w 23"/>
              <a:gd name="T9" fmla="*/ 5 h 30"/>
              <a:gd name="T10" fmla="*/ 17 w 23"/>
              <a:gd name="T11" fmla="*/ 3 h 30"/>
              <a:gd name="T12" fmla="*/ 16 w 23"/>
              <a:gd name="T13" fmla="*/ 2 h 30"/>
              <a:gd name="T14" fmla="*/ 14 w 23"/>
              <a:gd name="T15" fmla="*/ 0 h 30"/>
              <a:gd name="T16" fmla="*/ 12 w 23"/>
              <a:gd name="T17" fmla="*/ 0 h 30"/>
              <a:gd name="T18" fmla="*/ 10 w 23"/>
              <a:gd name="T19" fmla="*/ 0 h 30"/>
              <a:gd name="T20" fmla="*/ 9 w 23"/>
              <a:gd name="T21" fmla="*/ 0 h 30"/>
              <a:gd name="T22" fmla="*/ 6 w 23"/>
              <a:gd name="T23" fmla="*/ 2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3 w 23"/>
              <a:gd name="T45" fmla="*/ 26 h 30"/>
              <a:gd name="T46" fmla="*/ 4 w 23"/>
              <a:gd name="T47" fmla="*/ 28 h 30"/>
              <a:gd name="T48" fmla="*/ 6 w 23"/>
              <a:gd name="T49" fmla="*/ 29 h 30"/>
              <a:gd name="T50" fmla="*/ 9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1 w 23"/>
              <a:gd name="T65" fmla="*/ 25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3"/>
                </a:lnTo>
                <a:lnTo>
                  <a:pt x="23" y="11"/>
                </a:lnTo>
                <a:lnTo>
                  <a:pt x="22" y="10"/>
                </a:lnTo>
                <a:lnTo>
                  <a:pt x="21" y="9"/>
                </a:lnTo>
                <a:lnTo>
                  <a:pt x="21" y="8"/>
                </a:lnTo>
                <a:lnTo>
                  <a:pt x="21" y="7"/>
                </a:lnTo>
                <a:lnTo>
                  <a:pt x="20" y="6"/>
                </a:lnTo>
                <a:lnTo>
                  <a:pt x="18" y="5"/>
                </a:lnTo>
                <a:lnTo>
                  <a:pt x="18" y="4"/>
                </a:lnTo>
                <a:lnTo>
                  <a:pt x="17" y="3"/>
                </a:lnTo>
                <a:lnTo>
                  <a:pt x="16" y="2"/>
                </a:lnTo>
                <a:lnTo>
                  <a:pt x="15" y="0"/>
                </a:lnTo>
                <a:lnTo>
                  <a:pt x="14" y="0"/>
                </a:lnTo>
                <a:lnTo>
                  <a:pt x="13" y="0"/>
                </a:lnTo>
                <a:lnTo>
                  <a:pt x="12" y="0"/>
                </a:lnTo>
                <a:lnTo>
                  <a:pt x="11" y="0"/>
                </a:lnTo>
                <a:lnTo>
                  <a:pt x="10" y="0"/>
                </a:lnTo>
                <a:lnTo>
                  <a:pt x="9" y="0"/>
                </a:lnTo>
                <a:lnTo>
                  <a:pt x="7" y="0"/>
                </a:lnTo>
                <a:lnTo>
                  <a:pt x="6" y="2"/>
                </a:lnTo>
                <a:lnTo>
                  <a:pt x="5" y="2"/>
                </a:lnTo>
                <a:lnTo>
                  <a:pt x="4" y="3"/>
                </a:lnTo>
                <a:lnTo>
                  <a:pt x="3" y="4"/>
                </a:lnTo>
                <a:lnTo>
                  <a:pt x="3" y="5"/>
                </a:lnTo>
                <a:lnTo>
                  <a:pt x="2" y="6"/>
                </a:lnTo>
                <a:lnTo>
                  <a:pt x="1" y="7"/>
                </a:lnTo>
                <a:lnTo>
                  <a:pt x="1" y="8"/>
                </a:lnTo>
                <a:lnTo>
                  <a:pt x="1" y="9"/>
                </a:lnTo>
                <a:lnTo>
                  <a:pt x="0" y="10"/>
                </a:lnTo>
                <a:lnTo>
                  <a:pt x="0" y="11"/>
                </a:lnTo>
                <a:lnTo>
                  <a:pt x="0" y="13"/>
                </a:lnTo>
                <a:lnTo>
                  <a:pt x="0" y="14"/>
                </a:lnTo>
                <a:lnTo>
                  <a:pt x="0" y="15"/>
                </a:lnTo>
                <a:lnTo>
                  <a:pt x="0" y="17"/>
                </a:lnTo>
                <a:lnTo>
                  <a:pt x="0" y="18"/>
                </a:lnTo>
                <a:lnTo>
                  <a:pt x="0" y="19"/>
                </a:lnTo>
                <a:lnTo>
                  <a:pt x="0" y="20"/>
                </a:lnTo>
                <a:lnTo>
                  <a:pt x="1" y="22"/>
                </a:lnTo>
                <a:lnTo>
                  <a:pt x="1" y="24"/>
                </a:lnTo>
                <a:lnTo>
                  <a:pt x="1" y="25"/>
                </a:lnTo>
                <a:lnTo>
                  <a:pt x="2" y="25"/>
                </a:lnTo>
                <a:lnTo>
                  <a:pt x="3" y="26"/>
                </a:lnTo>
                <a:lnTo>
                  <a:pt x="3" y="27"/>
                </a:lnTo>
                <a:lnTo>
                  <a:pt x="4" y="28"/>
                </a:lnTo>
                <a:lnTo>
                  <a:pt x="5" y="29"/>
                </a:lnTo>
                <a:lnTo>
                  <a:pt x="6" y="29"/>
                </a:lnTo>
                <a:lnTo>
                  <a:pt x="7" y="30"/>
                </a:lnTo>
                <a:lnTo>
                  <a:pt x="9" y="30"/>
                </a:lnTo>
                <a:lnTo>
                  <a:pt x="10" y="30"/>
                </a:lnTo>
                <a:lnTo>
                  <a:pt x="11" y="30"/>
                </a:lnTo>
                <a:lnTo>
                  <a:pt x="12" y="30"/>
                </a:lnTo>
                <a:lnTo>
                  <a:pt x="13" y="30"/>
                </a:lnTo>
                <a:lnTo>
                  <a:pt x="14" y="30"/>
                </a:lnTo>
                <a:lnTo>
                  <a:pt x="15" y="30"/>
                </a:lnTo>
                <a:lnTo>
                  <a:pt x="16" y="29"/>
                </a:lnTo>
                <a:lnTo>
                  <a:pt x="17" y="28"/>
                </a:lnTo>
                <a:lnTo>
                  <a:pt x="18" y="27"/>
                </a:lnTo>
                <a:lnTo>
                  <a:pt x="18" y="26"/>
                </a:lnTo>
                <a:lnTo>
                  <a:pt x="20" y="25"/>
                </a:lnTo>
                <a:lnTo>
                  <a:pt x="21" y="25"/>
                </a:lnTo>
                <a:lnTo>
                  <a:pt x="21" y="24"/>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44" name="Line 551">
            <a:extLst>
              <a:ext uri="{FF2B5EF4-FFF2-40B4-BE49-F238E27FC236}">
                <a16:creationId xmlns:a16="http://schemas.microsoft.com/office/drawing/2014/main" id="{FC5E2A4E-83E6-3043-BCFC-C1224C808FDC}"/>
              </a:ext>
            </a:extLst>
          </p:cNvPr>
          <p:cNvSpPr>
            <a:spLocks noChangeShapeType="1"/>
          </p:cNvSpPr>
          <p:nvPr/>
        </p:nvSpPr>
        <p:spPr bwMode="auto">
          <a:xfrm>
            <a:off x="8688389" y="3829051"/>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45" name="Line 552">
            <a:extLst>
              <a:ext uri="{FF2B5EF4-FFF2-40B4-BE49-F238E27FC236}">
                <a16:creationId xmlns:a16="http://schemas.microsoft.com/office/drawing/2014/main" id="{0D163154-B6A5-AD4F-A1AB-E8CEBE2C811B}"/>
              </a:ext>
            </a:extLst>
          </p:cNvPr>
          <p:cNvSpPr>
            <a:spLocks noChangeShapeType="1"/>
          </p:cNvSpPr>
          <p:nvPr/>
        </p:nvSpPr>
        <p:spPr bwMode="auto">
          <a:xfrm>
            <a:off x="8658226" y="3867150"/>
            <a:ext cx="61913"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46" name="Freeform 553">
            <a:extLst>
              <a:ext uri="{FF2B5EF4-FFF2-40B4-BE49-F238E27FC236}">
                <a16:creationId xmlns:a16="http://schemas.microsoft.com/office/drawing/2014/main" id="{81016E6E-395A-F449-ACDD-7B7301B446DE}"/>
              </a:ext>
            </a:extLst>
          </p:cNvPr>
          <p:cNvSpPr>
            <a:spLocks/>
          </p:cNvSpPr>
          <p:nvPr/>
        </p:nvSpPr>
        <p:spPr bwMode="auto">
          <a:xfrm>
            <a:off x="5353050" y="5938839"/>
            <a:ext cx="325438" cy="339725"/>
          </a:xfrm>
          <a:custGeom>
            <a:avLst/>
            <a:gdLst>
              <a:gd name="T0" fmla="*/ 56 w 615"/>
              <a:gd name="T1" fmla="*/ 195 h 643"/>
              <a:gd name="T2" fmla="*/ 0 w 615"/>
              <a:gd name="T3" fmla="*/ 195 h 643"/>
              <a:gd name="T4" fmla="*/ 307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7"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47" name="Rectangle 554">
            <a:extLst>
              <a:ext uri="{FF2B5EF4-FFF2-40B4-BE49-F238E27FC236}">
                <a16:creationId xmlns:a16="http://schemas.microsoft.com/office/drawing/2014/main" id="{594A17FB-9338-FB4E-9E97-C499EB2F4899}"/>
              </a:ext>
            </a:extLst>
          </p:cNvPr>
          <p:cNvSpPr>
            <a:spLocks noChangeArrowheads="1"/>
          </p:cNvSpPr>
          <p:nvPr/>
        </p:nvSpPr>
        <p:spPr bwMode="auto">
          <a:xfrm>
            <a:off x="5383214" y="6042026"/>
            <a:ext cx="268287"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48" name="Rectangle 555">
            <a:extLst>
              <a:ext uri="{FF2B5EF4-FFF2-40B4-BE49-F238E27FC236}">
                <a16:creationId xmlns:a16="http://schemas.microsoft.com/office/drawing/2014/main" id="{39CE77C8-2347-2246-9C19-09CF1F874C1E}"/>
              </a:ext>
            </a:extLst>
          </p:cNvPr>
          <p:cNvSpPr>
            <a:spLocks noChangeArrowheads="1"/>
          </p:cNvSpPr>
          <p:nvPr/>
        </p:nvSpPr>
        <p:spPr bwMode="auto">
          <a:xfrm>
            <a:off x="5426076" y="6094414"/>
            <a:ext cx="93663"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49" name="Rectangle 556">
            <a:extLst>
              <a:ext uri="{FF2B5EF4-FFF2-40B4-BE49-F238E27FC236}">
                <a16:creationId xmlns:a16="http://schemas.microsoft.com/office/drawing/2014/main" id="{1E60A86B-D91E-564B-8DEF-1B53B86E7B7F}"/>
              </a:ext>
            </a:extLst>
          </p:cNvPr>
          <p:cNvSpPr>
            <a:spLocks noChangeArrowheads="1"/>
          </p:cNvSpPr>
          <p:nvPr/>
        </p:nvSpPr>
        <p:spPr bwMode="auto">
          <a:xfrm>
            <a:off x="5561014" y="6089651"/>
            <a:ext cx="65087"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50" name="Freeform 557">
            <a:extLst>
              <a:ext uri="{FF2B5EF4-FFF2-40B4-BE49-F238E27FC236}">
                <a16:creationId xmlns:a16="http://schemas.microsoft.com/office/drawing/2014/main" id="{42B6EEDD-BA63-F942-A825-937F9A373147}"/>
              </a:ext>
            </a:extLst>
          </p:cNvPr>
          <p:cNvSpPr>
            <a:spLocks/>
          </p:cNvSpPr>
          <p:nvPr/>
        </p:nvSpPr>
        <p:spPr bwMode="auto">
          <a:xfrm>
            <a:off x="5495926" y="6172201"/>
            <a:ext cx="11113" cy="15875"/>
          </a:xfrm>
          <a:custGeom>
            <a:avLst/>
            <a:gdLst>
              <a:gd name="T0" fmla="*/ 23 w 23"/>
              <a:gd name="T1" fmla="*/ 13 h 30"/>
              <a:gd name="T2" fmla="*/ 23 w 23"/>
              <a:gd name="T3" fmla="*/ 11 h 30"/>
              <a:gd name="T4" fmla="*/ 21 w 23"/>
              <a:gd name="T5" fmla="*/ 9 h 30"/>
              <a:gd name="T6" fmla="*/ 21 w 23"/>
              <a:gd name="T7" fmla="*/ 7 h 30"/>
              <a:gd name="T8" fmla="*/ 19 w 23"/>
              <a:gd name="T9" fmla="*/ 4 h 30"/>
              <a:gd name="T10" fmla="*/ 18 w 23"/>
              <a:gd name="T11" fmla="*/ 2 h 30"/>
              <a:gd name="T12" fmla="*/ 17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4 w 23"/>
              <a:gd name="T25" fmla="*/ 2 h 30"/>
              <a:gd name="T26" fmla="*/ 3 w 23"/>
              <a:gd name="T27" fmla="*/ 4 h 30"/>
              <a:gd name="T28" fmla="*/ 1 w 23"/>
              <a:gd name="T29" fmla="*/ 7 h 30"/>
              <a:gd name="T30" fmla="*/ 1 w 23"/>
              <a:gd name="T31" fmla="*/ 9 h 30"/>
              <a:gd name="T32" fmla="*/ 0 w 23"/>
              <a:gd name="T33" fmla="*/ 11 h 30"/>
              <a:gd name="T34" fmla="*/ 0 w 23"/>
              <a:gd name="T35" fmla="*/ 13 h 30"/>
              <a:gd name="T36" fmla="*/ 0 w 23"/>
              <a:gd name="T37" fmla="*/ 16 h 30"/>
              <a:gd name="T38" fmla="*/ 0 w 23"/>
              <a:gd name="T39" fmla="*/ 19 h 30"/>
              <a:gd name="T40" fmla="*/ 1 w 23"/>
              <a:gd name="T41" fmla="*/ 22 h 30"/>
              <a:gd name="T42" fmla="*/ 1 w 23"/>
              <a:gd name="T43" fmla="*/ 24 h 30"/>
              <a:gd name="T44" fmla="*/ 3 w 23"/>
              <a:gd name="T45" fmla="*/ 25 h 30"/>
              <a:gd name="T46" fmla="*/ 4 w 23"/>
              <a:gd name="T47" fmla="*/ 27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7 h 30"/>
              <a:gd name="T62" fmla="*/ 19 w 23"/>
              <a:gd name="T63" fmla="*/ 25 h 30"/>
              <a:gd name="T64" fmla="*/ 21 w 23"/>
              <a:gd name="T65" fmla="*/ 24 h 30"/>
              <a:gd name="T66" fmla="*/ 21 w 23"/>
              <a:gd name="T67" fmla="*/ 22 h 30"/>
              <a:gd name="T68" fmla="*/ 23 w 23"/>
              <a:gd name="T69" fmla="*/ 19 h 30"/>
              <a:gd name="T70" fmla="*/ 23 w 23"/>
              <a:gd name="T71" fmla="*/ 16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5"/>
                </a:lnTo>
                <a:lnTo>
                  <a:pt x="19" y="4"/>
                </a:lnTo>
                <a:lnTo>
                  <a:pt x="19" y="3"/>
                </a:lnTo>
                <a:lnTo>
                  <a:pt x="18" y="2"/>
                </a:lnTo>
                <a:lnTo>
                  <a:pt x="17" y="1"/>
                </a:lnTo>
                <a:lnTo>
                  <a:pt x="15" y="0"/>
                </a:lnTo>
                <a:lnTo>
                  <a:pt x="14" y="0"/>
                </a:lnTo>
                <a:lnTo>
                  <a:pt x="13" y="0"/>
                </a:lnTo>
                <a:lnTo>
                  <a:pt x="12" y="0"/>
                </a:lnTo>
                <a:lnTo>
                  <a:pt x="11" y="0"/>
                </a:lnTo>
                <a:lnTo>
                  <a:pt x="10" y="0"/>
                </a:lnTo>
                <a:lnTo>
                  <a:pt x="9" y="0"/>
                </a:lnTo>
                <a:lnTo>
                  <a:pt x="8" y="0"/>
                </a:lnTo>
                <a:lnTo>
                  <a:pt x="7" y="1"/>
                </a:lnTo>
                <a:lnTo>
                  <a:pt x="6" y="1"/>
                </a:lnTo>
                <a:lnTo>
                  <a:pt x="4" y="2"/>
                </a:lnTo>
                <a:lnTo>
                  <a:pt x="3" y="3"/>
                </a:lnTo>
                <a:lnTo>
                  <a:pt x="3" y="4"/>
                </a:lnTo>
                <a:lnTo>
                  <a:pt x="2" y="5"/>
                </a:lnTo>
                <a:lnTo>
                  <a:pt x="1" y="7"/>
                </a:lnTo>
                <a:lnTo>
                  <a:pt x="1" y="8"/>
                </a:lnTo>
                <a:lnTo>
                  <a:pt x="1" y="9"/>
                </a:lnTo>
                <a:lnTo>
                  <a:pt x="0" y="10"/>
                </a:lnTo>
                <a:lnTo>
                  <a:pt x="0" y="11"/>
                </a:lnTo>
                <a:lnTo>
                  <a:pt x="0" y="12"/>
                </a:lnTo>
                <a:lnTo>
                  <a:pt x="0" y="13"/>
                </a:lnTo>
                <a:lnTo>
                  <a:pt x="0" y="14"/>
                </a:lnTo>
                <a:lnTo>
                  <a:pt x="0" y="16"/>
                </a:lnTo>
                <a:lnTo>
                  <a:pt x="0" y="18"/>
                </a:lnTo>
                <a:lnTo>
                  <a:pt x="0" y="19"/>
                </a:lnTo>
                <a:lnTo>
                  <a:pt x="0" y="20"/>
                </a:lnTo>
                <a:lnTo>
                  <a:pt x="1" y="22"/>
                </a:lnTo>
                <a:lnTo>
                  <a:pt x="1" y="23"/>
                </a:lnTo>
                <a:lnTo>
                  <a:pt x="1" y="24"/>
                </a:lnTo>
                <a:lnTo>
                  <a:pt x="2" y="24"/>
                </a:lnTo>
                <a:lnTo>
                  <a:pt x="3" y="25"/>
                </a:lnTo>
                <a:lnTo>
                  <a:pt x="3" y="26"/>
                </a:lnTo>
                <a:lnTo>
                  <a:pt x="4" y="27"/>
                </a:lnTo>
                <a:lnTo>
                  <a:pt x="6" y="29"/>
                </a:lnTo>
                <a:lnTo>
                  <a:pt x="7" y="29"/>
                </a:lnTo>
                <a:lnTo>
                  <a:pt x="8" y="30"/>
                </a:lnTo>
                <a:lnTo>
                  <a:pt x="9" y="30"/>
                </a:lnTo>
                <a:lnTo>
                  <a:pt x="10" y="30"/>
                </a:lnTo>
                <a:lnTo>
                  <a:pt x="11" y="30"/>
                </a:lnTo>
                <a:lnTo>
                  <a:pt x="12" y="30"/>
                </a:lnTo>
                <a:lnTo>
                  <a:pt x="13" y="30"/>
                </a:lnTo>
                <a:lnTo>
                  <a:pt x="14" y="30"/>
                </a:lnTo>
                <a:lnTo>
                  <a:pt x="15" y="30"/>
                </a:lnTo>
                <a:lnTo>
                  <a:pt x="17" y="29"/>
                </a:lnTo>
                <a:lnTo>
                  <a:pt x="18" y="27"/>
                </a:lnTo>
                <a:lnTo>
                  <a:pt x="19" y="26"/>
                </a:lnTo>
                <a:lnTo>
                  <a:pt x="19" y="25"/>
                </a:lnTo>
                <a:lnTo>
                  <a:pt x="20" y="24"/>
                </a:lnTo>
                <a:lnTo>
                  <a:pt x="21" y="24"/>
                </a:lnTo>
                <a:lnTo>
                  <a:pt x="21" y="23"/>
                </a:lnTo>
                <a:lnTo>
                  <a:pt x="21" y="22"/>
                </a:lnTo>
                <a:lnTo>
                  <a:pt x="22" y="20"/>
                </a:lnTo>
                <a:lnTo>
                  <a:pt x="23" y="19"/>
                </a:lnTo>
                <a:lnTo>
                  <a:pt x="23" y="18"/>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51" name="Line 558">
            <a:extLst>
              <a:ext uri="{FF2B5EF4-FFF2-40B4-BE49-F238E27FC236}">
                <a16:creationId xmlns:a16="http://schemas.microsoft.com/office/drawing/2014/main" id="{656B73FE-27D7-AD4E-B199-9CAAD0233C9B}"/>
              </a:ext>
            </a:extLst>
          </p:cNvPr>
          <p:cNvSpPr>
            <a:spLocks noChangeShapeType="1"/>
          </p:cNvSpPr>
          <p:nvPr/>
        </p:nvSpPr>
        <p:spPr bwMode="auto">
          <a:xfrm>
            <a:off x="5592764" y="609123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52" name="Line 559">
            <a:extLst>
              <a:ext uri="{FF2B5EF4-FFF2-40B4-BE49-F238E27FC236}">
                <a16:creationId xmlns:a16="http://schemas.microsoft.com/office/drawing/2014/main" id="{B5D884FF-D019-B748-BB41-0B8D6350EB11}"/>
              </a:ext>
            </a:extLst>
          </p:cNvPr>
          <p:cNvSpPr>
            <a:spLocks noChangeShapeType="1"/>
          </p:cNvSpPr>
          <p:nvPr/>
        </p:nvSpPr>
        <p:spPr bwMode="auto">
          <a:xfrm>
            <a:off x="5561013" y="6129339"/>
            <a:ext cx="63500"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53" name="Freeform 560">
            <a:extLst>
              <a:ext uri="{FF2B5EF4-FFF2-40B4-BE49-F238E27FC236}">
                <a16:creationId xmlns:a16="http://schemas.microsoft.com/office/drawing/2014/main" id="{B47C99C6-8C94-B74C-8861-B13F3023D403}"/>
              </a:ext>
            </a:extLst>
          </p:cNvPr>
          <p:cNvSpPr>
            <a:spLocks/>
          </p:cNvSpPr>
          <p:nvPr/>
        </p:nvSpPr>
        <p:spPr bwMode="auto">
          <a:xfrm>
            <a:off x="5972175" y="4598989"/>
            <a:ext cx="325438" cy="339725"/>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5 h 643"/>
              <a:gd name="T14" fmla="*/ 56 w 614"/>
              <a:gd name="T15" fmla="*/ 615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5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5"/>
                </a:lnTo>
                <a:lnTo>
                  <a:pt x="56" y="615"/>
                </a:lnTo>
                <a:lnTo>
                  <a:pt x="56" y="195"/>
                </a:lnTo>
                <a:lnTo>
                  <a:pt x="558" y="195"/>
                </a:lnTo>
                <a:lnTo>
                  <a:pt x="587" y="195"/>
                </a:lnTo>
                <a:lnTo>
                  <a:pt x="587" y="643"/>
                </a:lnTo>
                <a:lnTo>
                  <a:pt x="56" y="643"/>
                </a:lnTo>
                <a:lnTo>
                  <a:pt x="56" y="615"/>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54" name="Rectangle 561">
            <a:extLst>
              <a:ext uri="{FF2B5EF4-FFF2-40B4-BE49-F238E27FC236}">
                <a16:creationId xmlns:a16="http://schemas.microsoft.com/office/drawing/2014/main" id="{BD79CD41-D950-5646-8C88-0A623447CD6B}"/>
              </a:ext>
            </a:extLst>
          </p:cNvPr>
          <p:cNvSpPr>
            <a:spLocks noChangeArrowheads="1"/>
          </p:cNvSpPr>
          <p:nvPr/>
        </p:nvSpPr>
        <p:spPr bwMode="auto">
          <a:xfrm>
            <a:off x="6002339" y="4702176"/>
            <a:ext cx="269875"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55" name="Rectangle 562">
            <a:extLst>
              <a:ext uri="{FF2B5EF4-FFF2-40B4-BE49-F238E27FC236}">
                <a16:creationId xmlns:a16="http://schemas.microsoft.com/office/drawing/2014/main" id="{56CA95AC-ECAD-B340-8B6E-3CD1CB4B2F90}"/>
              </a:ext>
            </a:extLst>
          </p:cNvPr>
          <p:cNvSpPr>
            <a:spLocks noChangeArrowheads="1"/>
          </p:cNvSpPr>
          <p:nvPr/>
        </p:nvSpPr>
        <p:spPr bwMode="auto">
          <a:xfrm>
            <a:off x="6045200" y="4754564"/>
            <a:ext cx="95250"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56" name="Rectangle 563">
            <a:extLst>
              <a:ext uri="{FF2B5EF4-FFF2-40B4-BE49-F238E27FC236}">
                <a16:creationId xmlns:a16="http://schemas.microsoft.com/office/drawing/2014/main" id="{7E8663F1-EFB2-6B43-B78B-130AB06D9609}"/>
              </a:ext>
            </a:extLst>
          </p:cNvPr>
          <p:cNvSpPr>
            <a:spLocks noChangeArrowheads="1"/>
          </p:cNvSpPr>
          <p:nvPr/>
        </p:nvSpPr>
        <p:spPr bwMode="auto">
          <a:xfrm>
            <a:off x="6181725" y="4751389"/>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57" name="Freeform 564">
            <a:extLst>
              <a:ext uri="{FF2B5EF4-FFF2-40B4-BE49-F238E27FC236}">
                <a16:creationId xmlns:a16="http://schemas.microsoft.com/office/drawing/2014/main" id="{B3CC6FB7-55EC-A141-B579-FF848AC18E63}"/>
              </a:ext>
            </a:extLst>
          </p:cNvPr>
          <p:cNvSpPr>
            <a:spLocks/>
          </p:cNvSpPr>
          <p:nvPr/>
        </p:nvSpPr>
        <p:spPr bwMode="auto">
          <a:xfrm>
            <a:off x="6115050" y="4832351"/>
            <a:ext cx="12700" cy="15875"/>
          </a:xfrm>
          <a:custGeom>
            <a:avLst/>
            <a:gdLst>
              <a:gd name="T0" fmla="*/ 23 w 23"/>
              <a:gd name="T1" fmla="*/ 13 h 30"/>
              <a:gd name="T2" fmla="*/ 23 w 23"/>
              <a:gd name="T3" fmla="*/ 11 h 30"/>
              <a:gd name="T4" fmla="*/ 21 w 23"/>
              <a:gd name="T5" fmla="*/ 9 h 30"/>
              <a:gd name="T6" fmla="*/ 21 w 23"/>
              <a:gd name="T7" fmla="*/ 7 h 30"/>
              <a:gd name="T8" fmla="*/ 18 w 23"/>
              <a:gd name="T9" fmla="*/ 5 h 30"/>
              <a:gd name="T10" fmla="*/ 17 w 23"/>
              <a:gd name="T11" fmla="*/ 2 h 30"/>
              <a:gd name="T12" fmla="*/ 16 w 23"/>
              <a:gd name="T13" fmla="*/ 1 h 30"/>
              <a:gd name="T14" fmla="*/ 14 w 23"/>
              <a:gd name="T15" fmla="*/ 0 h 30"/>
              <a:gd name="T16" fmla="*/ 12 w 23"/>
              <a:gd name="T17" fmla="*/ 0 h 30"/>
              <a:gd name="T18" fmla="*/ 10 w 23"/>
              <a:gd name="T19" fmla="*/ 0 h 30"/>
              <a:gd name="T20" fmla="*/ 8 w 23"/>
              <a:gd name="T21" fmla="*/ 0 h 30"/>
              <a:gd name="T22" fmla="*/ 6 w 23"/>
              <a:gd name="T23" fmla="*/ 1 h 30"/>
              <a:gd name="T24" fmla="*/ 4 w 23"/>
              <a:gd name="T25" fmla="*/ 2 h 30"/>
              <a:gd name="T26" fmla="*/ 3 w 23"/>
              <a:gd name="T27" fmla="*/ 5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5 h 30"/>
              <a:gd name="T46" fmla="*/ 4 w 23"/>
              <a:gd name="T47" fmla="*/ 28 h 30"/>
              <a:gd name="T48" fmla="*/ 6 w 23"/>
              <a:gd name="T49" fmla="*/ 29 h 30"/>
              <a:gd name="T50" fmla="*/ 8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19" y="6"/>
                </a:lnTo>
                <a:lnTo>
                  <a:pt x="18" y="5"/>
                </a:lnTo>
                <a:lnTo>
                  <a:pt x="18" y="3"/>
                </a:lnTo>
                <a:lnTo>
                  <a:pt x="17" y="2"/>
                </a:lnTo>
                <a:lnTo>
                  <a:pt x="16" y="1"/>
                </a:lnTo>
                <a:lnTo>
                  <a:pt x="15" y="0"/>
                </a:lnTo>
                <a:lnTo>
                  <a:pt x="14" y="0"/>
                </a:lnTo>
                <a:lnTo>
                  <a:pt x="13" y="0"/>
                </a:lnTo>
                <a:lnTo>
                  <a:pt x="12" y="0"/>
                </a:lnTo>
                <a:lnTo>
                  <a:pt x="11" y="0"/>
                </a:lnTo>
                <a:lnTo>
                  <a:pt x="10" y="0"/>
                </a:lnTo>
                <a:lnTo>
                  <a:pt x="8" y="0"/>
                </a:lnTo>
                <a:lnTo>
                  <a:pt x="7" y="0"/>
                </a:lnTo>
                <a:lnTo>
                  <a:pt x="6" y="1"/>
                </a:lnTo>
                <a:lnTo>
                  <a:pt x="5" y="1"/>
                </a:lnTo>
                <a:lnTo>
                  <a:pt x="4" y="2"/>
                </a:lnTo>
                <a:lnTo>
                  <a:pt x="3" y="3"/>
                </a:lnTo>
                <a:lnTo>
                  <a:pt x="3" y="5"/>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3" y="25"/>
                </a:lnTo>
                <a:lnTo>
                  <a:pt x="3" y="26"/>
                </a:lnTo>
                <a:lnTo>
                  <a:pt x="4" y="28"/>
                </a:lnTo>
                <a:lnTo>
                  <a:pt x="5" y="29"/>
                </a:lnTo>
                <a:lnTo>
                  <a:pt x="6" y="29"/>
                </a:lnTo>
                <a:lnTo>
                  <a:pt x="7" y="30"/>
                </a:lnTo>
                <a:lnTo>
                  <a:pt x="8" y="30"/>
                </a:lnTo>
                <a:lnTo>
                  <a:pt x="10" y="30"/>
                </a:lnTo>
                <a:lnTo>
                  <a:pt x="11" y="30"/>
                </a:lnTo>
                <a:lnTo>
                  <a:pt x="12" y="30"/>
                </a:lnTo>
                <a:lnTo>
                  <a:pt x="13" y="30"/>
                </a:lnTo>
                <a:lnTo>
                  <a:pt x="14" y="30"/>
                </a:lnTo>
                <a:lnTo>
                  <a:pt x="15" y="30"/>
                </a:lnTo>
                <a:lnTo>
                  <a:pt x="16" y="29"/>
                </a:lnTo>
                <a:lnTo>
                  <a:pt x="17" y="28"/>
                </a:lnTo>
                <a:lnTo>
                  <a:pt x="18" y="26"/>
                </a:lnTo>
                <a:lnTo>
                  <a:pt x="18" y="25"/>
                </a:lnTo>
                <a:lnTo>
                  <a:pt x="19"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58" name="Line 565">
            <a:extLst>
              <a:ext uri="{FF2B5EF4-FFF2-40B4-BE49-F238E27FC236}">
                <a16:creationId xmlns:a16="http://schemas.microsoft.com/office/drawing/2014/main" id="{9DDD2A13-4704-434A-9268-F078FE9E9327}"/>
              </a:ext>
            </a:extLst>
          </p:cNvPr>
          <p:cNvSpPr>
            <a:spLocks noChangeShapeType="1"/>
          </p:cNvSpPr>
          <p:nvPr/>
        </p:nvSpPr>
        <p:spPr bwMode="auto">
          <a:xfrm>
            <a:off x="6211889" y="475138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59" name="Line 566">
            <a:extLst>
              <a:ext uri="{FF2B5EF4-FFF2-40B4-BE49-F238E27FC236}">
                <a16:creationId xmlns:a16="http://schemas.microsoft.com/office/drawing/2014/main" id="{399F5AC6-4987-D246-94CC-4602EC05FB83}"/>
              </a:ext>
            </a:extLst>
          </p:cNvPr>
          <p:cNvSpPr>
            <a:spLocks noChangeShapeType="1"/>
          </p:cNvSpPr>
          <p:nvPr/>
        </p:nvSpPr>
        <p:spPr bwMode="auto">
          <a:xfrm>
            <a:off x="6181726" y="4789489"/>
            <a:ext cx="61913"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60" name="Freeform 567">
            <a:extLst>
              <a:ext uri="{FF2B5EF4-FFF2-40B4-BE49-F238E27FC236}">
                <a16:creationId xmlns:a16="http://schemas.microsoft.com/office/drawing/2014/main" id="{8848A8C6-F291-6348-B0B1-0CF6A2B71E70}"/>
              </a:ext>
            </a:extLst>
          </p:cNvPr>
          <p:cNvSpPr>
            <a:spLocks/>
          </p:cNvSpPr>
          <p:nvPr/>
        </p:nvSpPr>
        <p:spPr bwMode="auto">
          <a:xfrm>
            <a:off x="5189539" y="4219576"/>
            <a:ext cx="325437" cy="339725"/>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61" name="Rectangle 568">
            <a:extLst>
              <a:ext uri="{FF2B5EF4-FFF2-40B4-BE49-F238E27FC236}">
                <a16:creationId xmlns:a16="http://schemas.microsoft.com/office/drawing/2014/main" id="{B3F49BA8-69A6-4747-BD9A-830DBE3E7CEE}"/>
              </a:ext>
            </a:extLst>
          </p:cNvPr>
          <p:cNvSpPr>
            <a:spLocks noChangeArrowheads="1"/>
          </p:cNvSpPr>
          <p:nvPr/>
        </p:nvSpPr>
        <p:spPr bwMode="auto">
          <a:xfrm>
            <a:off x="5219700" y="4322763"/>
            <a:ext cx="268288" cy="220662"/>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62" name="Rectangle 569">
            <a:extLst>
              <a:ext uri="{FF2B5EF4-FFF2-40B4-BE49-F238E27FC236}">
                <a16:creationId xmlns:a16="http://schemas.microsoft.com/office/drawing/2014/main" id="{CA5437C5-154E-CA43-B43C-E9F6B3C1FA98}"/>
              </a:ext>
            </a:extLst>
          </p:cNvPr>
          <p:cNvSpPr>
            <a:spLocks noChangeArrowheads="1"/>
          </p:cNvSpPr>
          <p:nvPr/>
        </p:nvSpPr>
        <p:spPr bwMode="auto">
          <a:xfrm>
            <a:off x="5262563" y="4375151"/>
            <a:ext cx="93662"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63" name="Rectangle 570">
            <a:extLst>
              <a:ext uri="{FF2B5EF4-FFF2-40B4-BE49-F238E27FC236}">
                <a16:creationId xmlns:a16="http://schemas.microsoft.com/office/drawing/2014/main" id="{C23E41D6-723B-8749-95C3-5BC68F90D10F}"/>
              </a:ext>
            </a:extLst>
          </p:cNvPr>
          <p:cNvSpPr>
            <a:spLocks noChangeArrowheads="1"/>
          </p:cNvSpPr>
          <p:nvPr/>
        </p:nvSpPr>
        <p:spPr bwMode="auto">
          <a:xfrm>
            <a:off x="5397500" y="4371976"/>
            <a:ext cx="65088"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64" name="Freeform 571">
            <a:extLst>
              <a:ext uri="{FF2B5EF4-FFF2-40B4-BE49-F238E27FC236}">
                <a16:creationId xmlns:a16="http://schemas.microsoft.com/office/drawing/2014/main" id="{987730EF-AB7E-D84E-9FF1-68536F13452C}"/>
              </a:ext>
            </a:extLst>
          </p:cNvPr>
          <p:cNvSpPr>
            <a:spLocks/>
          </p:cNvSpPr>
          <p:nvPr/>
        </p:nvSpPr>
        <p:spPr bwMode="auto">
          <a:xfrm>
            <a:off x="5332413" y="4452939"/>
            <a:ext cx="11112" cy="15875"/>
          </a:xfrm>
          <a:custGeom>
            <a:avLst/>
            <a:gdLst>
              <a:gd name="T0" fmla="*/ 23 w 23"/>
              <a:gd name="T1" fmla="*/ 13 h 29"/>
              <a:gd name="T2" fmla="*/ 23 w 23"/>
              <a:gd name="T3" fmla="*/ 10 h 29"/>
              <a:gd name="T4" fmla="*/ 21 w 23"/>
              <a:gd name="T5" fmla="*/ 8 h 29"/>
              <a:gd name="T6" fmla="*/ 21 w 23"/>
              <a:gd name="T7" fmla="*/ 6 h 29"/>
              <a:gd name="T8" fmla="*/ 18 w 23"/>
              <a:gd name="T9" fmla="*/ 4 h 29"/>
              <a:gd name="T10" fmla="*/ 17 w 23"/>
              <a:gd name="T11" fmla="*/ 2 h 29"/>
              <a:gd name="T12" fmla="*/ 16 w 23"/>
              <a:gd name="T13" fmla="*/ 1 h 29"/>
              <a:gd name="T14" fmla="*/ 14 w 23"/>
              <a:gd name="T15" fmla="*/ 0 h 29"/>
              <a:gd name="T16" fmla="*/ 12 w 23"/>
              <a:gd name="T17" fmla="*/ 0 h 29"/>
              <a:gd name="T18" fmla="*/ 10 w 23"/>
              <a:gd name="T19" fmla="*/ 0 h 29"/>
              <a:gd name="T20" fmla="*/ 9 w 23"/>
              <a:gd name="T21" fmla="*/ 0 h 29"/>
              <a:gd name="T22" fmla="*/ 6 w 23"/>
              <a:gd name="T23" fmla="*/ 1 h 29"/>
              <a:gd name="T24" fmla="*/ 4 w 23"/>
              <a:gd name="T25" fmla="*/ 2 h 29"/>
              <a:gd name="T26" fmla="*/ 3 w 23"/>
              <a:gd name="T27" fmla="*/ 4 h 29"/>
              <a:gd name="T28" fmla="*/ 1 w 23"/>
              <a:gd name="T29" fmla="*/ 6 h 29"/>
              <a:gd name="T30" fmla="*/ 1 w 23"/>
              <a:gd name="T31" fmla="*/ 8 h 29"/>
              <a:gd name="T32" fmla="*/ 0 w 23"/>
              <a:gd name="T33" fmla="*/ 10 h 29"/>
              <a:gd name="T34" fmla="*/ 0 w 23"/>
              <a:gd name="T35" fmla="*/ 13 h 29"/>
              <a:gd name="T36" fmla="*/ 0 w 23"/>
              <a:gd name="T37" fmla="*/ 16 h 29"/>
              <a:gd name="T38" fmla="*/ 0 w 23"/>
              <a:gd name="T39" fmla="*/ 18 h 29"/>
              <a:gd name="T40" fmla="*/ 1 w 23"/>
              <a:gd name="T41" fmla="*/ 21 h 29"/>
              <a:gd name="T42" fmla="*/ 1 w 23"/>
              <a:gd name="T43" fmla="*/ 24 h 29"/>
              <a:gd name="T44" fmla="*/ 3 w 23"/>
              <a:gd name="T45" fmla="*/ 25 h 29"/>
              <a:gd name="T46" fmla="*/ 4 w 23"/>
              <a:gd name="T47" fmla="*/ 27 h 29"/>
              <a:gd name="T48" fmla="*/ 6 w 23"/>
              <a:gd name="T49" fmla="*/ 28 h 29"/>
              <a:gd name="T50" fmla="*/ 9 w 23"/>
              <a:gd name="T51" fmla="*/ 29 h 29"/>
              <a:gd name="T52" fmla="*/ 10 w 23"/>
              <a:gd name="T53" fmla="*/ 29 h 29"/>
              <a:gd name="T54" fmla="*/ 12 w 23"/>
              <a:gd name="T55" fmla="*/ 29 h 29"/>
              <a:gd name="T56" fmla="*/ 14 w 23"/>
              <a:gd name="T57" fmla="*/ 29 h 29"/>
              <a:gd name="T58" fmla="*/ 16 w 23"/>
              <a:gd name="T59" fmla="*/ 28 h 29"/>
              <a:gd name="T60" fmla="*/ 17 w 23"/>
              <a:gd name="T61" fmla="*/ 27 h 29"/>
              <a:gd name="T62" fmla="*/ 18 w 23"/>
              <a:gd name="T63" fmla="*/ 25 h 29"/>
              <a:gd name="T64" fmla="*/ 21 w 23"/>
              <a:gd name="T65" fmla="*/ 24 h 29"/>
              <a:gd name="T66" fmla="*/ 21 w 23"/>
              <a:gd name="T67" fmla="*/ 21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0"/>
                </a:lnTo>
                <a:lnTo>
                  <a:pt x="22" y="9"/>
                </a:lnTo>
                <a:lnTo>
                  <a:pt x="21" y="8"/>
                </a:lnTo>
                <a:lnTo>
                  <a:pt x="21" y="7"/>
                </a:lnTo>
                <a:lnTo>
                  <a:pt x="21" y="6"/>
                </a:lnTo>
                <a:lnTo>
                  <a:pt x="19" y="5"/>
                </a:lnTo>
                <a:lnTo>
                  <a:pt x="18" y="4"/>
                </a:lnTo>
                <a:lnTo>
                  <a:pt x="18" y="3"/>
                </a:lnTo>
                <a:lnTo>
                  <a:pt x="17" y="2"/>
                </a:lnTo>
                <a:lnTo>
                  <a:pt x="16" y="1"/>
                </a:lnTo>
                <a:lnTo>
                  <a:pt x="15" y="0"/>
                </a:lnTo>
                <a:lnTo>
                  <a:pt x="14" y="0"/>
                </a:lnTo>
                <a:lnTo>
                  <a:pt x="13" y="0"/>
                </a:lnTo>
                <a:lnTo>
                  <a:pt x="12" y="0"/>
                </a:lnTo>
                <a:lnTo>
                  <a:pt x="11" y="0"/>
                </a:lnTo>
                <a:lnTo>
                  <a:pt x="10" y="0"/>
                </a:lnTo>
                <a:lnTo>
                  <a:pt x="9" y="0"/>
                </a:lnTo>
                <a:lnTo>
                  <a:pt x="7" y="0"/>
                </a:lnTo>
                <a:lnTo>
                  <a:pt x="6" y="1"/>
                </a:lnTo>
                <a:lnTo>
                  <a:pt x="5" y="1"/>
                </a:lnTo>
                <a:lnTo>
                  <a:pt x="4" y="2"/>
                </a:lnTo>
                <a:lnTo>
                  <a:pt x="3" y="3"/>
                </a:lnTo>
                <a:lnTo>
                  <a:pt x="3" y="4"/>
                </a:lnTo>
                <a:lnTo>
                  <a:pt x="2" y="5"/>
                </a:lnTo>
                <a:lnTo>
                  <a:pt x="1" y="6"/>
                </a:lnTo>
                <a:lnTo>
                  <a:pt x="1" y="7"/>
                </a:lnTo>
                <a:lnTo>
                  <a:pt x="1" y="8"/>
                </a:lnTo>
                <a:lnTo>
                  <a:pt x="0" y="9"/>
                </a:lnTo>
                <a:lnTo>
                  <a:pt x="0" y="10"/>
                </a:lnTo>
                <a:lnTo>
                  <a:pt x="0" y="12"/>
                </a:lnTo>
                <a:lnTo>
                  <a:pt x="0" y="13"/>
                </a:lnTo>
                <a:lnTo>
                  <a:pt x="0" y="14"/>
                </a:lnTo>
                <a:lnTo>
                  <a:pt x="0" y="16"/>
                </a:lnTo>
                <a:lnTo>
                  <a:pt x="0" y="17"/>
                </a:lnTo>
                <a:lnTo>
                  <a:pt x="0" y="18"/>
                </a:lnTo>
                <a:lnTo>
                  <a:pt x="0" y="19"/>
                </a:lnTo>
                <a:lnTo>
                  <a:pt x="1" y="21"/>
                </a:lnTo>
                <a:lnTo>
                  <a:pt x="1" y="23"/>
                </a:lnTo>
                <a:lnTo>
                  <a:pt x="1" y="24"/>
                </a:lnTo>
                <a:lnTo>
                  <a:pt x="2" y="24"/>
                </a:lnTo>
                <a:lnTo>
                  <a:pt x="3" y="25"/>
                </a:lnTo>
                <a:lnTo>
                  <a:pt x="3" y="26"/>
                </a:lnTo>
                <a:lnTo>
                  <a:pt x="4" y="27"/>
                </a:lnTo>
                <a:lnTo>
                  <a:pt x="5" y="28"/>
                </a:lnTo>
                <a:lnTo>
                  <a:pt x="6" y="28"/>
                </a:lnTo>
                <a:lnTo>
                  <a:pt x="7" y="29"/>
                </a:lnTo>
                <a:lnTo>
                  <a:pt x="9" y="29"/>
                </a:lnTo>
                <a:lnTo>
                  <a:pt x="10" y="29"/>
                </a:lnTo>
                <a:lnTo>
                  <a:pt x="11" y="29"/>
                </a:lnTo>
                <a:lnTo>
                  <a:pt x="12" y="29"/>
                </a:lnTo>
                <a:lnTo>
                  <a:pt x="13" y="29"/>
                </a:lnTo>
                <a:lnTo>
                  <a:pt x="14" y="29"/>
                </a:lnTo>
                <a:lnTo>
                  <a:pt x="15" y="29"/>
                </a:lnTo>
                <a:lnTo>
                  <a:pt x="16" y="28"/>
                </a:lnTo>
                <a:lnTo>
                  <a:pt x="17" y="27"/>
                </a:lnTo>
                <a:lnTo>
                  <a:pt x="18" y="26"/>
                </a:lnTo>
                <a:lnTo>
                  <a:pt x="18" y="25"/>
                </a:lnTo>
                <a:lnTo>
                  <a:pt x="19" y="24"/>
                </a:lnTo>
                <a:lnTo>
                  <a:pt x="21" y="24"/>
                </a:lnTo>
                <a:lnTo>
                  <a:pt x="21" y="23"/>
                </a:lnTo>
                <a:lnTo>
                  <a:pt x="21" y="21"/>
                </a:lnTo>
                <a:lnTo>
                  <a:pt x="22" y="19"/>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65" name="Line 572">
            <a:extLst>
              <a:ext uri="{FF2B5EF4-FFF2-40B4-BE49-F238E27FC236}">
                <a16:creationId xmlns:a16="http://schemas.microsoft.com/office/drawing/2014/main" id="{786D0543-79D4-904D-A73C-B8B167CA41A5}"/>
              </a:ext>
            </a:extLst>
          </p:cNvPr>
          <p:cNvSpPr>
            <a:spLocks noChangeShapeType="1"/>
          </p:cNvSpPr>
          <p:nvPr/>
        </p:nvSpPr>
        <p:spPr bwMode="auto">
          <a:xfrm>
            <a:off x="5429250" y="4371976"/>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66" name="Line 573">
            <a:extLst>
              <a:ext uri="{FF2B5EF4-FFF2-40B4-BE49-F238E27FC236}">
                <a16:creationId xmlns:a16="http://schemas.microsoft.com/office/drawing/2014/main" id="{CDE605AF-3EC9-804D-B8E2-ECB65A00BF16}"/>
              </a:ext>
            </a:extLst>
          </p:cNvPr>
          <p:cNvSpPr>
            <a:spLocks noChangeShapeType="1"/>
          </p:cNvSpPr>
          <p:nvPr/>
        </p:nvSpPr>
        <p:spPr bwMode="auto">
          <a:xfrm>
            <a:off x="5397500" y="4410075"/>
            <a:ext cx="63500"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67" name="Freeform 574">
            <a:extLst>
              <a:ext uri="{FF2B5EF4-FFF2-40B4-BE49-F238E27FC236}">
                <a16:creationId xmlns:a16="http://schemas.microsoft.com/office/drawing/2014/main" id="{6C4C99B0-DD36-6349-B9DF-DF6B27C0B0FF}"/>
              </a:ext>
            </a:extLst>
          </p:cNvPr>
          <p:cNvSpPr>
            <a:spLocks/>
          </p:cNvSpPr>
          <p:nvPr/>
        </p:nvSpPr>
        <p:spPr bwMode="auto">
          <a:xfrm>
            <a:off x="2851150" y="4535489"/>
            <a:ext cx="325438" cy="339725"/>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68" name="Rectangle 575">
            <a:extLst>
              <a:ext uri="{FF2B5EF4-FFF2-40B4-BE49-F238E27FC236}">
                <a16:creationId xmlns:a16="http://schemas.microsoft.com/office/drawing/2014/main" id="{0C30EF19-ABB5-5D4C-A7F8-D580BE903CEA}"/>
              </a:ext>
            </a:extLst>
          </p:cNvPr>
          <p:cNvSpPr>
            <a:spLocks noChangeArrowheads="1"/>
          </p:cNvSpPr>
          <p:nvPr/>
        </p:nvSpPr>
        <p:spPr bwMode="auto">
          <a:xfrm>
            <a:off x="2881314" y="4638676"/>
            <a:ext cx="269875"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69" name="Rectangle 576">
            <a:extLst>
              <a:ext uri="{FF2B5EF4-FFF2-40B4-BE49-F238E27FC236}">
                <a16:creationId xmlns:a16="http://schemas.microsoft.com/office/drawing/2014/main" id="{2D4622C1-5B8D-B947-AD33-2A7AF06229A7}"/>
              </a:ext>
            </a:extLst>
          </p:cNvPr>
          <p:cNvSpPr>
            <a:spLocks noChangeArrowheads="1"/>
          </p:cNvSpPr>
          <p:nvPr/>
        </p:nvSpPr>
        <p:spPr bwMode="auto">
          <a:xfrm>
            <a:off x="2924175" y="4691064"/>
            <a:ext cx="95250"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70" name="Rectangle 577">
            <a:extLst>
              <a:ext uri="{FF2B5EF4-FFF2-40B4-BE49-F238E27FC236}">
                <a16:creationId xmlns:a16="http://schemas.microsoft.com/office/drawing/2014/main" id="{F472B598-2C46-8947-8E19-3997B013C029}"/>
              </a:ext>
            </a:extLst>
          </p:cNvPr>
          <p:cNvSpPr>
            <a:spLocks noChangeArrowheads="1"/>
          </p:cNvSpPr>
          <p:nvPr/>
        </p:nvSpPr>
        <p:spPr bwMode="auto">
          <a:xfrm>
            <a:off x="3060700" y="4687889"/>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71" name="Freeform 578">
            <a:extLst>
              <a:ext uri="{FF2B5EF4-FFF2-40B4-BE49-F238E27FC236}">
                <a16:creationId xmlns:a16="http://schemas.microsoft.com/office/drawing/2014/main" id="{BB4554A4-BEA9-354B-B2AC-2FCC21626735}"/>
              </a:ext>
            </a:extLst>
          </p:cNvPr>
          <p:cNvSpPr>
            <a:spLocks/>
          </p:cNvSpPr>
          <p:nvPr/>
        </p:nvSpPr>
        <p:spPr bwMode="auto">
          <a:xfrm>
            <a:off x="2994025" y="4768851"/>
            <a:ext cx="12700" cy="15875"/>
          </a:xfrm>
          <a:custGeom>
            <a:avLst/>
            <a:gdLst>
              <a:gd name="T0" fmla="*/ 23 w 23"/>
              <a:gd name="T1" fmla="*/ 13 h 29"/>
              <a:gd name="T2" fmla="*/ 23 w 23"/>
              <a:gd name="T3" fmla="*/ 11 h 29"/>
              <a:gd name="T4" fmla="*/ 21 w 23"/>
              <a:gd name="T5" fmla="*/ 8 h 29"/>
              <a:gd name="T6" fmla="*/ 21 w 23"/>
              <a:gd name="T7" fmla="*/ 6 h 29"/>
              <a:gd name="T8" fmla="*/ 18 w 23"/>
              <a:gd name="T9" fmla="*/ 4 h 29"/>
              <a:gd name="T10" fmla="*/ 17 w 23"/>
              <a:gd name="T11" fmla="*/ 2 h 29"/>
              <a:gd name="T12" fmla="*/ 16 w 23"/>
              <a:gd name="T13" fmla="*/ 1 h 29"/>
              <a:gd name="T14" fmla="*/ 14 w 23"/>
              <a:gd name="T15" fmla="*/ 0 h 29"/>
              <a:gd name="T16" fmla="*/ 12 w 23"/>
              <a:gd name="T17" fmla="*/ 0 h 29"/>
              <a:gd name="T18" fmla="*/ 10 w 23"/>
              <a:gd name="T19" fmla="*/ 0 h 29"/>
              <a:gd name="T20" fmla="*/ 9 w 23"/>
              <a:gd name="T21" fmla="*/ 0 h 29"/>
              <a:gd name="T22" fmla="*/ 6 w 23"/>
              <a:gd name="T23" fmla="*/ 1 h 29"/>
              <a:gd name="T24" fmla="*/ 4 w 23"/>
              <a:gd name="T25" fmla="*/ 2 h 29"/>
              <a:gd name="T26" fmla="*/ 3 w 23"/>
              <a:gd name="T27" fmla="*/ 4 h 29"/>
              <a:gd name="T28" fmla="*/ 1 w 23"/>
              <a:gd name="T29" fmla="*/ 6 h 29"/>
              <a:gd name="T30" fmla="*/ 1 w 23"/>
              <a:gd name="T31" fmla="*/ 8 h 29"/>
              <a:gd name="T32" fmla="*/ 0 w 23"/>
              <a:gd name="T33" fmla="*/ 11 h 29"/>
              <a:gd name="T34" fmla="*/ 0 w 23"/>
              <a:gd name="T35" fmla="*/ 13 h 29"/>
              <a:gd name="T36" fmla="*/ 0 w 23"/>
              <a:gd name="T37" fmla="*/ 16 h 29"/>
              <a:gd name="T38" fmla="*/ 0 w 23"/>
              <a:gd name="T39" fmla="*/ 18 h 29"/>
              <a:gd name="T40" fmla="*/ 1 w 23"/>
              <a:gd name="T41" fmla="*/ 21 h 29"/>
              <a:gd name="T42" fmla="*/ 1 w 23"/>
              <a:gd name="T43" fmla="*/ 24 h 29"/>
              <a:gd name="T44" fmla="*/ 3 w 23"/>
              <a:gd name="T45" fmla="*/ 25 h 29"/>
              <a:gd name="T46" fmla="*/ 4 w 23"/>
              <a:gd name="T47" fmla="*/ 27 h 29"/>
              <a:gd name="T48" fmla="*/ 6 w 23"/>
              <a:gd name="T49" fmla="*/ 28 h 29"/>
              <a:gd name="T50" fmla="*/ 9 w 23"/>
              <a:gd name="T51" fmla="*/ 29 h 29"/>
              <a:gd name="T52" fmla="*/ 10 w 23"/>
              <a:gd name="T53" fmla="*/ 29 h 29"/>
              <a:gd name="T54" fmla="*/ 12 w 23"/>
              <a:gd name="T55" fmla="*/ 29 h 29"/>
              <a:gd name="T56" fmla="*/ 14 w 23"/>
              <a:gd name="T57" fmla="*/ 29 h 29"/>
              <a:gd name="T58" fmla="*/ 16 w 23"/>
              <a:gd name="T59" fmla="*/ 28 h 29"/>
              <a:gd name="T60" fmla="*/ 17 w 23"/>
              <a:gd name="T61" fmla="*/ 27 h 29"/>
              <a:gd name="T62" fmla="*/ 18 w 23"/>
              <a:gd name="T63" fmla="*/ 25 h 29"/>
              <a:gd name="T64" fmla="*/ 21 w 23"/>
              <a:gd name="T65" fmla="*/ 24 h 29"/>
              <a:gd name="T66" fmla="*/ 21 w 23"/>
              <a:gd name="T67" fmla="*/ 21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9"/>
                </a:lnTo>
                <a:lnTo>
                  <a:pt x="21" y="8"/>
                </a:lnTo>
                <a:lnTo>
                  <a:pt x="21" y="7"/>
                </a:lnTo>
                <a:lnTo>
                  <a:pt x="21" y="6"/>
                </a:lnTo>
                <a:lnTo>
                  <a:pt x="20" y="5"/>
                </a:lnTo>
                <a:lnTo>
                  <a:pt x="18" y="4"/>
                </a:lnTo>
                <a:lnTo>
                  <a:pt x="18" y="3"/>
                </a:lnTo>
                <a:lnTo>
                  <a:pt x="17" y="2"/>
                </a:lnTo>
                <a:lnTo>
                  <a:pt x="16" y="1"/>
                </a:lnTo>
                <a:lnTo>
                  <a:pt x="15" y="0"/>
                </a:lnTo>
                <a:lnTo>
                  <a:pt x="14" y="0"/>
                </a:lnTo>
                <a:lnTo>
                  <a:pt x="13" y="0"/>
                </a:lnTo>
                <a:lnTo>
                  <a:pt x="12" y="0"/>
                </a:lnTo>
                <a:lnTo>
                  <a:pt x="11" y="0"/>
                </a:lnTo>
                <a:lnTo>
                  <a:pt x="10" y="0"/>
                </a:lnTo>
                <a:lnTo>
                  <a:pt x="9" y="0"/>
                </a:lnTo>
                <a:lnTo>
                  <a:pt x="8" y="0"/>
                </a:lnTo>
                <a:lnTo>
                  <a:pt x="6" y="1"/>
                </a:lnTo>
                <a:lnTo>
                  <a:pt x="5" y="1"/>
                </a:lnTo>
                <a:lnTo>
                  <a:pt x="4" y="2"/>
                </a:lnTo>
                <a:lnTo>
                  <a:pt x="3" y="3"/>
                </a:lnTo>
                <a:lnTo>
                  <a:pt x="3" y="4"/>
                </a:lnTo>
                <a:lnTo>
                  <a:pt x="2" y="5"/>
                </a:lnTo>
                <a:lnTo>
                  <a:pt x="1" y="6"/>
                </a:lnTo>
                <a:lnTo>
                  <a:pt x="1" y="7"/>
                </a:lnTo>
                <a:lnTo>
                  <a:pt x="1" y="8"/>
                </a:lnTo>
                <a:lnTo>
                  <a:pt x="0" y="9"/>
                </a:lnTo>
                <a:lnTo>
                  <a:pt x="0" y="11"/>
                </a:lnTo>
                <a:lnTo>
                  <a:pt x="0" y="12"/>
                </a:lnTo>
                <a:lnTo>
                  <a:pt x="0" y="13"/>
                </a:lnTo>
                <a:lnTo>
                  <a:pt x="0" y="14"/>
                </a:lnTo>
                <a:lnTo>
                  <a:pt x="0" y="16"/>
                </a:lnTo>
                <a:lnTo>
                  <a:pt x="0" y="17"/>
                </a:lnTo>
                <a:lnTo>
                  <a:pt x="0" y="18"/>
                </a:lnTo>
                <a:lnTo>
                  <a:pt x="0" y="19"/>
                </a:lnTo>
                <a:lnTo>
                  <a:pt x="1" y="21"/>
                </a:lnTo>
                <a:lnTo>
                  <a:pt x="1" y="23"/>
                </a:lnTo>
                <a:lnTo>
                  <a:pt x="1" y="24"/>
                </a:lnTo>
                <a:lnTo>
                  <a:pt x="2" y="24"/>
                </a:lnTo>
                <a:lnTo>
                  <a:pt x="3" y="25"/>
                </a:lnTo>
                <a:lnTo>
                  <a:pt x="3" y="26"/>
                </a:lnTo>
                <a:lnTo>
                  <a:pt x="4" y="27"/>
                </a:lnTo>
                <a:lnTo>
                  <a:pt x="5" y="28"/>
                </a:lnTo>
                <a:lnTo>
                  <a:pt x="6" y="28"/>
                </a:lnTo>
                <a:lnTo>
                  <a:pt x="8" y="29"/>
                </a:lnTo>
                <a:lnTo>
                  <a:pt x="9" y="29"/>
                </a:lnTo>
                <a:lnTo>
                  <a:pt x="10" y="29"/>
                </a:lnTo>
                <a:lnTo>
                  <a:pt x="11" y="29"/>
                </a:lnTo>
                <a:lnTo>
                  <a:pt x="12" y="29"/>
                </a:lnTo>
                <a:lnTo>
                  <a:pt x="13" y="29"/>
                </a:lnTo>
                <a:lnTo>
                  <a:pt x="14" y="29"/>
                </a:lnTo>
                <a:lnTo>
                  <a:pt x="15" y="29"/>
                </a:lnTo>
                <a:lnTo>
                  <a:pt x="16" y="28"/>
                </a:lnTo>
                <a:lnTo>
                  <a:pt x="17" y="27"/>
                </a:lnTo>
                <a:lnTo>
                  <a:pt x="18" y="26"/>
                </a:lnTo>
                <a:lnTo>
                  <a:pt x="18" y="25"/>
                </a:lnTo>
                <a:lnTo>
                  <a:pt x="20" y="24"/>
                </a:lnTo>
                <a:lnTo>
                  <a:pt x="21" y="24"/>
                </a:lnTo>
                <a:lnTo>
                  <a:pt x="21" y="23"/>
                </a:lnTo>
                <a:lnTo>
                  <a:pt x="21" y="21"/>
                </a:lnTo>
                <a:lnTo>
                  <a:pt x="22" y="19"/>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72" name="Line 579">
            <a:extLst>
              <a:ext uri="{FF2B5EF4-FFF2-40B4-BE49-F238E27FC236}">
                <a16:creationId xmlns:a16="http://schemas.microsoft.com/office/drawing/2014/main" id="{34A49E72-EE37-D84A-B93F-99011DFA5237}"/>
              </a:ext>
            </a:extLst>
          </p:cNvPr>
          <p:cNvSpPr>
            <a:spLocks noChangeShapeType="1"/>
          </p:cNvSpPr>
          <p:nvPr/>
        </p:nvSpPr>
        <p:spPr bwMode="auto">
          <a:xfrm>
            <a:off x="3090864" y="468788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73" name="Line 580">
            <a:extLst>
              <a:ext uri="{FF2B5EF4-FFF2-40B4-BE49-F238E27FC236}">
                <a16:creationId xmlns:a16="http://schemas.microsoft.com/office/drawing/2014/main" id="{4556EEE7-5DDF-7C46-9E8B-3ECC0AA1BDAC}"/>
              </a:ext>
            </a:extLst>
          </p:cNvPr>
          <p:cNvSpPr>
            <a:spLocks noChangeShapeType="1"/>
          </p:cNvSpPr>
          <p:nvPr/>
        </p:nvSpPr>
        <p:spPr bwMode="auto">
          <a:xfrm>
            <a:off x="3060701" y="4725989"/>
            <a:ext cx="61913"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74" name="Freeform 581">
            <a:extLst>
              <a:ext uri="{FF2B5EF4-FFF2-40B4-BE49-F238E27FC236}">
                <a16:creationId xmlns:a16="http://schemas.microsoft.com/office/drawing/2014/main" id="{91FF5374-C168-3C4D-9547-004EA0E686B2}"/>
              </a:ext>
            </a:extLst>
          </p:cNvPr>
          <p:cNvSpPr>
            <a:spLocks/>
          </p:cNvSpPr>
          <p:nvPr/>
        </p:nvSpPr>
        <p:spPr bwMode="auto">
          <a:xfrm>
            <a:off x="2713038" y="3751263"/>
            <a:ext cx="323850" cy="341312"/>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4 h 643"/>
              <a:gd name="T14" fmla="*/ 56 w 614"/>
              <a:gd name="T15" fmla="*/ 614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4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4"/>
                </a:lnTo>
                <a:lnTo>
                  <a:pt x="56" y="614"/>
                </a:lnTo>
                <a:lnTo>
                  <a:pt x="56" y="195"/>
                </a:lnTo>
                <a:lnTo>
                  <a:pt x="558"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75" name="Rectangle 582">
            <a:extLst>
              <a:ext uri="{FF2B5EF4-FFF2-40B4-BE49-F238E27FC236}">
                <a16:creationId xmlns:a16="http://schemas.microsoft.com/office/drawing/2014/main" id="{B10576BE-BD88-4E4F-AC0C-4D90A6BCB606}"/>
              </a:ext>
            </a:extLst>
          </p:cNvPr>
          <p:cNvSpPr>
            <a:spLocks noChangeArrowheads="1"/>
          </p:cNvSpPr>
          <p:nvPr/>
        </p:nvSpPr>
        <p:spPr bwMode="auto">
          <a:xfrm>
            <a:off x="2743200" y="3854450"/>
            <a:ext cx="268288"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76" name="Rectangle 583">
            <a:extLst>
              <a:ext uri="{FF2B5EF4-FFF2-40B4-BE49-F238E27FC236}">
                <a16:creationId xmlns:a16="http://schemas.microsoft.com/office/drawing/2014/main" id="{5802D73E-BFEE-2046-9353-F633B3177EBF}"/>
              </a:ext>
            </a:extLst>
          </p:cNvPr>
          <p:cNvSpPr>
            <a:spLocks noChangeArrowheads="1"/>
          </p:cNvSpPr>
          <p:nvPr/>
        </p:nvSpPr>
        <p:spPr bwMode="auto">
          <a:xfrm>
            <a:off x="2786063" y="3908425"/>
            <a:ext cx="93662"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77" name="Rectangle 584">
            <a:extLst>
              <a:ext uri="{FF2B5EF4-FFF2-40B4-BE49-F238E27FC236}">
                <a16:creationId xmlns:a16="http://schemas.microsoft.com/office/drawing/2014/main" id="{FB078E22-376D-2F46-AF92-8AB78E33C617}"/>
              </a:ext>
            </a:extLst>
          </p:cNvPr>
          <p:cNvSpPr>
            <a:spLocks noChangeArrowheads="1"/>
          </p:cNvSpPr>
          <p:nvPr/>
        </p:nvSpPr>
        <p:spPr bwMode="auto">
          <a:xfrm>
            <a:off x="2921000" y="3903663"/>
            <a:ext cx="63500" cy="80962"/>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78" name="Freeform 585">
            <a:extLst>
              <a:ext uri="{FF2B5EF4-FFF2-40B4-BE49-F238E27FC236}">
                <a16:creationId xmlns:a16="http://schemas.microsoft.com/office/drawing/2014/main" id="{8FCA1D3D-A9E2-5A44-80B2-3AFF99628E78}"/>
              </a:ext>
            </a:extLst>
          </p:cNvPr>
          <p:cNvSpPr>
            <a:spLocks/>
          </p:cNvSpPr>
          <p:nvPr/>
        </p:nvSpPr>
        <p:spPr bwMode="auto">
          <a:xfrm>
            <a:off x="2854325" y="3984626"/>
            <a:ext cx="12700" cy="15875"/>
          </a:xfrm>
          <a:custGeom>
            <a:avLst/>
            <a:gdLst>
              <a:gd name="T0" fmla="*/ 23 w 23"/>
              <a:gd name="T1" fmla="*/ 13 h 30"/>
              <a:gd name="T2" fmla="*/ 23 w 23"/>
              <a:gd name="T3" fmla="*/ 11 h 30"/>
              <a:gd name="T4" fmla="*/ 20 w 23"/>
              <a:gd name="T5" fmla="*/ 9 h 30"/>
              <a:gd name="T6" fmla="*/ 20 w 23"/>
              <a:gd name="T7" fmla="*/ 7 h 30"/>
              <a:gd name="T8" fmla="*/ 18 w 23"/>
              <a:gd name="T9" fmla="*/ 4 h 30"/>
              <a:gd name="T10" fmla="*/ 17 w 23"/>
              <a:gd name="T11" fmla="*/ 2 h 30"/>
              <a:gd name="T12" fmla="*/ 16 w 23"/>
              <a:gd name="T13" fmla="*/ 1 h 30"/>
              <a:gd name="T14" fmla="*/ 14 w 23"/>
              <a:gd name="T15" fmla="*/ 0 h 30"/>
              <a:gd name="T16" fmla="*/ 12 w 23"/>
              <a:gd name="T17" fmla="*/ 0 h 30"/>
              <a:gd name="T18" fmla="*/ 9 w 23"/>
              <a:gd name="T19" fmla="*/ 0 h 30"/>
              <a:gd name="T20" fmla="*/ 8 w 23"/>
              <a:gd name="T21" fmla="*/ 0 h 30"/>
              <a:gd name="T22" fmla="*/ 6 w 23"/>
              <a:gd name="T23" fmla="*/ 1 h 30"/>
              <a:gd name="T24" fmla="*/ 4 w 23"/>
              <a:gd name="T25" fmla="*/ 2 h 30"/>
              <a:gd name="T26" fmla="*/ 3 w 23"/>
              <a:gd name="T27" fmla="*/ 4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5 h 30"/>
              <a:gd name="T46" fmla="*/ 4 w 23"/>
              <a:gd name="T47" fmla="*/ 28 h 30"/>
              <a:gd name="T48" fmla="*/ 6 w 23"/>
              <a:gd name="T49" fmla="*/ 29 h 30"/>
              <a:gd name="T50" fmla="*/ 8 w 23"/>
              <a:gd name="T51" fmla="*/ 30 h 30"/>
              <a:gd name="T52" fmla="*/ 9 w 23"/>
              <a:gd name="T53" fmla="*/ 30 h 30"/>
              <a:gd name="T54" fmla="*/ 12 w 23"/>
              <a:gd name="T55" fmla="*/ 30 h 30"/>
              <a:gd name="T56" fmla="*/ 14 w 23"/>
              <a:gd name="T57" fmla="*/ 30 h 30"/>
              <a:gd name="T58" fmla="*/ 16 w 23"/>
              <a:gd name="T59" fmla="*/ 29 h 30"/>
              <a:gd name="T60" fmla="*/ 17 w 23"/>
              <a:gd name="T61" fmla="*/ 28 h 30"/>
              <a:gd name="T62" fmla="*/ 18 w 23"/>
              <a:gd name="T63" fmla="*/ 25 h 30"/>
              <a:gd name="T64" fmla="*/ 20 w 23"/>
              <a:gd name="T65" fmla="*/ 24 h 30"/>
              <a:gd name="T66" fmla="*/ 20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1" y="10"/>
                </a:lnTo>
                <a:lnTo>
                  <a:pt x="20" y="9"/>
                </a:lnTo>
                <a:lnTo>
                  <a:pt x="20" y="8"/>
                </a:lnTo>
                <a:lnTo>
                  <a:pt x="20" y="7"/>
                </a:lnTo>
                <a:lnTo>
                  <a:pt x="19" y="6"/>
                </a:lnTo>
                <a:lnTo>
                  <a:pt x="18" y="4"/>
                </a:lnTo>
                <a:lnTo>
                  <a:pt x="18" y="3"/>
                </a:lnTo>
                <a:lnTo>
                  <a:pt x="17" y="2"/>
                </a:lnTo>
                <a:lnTo>
                  <a:pt x="16" y="1"/>
                </a:lnTo>
                <a:lnTo>
                  <a:pt x="15" y="0"/>
                </a:lnTo>
                <a:lnTo>
                  <a:pt x="14" y="0"/>
                </a:lnTo>
                <a:lnTo>
                  <a:pt x="13" y="0"/>
                </a:lnTo>
                <a:lnTo>
                  <a:pt x="12" y="0"/>
                </a:lnTo>
                <a:lnTo>
                  <a:pt x="10" y="0"/>
                </a:lnTo>
                <a:lnTo>
                  <a:pt x="9" y="0"/>
                </a:lnTo>
                <a:lnTo>
                  <a:pt x="8" y="0"/>
                </a:lnTo>
                <a:lnTo>
                  <a:pt x="7" y="0"/>
                </a:lnTo>
                <a:lnTo>
                  <a:pt x="6" y="1"/>
                </a:lnTo>
                <a:lnTo>
                  <a:pt x="5" y="1"/>
                </a:lnTo>
                <a:lnTo>
                  <a:pt x="4" y="2"/>
                </a:lnTo>
                <a:lnTo>
                  <a:pt x="3" y="3"/>
                </a:lnTo>
                <a:lnTo>
                  <a:pt x="3" y="4"/>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3" y="25"/>
                </a:lnTo>
                <a:lnTo>
                  <a:pt x="3" y="26"/>
                </a:lnTo>
                <a:lnTo>
                  <a:pt x="4" y="28"/>
                </a:lnTo>
                <a:lnTo>
                  <a:pt x="5" y="29"/>
                </a:lnTo>
                <a:lnTo>
                  <a:pt x="6" y="29"/>
                </a:lnTo>
                <a:lnTo>
                  <a:pt x="7" y="30"/>
                </a:lnTo>
                <a:lnTo>
                  <a:pt x="8" y="30"/>
                </a:lnTo>
                <a:lnTo>
                  <a:pt x="9" y="30"/>
                </a:lnTo>
                <a:lnTo>
                  <a:pt x="10" y="30"/>
                </a:lnTo>
                <a:lnTo>
                  <a:pt x="12" y="30"/>
                </a:lnTo>
                <a:lnTo>
                  <a:pt x="13" y="30"/>
                </a:lnTo>
                <a:lnTo>
                  <a:pt x="14" y="30"/>
                </a:lnTo>
                <a:lnTo>
                  <a:pt x="15" y="30"/>
                </a:lnTo>
                <a:lnTo>
                  <a:pt x="16" y="29"/>
                </a:lnTo>
                <a:lnTo>
                  <a:pt x="17" y="28"/>
                </a:lnTo>
                <a:lnTo>
                  <a:pt x="18" y="26"/>
                </a:lnTo>
                <a:lnTo>
                  <a:pt x="18" y="25"/>
                </a:lnTo>
                <a:lnTo>
                  <a:pt x="19" y="24"/>
                </a:lnTo>
                <a:lnTo>
                  <a:pt x="20" y="24"/>
                </a:lnTo>
                <a:lnTo>
                  <a:pt x="20" y="23"/>
                </a:lnTo>
                <a:lnTo>
                  <a:pt x="20" y="22"/>
                </a:lnTo>
                <a:lnTo>
                  <a:pt x="21"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79" name="Line 586">
            <a:extLst>
              <a:ext uri="{FF2B5EF4-FFF2-40B4-BE49-F238E27FC236}">
                <a16:creationId xmlns:a16="http://schemas.microsoft.com/office/drawing/2014/main" id="{7D4421FD-933C-434E-B6AE-71DA446C3670}"/>
              </a:ext>
            </a:extLst>
          </p:cNvPr>
          <p:cNvSpPr>
            <a:spLocks noChangeShapeType="1"/>
          </p:cNvSpPr>
          <p:nvPr/>
        </p:nvSpPr>
        <p:spPr bwMode="auto">
          <a:xfrm>
            <a:off x="2952750" y="3905251"/>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80" name="Line 587">
            <a:extLst>
              <a:ext uri="{FF2B5EF4-FFF2-40B4-BE49-F238E27FC236}">
                <a16:creationId xmlns:a16="http://schemas.microsoft.com/office/drawing/2014/main" id="{B100175F-10F2-0D4A-85D7-0ADC6E00C445}"/>
              </a:ext>
            </a:extLst>
          </p:cNvPr>
          <p:cNvSpPr>
            <a:spLocks noChangeShapeType="1"/>
          </p:cNvSpPr>
          <p:nvPr/>
        </p:nvSpPr>
        <p:spPr bwMode="auto">
          <a:xfrm>
            <a:off x="2921001" y="3941764"/>
            <a:ext cx="61913"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81" name="Freeform 588">
            <a:extLst>
              <a:ext uri="{FF2B5EF4-FFF2-40B4-BE49-F238E27FC236}">
                <a16:creationId xmlns:a16="http://schemas.microsoft.com/office/drawing/2014/main" id="{EBFDE204-CE66-C44A-A364-43EA958EE2B2}"/>
              </a:ext>
            </a:extLst>
          </p:cNvPr>
          <p:cNvSpPr>
            <a:spLocks/>
          </p:cNvSpPr>
          <p:nvPr/>
        </p:nvSpPr>
        <p:spPr bwMode="auto">
          <a:xfrm>
            <a:off x="4456114" y="3448051"/>
            <a:ext cx="325437" cy="341313"/>
          </a:xfrm>
          <a:custGeom>
            <a:avLst/>
            <a:gdLst>
              <a:gd name="T0" fmla="*/ 56 w 615"/>
              <a:gd name="T1" fmla="*/ 195 h 643"/>
              <a:gd name="T2" fmla="*/ 0 w 615"/>
              <a:gd name="T3" fmla="*/ 195 h 643"/>
              <a:gd name="T4" fmla="*/ 307 w 615"/>
              <a:gd name="T5" fmla="*/ 0 h 643"/>
              <a:gd name="T6" fmla="*/ 615 w 615"/>
              <a:gd name="T7" fmla="*/ 195 h 643"/>
              <a:gd name="T8" fmla="*/ 587 w 615"/>
              <a:gd name="T9" fmla="*/ 195 h 643"/>
              <a:gd name="T10" fmla="*/ 559 w 615"/>
              <a:gd name="T11" fmla="*/ 195 h 643"/>
              <a:gd name="T12" fmla="*/ 559 w 615"/>
              <a:gd name="T13" fmla="*/ 615 h 643"/>
              <a:gd name="T14" fmla="*/ 56 w 615"/>
              <a:gd name="T15" fmla="*/ 615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5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7" y="0"/>
                </a:lnTo>
                <a:lnTo>
                  <a:pt x="615" y="195"/>
                </a:lnTo>
                <a:lnTo>
                  <a:pt x="587" y="195"/>
                </a:lnTo>
                <a:lnTo>
                  <a:pt x="559" y="195"/>
                </a:lnTo>
                <a:lnTo>
                  <a:pt x="559" y="615"/>
                </a:lnTo>
                <a:lnTo>
                  <a:pt x="56" y="615"/>
                </a:lnTo>
                <a:lnTo>
                  <a:pt x="56" y="195"/>
                </a:lnTo>
                <a:lnTo>
                  <a:pt x="559" y="195"/>
                </a:lnTo>
                <a:lnTo>
                  <a:pt x="587" y="195"/>
                </a:lnTo>
                <a:lnTo>
                  <a:pt x="587" y="643"/>
                </a:lnTo>
                <a:lnTo>
                  <a:pt x="56" y="643"/>
                </a:lnTo>
                <a:lnTo>
                  <a:pt x="56" y="615"/>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82" name="Rectangle 589">
            <a:extLst>
              <a:ext uri="{FF2B5EF4-FFF2-40B4-BE49-F238E27FC236}">
                <a16:creationId xmlns:a16="http://schemas.microsoft.com/office/drawing/2014/main" id="{CDDD5AB6-A18E-AE40-9715-304E6408C362}"/>
              </a:ext>
            </a:extLst>
          </p:cNvPr>
          <p:cNvSpPr>
            <a:spLocks noChangeArrowheads="1"/>
          </p:cNvSpPr>
          <p:nvPr/>
        </p:nvSpPr>
        <p:spPr bwMode="auto">
          <a:xfrm>
            <a:off x="4486275" y="3551238"/>
            <a:ext cx="268288"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83" name="Rectangle 590">
            <a:extLst>
              <a:ext uri="{FF2B5EF4-FFF2-40B4-BE49-F238E27FC236}">
                <a16:creationId xmlns:a16="http://schemas.microsoft.com/office/drawing/2014/main" id="{95EEB9F2-5970-1141-BDBD-1245A528B9D2}"/>
              </a:ext>
            </a:extLst>
          </p:cNvPr>
          <p:cNvSpPr>
            <a:spLocks noChangeArrowheads="1"/>
          </p:cNvSpPr>
          <p:nvPr/>
        </p:nvSpPr>
        <p:spPr bwMode="auto">
          <a:xfrm>
            <a:off x="4529138" y="3605214"/>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84" name="Rectangle 591">
            <a:extLst>
              <a:ext uri="{FF2B5EF4-FFF2-40B4-BE49-F238E27FC236}">
                <a16:creationId xmlns:a16="http://schemas.microsoft.com/office/drawing/2014/main" id="{CC6519EA-40AA-C047-918B-654E288A775B}"/>
              </a:ext>
            </a:extLst>
          </p:cNvPr>
          <p:cNvSpPr>
            <a:spLocks noChangeArrowheads="1"/>
          </p:cNvSpPr>
          <p:nvPr/>
        </p:nvSpPr>
        <p:spPr bwMode="auto">
          <a:xfrm>
            <a:off x="4664075" y="3600451"/>
            <a:ext cx="65088"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85" name="Freeform 592">
            <a:extLst>
              <a:ext uri="{FF2B5EF4-FFF2-40B4-BE49-F238E27FC236}">
                <a16:creationId xmlns:a16="http://schemas.microsoft.com/office/drawing/2014/main" id="{0585984F-A484-8E46-A5B0-6AC1F62761D1}"/>
              </a:ext>
            </a:extLst>
          </p:cNvPr>
          <p:cNvSpPr>
            <a:spLocks/>
          </p:cNvSpPr>
          <p:nvPr/>
        </p:nvSpPr>
        <p:spPr bwMode="auto">
          <a:xfrm>
            <a:off x="4597400" y="3681414"/>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5 h 30"/>
              <a:gd name="T10" fmla="*/ 18 w 23"/>
              <a:gd name="T11" fmla="*/ 2 h 30"/>
              <a:gd name="T12" fmla="*/ 16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4 w 23"/>
              <a:gd name="T25" fmla="*/ 2 h 30"/>
              <a:gd name="T26" fmla="*/ 3 w 23"/>
              <a:gd name="T27" fmla="*/ 5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5 h 30"/>
              <a:gd name="T46" fmla="*/ 4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6 w 23"/>
              <a:gd name="T59" fmla="*/ 29 h 30"/>
              <a:gd name="T60" fmla="*/ 18 w 23"/>
              <a:gd name="T61" fmla="*/ 28 h 30"/>
              <a:gd name="T62" fmla="*/ 19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6"/>
                </a:lnTo>
                <a:lnTo>
                  <a:pt x="19" y="5"/>
                </a:lnTo>
                <a:lnTo>
                  <a:pt x="19" y="3"/>
                </a:lnTo>
                <a:lnTo>
                  <a:pt x="18" y="2"/>
                </a:lnTo>
                <a:lnTo>
                  <a:pt x="16" y="1"/>
                </a:lnTo>
                <a:lnTo>
                  <a:pt x="15" y="0"/>
                </a:lnTo>
                <a:lnTo>
                  <a:pt x="14" y="0"/>
                </a:lnTo>
                <a:lnTo>
                  <a:pt x="13" y="0"/>
                </a:lnTo>
                <a:lnTo>
                  <a:pt x="12" y="0"/>
                </a:lnTo>
                <a:lnTo>
                  <a:pt x="11" y="0"/>
                </a:lnTo>
                <a:lnTo>
                  <a:pt x="10" y="0"/>
                </a:lnTo>
                <a:lnTo>
                  <a:pt x="9" y="0"/>
                </a:lnTo>
                <a:lnTo>
                  <a:pt x="8" y="0"/>
                </a:lnTo>
                <a:lnTo>
                  <a:pt x="7" y="1"/>
                </a:lnTo>
                <a:lnTo>
                  <a:pt x="6" y="1"/>
                </a:lnTo>
                <a:lnTo>
                  <a:pt x="4" y="2"/>
                </a:lnTo>
                <a:lnTo>
                  <a:pt x="3" y="3"/>
                </a:lnTo>
                <a:lnTo>
                  <a:pt x="3" y="5"/>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3" y="25"/>
                </a:lnTo>
                <a:lnTo>
                  <a:pt x="3" y="27"/>
                </a:lnTo>
                <a:lnTo>
                  <a:pt x="4" y="28"/>
                </a:lnTo>
                <a:lnTo>
                  <a:pt x="6" y="29"/>
                </a:lnTo>
                <a:lnTo>
                  <a:pt x="7" y="29"/>
                </a:lnTo>
                <a:lnTo>
                  <a:pt x="8" y="30"/>
                </a:lnTo>
                <a:lnTo>
                  <a:pt x="9" y="30"/>
                </a:lnTo>
                <a:lnTo>
                  <a:pt x="10" y="30"/>
                </a:lnTo>
                <a:lnTo>
                  <a:pt x="11" y="30"/>
                </a:lnTo>
                <a:lnTo>
                  <a:pt x="12" y="30"/>
                </a:lnTo>
                <a:lnTo>
                  <a:pt x="13" y="30"/>
                </a:lnTo>
                <a:lnTo>
                  <a:pt x="14" y="30"/>
                </a:lnTo>
                <a:lnTo>
                  <a:pt x="15" y="30"/>
                </a:lnTo>
                <a:lnTo>
                  <a:pt x="16" y="29"/>
                </a:lnTo>
                <a:lnTo>
                  <a:pt x="18" y="28"/>
                </a:lnTo>
                <a:lnTo>
                  <a:pt x="19" y="27"/>
                </a:lnTo>
                <a:lnTo>
                  <a:pt x="19" y="25"/>
                </a:lnTo>
                <a:lnTo>
                  <a:pt x="20"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86" name="Line 593">
            <a:extLst>
              <a:ext uri="{FF2B5EF4-FFF2-40B4-BE49-F238E27FC236}">
                <a16:creationId xmlns:a16="http://schemas.microsoft.com/office/drawing/2014/main" id="{FFDABE6B-A9C0-674F-A9FB-E18CCF1916C3}"/>
              </a:ext>
            </a:extLst>
          </p:cNvPr>
          <p:cNvSpPr>
            <a:spLocks noChangeShapeType="1"/>
          </p:cNvSpPr>
          <p:nvPr/>
        </p:nvSpPr>
        <p:spPr bwMode="auto">
          <a:xfrm>
            <a:off x="4695825" y="3602039"/>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87" name="Line 594">
            <a:extLst>
              <a:ext uri="{FF2B5EF4-FFF2-40B4-BE49-F238E27FC236}">
                <a16:creationId xmlns:a16="http://schemas.microsoft.com/office/drawing/2014/main" id="{A031E03C-A67F-BE47-97C2-B428083761CC}"/>
              </a:ext>
            </a:extLst>
          </p:cNvPr>
          <p:cNvSpPr>
            <a:spLocks noChangeShapeType="1"/>
          </p:cNvSpPr>
          <p:nvPr/>
        </p:nvSpPr>
        <p:spPr bwMode="auto">
          <a:xfrm>
            <a:off x="4664075" y="3638550"/>
            <a:ext cx="63500"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88" name="Freeform 595">
            <a:extLst>
              <a:ext uri="{FF2B5EF4-FFF2-40B4-BE49-F238E27FC236}">
                <a16:creationId xmlns:a16="http://schemas.microsoft.com/office/drawing/2014/main" id="{615C91CB-B9A3-7840-B8FA-823C23333D0F}"/>
              </a:ext>
            </a:extLst>
          </p:cNvPr>
          <p:cNvSpPr>
            <a:spLocks/>
          </p:cNvSpPr>
          <p:nvPr/>
        </p:nvSpPr>
        <p:spPr bwMode="auto">
          <a:xfrm>
            <a:off x="3798889" y="2754314"/>
            <a:ext cx="325437" cy="339725"/>
          </a:xfrm>
          <a:custGeom>
            <a:avLst/>
            <a:gdLst>
              <a:gd name="T0" fmla="*/ 56 w 615"/>
              <a:gd name="T1" fmla="*/ 196 h 644"/>
              <a:gd name="T2" fmla="*/ 0 w 615"/>
              <a:gd name="T3" fmla="*/ 196 h 644"/>
              <a:gd name="T4" fmla="*/ 308 w 615"/>
              <a:gd name="T5" fmla="*/ 0 h 644"/>
              <a:gd name="T6" fmla="*/ 615 w 615"/>
              <a:gd name="T7" fmla="*/ 196 h 644"/>
              <a:gd name="T8" fmla="*/ 587 w 615"/>
              <a:gd name="T9" fmla="*/ 196 h 644"/>
              <a:gd name="T10" fmla="*/ 559 w 615"/>
              <a:gd name="T11" fmla="*/ 196 h 644"/>
              <a:gd name="T12" fmla="*/ 559 w 615"/>
              <a:gd name="T13" fmla="*/ 615 h 644"/>
              <a:gd name="T14" fmla="*/ 56 w 615"/>
              <a:gd name="T15" fmla="*/ 615 h 644"/>
              <a:gd name="T16" fmla="*/ 56 w 615"/>
              <a:gd name="T17" fmla="*/ 196 h 644"/>
              <a:gd name="T18" fmla="*/ 559 w 615"/>
              <a:gd name="T19" fmla="*/ 196 h 644"/>
              <a:gd name="T20" fmla="*/ 587 w 615"/>
              <a:gd name="T21" fmla="*/ 196 h 644"/>
              <a:gd name="T22" fmla="*/ 587 w 615"/>
              <a:gd name="T23" fmla="*/ 644 h 644"/>
              <a:gd name="T24" fmla="*/ 56 w 615"/>
              <a:gd name="T25" fmla="*/ 644 h 644"/>
              <a:gd name="T26" fmla="*/ 56 w 615"/>
              <a:gd name="T27" fmla="*/ 615 h 644"/>
              <a:gd name="T28" fmla="*/ 56 w 615"/>
              <a:gd name="T29" fmla="*/ 196 h 6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4"/>
              <a:gd name="T47" fmla="*/ 615 w 615"/>
              <a:gd name="T48" fmla="*/ 644 h 6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4">
                <a:moveTo>
                  <a:pt x="56" y="196"/>
                </a:moveTo>
                <a:lnTo>
                  <a:pt x="0" y="196"/>
                </a:lnTo>
                <a:lnTo>
                  <a:pt x="308" y="0"/>
                </a:lnTo>
                <a:lnTo>
                  <a:pt x="615" y="196"/>
                </a:lnTo>
                <a:lnTo>
                  <a:pt x="587" y="196"/>
                </a:lnTo>
                <a:lnTo>
                  <a:pt x="559" y="196"/>
                </a:lnTo>
                <a:lnTo>
                  <a:pt x="559" y="615"/>
                </a:lnTo>
                <a:lnTo>
                  <a:pt x="56" y="615"/>
                </a:lnTo>
                <a:lnTo>
                  <a:pt x="56" y="196"/>
                </a:lnTo>
                <a:lnTo>
                  <a:pt x="559" y="196"/>
                </a:lnTo>
                <a:lnTo>
                  <a:pt x="587" y="196"/>
                </a:lnTo>
                <a:lnTo>
                  <a:pt x="587" y="644"/>
                </a:lnTo>
                <a:lnTo>
                  <a:pt x="56" y="644"/>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89" name="Rectangle 596">
            <a:extLst>
              <a:ext uri="{FF2B5EF4-FFF2-40B4-BE49-F238E27FC236}">
                <a16:creationId xmlns:a16="http://schemas.microsoft.com/office/drawing/2014/main" id="{A1E46B8B-DC08-264D-B3AD-99387017B73A}"/>
              </a:ext>
            </a:extLst>
          </p:cNvPr>
          <p:cNvSpPr>
            <a:spLocks noChangeArrowheads="1"/>
          </p:cNvSpPr>
          <p:nvPr/>
        </p:nvSpPr>
        <p:spPr bwMode="auto">
          <a:xfrm>
            <a:off x="3829050" y="2857501"/>
            <a:ext cx="268288"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90" name="Rectangle 597">
            <a:extLst>
              <a:ext uri="{FF2B5EF4-FFF2-40B4-BE49-F238E27FC236}">
                <a16:creationId xmlns:a16="http://schemas.microsoft.com/office/drawing/2014/main" id="{AAC6E3F0-C4EC-D64D-A869-10DAC424BA7A}"/>
              </a:ext>
            </a:extLst>
          </p:cNvPr>
          <p:cNvSpPr>
            <a:spLocks noChangeArrowheads="1"/>
          </p:cNvSpPr>
          <p:nvPr/>
        </p:nvSpPr>
        <p:spPr bwMode="auto">
          <a:xfrm>
            <a:off x="3871913" y="2909889"/>
            <a:ext cx="93662"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91" name="Rectangle 598">
            <a:extLst>
              <a:ext uri="{FF2B5EF4-FFF2-40B4-BE49-F238E27FC236}">
                <a16:creationId xmlns:a16="http://schemas.microsoft.com/office/drawing/2014/main" id="{9E7BD05E-58EE-C849-9F61-CBB59D93FC47}"/>
              </a:ext>
            </a:extLst>
          </p:cNvPr>
          <p:cNvSpPr>
            <a:spLocks noChangeArrowheads="1"/>
          </p:cNvSpPr>
          <p:nvPr/>
        </p:nvSpPr>
        <p:spPr bwMode="auto">
          <a:xfrm>
            <a:off x="4006850" y="2906714"/>
            <a:ext cx="65088"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92" name="Freeform 599">
            <a:extLst>
              <a:ext uri="{FF2B5EF4-FFF2-40B4-BE49-F238E27FC236}">
                <a16:creationId xmlns:a16="http://schemas.microsoft.com/office/drawing/2014/main" id="{8C2C9A70-7600-0C41-BCF7-20347D7EF938}"/>
              </a:ext>
            </a:extLst>
          </p:cNvPr>
          <p:cNvSpPr>
            <a:spLocks/>
          </p:cNvSpPr>
          <p:nvPr/>
        </p:nvSpPr>
        <p:spPr bwMode="auto">
          <a:xfrm>
            <a:off x="3941763" y="2987676"/>
            <a:ext cx="11112" cy="15875"/>
          </a:xfrm>
          <a:custGeom>
            <a:avLst/>
            <a:gdLst>
              <a:gd name="T0" fmla="*/ 23 w 23"/>
              <a:gd name="T1" fmla="*/ 13 h 29"/>
              <a:gd name="T2" fmla="*/ 23 w 23"/>
              <a:gd name="T3" fmla="*/ 11 h 29"/>
              <a:gd name="T4" fmla="*/ 21 w 23"/>
              <a:gd name="T5" fmla="*/ 8 h 29"/>
              <a:gd name="T6" fmla="*/ 21 w 23"/>
              <a:gd name="T7" fmla="*/ 6 h 29"/>
              <a:gd name="T8" fmla="*/ 19 w 23"/>
              <a:gd name="T9" fmla="*/ 4 h 29"/>
              <a:gd name="T10" fmla="*/ 18 w 23"/>
              <a:gd name="T11" fmla="*/ 2 h 29"/>
              <a:gd name="T12" fmla="*/ 17 w 23"/>
              <a:gd name="T13" fmla="*/ 1 h 29"/>
              <a:gd name="T14" fmla="*/ 15 w 23"/>
              <a:gd name="T15" fmla="*/ 0 h 29"/>
              <a:gd name="T16" fmla="*/ 12 w 23"/>
              <a:gd name="T17" fmla="*/ 0 h 29"/>
              <a:gd name="T18" fmla="*/ 10 w 23"/>
              <a:gd name="T19" fmla="*/ 0 h 29"/>
              <a:gd name="T20" fmla="*/ 9 w 23"/>
              <a:gd name="T21" fmla="*/ 0 h 29"/>
              <a:gd name="T22" fmla="*/ 7 w 23"/>
              <a:gd name="T23" fmla="*/ 1 h 29"/>
              <a:gd name="T24" fmla="*/ 5 w 23"/>
              <a:gd name="T25" fmla="*/ 2 h 29"/>
              <a:gd name="T26" fmla="*/ 4 w 23"/>
              <a:gd name="T27" fmla="*/ 4 h 29"/>
              <a:gd name="T28" fmla="*/ 1 w 23"/>
              <a:gd name="T29" fmla="*/ 6 h 29"/>
              <a:gd name="T30" fmla="*/ 1 w 23"/>
              <a:gd name="T31" fmla="*/ 8 h 29"/>
              <a:gd name="T32" fmla="*/ 0 w 23"/>
              <a:gd name="T33" fmla="*/ 11 h 29"/>
              <a:gd name="T34" fmla="*/ 0 w 23"/>
              <a:gd name="T35" fmla="*/ 13 h 29"/>
              <a:gd name="T36" fmla="*/ 0 w 23"/>
              <a:gd name="T37" fmla="*/ 16 h 29"/>
              <a:gd name="T38" fmla="*/ 0 w 23"/>
              <a:gd name="T39" fmla="*/ 18 h 29"/>
              <a:gd name="T40" fmla="*/ 1 w 23"/>
              <a:gd name="T41" fmla="*/ 22 h 29"/>
              <a:gd name="T42" fmla="*/ 1 w 23"/>
              <a:gd name="T43" fmla="*/ 24 h 29"/>
              <a:gd name="T44" fmla="*/ 4 w 23"/>
              <a:gd name="T45" fmla="*/ 25 h 29"/>
              <a:gd name="T46" fmla="*/ 5 w 23"/>
              <a:gd name="T47" fmla="*/ 27 h 29"/>
              <a:gd name="T48" fmla="*/ 7 w 23"/>
              <a:gd name="T49" fmla="*/ 28 h 29"/>
              <a:gd name="T50" fmla="*/ 9 w 23"/>
              <a:gd name="T51" fmla="*/ 29 h 29"/>
              <a:gd name="T52" fmla="*/ 10 w 23"/>
              <a:gd name="T53" fmla="*/ 29 h 29"/>
              <a:gd name="T54" fmla="*/ 12 w 23"/>
              <a:gd name="T55" fmla="*/ 29 h 29"/>
              <a:gd name="T56" fmla="*/ 15 w 23"/>
              <a:gd name="T57" fmla="*/ 29 h 29"/>
              <a:gd name="T58" fmla="*/ 17 w 23"/>
              <a:gd name="T59" fmla="*/ 28 h 29"/>
              <a:gd name="T60" fmla="*/ 18 w 23"/>
              <a:gd name="T61" fmla="*/ 27 h 29"/>
              <a:gd name="T62" fmla="*/ 19 w 23"/>
              <a:gd name="T63" fmla="*/ 25 h 29"/>
              <a:gd name="T64" fmla="*/ 21 w 23"/>
              <a:gd name="T65" fmla="*/ 24 h 29"/>
              <a:gd name="T66" fmla="*/ 21 w 23"/>
              <a:gd name="T67" fmla="*/ 22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10"/>
                </a:lnTo>
                <a:lnTo>
                  <a:pt x="21" y="8"/>
                </a:lnTo>
                <a:lnTo>
                  <a:pt x="21" y="7"/>
                </a:lnTo>
                <a:lnTo>
                  <a:pt x="21" y="6"/>
                </a:lnTo>
                <a:lnTo>
                  <a:pt x="20" y="5"/>
                </a:lnTo>
                <a:lnTo>
                  <a:pt x="19" y="4"/>
                </a:lnTo>
                <a:lnTo>
                  <a:pt x="19" y="3"/>
                </a:lnTo>
                <a:lnTo>
                  <a:pt x="18" y="2"/>
                </a:lnTo>
                <a:lnTo>
                  <a:pt x="17" y="1"/>
                </a:lnTo>
                <a:lnTo>
                  <a:pt x="16" y="0"/>
                </a:lnTo>
                <a:lnTo>
                  <a:pt x="15" y="0"/>
                </a:lnTo>
                <a:lnTo>
                  <a:pt x="13" y="0"/>
                </a:lnTo>
                <a:lnTo>
                  <a:pt x="12" y="0"/>
                </a:lnTo>
                <a:lnTo>
                  <a:pt x="11" y="0"/>
                </a:lnTo>
                <a:lnTo>
                  <a:pt x="10" y="0"/>
                </a:lnTo>
                <a:lnTo>
                  <a:pt x="9" y="0"/>
                </a:lnTo>
                <a:lnTo>
                  <a:pt x="8" y="0"/>
                </a:lnTo>
                <a:lnTo>
                  <a:pt x="7" y="1"/>
                </a:lnTo>
                <a:lnTo>
                  <a:pt x="6" y="1"/>
                </a:lnTo>
                <a:lnTo>
                  <a:pt x="5" y="2"/>
                </a:lnTo>
                <a:lnTo>
                  <a:pt x="4" y="3"/>
                </a:lnTo>
                <a:lnTo>
                  <a:pt x="4" y="4"/>
                </a:lnTo>
                <a:lnTo>
                  <a:pt x="2" y="5"/>
                </a:lnTo>
                <a:lnTo>
                  <a:pt x="1" y="6"/>
                </a:lnTo>
                <a:lnTo>
                  <a:pt x="1" y="7"/>
                </a:lnTo>
                <a:lnTo>
                  <a:pt x="1" y="8"/>
                </a:lnTo>
                <a:lnTo>
                  <a:pt x="0" y="10"/>
                </a:lnTo>
                <a:lnTo>
                  <a:pt x="0" y="11"/>
                </a:lnTo>
                <a:lnTo>
                  <a:pt x="0" y="12"/>
                </a:lnTo>
                <a:lnTo>
                  <a:pt x="0" y="13"/>
                </a:lnTo>
                <a:lnTo>
                  <a:pt x="0" y="14"/>
                </a:lnTo>
                <a:lnTo>
                  <a:pt x="0" y="16"/>
                </a:lnTo>
                <a:lnTo>
                  <a:pt x="0" y="17"/>
                </a:lnTo>
                <a:lnTo>
                  <a:pt x="0" y="18"/>
                </a:lnTo>
                <a:lnTo>
                  <a:pt x="0" y="19"/>
                </a:lnTo>
                <a:lnTo>
                  <a:pt x="1" y="22"/>
                </a:lnTo>
                <a:lnTo>
                  <a:pt x="1" y="23"/>
                </a:lnTo>
                <a:lnTo>
                  <a:pt x="1" y="24"/>
                </a:lnTo>
                <a:lnTo>
                  <a:pt x="2" y="24"/>
                </a:lnTo>
                <a:lnTo>
                  <a:pt x="4" y="25"/>
                </a:lnTo>
                <a:lnTo>
                  <a:pt x="4" y="26"/>
                </a:lnTo>
                <a:lnTo>
                  <a:pt x="5" y="27"/>
                </a:lnTo>
                <a:lnTo>
                  <a:pt x="6" y="28"/>
                </a:lnTo>
                <a:lnTo>
                  <a:pt x="7" y="28"/>
                </a:lnTo>
                <a:lnTo>
                  <a:pt x="8" y="29"/>
                </a:lnTo>
                <a:lnTo>
                  <a:pt x="9" y="29"/>
                </a:lnTo>
                <a:lnTo>
                  <a:pt x="10" y="29"/>
                </a:lnTo>
                <a:lnTo>
                  <a:pt x="11" y="29"/>
                </a:lnTo>
                <a:lnTo>
                  <a:pt x="12" y="29"/>
                </a:lnTo>
                <a:lnTo>
                  <a:pt x="13" y="29"/>
                </a:lnTo>
                <a:lnTo>
                  <a:pt x="15" y="29"/>
                </a:lnTo>
                <a:lnTo>
                  <a:pt x="16" y="29"/>
                </a:lnTo>
                <a:lnTo>
                  <a:pt x="17" y="28"/>
                </a:lnTo>
                <a:lnTo>
                  <a:pt x="18" y="27"/>
                </a:lnTo>
                <a:lnTo>
                  <a:pt x="19" y="26"/>
                </a:lnTo>
                <a:lnTo>
                  <a:pt x="19" y="25"/>
                </a:lnTo>
                <a:lnTo>
                  <a:pt x="20" y="24"/>
                </a:lnTo>
                <a:lnTo>
                  <a:pt x="21" y="24"/>
                </a:lnTo>
                <a:lnTo>
                  <a:pt x="21" y="23"/>
                </a:lnTo>
                <a:lnTo>
                  <a:pt x="21" y="22"/>
                </a:lnTo>
                <a:lnTo>
                  <a:pt x="22" y="19"/>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93" name="Line 600">
            <a:extLst>
              <a:ext uri="{FF2B5EF4-FFF2-40B4-BE49-F238E27FC236}">
                <a16:creationId xmlns:a16="http://schemas.microsoft.com/office/drawing/2014/main" id="{61523A4C-8C1F-F147-975D-8D0665C9D6AA}"/>
              </a:ext>
            </a:extLst>
          </p:cNvPr>
          <p:cNvSpPr>
            <a:spLocks noChangeShapeType="1"/>
          </p:cNvSpPr>
          <p:nvPr/>
        </p:nvSpPr>
        <p:spPr bwMode="auto">
          <a:xfrm>
            <a:off x="4038600" y="2906714"/>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94" name="Line 601">
            <a:extLst>
              <a:ext uri="{FF2B5EF4-FFF2-40B4-BE49-F238E27FC236}">
                <a16:creationId xmlns:a16="http://schemas.microsoft.com/office/drawing/2014/main" id="{D8530F9F-16FD-CB42-A294-65701AA0E24A}"/>
              </a:ext>
            </a:extLst>
          </p:cNvPr>
          <p:cNvSpPr>
            <a:spLocks noChangeShapeType="1"/>
          </p:cNvSpPr>
          <p:nvPr/>
        </p:nvSpPr>
        <p:spPr bwMode="auto">
          <a:xfrm>
            <a:off x="4006850" y="2944814"/>
            <a:ext cx="63500"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95" name="Freeform 602">
            <a:extLst>
              <a:ext uri="{FF2B5EF4-FFF2-40B4-BE49-F238E27FC236}">
                <a16:creationId xmlns:a16="http://schemas.microsoft.com/office/drawing/2014/main" id="{497968CD-E5FE-3B47-9226-EF9EBCA897BE}"/>
              </a:ext>
            </a:extLst>
          </p:cNvPr>
          <p:cNvSpPr>
            <a:spLocks/>
          </p:cNvSpPr>
          <p:nvPr/>
        </p:nvSpPr>
        <p:spPr bwMode="auto">
          <a:xfrm>
            <a:off x="2081213" y="3170238"/>
            <a:ext cx="323850" cy="341312"/>
          </a:xfrm>
          <a:custGeom>
            <a:avLst/>
            <a:gdLst>
              <a:gd name="T0" fmla="*/ 56 w 614"/>
              <a:gd name="T1" fmla="*/ 196 h 644"/>
              <a:gd name="T2" fmla="*/ 0 w 614"/>
              <a:gd name="T3" fmla="*/ 196 h 644"/>
              <a:gd name="T4" fmla="*/ 307 w 614"/>
              <a:gd name="T5" fmla="*/ 0 h 644"/>
              <a:gd name="T6" fmla="*/ 614 w 614"/>
              <a:gd name="T7" fmla="*/ 196 h 644"/>
              <a:gd name="T8" fmla="*/ 587 w 614"/>
              <a:gd name="T9" fmla="*/ 196 h 644"/>
              <a:gd name="T10" fmla="*/ 559 w 614"/>
              <a:gd name="T11" fmla="*/ 196 h 644"/>
              <a:gd name="T12" fmla="*/ 559 w 614"/>
              <a:gd name="T13" fmla="*/ 615 h 644"/>
              <a:gd name="T14" fmla="*/ 56 w 614"/>
              <a:gd name="T15" fmla="*/ 615 h 644"/>
              <a:gd name="T16" fmla="*/ 56 w 614"/>
              <a:gd name="T17" fmla="*/ 196 h 644"/>
              <a:gd name="T18" fmla="*/ 559 w 614"/>
              <a:gd name="T19" fmla="*/ 196 h 644"/>
              <a:gd name="T20" fmla="*/ 587 w 614"/>
              <a:gd name="T21" fmla="*/ 196 h 644"/>
              <a:gd name="T22" fmla="*/ 587 w 614"/>
              <a:gd name="T23" fmla="*/ 644 h 644"/>
              <a:gd name="T24" fmla="*/ 56 w 614"/>
              <a:gd name="T25" fmla="*/ 644 h 644"/>
              <a:gd name="T26" fmla="*/ 56 w 614"/>
              <a:gd name="T27" fmla="*/ 615 h 644"/>
              <a:gd name="T28" fmla="*/ 56 w 614"/>
              <a:gd name="T29" fmla="*/ 196 h 6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4"/>
              <a:gd name="T47" fmla="*/ 614 w 614"/>
              <a:gd name="T48" fmla="*/ 644 h 6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4">
                <a:moveTo>
                  <a:pt x="56" y="196"/>
                </a:moveTo>
                <a:lnTo>
                  <a:pt x="0" y="196"/>
                </a:lnTo>
                <a:lnTo>
                  <a:pt x="307" y="0"/>
                </a:lnTo>
                <a:lnTo>
                  <a:pt x="614" y="196"/>
                </a:lnTo>
                <a:lnTo>
                  <a:pt x="587" y="196"/>
                </a:lnTo>
                <a:lnTo>
                  <a:pt x="559" y="196"/>
                </a:lnTo>
                <a:lnTo>
                  <a:pt x="559" y="615"/>
                </a:lnTo>
                <a:lnTo>
                  <a:pt x="56" y="615"/>
                </a:lnTo>
                <a:lnTo>
                  <a:pt x="56" y="196"/>
                </a:lnTo>
                <a:lnTo>
                  <a:pt x="559" y="196"/>
                </a:lnTo>
                <a:lnTo>
                  <a:pt x="587" y="196"/>
                </a:lnTo>
                <a:lnTo>
                  <a:pt x="587" y="644"/>
                </a:lnTo>
                <a:lnTo>
                  <a:pt x="56" y="644"/>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96" name="Rectangle 603">
            <a:extLst>
              <a:ext uri="{FF2B5EF4-FFF2-40B4-BE49-F238E27FC236}">
                <a16:creationId xmlns:a16="http://schemas.microsoft.com/office/drawing/2014/main" id="{32A94B8B-FBFF-0A43-A9F4-79AD14E715AD}"/>
              </a:ext>
            </a:extLst>
          </p:cNvPr>
          <p:cNvSpPr>
            <a:spLocks noChangeArrowheads="1"/>
          </p:cNvSpPr>
          <p:nvPr/>
        </p:nvSpPr>
        <p:spPr bwMode="auto">
          <a:xfrm>
            <a:off x="2111375" y="3275013"/>
            <a:ext cx="268288" cy="220662"/>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97" name="Rectangle 604">
            <a:extLst>
              <a:ext uri="{FF2B5EF4-FFF2-40B4-BE49-F238E27FC236}">
                <a16:creationId xmlns:a16="http://schemas.microsoft.com/office/drawing/2014/main" id="{2F4309FC-2A0C-D047-956D-8B640426898C}"/>
              </a:ext>
            </a:extLst>
          </p:cNvPr>
          <p:cNvSpPr>
            <a:spLocks noChangeArrowheads="1"/>
          </p:cNvSpPr>
          <p:nvPr/>
        </p:nvSpPr>
        <p:spPr bwMode="auto">
          <a:xfrm>
            <a:off x="2154238" y="3327400"/>
            <a:ext cx="93662"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98" name="Rectangle 605">
            <a:extLst>
              <a:ext uri="{FF2B5EF4-FFF2-40B4-BE49-F238E27FC236}">
                <a16:creationId xmlns:a16="http://schemas.microsoft.com/office/drawing/2014/main" id="{25BE6696-35A9-444D-B65A-7E0BEB3897E2}"/>
              </a:ext>
            </a:extLst>
          </p:cNvPr>
          <p:cNvSpPr>
            <a:spLocks noChangeArrowheads="1"/>
          </p:cNvSpPr>
          <p:nvPr/>
        </p:nvSpPr>
        <p:spPr bwMode="auto">
          <a:xfrm>
            <a:off x="2289175" y="3322638"/>
            <a:ext cx="65088" cy="80962"/>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5999" name="Freeform 606">
            <a:extLst>
              <a:ext uri="{FF2B5EF4-FFF2-40B4-BE49-F238E27FC236}">
                <a16:creationId xmlns:a16="http://schemas.microsoft.com/office/drawing/2014/main" id="{E8AC5532-3D2E-9C4F-8415-BCB106BF54DD}"/>
              </a:ext>
            </a:extLst>
          </p:cNvPr>
          <p:cNvSpPr>
            <a:spLocks/>
          </p:cNvSpPr>
          <p:nvPr/>
        </p:nvSpPr>
        <p:spPr bwMode="auto">
          <a:xfrm>
            <a:off x="2222500" y="3405189"/>
            <a:ext cx="12700" cy="14287"/>
          </a:xfrm>
          <a:custGeom>
            <a:avLst/>
            <a:gdLst>
              <a:gd name="T0" fmla="*/ 23 w 23"/>
              <a:gd name="T1" fmla="*/ 13 h 29"/>
              <a:gd name="T2" fmla="*/ 23 w 23"/>
              <a:gd name="T3" fmla="*/ 11 h 29"/>
              <a:gd name="T4" fmla="*/ 21 w 23"/>
              <a:gd name="T5" fmla="*/ 8 h 29"/>
              <a:gd name="T6" fmla="*/ 21 w 23"/>
              <a:gd name="T7" fmla="*/ 6 h 29"/>
              <a:gd name="T8" fmla="*/ 19 w 23"/>
              <a:gd name="T9" fmla="*/ 4 h 29"/>
              <a:gd name="T10" fmla="*/ 17 w 23"/>
              <a:gd name="T11" fmla="*/ 2 h 29"/>
              <a:gd name="T12" fmla="*/ 16 w 23"/>
              <a:gd name="T13" fmla="*/ 1 h 29"/>
              <a:gd name="T14" fmla="*/ 14 w 23"/>
              <a:gd name="T15" fmla="*/ 0 h 29"/>
              <a:gd name="T16" fmla="*/ 12 w 23"/>
              <a:gd name="T17" fmla="*/ 0 h 29"/>
              <a:gd name="T18" fmla="*/ 10 w 23"/>
              <a:gd name="T19" fmla="*/ 0 h 29"/>
              <a:gd name="T20" fmla="*/ 9 w 23"/>
              <a:gd name="T21" fmla="*/ 0 h 29"/>
              <a:gd name="T22" fmla="*/ 6 w 23"/>
              <a:gd name="T23" fmla="*/ 1 h 29"/>
              <a:gd name="T24" fmla="*/ 4 w 23"/>
              <a:gd name="T25" fmla="*/ 2 h 29"/>
              <a:gd name="T26" fmla="*/ 3 w 23"/>
              <a:gd name="T27" fmla="*/ 4 h 29"/>
              <a:gd name="T28" fmla="*/ 1 w 23"/>
              <a:gd name="T29" fmla="*/ 6 h 29"/>
              <a:gd name="T30" fmla="*/ 1 w 23"/>
              <a:gd name="T31" fmla="*/ 8 h 29"/>
              <a:gd name="T32" fmla="*/ 0 w 23"/>
              <a:gd name="T33" fmla="*/ 11 h 29"/>
              <a:gd name="T34" fmla="*/ 0 w 23"/>
              <a:gd name="T35" fmla="*/ 13 h 29"/>
              <a:gd name="T36" fmla="*/ 0 w 23"/>
              <a:gd name="T37" fmla="*/ 16 h 29"/>
              <a:gd name="T38" fmla="*/ 0 w 23"/>
              <a:gd name="T39" fmla="*/ 18 h 29"/>
              <a:gd name="T40" fmla="*/ 1 w 23"/>
              <a:gd name="T41" fmla="*/ 22 h 29"/>
              <a:gd name="T42" fmla="*/ 1 w 23"/>
              <a:gd name="T43" fmla="*/ 24 h 29"/>
              <a:gd name="T44" fmla="*/ 3 w 23"/>
              <a:gd name="T45" fmla="*/ 25 h 29"/>
              <a:gd name="T46" fmla="*/ 4 w 23"/>
              <a:gd name="T47" fmla="*/ 27 h 29"/>
              <a:gd name="T48" fmla="*/ 6 w 23"/>
              <a:gd name="T49" fmla="*/ 28 h 29"/>
              <a:gd name="T50" fmla="*/ 9 w 23"/>
              <a:gd name="T51" fmla="*/ 29 h 29"/>
              <a:gd name="T52" fmla="*/ 10 w 23"/>
              <a:gd name="T53" fmla="*/ 29 h 29"/>
              <a:gd name="T54" fmla="*/ 12 w 23"/>
              <a:gd name="T55" fmla="*/ 29 h 29"/>
              <a:gd name="T56" fmla="*/ 14 w 23"/>
              <a:gd name="T57" fmla="*/ 29 h 29"/>
              <a:gd name="T58" fmla="*/ 16 w 23"/>
              <a:gd name="T59" fmla="*/ 28 h 29"/>
              <a:gd name="T60" fmla="*/ 17 w 23"/>
              <a:gd name="T61" fmla="*/ 27 h 29"/>
              <a:gd name="T62" fmla="*/ 19 w 23"/>
              <a:gd name="T63" fmla="*/ 25 h 29"/>
              <a:gd name="T64" fmla="*/ 21 w 23"/>
              <a:gd name="T65" fmla="*/ 24 h 29"/>
              <a:gd name="T66" fmla="*/ 21 w 23"/>
              <a:gd name="T67" fmla="*/ 22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9"/>
                </a:lnTo>
                <a:lnTo>
                  <a:pt x="21" y="8"/>
                </a:lnTo>
                <a:lnTo>
                  <a:pt x="21" y="7"/>
                </a:lnTo>
                <a:lnTo>
                  <a:pt x="21" y="6"/>
                </a:lnTo>
                <a:lnTo>
                  <a:pt x="20" y="5"/>
                </a:lnTo>
                <a:lnTo>
                  <a:pt x="19" y="4"/>
                </a:lnTo>
                <a:lnTo>
                  <a:pt x="19" y="3"/>
                </a:lnTo>
                <a:lnTo>
                  <a:pt x="17" y="2"/>
                </a:lnTo>
                <a:lnTo>
                  <a:pt x="16" y="1"/>
                </a:lnTo>
                <a:lnTo>
                  <a:pt x="15" y="0"/>
                </a:lnTo>
                <a:lnTo>
                  <a:pt x="14" y="0"/>
                </a:lnTo>
                <a:lnTo>
                  <a:pt x="13" y="0"/>
                </a:lnTo>
                <a:lnTo>
                  <a:pt x="12" y="0"/>
                </a:lnTo>
                <a:lnTo>
                  <a:pt x="11" y="0"/>
                </a:lnTo>
                <a:lnTo>
                  <a:pt x="10" y="0"/>
                </a:lnTo>
                <a:lnTo>
                  <a:pt x="9" y="0"/>
                </a:lnTo>
                <a:lnTo>
                  <a:pt x="8" y="0"/>
                </a:lnTo>
                <a:lnTo>
                  <a:pt x="6" y="1"/>
                </a:lnTo>
                <a:lnTo>
                  <a:pt x="5" y="1"/>
                </a:lnTo>
                <a:lnTo>
                  <a:pt x="4" y="2"/>
                </a:lnTo>
                <a:lnTo>
                  <a:pt x="3" y="3"/>
                </a:lnTo>
                <a:lnTo>
                  <a:pt x="3" y="4"/>
                </a:lnTo>
                <a:lnTo>
                  <a:pt x="2" y="5"/>
                </a:lnTo>
                <a:lnTo>
                  <a:pt x="1" y="6"/>
                </a:lnTo>
                <a:lnTo>
                  <a:pt x="1" y="7"/>
                </a:lnTo>
                <a:lnTo>
                  <a:pt x="1" y="8"/>
                </a:lnTo>
                <a:lnTo>
                  <a:pt x="0" y="9"/>
                </a:lnTo>
                <a:lnTo>
                  <a:pt x="0" y="11"/>
                </a:lnTo>
                <a:lnTo>
                  <a:pt x="0" y="12"/>
                </a:lnTo>
                <a:lnTo>
                  <a:pt x="0" y="13"/>
                </a:lnTo>
                <a:lnTo>
                  <a:pt x="0" y="14"/>
                </a:lnTo>
                <a:lnTo>
                  <a:pt x="0" y="16"/>
                </a:lnTo>
                <a:lnTo>
                  <a:pt x="0" y="17"/>
                </a:lnTo>
                <a:lnTo>
                  <a:pt x="0" y="18"/>
                </a:lnTo>
                <a:lnTo>
                  <a:pt x="0" y="19"/>
                </a:lnTo>
                <a:lnTo>
                  <a:pt x="1" y="22"/>
                </a:lnTo>
                <a:lnTo>
                  <a:pt x="1" y="23"/>
                </a:lnTo>
                <a:lnTo>
                  <a:pt x="1" y="24"/>
                </a:lnTo>
                <a:lnTo>
                  <a:pt x="2" y="24"/>
                </a:lnTo>
                <a:lnTo>
                  <a:pt x="3" y="25"/>
                </a:lnTo>
                <a:lnTo>
                  <a:pt x="3" y="26"/>
                </a:lnTo>
                <a:lnTo>
                  <a:pt x="4" y="27"/>
                </a:lnTo>
                <a:lnTo>
                  <a:pt x="5" y="28"/>
                </a:lnTo>
                <a:lnTo>
                  <a:pt x="6" y="28"/>
                </a:lnTo>
                <a:lnTo>
                  <a:pt x="8" y="29"/>
                </a:lnTo>
                <a:lnTo>
                  <a:pt x="9" y="29"/>
                </a:lnTo>
                <a:lnTo>
                  <a:pt x="10" y="29"/>
                </a:lnTo>
                <a:lnTo>
                  <a:pt x="11" y="29"/>
                </a:lnTo>
                <a:lnTo>
                  <a:pt x="12" y="29"/>
                </a:lnTo>
                <a:lnTo>
                  <a:pt x="13" y="29"/>
                </a:lnTo>
                <a:lnTo>
                  <a:pt x="14" y="29"/>
                </a:lnTo>
                <a:lnTo>
                  <a:pt x="15" y="29"/>
                </a:lnTo>
                <a:lnTo>
                  <a:pt x="16" y="28"/>
                </a:lnTo>
                <a:lnTo>
                  <a:pt x="17" y="27"/>
                </a:lnTo>
                <a:lnTo>
                  <a:pt x="19" y="26"/>
                </a:lnTo>
                <a:lnTo>
                  <a:pt x="19" y="25"/>
                </a:lnTo>
                <a:lnTo>
                  <a:pt x="20" y="24"/>
                </a:lnTo>
                <a:lnTo>
                  <a:pt x="21" y="24"/>
                </a:lnTo>
                <a:lnTo>
                  <a:pt x="21" y="23"/>
                </a:lnTo>
                <a:lnTo>
                  <a:pt x="21" y="22"/>
                </a:lnTo>
                <a:lnTo>
                  <a:pt x="22" y="19"/>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00" name="Line 607">
            <a:extLst>
              <a:ext uri="{FF2B5EF4-FFF2-40B4-BE49-F238E27FC236}">
                <a16:creationId xmlns:a16="http://schemas.microsoft.com/office/drawing/2014/main" id="{D0B258B9-B25B-F44C-88D0-8FA30C0CFA6D}"/>
              </a:ext>
            </a:extLst>
          </p:cNvPr>
          <p:cNvSpPr>
            <a:spLocks noChangeShapeType="1"/>
          </p:cNvSpPr>
          <p:nvPr/>
        </p:nvSpPr>
        <p:spPr bwMode="auto">
          <a:xfrm>
            <a:off x="2320925" y="3324226"/>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01" name="Line 608">
            <a:extLst>
              <a:ext uri="{FF2B5EF4-FFF2-40B4-BE49-F238E27FC236}">
                <a16:creationId xmlns:a16="http://schemas.microsoft.com/office/drawing/2014/main" id="{5E764C9B-23F7-BC43-B067-35D0A71EEDAE}"/>
              </a:ext>
            </a:extLst>
          </p:cNvPr>
          <p:cNvSpPr>
            <a:spLocks noChangeShapeType="1"/>
          </p:cNvSpPr>
          <p:nvPr/>
        </p:nvSpPr>
        <p:spPr bwMode="auto">
          <a:xfrm>
            <a:off x="2289176" y="3360739"/>
            <a:ext cx="61913"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02" name="Freeform 609">
            <a:extLst>
              <a:ext uri="{FF2B5EF4-FFF2-40B4-BE49-F238E27FC236}">
                <a16:creationId xmlns:a16="http://schemas.microsoft.com/office/drawing/2014/main" id="{7F0031DB-9780-B84A-BFBA-7178335C5754}"/>
              </a:ext>
            </a:extLst>
          </p:cNvPr>
          <p:cNvSpPr>
            <a:spLocks/>
          </p:cNvSpPr>
          <p:nvPr/>
        </p:nvSpPr>
        <p:spPr bwMode="auto">
          <a:xfrm>
            <a:off x="6818314" y="3068638"/>
            <a:ext cx="325437" cy="341312"/>
          </a:xfrm>
          <a:custGeom>
            <a:avLst/>
            <a:gdLst>
              <a:gd name="T0" fmla="*/ 56 w 615"/>
              <a:gd name="T1" fmla="*/ 196 h 643"/>
              <a:gd name="T2" fmla="*/ 0 w 615"/>
              <a:gd name="T3" fmla="*/ 196 h 643"/>
              <a:gd name="T4" fmla="*/ 308 w 615"/>
              <a:gd name="T5" fmla="*/ 0 h 643"/>
              <a:gd name="T6" fmla="*/ 615 w 615"/>
              <a:gd name="T7" fmla="*/ 196 h 643"/>
              <a:gd name="T8" fmla="*/ 587 w 615"/>
              <a:gd name="T9" fmla="*/ 196 h 643"/>
              <a:gd name="T10" fmla="*/ 559 w 615"/>
              <a:gd name="T11" fmla="*/ 196 h 643"/>
              <a:gd name="T12" fmla="*/ 559 w 615"/>
              <a:gd name="T13" fmla="*/ 615 h 643"/>
              <a:gd name="T14" fmla="*/ 56 w 615"/>
              <a:gd name="T15" fmla="*/ 615 h 643"/>
              <a:gd name="T16" fmla="*/ 56 w 615"/>
              <a:gd name="T17" fmla="*/ 196 h 643"/>
              <a:gd name="T18" fmla="*/ 559 w 615"/>
              <a:gd name="T19" fmla="*/ 196 h 643"/>
              <a:gd name="T20" fmla="*/ 587 w 615"/>
              <a:gd name="T21" fmla="*/ 196 h 643"/>
              <a:gd name="T22" fmla="*/ 587 w 615"/>
              <a:gd name="T23" fmla="*/ 643 h 643"/>
              <a:gd name="T24" fmla="*/ 56 w 615"/>
              <a:gd name="T25" fmla="*/ 643 h 643"/>
              <a:gd name="T26" fmla="*/ 56 w 615"/>
              <a:gd name="T27" fmla="*/ 615 h 643"/>
              <a:gd name="T28" fmla="*/ 56 w 615"/>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6"/>
                </a:moveTo>
                <a:lnTo>
                  <a:pt x="0" y="196"/>
                </a:lnTo>
                <a:lnTo>
                  <a:pt x="308" y="0"/>
                </a:lnTo>
                <a:lnTo>
                  <a:pt x="615" y="196"/>
                </a:lnTo>
                <a:lnTo>
                  <a:pt x="587" y="196"/>
                </a:lnTo>
                <a:lnTo>
                  <a:pt x="559" y="196"/>
                </a:lnTo>
                <a:lnTo>
                  <a:pt x="559" y="615"/>
                </a:lnTo>
                <a:lnTo>
                  <a:pt x="56" y="615"/>
                </a:lnTo>
                <a:lnTo>
                  <a:pt x="56" y="196"/>
                </a:lnTo>
                <a:lnTo>
                  <a:pt x="559"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03" name="Rectangle 610">
            <a:extLst>
              <a:ext uri="{FF2B5EF4-FFF2-40B4-BE49-F238E27FC236}">
                <a16:creationId xmlns:a16="http://schemas.microsoft.com/office/drawing/2014/main" id="{5D4B65AA-C3EA-7741-A3F7-25333EB034F5}"/>
              </a:ext>
            </a:extLst>
          </p:cNvPr>
          <p:cNvSpPr>
            <a:spLocks noChangeArrowheads="1"/>
          </p:cNvSpPr>
          <p:nvPr/>
        </p:nvSpPr>
        <p:spPr bwMode="auto">
          <a:xfrm>
            <a:off x="6848475" y="3173413"/>
            <a:ext cx="268288" cy="220662"/>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04" name="Rectangle 611">
            <a:extLst>
              <a:ext uri="{FF2B5EF4-FFF2-40B4-BE49-F238E27FC236}">
                <a16:creationId xmlns:a16="http://schemas.microsoft.com/office/drawing/2014/main" id="{45C8C933-7B01-4241-90F7-12990F81E9EB}"/>
              </a:ext>
            </a:extLst>
          </p:cNvPr>
          <p:cNvSpPr>
            <a:spLocks noChangeArrowheads="1"/>
          </p:cNvSpPr>
          <p:nvPr/>
        </p:nvSpPr>
        <p:spPr bwMode="auto">
          <a:xfrm>
            <a:off x="6891338" y="3225800"/>
            <a:ext cx="93662"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05" name="Rectangle 612">
            <a:extLst>
              <a:ext uri="{FF2B5EF4-FFF2-40B4-BE49-F238E27FC236}">
                <a16:creationId xmlns:a16="http://schemas.microsoft.com/office/drawing/2014/main" id="{BF802DC8-B6B7-8648-87B0-B4B4DCA1B2F4}"/>
              </a:ext>
            </a:extLst>
          </p:cNvPr>
          <p:cNvSpPr>
            <a:spLocks noChangeArrowheads="1"/>
          </p:cNvSpPr>
          <p:nvPr/>
        </p:nvSpPr>
        <p:spPr bwMode="auto">
          <a:xfrm>
            <a:off x="7026275" y="3221038"/>
            <a:ext cx="65088" cy="80962"/>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06" name="Freeform 613">
            <a:extLst>
              <a:ext uri="{FF2B5EF4-FFF2-40B4-BE49-F238E27FC236}">
                <a16:creationId xmlns:a16="http://schemas.microsoft.com/office/drawing/2014/main" id="{100724BE-0FB9-6749-8181-27F255FBF549}"/>
              </a:ext>
            </a:extLst>
          </p:cNvPr>
          <p:cNvSpPr>
            <a:spLocks/>
          </p:cNvSpPr>
          <p:nvPr/>
        </p:nvSpPr>
        <p:spPr bwMode="auto">
          <a:xfrm>
            <a:off x="6961188" y="3303589"/>
            <a:ext cx="11112" cy="14287"/>
          </a:xfrm>
          <a:custGeom>
            <a:avLst/>
            <a:gdLst>
              <a:gd name="T0" fmla="*/ 23 w 23"/>
              <a:gd name="T1" fmla="*/ 13 h 29"/>
              <a:gd name="T2" fmla="*/ 23 w 23"/>
              <a:gd name="T3" fmla="*/ 11 h 29"/>
              <a:gd name="T4" fmla="*/ 21 w 23"/>
              <a:gd name="T5" fmla="*/ 8 h 29"/>
              <a:gd name="T6" fmla="*/ 21 w 23"/>
              <a:gd name="T7" fmla="*/ 6 h 29"/>
              <a:gd name="T8" fmla="*/ 19 w 23"/>
              <a:gd name="T9" fmla="*/ 4 h 29"/>
              <a:gd name="T10" fmla="*/ 18 w 23"/>
              <a:gd name="T11" fmla="*/ 2 h 29"/>
              <a:gd name="T12" fmla="*/ 17 w 23"/>
              <a:gd name="T13" fmla="*/ 1 h 29"/>
              <a:gd name="T14" fmla="*/ 14 w 23"/>
              <a:gd name="T15" fmla="*/ 0 h 29"/>
              <a:gd name="T16" fmla="*/ 12 w 23"/>
              <a:gd name="T17" fmla="*/ 0 h 29"/>
              <a:gd name="T18" fmla="*/ 10 w 23"/>
              <a:gd name="T19" fmla="*/ 0 h 29"/>
              <a:gd name="T20" fmla="*/ 9 w 23"/>
              <a:gd name="T21" fmla="*/ 0 h 29"/>
              <a:gd name="T22" fmla="*/ 7 w 23"/>
              <a:gd name="T23" fmla="*/ 1 h 29"/>
              <a:gd name="T24" fmla="*/ 4 w 23"/>
              <a:gd name="T25" fmla="*/ 2 h 29"/>
              <a:gd name="T26" fmla="*/ 3 w 23"/>
              <a:gd name="T27" fmla="*/ 4 h 29"/>
              <a:gd name="T28" fmla="*/ 1 w 23"/>
              <a:gd name="T29" fmla="*/ 6 h 29"/>
              <a:gd name="T30" fmla="*/ 1 w 23"/>
              <a:gd name="T31" fmla="*/ 8 h 29"/>
              <a:gd name="T32" fmla="*/ 0 w 23"/>
              <a:gd name="T33" fmla="*/ 11 h 29"/>
              <a:gd name="T34" fmla="*/ 0 w 23"/>
              <a:gd name="T35" fmla="*/ 13 h 29"/>
              <a:gd name="T36" fmla="*/ 0 w 23"/>
              <a:gd name="T37" fmla="*/ 16 h 29"/>
              <a:gd name="T38" fmla="*/ 0 w 23"/>
              <a:gd name="T39" fmla="*/ 18 h 29"/>
              <a:gd name="T40" fmla="*/ 1 w 23"/>
              <a:gd name="T41" fmla="*/ 22 h 29"/>
              <a:gd name="T42" fmla="*/ 1 w 23"/>
              <a:gd name="T43" fmla="*/ 24 h 29"/>
              <a:gd name="T44" fmla="*/ 3 w 23"/>
              <a:gd name="T45" fmla="*/ 25 h 29"/>
              <a:gd name="T46" fmla="*/ 4 w 23"/>
              <a:gd name="T47" fmla="*/ 27 h 29"/>
              <a:gd name="T48" fmla="*/ 7 w 23"/>
              <a:gd name="T49" fmla="*/ 28 h 29"/>
              <a:gd name="T50" fmla="*/ 9 w 23"/>
              <a:gd name="T51" fmla="*/ 29 h 29"/>
              <a:gd name="T52" fmla="*/ 10 w 23"/>
              <a:gd name="T53" fmla="*/ 29 h 29"/>
              <a:gd name="T54" fmla="*/ 12 w 23"/>
              <a:gd name="T55" fmla="*/ 29 h 29"/>
              <a:gd name="T56" fmla="*/ 14 w 23"/>
              <a:gd name="T57" fmla="*/ 29 h 29"/>
              <a:gd name="T58" fmla="*/ 17 w 23"/>
              <a:gd name="T59" fmla="*/ 28 h 29"/>
              <a:gd name="T60" fmla="*/ 18 w 23"/>
              <a:gd name="T61" fmla="*/ 27 h 29"/>
              <a:gd name="T62" fmla="*/ 19 w 23"/>
              <a:gd name="T63" fmla="*/ 25 h 29"/>
              <a:gd name="T64" fmla="*/ 21 w 23"/>
              <a:gd name="T65" fmla="*/ 24 h 29"/>
              <a:gd name="T66" fmla="*/ 21 w 23"/>
              <a:gd name="T67" fmla="*/ 22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9"/>
                </a:lnTo>
                <a:lnTo>
                  <a:pt x="21" y="8"/>
                </a:lnTo>
                <a:lnTo>
                  <a:pt x="21" y="7"/>
                </a:lnTo>
                <a:lnTo>
                  <a:pt x="21" y="6"/>
                </a:lnTo>
                <a:lnTo>
                  <a:pt x="20" y="5"/>
                </a:lnTo>
                <a:lnTo>
                  <a:pt x="19" y="4"/>
                </a:lnTo>
                <a:lnTo>
                  <a:pt x="19" y="3"/>
                </a:lnTo>
                <a:lnTo>
                  <a:pt x="18" y="2"/>
                </a:lnTo>
                <a:lnTo>
                  <a:pt x="17" y="1"/>
                </a:lnTo>
                <a:lnTo>
                  <a:pt x="15" y="0"/>
                </a:lnTo>
                <a:lnTo>
                  <a:pt x="14" y="0"/>
                </a:lnTo>
                <a:lnTo>
                  <a:pt x="13" y="0"/>
                </a:lnTo>
                <a:lnTo>
                  <a:pt x="12" y="0"/>
                </a:lnTo>
                <a:lnTo>
                  <a:pt x="11" y="0"/>
                </a:lnTo>
                <a:lnTo>
                  <a:pt x="10" y="0"/>
                </a:lnTo>
                <a:lnTo>
                  <a:pt x="9" y="0"/>
                </a:lnTo>
                <a:lnTo>
                  <a:pt x="8" y="0"/>
                </a:lnTo>
                <a:lnTo>
                  <a:pt x="7" y="1"/>
                </a:lnTo>
                <a:lnTo>
                  <a:pt x="6" y="1"/>
                </a:lnTo>
                <a:lnTo>
                  <a:pt x="4" y="2"/>
                </a:lnTo>
                <a:lnTo>
                  <a:pt x="3" y="3"/>
                </a:lnTo>
                <a:lnTo>
                  <a:pt x="3" y="4"/>
                </a:lnTo>
                <a:lnTo>
                  <a:pt x="2" y="5"/>
                </a:lnTo>
                <a:lnTo>
                  <a:pt x="1" y="6"/>
                </a:lnTo>
                <a:lnTo>
                  <a:pt x="1" y="7"/>
                </a:lnTo>
                <a:lnTo>
                  <a:pt x="1" y="8"/>
                </a:lnTo>
                <a:lnTo>
                  <a:pt x="0" y="9"/>
                </a:lnTo>
                <a:lnTo>
                  <a:pt x="0" y="11"/>
                </a:lnTo>
                <a:lnTo>
                  <a:pt x="0" y="12"/>
                </a:lnTo>
                <a:lnTo>
                  <a:pt x="0" y="13"/>
                </a:lnTo>
                <a:lnTo>
                  <a:pt x="0" y="14"/>
                </a:lnTo>
                <a:lnTo>
                  <a:pt x="0" y="16"/>
                </a:lnTo>
                <a:lnTo>
                  <a:pt x="0" y="17"/>
                </a:lnTo>
                <a:lnTo>
                  <a:pt x="0" y="18"/>
                </a:lnTo>
                <a:lnTo>
                  <a:pt x="0" y="19"/>
                </a:lnTo>
                <a:lnTo>
                  <a:pt x="1" y="22"/>
                </a:lnTo>
                <a:lnTo>
                  <a:pt x="1" y="23"/>
                </a:lnTo>
                <a:lnTo>
                  <a:pt x="1" y="24"/>
                </a:lnTo>
                <a:lnTo>
                  <a:pt x="2" y="24"/>
                </a:lnTo>
                <a:lnTo>
                  <a:pt x="3" y="25"/>
                </a:lnTo>
                <a:lnTo>
                  <a:pt x="3" y="26"/>
                </a:lnTo>
                <a:lnTo>
                  <a:pt x="4" y="27"/>
                </a:lnTo>
                <a:lnTo>
                  <a:pt x="6" y="28"/>
                </a:lnTo>
                <a:lnTo>
                  <a:pt x="7" y="28"/>
                </a:lnTo>
                <a:lnTo>
                  <a:pt x="8" y="29"/>
                </a:lnTo>
                <a:lnTo>
                  <a:pt x="9" y="29"/>
                </a:lnTo>
                <a:lnTo>
                  <a:pt x="10" y="29"/>
                </a:lnTo>
                <a:lnTo>
                  <a:pt x="11" y="29"/>
                </a:lnTo>
                <a:lnTo>
                  <a:pt x="12" y="29"/>
                </a:lnTo>
                <a:lnTo>
                  <a:pt x="13" y="29"/>
                </a:lnTo>
                <a:lnTo>
                  <a:pt x="14" y="29"/>
                </a:lnTo>
                <a:lnTo>
                  <a:pt x="15" y="29"/>
                </a:lnTo>
                <a:lnTo>
                  <a:pt x="17" y="28"/>
                </a:lnTo>
                <a:lnTo>
                  <a:pt x="18" y="27"/>
                </a:lnTo>
                <a:lnTo>
                  <a:pt x="19" y="26"/>
                </a:lnTo>
                <a:lnTo>
                  <a:pt x="19" y="25"/>
                </a:lnTo>
                <a:lnTo>
                  <a:pt x="20" y="24"/>
                </a:lnTo>
                <a:lnTo>
                  <a:pt x="21" y="24"/>
                </a:lnTo>
                <a:lnTo>
                  <a:pt x="21" y="23"/>
                </a:lnTo>
                <a:lnTo>
                  <a:pt x="21" y="22"/>
                </a:lnTo>
                <a:lnTo>
                  <a:pt x="22" y="19"/>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07" name="Line 614">
            <a:extLst>
              <a:ext uri="{FF2B5EF4-FFF2-40B4-BE49-F238E27FC236}">
                <a16:creationId xmlns:a16="http://schemas.microsoft.com/office/drawing/2014/main" id="{D8E2BAC6-9475-B549-89EC-C4786DA34BE6}"/>
              </a:ext>
            </a:extLst>
          </p:cNvPr>
          <p:cNvSpPr>
            <a:spLocks noChangeShapeType="1"/>
          </p:cNvSpPr>
          <p:nvPr/>
        </p:nvSpPr>
        <p:spPr bwMode="auto">
          <a:xfrm>
            <a:off x="7058025" y="3222626"/>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08" name="Line 615">
            <a:extLst>
              <a:ext uri="{FF2B5EF4-FFF2-40B4-BE49-F238E27FC236}">
                <a16:creationId xmlns:a16="http://schemas.microsoft.com/office/drawing/2014/main" id="{01A7965E-8859-C245-9B16-798C59839573}"/>
              </a:ext>
            </a:extLst>
          </p:cNvPr>
          <p:cNvSpPr>
            <a:spLocks noChangeShapeType="1"/>
          </p:cNvSpPr>
          <p:nvPr/>
        </p:nvSpPr>
        <p:spPr bwMode="auto">
          <a:xfrm>
            <a:off x="7026275" y="3259139"/>
            <a:ext cx="63500"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09" name="Freeform 616">
            <a:extLst>
              <a:ext uri="{FF2B5EF4-FFF2-40B4-BE49-F238E27FC236}">
                <a16:creationId xmlns:a16="http://schemas.microsoft.com/office/drawing/2014/main" id="{B17AD7C9-8DDB-7C48-BFC5-5A89A6628CFA}"/>
              </a:ext>
            </a:extLst>
          </p:cNvPr>
          <p:cNvSpPr>
            <a:spLocks/>
          </p:cNvSpPr>
          <p:nvPr/>
        </p:nvSpPr>
        <p:spPr bwMode="auto">
          <a:xfrm>
            <a:off x="6338889" y="5003801"/>
            <a:ext cx="325437" cy="339725"/>
          </a:xfrm>
          <a:custGeom>
            <a:avLst/>
            <a:gdLst>
              <a:gd name="T0" fmla="*/ 56 w 615"/>
              <a:gd name="T1" fmla="*/ 195 h 643"/>
              <a:gd name="T2" fmla="*/ 0 w 615"/>
              <a:gd name="T3" fmla="*/ 195 h 643"/>
              <a:gd name="T4" fmla="*/ 307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7"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10" name="Rectangle 617">
            <a:extLst>
              <a:ext uri="{FF2B5EF4-FFF2-40B4-BE49-F238E27FC236}">
                <a16:creationId xmlns:a16="http://schemas.microsoft.com/office/drawing/2014/main" id="{E76E4810-DF7F-084F-9A7E-E0DBE0077B65}"/>
              </a:ext>
            </a:extLst>
          </p:cNvPr>
          <p:cNvSpPr>
            <a:spLocks noChangeArrowheads="1"/>
          </p:cNvSpPr>
          <p:nvPr/>
        </p:nvSpPr>
        <p:spPr bwMode="auto">
          <a:xfrm>
            <a:off x="6369050" y="5106988"/>
            <a:ext cx="268288" cy="220662"/>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11" name="Rectangle 618">
            <a:extLst>
              <a:ext uri="{FF2B5EF4-FFF2-40B4-BE49-F238E27FC236}">
                <a16:creationId xmlns:a16="http://schemas.microsoft.com/office/drawing/2014/main" id="{091E8E55-F3C0-1841-BA4E-6EC68ECA2F5B}"/>
              </a:ext>
            </a:extLst>
          </p:cNvPr>
          <p:cNvSpPr>
            <a:spLocks noChangeArrowheads="1"/>
          </p:cNvSpPr>
          <p:nvPr/>
        </p:nvSpPr>
        <p:spPr bwMode="auto">
          <a:xfrm>
            <a:off x="6411913" y="5159375"/>
            <a:ext cx="93662" cy="166688"/>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12" name="Rectangle 619">
            <a:extLst>
              <a:ext uri="{FF2B5EF4-FFF2-40B4-BE49-F238E27FC236}">
                <a16:creationId xmlns:a16="http://schemas.microsoft.com/office/drawing/2014/main" id="{48240C5C-FC08-2841-91AA-C014ED330917}"/>
              </a:ext>
            </a:extLst>
          </p:cNvPr>
          <p:cNvSpPr>
            <a:spLocks noChangeArrowheads="1"/>
          </p:cNvSpPr>
          <p:nvPr/>
        </p:nvSpPr>
        <p:spPr bwMode="auto">
          <a:xfrm>
            <a:off x="6546850" y="5154613"/>
            <a:ext cx="65088" cy="80962"/>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13" name="Freeform 620">
            <a:extLst>
              <a:ext uri="{FF2B5EF4-FFF2-40B4-BE49-F238E27FC236}">
                <a16:creationId xmlns:a16="http://schemas.microsoft.com/office/drawing/2014/main" id="{825EE4A4-1F31-4144-8D34-85B6071AE1FF}"/>
              </a:ext>
            </a:extLst>
          </p:cNvPr>
          <p:cNvSpPr>
            <a:spLocks/>
          </p:cNvSpPr>
          <p:nvPr/>
        </p:nvSpPr>
        <p:spPr bwMode="auto">
          <a:xfrm>
            <a:off x="6481763" y="5237164"/>
            <a:ext cx="11112" cy="15875"/>
          </a:xfrm>
          <a:custGeom>
            <a:avLst/>
            <a:gdLst>
              <a:gd name="T0" fmla="*/ 23 w 23"/>
              <a:gd name="T1" fmla="*/ 13 h 30"/>
              <a:gd name="T2" fmla="*/ 23 w 23"/>
              <a:gd name="T3" fmla="*/ 11 h 30"/>
              <a:gd name="T4" fmla="*/ 21 w 23"/>
              <a:gd name="T5" fmla="*/ 9 h 30"/>
              <a:gd name="T6" fmla="*/ 21 w 23"/>
              <a:gd name="T7" fmla="*/ 7 h 30"/>
              <a:gd name="T8" fmla="*/ 19 w 23"/>
              <a:gd name="T9" fmla="*/ 4 h 30"/>
              <a:gd name="T10" fmla="*/ 17 w 23"/>
              <a:gd name="T11" fmla="*/ 2 h 30"/>
              <a:gd name="T12" fmla="*/ 16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4 w 23"/>
              <a:gd name="T25" fmla="*/ 2 h 30"/>
              <a:gd name="T26" fmla="*/ 3 w 23"/>
              <a:gd name="T27" fmla="*/ 4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5 h 30"/>
              <a:gd name="T46" fmla="*/ 4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9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6"/>
                </a:lnTo>
                <a:lnTo>
                  <a:pt x="19" y="4"/>
                </a:lnTo>
                <a:lnTo>
                  <a:pt x="19" y="3"/>
                </a:lnTo>
                <a:lnTo>
                  <a:pt x="17" y="2"/>
                </a:lnTo>
                <a:lnTo>
                  <a:pt x="16" y="1"/>
                </a:lnTo>
                <a:lnTo>
                  <a:pt x="15" y="0"/>
                </a:lnTo>
                <a:lnTo>
                  <a:pt x="14" y="0"/>
                </a:lnTo>
                <a:lnTo>
                  <a:pt x="13" y="0"/>
                </a:lnTo>
                <a:lnTo>
                  <a:pt x="12" y="0"/>
                </a:lnTo>
                <a:lnTo>
                  <a:pt x="11" y="0"/>
                </a:lnTo>
                <a:lnTo>
                  <a:pt x="10" y="0"/>
                </a:lnTo>
                <a:lnTo>
                  <a:pt x="9" y="0"/>
                </a:lnTo>
                <a:lnTo>
                  <a:pt x="8" y="0"/>
                </a:lnTo>
                <a:lnTo>
                  <a:pt x="7" y="1"/>
                </a:lnTo>
                <a:lnTo>
                  <a:pt x="5" y="1"/>
                </a:lnTo>
                <a:lnTo>
                  <a:pt x="4" y="2"/>
                </a:lnTo>
                <a:lnTo>
                  <a:pt x="3" y="3"/>
                </a:lnTo>
                <a:lnTo>
                  <a:pt x="3" y="4"/>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3" y="25"/>
                </a:lnTo>
                <a:lnTo>
                  <a:pt x="3" y="26"/>
                </a:lnTo>
                <a:lnTo>
                  <a:pt x="4" y="28"/>
                </a:lnTo>
                <a:lnTo>
                  <a:pt x="5" y="29"/>
                </a:lnTo>
                <a:lnTo>
                  <a:pt x="7" y="29"/>
                </a:lnTo>
                <a:lnTo>
                  <a:pt x="8" y="30"/>
                </a:lnTo>
                <a:lnTo>
                  <a:pt x="9" y="30"/>
                </a:lnTo>
                <a:lnTo>
                  <a:pt x="10" y="30"/>
                </a:lnTo>
                <a:lnTo>
                  <a:pt x="11" y="30"/>
                </a:lnTo>
                <a:lnTo>
                  <a:pt x="12" y="30"/>
                </a:lnTo>
                <a:lnTo>
                  <a:pt x="13" y="30"/>
                </a:lnTo>
                <a:lnTo>
                  <a:pt x="14" y="30"/>
                </a:lnTo>
                <a:lnTo>
                  <a:pt x="15" y="30"/>
                </a:lnTo>
                <a:lnTo>
                  <a:pt x="16" y="29"/>
                </a:lnTo>
                <a:lnTo>
                  <a:pt x="17" y="28"/>
                </a:lnTo>
                <a:lnTo>
                  <a:pt x="19" y="26"/>
                </a:lnTo>
                <a:lnTo>
                  <a:pt x="19" y="25"/>
                </a:lnTo>
                <a:lnTo>
                  <a:pt x="20"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14" name="Line 621">
            <a:extLst>
              <a:ext uri="{FF2B5EF4-FFF2-40B4-BE49-F238E27FC236}">
                <a16:creationId xmlns:a16="http://schemas.microsoft.com/office/drawing/2014/main" id="{E910908B-5B81-EE49-ABD0-691596A6534C}"/>
              </a:ext>
            </a:extLst>
          </p:cNvPr>
          <p:cNvSpPr>
            <a:spLocks noChangeShapeType="1"/>
          </p:cNvSpPr>
          <p:nvPr/>
        </p:nvSpPr>
        <p:spPr bwMode="auto">
          <a:xfrm>
            <a:off x="6578600" y="5156201"/>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15" name="Line 622">
            <a:extLst>
              <a:ext uri="{FF2B5EF4-FFF2-40B4-BE49-F238E27FC236}">
                <a16:creationId xmlns:a16="http://schemas.microsoft.com/office/drawing/2014/main" id="{A0E44081-1B00-864E-BA16-ACBEB714686F}"/>
              </a:ext>
            </a:extLst>
          </p:cNvPr>
          <p:cNvSpPr>
            <a:spLocks noChangeShapeType="1"/>
          </p:cNvSpPr>
          <p:nvPr/>
        </p:nvSpPr>
        <p:spPr bwMode="auto">
          <a:xfrm>
            <a:off x="6546850" y="5194300"/>
            <a:ext cx="63500"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16" name="Freeform 623">
            <a:extLst>
              <a:ext uri="{FF2B5EF4-FFF2-40B4-BE49-F238E27FC236}">
                <a16:creationId xmlns:a16="http://schemas.microsoft.com/office/drawing/2014/main" id="{7C51B363-778D-214D-8641-0BC67BC49C32}"/>
              </a:ext>
            </a:extLst>
          </p:cNvPr>
          <p:cNvSpPr>
            <a:spLocks/>
          </p:cNvSpPr>
          <p:nvPr/>
        </p:nvSpPr>
        <p:spPr bwMode="auto">
          <a:xfrm>
            <a:off x="6375400" y="4206876"/>
            <a:ext cx="325438" cy="339725"/>
          </a:xfrm>
          <a:custGeom>
            <a:avLst/>
            <a:gdLst>
              <a:gd name="T0" fmla="*/ 56 w 615"/>
              <a:gd name="T1" fmla="*/ 196 h 643"/>
              <a:gd name="T2" fmla="*/ 0 w 615"/>
              <a:gd name="T3" fmla="*/ 196 h 643"/>
              <a:gd name="T4" fmla="*/ 308 w 615"/>
              <a:gd name="T5" fmla="*/ 0 h 643"/>
              <a:gd name="T6" fmla="*/ 615 w 615"/>
              <a:gd name="T7" fmla="*/ 196 h 643"/>
              <a:gd name="T8" fmla="*/ 587 w 615"/>
              <a:gd name="T9" fmla="*/ 196 h 643"/>
              <a:gd name="T10" fmla="*/ 559 w 615"/>
              <a:gd name="T11" fmla="*/ 196 h 643"/>
              <a:gd name="T12" fmla="*/ 559 w 615"/>
              <a:gd name="T13" fmla="*/ 615 h 643"/>
              <a:gd name="T14" fmla="*/ 56 w 615"/>
              <a:gd name="T15" fmla="*/ 615 h 643"/>
              <a:gd name="T16" fmla="*/ 56 w 615"/>
              <a:gd name="T17" fmla="*/ 196 h 643"/>
              <a:gd name="T18" fmla="*/ 559 w 615"/>
              <a:gd name="T19" fmla="*/ 196 h 643"/>
              <a:gd name="T20" fmla="*/ 587 w 615"/>
              <a:gd name="T21" fmla="*/ 196 h 643"/>
              <a:gd name="T22" fmla="*/ 587 w 615"/>
              <a:gd name="T23" fmla="*/ 643 h 643"/>
              <a:gd name="T24" fmla="*/ 56 w 615"/>
              <a:gd name="T25" fmla="*/ 643 h 643"/>
              <a:gd name="T26" fmla="*/ 56 w 615"/>
              <a:gd name="T27" fmla="*/ 615 h 643"/>
              <a:gd name="T28" fmla="*/ 56 w 615"/>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6"/>
                </a:moveTo>
                <a:lnTo>
                  <a:pt x="0" y="196"/>
                </a:lnTo>
                <a:lnTo>
                  <a:pt x="308" y="0"/>
                </a:lnTo>
                <a:lnTo>
                  <a:pt x="615" y="196"/>
                </a:lnTo>
                <a:lnTo>
                  <a:pt x="587" y="196"/>
                </a:lnTo>
                <a:lnTo>
                  <a:pt x="559" y="196"/>
                </a:lnTo>
                <a:lnTo>
                  <a:pt x="559" y="615"/>
                </a:lnTo>
                <a:lnTo>
                  <a:pt x="56" y="615"/>
                </a:lnTo>
                <a:lnTo>
                  <a:pt x="56" y="196"/>
                </a:lnTo>
                <a:lnTo>
                  <a:pt x="559"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17" name="Rectangle 624">
            <a:extLst>
              <a:ext uri="{FF2B5EF4-FFF2-40B4-BE49-F238E27FC236}">
                <a16:creationId xmlns:a16="http://schemas.microsoft.com/office/drawing/2014/main" id="{B0D18B29-2977-FA48-8A09-3584BE1B5890}"/>
              </a:ext>
            </a:extLst>
          </p:cNvPr>
          <p:cNvSpPr>
            <a:spLocks noChangeArrowheads="1"/>
          </p:cNvSpPr>
          <p:nvPr/>
        </p:nvSpPr>
        <p:spPr bwMode="auto">
          <a:xfrm>
            <a:off x="6405564" y="4310063"/>
            <a:ext cx="269875"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18" name="Rectangle 625">
            <a:extLst>
              <a:ext uri="{FF2B5EF4-FFF2-40B4-BE49-F238E27FC236}">
                <a16:creationId xmlns:a16="http://schemas.microsoft.com/office/drawing/2014/main" id="{48485A6C-5D14-D349-A837-881E4FBFF81B}"/>
              </a:ext>
            </a:extLst>
          </p:cNvPr>
          <p:cNvSpPr>
            <a:spLocks noChangeArrowheads="1"/>
          </p:cNvSpPr>
          <p:nvPr/>
        </p:nvSpPr>
        <p:spPr bwMode="auto">
          <a:xfrm>
            <a:off x="6450013" y="4364039"/>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19" name="Rectangle 626">
            <a:extLst>
              <a:ext uri="{FF2B5EF4-FFF2-40B4-BE49-F238E27FC236}">
                <a16:creationId xmlns:a16="http://schemas.microsoft.com/office/drawing/2014/main" id="{A15D7006-08C7-1341-A1AE-BD170D1D199B}"/>
              </a:ext>
            </a:extLst>
          </p:cNvPr>
          <p:cNvSpPr>
            <a:spLocks noChangeArrowheads="1"/>
          </p:cNvSpPr>
          <p:nvPr/>
        </p:nvSpPr>
        <p:spPr bwMode="auto">
          <a:xfrm>
            <a:off x="6584950" y="4359276"/>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20" name="Freeform 627">
            <a:extLst>
              <a:ext uri="{FF2B5EF4-FFF2-40B4-BE49-F238E27FC236}">
                <a16:creationId xmlns:a16="http://schemas.microsoft.com/office/drawing/2014/main" id="{B939AF13-49A8-E843-8DFC-C70355F156B5}"/>
              </a:ext>
            </a:extLst>
          </p:cNvPr>
          <p:cNvSpPr>
            <a:spLocks/>
          </p:cNvSpPr>
          <p:nvPr/>
        </p:nvSpPr>
        <p:spPr bwMode="auto">
          <a:xfrm>
            <a:off x="6518275" y="4440239"/>
            <a:ext cx="12700" cy="15875"/>
          </a:xfrm>
          <a:custGeom>
            <a:avLst/>
            <a:gdLst>
              <a:gd name="T0" fmla="*/ 23 w 23"/>
              <a:gd name="T1" fmla="*/ 14 h 30"/>
              <a:gd name="T2" fmla="*/ 23 w 23"/>
              <a:gd name="T3" fmla="*/ 11 h 30"/>
              <a:gd name="T4" fmla="*/ 21 w 23"/>
              <a:gd name="T5" fmla="*/ 9 h 30"/>
              <a:gd name="T6" fmla="*/ 21 w 23"/>
              <a:gd name="T7" fmla="*/ 7 h 30"/>
              <a:gd name="T8" fmla="*/ 19 w 23"/>
              <a:gd name="T9" fmla="*/ 5 h 30"/>
              <a:gd name="T10" fmla="*/ 18 w 23"/>
              <a:gd name="T11" fmla="*/ 3 h 30"/>
              <a:gd name="T12" fmla="*/ 17 w 23"/>
              <a:gd name="T13" fmla="*/ 2 h 30"/>
              <a:gd name="T14" fmla="*/ 14 w 23"/>
              <a:gd name="T15" fmla="*/ 0 h 30"/>
              <a:gd name="T16" fmla="*/ 12 w 23"/>
              <a:gd name="T17" fmla="*/ 0 h 30"/>
              <a:gd name="T18" fmla="*/ 10 w 23"/>
              <a:gd name="T19" fmla="*/ 0 h 30"/>
              <a:gd name="T20" fmla="*/ 9 w 23"/>
              <a:gd name="T21" fmla="*/ 0 h 30"/>
              <a:gd name="T22" fmla="*/ 7 w 23"/>
              <a:gd name="T23" fmla="*/ 2 h 30"/>
              <a:gd name="T24" fmla="*/ 5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3 w 23"/>
              <a:gd name="T45" fmla="*/ 26 h 30"/>
              <a:gd name="T46" fmla="*/ 5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8 h 30"/>
              <a:gd name="T62" fmla="*/ 19 w 23"/>
              <a:gd name="T63" fmla="*/ 26 h 30"/>
              <a:gd name="T64" fmla="*/ 21 w 23"/>
              <a:gd name="T65" fmla="*/ 25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3"/>
                </a:lnTo>
                <a:lnTo>
                  <a:pt x="23" y="11"/>
                </a:lnTo>
                <a:lnTo>
                  <a:pt x="22" y="10"/>
                </a:lnTo>
                <a:lnTo>
                  <a:pt x="21" y="9"/>
                </a:lnTo>
                <a:lnTo>
                  <a:pt x="21" y="8"/>
                </a:lnTo>
                <a:lnTo>
                  <a:pt x="21" y="7"/>
                </a:lnTo>
                <a:lnTo>
                  <a:pt x="20" y="6"/>
                </a:lnTo>
                <a:lnTo>
                  <a:pt x="19" y="5"/>
                </a:lnTo>
                <a:lnTo>
                  <a:pt x="19" y="4"/>
                </a:lnTo>
                <a:lnTo>
                  <a:pt x="18" y="3"/>
                </a:lnTo>
                <a:lnTo>
                  <a:pt x="17" y="2"/>
                </a:lnTo>
                <a:lnTo>
                  <a:pt x="15" y="0"/>
                </a:lnTo>
                <a:lnTo>
                  <a:pt x="14" y="0"/>
                </a:lnTo>
                <a:lnTo>
                  <a:pt x="13" y="0"/>
                </a:lnTo>
                <a:lnTo>
                  <a:pt x="12" y="0"/>
                </a:lnTo>
                <a:lnTo>
                  <a:pt x="11" y="0"/>
                </a:lnTo>
                <a:lnTo>
                  <a:pt x="10" y="0"/>
                </a:lnTo>
                <a:lnTo>
                  <a:pt x="9" y="0"/>
                </a:lnTo>
                <a:lnTo>
                  <a:pt x="8" y="0"/>
                </a:lnTo>
                <a:lnTo>
                  <a:pt x="7" y="2"/>
                </a:lnTo>
                <a:lnTo>
                  <a:pt x="6" y="2"/>
                </a:lnTo>
                <a:lnTo>
                  <a:pt x="5" y="3"/>
                </a:lnTo>
                <a:lnTo>
                  <a:pt x="3" y="4"/>
                </a:lnTo>
                <a:lnTo>
                  <a:pt x="3" y="5"/>
                </a:lnTo>
                <a:lnTo>
                  <a:pt x="2" y="6"/>
                </a:lnTo>
                <a:lnTo>
                  <a:pt x="1" y="7"/>
                </a:lnTo>
                <a:lnTo>
                  <a:pt x="1" y="8"/>
                </a:lnTo>
                <a:lnTo>
                  <a:pt x="1" y="9"/>
                </a:lnTo>
                <a:lnTo>
                  <a:pt x="0" y="10"/>
                </a:lnTo>
                <a:lnTo>
                  <a:pt x="0" y="11"/>
                </a:lnTo>
                <a:lnTo>
                  <a:pt x="0" y="13"/>
                </a:lnTo>
                <a:lnTo>
                  <a:pt x="0" y="14"/>
                </a:lnTo>
                <a:lnTo>
                  <a:pt x="0" y="15"/>
                </a:lnTo>
                <a:lnTo>
                  <a:pt x="0" y="17"/>
                </a:lnTo>
                <a:lnTo>
                  <a:pt x="0" y="18"/>
                </a:lnTo>
                <a:lnTo>
                  <a:pt x="0" y="19"/>
                </a:lnTo>
                <a:lnTo>
                  <a:pt x="0" y="20"/>
                </a:lnTo>
                <a:lnTo>
                  <a:pt x="1" y="22"/>
                </a:lnTo>
                <a:lnTo>
                  <a:pt x="1" y="24"/>
                </a:lnTo>
                <a:lnTo>
                  <a:pt x="1" y="25"/>
                </a:lnTo>
                <a:lnTo>
                  <a:pt x="2" y="25"/>
                </a:lnTo>
                <a:lnTo>
                  <a:pt x="3" y="26"/>
                </a:lnTo>
                <a:lnTo>
                  <a:pt x="3" y="27"/>
                </a:lnTo>
                <a:lnTo>
                  <a:pt x="5" y="28"/>
                </a:lnTo>
                <a:lnTo>
                  <a:pt x="6" y="29"/>
                </a:lnTo>
                <a:lnTo>
                  <a:pt x="7" y="29"/>
                </a:lnTo>
                <a:lnTo>
                  <a:pt x="8" y="30"/>
                </a:lnTo>
                <a:lnTo>
                  <a:pt x="9" y="30"/>
                </a:lnTo>
                <a:lnTo>
                  <a:pt x="10" y="30"/>
                </a:lnTo>
                <a:lnTo>
                  <a:pt x="11" y="30"/>
                </a:lnTo>
                <a:lnTo>
                  <a:pt x="12" y="30"/>
                </a:lnTo>
                <a:lnTo>
                  <a:pt x="13" y="30"/>
                </a:lnTo>
                <a:lnTo>
                  <a:pt x="14" y="30"/>
                </a:lnTo>
                <a:lnTo>
                  <a:pt x="15" y="30"/>
                </a:lnTo>
                <a:lnTo>
                  <a:pt x="17" y="29"/>
                </a:lnTo>
                <a:lnTo>
                  <a:pt x="18" y="28"/>
                </a:lnTo>
                <a:lnTo>
                  <a:pt x="19" y="27"/>
                </a:lnTo>
                <a:lnTo>
                  <a:pt x="19" y="26"/>
                </a:lnTo>
                <a:lnTo>
                  <a:pt x="20" y="25"/>
                </a:lnTo>
                <a:lnTo>
                  <a:pt x="21" y="25"/>
                </a:lnTo>
                <a:lnTo>
                  <a:pt x="21" y="24"/>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21" name="Line 628">
            <a:extLst>
              <a:ext uri="{FF2B5EF4-FFF2-40B4-BE49-F238E27FC236}">
                <a16:creationId xmlns:a16="http://schemas.microsoft.com/office/drawing/2014/main" id="{C132A3CB-1250-2240-B299-F654CBA1C981}"/>
              </a:ext>
            </a:extLst>
          </p:cNvPr>
          <p:cNvSpPr>
            <a:spLocks noChangeShapeType="1"/>
          </p:cNvSpPr>
          <p:nvPr/>
        </p:nvSpPr>
        <p:spPr bwMode="auto">
          <a:xfrm>
            <a:off x="6615114" y="4359276"/>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22" name="Line 629">
            <a:extLst>
              <a:ext uri="{FF2B5EF4-FFF2-40B4-BE49-F238E27FC236}">
                <a16:creationId xmlns:a16="http://schemas.microsoft.com/office/drawing/2014/main" id="{53124BD6-3D67-0743-969F-73CB2D0AC9B9}"/>
              </a:ext>
            </a:extLst>
          </p:cNvPr>
          <p:cNvSpPr>
            <a:spLocks noChangeShapeType="1"/>
          </p:cNvSpPr>
          <p:nvPr/>
        </p:nvSpPr>
        <p:spPr bwMode="auto">
          <a:xfrm>
            <a:off x="6584951" y="4397375"/>
            <a:ext cx="61913"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23" name="Freeform 630">
            <a:extLst>
              <a:ext uri="{FF2B5EF4-FFF2-40B4-BE49-F238E27FC236}">
                <a16:creationId xmlns:a16="http://schemas.microsoft.com/office/drawing/2014/main" id="{BFAC5BE7-1D05-EC43-8D4B-5805E68C778D}"/>
              </a:ext>
            </a:extLst>
          </p:cNvPr>
          <p:cNvSpPr>
            <a:spLocks/>
          </p:cNvSpPr>
          <p:nvPr/>
        </p:nvSpPr>
        <p:spPr bwMode="auto">
          <a:xfrm>
            <a:off x="5567364" y="4117976"/>
            <a:ext cx="325437" cy="339725"/>
          </a:xfrm>
          <a:custGeom>
            <a:avLst/>
            <a:gdLst>
              <a:gd name="T0" fmla="*/ 56 w 615"/>
              <a:gd name="T1" fmla="*/ 196 h 643"/>
              <a:gd name="T2" fmla="*/ 0 w 615"/>
              <a:gd name="T3" fmla="*/ 196 h 643"/>
              <a:gd name="T4" fmla="*/ 307 w 615"/>
              <a:gd name="T5" fmla="*/ 0 h 643"/>
              <a:gd name="T6" fmla="*/ 615 w 615"/>
              <a:gd name="T7" fmla="*/ 196 h 643"/>
              <a:gd name="T8" fmla="*/ 587 w 615"/>
              <a:gd name="T9" fmla="*/ 196 h 643"/>
              <a:gd name="T10" fmla="*/ 559 w 615"/>
              <a:gd name="T11" fmla="*/ 196 h 643"/>
              <a:gd name="T12" fmla="*/ 559 w 615"/>
              <a:gd name="T13" fmla="*/ 615 h 643"/>
              <a:gd name="T14" fmla="*/ 56 w 615"/>
              <a:gd name="T15" fmla="*/ 615 h 643"/>
              <a:gd name="T16" fmla="*/ 56 w 615"/>
              <a:gd name="T17" fmla="*/ 196 h 643"/>
              <a:gd name="T18" fmla="*/ 559 w 615"/>
              <a:gd name="T19" fmla="*/ 196 h 643"/>
              <a:gd name="T20" fmla="*/ 587 w 615"/>
              <a:gd name="T21" fmla="*/ 196 h 643"/>
              <a:gd name="T22" fmla="*/ 587 w 615"/>
              <a:gd name="T23" fmla="*/ 643 h 643"/>
              <a:gd name="T24" fmla="*/ 56 w 615"/>
              <a:gd name="T25" fmla="*/ 643 h 643"/>
              <a:gd name="T26" fmla="*/ 56 w 615"/>
              <a:gd name="T27" fmla="*/ 615 h 643"/>
              <a:gd name="T28" fmla="*/ 56 w 615"/>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6"/>
                </a:moveTo>
                <a:lnTo>
                  <a:pt x="0" y="196"/>
                </a:lnTo>
                <a:lnTo>
                  <a:pt x="307" y="0"/>
                </a:lnTo>
                <a:lnTo>
                  <a:pt x="615" y="196"/>
                </a:lnTo>
                <a:lnTo>
                  <a:pt x="587" y="196"/>
                </a:lnTo>
                <a:lnTo>
                  <a:pt x="559" y="196"/>
                </a:lnTo>
                <a:lnTo>
                  <a:pt x="559" y="615"/>
                </a:lnTo>
                <a:lnTo>
                  <a:pt x="56" y="615"/>
                </a:lnTo>
                <a:lnTo>
                  <a:pt x="56" y="196"/>
                </a:lnTo>
                <a:lnTo>
                  <a:pt x="559"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24" name="Rectangle 631">
            <a:extLst>
              <a:ext uri="{FF2B5EF4-FFF2-40B4-BE49-F238E27FC236}">
                <a16:creationId xmlns:a16="http://schemas.microsoft.com/office/drawing/2014/main" id="{6BE5586E-6E0A-3242-A5F5-D854A1ABE344}"/>
              </a:ext>
            </a:extLst>
          </p:cNvPr>
          <p:cNvSpPr>
            <a:spLocks noChangeArrowheads="1"/>
          </p:cNvSpPr>
          <p:nvPr/>
        </p:nvSpPr>
        <p:spPr bwMode="auto">
          <a:xfrm>
            <a:off x="5597526" y="4221163"/>
            <a:ext cx="269875"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25" name="Rectangle 632">
            <a:extLst>
              <a:ext uri="{FF2B5EF4-FFF2-40B4-BE49-F238E27FC236}">
                <a16:creationId xmlns:a16="http://schemas.microsoft.com/office/drawing/2014/main" id="{DAA5D622-762B-F543-9936-7AC270A32B7B}"/>
              </a:ext>
            </a:extLst>
          </p:cNvPr>
          <p:cNvSpPr>
            <a:spLocks noChangeArrowheads="1"/>
          </p:cNvSpPr>
          <p:nvPr/>
        </p:nvSpPr>
        <p:spPr bwMode="auto">
          <a:xfrm>
            <a:off x="5640388" y="4275139"/>
            <a:ext cx="95250"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26" name="Rectangle 633">
            <a:extLst>
              <a:ext uri="{FF2B5EF4-FFF2-40B4-BE49-F238E27FC236}">
                <a16:creationId xmlns:a16="http://schemas.microsoft.com/office/drawing/2014/main" id="{B79AFA87-DE2C-DC40-AD7E-D14925E07B58}"/>
              </a:ext>
            </a:extLst>
          </p:cNvPr>
          <p:cNvSpPr>
            <a:spLocks noChangeArrowheads="1"/>
          </p:cNvSpPr>
          <p:nvPr/>
        </p:nvSpPr>
        <p:spPr bwMode="auto">
          <a:xfrm>
            <a:off x="5776913" y="4270376"/>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27" name="Freeform 634">
            <a:extLst>
              <a:ext uri="{FF2B5EF4-FFF2-40B4-BE49-F238E27FC236}">
                <a16:creationId xmlns:a16="http://schemas.microsoft.com/office/drawing/2014/main" id="{E2E79169-C468-9A41-B4E5-C843380EB371}"/>
              </a:ext>
            </a:extLst>
          </p:cNvPr>
          <p:cNvSpPr>
            <a:spLocks/>
          </p:cNvSpPr>
          <p:nvPr/>
        </p:nvSpPr>
        <p:spPr bwMode="auto">
          <a:xfrm>
            <a:off x="5710238" y="4351339"/>
            <a:ext cx="12700" cy="15875"/>
          </a:xfrm>
          <a:custGeom>
            <a:avLst/>
            <a:gdLst>
              <a:gd name="T0" fmla="*/ 23 w 23"/>
              <a:gd name="T1" fmla="*/ 13 h 29"/>
              <a:gd name="T2" fmla="*/ 23 w 23"/>
              <a:gd name="T3" fmla="*/ 11 h 29"/>
              <a:gd name="T4" fmla="*/ 21 w 23"/>
              <a:gd name="T5" fmla="*/ 8 h 29"/>
              <a:gd name="T6" fmla="*/ 21 w 23"/>
              <a:gd name="T7" fmla="*/ 6 h 29"/>
              <a:gd name="T8" fmla="*/ 19 w 23"/>
              <a:gd name="T9" fmla="*/ 4 h 29"/>
              <a:gd name="T10" fmla="*/ 18 w 23"/>
              <a:gd name="T11" fmla="*/ 2 h 29"/>
              <a:gd name="T12" fmla="*/ 16 w 23"/>
              <a:gd name="T13" fmla="*/ 1 h 29"/>
              <a:gd name="T14" fmla="*/ 14 w 23"/>
              <a:gd name="T15" fmla="*/ 0 h 29"/>
              <a:gd name="T16" fmla="*/ 12 w 23"/>
              <a:gd name="T17" fmla="*/ 0 h 29"/>
              <a:gd name="T18" fmla="*/ 10 w 23"/>
              <a:gd name="T19" fmla="*/ 0 h 29"/>
              <a:gd name="T20" fmla="*/ 9 w 23"/>
              <a:gd name="T21" fmla="*/ 0 h 29"/>
              <a:gd name="T22" fmla="*/ 7 w 23"/>
              <a:gd name="T23" fmla="*/ 1 h 29"/>
              <a:gd name="T24" fmla="*/ 4 w 23"/>
              <a:gd name="T25" fmla="*/ 2 h 29"/>
              <a:gd name="T26" fmla="*/ 3 w 23"/>
              <a:gd name="T27" fmla="*/ 4 h 29"/>
              <a:gd name="T28" fmla="*/ 1 w 23"/>
              <a:gd name="T29" fmla="*/ 6 h 29"/>
              <a:gd name="T30" fmla="*/ 1 w 23"/>
              <a:gd name="T31" fmla="*/ 8 h 29"/>
              <a:gd name="T32" fmla="*/ 0 w 23"/>
              <a:gd name="T33" fmla="*/ 11 h 29"/>
              <a:gd name="T34" fmla="*/ 0 w 23"/>
              <a:gd name="T35" fmla="*/ 13 h 29"/>
              <a:gd name="T36" fmla="*/ 0 w 23"/>
              <a:gd name="T37" fmla="*/ 16 h 29"/>
              <a:gd name="T38" fmla="*/ 0 w 23"/>
              <a:gd name="T39" fmla="*/ 18 h 29"/>
              <a:gd name="T40" fmla="*/ 1 w 23"/>
              <a:gd name="T41" fmla="*/ 22 h 29"/>
              <a:gd name="T42" fmla="*/ 1 w 23"/>
              <a:gd name="T43" fmla="*/ 24 h 29"/>
              <a:gd name="T44" fmla="*/ 3 w 23"/>
              <a:gd name="T45" fmla="*/ 25 h 29"/>
              <a:gd name="T46" fmla="*/ 4 w 23"/>
              <a:gd name="T47" fmla="*/ 27 h 29"/>
              <a:gd name="T48" fmla="*/ 7 w 23"/>
              <a:gd name="T49" fmla="*/ 28 h 29"/>
              <a:gd name="T50" fmla="*/ 9 w 23"/>
              <a:gd name="T51" fmla="*/ 29 h 29"/>
              <a:gd name="T52" fmla="*/ 10 w 23"/>
              <a:gd name="T53" fmla="*/ 29 h 29"/>
              <a:gd name="T54" fmla="*/ 12 w 23"/>
              <a:gd name="T55" fmla="*/ 29 h 29"/>
              <a:gd name="T56" fmla="*/ 14 w 23"/>
              <a:gd name="T57" fmla="*/ 29 h 29"/>
              <a:gd name="T58" fmla="*/ 16 w 23"/>
              <a:gd name="T59" fmla="*/ 28 h 29"/>
              <a:gd name="T60" fmla="*/ 18 w 23"/>
              <a:gd name="T61" fmla="*/ 27 h 29"/>
              <a:gd name="T62" fmla="*/ 19 w 23"/>
              <a:gd name="T63" fmla="*/ 25 h 29"/>
              <a:gd name="T64" fmla="*/ 21 w 23"/>
              <a:gd name="T65" fmla="*/ 24 h 29"/>
              <a:gd name="T66" fmla="*/ 21 w 23"/>
              <a:gd name="T67" fmla="*/ 22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9"/>
                </a:lnTo>
                <a:lnTo>
                  <a:pt x="21" y="8"/>
                </a:lnTo>
                <a:lnTo>
                  <a:pt x="21" y="7"/>
                </a:lnTo>
                <a:lnTo>
                  <a:pt x="21" y="6"/>
                </a:lnTo>
                <a:lnTo>
                  <a:pt x="20" y="5"/>
                </a:lnTo>
                <a:lnTo>
                  <a:pt x="19" y="4"/>
                </a:lnTo>
                <a:lnTo>
                  <a:pt x="19" y="3"/>
                </a:lnTo>
                <a:lnTo>
                  <a:pt x="18" y="2"/>
                </a:lnTo>
                <a:lnTo>
                  <a:pt x="16" y="1"/>
                </a:lnTo>
                <a:lnTo>
                  <a:pt x="15" y="0"/>
                </a:lnTo>
                <a:lnTo>
                  <a:pt x="14" y="0"/>
                </a:lnTo>
                <a:lnTo>
                  <a:pt x="13" y="0"/>
                </a:lnTo>
                <a:lnTo>
                  <a:pt x="12" y="0"/>
                </a:lnTo>
                <a:lnTo>
                  <a:pt x="11" y="0"/>
                </a:lnTo>
                <a:lnTo>
                  <a:pt x="10" y="0"/>
                </a:lnTo>
                <a:lnTo>
                  <a:pt x="9" y="0"/>
                </a:lnTo>
                <a:lnTo>
                  <a:pt x="8" y="0"/>
                </a:lnTo>
                <a:lnTo>
                  <a:pt x="7" y="1"/>
                </a:lnTo>
                <a:lnTo>
                  <a:pt x="6" y="1"/>
                </a:lnTo>
                <a:lnTo>
                  <a:pt x="4" y="2"/>
                </a:lnTo>
                <a:lnTo>
                  <a:pt x="3" y="3"/>
                </a:lnTo>
                <a:lnTo>
                  <a:pt x="3" y="4"/>
                </a:lnTo>
                <a:lnTo>
                  <a:pt x="2" y="5"/>
                </a:lnTo>
                <a:lnTo>
                  <a:pt x="1" y="6"/>
                </a:lnTo>
                <a:lnTo>
                  <a:pt x="1" y="7"/>
                </a:lnTo>
                <a:lnTo>
                  <a:pt x="1" y="8"/>
                </a:lnTo>
                <a:lnTo>
                  <a:pt x="0" y="9"/>
                </a:lnTo>
                <a:lnTo>
                  <a:pt x="0" y="11"/>
                </a:lnTo>
                <a:lnTo>
                  <a:pt x="0" y="12"/>
                </a:lnTo>
                <a:lnTo>
                  <a:pt x="0" y="13"/>
                </a:lnTo>
                <a:lnTo>
                  <a:pt x="0" y="14"/>
                </a:lnTo>
                <a:lnTo>
                  <a:pt x="0" y="16"/>
                </a:lnTo>
                <a:lnTo>
                  <a:pt x="0" y="17"/>
                </a:lnTo>
                <a:lnTo>
                  <a:pt x="0" y="18"/>
                </a:lnTo>
                <a:lnTo>
                  <a:pt x="0" y="19"/>
                </a:lnTo>
                <a:lnTo>
                  <a:pt x="1" y="22"/>
                </a:lnTo>
                <a:lnTo>
                  <a:pt x="1" y="23"/>
                </a:lnTo>
                <a:lnTo>
                  <a:pt x="1" y="24"/>
                </a:lnTo>
                <a:lnTo>
                  <a:pt x="2" y="24"/>
                </a:lnTo>
                <a:lnTo>
                  <a:pt x="3" y="25"/>
                </a:lnTo>
                <a:lnTo>
                  <a:pt x="3" y="26"/>
                </a:lnTo>
                <a:lnTo>
                  <a:pt x="4" y="27"/>
                </a:lnTo>
                <a:lnTo>
                  <a:pt x="6" y="28"/>
                </a:lnTo>
                <a:lnTo>
                  <a:pt x="7" y="28"/>
                </a:lnTo>
                <a:lnTo>
                  <a:pt x="8" y="29"/>
                </a:lnTo>
                <a:lnTo>
                  <a:pt x="9" y="29"/>
                </a:lnTo>
                <a:lnTo>
                  <a:pt x="10" y="29"/>
                </a:lnTo>
                <a:lnTo>
                  <a:pt x="11" y="29"/>
                </a:lnTo>
                <a:lnTo>
                  <a:pt x="12" y="29"/>
                </a:lnTo>
                <a:lnTo>
                  <a:pt x="13" y="29"/>
                </a:lnTo>
                <a:lnTo>
                  <a:pt x="14" y="29"/>
                </a:lnTo>
                <a:lnTo>
                  <a:pt x="15" y="29"/>
                </a:lnTo>
                <a:lnTo>
                  <a:pt x="16" y="28"/>
                </a:lnTo>
                <a:lnTo>
                  <a:pt x="18" y="27"/>
                </a:lnTo>
                <a:lnTo>
                  <a:pt x="19" y="26"/>
                </a:lnTo>
                <a:lnTo>
                  <a:pt x="19" y="25"/>
                </a:lnTo>
                <a:lnTo>
                  <a:pt x="20" y="24"/>
                </a:lnTo>
                <a:lnTo>
                  <a:pt x="21" y="24"/>
                </a:lnTo>
                <a:lnTo>
                  <a:pt x="21" y="23"/>
                </a:lnTo>
                <a:lnTo>
                  <a:pt x="21" y="22"/>
                </a:lnTo>
                <a:lnTo>
                  <a:pt x="22" y="19"/>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28" name="Line 635">
            <a:extLst>
              <a:ext uri="{FF2B5EF4-FFF2-40B4-BE49-F238E27FC236}">
                <a16:creationId xmlns:a16="http://schemas.microsoft.com/office/drawing/2014/main" id="{C1E7E95A-74E4-1246-A555-0E8E6C66EA8E}"/>
              </a:ext>
            </a:extLst>
          </p:cNvPr>
          <p:cNvSpPr>
            <a:spLocks noChangeShapeType="1"/>
          </p:cNvSpPr>
          <p:nvPr/>
        </p:nvSpPr>
        <p:spPr bwMode="auto">
          <a:xfrm>
            <a:off x="5807075" y="4270376"/>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29" name="Line 636">
            <a:extLst>
              <a:ext uri="{FF2B5EF4-FFF2-40B4-BE49-F238E27FC236}">
                <a16:creationId xmlns:a16="http://schemas.microsoft.com/office/drawing/2014/main" id="{B6FB9EB9-CB29-DD40-91D8-320C07337450}"/>
              </a:ext>
            </a:extLst>
          </p:cNvPr>
          <p:cNvSpPr>
            <a:spLocks noChangeShapeType="1"/>
          </p:cNvSpPr>
          <p:nvPr/>
        </p:nvSpPr>
        <p:spPr bwMode="auto">
          <a:xfrm>
            <a:off x="5776913" y="4308475"/>
            <a:ext cx="61912"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30" name="Freeform 637">
            <a:extLst>
              <a:ext uri="{FF2B5EF4-FFF2-40B4-BE49-F238E27FC236}">
                <a16:creationId xmlns:a16="http://schemas.microsoft.com/office/drawing/2014/main" id="{1E76D015-97AE-AB4C-864E-B78C57D0A7AD}"/>
              </a:ext>
            </a:extLst>
          </p:cNvPr>
          <p:cNvSpPr>
            <a:spLocks/>
          </p:cNvSpPr>
          <p:nvPr/>
        </p:nvSpPr>
        <p:spPr bwMode="auto">
          <a:xfrm>
            <a:off x="4229100" y="5988051"/>
            <a:ext cx="325438" cy="341313"/>
          </a:xfrm>
          <a:custGeom>
            <a:avLst/>
            <a:gdLst>
              <a:gd name="T0" fmla="*/ 56 w 615"/>
              <a:gd name="T1" fmla="*/ 196 h 643"/>
              <a:gd name="T2" fmla="*/ 0 w 615"/>
              <a:gd name="T3" fmla="*/ 196 h 643"/>
              <a:gd name="T4" fmla="*/ 307 w 615"/>
              <a:gd name="T5" fmla="*/ 0 h 643"/>
              <a:gd name="T6" fmla="*/ 615 w 615"/>
              <a:gd name="T7" fmla="*/ 196 h 643"/>
              <a:gd name="T8" fmla="*/ 587 w 615"/>
              <a:gd name="T9" fmla="*/ 196 h 643"/>
              <a:gd name="T10" fmla="*/ 559 w 615"/>
              <a:gd name="T11" fmla="*/ 196 h 643"/>
              <a:gd name="T12" fmla="*/ 559 w 615"/>
              <a:gd name="T13" fmla="*/ 615 h 643"/>
              <a:gd name="T14" fmla="*/ 56 w 615"/>
              <a:gd name="T15" fmla="*/ 615 h 643"/>
              <a:gd name="T16" fmla="*/ 56 w 615"/>
              <a:gd name="T17" fmla="*/ 196 h 643"/>
              <a:gd name="T18" fmla="*/ 559 w 615"/>
              <a:gd name="T19" fmla="*/ 196 h 643"/>
              <a:gd name="T20" fmla="*/ 587 w 615"/>
              <a:gd name="T21" fmla="*/ 196 h 643"/>
              <a:gd name="T22" fmla="*/ 587 w 615"/>
              <a:gd name="T23" fmla="*/ 643 h 643"/>
              <a:gd name="T24" fmla="*/ 56 w 615"/>
              <a:gd name="T25" fmla="*/ 643 h 643"/>
              <a:gd name="T26" fmla="*/ 56 w 615"/>
              <a:gd name="T27" fmla="*/ 615 h 643"/>
              <a:gd name="T28" fmla="*/ 56 w 615"/>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6"/>
                </a:moveTo>
                <a:lnTo>
                  <a:pt x="0" y="196"/>
                </a:lnTo>
                <a:lnTo>
                  <a:pt x="307" y="0"/>
                </a:lnTo>
                <a:lnTo>
                  <a:pt x="615" y="196"/>
                </a:lnTo>
                <a:lnTo>
                  <a:pt x="587" y="196"/>
                </a:lnTo>
                <a:lnTo>
                  <a:pt x="559" y="196"/>
                </a:lnTo>
                <a:lnTo>
                  <a:pt x="559" y="615"/>
                </a:lnTo>
                <a:lnTo>
                  <a:pt x="56" y="615"/>
                </a:lnTo>
                <a:lnTo>
                  <a:pt x="56" y="196"/>
                </a:lnTo>
                <a:lnTo>
                  <a:pt x="559"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31" name="Rectangle 638">
            <a:extLst>
              <a:ext uri="{FF2B5EF4-FFF2-40B4-BE49-F238E27FC236}">
                <a16:creationId xmlns:a16="http://schemas.microsoft.com/office/drawing/2014/main" id="{5147C64F-BFBD-D642-ADC3-963AA46B3007}"/>
              </a:ext>
            </a:extLst>
          </p:cNvPr>
          <p:cNvSpPr>
            <a:spLocks noChangeArrowheads="1"/>
          </p:cNvSpPr>
          <p:nvPr/>
        </p:nvSpPr>
        <p:spPr bwMode="auto">
          <a:xfrm>
            <a:off x="4259264" y="6092826"/>
            <a:ext cx="268287"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32" name="Rectangle 639">
            <a:extLst>
              <a:ext uri="{FF2B5EF4-FFF2-40B4-BE49-F238E27FC236}">
                <a16:creationId xmlns:a16="http://schemas.microsoft.com/office/drawing/2014/main" id="{1BE86701-36D2-A54C-B8DC-CB38338B0034}"/>
              </a:ext>
            </a:extLst>
          </p:cNvPr>
          <p:cNvSpPr>
            <a:spLocks noChangeArrowheads="1"/>
          </p:cNvSpPr>
          <p:nvPr/>
        </p:nvSpPr>
        <p:spPr bwMode="auto">
          <a:xfrm>
            <a:off x="4302126" y="6145214"/>
            <a:ext cx="93663"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33" name="Rectangle 640">
            <a:extLst>
              <a:ext uri="{FF2B5EF4-FFF2-40B4-BE49-F238E27FC236}">
                <a16:creationId xmlns:a16="http://schemas.microsoft.com/office/drawing/2014/main" id="{4B7D1D34-AE94-F842-A9BD-D9E161561ED9}"/>
              </a:ext>
            </a:extLst>
          </p:cNvPr>
          <p:cNvSpPr>
            <a:spLocks noChangeArrowheads="1"/>
          </p:cNvSpPr>
          <p:nvPr/>
        </p:nvSpPr>
        <p:spPr bwMode="auto">
          <a:xfrm>
            <a:off x="4437064" y="6140451"/>
            <a:ext cx="65087"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34" name="Freeform 641">
            <a:extLst>
              <a:ext uri="{FF2B5EF4-FFF2-40B4-BE49-F238E27FC236}">
                <a16:creationId xmlns:a16="http://schemas.microsoft.com/office/drawing/2014/main" id="{B6FBD4D5-3580-2441-93E9-E7D037D3DB96}"/>
              </a:ext>
            </a:extLst>
          </p:cNvPr>
          <p:cNvSpPr>
            <a:spLocks/>
          </p:cNvSpPr>
          <p:nvPr/>
        </p:nvSpPr>
        <p:spPr bwMode="auto">
          <a:xfrm>
            <a:off x="4370388" y="6221414"/>
            <a:ext cx="12700" cy="15875"/>
          </a:xfrm>
          <a:custGeom>
            <a:avLst/>
            <a:gdLst>
              <a:gd name="T0" fmla="*/ 23 w 23"/>
              <a:gd name="T1" fmla="*/ 14 h 30"/>
              <a:gd name="T2" fmla="*/ 23 w 23"/>
              <a:gd name="T3" fmla="*/ 11 h 30"/>
              <a:gd name="T4" fmla="*/ 21 w 23"/>
              <a:gd name="T5" fmla="*/ 9 h 30"/>
              <a:gd name="T6" fmla="*/ 21 w 23"/>
              <a:gd name="T7" fmla="*/ 7 h 30"/>
              <a:gd name="T8" fmla="*/ 19 w 23"/>
              <a:gd name="T9" fmla="*/ 5 h 30"/>
              <a:gd name="T10" fmla="*/ 18 w 23"/>
              <a:gd name="T11" fmla="*/ 3 h 30"/>
              <a:gd name="T12" fmla="*/ 17 w 23"/>
              <a:gd name="T13" fmla="*/ 2 h 30"/>
              <a:gd name="T14" fmla="*/ 14 w 23"/>
              <a:gd name="T15" fmla="*/ 0 h 30"/>
              <a:gd name="T16" fmla="*/ 12 w 23"/>
              <a:gd name="T17" fmla="*/ 0 h 30"/>
              <a:gd name="T18" fmla="*/ 10 w 23"/>
              <a:gd name="T19" fmla="*/ 0 h 30"/>
              <a:gd name="T20" fmla="*/ 9 w 23"/>
              <a:gd name="T21" fmla="*/ 0 h 30"/>
              <a:gd name="T22" fmla="*/ 7 w 23"/>
              <a:gd name="T23" fmla="*/ 2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3 w 23"/>
              <a:gd name="T45" fmla="*/ 26 h 30"/>
              <a:gd name="T46" fmla="*/ 4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8 h 30"/>
              <a:gd name="T62" fmla="*/ 19 w 23"/>
              <a:gd name="T63" fmla="*/ 26 h 30"/>
              <a:gd name="T64" fmla="*/ 21 w 23"/>
              <a:gd name="T65" fmla="*/ 25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3"/>
                </a:lnTo>
                <a:lnTo>
                  <a:pt x="23" y="11"/>
                </a:lnTo>
                <a:lnTo>
                  <a:pt x="22" y="10"/>
                </a:lnTo>
                <a:lnTo>
                  <a:pt x="21" y="9"/>
                </a:lnTo>
                <a:lnTo>
                  <a:pt x="21" y="8"/>
                </a:lnTo>
                <a:lnTo>
                  <a:pt x="21" y="7"/>
                </a:lnTo>
                <a:lnTo>
                  <a:pt x="20" y="6"/>
                </a:lnTo>
                <a:lnTo>
                  <a:pt x="19" y="5"/>
                </a:lnTo>
                <a:lnTo>
                  <a:pt x="19" y="4"/>
                </a:lnTo>
                <a:lnTo>
                  <a:pt x="18" y="3"/>
                </a:lnTo>
                <a:lnTo>
                  <a:pt x="17" y="2"/>
                </a:lnTo>
                <a:lnTo>
                  <a:pt x="15" y="0"/>
                </a:lnTo>
                <a:lnTo>
                  <a:pt x="14" y="0"/>
                </a:lnTo>
                <a:lnTo>
                  <a:pt x="13" y="0"/>
                </a:lnTo>
                <a:lnTo>
                  <a:pt x="12" y="0"/>
                </a:lnTo>
                <a:lnTo>
                  <a:pt x="11" y="0"/>
                </a:lnTo>
                <a:lnTo>
                  <a:pt x="10" y="0"/>
                </a:lnTo>
                <a:lnTo>
                  <a:pt x="9" y="0"/>
                </a:lnTo>
                <a:lnTo>
                  <a:pt x="8" y="0"/>
                </a:lnTo>
                <a:lnTo>
                  <a:pt x="7" y="2"/>
                </a:lnTo>
                <a:lnTo>
                  <a:pt x="6" y="2"/>
                </a:lnTo>
                <a:lnTo>
                  <a:pt x="4" y="3"/>
                </a:lnTo>
                <a:lnTo>
                  <a:pt x="3" y="4"/>
                </a:lnTo>
                <a:lnTo>
                  <a:pt x="3" y="5"/>
                </a:lnTo>
                <a:lnTo>
                  <a:pt x="2" y="6"/>
                </a:lnTo>
                <a:lnTo>
                  <a:pt x="1" y="7"/>
                </a:lnTo>
                <a:lnTo>
                  <a:pt x="1" y="8"/>
                </a:lnTo>
                <a:lnTo>
                  <a:pt x="1" y="9"/>
                </a:lnTo>
                <a:lnTo>
                  <a:pt x="0" y="10"/>
                </a:lnTo>
                <a:lnTo>
                  <a:pt x="0" y="11"/>
                </a:lnTo>
                <a:lnTo>
                  <a:pt x="0" y="13"/>
                </a:lnTo>
                <a:lnTo>
                  <a:pt x="0" y="14"/>
                </a:lnTo>
                <a:lnTo>
                  <a:pt x="0" y="15"/>
                </a:lnTo>
                <a:lnTo>
                  <a:pt x="0" y="17"/>
                </a:lnTo>
                <a:lnTo>
                  <a:pt x="0" y="18"/>
                </a:lnTo>
                <a:lnTo>
                  <a:pt x="0" y="19"/>
                </a:lnTo>
                <a:lnTo>
                  <a:pt x="0" y="20"/>
                </a:lnTo>
                <a:lnTo>
                  <a:pt x="1" y="22"/>
                </a:lnTo>
                <a:lnTo>
                  <a:pt x="1" y="24"/>
                </a:lnTo>
                <a:lnTo>
                  <a:pt x="1" y="25"/>
                </a:lnTo>
                <a:lnTo>
                  <a:pt x="2" y="25"/>
                </a:lnTo>
                <a:lnTo>
                  <a:pt x="3" y="26"/>
                </a:lnTo>
                <a:lnTo>
                  <a:pt x="3" y="27"/>
                </a:lnTo>
                <a:lnTo>
                  <a:pt x="4" y="28"/>
                </a:lnTo>
                <a:lnTo>
                  <a:pt x="6" y="29"/>
                </a:lnTo>
                <a:lnTo>
                  <a:pt x="7" y="29"/>
                </a:lnTo>
                <a:lnTo>
                  <a:pt x="8" y="30"/>
                </a:lnTo>
                <a:lnTo>
                  <a:pt x="9" y="30"/>
                </a:lnTo>
                <a:lnTo>
                  <a:pt x="10" y="30"/>
                </a:lnTo>
                <a:lnTo>
                  <a:pt x="11" y="30"/>
                </a:lnTo>
                <a:lnTo>
                  <a:pt x="12" y="30"/>
                </a:lnTo>
                <a:lnTo>
                  <a:pt x="13" y="30"/>
                </a:lnTo>
                <a:lnTo>
                  <a:pt x="14" y="30"/>
                </a:lnTo>
                <a:lnTo>
                  <a:pt x="15" y="30"/>
                </a:lnTo>
                <a:lnTo>
                  <a:pt x="17" y="29"/>
                </a:lnTo>
                <a:lnTo>
                  <a:pt x="18" y="28"/>
                </a:lnTo>
                <a:lnTo>
                  <a:pt x="19" y="27"/>
                </a:lnTo>
                <a:lnTo>
                  <a:pt x="19" y="26"/>
                </a:lnTo>
                <a:lnTo>
                  <a:pt x="20" y="25"/>
                </a:lnTo>
                <a:lnTo>
                  <a:pt x="21" y="25"/>
                </a:lnTo>
                <a:lnTo>
                  <a:pt x="21" y="24"/>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35" name="Line 642">
            <a:extLst>
              <a:ext uri="{FF2B5EF4-FFF2-40B4-BE49-F238E27FC236}">
                <a16:creationId xmlns:a16="http://schemas.microsoft.com/office/drawing/2014/main" id="{F1EFAB7D-AAC2-234C-940D-733D31652C5A}"/>
              </a:ext>
            </a:extLst>
          </p:cNvPr>
          <p:cNvSpPr>
            <a:spLocks noChangeShapeType="1"/>
          </p:cNvSpPr>
          <p:nvPr/>
        </p:nvSpPr>
        <p:spPr bwMode="auto">
          <a:xfrm>
            <a:off x="4468814" y="614203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36" name="Line 643">
            <a:extLst>
              <a:ext uri="{FF2B5EF4-FFF2-40B4-BE49-F238E27FC236}">
                <a16:creationId xmlns:a16="http://schemas.microsoft.com/office/drawing/2014/main" id="{0A6D2342-3F34-7C4E-B538-956EF89A90C2}"/>
              </a:ext>
            </a:extLst>
          </p:cNvPr>
          <p:cNvSpPr>
            <a:spLocks noChangeShapeType="1"/>
          </p:cNvSpPr>
          <p:nvPr/>
        </p:nvSpPr>
        <p:spPr bwMode="auto">
          <a:xfrm>
            <a:off x="4437063" y="6178550"/>
            <a:ext cx="63500"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37" name="Freeform 644">
            <a:extLst>
              <a:ext uri="{FF2B5EF4-FFF2-40B4-BE49-F238E27FC236}">
                <a16:creationId xmlns:a16="http://schemas.microsoft.com/office/drawing/2014/main" id="{39FBDE8D-1DF6-634D-8CFB-BB4BC1DC0B43}"/>
              </a:ext>
            </a:extLst>
          </p:cNvPr>
          <p:cNvSpPr>
            <a:spLocks/>
          </p:cNvSpPr>
          <p:nvPr/>
        </p:nvSpPr>
        <p:spPr bwMode="auto">
          <a:xfrm>
            <a:off x="4379914" y="5394326"/>
            <a:ext cx="325437" cy="341313"/>
          </a:xfrm>
          <a:custGeom>
            <a:avLst/>
            <a:gdLst>
              <a:gd name="T0" fmla="*/ 55 w 614"/>
              <a:gd name="T1" fmla="*/ 195 h 643"/>
              <a:gd name="T2" fmla="*/ 0 w 614"/>
              <a:gd name="T3" fmla="*/ 195 h 643"/>
              <a:gd name="T4" fmla="*/ 307 w 614"/>
              <a:gd name="T5" fmla="*/ 0 h 643"/>
              <a:gd name="T6" fmla="*/ 614 w 614"/>
              <a:gd name="T7" fmla="*/ 195 h 643"/>
              <a:gd name="T8" fmla="*/ 586 w 614"/>
              <a:gd name="T9" fmla="*/ 195 h 643"/>
              <a:gd name="T10" fmla="*/ 558 w 614"/>
              <a:gd name="T11" fmla="*/ 195 h 643"/>
              <a:gd name="T12" fmla="*/ 558 w 614"/>
              <a:gd name="T13" fmla="*/ 614 h 643"/>
              <a:gd name="T14" fmla="*/ 55 w 614"/>
              <a:gd name="T15" fmla="*/ 614 h 643"/>
              <a:gd name="T16" fmla="*/ 55 w 614"/>
              <a:gd name="T17" fmla="*/ 195 h 643"/>
              <a:gd name="T18" fmla="*/ 558 w 614"/>
              <a:gd name="T19" fmla="*/ 195 h 643"/>
              <a:gd name="T20" fmla="*/ 586 w 614"/>
              <a:gd name="T21" fmla="*/ 195 h 643"/>
              <a:gd name="T22" fmla="*/ 586 w 614"/>
              <a:gd name="T23" fmla="*/ 643 h 643"/>
              <a:gd name="T24" fmla="*/ 55 w 614"/>
              <a:gd name="T25" fmla="*/ 643 h 643"/>
              <a:gd name="T26" fmla="*/ 55 w 614"/>
              <a:gd name="T27" fmla="*/ 614 h 643"/>
              <a:gd name="T28" fmla="*/ 55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5" y="195"/>
                </a:moveTo>
                <a:lnTo>
                  <a:pt x="0" y="195"/>
                </a:lnTo>
                <a:lnTo>
                  <a:pt x="307" y="0"/>
                </a:lnTo>
                <a:lnTo>
                  <a:pt x="614" y="195"/>
                </a:lnTo>
                <a:lnTo>
                  <a:pt x="586" y="195"/>
                </a:lnTo>
                <a:lnTo>
                  <a:pt x="558" y="195"/>
                </a:lnTo>
                <a:lnTo>
                  <a:pt x="558" y="614"/>
                </a:lnTo>
                <a:lnTo>
                  <a:pt x="55" y="614"/>
                </a:lnTo>
                <a:lnTo>
                  <a:pt x="55" y="195"/>
                </a:lnTo>
                <a:lnTo>
                  <a:pt x="558" y="195"/>
                </a:lnTo>
                <a:lnTo>
                  <a:pt x="586" y="195"/>
                </a:lnTo>
                <a:lnTo>
                  <a:pt x="586" y="643"/>
                </a:lnTo>
                <a:lnTo>
                  <a:pt x="55" y="643"/>
                </a:lnTo>
                <a:lnTo>
                  <a:pt x="55" y="614"/>
                </a:lnTo>
                <a:lnTo>
                  <a:pt x="55"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38" name="Rectangle 645">
            <a:extLst>
              <a:ext uri="{FF2B5EF4-FFF2-40B4-BE49-F238E27FC236}">
                <a16:creationId xmlns:a16="http://schemas.microsoft.com/office/drawing/2014/main" id="{B625E9B8-9418-904F-920C-F86EFF4B2585}"/>
              </a:ext>
            </a:extLst>
          </p:cNvPr>
          <p:cNvSpPr>
            <a:spLocks noChangeArrowheads="1"/>
          </p:cNvSpPr>
          <p:nvPr/>
        </p:nvSpPr>
        <p:spPr bwMode="auto">
          <a:xfrm>
            <a:off x="4410075" y="5497513"/>
            <a:ext cx="268288"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39" name="Rectangle 646">
            <a:extLst>
              <a:ext uri="{FF2B5EF4-FFF2-40B4-BE49-F238E27FC236}">
                <a16:creationId xmlns:a16="http://schemas.microsoft.com/office/drawing/2014/main" id="{D6647D03-238D-434A-B354-1838849695A6}"/>
              </a:ext>
            </a:extLst>
          </p:cNvPr>
          <p:cNvSpPr>
            <a:spLocks noChangeArrowheads="1"/>
          </p:cNvSpPr>
          <p:nvPr/>
        </p:nvSpPr>
        <p:spPr bwMode="auto">
          <a:xfrm>
            <a:off x="4452938" y="5551489"/>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40" name="Rectangle 647">
            <a:extLst>
              <a:ext uri="{FF2B5EF4-FFF2-40B4-BE49-F238E27FC236}">
                <a16:creationId xmlns:a16="http://schemas.microsoft.com/office/drawing/2014/main" id="{C74D9F2F-8CE7-4D44-A1E4-B5CBA2E9373B}"/>
              </a:ext>
            </a:extLst>
          </p:cNvPr>
          <p:cNvSpPr>
            <a:spLocks noChangeArrowheads="1"/>
          </p:cNvSpPr>
          <p:nvPr/>
        </p:nvSpPr>
        <p:spPr bwMode="auto">
          <a:xfrm>
            <a:off x="4587875" y="5546726"/>
            <a:ext cx="65088"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41" name="Freeform 648">
            <a:extLst>
              <a:ext uri="{FF2B5EF4-FFF2-40B4-BE49-F238E27FC236}">
                <a16:creationId xmlns:a16="http://schemas.microsoft.com/office/drawing/2014/main" id="{C4C69832-FE92-8B4C-BC21-41C4F76C479A}"/>
              </a:ext>
            </a:extLst>
          </p:cNvPr>
          <p:cNvSpPr>
            <a:spLocks/>
          </p:cNvSpPr>
          <p:nvPr/>
        </p:nvSpPr>
        <p:spPr bwMode="auto">
          <a:xfrm>
            <a:off x="4521200" y="5627689"/>
            <a:ext cx="12700" cy="15875"/>
          </a:xfrm>
          <a:custGeom>
            <a:avLst/>
            <a:gdLst>
              <a:gd name="T0" fmla="*/ 23 w 23"/>
              <a:gd name="T1" fmla="*/ 13 h 29"/>
              <a:gd name="T2" fmla="*/ 23 w 23"/>
              <a:gd name="T3" fmla="*/ 11 h 29"/>
              <a:gd name="T4" fmla="*/ 21 w 23"/>
              <a:gd name="T5" fmla="*/ 9 h 29"/>
              <a:gd name="T6" fmla="*/ 21 w 23"/>
              <a:gd name="T7" fmla="*/ 6 h 29"/>
              <a:gd name="T8" fmla="*/ 19 w 23"/>
              <a:gd name="T9" fmla="*/ 4 h 29"/>
              <a:gd name="T10" fmla="*/ 18 w 23"/>
              <a:gd name="T11" fmla="*/ 2 h 29"/>
              <a:gd name="T12" fmla="*/ 17 w 23"/>
              <a:gd name="T13" fmla="*/ 1 h 29"/>
              <a:gd name="T14" fmla="*/ 15 w 23"/>
              <a:gd name="T15" fmla="*/ 0 h 29"/>
              <a:gd name="T16" fmla="*/ 12 w 23"/>
              <a:gd name="T17" fmla="*/ 0 h 29"/>
              <a:gd name="T18" fmla="*/ 10 w 23"/>
              <a:gd name="T19" fmla="*/ 0 h 29"/>
              <a:gd name="T20" fmla="*/ 9 w 23"/>
              <a:gd name="T21" fmla="*/ 0 h 29"/>
              <a:gd name="T22" fmla="*/ 7 w 23"/>
              <a:gd name="T23" fmla="*/ 1 h 29"/>
              <a:gd name="T24" fmla="*/ 5 w 23"/>
              <a:gd name="T25" fmla="*/ 2 h 29"/>
              <a:gd name="T26" fmla="*/ 4 w 23"/>
              <a:gd name="T27" fmla="*/ 4 h 29"/>
              <a:gd name="T28" fmla="*/ 1 w 23"/>
              <a:gd name="T29" fmla="*/ 6 h 29"/>
              <a:gd name="T30" fmla="*/ 1 w 23"/>
              <a:gd name="T31" fmla="*/ 9 h 29"/>
              <a:gd name="T32" fmla="*/ 0 w 23"/>
              <a:gd name="T33" fmla="*/ 11 h 29"/>
              <a:gd name="T34" fmla="*/ 0 w 23"/>
              <a:gd name="T35" fmla="*/ 13 h 29"/>
              <a:gd name="T36" fmla="*/ 0 w 23"/>
              <a:gd name="T37" fmla="*/ 16 h 29"/>
              <a:gd name="T38" fmla="*/ 0 w 23"/>
              <a:gd name="T39" fmla="*/ 18 h 29"/>
              <a:gd name="T40" fmla="*/ 1 w 23"/>
              <a:gd name="T41" fmla="*/ 22 h 29"/>
              <a:gd name="T42" fmla="*/ 1 w 23"/>
              <a:gd name="T43" fmla="*/ 24 h 29"/>
              <a:gd name="T44" fmla="*/ 4 w 23"/>
              <a:gd name="T45" fmla="*/ 25 h 29"/>
              <a:gd name="T46" fmla="*/ 5 w 23"/>
              <a:gd name="T47" fmla="*/ 27 h 29"/>
              <a:gd name="T48" fmla="*/ 7 w 23"/>
              <a:gd name="T49" fmla="*/ 28 h 29"/>
              <a:gd name="T50" fmla="*/ 9 w 23"/>
              <a:gd name="T51" fmla="*/ 29 h 29"/>
              <a:gd name="T52" fmla="*/ 10 w 23"/>
              <a:gd name="T53" fmla="*/ 29 h 29"/>
              <a:gd name="T54" fmla="*/ 12 w 23"/>
              <a:gd name="T55" fmla="*/ 29 h 29"/>
              <a:gd name="T56" fmla="*/ 15 w 23"/>
              <a:gd name="T57" fmla="*/ 29 h 29"/>
              <a:gd name="T58" fmla="*/ 17 w 23"/>
              <a:gd name="T59" fmla="*/ 28 h 29"/>
              <a:gd name="T60" fmla="*/ 18 w 23"/>
              <a:gd name="T61" fmla="*/ 27 h 29"/>
              <a:gd name="T62" fmla="*/ 19 w 23"/>
              <a:gd name="T63" fmla="*/ 25 h 29"/>
              <a:gd name="T64" fmla="*/ 21 w 23"/>
              <a:gd name="T65" fmla="*/ 24 h 29"/>
              <a:gd name="T66" fmla="*/ 21 w 23"/>
              <a:gd name="T67" fmla="*/ 22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10"/>
                </a:lnTo>
                <a:lnTo>
                  <a:pt x="21" y="9"/>
                </a:lnTo>
                <a:lnTo>
                  <a:pt x="21" y="7"/>
                </a:lnTo>
                <a:lnTo>
                  <a:pt x="21" y="6"/>
                </a:lnTo>
                <a:lnTo>
                  <a:pt x="20" y="5"/>
                </a:lnTo>
                <a:lnTo>
                  <a:pt x="19" y="4"/>
                </a:lnTo>
                <a:lnTo>
                  <a:pt x="19" y="3"/>
                </a:lnTo>
                <a:lnTo>
                  <a:pt x="18" y="2"/>
                </a:lnTo>
                <a:lnTo>
                  <a:pt x="17" y="1"/>
                </a:lnTo>
                <a:lnTo>
                  <a:pt x="16" y="0"/>
                </a:lnTo>
                <a:lnTo>
                  <a:pt x="15" y="0"/>
                </a:lnTo>
                <a:lnTo>
                  <a:pt x="13" y="0"/>
                </a:lnTo>
                <a:lnTo>
                  <a:pt x="12" y="0"/>
                </a:lnTo>
                <a:lnTo>
                  <a:pt x="11" y="0"/>
                </a:lnTo>
                <a:lnTo>
                  <a:pt x="10" y="0"/>
                </a:lnTo>
                <a:lnTo>
                  <a:pt x="9" y="0"/>
                </a:lnTo>
                <a:lnTo>
                  <a:pt x="8" y="0"/>
                </a:lnTo>
                <a:lnTo>
                  <a:pt x="7" y="1"/>
                </a:lnTo>
                <a:lnTo>
                  <a:pt x="6" y="1"/>
                </a:lnTo>
                <a:lnTo>
                  <a:pt x="5" y="2"/>
                </a:lnTo>
                <a:lnTo>
                  <a:pt x="4" y="3"/>
                </a:lnTo>
                <a:lnTo>
                  <a:pt x="4" y="4"/>
                </a:lnTo>
                <a:lnTo>
                  <a:pt x="3" y="5"/>
                </a:lnTo>
                <a:lnTo>
                  <a:pt x="1" y="6"/>
                </a:lnTo>
                <a:lnTo>
                  <a:pt x="1" y="7"/>
                </a:lnTo>
                <a:lnTo>
                  <a:pt x="1" y="9"/>
                </a:lnTo>
                <a:lnTo>
                  <a:pt x="0" y="10"/>
                </a:lnTo>
                <a:lnTo>
                  <a:pt x="0" y="11"/>
                </a:lnTo>
                <a:lnTo>
                  <a:pt x="0" y="12"/>
                </a:lnTo>
                <a:lnTo>
                  <a:pt x="0" y="13"/>
                </a:lnTo>
                <a:lnTo>
                  <a:pt x="0" y="14"/>
                </a:lnTo>
                <a:lnTo>
                  <a:pt x="0" y="16"/>
                </a:lnTo>
                <a:lnTo>
                  <a:pt x="0" y="17"/>
                </a:lnTo>
                <a:lnTo>
                  <a:pt x="0" y="18"/>
                </a:lnTo>
                <a:lnTo>
                  <a:pt x="0" y="20"/>
                </a:lnTo>
                <a:lnTo>
                  <a:pt x="1" y="22"/>
                </a:lnTo>
                <a:lnTo>
                  <a:pt x="1" y="23"/>
                </a:lnTo>
                <a:lnTo>
                  <a:pt x="1" y="24"/>
                </a:lnTo>
                <a:lnTo>
                  <a:pt x="3" y="24"/>
                </a:lnTo>
                <a:lnTo>
                  <a:pt x="4" y="25"/>
                </a:lnTo>
                <a:lnTo>
                  <a:pt x="4" y="26"/>
                </a:lnTo>
                <a:lnTo>
                  <a:pt x="5" y="27"/>
                </a:lnTo>
                <a:lnTo>
                  <a:pt x="6" y="28"/>
                </a:lnTo>
                <a:lnTo>
                  <a:pt x="7" y="28"/>
                </a:lnTo>
                <a:lnTo>
                  <a:pt x="8" y="29"/>
                </a:lnTo>
                <a:lnTo>
                  <a:pt x="9" y="29"/>
                </a:lnTo>
                <a:lnTo>
                  <a:pt x="10" y="29"/>
                </a:lnTo>
                <a:lnTo>
                  <a:pt x="11" y="29"/>
                </a:lnTo>
                <a:lnTo>
                  <a:pt x="12" y="29"/>
                </a:lnTo>
                <a:lnTo>
                  <a:pt x="13" y="29"/>
                </a:lnTo>
                <a:lnTo>
                  <a:pt x="15" y="29"/>
                </a:lnTo>
                <a:lnTo>
                  <a:pt x="16" y="29"/>
                </a:lnTo>
                <a:lnTo>
                  <a:pt x="17" y="28"/>
                </a:lnTo>
                <a:lnTo>
                  <a:pt x="18" y="27"/>
                </a:lnTo>
                <a:lnTo>
                  <a:pt x="19" y="26"/>
                </a:lnTo>
                <a:lnTo>
                  <a:pt x="19" y="25"/>
                </a:lnTo>
                <a:lnTo>
                  <a:pt x="20" y="24"/>
                </a:lnTo>
                <a:lnTo>
                  <a:pt x="21" y="24"/>
                </a:lnTo>
                <a:lnTo>
                  <a:pt x="21" y="23"/>
                </a:lnTo>
                <a:lnTo>
                  <a:pt x="21" y="22"/>
                </a:lnTo>
                <a:lnTo>
                  <a:pt x="22" y="20"/>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42" name="Line 649">
            <a:extLst>
              <a:ext uri="{FF2B5EF4-FFF2-40B4-BE49-F238E27FC236}">
                <a16:creationId xmlns:a16="http://schemas.microsoft.com/office/drawing/2014/main" id="{E0C1CC3A-7200-AA40-8FBF-C273154D519C}"/>
              </a:ext>
            </a:extLst>
          </p:cNvPr>
          <p:cNvSpPr>
            <a:spLocks noChangeShapeType="1"/>
          </p:cNvSpPr>
          <p:nvPr/>
        </p:nvSpPr>
        <p:spPr bwMode="auto">
          <a:xfrm>
            <a:off x="4619625" y="5546726"/>
            <a:ext cx="1588" cy="80963"/>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43" name="Line 650">
            <a:extLst>
              <a:ext uri="{FF2B5EF4-FFF2-40B4-BE49-F238E27FC236}">
                <a16:creationId xmlns:a16="http://schemas.microsoft.com/office/drawing/2014/main" id="{592410B5-3383-B34F-A35A-AF8F09D5D384}"/>
              </a:ext>
            </a:extLst>
          </p:cNvPr>
          <p:cNvSpPr>
            <a:spLocks noChangeShapeType="1"/>
          </p:cNvSpPr>
          <p:nvPr/>
        </p:nvSpPr>
        <p:spPr bwMode="auto">
          <a:xfrm>
            <a:off x="4587875" y="5584825"/>
            <a:ext cx="63500"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44" name="Freeform 651">
            <a:extLst>
              <a:ext uri="{FF2B5EF4-FFF2-40B4-BE49-F238E27FC236}">
                <a16:creationId xmlns:a16="http://schemas.microsoft.com/office/drawing/2014/main" id="{5C331546-AD16-9741-9D46-73FC6AAB61EA}"/>
              </a:ext>
            </a:extLst>
          </p:cNvPr>
          <p:cNvSpPr>
            <a:spLocks/>
          </p:cNvSpPr>
          <p:nvPr/>
        </p:nvSpPr>
        <p:spPr bwMode="auto">
          <a:xfrm>
            <a:off x="4102100" y="4232276"/>
            <a:ext cx="325438" cy="339725"/>
          </a:xfrm>
          <a:custGeom>
            <a:avLst/>
            <a:gdLst>
              <a:gd name="T0" fmla="*/ 56 w 614"/>
              <a:gd name="T1" fmla="*/ 196 h 644"/>
              <a:gd name="T2" fmla="*/ 0 w 614"/>
              <a:gd name="T3" fmla="*/ 196 h 644"/>
              <a:gd name="T4" fmla="*/ 307 w 614"/>
              <a:gd name="T5" fmla="*/ 0 h 644"/>
              <a:gd name="T6" fmla="*/ 614 w 614"/>
              <a:gd name="T7" fmla="*/ 196 h 644"/>
              <a:gd name="T8" fmla="*/ 587 w 614"/>
              <a:gd name="T9" fmla="*/ 196 h 644"/>
              <a:gd name="T10" fmla="*/ 559 w 614"/>
              <a:gd name="T11" fmla="*/ 196 h 644"/>
              <a:gd name="T12" fmla="*/ 559 w 614"/>
              <a:gd name="T13" fmla="*/ 615 h 644"/>
              <a:gd name="T14" fmla="*/ 56 w 614"/>
              <a:gd name="T15" fmla="*/ 615 h 644"/>
              <a:gd name="T16" fmla="*/ 56 w 614"/>
              <a:gd name="T17" fmla="*/ 196 h 644"/>
              <a:gd name="T18" fmla="*/ 559 w 614"/>
              <a:gd name="T19" fmla="*/ 196 h 644"/>
              <a:gd name="T20" fmla="*/ 587 w 614"/>
              <a:gd name="T21" fmla="*/ 196 h 644"/>
              <a:gd name="T22" fmla="*/ 587 w 614"/>
              <a:gd name="T23" fmla="*/ 644 h 644"/>
              <a:gd name="T24" fmla="*/ 56 w 614"/>
              <a:gd name="T25" fmla="*/ 644 h 644"/>
              <a:gd name="T26" fmla="*/ 56 w 614"/>
              <a:gd name="T27" fmla="*/ 615 h 644"/>
              <a:gd name="T28" fmla="*/ 56 w 614"/>
              <a:gd name="T29" fmla="*/ 196 h 6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4"/>
              <a:gd name="T47" fmla="*/ 614 w 614"/>
              <a:gd name="T48" fmla="*/ 644 h 6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4">
                <a:moveTo>
                  <a:pt x="56" y="196"/>
                </a:moveTo>
                <a:lnTo>
                  <a:pt x="0" y="196"/>
                </a:lnTo>
                <a:lnTo>
                  <a:pt x="307" y="0"/>
                </a:lnTo>
                <a:lnTo>
                  <a:pt x="614" y="196"/>
                </a:lnTo>
                <a:lnTo>
                  <a:pt x="587" y="196"/>
                </a:lnTo>
                <a:lnTo>
                  <a:pt x="559" y="196"/>
                </a:lnTo>
                <a:lnTo>
                  <a:pt x="559" y="615"/>
                </a:lnTo>
                <a:lnTo>
                  <a:pt x="56" y="615"/>
                </a:lnTo>
                <a:lnTo>
                  <a:pt x="56" y="196"/>
                </a:lnTo>
                <a:lnTo>
                  <a:pt x="559" y="196"/>
                </a:lnTo>
                <a:lnTo>
                  <a:pt x="587" y="196"/>
                </a:lnTo>
                <a:lnTo>
                  <a:pt x="587" y="644"/>
                </a:lnTo>
                <a:lnTo>
                  <a:pt x="56" y="644"/>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45" name="Rectangle 652">
            <a:extLst>
              <a:ext uri="{FF2B5EF4-FFF2-40B4-BE49-F238E27FC236}">
                <a16:creationId xmlns:a16="http://schemas.microsoft.com/office/drawing/2014/main" id="{872F3360-55D3-6549-9786-F954887DBE73}"/>
              </a:ext>
            </a:extLst>
          </p:cNvPr>
          <p:cNvSpPr>
            <a:spLocks noChangeArrowheads="1"/>
          </p:cNvSpPr>
          <p:nvPr/>
        </p:nvSpPr>
        <p:spPr bwMode="auto">
          <a:xfrm>
            <a:off x="4132264" y="4335463"/>
            <a:ext cx="268287" cy="220662"/>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46" name="Rectangle 653">
            <a:extLst>
              <a:ext uri="{FF2B5EF4-FFF2-40B4-BE49-F238E27FC236}">
                <a16:creationId xmlns:a16="http://schemas.microsoft.com/office/drawing/2014/main" id="{6CB3940C-A5BF-B444-A586-9B25863E8652}"/>
              </a:ext>
            </a:extLst>
          </p:cNvPr>
          <p:cNvSpPr>
            <a:spLocks noChangeArrowheads="1"/>
          </p:cNvSpPr>
          <p:nvPr/>
        </p:nvSpPr>
        <p:spPr bwMode="auto">
          <a:xfrm>
            <a:off x="4175126" y="4387851"/>
            <a:ext cx="93663"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47" name="Rectangle 654">
            <a:extLst>
              <a:ext uri="{FF2B5EF4-FFF2-40B4-BE49-F238E27FC236}">
                <a16:creationId xmlns:a16="http://schemas.microsoft.com/office/drawing/2014/main" id="{8062E5E5-82D4-9544-9980-E15EE88CBEC9}"/>
              </a:ext>
            </a:extLst>
          </p:cNvPr>
          <p:cNvSpPr>
            <a:spLocks noChangeArrowheads="1"/>
          </p:cNvSpPr>
          <p:nvPr/>
        </p:nvSpPr>
        <p:spPr bwMode="auto">
          <a:xfrm>
            <a:off x="4310064" y="4384676"/>
            <a:ext cx="65087"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48" name="Freeform 655">
            <a:extLst>
              <a:ext uri="{FF2B5EF4-FFF2-40B4-BE49-F238E27FC236}">
                <a16:creationId xmlns:a16="http://schemas.microsoft.com/office/drawing/2014/main" id="{57CB1844-7A00-9349-B71C-45E93C92DC11}"/>
              </a:ext>
            </a:extLst>
          </p:cNvPr>
          <p:cNvSpPr>
            <a:spLocks/>
          </p:cNvSpPr>
          <p:nvPr/>
        </p:nvSpPr>
        <p:spPr bwMode="auto">
          <a:xfrm>
            <a:off x="4244976" y="4465639"/>
            <a:ext cx="11113" cy="15875"/>
          </a:xfrm>
          <a:custGeom>
            <a:avLst/>
            <a:gdLst>
              <a:gd name="T0" fmla="*/ 23 w 23"/>
              <a:gd name="T1" fmla="*/ 13 h 29"/>
              <a:gd name="T2" fmla="*/ 23 w 23"/>
              <a:gd name="T3" fmla="*/ 11 h 29"/>
              <a:gd name="T4" fmla="*/ 21 w 23"/>
              <a:gd name="T5" fmla="*/ 8 h 29"/>
              <a:gd name="T6" fmla="*/ 21 w 23"/>
              <a:gd name="T7" fmla="*/ 6 h 29"/>
              <a:gd name="T8" fmla="*/ 19 w 23"/>
              <a:gd name="T9" fmla="*/ 4 h 29"/>
              <a:gd name="T10" fmla="*/ 17 w 23"/>
              <a:gd name="T11" fmla="*/ 2 h 29"/>
              <a:gd name="T12" fmla="*/ 16 w 23"/>
              <a:gd name="T13" fmla="*/ 1 h 29"/>
              <a:gd name="T14" fmla="*/ 14 w 23"/>
              <a:gd name="T15" fmla="*/ 0 h 29"/>
              <a:gd name="T16" fmla="*/ 12 w 23"/>
              <a:gd name="T17" fmla="*/ 0 h 29"/>
              <a:gd name="T18" fmla="*/ 10 w 23"/>
              <a:gd name="T19" fmla="*/ 0 h 29"/>
              <a:gd name="T20" fmla="*/ 9 w 23"/>
              <a:gd name="T21" fmla="*/ 0 h 29"/>
              <a:gd name="T22" fmla="*/ 6 w 23"/>
              <a:gd name="T23" fmla="*/ 1 h 29"/>
              <a:gd name="T24" fmla="*/ 4 w 23"/>
              <a:gd name="T25" fmla="*/ 2 h 29"/>
              <a:gd name="T26" fmla="*/ 3 w 23"/>
              <a:gd name="T27" fmla="*/ 4 h 29"/>
              <a:gd name="T28" fmla="*/ 1 w 23"/>
              <a:gd name="T29" fmla="*/ 6 h 29"/>
              <a:gd name="T30" fmla="*/ 1 w 23"/>
              <a:gd name="T31" fmla="*/ 8 h 29"/>
              <a:gd name="T32" fmla="*/ 0 w 23"/>
              <a:gd name="T33" fmla="*/ 11 h 29"/>
              <a:gd name="T34" fmla="*/ 0 w 23"/>
              <a:gd name="T35" fmla="*/ 13 h 29"/>
              <a:gd name="T36" fmla="*/ 0 w 23"/>
              <a:gd name="T37" fmla="*/ 16 h 29"/>
              <a:gd name="T38" fmla="*/ 0 w 23"/>
              <a:gd name="T39" fmla="*/ 18 h 29"/>
              <a:gd name="T40" fmla="*/ 1 w 23"/>
              <a:gd name="T41" fmla="*/ 22 h 29"/>
              <a:gd name="T42" fmla="*/ 1 w 23"/>
              <a:gd name="T43" fmla="*/ 24 h 29"/>
              <a:gd name="T44" fmla="*/ 3 w 23"/>
              <a:gd name="T45" fmla="*/ 25 h 29"/>
              <a:gd name="T46" fmla="*/ 4 w 23"/>
              <a:gd name="T47" fmla="*/ 27 h 29"/>
              <a:gd name="T48" fmla="*/ 6 w 23"/>
              <a:gd name="T49" fmla="*/ 28 h 29"/>
              <a:gd name="T50" fmla="*/ 9 w 23"/>
              <a:gd name="T51" fmla="*/ 29 h 29"/>
              <a:gd name="T52" fmla="*/ 10 w 23"/>
              <a:gd name="T53" fmla="*/ 29 h 29"/>
              <a:gd name="T54" fmla="*/ 12 w 23"/>
              <a:gd name="T55" fmla="*/ 29 h 29"/>
              <a:gd name="T56" fmla="*/ 14 w 23"/>
              <a:gd name="T57" fmla="*/ 29 h 29"/>
              <a:gd name="T58" fmla="*/ 16 w 23"/>
              <a:gd name="T59" fmla="*/ 28 h 29"/>
              <a:gd name="T60" fmla="*/ 17 w 23"/>
              <a:gd name="T61" fmla="*/ 27 h 29"/>
              <a:gd name="T62" fmla="*/ 19 w 23"/>
              <a:gd name="T63" fmla="*/ 25 h 29"/>
              <a:gd name="T64" fmla="*/ 21 w 23"/>
              <a:gd name="T65" fmla="*/ 24 h 29"/>
              <a:gd name="T66" fmla="*/ 21 w 23"/>
              <a:gd name="T67" fmla="*/ 22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10"/>
                </a:lnTo>
                <a:lnTo>
                  <a:pt x="21" y="8"/>
                </a:lnTo>
                <a:lnTo>
                  <a:pt x="21" y="7"/>
                </a:lnTo>
                <a:lnTo>
                  <a:pt x="21" y="6"/>
                </a:lnTo>
                <a:lnTo>
                  <a:pt x="20" y="5"/>
                </a:lnTo>
                <a:lnTo>
                  <a:pt x="19" y="4"/>
                </a:lnTo>
                <a:lnTo>
                  <a:pt x="19" y="3"/>
                </a:lnTo>
                <a:lnTo>
                  <a:pt x="17" y="2"/>
                </a:lnTo>
                <a:lnTo>
                  <a:pt x="16" y="1"/>
                </a:lnTo>
                <a:lnTo>
                  <a:pt x="15" y="0"/>
                </a:lnTo>
                <a:lnTo>
                  <a:pt x="14" y="0"/>
                </a:lnTo>
                <a:lnTo>
                  <a:pt x="13" y="0"/>
                </a:lnTo>
                <a:lnTo>
                  <a:pt x="12" y="0"/>
                </a:lnTo>
                <a:lnTo>
                  <a:pt x="11" y="0"/>
                </a:lnTo>
                <a:lnTo>
                  <a:pt x="10" y="0"/>
                </a:lnTo>
                <a:lnTo>
                  <a:pt x="9" y="0"/>
                </a:lnTo>
                <a:lnTo>
                  <a:pt x="8" y="0"/>
                </a:lnTo>
                <a:lnTo>
                  <a:pt x="6" y="1"/>
                </a:lnTo>
                <a:lnTo>
                  <a:pt x="5" y="1"/>
                </a:lnTo>
                <a:lnTo>
                  <a:pt x="4" y="2"/>
                </a:lnTo>
                <a:lnTo>
                  <a:pt x="3" y="3"/>
                </a:lnTo>
                <a:lnTo>
                  <a:pt x="3" y="4"/>
                </a:lnTo>
                <a:lnTo>
                  <a:pt x="2" y="5"/>
                </a:lnTo>
                <a:lnTo>
                  <a:pt x="1" y="6"/>
                </a:lnTo>
                <a:lnTo>
                  <a:pt x="1" y="7"/>
                </a:lnTo>
                <a:lnTo>
                  <a:pt x="1" y="8"/>
                </a:lnTo>
                <a:lnTo>
                  <a:pt x="0" y="10"/>
                </a:lnTo>
                <a:lnTo>
                  <a:pt x="0" y="11"/>
                </a:lnTo>
                <a:lnTo>
                  <a:pt x="0" y="12"/>
                </a:lnTo>
                <a:lnTo>
                  <a:pt x="0" y="13"/>
                </a:lnTo>
                <a:lnTo>
                  <a:pt x="0" y="14"/>
                </a:lnTo>
                <a:lnTo>
                  <a:pt x="0" y="16"/>
                </a:lnTo>
                <a:lnTo>
                  <a:pt x="0" y="17"/>
                </a:lnTo>
                <a:lnTo>
                  <a:pt x="0" y="18"/>
                </a:lnTo>
                <a:lnTo>
                  <a:pt x="0" y="19"/>
                </a:lnTo>
                <a:lnTo>
                  <a:pt x="1" y="22"/>
                </a:lnTo>
                <a:lnTo>
                  <a:pt x="1" y="23"/>
                </a:lnTo>
                <a:lnTo>
                  <a:pt x="1" y="24"/>
                </a:lnTo>
                <a:lnTo>
                  <a:pt x="2" y="24"/>
                </a:lnTo>
                <a:lnTo>
                  <a:pt x="3" y="25"/>
                </a:lnTo>
                <a:lnTo>
                  <a:pt x="3" y="26"/>
                </a:lnTo>
                <a:lnTo>
                  <a:pt x="4" y="27"/>
                </a:lnTo>
                <a:lnTo>
                  <a:pt x="5" y="28"/>
                </a:lnTo>
                <a:lnTo>
                  <a:pt x="6" y="28"/>
                </a:lnTo>
                <a:lnTo>
                  <a:pt x="8" y="29"/>
                </a:lnTo>
                <a:lnTo>
                  <a:pt x="9" y="29"/>
                </a:lnTo>
                <a:lnTo>
                  <a:pt x="10" y="29"/>
                </a:lnTo>
                <a:lnTo>
                  <a:pt x="11" y="29"/>
                </a:lnTo>
                <a:lnTo>
                  <a:pt x="12" y="29"/>
                </a:lnTo>
                <a:lnTo>
                  <a:pt x="13" y="29"/>
                </a:lnTo>
                <a:lnTo>
                  <a:pt x="14" y="29"/>
                </a:lnTo>
                <a:lnTo>
                  <a:pt x="15" y="29"/>
                </a:lnTo>
                <a:lnTo>
                  <a:pt x="16" y="28"/>
                </a:lnTo>
                <a:lnTo>
                  <a:pt x="17" y="27"/>
                </a:lnTo>
                <a:lnTo>
                  <a:pt x="19" y="26"/>
                </a:lnTo>
                <a:lnTo>
                  <a:pt x="19" y="25"/>
                </a:lnTo>
                <a:lnTo>
                  <a:pt x="20" y="24"/>
                </a:lnTo>
                <a:lnTo>
                  <a:pt x="21" y="24"/>
                </a:lnTo>
                <a:lnTo>
                  <a:pt x="21" y="23"/>
                </a:lnTo>
                <a:lnTo>
                  <a:pt x="21" y="22"/>
                </a:lnTo>
                <a:lnTo>
                  <a:pt x="22" y="19"/>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49" name="Line 656">
            <a:extLst>
              <a:ext uri="{FF2B5EF4-FFF2-40B4-BE49-F238E27FC236}">
                <a16:creationId xmlns:a16="http://schemas.microsoft.com/office/drawing/2014/main" id="{39C4C7B7-4B99-4248-8AF4-0E637BA608CA}"/>
              </a:ext>
            </a:extLst>
          </p:cNvPr>
          <p:cNvSpPr>
            <a:spLocks noChangeShapeType="1"/>
          </p:cNvSpPr>
          <p:nvPr/>
        </p:nvSpPr>
        <p:spPr bwMode="auto">
          <a:xfrm>
            <a:off x="4341814" y="4384676"/>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50" name="Line 657">
            <a:extLst>
              <a:ext uri="{FF2B5EF4-FFF2-40B4-BE49-F238E27FC236}">
                <a16:creationId xmlns:a16="http://schemas.microsoft.com/office/drawing/2014/main" id="{E37BC599-2585-A24B-B8C3-68F456DEB112}"/>
              </a:ext>
            </a:extLst>
          </p:cNvPr>
          <p:cNvSpPr>
            <a:spLocks noChangeShapeType="1"/>
          </p:cNvSpPr>
          <p:nvPr/>
        </p:nvSpPr>
        <p:spPr bwMode="auto">
          <a:xfrm>
            <a:off x="4310063" y="4422775"/>
            <a:ext cx="63500"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51" name="Freeform 658">
            <a:extLst>
              <a:ext uri="{FF2B5EF4-FFF2-40B4-BE49-F238E27FC236}">
                <a16:creationId xmlns:a16="http://schemas.microsoft.com/office/drawing/2014/main" id="{B754D913-856A-6E43-9CDC-F269404E6EEA}"/>
              </a:ext>
            </a:extLst>
          </p:cNvPr>
          <p:cNvSpPr>
            <a:spLocks/>
          </p:cNvSpPr>
          <p:nvPr/>
        </p:nvSpPr>
        <p:spPr bwMode="auto">
          <a:xfrm>
            <a:off x="3001964" y="5356226"/>
            <a:ext cx="325437" cy="341313"/>
          </a:xfrm>
          <a:custGeom>
            <a:avLst/>
            <a:gdLst>
              <a:gd name="T0" fmla="*/ 56 w 615"/>
              <a:gd name="T1" fmla="*/ 196 h 643"/>
              <a:gd name="T2" fmla="*/ 0 w 615"/>
              <a:gd name="T3" fmla="*/ 196 h 643"/>
              <a:gd name="T4" fmla="*/ 307 w 615"/>
              <a:gd name="T5" fmla="*/ 0 h 643"/>
              <a:gd name="T6" fmla="*/ 615 w 615"/>
              <a:gd name="T7" fmla="*/ 196 h 643"/>
              <a:gd name="T8" fmla="*/ 587 w 615"/>
              <a:gd name="T9" fmla="*/ 196 h 643"/>
              <a:gd name="T10" fmla="*/ 559 w 615"/>
              <a:gd name="T11" fmla="*/ 196 h 643"/>
              <a:gd name="T12" fmla="*/ 559 w 615"/>
              <a:gd name="T13" fmla="*/ 615 h 643"/>
              <a:gd name="T14" fmla="*/ 56 w 615"/>
              <a:gd name="T15" fmla="*/ 615 h 643"/>
              <a:gd name="T16" fmla="*/ 56 w 615"/>
              <a:gd name="T17" fmla="*/ 196 h 643"/>
              <a:gd name="T18" fmla="*/ 559 w 615"/>
              <a:gd name="T19" fmla="*/ 196 h 643"/>
              <a:gd name="T20" fmla="*/ 587 w 615"/>
              <a:gd name="T21" fmla="*/ 196 h 643"/>
              <a:gd name="T22" fmla="*/ 587 w 615"/>
              <a:gd name="T23" fmla="*/ 643 h 643"/>
              <a:gd name="T24" fmla="*/ 56 w 615"/>
              <a:gd name="T25" fmla="*/ 643 h 643"/>
              <a:gd name="T26" fmla="*/ 56 w 615"/>
              <a:gd name="T27" fmla="*/ 615 h 643"/>
              <a:gd name="T28" fmla="*/ 56 w 615"/>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6"/>
                </a:moveTo>
                <a:lnTo>
                  <a:pt x="0" y="196"/>
                </a:lnTo>
                <a:lnTo>
                  <a:pt x="307" y="0"/>
                </a:lnTo>
                <a:lnTo>
                  <a:pt x="615" y="196"/>
                </a:lnTo>
                <a:lnTo>
                  <a:pt x="587" y="196"/>
                </a:lnTo>
                <a:lnTo>
                  <a:pt x="559" y="196"/>
                </a:lnTo>
                <a:lnTo>
                  <a:pt x="559" y="615"/>
                </a:lnTo>
                <a:lnTo>
                  <a:pt x="56" y="615"/>
                </a:lnTo>
                <a:lnTo>
                  <a:pt x="56" y="196"/>
                </a:lnTo>
                <a:lnTo>
                  <a:pt x="559"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52" name="Rectangle 659">
            <a:extLst>
              <a:ext uri="{FF2B5EF4-FFF2-40B4-BE49-F238E27FC236}">
                <a16:creationId xmlns:a16="http://schemas.microsoft.com/office/drawing/2014/main" id="{F44CCBF3-7B57-0C4F-AF95-2CD498D49AC4}"/>
              </a:ext>
            </a:extLst>
          </p:cNvPr>
          <p:cNvSpPr>
            <a:spLocks noChangeArrowheads="1"/>
          </p:cNvSpPr>
          <p:nvPr/>
        </p:nvSpPr>
        <p:spPr bwMode="auto">
          <a:xfrm>
            <a:off x="3032126" y="5461001"/>
            <a:ext cx="269875"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53" name="Rectangle 660">
            <a:extLst>
              <a:ext uri="{FF2B5EF4-FFF2-40B4-BE49-F238E27FC236}">
                <a16:creationId xmlns:a16="http://schemas.microsoft.com/office/drawing/2014/main" id="{3A8854E7-1171-784B-9686-18D5302257A2}"/>
              </a:ext>
            </a:extLst>
          </p:cNvPr>
          <p:cNvSpPr>
            <a:spLocks noChangeArrowheads="1"/>
          </p:cNvSpPr>
          <p:nvPr/>
        </p:nvSpPr>
        <p:spPr bwMode="auto">
          <a:xfrm>
            <a:off x="3076576" y="5513389"/>
            <a:ext cx="93663"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54" name="Rectangle 661">
            <a:extLst>
              <a:ext uri="{FF2B5EF4-FFF2-40B4-BE49-F238E27FC236}">
                <a16:creationId xmlns:a16="http://schemas.microsoft.com/office/drawing/2014/main" id="{8B75AF92-D44D-434A-8ABE-3319C33AB465}"/>
              </a:ext>
            </a:extLst>
          </p:cNvPr>
          <p:cNvSpPr>
            <a:spLocks noChangeArrowheads="1"/>
          </p:cNvSpPr>
          <p:nvPr/>
        </p:nvSpPr>
        <p:spPr bwMode="auto">
          <a:xfrm>
            <a:off x="3211513" y="5508626"/>
            <a:ext cx="63500"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55" name="Freeform 662">
            <a:extLst>
              <a:ext uri="{FF2B5EF4-FFF2-40B4-BE49-F238E27FC236}">
                <a16:creationId xmlns:a16="http://schemas.microsoft.com/office/drawing/2014/main" id="{1542383C-CDBD-E24B-8AD9-3565A189DB02}"/>
              </a:ext>
            </a:extLst>
          </p:cNvPr>
          <p:cNvSpPr>
            <a:spLocks/>
          </p:cNvSpPr>
          <p:nvPr/>
        </p:nvSpPr>
        <p:spPr bwMode="auto">
          <a:xfrm>
            <a:off x="3144838" y="5589589"/>
            <a:ext cx="12700" cy="15875"/>
          </a:xfrm>
          <a:custGeom>
            <a:avLst/>
            <a:gdLst>
              <a:gd name="T0" fmla="*/ 23 w 23"/>
              <a:gd name="T1" fmla="*/ 14 h 30"/>
              <a:gd name="T2" fmla="*/ 23 w 23"/>
              <a:gd name="T3" fmla="*/ 11 h 30"/>
              <a:gd name="T4" fmla="*/ 21 w 23"/>
              <a:gd name="T5" fmla="*/ 9 h 30"/>
              <a:gd name="T6" fmla="*/ 21 w 23"/>
              <a:gd name="T7" fmla="*/ 7 h 30"/>
              <a:gd name="T8" fmla="*/ 19 w 23"/>
              <a:gd name="T9" fmla="*/ 5 h 30"/>
              <a:gd name="T10" fmla="*/ 18 w 23"/>
              <a:gd name="T11" fmla="*/ 3 h 30"/>
              <a:gd name="T12" fmla="*/ 17 w 23"/>
              <a:gd name="T13" fmla="*/ 2 h 30"/>
              <a:gd name="T14" fmla="*/ 14 w 23"/>
              <a:gd name="T15" fmla="*/ 0 h 30"/>
              <a:gd name="T16" fmla="*/ 12 w 23"/>
              <a:gd name="T17" fmla="*/ 0 h 30"/>
              <a:gd name="T18" fmla="*/ 10 w 23"/>
              <a:gd name="T19" fmla="*/ 0 h 30"/>
              <a:gd name="T20" fmla="*/ 9 w 23"/>
              <a:gd name="T21" fmla="*/ 0 h 30"/>
              <a:gd name="T22" fmla="*/ 7 w 23"/>
              <a:gd name="T23" fmla="*/ 2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3 w 23"/>
              <a:gd name="T45" fmla="*/ 26 h 30"/>
              <a:gd name="T46" fmla="*/ 4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8 h 30"/>
              <a:gd name="T62" fmla="*/ 19 w 23"/>
              <a:gd name="T63" fmla="*/ 26 h 30"/>
              <a:gd name="T64" fmla="*/ 21 w 23"/>
              <a:gd name="T65" fmla="*/ 25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3"/>
                </a:lnTo>
                <a:lnTo>
                  <a:pt x="23" y="11"/>
                </a:lnTo>
                <a:lnTo>
                  <a:pt x="22" y="10"/>
                </a:lnTo>
                <a:lnTo>
                  <a:pt x="21" y="9"/>
                </a:lnTo>
                <a:lnTo>
                  <a:pt x="21" y="8"/>
                </a:lnTo>
                <a:lnTo>
                  <a:pt x="21" y="7"/>
                </a:lnTo>
                <a:lnTo>
                  <a:pt x="20" y="6"/>
                </a:lnTo>
                <a:lnTo>
                  <a:pt x="19" y="5"/>
                </a:lnTo>
                <a:lnTo>
                  <a:pt x="19" y="4"/>
                </a:lnTo>
                <a:lnTo>
                  <a:pt x="18" y="3"/>
                </a:lnTo>
                <a:lnTo>
                  <a:pt x="17" y="2"/>
                </a:lnTo>
                <a:lnTo>
                  <a:pt x="15" y="0"/>
                </a:lnTo>
                <a:lnTo>
                  <a:pt x="14" y="0"/>
                </a:lnTo>
                <a:lnTo>
                  <a:pt x="13" y="0"/>
                </a:lnTo>
                <a:lnTo>
                  <a:pt x="12" y="0"/>
                </a:lnTo>
                <a:lnTo>
                  <a:pt x="11" y="0"/>
                </a:lnTo>
                <a:lnTo>
                  <a:pt x="10" y="0"/>
                </a:lnTo>
                <a:lnTo>
                  <a:pt x="9" y="0"/>
                </a:lnTo>
                <a:lnTo>
                  <a:pt x="8" y="0"/>
                </a:lnTo>
                <a:lnTo>
                  <a:pt x="7" y="2"/>
                </a:lnTo>
                <a:lnTo>
                  <a:pt x="6" y="2"/>
                </a:lnTo>
                <a:lnTo>
                  <a:pt x="4" y="3"/>
                </a:lnTo>
                <a:lnTo>
                  <a:pt x="3" y="4"/>
                </a:lnTo>
                <a:lnTo>
                  <a:pt x="3" y="5"/>
                </a:lnTo>
                <a:lnTo>
                  <a:pt x="2" y="6"/>
                </a:lnTo>
                <a:lnTo>
                  <a:pt x="1" y="7"/>
                </a:lnTo>
                <a:lnTo>
                  <a:pt x="1" y="8"/>
                </a:lnTo>
                <a:lnTo>
                  <a:pt x="1" y="9"/>
                </a:lnTo>
                <a:lnTo>
                  <a:pt x="0" y="10"/>
                </a:lnTo>
                <a:lnTo>
                  <a:pt x="0" y="11"/>
                </a:lnTo>
                <a:lnTo>
                  <a:pt x="0" y="13"/>
                </a:lnTo>
                <a:lnTo>
                  <a:pt x="0" y="14"/>
                </a:lnTo>
                <a:lnTo>
                  <a:pt x="0" y="15"/>
                </a:lnTo>
                <a:lnTo>
                  <a:pt x="0" y="17"/>
                </a:lnTo>
                <a:lnTo>
                  <a:pt x="0" y="18"/>
                </a:lnTo>
                <a:lnTo>
                  <a:pt x="0" y="19"/>
                </a:lnTo>
                <a:lnTo>
                  <a:pt x="0" y="20"/>
                </a:lnTo>
                <a:lnTo>
                  <a:pt x="1" y="22"/>
                </a:lnTo>
                <a:lnTo>
                  <a:pt x="1" y="23"/>
                </a:lnTo>
                <a:lnTo>
                  <a:pt x="1" y="25"/>
                </a:lnTo>
                <a:lnTo>
                  <a:pt x="2" y="25"/>
                </a:lnTo>
                <a:lnTo>
                  <a:pt x="3" y="26"/>
                </a:lnTo>
                <a:lnTo>
                  <a:pt x="3" y="27"/>
                </a:lnTo>
                <a:lnTo>
                  <a:pt x="4" y="28"/>
                </a:lnTo>
                <a:lnTo>
                  <a:pt x="6" y="29"/>
                </a:lnTo>
                <a:lnTo>
                  <a:pt x="7" y="29"/>
                </a:lnTo>
                <a:lnTo>
                  <a:pt x="8" y="30"/>
                </a:lnTo>
                <a:lnTo>
                  <a:pt x="9" y="30"/>
                </a:lnTo>
                <a:lnTo>
                  <a:pt x="10" y="30"/>
                </a:lnTo>
                <a:lnTo>
                  <a:pt x="11" y="30"/>
                </a:lnTo>
                <a:lnTo>
                  <a:pt x="12" y="30"/>
                </a:lnTo>
                <a:lnTo>
                  <a:pt x="13" y="30"/>
                </a:lnTo>
                <a:lnTo>
                  <a:pt x="14" y="30"/>
                </a:lnTo>
                <a:lnTo>
                  <a:pt x="15" y="30"/>
                </a:lnTo>
                <a:lnTo>
                  <a:pt x="17" y="29"/>
                </a:lnTo>
                <a:lnTo>
                  <a:pt x="18" y="28"/>
                </a:lnTo>
                <a:lnTo>
                  <a:pt x="19" y="27"/>
                </a:lnTo>
                <a:lnTo>
                  <a:pt x="19" y="26"/>
                </a:lnTo>
                <a:lnTo>
                  <a:pt x="20" y="25"/>
                </a:lnTo>
                <a:lnTo>
                  <a:pt x="21" y="25"/>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56" name="Line 663">
            <a:extLst>
              <a:ext uri="{FF2B5EF4-FFF2-40B4-BE49-F238E27FC236}">
                <a16:creationId xmlns:a16="http://schemas.microsoft.com/office/drawing/2014/main" id="{8CF05FB5-ACE3-EE41-8C32-0CE05D3C3EA7}"/>
              </a:ext>
            </a:extLst>
          </p:cNvPr>
          <p:cNvSpPr>
            <a:spLocks noChangeShapeType="1"/>
          </p:cNvSpPr>
          <p:nvPr/>
        </p:nvSpPr>
        <p:spPr bwMode="auto">
          <a:xfrm>
            <a:off x="3241675" y="5510214"/>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57" name="Line 664">
            <a:extLst>
              <a:ext uri="{FF2B5EF4-FFF2-40B4-BE49-F238E27FC236}">
                <a16:creationId xmlns:a16="http://schemas.microsoft.com/office/drawing/2014/main" id="{2CE58A96-A300-6444-B96B-A8020CF2C24E}"/>
              </a:ext>
            </a:extLst>
          </p:cNvPr>
          <p:cNvSpPr>
            <a:spLocks noChangeShapeType="1"/>
          </p:cNvSpPr>
          <p:nvPr/>
        </p:nvSpPr>
        <p:spPr bwMode="auto">
          <a:xfrm>
            <a:off x="3211513" y="5546725"/>
            <a:ext cx="61912"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58" name="Freeform 665">
            <a:extLst>
              <a:ext uri="{FF2B5EF4-FFF2-40B4-BE49-F238E27FC236}">
                <a16:creationId xmlns:a16="http://schemas.microsoft.com/office/drawing/2014/main" id="{CDD99C49-8F84-2147-AA9C-132DBAACC607}"/>
              </a:ext>
            </a:extLst>
          </p:cNvPr>
          <p:cNvSpPr>
            <a:spLocks/>
          </p:cNvSpPr>
          <p:nvPr/>
        </p:nvSpPr>
        <p:spPr bwMode="auto">
          <a:xfrm>
            <a:off x="6388100" y="1539876"/>
            <a:ext cx="325438" cy="341313"/>
          </a:xfrm>
          <a:custGeom>
            <a:avLst/>
            <a:gdLst>
              <a:gd name="T0" fmla="*/ 56 w 615"/>
              <a:gd name="T1" fmla="*/ 195 h 643"/>
              <a:gd name="T2" fmla="*/ 0 w 615"/>
              <a:gd name="T3" fmla="*/ 195 h 643"/>
              <a:gd name="T4" fmla="*/ 308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8"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59" name="Rectangle 666">
            <a:extLst>
              <a:ext uri="{FF2B5EF4-FFF2-40B4-BE49-F238E27FC236}">
                <a16:creationId xmlns:a16="http://schemas.microsoft.com/office/drawing/2014/main" id="{740413E6-BBF0-F44A-9213-648CA31549FB}"/>
              </a:ext>
            </a:extLst>
          </p:cNvPr>
          <p:cNvSpPr>
            <a:spLocks noChangeArrowheads="1"/>
          </p:cNvSpPr>
          <p:nvPr/>
        </p:nvSpPr>
        <p:spPr bwMode="auto">
          <a:xfrm>
            <a:off x="6419850" y="1643063"/>
            <a:ext cx="268288"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60" name="Rectangle 667">
            <a:extLst>
              <a:ext uri="{FF2B5EF4-FFF2-40B4-BE49-F238E27FC236}">
                <a16:creationId xmlns:a16="http://schemas.microsoft.com/office/drawing/2014/main" id="{4766967C-A0C5-7B40-9B59-6DE204DF8BA3}"/>
              </a:ext>
            </a:extLst>
          </p:cNvPr>
          <p:cNvSpPr>
            <a:spLocks noChangeArrowheads="1"/>
          </p:cNvSpPr>
          <p:nvPr/>
        </p:nvSpPr>
        <p:spPr bwMode="auto">
          <a:xfrm>
            <a:off x="6462713" y="1697039"/>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61" name="Rectangle 668">
            <a:extLst>
              <a:ext uri="{FF2B5EF4-FFF2-40B4-BE49-F238E27FC236}">
                <a16:creationId xmlns:a16="http://schemas.microsoft.com/office/drawing/2014/main" id="{EE746623-4398-AA48-B35A-8B7ED353D5C8}"/>
              </a:ext>
            </a:extLst>
          </p:cNvPr>
          <p:cNvSpPr>
            <a:spLocks noChangeArrowheads="1"/>
          </p:cNvSpPr>
          <p:nvPr/>
        </p:nvSpPr>
        <p:spPr bwMode="auto">
          <a:xfrm>
            <a:off x="6597650" y="1692276"/>
            <a:ext cx="63500"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62" name="Freeform 669">
            <a:extLst>
              <a:ext uri="{FF2B5EF4-FFF2-40B4-BE49-F238E27FC236}">
                <a16:creationId xmlns:a16="http://schemas.microsoft.com/office/drawing/2014/main" id="{73373503-FBF8-F449-B47B-6B07C74D7EF9}"/>
              </a:ext>
            </a:extLst>
          </p:cNvPr>
          <p:cNvSpPr>
            <a:spLocks/>
          </p:cNvSpPr>
          <p:nvPr/>
        </p:nvSpPr>
        <p:spPr bwMode="auto">
          <a:xfrm>
            <a:off x="6530975" y="1773239"/>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4 h 30"/>
              <a:gd name="T10" fmla="*/ 18 w 23"/>
              <a:gd name="T11" fmla="*/ 2 h 30"/>
              <a:gd name="T12" fmla="*/ 17 w 23"/>
              <a:gd name="T13" fmla="*/ 1 h 30"/>
              <a:gd name="T14" fmla="*/ 15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4 w 23"/>
              <a:gd name="T27" fmla="*/ 4 h 30"/>
              <a:gd name="T28" fmla="*/ 1 w 23"/>
              <a:gd name="T29" fmla="*/ 7 h 30"/>
              <a:gd name="T30" fmla="*/ 1 w 23"/>
              <a:gd name="T31" fmla="*/ 9 h 30"/>
              <a:gd name="T32" fmla="*/ 0 w 23"/>
              <a:gd name="T33" fmla="*/ 11 h 30"/>
              <a:gd name="T34" fmla="*/ 0 w 23"/>
              <a:gd name="T35" fmla="*/ 13 h 30"/>
              <a:gd name="T36" fmla="*/ 0 w 23"/>
              <a:gd name="T37" fmla="*/ 16 h 30"/>
              <a:gd name="T38" fmla="*/ 0 w 23"/>
              <a:gd name="T39" fmla="*/ 19 h 30"/>
              <a:gd name="T40" fmla="*/ 1 w 23"/>
              <a:gd name="T41" fmla="*/ 22 h 30"/>
              <a:gd name="T42" fmla="*/ 1 w 23"/>
              <a:gd name="T43" fmla="*/ 24 h 30"/>
              <a:gd name="T44" fmla="*/ 4 w 23"/>
              <a:gd name="T45" fmla="*/ 25 h 30"/>
              <a:gd name="T46" fmla="*/ 5 w 23"/>
              <a:gd name="T47" fmla="*/ 27 h 30"/>
              <a:gd name="T48" fmla="*/ 7 w 23"/>
              <a:gd name="T49" fmla="*/ 28 h 30"/>
              <a:gd name="T50" fmla="*/ 9 w 23"/>
              <a:gd name="T51" fmla="*/ 30 h 30"/>
              <a:gd name="T52" fmla="*/ 10 w 23"/>
              <a:gd name="T53" fmla="*/ 30 h 30"/>
              <a:gd name="T54" fmla="*/ 12 w 23"/>
              <a:gd name="T55" fmla="*/ 30 h 30"/>
              <a:gd name="T56" fmla="*/ 15 w 23"/>
              <a:gd name="T57" fmla="*/ 30 h 30"/>
              <a:gd name="T58" fmla="*/ 17 w 23"/>
              <a:gd name="T59" fmla="*/ 28 h 30"/>
              <a:gd name="T60" fmla="*/ 18 w 23"/>
              <a:gd name="T61" fmla="*/ 27 h 30"/>
              <a:gd name="T62" fmla="*/ 19 w 23"/>
              <a:gd name="T63" fmla="*/ 25 h 30"/>
              <a:gd name="T64" fmla="*/ 21 w 23"/>
              <a:gd name="T65" fmla="*/ 24 h 30"/>
              <a:gd name="T66" fmla="*/ 21 w 23"/>
              <a:gd name="T67" fmla="*/ 22 h 30"/>
              <a:gd name="T68" fmla="*/ 23 w 23"/>
              <a:gd name="T69" fmla="*/ 19 h 30"/>
              <a:gd name="T70" fmla="*/ 23 w 23"/>
              <a:gd name="T71" fmla="*/ 16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5"/>
                </a:lnTo>
                <a:lnTo>
                  <a:pt x="19" y="4"/>
                </a:lnTo>
                <a:lnTo>
                  <a:pt x="19" y="3"/>
                </a:lnTo>
                <a:lnTo>
                  <a:pt x="18" y="2"/>
                </a:lnTo>
                <a:lnTo>
                  <a:pt x="17" y="1"/>
                </a:lnTo>
                <a:lnTo>
                  <a:pt x="16" y="0"/>
                </a:lnTo>
                <a:lnTo>
                  <a:pt x="15" y="0"/>
                </a:lnTo>
                <a:lnTo>
                  <a:pt x="13" y="0"/>
                </a:lnTo>
                <a:lnTo>
                  <a:pt x="12" y="0"/>
                </a:lnTo>
                <a:lnTo>
                  <a:pt x="11" y="0"/>
                </a:lnTo>
                <a:lnTo>
                  <a:pt x="10" y="0"/>
                </a:lnTo>
                <a:lnTo>
                  <a:pt x="9" y="0"/>
                </a:lnTo>
                <a:lnTo>
                  <a:pt x="8" y="0"/>
                </a:lnTo>
                <a:lnTo>
                  <a:pt x="7" y="1"/>
                </a:lnTo>
                <a:lnTo>
                  <a:pt x="6" y="1"/>
                </a:lnTo>
                <a:lnTo>
                  <a:pt x="5" y="2"/>
                </a:lnTo>
                <a:lnTo>
                  <a:pt x="4" y="3"/>
                </a:lnTo>
                <a:lnTo>
                  <a:pt x="4" y="4"/>
                </a:lnTo>
                <a:lnTo>
                  <a:pt x="2" y="5"/>
                </a:lnTo>
                <a:lnTo>
                  <a:pt x="1" y="7"/>
                </a:lnTo>
                <a:lnTo>
                  <a:pt x="1" y="8"/>
                </a:lnTo>
                <a:lnTo>
                  <a:pt x="1" y="9"/>
                </a:lnTo>
                <a:lnTo>
                  <a:pt x="0" y="10"/>
                </a:lnTo>
                <a:lnTo>
                  <a:pt x="0" y="11"/>
                </a:lnTo>
                <a:lnTo>
                  <a:pt x="0" y="12"/>
                </a:lnTo>
                <a:lnTo>
                  <a:pt x="0" y="13"/>
                </a:lnTo>
                <a:lnTo>
                  <a:pt x="0" y="14"/>
                </a:lnTo>
                <a:lnTo>
                  <a:pt x="0" y="16"/>
                </a:lnTo>
                <a:lnTo>
                  <a:pt x="0" y="18"/>
                </a:lnTo>
                <a:lnTo>
                  <a:pt x="0" y="19"/>
                </a:lnTo>
                <a:lnTo>
                  <a:pt x="0" y="20"/>
                </a:lnTo>
                <a:lnTo>
                  <a:pt x="1" y="22"/>
                </a:lnTo>
                <a:lnTo>
                  <a:pt x="1" y="23"/>
                </a:lnTo>
                <a:lnTo>
                  <a:pt x="1" y="24"/>
                </a:lnTo>
                <a:lnTo>
                  <a:pt x="2" y="24"/>
                </a:lnTo>
                <a:lnTo>
                  <a:pt x="4" y="25"/>
                </a:lnTo>
                <a:lnTo>
                  <a:pt x="4" y="26"/>
                </a:lnTo>
                <a:lnTo>
                  <a:pt x="5" y="27"/>
                </a:lnTo>
                <a:lnTo>
                  <a:pt x="6" y="28"/>
                </a:lnTo>
                <a:lnTo>
                  <a:pt x="7" y="28"/>
                </a:lnTo>
                <a:lnTo>
                  <a:pt x="8" y="30"/>
                </a:lnTo>
                <a:lnTo>
                  <a:pt x="9" y="30"/>
                </a:lnTo>
                <a:lnTo>
                  <a:pt x="10" y="30"/>
                </a:lnTo>
                <a:lnTo>
                  <a:pt x="11" y="30"/>
                </a:lnTo>
                <a:lnTo>
                  <a:pt x="12" y="30"/>
                </a:lnTo>
                <a:lnTo>
                  <a:pt x="13" y="30"/>
                </a:lnTo>
                <a:lnTo>
                  <a:pt x="15" y="30"/>
                </a:lnTo>
                <a:lnTo>
                  <a:pt x="16" y="30"/>
                </a:lnTo>
                <a:lnTo>
                  <a:pt x="17" y="28"/>
                </a:lnTo>
                <a:lnTo>
                  <a:pt x="18" y="27"/>
                </a:lnTo>
                <a:lnTo>
                  <a:pt x="19" y="26"/>
                </a:lnTo>
                <a:lnTo>
                  <a:pt x="19" y="25"/>
                </a:lnTo>
                <a:lnTo>
                  <a:pt x="20" y="24"/>
                </a:lnTo>
                <a:lnTo>
                  <a:pt x="21" y="24"/>
                </a:lnTo>
                <a:lnTo>
                  <a:pt x="21" y="23"/>
                </a:lnTo>
                <a:lnTo>
                  <a:pt x="21" y="22"/>
                </a:lnTo>
                <a:lnTo>
                  <a:pt x="22" y="20"/>
                </a:lnTo>
                <a:lnTo>
                  <a:pt x="23" y="19"/>
                </a:lnTo>
                <a:lnTo>
                  <a:pt x="23" y="18"/>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63" name="Line 670">
            <a:extLst>
              <a:ext uri="{FF2B5EF4-FFF2-40B4-BE49-F238E27FC236}">
                <a16:creationId xmlns:a16="http://schemas.microsoft.com/office/drawing/2014/main" id="{A5E5A1E4-23B5-8D44-AE75-F16B0A27B129}"/>
              </a:ext>
            </a:extLst>
          </p:cNvPr>
          <p:cNvSpPr>
            <a:spLocks noChangeShapeType="1"/>
          </p:cNvSpPr>
          <p:nvPr/>
        </p:nvSpPr>
        <p:spPr bwMode="auto">
          <a:xfrm>
            <a:off x="6629400" y="1692276"/>
            <a:ext cx="1588" cy="80963"/>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64" name="Line 671">
            <a:extLst>
              <a:ext uri="{FF2B5EF4-FFF2-40B4-BE49-F238E27FC236}">
                <a16:creationId xmlns:a16="http://schemas.microsoft.com/office/drawing/2014/main" id="{DDABBD42-2133-EE44-B6EF-B88FBB76A8BF}"/>
              </a:ext>
            </a:extLst>
          </p:cNvPr>
          <p:cNvSpPr>
            <a:spLocks noChangeShapeType="1"/>
          </p:cNvSpPr>
          <p:nvPr/>
        </p:nvSpPr>
        <p:spPr bwMode="auto">
          <a:xfrm>
            <a:off x="6597651" y="1730375"/>
            <a:ext cx="61913"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65" name="Freeform 672">
            <a:extLst>
              <a:ext uri="{FF2B5EF4-FFF2-40B4-BE49-F238E27FC236}">
                <a16:creationId xmlns:a16="http://schemas.microsoft.com/office/drawing/2014/main" id="{A89D8CB2-F6BD-B14A-B415-4D1818E51503}"/>
              </a:ext>
            </a:extLst>
          </p:cNvPr>
          <p:cNvSpPr>
            <a:spLocks/>
          </p:cNvSpPr>
          <p:nvPr/>
        </p:nvSpPr>
        <p:spPr bwMode="auto">
          <a:xfrm>
            <a:off x="9801225" y="1577976"/>
            <a:ext cx="323850" cy="341313"/>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66" name="Rectangle 673">
            <a:extLst>
              <a:ext uri="{FF2B5EF4-FFF2-40B4-BE49-F238E27FC236}">
                <a16:creationId xmlns:a16="http://schemas.microsoft.com/office/drawing/2014/main" id="{CB8556A2-CA27-C645-A7C1-A97D44AB91B3}"/>
              </a:ext>
            </a:extLst>
          </p:cNvPr>
          <p:cNvSpPr>
            <a:spLocks noChangeArrowheads="1"/>
          </p:cNvSpPr>
          <p:nvPr/>
        </p:nvSpPr>
        <p:spPr bwMode="auto">
          <a:xfrm>
            <a:off x="9831389" y="1682751"/>
            <a:ext cx="268287"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67" name="Rectangle 674">
            <a:extLst>
              <a:ext uri="{FF2B5EF4-FFF2-40B4-BE49-F238E27FC236}">
                <a16:creationId xmlns:a16="http://schemas.microsoft.com/office/drawing/2014/main" id="{55E194AE-12E5-6140-985B-FBA207B930B1}"/>
              </a:ext>
            </a:extLst>
          </p:cNvPr>
          <p:cNvSpPr>
            <a:spLocks noChangeArrowheads="1"/>
          </p:cNvSpPr>
          <p:nvPr/>
        </p:nvSpPr>
        <p:spPr bwMode="auto">
          <a:xfrm>
            <a:off x="9874251" y="1735139"/>
            <a:ext cx="93663"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68" name="Rectangle 675">
            <a:extLst>
              <a:ext uri="{FF2B5EF4-FFF2-40B4-BE49-F238E27FC236}">
                <a16:creationId xmlns:a16="http://schemas.microsoft.com/office/drawing/2014/main" id="{F5836381-6852-494A-94AE-DF765D986BBB}"/>
              </a:ext>
            </a:extLst>
          </p:cNvPr>
          <p:cNvSpPr>
            <a:spLocks noChangeArrowheads="1"/>
          </p:cNvSpPr>
          <p:nvPr/>
        </p:nvSpPr>
        <p:spPr bwMode="auto">
          <a:xfrm>
            <a:off x="10009189" y="1730376"/>
            <a:ext cx="65087"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69" name="Freeform 676">
            <a:extLst>
              <a:ext uri="{FF2B5EF4-FFF2-40B4-BE49-F238E27FC236}">
                <a16:creationId xmlns:a16="http://schemas.microsoft.com/office/drawing/2014/main" id="{D67E3DE5-3C3E-EA4F-8E03-46BB29A2F977}"/>
              </a:ext>
            </a:extLst>
          </p:cNvPr>
          <p:cNvSpPr>
            <a:spLocks/>
          </p:cNvSpPr>
          <p:nvPr/>
        </p:nvSpPr>
        <p:spPr bwMode="auto">
          <a:xfrm>
            <a:off x="9942513" y="1811339"/>
            <a:ext cx="12700" cy="15875"/>
          </a:xfrm>
          <a:custGeom>
            <a:avLst/>
            <a:gdLst>
              <a:gd name="T0" fmla="*/ 23 w 23"/>
              <a:gd name="T1" fmla="*/ 14 h 30"/>
              <a:gd name="T2" fmla="*/ 23 w 23"/>
              <a:gd name="T3" fmla="*/ 11 h 30"/>
              <a:gd name="T4" fmla="*/ 21 w 23"/>
              <a:gd name="T5" fmla="*/ 9 h 30"/>
              <a:gd name="T6" fmla="*/ 21 w 23"/>
              <a:gd name="T7" fmla="*/ 7 h 30"/>
              <a:gd name="T8" fmla="*/ 18 w 23"/>
              <a:gd name="T9" fmla="*/ 5 h 30"/>
              <a:gd name="T10" fmla="*/ 17 w 23"/>
              <a:gd name="T11" fmla="*/ 3 h 30"/>
              <a:gd name="T12" fmla="*/ 16 w 23"/>
              <a:gd name="T13" fmla="*/ 1 h 30"/>
              <a:gd name="T14" fmla="*/ 14 w 23"/>
              <a:gd name="T15" fmla="*/ 0 h 30"/>
              <a:gd name="T16" fmla="*/ 12 w 23"/>
              <a:gd name="T17" fmla="*/ 0 h 30"/>
              <a:gd name="T18" fmla="*/ 10 w 23"/>
              <a:gd name="T19" fmla="*/ 0 h 30"/>
              <a:gd name="T20" fmla="*/ 9 w 23"/>
              <a:gd name="T21" fmla="*/ 0 h 30"/>
              <a:gd name="T22" fmla="*/ 6 w 23"/>
              <a:gd name="T23" fmla="*/ 1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5 h 30"/>
              <a:gd name="T44" fmla="*/ 3 w 23"/>
              <a:gd name="T45" fmla="*/ 26 h 30"/>
              <a:gd name="T46" fmla="*/ 4 w 23"/>
              <a:gd name="T47" fmla="*/ 28 h 30"/>
              <a:gd name="T48" fmla="*/ 6 w 23"/>
              <a:gd name="T49" fmla="*/ 29 h 30"/>
              <a:gd name="T50" fmla="*/ 9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1 w 23"/>
              <a:gd name="T65" fmla="*/ 25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20" y="6"/>
                </a:lnTo>
                <a:lnTo>
                  <a:pt x="18" y="5"/>
                </a:lnTo>
                <a:lnTo>
                  <a:pt x="18" y="4"/>
                </a:lnTo>
                <a:lnTo>
                  <a:pt x="17" y="3"/>
                </a:lnTo>
                <a:lnTo>
                  <a:pt x="16" y="1"/>
                </a:lnTo>
                <a:lnTo>
                  <a:pt x="15" y="0"/>
                </a:lnTo>
                <a:lnTo>
                  <a:pt x="14" y="0"/>
                </a:lnTo>
                <a:lnTo>
                  <a:pt x="13" y="0"/>
                </a:lnTo>
                <a:lnTo>
                  <a:pt x="12" y="0"/>
                </a:lnTo>
                <a:lnTo>
                  <a:pt x="11" y="0"/>
                </a:lnTo>
                <a:lnTo>
                  <a:pt x="10" y="0"/>
                </a:lnTo>
                <a:lnTo>
                  <a:pt x="9" y="0"/>
                </a:lnTo>
                <a:lnTo>
                  <a:pt x="7" y="0"/>
                </a:lnTo>
                <a:lnTo>
                  <a:pt x="6" y="1"/>
                </a:lnTo>
                <a:lnTo>
                  <a:pt x="5" y="1"/>
                </a:lnTo>
                <a:lnTo>
                  <a:pt x="4"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5"/>
                </a:lnTo>
                <a:lnTo>
                  <a:pt x="2" y="25"/>
                </a:lnTo>
                <a:lnTo>
                  <a:pt x="3" y="26"/>
                </a:lnTo>
                <a:lnTo>
                  <a:pt x="3" y="27"/>
                </a:lnTo>
                <a:lnTo>
                  <a:pt x="4" y="28"/>
                </a:lnTo>
                <a:lnTo>
                  <a:pt x="5" y="29"/>
                </a:lnTo>
                <a:lnTo>
                  <a:pt x="6" y="29"/>
                </a:lnTo>
                <a:lnTo>
                  <a:pt x="7" y="30"/>
                </a:lnTo>
                <a:lnTo>
                  <a:pt x="9" y="30"/>
                </a:lnTo>
                <a:lnTo>
                  <a:pt x="10" y="30"/>
                </a:lnTo>
                <a:lnTo>
                  <a:pt x="11" y="30"/>
                </a:lnTo>
                <a:lnTo>
                  <a:pt x="12" y="30"/>
                </a:lnTo>
                <a:lnTo>
                  <a:pt x="13" y="30"/>
                </a:lnTo>
                <a:lnTo>
                  <a:pt x="14" y="30"/>
                </a:lnTo>
                <a:lnTo>
                  <a:pt x="15" y="30"/>
                </a:lnTo>
                <a:lnTo>
                  <a:pt x="16" y="29"/>
                </a:lnTo>
                <a:lnTo>
                  <a:pt x="17" y="28"/>
                </a:lnTo>
                <a:lnTo>
                  <a:pt x="18" y="27"/>
                </a:lnTo>
                <a:lnTo>
                  <a:pt x="18" y="26"/>
                </a:lnTo>
                <a:lnTo>
                  <a:pt x="20" y="25"/>
                </a:lnTo>
                <a:lnTo>
                  <a:pt x="21" y="25"/>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70" name="Line 677">
            <a:extLst>
              <a:ext uri="{FF2B5EF4-FFF2-40B4-BE49-F238E27FC236}">
                <a16:creationId xmlns:a16="http://schemas.microsoft.com/office/drawing/2014/main" id="{4315F3EE-09EE-B447-82A8-57D41E0F9878}"/>
              </a:ext>
            </a:extLst>
          </p:cNvPr>
          <p:cNvSpPr>
            <a:spLocks noChangeShapeType="1"/>
          </p:cNvSpPr>
          <p:nvPr/>
        </p:nvSpPr>
        <p:spPr bwMode="auto">
          <a:xfrm>
            <a:off x="10040939" y="1731964"/>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71" name="Line 678">
            <a:extLst>
              <a:ext uri="{FF2B5EF4-FFF2-40B4-BE49-F238E27FC236}">
                <a16:creationId xmlns:a16="http://schemas.microsoft.com/office/drawing/2014/main" id="{64C8ED98-605F-9444-A009-94C62303DF34}"/>
              </a:ext>
            </a:extLst>
          </p:cNvPr>
          <p:cNvSpPr>
            <a:spLocks noChangeShapeType="1"/>
          </p:cNvSpPr>
          <p:nvPr/>
        </p:nvSpPr>
        <p:spPr bwMode="auto">
          <a:xfrm>
            <a:off x="10210801" y="2286000"/>
            <a:ext cx="61913"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72" name="Freeform 679">
            <a:extLst>
              <a:ext uri="{FF2B5EF4-FFF2-40B4-BE49-F238E27FC236}">
                <a16:creationId xmlns:a16="http://schemas.microsoft.com/office/drawing/2014/main" id="{5503B79A-6F04-1E42-BA2C-C397524B6301}"/>
              </a:ext>
            </a:extLst>
          </p:cNvPr>
          <p:cNvSpPr>
            <a:spLocks/>
          </p:cNvSpPr>
          <p:nvPr/>
        </p:nvSpPr>
        <p:spPr bwMode="auto">
          <a:xfrm>
            <a:off x="9623425" y="3335339"/>
            <a:ext cx="325438" cy="339725"/>
          </a:xfrm>
          <a:custGeom>
            <a:avLst/>
            <a:gdLst>
              <a:gd name="T0" fmla="*/ 56 w 615"/>
              <a:gd name="T1" fmla="*/ 195 h 643"/>
              <a:gd name="T2" fmla="*/ 0 w 615"/>
              <a:gd name="T3" fmla="*/ 195 h 643"/>
              <a:gd name="T4" fmla="*/ 308 w 615"/>
              <a:gd name="T5" fmla="*/ 0 h 643"/>
              <a:gd name="T6" fmla="*/ 615 w 615"/>
              <a:gd name="T7" fmla="*/ 195 h 643"/>
              <a:gd name="T8" fmla="*/ 587 w 615"/>
              <a:gd name="T9" fmla="*/ 195 h 643"/>
              <a:gd name="T10" fmla="*/ 559 w 615"/>
              <a:gd name="T11" fmla="*/ 195 h 643"/>
              <a:gd name="T12" fmla="*/ 559 w 615"/>
              <a:gd name="T13" fmla="*/ 614 h 643"/>
              <a:gd name="T14" fmla="*/ 56 w 615"/>
              <a:gd name="T15" fmla="*/ 614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4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8" y="0"/>
                </a:lnTo>
                <a:lnTo>
                  <a:pt x="615" y="195"/>
                </a:lnTo>
                <a:lnTo>
                  <a:pt x="587" y="195"/>
                </a:lnTo>
                <a:lnTo>
                  <a:pt x="559" y="195"/>
                </a:lnTo>
                <a:lnTo>
                  <a:pt x="559" y="614"/>
                </a:lnTo>
                <a:lnTo>
                  <a:pt x="56" y="614"/>
                </a:lnTo>
                <a:lnTo>
                  <a:pt x="56" y="195"/>
                </a:lnTo>
                <a:lnTo>
                  <a:pt x="559"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73" name="Rectangle 680">
            <a:extLst>
              <a:ext uri="{FF2B5EF4-FFF2-40B4-BE49-F238E27FC236}">
                <a16:creationId xmlns:a16="http://schemas.microsoft.com/office/drawing/2014/main" id="{15B0947C-72D7-964F-986D-0CC3A32B611F}"/>
              </a:ext>
            </a:extLst>
          </p:cNvPr>
          <p:cNvSpPr>
            <a:spLocks noChangeArrowheads="1"/>
          </p:cNvSpPr>
          <p:nvPr/>
        </p:nvSpPr>
        <p:spPr bwMode="auto">
          <a:xfrm>
            <a:off x="9653589" y="3438526"/>
            <a:ext cx="268287"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74" name="Rectangle 681">
            <a:extLst>
              <a:ext uri="{FF2B5EF4-FFF2-40B4-BE49-F238E27FC236}">
                <a16:creationId xmlns:a16="http://schemas.microsoft.com/office/drawing/2014/main" id="{0E7D899B-FFA4-DC4C-B497-00CF0506B62C}"/>
              </a:ext>
            </a:extLst>
          </p:cNvPr>
          <p:cNvSpPr>
            <a:spLocks noChangeArrowheads="1"/>
          </p:cNvSpPr>
          <p:nvPr/>
        </p:nvSpPr>
        <p:spPr bwMode="auto">
          <a:xfrm>
            <a:off x="9696451" y="3490914"/>
            <a:ext cx="93663"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75" name="Rectangle 682">
            <a:extLst>
              <a:ext uri="{FF2B5EF4-FFF2-40B4-BE49-F238E27FC236}">
                <a16:creationId xmlns:a16="http://schemas.microsoft.com/office/drawing/2014/main" id="{3AC1FCCB-4FC9-BC4B-A89F-7722102107FE}"/>
              </a:ext>
            </a:extLst>
          </p:cNvPr>
          <p:cNvSpPr>
            <a:spLocks noChangeArrowheads="1"/>
          </p:cNvSpPr>
          <p:nvPr/>
        </p:nvSpPr>
        <p:spPr bwMode="auto">
          <a:xfrm>
            <a:off x="9831389" y="3486151"/>
            <a:ext cx="65087"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76" name="Freeform 683">
            <a:extLst>
              <a:ext uri="{FF2B5EF4-FFF2-40B4-BE49-F238E27FC236}">
                <a16:creationId xmlns:a16="http://schemas.microsoft.com/office/drawing/2014/main" id="{8557A8B0-3E4C-DD45-8039-928E7A7CAD39}"/>
              </a:ext>
            </a:extLst>
          </p:cNvPr>
          <p:cNvSpPr>
            <a:spLocks/>
          </p:cNvSpPr>
          <p:nvPr/>
        </p:nvSpPr>
        <p:spPr bwMode="auto">
          <a:xfrm>
            <a:off x="9766301" y="3568701"/>
            <a:ext cx="11113" cy="15875"/>
          </a:xfrm>
          <a:custGeom>
            <a:avLst/>
            <a:gdLst>
              <a:gd name="T0" fmla="*/ 23 w 23"/>
              <a:gd name="T1" fmla="*/ 13 h 30"/>
              <a:gd name="T2" fmla="*/ 23 w 23"/>
              <a:gd name="T3" fmla="*/ 11 h 30"/>
              <a:gd name="T4" fmla="*/ 21 w 23"/>
              <a:gd name="T5" fmla="*/ 9 h 30"/>
              <a:gd name="T6" fmla="*/ 21 w 23"/>
              <a:gd name="T7" fmla="*/ 7 h 30"/>
              <a:gd name="T8" fmla="*/ 19 w 23"/>
              <a:gd name="T9" fmla="*/ 4 h 30"/>
              <a:gd name="T10" fmla="*/ 18 w 23"/>
              <a:gd name="T11" fmla="*/ 2 h 30"/>
              <a:gd name="T12" fmla="*/ 17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3 w 23"/>
              <a:gd name="T27" fmla="*/ 4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5 h 30"/>
              <a:gd name="T46" fmla="*/ 5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8 h 30"/>
              <a:gd name="T62" fmla="*/ 19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6"/>
                </a:lnTo>
                <a:lnTo>
                  <a:pt x="19" y="4"/>
                </a:lnTo>
                <a:lnTo>
                  <a:pt x="19" y="3"/>
                </a:lnTo>
                <a:lnTo>
                  <a:pt x="18" y="2"/>
                </a:lnTo>
                <a:lnTo>
                  <a:pt x="17" y="1"/>
                </a:lnTo>
                <a:lnTo>
                  <a:pt x="16" y="0"/>
                </a:lnTo>
                <a:lnTo>
                  <a:pt x="14" y="0"/>
                </a:lnTo>
                <a:lnTo>
                  <a:pt x="13" y="0"/>
                </a:lnTo>
                <a:lnTo>
                  <a:pt x="12" y="0"/>
                </a:lnTo>
                <a:lnTo>
                  <a:pt x="11" y="0"/>
                </a:lnTo>
                <a:lnTo>
                  <a:pt x="10" y="0"/>
                </a:lnTo>
                <a:lnTo>
                  <a:pt x="9" y="0"/>
                </a:lnTo>
                <a:lnTo>
                  <a:pt x="8" y="0"/>
                </a:lnTo>
                <a:lnTo>
                  <a:pt x="7" y="1"/>
                </a:lnTo>
                <a:lnTo>
                  <a:pt x="6" y="1"/>
                </a:lnTo>
                <a:lnTo>
                  <a:pt x="5" y="2"/>
                </a:lnTo>
                <a:lnTo>
                  <a:pt x="3" y="3"/>
                </a:lnTo>
                <a:lnTo>
                  <a:pt x="3" y="4"/>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3" y="25"/>
                </a:lnTo>
                <a:lnTo>
                  <a:pt x="3" y="26"/>
                </a:lnTo>
                <a:lnTo>
                  <a:pt x="5" y="28"/>
                </a:lnTo>
                <a:lnTo>
                  <a:pt x="6" y="29"/>
                </a:lnTo>
                <a:lnTo>
                  <a:pt x="7" y="29"/>
                </a:lnTo>
                <a:lnTo>
                  <a:pt x="8" y="30"/>
                </a:lnTo>
                <a:lnTo>
                  <a:pt x="9" y="30"/>
                </a:lnTo>
                <a:lnTo>
                  <a:pt x="10" y="30"/>
                </a:lnTo>
                <a:lnTo>
                  <a:pt x="11" y="30"/>
                </a:lnTo>
                <a:lnTo>
                  <a:pt x="12" y="30"/>
                </a:lnTo>
                <a:lnTo>
                  <a:pt x="13" y="30"/>
                </a:lnTo>
                <a:lnTo>
                  <a:pt x="14" y="30"/>
                </a:lnTo>
                <a:lnTo>
                  <a:pt x="16" y="30"/>
                </a:lnTo>
                <a:lnTo>
                  <a:pt x="17" y="29"/>
                </a:lnTo>
                <a:lnTo>
                  <a:pt x="18" y="28"/>
                </a:lnTo>
                <a:lnTo>
                  <a:pt x="19" y="26"/>
                </a:lnTo>
                <a:lnTo>
                  <a:pt x="19" y="25"/>
                </a:lnTo>
                <a:lnTo>
                  <a:pt x="20"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77" name="Line 684">
            <a:extLst>
              <a:ext uri="{FF2B5EF4-FFF2-40B4-BE49-F238E27FC236}">
                <a16:creationId xmlns:a16="http://schemas.microsoft.com/office/drawing/2014/main" id="{DF1513D1-B832-724C-8DE0-BAF48C50A622}"/>
              </a:ext>
            </a:extLst>
          </p:cNvPr>
          <p:cNvSpPr>
            <a:spLocks noChangeShapeType="1"/>
          </p:cNvSpPr>
          <p:nvPr/>
        </p:nvSpPr>
        <p:spPr bwMode="auto">
          <a:xfrm>
            <a:off x="9863139" y="348773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78" name="Line 685">
            <a:extLst>
              <a:ext uri="{FF2B5EF4-FFF2-40B4-BE49-F238E27FC236}">
                <a16:creationId xmlns:a16="http://schemas.microsoft.com/office/drawing/2014/main" id="{3C8FCA6F-0219-4045-AAA8-ADBCDD719835}"/>
              </a:ext>
            </a:extLst>
          </p:cNvPr>
          <p:cNvSpPr>
            <a:spLocks noChangeShapeType="1"/>
          </p:cNvSpPr>
          <p:nvPr/>
        </p:nvSpPr>
        <p:spPr bwMode="auto">
          <a:xfrm>
            <a:off x="9831388" y="3525839"/>
            <a:ext cx="63500"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79" name="Freeform 686">
            <a:extLst>
              <a:ext uri="{FF2B5EF4-FFF2-40B4-BE49-F238E27FC236}">
                <a16:creationId xmlns:a16="http://schemas.microsoft.com/office/drawing/2014/main" id="{4AE2CA98-4062-EF45-94FB-462F0F6C66FF}"/>
              </a:ext>
            </a:extLst>
          </p:cNvPr>
          <p:cNvSpPr>
            <a:spLocks/>
          </p:cNvSpPr>
          <p:nvPr/>
        </p:nvSpPr>
        <p:spPr bwMode="auto">
          <a:xfrm>
            <a:off x="9534525" y="1970089"/>
            <a:ext cx="325438" cy="339725"/>
          </a:xfrm>
          <a:custGeom>
            <a:avLst/>
            <a:gdLst>
              <a:gd name="T0" fmla="*/ 55 w 614"/>
              <a:gd name="T1" fmla="*/ 195 h 643"/>
              <a:gd name="T2" fmla="*/ 0 w 614"/>
              <a:gd name="T3" fmla="*/ 195 h 643"/>
              <a:gd name="T4" fmla="*/ 307 w 614"/>
              <a:gd name="T5" fmla="*/ 0 h 643"/>
              <a:gd name="T6" fmla="*/ 614 w 614"/>
              <a:gd name="T7" fmla="*/ 195 h 643"/>
              <a:gd name="T8" fmla="*/ 586 w 614"/>
              <a:gd name="T9" fmla="*/ 195 h 643"/>
              <a:gd name="T10" fmla="*/ 558 w 614"/>
              <a:gd name="T11" fmla="*/ 195 h 643"/>
              <a:gd name="T12" fmla="*/ 558 w 614"/>
              <a:gd name="T13" fmla="*/ 614 h 643"/>
              <a:gd name="T14" fmla="*/ 55 w 614"/>
              <a:gd name="T15" fmla="*/ 614 h 643"/>
              <a:gd name="T16" fmla="*/ 55 w 614"/>
              <a:gd name="T17" fmla="*/ 195 h 643"/>
              <a:gd name="T18" fmla="*/ 558 w 614"/>
              <a:gd name="T19" fmla="*/ 195 h 643"/>
              <a:gd name="T20" fmla="*/ 586 w 614"/>
              <a:gd name="T21" fmla="*/ 195 h 643"/>
              <a:gd name="T22" fmla="*/ 586 w 614"/>
              <a:gd name="T23" fmla="*/ 643 h 643"/>
              <a:gd name="T24" fmla="*/ 55 w 614"/>
              <a:gd name="T25" fmla="*/ 643 h 643"/>
              <a:gd name="T26" fmla="*/ 55 w 614"/>
              <a:gd name="T27" fmla="*/ 614 h 643"/>
              <a:gd name="T28" fmla="*/ 55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5" y="195"/>
                </a:moveTo>
                <a:lnTo>
                  <a:pt x="0" y="195"/>
                </a:lnTo>
                <a:lnTo>
                  <a:pt x="307" y="0"/>
                </a:lnTo>
                <a:lnTo>
                  <a:pt x="614" y="195"/>
                </a:lnTo>
                <a:lnTo>
                  <a:pt x="586" y="195"/>
                </a:lnTo>
                <a:lnTo>
                  <a:pt x="558" y="195"/>
                </a:lnTo>
                <a:lnTo>
                  <a:pt x="558" y="614"/>
                </a:lnTo>
                <a:lnTo>
                  <a:pt x="55" y="614"/>
                </a:lnTo>
                <a:lnTo>
                  <a:pt x="55" y="195"/>
                </a:lnTo>
                <a:lnTo>
                  <a:pt x="558" y="195"/>
                </a:lnTo>
                <a:lnTo>
                  <a:pt x="586" y="195"/>
                </a:lnTo>
                <a:lnTo>
                  <a:pt x="586" y="643"/>
                </a:lnTo>
                <a:lnTo>
                  <a:pt x="55" y="643"/>
                </a:lnTo>
                <a:lnTo>
                  <a:pt x="55" y="614"/>
                </a:lnTo>
                <a:lnTo>
                  <a:pt x="55"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80" name="Rectangle 687">
            <a:extLst>
              <a:ext uri="{FF2B5EF4-FFF2-40B4-BE49-F238E27FC236}">
                <a16:creationId xmlns:a16="http://schemas.microsoft.com/office/drawing/2014/main" id="{FB714BD7-3B94-A249-BF72-506E06BD29C8}"/>
              </a:ext>
            </a:extLst>
          </p:cNvPr>
          <p:cNvSpPr>
            <a:spLocks noChangeArrowheads="1"/>
          </p:cNvSpPr>
          <p:nvPr/>
        </p:nvSpPr>
        <p:spPr bwMode="auto">
          <a:xfrm>
            <a:off x="9564689" y="2073276"/>
            <a:ext cx="269875"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81" name="Rectangle 688">
            <a:extLst>
              <a:ext uri="{FF2B5EF4-FFF2-40B4-BE49-F238E27FC236}">
                <a16:creationId xmlns:a16="http://schemas.microsoft.com/office/drawing/2014/main" id="{6D783782-F717-9C4B-96A9-90FC78F8D6CB}"/>
              </a:ext>
            </a:extLst>
          </p:cNvPr>
          <p:cNvSpPr>
            <a:spLocks noChangeArrowheads="1"/>
          </p:cNvSpPr>
          <p:nvPr/>
        </p:nvSpPr>
        <p:spPr bwMode="auto">
          <a:xfrm>
            <a:off x="9607551" y="2125664"/>
            <a:ext cx="93663"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82" name="Rectangle 689">
            <a:extLst>
              <a:ext uri="{FF2B5EF4-FFF2-40B4-BE49-F238E27FC236}">
                <a16:creationId xmlns:a16="http://schemas.microsoft.com/office/drawing/2014/main" id="{1DEA43C9-942B-9B4A-BC6C-20CDB8233309}"/>
              </a:ext>
            </a:extLst>
          </p:cNvPr>
          <p:cNvSpPr>
            <a:spLocks noChangeArrowheads="1"/>
          </p:cNvSpPr>
          <p:nvPr/>
        </p:nvSpPr>
        <p:spPr bwMode="auto">
          <a:xfrm>
            <a:off x="9742489" y="2122489"/>
            <a:ext cx="65087"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83" name="Freeform 690">
            <a:extLst>
              <a:ext uri="{FF2B5EF4-FFF2-40B4-BE49-F238E27FC236}">
                <a16:creationId xmlns:a16="http://schemas.microsoft.com/office/drawing/2014/main" id="{7E1BF346-41A4-334B-939A-F72B6B2A2285}"/>
              </a:ext>
            </a:extLst>
          </p:cNvPr>
          <p:cNvSpPr>
            <a:spLocks/>
          </p:cNvSpPr>
          <p:nvPr/>
        </p:nvSpPr>
        <p:spPr bwMode="auto">
          <a:xfrm>
            <a:off x="9677401" y="2203451"/>
            <a:ext cx="11113" cy="15875"/>
          </a:xfrm>
          <a:custGeom>
            <a:avLst/>
            <a:gdLst>
              <a:gd name="T0" fmla="*/ 23 w 23"/>
              <a:gd name="T1" fmla="*/ 13 h 30"/>
              <a:gd name="T2" fmla="*/ 23 w 23"/>
              <a:gd name="T3" fmla="*/ 11 h 30"/>
              <a:gd name="T4" fmla="*/ 21 w 23"/>
              <a:gd name="T5" fmla="*/ 9 h 30"/>
              <a:gd name="T6" fmla="*/ 21 w 23"/>
              <a:gd name="T7" fmla="*/ 7 h 30"/>
              <a:gd name="T8" fmla="*/ 19 w 23"/>
              <a:gd name="T9" fmla="*/ 4 h 30"/>
              <a:gd name="T10" fmla="*/ 18 w 23"/>
              <a:gd name="T11" fmla="*/ 2 h 30"/>
              <a:gd name="T12" fmla="*/ 17 w 23"/>
              <a:gd name="T13" fmla="*/ 1 h 30"/>
              <a:gd name="T14" fmla="*/ 15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4 w 23"/>
              <a:gd name="T27" fmla="*/ 4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4 w 23"/>
              <a:gd name="T45" fmla="*/ 25 h 30"/>
              <a:gd name="T46" fmla="*/ 5 w 23"/>
              <a:gd name="T47" fmla="*/ 28 h 30"/>
              <a:gd name="T48" fmla="*/ 7 w 23"/>
              <a:gd name="T49" fmla="*/ 29 h 30"/>
              <a:gd name="T50" fmla="*/ 9 w 23"/>
              <a:gd name="T51" fmla="*/ 30 h 30"/>
              <a:gd name="T52" fmla="*/ 10 w 23"/>
              <a:gd name="T53" fmla="*/ 30 h 30"/>
              <a:gd name="T54" fmla="*/ 12 w 23"/>
              <a:gd name="T55" fmla="*/ 30 h 30"/>
              <a:gd name="T56" fmla="*/ 15 w 23"/>
              <a:gd name="T57" fmla="*/ 30 h 30"/>
              <a:gd name="T58" fmla="*/ 17 w 23"/>
              <a:gd name="T59" fmla="*/ 29 h 30"/>
              <a:gd name="T60" fmla="*/ 18 w 23"/>
              <a:gd name="T61" fmla="*/ 28 h 30"/>
              <a:gd name="T62" fmla="*/ 19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6"/>
                </a:lnTo>
                <a:lnTo>
                  <a:pt x="19" y="4"/>
                </a:lnTo>
                <a:lnTo>
                  <a:pt x="19" y="3"/>
                </a:lnTo>
                <a:lnTo>
                  <a:pt x="18" y="2"/>
                </a:lnTo>
                <a:lnTo>
                  <a:pt x="17" y="1"/>
                </a:lnTo>
                <a:lnTo>
                  <a:pt x="16" y="0"/>
                </a:lnTo>
                <a:lnTo>
                  <a:pt x="15" y="0"/>
                </a:lnTo>
                <a:lnTo>
                  <a:pt x="13" y="0"/>
                </a:lnTo>
                <a:lnTo>
                  <a:pt x="12" y="0"/>
                </a:lnTo>
                <a:lnTo>
                  <a:pt x="11" y="0"/>
                </a:lnTo>
                <a:lnTo>
                  <a:pt x="10" y="0"/>
                </a:lnTo>
                <a:lnTo>
                  <a:pt x="9" y="0"/>
                </a:lnTo>
                <a:lnTo>
                  <a:pt x="8" y="0"/>
                </a:lnTo>
                <a:lnTo>
                  <a:pt x="7" y="1"/>
                </a:lnTo>
                <a:lnTo>
                  <a:pt x="6" y="1"/>
                </a:lnTo>
                <a:lnTo>
                  <a:pt x="5" y="2"/>
                </a:lnTo>
                <a:lnTo>
                  <a:pt x="4" y="3"/>
                </a:lnTo>
                <a:lnTo>
                  <a:pt x="4" y="4"/>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4" y="25"/>
                </a:lnTo>
                <a:lnTo>
                  <a:pt x="4" y="26"/>
                </a:lnTo>
                <a:lnTo>
                  <a:pt x="5" y="28"/>
                </a:lnTo>
                <a:lnTo>
                  <a:pt x="6" y="29"/>
                </a:lnTo>
                <a:lnTo>
                  <a:pt x="7" y="29"/>
                </a:lnTo>
                <a:lnTo>
                  <a:pt x="8" y="30"/>
                </a:lnTo>
                <a:lnTo>
                  <a:pt x="9" y="30"/>
                </a:lnTo>
                <a:lnTo>
                  <a:pt x="10" y="30"/>
                </a:lnTo>
                <a:lnTo>
                  <a:pt x="11" y="30"/>
                </a:lnTo>
                <a:lnTo>
                  <a:pt x="12" y="30"/>
                </a:lnTo>
                <a:lnTo>
                  <a:pt x="13" y="30"/>
                </a:lnTo>
                <a:lnTo>
                  <a:pt x="15" y="30"/>
                </a:lnTo>
                <a:lnTo>
                  <a:pt x="16" y="30"/>
                </a:lnTo>
                <a:lnTo>
                  <a:pt x="17" y="29"/>
                </a:lnTo>
                <a:lnTo>
                  <a:pt x="18" y="28"/>
                </a:lnTo>
                <a:lnTo>
                  <a:pt x="19" y="26"/>
                </a:lnTo>
                <a:lnTo>
                  <a:pt x="19" y="25"/>
                </a:lnTo>
                <a:lnTo>
                  <a:pt x="20"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84" name="Line 691">
            <a:extLst>
              <a:ext uri="{FF2B5EF4-FFF2-40B4-BE49-F238E27FC236}">
                <a16:creationId xmlns:a16="http://schemas.microsoft.com/office/drawing/2014/main" id="{5141D2C6-CE5D-3846-82FF-63D90AEED2D6}"/>
              </a:ext>
            </a:extLst>
          </p:cNvPr>
          <p:cNvSpPr>
            <a:spLocks noChangeShapeType="1"/>
          </p:cNvSpPr>
          <p:nvPr/>
        </p:nvSpPr>
        <p:spPr bwMode="auto">
          <a:xfrm>
            <a:off x="9774239" y="212248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85" name="Line 692">
            <a:extLst>
              <a:ext uri="{FF2B5EF4-FFF2-40B4-BE49-F238E27FC236}">
                <a16:creationId xmlns:a16="http://schemas.microsoft.com/office/drawing/2014/main" id="{918EB054-50DE-514C-B75A-7C4861A9B3BD}"/>
              </a:ext>
            </a:extLst>
          </p:cNvPr>
          <p:cNvSpPr>
            <a:spLocks noChangeShapeType="1"/>
          </p:cNvSpPr>
          <p:nvPr/>
        </p:nvSpPr>
        <p:spPr bwMode="auto">
          <a:xfrm>
            <a:off x="9742488" y="2160589"/>
            <a:ext cx="63500"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86" name="Freeform 693">
            <a:extLst>
              <a:ext uri="{FF2B5EF4-FFF2-40B4-BE49-F238E27FC236}">
                <a16:creationId xmlns:a16="http://schemas.microsoft.com/office/drawing/2014/main" id="{5A1C3A51-68F7-4F46-A4BE-AADE9E06C324}"/>
              </a:ext>
            </a:extLst>
          </p:cNvPr>
          <p:cNvSpPr>
            <a:spLocks/>
          </p:cNvSpPr>
          <p:nvPr/>
        </p:nvSpPr>
        <p:spPr bwMode="auto">
          <a:xfrm>
            <a:off x="9067800" y="2828926"/>
            <a:ext cx="325438" cy="339725"/>
          </a:xfrm>
          <a:custGeom>
            <a:avLst/>
            <a:gdLst>
              <a:gd name="T0" fmla="*/ 56 w 615"/>
              <a:gd name="T1" fmla="*/ 195 h 643"/>
              <a:gd name="T2" fmla="*/ 0 w 615"/>
              <a:gd name="T3" fmla="*/ 195 h 643"/>
              <a:gd name="T4" fmla="*/ 308 w 615"/>
              <a:gd name="T5" fmla="*/ 0 h 643"/>
              <a:gd name="T6" fmla="*/ 615 w 615"/>
              <a:gd name="T7" fmla="*/ 195 h 643"/>
              <a:gd name="T8" fmla="*/ 587 w 615"/>
              <a:gd name="T9" fmla="*/ 195 h 643"/>
              <a:gd name="T10" fmla="*/ 559 w 615"/>
              <a:gd name="T11" fmla="*/ 195 h 643"/>
              <a:gd name="T12" fmla="*/ 559 w 615"/>
              <a:gd name="T13" fmla="*/ 615 h 643"/>
              <a:gd name="T14" fmla="*/ 56 w 615"/>
              <a:gd name="T15" fmla="*/ 615 h 643"/>
              <a:gd name="T16" fmla="*/ 56 w 615"/>
              <a:gd name="T17" fmla="*/ 195 h 643"/>
              <a:gd name="T18" fmla="*/ 559 w 615"/>
              <a:gd name="T19" fmla="*/ 195 h 643"/>
              <a:gd name="T20" fmla="*/ 587 w 615"/>
              <a:gd name="T21" fmla="*/ 195 h 643"/>
              <a:gd name="T22" fmla="*/ 587 w 615"/>
              <a:gd name="T23" fmla="*/ 643 h 643"/>
              <a:gd name="T24" fmla="*/ 56 w 615"/>
              <a:gd name="T25" fmla="*/ 643 h 643"/>
              <a:gd name="T26" fmla="*/ 56 w 615"/>
              <a:gd name="T27" fmla="*/ 615 h 643"/>
              <a:gd name="T28" fmla="*/ 56 w 615"/>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5"/>
              <a:gd name="T46" fmla="*/ 0 h 643"/>
              <a:gd name="T47" fmla="*/ 615 w 615"/>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5" h="643">
                <a:moveTo>
                  <a:pt x="56" y="195"/>
                </a:moveTo>
                <a:lnTo>
                  <a:pt x="0" y="195"/>
                </a:lnTo>
                <a:lnTo>
                  <a:pt x="308" y="0"/>
                </a:lnTo>
                <a:lnTo>
                  <a:pt x="615" y="195"/>
                </a:lnTo>
                <a:lnTo>
                  <a:pt x="587" y="195"/>
                </a:lnTo>
                <a:lnTo>
                  <a:pt x="559" y="195"/>
                </a:lnTo>
                <a:lnTo>
                  <a:pt x="559" y="615"/>
                </a:lnTo>
                <a:lnTo>
                  <a:pt x="56" y="615"/>
                </a:lnTo>
                <a:lnTo>
                  <a:pt x="56" y="195"/>
                </a:lnTo>
                <a:lnTo>
                  <a:pt x="559" y="195"/>
                </a:lnTo>
                <a:lnTo>
                  <a:pt x="587" y="195"/>
                </a:lnTo>
                <a:lnTo>
                  <a:pt x="587" y="643"/>
                </a:lnTo>
                <a:lnTo>
                  <a:pt x="56" y="643"/>
                </a:lnTo>
                <a:lnTo>
                  <a:pt x="56" y="615"/>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87" name="Rectangle 694">
            <a:extLst>
              <a:ext uri="{FF2B5EF4-FFF2-40B4-BE49-F238E27FC236}">
                <a16:creationId xmlns:a16="http://schemas.microsoft.com/office/drawing/2014/main" id="{44569A9B-2544-F24B-86AB-2B0CB5E768D2}"/>
              </a:ext>
            </a:extLst>
          </p:cNvPr>
          <p:cNvSpPr>
            <a:spLocks noChangeArrowheads="1"/>
          </p:cNvSpPr>
          <p:nvPr/>
        </p:nvSpPr>
        <p:spPr bwMode="auto">
          <a:xfrm>
            <a:off x="9097964" y="2932113"/>
            <a:ext cx="268287" cy="222250"/>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88" name="Rectangle 695">
            <a:extLst>
              <a:ext uri="{FF2B5EF4-FFF2-40B4-BE49-F238E27FC236}">
                <a16:creationId xmlns:a16="http://schemas.microsoft.com/office/drawing/2014/main" id="{D458963D-230F-314C-ABE6-D66F6D512650}"/>
              </a:ext>
            </a:extLst>
          </p:cNvPr>
          <p:cNvSpPr>
            <a:spLocks noChangeArrowheads="1"/>
          </p:cNvSpPr>
          <p:nvPr/>
        </p:nvSpPr>
        <p:spPr bwMode="auto">
          <a:xfrm>
            <a:off x="9140826" y="2984501"/>
            <a:ext cx="93663" cy="16827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89" name="Rectangle 696">
            <a:extLst>
              <a:ext uri="{FF2B5EF4-FFF2-40B4-BE49-F238E27FC236}">
                <a16:creationId xmlns:a16="http://schemas.microsoft.com/office/drawing/2014/main" id="{36379839-6E91-5F46-BAA4-52D655BE9D67}"/>
              </a:ext>
            </a:extLst>
          </p:cNvPr>
          <p:cNvSpPr>
            <a:spLocks noChangeArrowheads="1"/>
          </p:cNvSpPr>
          <p:nvPr/>
        </p:nvSpPr>
        <p:spPr bwMode="auto">
          <a:xfrm>
            <a:off x="9275764" y="2981326"/>
            <a:ext cx="65087"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90" name="Freeform 697">
            <a:extLst>
              <a:ext uri="{FF2B5EF4-FFF2-40B4-BE49-F238E27FC236}">
                <a16:creationId xmlns:a16="http://schemas.microsoft.com/office/drawing/2014/main" id="{CC063C35-2988-5E46-B774-7AF49FD1F88B}"/>
              </a:ext>
            </a:extLst>
          </p:cNvPr>
          <p:cNvSpPr>
            <a:spLocks/>
          </p:cNvSpPr>
          <p:nvPr/>
        </p:nvSpPr>
        <p:spPr bwMode="auto">
          <a:xfrm>
            <a:off x="9209088" y="3062289"/>
            <a:ext cx="12700" cy="15875"/>
          </a:xfrm>
          <a:custGeom>
            <a:avLst/>
            <a:gdLst>
              <a:gd name="T0" fmla="*/ 23 w 23"/>
              <a:gd name="T1" fmla="*/ 13 h 30"/>
              <a:gd name="T2" fmla="*/ 23 w 23"/>
              <a:gd name="T3" fmla="*/ 11 h 30"/>
              <a:gd name="T4" fmla="*/ 21 w 23"/>
              <a:gd name="T5" fmla="*/ 9 h 30"/>
              <a:gd name="T6" fmla="*/ 21 w 23"/>
              <a:gd name="T7" fmla="*/ 7 h 30"/>
              <a:gd name="T8" fmla="*/ 19 w 23"/>
              <a:gd name="T9" fmla="*/ 5 h 30"/>
              <a:gd name="T10" fmla="*/ 18 w 23"/>
              <a:gd name="T11" fmla="*/ 2 h 30"/>
              <a:gd name="T12" fmla="*/ 17 w 23"/>
              <a:gd name="T13" fmla="*/ 1 h 30"/>
              <a:gd name="T14" fmla="*/ 14 w 23"/>
              <a:gd name="T15" fmla="*/ 0 h 30"/>
              <a:gd name="T16" fmla="*/ 12 w 23"/>
              <a:gd name="T17" fmla="*/ 0 h 30"/>
              <a:gd name="T18" fmla="*/ 10 w 23"/>
              <a:gd name="T19" fmla="*/ 0 h 30"/>
              <a:gd name="T20" fmla="*/ 9 w 23"/>
              <a:gd name="T21" fmla="*/ 0 h 30"/>
              <a:gd name="T22" fmla="*/ 7 w 23"/>
              <a:gd name="T23" fmla="*/ 1 h 30"/>
              <a:gd name="T24" fmla="*/ 5 w 23"/>
              <a:gd name="T25" fmla="*/ 2 h 30"/>
              <a:gd name="T26" fmla="*/ 3 w 23"/>
              <a:gd name="T27" fmla="*/ 5 h 30"/>
              <a:gd name="T28" fmla="*/ 1 w 23"/>
              <a:gd name="T29" fmla="*/ 7 h 30"/>
              <a:gd name="T30" fmla="*/ 1 w 23"/>
              <a:gd name="T31" fmla="*/ 9 h 30"/>
              <a:gd name="T32" fmla="*/ 0 w 23"/>
              <a:gd name="T33" fmla="*/ 11 h 30"/>
              <a:gd name="T34" fmla="*/ 0 w 23"/>
              <a:gd name="T35" fmla="*/ 13 h 30"/>
              <a:gd name="T36" fmla="*/ 0 w 23"/>
              <a:gd name="T37" fmla="*/ 17 h 30"/>
              <a:gd name="T38" fmla="*/ 0 w 23"/>
              <a:gd name="T39" fmla="*/ 19 h 30"/>
              <a:gd name="T40" fmla="*/ 1 w 23"/>
              <a:gd name="T41" fmla="*/ 22 h 30"/>
              <a:gd name="T42" fmla="*/ 1 w 23"/>
              <a:gd name="T43" fmla="*/ 24 h 30"/>
              <a:gd name="T44" fmla="*/ 3 w 23"/>
              <a:gd name="T45" fmla="*/ 25 h 30"/>
              <a:gd name="T46" fmla="*/ 5 w 23"/>
              <a:gd name="T47" fmla="*/ 28 h 30"/>
              <a:gd name="T48" fmla="*/ 7 w 23"/>
              <a:gd name="T49" fmla="*/ 29 h 30"/>
              <a:gd name="T50" fmla="*/ 9 w 23"/>
              <a:gd name="T51" fmla="*/ 30 h 30"/>
              <a:gd name="T52" fmla="*/ 10 w 23"/>
              <a:gd name="T53" fmla="*/ 30 h 30"/>
              <a:gd name="T54" fmla="*/ 12 w 23"/>
              <a:gd name="T55" fmla="*/ 30 h 30"/>
              <a:gd name="T56" fmla="*/ 14 w 23"/>
              <a:gd name="T57" fmla="*/ 30 h 30"/>
              <a:gd name="T58" fmla="*/ 17 w 23"/>
              <a:gd name="T59" fmla="*/ 29 h 30"/>
              <a:gd name="T60" fmla="*/ 18 w 23"/>
              <a:gd name="T61" fmla="*/ 28 h 30"/>
              <a:gd name="T62" fmla="*/ 19 w 23"/>
              <a:gd name="T63" fmla="*/ 25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4"/>
                </a:moveTo>
                <a:lnTo>
                  <a:pt x="23" y="13"/>
                </a:lnTo>
                <a:lnTo>
                  <a:pt x="23" y="12"/>
                </a:lnTo>
                <a:lnTo>
                  <a:pt x="23" y="11"/>
                </a:lnTo>
                <a:lnTo>
                  <a:pt x="22" y="10"/>
                </a:lnTo>
                <a:lnTo>
                  <a:pt x="21" y="9"/>
                </a:lnTo>
                <a:lnTo>
                  <a:pt x="21" y="8"/>
                </a:lnTo>
                <a:lnTo>
                  <a:pt x="21" y="7"/>
                </a:lnTo>
                <a:lnTo>
                  <a:pt x="20" y="6"/>
                </a:lnTo>
                <a:lnTo>
                  <a:pt x="19" y="5"/>
                </a:lnTo>
                <a:lnTo>
                  <a:pt x="19" y="3"/>
                </a:lnTo>
                <a:lnTo>
                  <a:pt x="18" y="2"/>
                </a:lnTo>
                <a:lnTo>
                  <a:pt x="17" y="1"/>
                </a:lnTo>
                <a:lnTo>
                  <a:pt x="16" y="0"/>
                </a:lnTo>
                <a:lnTo>
                  <a:pt x="14" y="0"/>
                </a:lnTo>
                <a:lnTo>
                  <a:pt x="13" y="0"/>
                </a:lnTo>
                <a:lnTo>
                  <a:pt x="12" y="0"/>
                </a:lnTo>
                <a:lnTo>
                  <a:pt x="11" y="0"/>
                </a:lnTo>
                <a:lnTo>
                  <a:pt x="10" y="0"/>
                </a:lnTo>
                <a:lnTo>
                  <a:pt x="9" y="0"/>
                </a:lnTo>
                <a:lnTo>
                  <a:pt x="8" y="0"/>
                </a:lnTo>
                <a:lnTo>
                  <a:pt x="7" y="1"/>
                </a:lnTo>
                <a:lnTo>
                  <a:pt x="6" y="1"/>
                </a:lnTo>
                <a:lnTo>
                  <a:pt x="5" y="2"/>
                </a:lnTo>
                <a:lnTo>
                  <a:pt x="3" y="3"/>
                </a:lnTo>
                <a:lnTo>
                  <a:pt x="3" y="5"/>
                </a:lnTo>
                <a:lnTo>
                  <a:pt x="2" y="6"/>
                </a:lnTo>
                <a:lnTo>
                  <a:pt x="1" y="7"/>
                </a:lnTo>
                <a:lnTo>
                  <a:pt x="1" y="8"/>
                </a:lnTo>
                <a:lnTo>
                  <a:pt x="1" y="9"/>
                </a:lnTo>
                <a:lnTo>
                  <a:pt x="0" y="10"/>
                </a:lnTo>
                <a:lnTo>
                  <a:pt x="0" y="11"/>
                </a:lnTo>
                <a:lnTo>
                  <a:pt x="0" y="12"/>
                </a:lnTo>
                <a:lnTo>
                  <a:pt x="0" y="13"/>
                </a:lnTo>
                <a:lnTo>
                  <a:pt x="0" y="14"/>
                </a:lnTo>
                <a:lnTo>
                  <a:pt x="0" y="17"/>
                </a:lnTo>
                <a:lnTo>
                  <a:pt x="0" y="18"/>
                </a:lnTo>
                <a:lnTo>
                  <a:pt x="0" y="19"/>
                </a:lnTo>
                <a:lnTo>
                  <a:pt x="0" y="20"/>
                </a:lnTo>
                <a:lnTo>
                  <a:pt x="1" y="22"/>
                </a:lnTo>
                <a:lnTo>
                  <a:pt x="1" y="23"/>
                </a:lnTo>
                <a:lnTo>
                  <a:pt x="1" y="24"/>
                </a:lnTo>
                <a:lnTo>
                  <a:pt x="2" y="24"/>
                </a:lnTo>
                <a:lnTo>
                  <a:pt x="3" y="25"/>
                </a:lnTo>
                <a:lnTo>
                  <a:pt x="3" y="27"/>
                </a:lnTo>
                <a:lnTo>
                  <a:pt x="5" y="28"/>
                </a:lnTo>
                <a:lnTo>
                  <a:pt x="6" y="29"/>
                </a:lnTo>
                <a:lnTo>
                  <a:pt x="7" y="29"/>
                </a:lnTo>
                <a:lnTo>
                  <a:pt x="8" y="30"/>
                </a:lnTo>
                <a:lnTo>
                  <a:pt x="9" y="30"/>
                </a:lnTo>
                <a:lnTo>
                  <a:pt x="10" y="30"/>
                </a:lnTo>
                <a:lnTo>
                  <a:pt x="11" y="30"/>
                </a:lnTo>
                <a:lnTo>
                  <a:pt x="12" y="30"/>
                </a:lnTo>
                <a:lnTo>
                  <a:pt x="13" y="30"/>
                </a:lnTo>
                <a:lnTo>
                  <a:pt x="14" y="30"/>
                </a:lnTo>
                <a:lnTo>
                  <a:pt x="16" y="30"/>
                </a:lnTo>
                <a:lnTo>
                  <a:pt x="17" y="29"/>
                </a:lnTo>
                <a:lnTo>
                  <a:pt x="18" y="28"/>
                </a:lnTo>
                <a:lnTo>
                  <a:pt x="19" y="27"/>
                </a:lnTo>
                <a:lnTo>
                  <a:pt x="19" y="25"/>
                </a:lnTo>
                <a:lnTo>
                  <a:pt x="20" y="24"/>
                </a:lnTo>
                <a:lnTo>
                  <a:pt x="21" y="24"/>
                </a:lnTo>
                <a:lnTo>
                  <a:pt x="21" y="23"/>
                </a:lnTo>
                <a:lnTo>
                  <a:pt x="21" y="22"/>
                </a:lnTo>
                <a:lnTo>
                  <a:pt x="22" y="20"/>
                </a:lnTo>
                <a:lnTo>
                  <a:pt x="23" y="19"/>
                </a:lnTo>
                <a:lnTo>
                  <a:pt x="23" y="18"/>
                </a:lnTo>
                <a:lnTo>
                  <a:pt x="23" y="17"/>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91" name="Line 698">
            <a:extLst>
              <a:ext uri="{FF2B5EF4-FFF2-40B4-BE49-F238E27FC236}">
                <a16:creationId xmlns:a16="http://schemas.microsoft.com/office/drawing/2014/main" id="{107B8ADA-FBEB-B345-93D6-2617CEE3B07A}"/>
              </a:ext>
            </a:extLst>
          </p:cNvPr>
          <p:cNvSpPr>
            <a:spLocks noChangeShapeType="1"/>
          </p:cNvSpPr>
          <p:nvPr/>
        </p:nvSpPr>
        <p:spPr bwMode="auto">
          <a:xfrm>
            <a:off x="9307514" y="2981326"/>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92" name="Line 699">
            <a:extLst>
              <a:ext uri="{FF2B5EF4-FFF2-40B4-BE49-F238E27FC236}">
                <a16:creationId xmlns:a16="http://schemas.microsoft.com/office/drawing/2014/main" id="{3AEB4DC8-AC50-0440-8F31-538ADCE4E0A3}"/>
              </a:ext>
            </a:extLst>
          </p:cNvPr>
          <p:cNvSpPr>
            <a:spLocks noChangeShapeType="1"/>
          </p:cNvSpPr>
          <p:nvPr/>
        </p:nvSpPr>
        <p:spPr bwMode="auto">
          <a:xfrm>
            <a:off x="9275763" y="3019425"/>
            <a:ext cx="63500" cy="1588"/>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93" name="Freeform 700">
            <a:extLst>
              <a:ext uri="{FF2B5EF4-FFF2-40B4-BE49-F238E27FC236}">
                <a16:creationId xmlns:a16="http://schemas.microsoft.com/office/drawing/2014/main" id="{8F2A8E5F-276E-D645-9868-33F32DAC890A}"/>
              </a:ext>
            </a:extLst>
          </p:cNvPr>
          <p:cNvSpPr>
            <a:spLocks/>
          </p:cNvSpPr>
          <p:nvPr/>
        </p:nvSpPr>
        <p:spPr bwMode="auto">
          <a:xfrm>
            <a:off x="6970713" y="1516064"/>
            <a:ext cx="323850" cy="339725"/>
          </a:xfrm>
          <a:custGeom>
            <a:avLst/>
            <a:gdLst>
              <a:gd name="T0" fmla="*/ 56 w 614"/>
              <a:gd name="T1" fmla="*/ 195 h 643"/>
              <a:gd name="T2" fmla="*/ 0 w 614"/>
              <a:gd name="T3" fmla="*/ 195 h 643"/>
              <a:gd name="T4" fmla="*/ 307 w 614"/>
              <a:gd name="T5" fmla="*/ 0 h 643"/>
              <a:gd name="T6" fmla="*/ 614 w 614"/>
              <a:gd name="T7" fmla="*/ 195 h 643"/>
              <a:gd name="T8" fmla="*/ 587 w 614"/>
              <a:gd name="T9" fmla="*/ 195 h 643"/>
              <a:gd name="T10" fmla="*/ 558 w 614"/>
              <a:gd name="T11" fmla="*/ 195 h 643"/>
              <a:gd name="T12" fmla="*/ 558 w 614"/>
              <a:gd name="T13" fmla="*/ 614 h 643"/>
              <a:gd name="T14" fmla="*/ 56 w 614"/>
              <a:gd name="T15" fmla="*/ 614 h 643"/>
              <a:gd name="T16" fmla="*/ 56 w 614"/>
              <a:gd name="T17" fmla="*/ 195 h 643"/>
              <a:gd name="T18" fmla="*/ 558 w 614"/>
              <a:gd name="T19" fmla="*/ 195 h 643"/>
              <a:gd name="T20" fmla="*/ 587 w 614"/>
              <a:gd name="T21" fmla="*/ 195 h 643"/>
              <a:gd name="T22" fmla="*/ 587 w 614"/>
              <a:gd name="T23" fmla="*/ 643 h 643"/>
              <a:gd name="T24" fmla="*/ 56 w 614"/>
              <a:gd name="T25" fmla="*/ 643 h 643"/>
              <a:gd name="T26" fmla="*/ 56 w 614"/>
              <a:gd name="T27" fmla="*/ 614 h 643"/>
              <a:gd name="T28" fmla="*/ 56 w 614"/>
              <a:gd name="T29" fmla="*/ 195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5"/>
                </a:moveTo>
                <a:lnTo>
                  <a:pt x="0" y="195"/>
                </a:lnTo>
                <a:lnTo>
                  <a:pt x="307" y="0"/>
                </a:lnTo>
                <a:lnTo>
                  <a:pt x="614" y="195"/>
                </a:lnTo>
                <a:lnTo>
                  <a:pt x="587" y="195"/>
                </a:lnTo>
                <a:lnTo>
                  <a:pt x="558" y="195"/>
                </a:lnTo>
                <a:lnTo>
                  <a:pt x="558" y="614"/>
                </a:lnTo>
                <a:lnTo>
                  <a:pt x="56" y="614"/>
                </a:lnTo>
                <a:lnTo>
                  <a:pt x="56" y="195"/>
                </a:lnTo>
                <a:lnTo>
                  <a:pt x="558" y="195"/>
                </a:lnTo>
                <a:lnTo>
                  <a:pt x="587" y="195"/>
                </a:lnTo>
                <a:lnTo>
                  <a:pt x="587" y="643"/>
                </a:lnTo>
                <a:lnTo>
                  <a:pt x="56" y="643"/>
                </a:lnTo>
                <a:lnTo>
                  <a:pt x="56" y="614"/>
                </a:lnTo>
                <a:lnTo>
                  <a:pt x="56" y="195"/>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94" name="Rectangle 701">
            <a:extLst>
              <a:ext uri="{FF2B5EF4-FFF2-40B4-BE49-F238E27FC236}">
                <a16:creationId xmlns:a16="http://schemas.microsoft.com/office/drawing/2014/main" id="{D6A92C33-5B18-E64E-9D97-A79D655063B5}"/>
              </a:ext>
            </a:extLst>
          </p:cNvPr>
          <p:cNvSpPr>
            <a:spLocks noChangeArrowheads="1"/>
          </p:cNvSpPr>
          <p:nvPr/>
        </p:nvSpPr>
        <p:spPr bwMode="auto">
          <a:xfrm>
            <a:off x="7000875" y="1619251"/>
            <a:ext cx="268288" cy="220663"/>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95" name="Rectangle 702">
            <a:extLst>
              <a:ext uri="{FF2B5EF4-FFF2-40B4-BE49-F238E27FC236}">
                <a16:creationId xmlns:a16="http://schemas.microsoft.com/office/drawing/2014/main" id="{68EC58ED-278B-504B-B0A1-49D18285FD7D}"/>
              </a:ext>
            </a:extLst>
          </p:cNvPr>
          <p:cNvSpPr>
            <a:spLocks noChangeArrowheads="1"/>
          </p:cNvSpPr>
          <p:nvPr/>
        </p:nvSpPr>
        <p:spPr bwMode="auto">
          <a:xfrm>
            <a:off x="7043738" y="1671639"/>
            <a:ext cx="93662" cy="166687"/>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96" name="Rectangle 703">
            <a:extLst>
              <a:ext uri="{FF2B5EF4-FFF2-40B4-BE49-F238E27FC236}">
                <a16:creationId xmlns:a16="http://schemas.microsoft.com/office/drawing/2014/main" id="{B7E915DE-D7CD-2647-97E4-475EC46B4F78}"/>
              </a:ext>
            </a:extLst>
          </p:cNvPr>
          <p:cNvSpPr>
            <a:spLocks noChangeArrowheads="1"/>
          </p:cNvSpPr>
          <p:nvPr/>
        </p:nvSpPr>
        <p:spPr bwMode="auto">
          <a:xfrm>
            <a:off x="7178675" y="1666876"/>
            <a:ext cx="63500" cy="80963"/>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97" name="Freeform 704">
            <a:extLst>
              <a:ext uri="{FF2B5EF4-FFF2-40B4-BE49-F238E27FC236}">
                <a16:creationId xmlns:a16="http://schemas.microsoft.com/office/drawing/2014/main" id="{60F6433A-AE8C-014D-BEF9-1B896D4C7074}"/>
              </a:ext>
            </a:extLst>
          </p:cNvPr>
          <p:cNvSpPr>
            <a:spLocks/>
          </p:cNvSpPr>
          <p:nvPr/>
        </p:nvSpPr>
        <p:spPr bwMode="auto">
          <a:xfrm>
            <a:off x="7112000" y="1749425"/>
            <a:ext cx="12700" cy="14288"/>
          </a:xfrm>
          <a:custGeom>
            <a:avLst/>
            <a:gdLst>
              <a:gd name="T0" fmla="*/ 23 w 23"/>
              <a:gd name="T1" fmla="*/ 13 h 29"/>
              <a:gd name="T2" fmla="*/ 23 w 23"/>
              <a:gd name="T3" fmla="*/ 11 h 29"/>
              <a:gd name="T4" fmla="*/ 21 w 23"/>
              <a:gd name="T5" fmla="*/ 9 h 29"/>
              <a:gd name="T6" fmla="*/ 21 w 23"/>
              <a:gd name="T7" fmla="*/ 6 h 29"/>
              <a:gd name="T8" fmla="*/ 19 w 23"/>
              <a:gd name="T9" fmla="*/ 4 h 29"/>
              <a:gd name="T10" fmla="*/ 18 w 23"/>
              <a:gd name="T11" fmla="*/ 2 h 29"/>
              <a:gd name="T12" fmla="*/ 17 w 23"/>
              <a:gd name="T13" fmla="*/ 1 h 29"/>
              <a:gd name="T14" fmla="*/ 15 w 23"/>
              <a:gd name="T15" fmla="*/ 0 h 29"/>
              <a:gd name="T16" fmla="*/ 13 w 23"/>
              <a:gd name="T17" fmla="*/ 0 h 29"/>
              <a:gd name="T18" fmla="*/ 10 w 23"/>
              <a:gd name="T19" fmla="*/ 0 h 29"/>
              <a:gd name="T20" fmla="*/ 9 w 23"/>
              <a:gd name="T21" fmla="*/ 0 h 29"/>
              <a:gd name="T22" fmla="*/ 7 w 23"/>
              <a:gd name="T23" fmla="*/ 1 h 29"/>
              <a:gd name="T24" fmla="*/ 5 w 23"/>
              <a:gd name="T25" fmla="*/ 2 h 29"/>
              <a:gd name="T26" fmla="*/ 4 w 23"/>
              <a:gd name="T27" fmla="*/ 4 h 29"/>
              <a:gd name="T28" fmla="*/ 2 w 23"/>
              <a:gd name="T29" fmla="*/ 6 h 29"/>
              <a:gd name="T30" fmla="*/ 2 w 23"/>
              <a:gd name="T31" fmla="*/ 9 h 29"/>
              <a:gd name="T32" fmla="*/ 0 w 23"/>
              <a:gd name="T33" fmla="*/ 11 h 29"/>
              <a:gd name="T34" fmla="*/ 0 w 23"/>
              <a:gd name="T35" fmla="*/ 13 h 29"/>
              <a:gd name="T36" fmla="*/ 0 w 23"/>
              <a:gd name="T37" fmla="*/ 16 h 29"/>
              <a:gd name="T38" fmla="*/ 0 w 23"/>
              <a:gd name="T39" fmla="*/ 18 h 29"/>
              <a:gd name="T40" fmla="*/ 2 w 23"/>
              <a:gd name="T41" fmla="*/ 22 h 29"/>
              <a:gd name="T42" fmla="*/ 2 w 23"/>
              <a:gd name="T43" fmla="*/ 24 h 29"/>
              <a:gd name="T44" fmla="*/ 4 w 23"/>
              <a:gd name="T45" fmla="*/ 25 h 29"/>
              <a:gd name="T46" fmla="*/ 5 w 23"/>
              <a:gd name="T47" fmla="*/ 27 h 29"/>
              <a:gd name="T48" fmla="*/ 7 w 23"/>
              <a:gd name="T49" fmla="*/ 28 h 29"/>
              <a:gd name="T50" fmla="*/ 9 w 23"/>
              <a:gd name="T51" fmla="*/ 29 h 29"/>
              <a:gd name="T52" fmla="*/ 10 w 23"/>
              <a:gd name="T53" fmla="*/ 29 h 29"/>
              <a:gd name="T54" fmla="*/ 13 w 23"/>
              <a:gd name="T55" fmla="*/ 29 h 29"/>
              <a:gd name="T56" fmla="*/ 15 w 23"/>
              <a:gd name="T57" fmla="*/ 29 h 29"/>
              <a:gd name="T58" fmla="*/ 17 w 23"/>
              <a:gd name="T59" fmla="*/ 28 h 29"/>
              <a:gd name="T60" fmla="*/ 18 w 23"/>
              <a:gd name="T61" fmla="*/ 27 h 29"/>
              <a:gd name="T62" fmla="*/ 19 w 23"/>
              <a:gd name="T63" fmla="*/ 25 h 29"/>
              <a:gd name="T64" fmla="*/ 21 w 23"/>
              <a:gd name="T65" fmla="*/ 24 h 29"/>
              <a:gd name="T66" fmla="*/ 21 w 23"/>
              <a:gd name="T67" fmla="*/ 22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10"/>
                </a:lnTo>
                <a:lnTo>
                  <a:pt x="21" y="9"/>
                </a:lnTo>
                <a:lnTo>
                  <a:pt x="21" y="7"/>
                </a:lnTo>
                <a:lnTo>
                  <a:pt x="21" y="6"/>
                </a:lnTo>
                <a:lnTo>
                  <a:pt x="20" y="5"/>
                </a:lnTo>
                <a:lnTo>
                  <a:pt x="19" y="4"/>
                </a:lnTo>
                <a:lnTo>
                  <a:pt x="19" y="3"/>
                </a:lnTo>
                <a:lnTo>
                  <a:pt x="18" y="2"/>
                </a:lnTo>
                <a:lnTo>
                  <a:pt x="17" y="1"/>
                </a:lnTo>
                <a:lnTo>
                  <a:pt x="16" y="0"/>
                </a:lnTo>
                <a:lnTo>
                  <a:pt x="15" y="0"/>
                </a:lnTo>
                <a:lnTo>
                  <a:pt x="14" y="0"/>
                </a:lnTo>
                <a:lnTo>
                  <a:pt x="13" y="0"/>
                </a:lnTo>
                <a:lnTo>
                  <a:pt x="11" y="0"/>
                </a:lnTo>
                <a:lnTo>
                  <a:pt x="10" y="0"/>
                </a:lnTo>
                <a:lnTo>
                  <a:pt x="9" y="0"/>
                </a:lnTo>
                <a:lnTo>
                  <a:pt x="8" y="0"/>
                </a:lnTo>
                <a:lnTo>
                  <a:pt x="7" y="1"/>
                </a:lnTo>
                <a:lnTo>
                  <a:pt x="6" y="1"/>
                </a:lnTo>
                <a:lnTo>
                  <a:pt x="5" y="2"/>
                </a:lnTo>
                <a:lnTo>
                  <a:pt x="4" y="3"/>
                </a:lnTo>
                <a:lnTo>
                  <a:pt x="4" y="4"/>
                </a:lnTo>
                <a:lnTo>
                  <a:pt x="3" y="5"/>
                </a:lnTo>
                <a:lnTo>
                  <a:pt x="2" y="6"/>
                </a:lnTo>
                <a:lnTo>
                  <a:pt x="2" y="7"/>
                </a:lnTo>
                <a:lnTo>
                  <a:pt x="2" y="9"/>
                </a:lnTo>
                <a:lnTo>
                  <a:pt x="0" y="10"/>
                </a:lnTo>
                <a:lnTo>
                  <a:pt x="0" y="11"/>
                </a:lnTo>
                <a:lnTo>
                  <a:pt x="0" y="12"/>
                </a:lnTo>
                <a:lnTo>
                  <a:pt x="0" y="13"/>
                </a:lnTo>
                <a:lnTo>
                  <a:pt x="0" y="14"/>
                </a:lnTo>
                <a:lnTo>
                  <a:pt x="0" y="16"/>
                </a:lnTo>
                <a:lnTo>
                  <a:pt x="0" y="17"/>
                </a:lnTo>
                <a:lnTo>
                  <a:pt x="0" y="18"/>
                </a:lnTo>
                <a:lnTo>
                  <a:pt x="0" y="20"/>
                </a:lnTo>
                <a:lnTo>
                  <a:pt x="2" y="22"/>
                </a:lnTo>
                <a:lnTo>
                  <a:pt x="2" y="23"/>
                </a:lnTo>
                <a:lnTo>
                  <a:pt x="2" y="24"/>
                </a:lnTo>
                <a:lnTo>
                  <a:pt x="3" y="24"/>
                </a:lnTo>
                <a:lnTo>
                  <a:pt x="4" y="25"/>
                </a:lnTo>
                <a:lnTo>
                  <a:pt x="4" y="26"/>
                </a:lnTo>
                <a:lnTo>
                  <a:pt x="5" y="27"/>
                </a:lnTo>
                <a:lnTo>
                  <a:pt x="6" y="28"/>
                </a:lnTo>
                <a:lnTo>
                  <a:pt x="7" y="28"/>
                </a:lnTo>
                <a:lnTo>
                  <a:pt x="8" y="29"/>
                </a:lnTo>
                <a:lnTo>
                  <a:pt x="9" y="29"/>
                </a:lnTo>
                <a:lnTo>
                  <a:pt x="10" y="29"/>
                </a:lnTo>
                <a:lnTo>
                  <a:pt x="11" y="29"/>
                </a:lnTo>
                <a:lnTo>
                  <a:pt x="13" y="29"/>
                </a:lnTo>
                <a:lnTo>
                  <a:pt x="14" y="29"/>
                </a:lnTo>
                <a:lnTo>
                  <a:pt x="15" y="29"/>
                </a:lnTo>
                <a:lnTo>
                  <a:pt x="16" y="29"/>
                </a:lnTo>
                <a:lnTo>
                  <a:pt x="17" y="28"/>
                </a:lnTo>
                <a:lnTo>
                  <a:pt x="18" y="27"/>
                </a:lnTo>
                <a:lnTo>
                  <a:pt x="19" y="26"/>
                </a:lnTo>
                <a:lnTo>
                  <a:pt x="19" y="25"/>
                </a:lnTo>
                <a:lnTo>
                  <a:pt x="20" y="24"/>
                </a:lnTo>
                <a:lnTo>
                  <a:pt x="21" y="24"/>
                </a:lnTo>
                <a:lnTo>
                  <a:pt x="21" y="23"/>
                </a:lnTo>
                <a:lnTo>
                  <a:pt x="21" y="22"/>
                </a:lnTo>
                <a:lnTo>
                  <a:pt x="22" y="20"/>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098" name="Line 705">
            <a:extLst>
              <a:ext uri="{FF2B5EF4-FFF2-40B4-BE49-F238E27FC236}">
                <a16:creationId xmlns:a16="http://schemas.microsoft.com/office/drawing/2014/main" id="{DDAB075B-8CF4-6A45-A495-0EDAEBE7C4FA}"/>
              </a:ext>
            </a:extLst>
          </p:cNvPr>
          <p:cNvSpPr>
            <a:spLocks noChangeShapeType="1"/>
          </p:cNvSpPr>
          <p:nvPr/>
        </p:nvSpPr>
        <p:spPr bwMode="auto">
          <a:xfrm>
            <a:off x="7210425" y="1668464"/>
            <a:ext cx="1588"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99" name="Line 706">
            <a:extLst>
              <a:ext uri="{FF2B5EF4-FFF2-40B4-BE49-F238E27FC236}">
                <a16:creationId xmlns:a16="http://schemas.microsoft.com/office/drawing/2014/main" id="{08EAC718-855C-D246-BC4D-3EA6124A9593}"/>
              </a:ext>
            </a:extLst>
          </p:cNvPr>
          <p:cNvSpPr>
            <a:spLocks noChangeShapeType="1"/>
          </p:cNvSpPr>
          <p:nvPr/>
        </p:nvSpPr>
        <p:spPr bwMode="auto">
          <a:xfrm>
            <a:off x="7178676" y="1706564"/>
            <a:ext cx="61913"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100" name="Rectangle 707">
            <a:extLst>
              <a:ext uri="{FF2B5EF4-FFF2-40B4-BE49-F238E27FC236}">
                <a16:creationId xmlns:a16="http://schemas.microsoft.com/office/drawing/2014/main" id="{BB8387DD-3A23-E64A-9C3B-405EEC4C5BD2}"/>
              </a:ext>
            </a:extLst>
          </p:cNvPr>
          <p:cNvSpPr>
            <a:spLocks noChangeArrowheads="1"/>
          </p:cNvSpPr>
          <p:nvPr/>
        </p:nvSpPr>
        <p:spPr bwMode="auto">
          <a:xfrm>
            <a:off x="3060700" y="2376489"/>
            <a:ext cx="63500" cy="79375"/>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01" name="Freeform 708">
            <a:extLst>
              <a:ext uri="{FF2B5EF4-FFF2-40B4-BE49-F238E27FC236}">
                <a16:creationId xmlns:a16="http://schemas.microsoft.com/office/drawing/2014/main" id="{8B855EAD-2CF1-B542-956F-A674A2D7E973}"/>
              </a:ext>
            </a:extLst>
          </p:cNvPr>
          <p:cNvSpPr>
            <a:spLocks/>
          </p:cNvSpPr>
          <p:nvPr/>
        </p:nvSpPr>
        <p:spPr bwMode="auto">
          <a:xfrm>
            <a:off x="2994025" y="2457451"/>
            <a:ext cx="12700" cy="15875"/>
          </a:xfrm>
          <a:custGeom>
            <a:avLst/>
            <a:gdLst>
              <a:gd name="T0" fmla="*/ 23 w 23"/>
              <a:gd name="T1" fmla="*/ 13 h 29"/>
              <a:gd name="T2" fmla="*/ 23 w 23"/>
              <a:gd name="T3" fmla="*/ 11 h 29"/>
              <a:gd name="T4" fmla="*/ 21 w 23"/>
              <a:gd name="T5" fmla="*/ 8 h 29"/>
              <a:gd name="T6" fmla="*/ 21 w 23"/>
              <a:gd name="T7" fmla="*/ 6 h 29"/>
              <a:gd name="T8" fmla="*/ 18 w 23"/>
              <a:gd name="T9" fmla="*/ 4 h 29"/>
              <a:gd name="T10" fmla="*/ 17 w 23"/>
              <a:gd name="T11" fmla="*/ 2 h 29"/>
              <a:gd name="T12" fmla="*/ 16 w 23"/>
              <a:gd name="T13" fmla="*/ 1 h 29"/>
              <a:gd name="T14" fmla="*/ 14 w 23"/>
              <a:gd name="T15" fmla="*/ 0 h 29"/>
              <a:gd name="T16" fmla="*/ 12 w 23"/>
              <a:gd name="T17" fmla="*/ 0 h 29"/>
              <a:gd name="T18" fmla="*/ 10 w 23"/>
              <a:gd name="T19" fmla="*/ 0 h 29"/>
              <a:gd name="T20" fmla="*/ 9 w 23"/>
              <a:gd name="T21" fmla="*/ 0 h 29"/>
              <a:gd name="T22" fmla="*/ 6 w 23"/>
              <a:gd name="T23" fmla="*/ 1 h 29"/>
              <a:gd name="T24" fmla="*/ 4 w 23"/>
              <a:gd name="T25" fmla="*/ 2 h 29"/>
              <a:gd name="T26" fmla="*/ 3 w 23"/>
              <a:gd name="T27" fmla="*/ 4 h 29"/>
              <a:gd name="T28" fmla="*/ 1 w 23"/>
              <a:gd name="T29" fmla="*/ 6 h 29"/>
              <a:gd name="T30" fmla="*/ 1 w 23"/>
              <a:gd name="T31" fmla="*/ 8 h 29"/>
              <a:gd name="T32" fmla="*/ 0 w 23"/>
              <a:gd name="T33" fmla="*/ 11 h 29"/>
              <a:gd name="T34" fmla="*/ 0 w 23"/>
              <a:gd name="T35" fmla="*/ 13 h 29"/>
              <a:gd name="T36" fmla="*/ 0 w 23"/>
              <a:gd name="T37" fmla="*/ 16 h 29"/>
              <a:gd name="T38" fmla="*/ 0 w 23"/>
              <a:gd name="T39" fmla="*/ 18 h 29"/>
              <a:gd name="T40" fmla="*/ 1 w 23"/>
              <a:gd name="T41" fmla="*/ 22 h 29"/>
              <a:gd name="T42" fmla="*/ 1 w 23"/>
              <a:gd name="T43" fmla="*/ 24 h 29"/>
              <a:gd name="T44" fmla="*/ 3 w 23"/>
              <a:gd name="T45" fmla="*/ 25 h 29"/>
              <a:gd name="T46" fmla="*/ 4 w 23"/>
              <a:gd name="T47" fmla="*/ 27 h 29"/>
              <a:gd name="T48" fmla="*/ 6 w 23"/>
              <a:gd name="T49" fmla="*/ 28 h 29"/>
              <a:gd name="T50" fmla="*/ 9 w 23"/>
              <a:gd name="T51" fmla="*/ 29 h 29"/>
              <a:gd name="T52" fmla="*/ 10 w 23"/>
              <a:gd name="T53" fmla="*/ 29 h 29"/>
              <a:gd name="T54" fmla="*/ 12 w 23"/>
              <a:gd name="T55" fmla="*/ 29 h 29"/>
              <a:gd name="T56" fmla="*/ 14 w 23"/>
              <a:gd name="T57" fmla="*/ 29 h 29"/>
              <a:gd name="T58" fmla="*/ 16 w 23"/>
              <a:gd name="T59" fmla="*/ 28 h 29"/>
              <a:gd name="T60" fmla="*/ 17 w 23"/>
              <a:gd name="T61" fmla="*/ 27 h 29"/>
              <a:gd name="T62" fmla="*/ 18 w 23"/>
              <a:gd name="T63" fmla="*/ 25 h 29"/>
              <a:gd name="T64" fmla="*/ 21 w 23"/>
              <a:gd name="T65" fmla="*/ 24 h 29"/>
              <a:gd name="T66" fmla="*/ 21 w 23"/>
              <a:gd name="T67" fmla="*/ 22 h 29"/>
              <a:gd name="T68" fmla="*/ 23 w 23"/>
              <a:gd name="T69" fmla="*/ 18 h 29"/>
              <a:gd name="T70" fmla="*/ 23 w 23"/>
              <a:gd name="T71" fmla="*/ 16 h 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9"/>
              <a:gd name="T110" fmla="*/ 23 w 23"/>
              <a:gd name="T111" fmla="*/ 29 h 2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9">
                <a:moveTo>
                  <a:pt x="23" y="14"/>
                </a:moveTo>
                <a:lnTo>
                  <a:pt x="23" y="13"/>
                </a:lnTo>
                <a:lnTo>
                  <a:pt x="23" y="12"/>
                </a:lnTo>
                <a:lnTo>
                  <a:pt x="23" y="11"/>
                </a:lnTo>
                <a:lnTo>
                  <a:pt x="22" y="10"/>
                </a:lnTo>
                <a:lnTo>
                  <a:pt x="21" y="8"/>
                </a:lnTo>
                <a:lnTo>
                  <a:pt x="21" y="7"/>
                </a:lnTo>
                <a:lnTo>
                  <a:pt x="21" y="6"/>
                </a:lnTo>
                <a:lnTo>
                  <a:pt x="20" y="5"/>
                </a:lnTo>
                <a:lnTo>
                  <a:pt x="18" y="4"/>
                </a:lnTo>
                <a:lnTo>
                  <a:pt x="18" y="3"/>
                </a:lnTo>
                <a:lnTo>
                  <a:pt x="17" y="2"/>
                </a:lnTo>
                <a:lnTo>
                  <a:pt x="16" y="1"/>
                </a:lnTo>
                <a:lnTo>
                  <a:pt x="15" y="0"/>
                </a:lnTo>
                <a:lnTo>
                  <a:pt x="14" y="0"/>
                </a:lnTo>
                <a:lnTo>
                  <a:pt x="13" y="0"/>
                </a:lnTo>
                <a:lnTo>
                  <a:pt x="12" y="0"/>
                </a:lnTo>
                <a:lnTo>
                  <a:pt x="11" y="0"/>
                </a:lnTo>
                <a:lnTo>
                  <a:pt x="10" y="0"/>
                </a:lnTo>
                <a:lnTo>
                  <a:pt x="9" y="0"/>
                </a:lnTo>
                <a:lnTo>
                  <a:pt x="8" y="0"/>
                </a:lnTo>
                <a:lnTo>
                  <a:pt x="6" y="1"/>
                </a:lnTo>
                <a:lnTo>
                  <a:pt x="5" y="1"/>
                </a:lnTo>
                <a:lnTo>
                  <a:pt x="4" y="2"/>
                </a:lnTo>
                <a:lnTo>
                  <a:pt x="3" y="3"/>
                </a:lnTo>
                <a:lnTo>
                  <a:pt x="3" y="4"/>
                </a:lnTo>
                <a:lnTo>
                  <a:pt x="2" y="5"/>
                </a:lnTo>
                <a:lnTo>
                  <a:pt x="1" y="6"/>
                </a:lnTo>
                <a:lnTo>
                  <a:pt x="1" y="7"/>
                </a:lnTo>
                <a:lnTo>
                  <a:pt x="1" y="8"/>
                </a:lnTo>
                <a:lnTo>
                  <a:pt x="0" y="10"/>
                </a:lnTo>
                <a:lnTo>
                  <a:pt x="0" y="11"/>
                </a:lnTo>
                <a:lnTo>
                  <a:pt x="0" y="12"/>
                </a:lnTo>
                <a:lnTo>
                  <a:pt x="0" y="13"/>
                </a:lnTo>
                <a:lnTo>
                  <a:pt x="0" y="14"/>
                </a:lnTo>
                <a:lnTo>
                  <a:pt x="0" y="16"/>
                </a:lnTo>
                <a:lnTo>
                  <a:pt x="0" y="17"/>
                </a:lnTo>
                <a:lnTo>
                  <a:pt x="0" y="18"/>
                </a:lnTo>
                <a:lnTo>
                  <a:pt x="0" y="19"/>
                </a:lnTo>
                <a:lnTo>
                  <a:pt x="1" y="22"/>
                </a:lnTo>
                <a:lnTo>
                  <a:pt x="1" y="23"/>
                </a:lnTo>
                <a:lnTo>
                  <a:pt x="1" y="24"/>
                </a:lnTo>
                <a:lnTo>
                  <a:pt x="2" y="24"/>
                </a:lnTo>
                <a:lnTo>
                  <a:pt x="3" y="25"/>
                </a:lnTo>
                <a:lnTo>
                  <a:pt x="3" y="26"/>
                </a:lnTo>
                <a:lnTo>
                  <a:pt x="4" y="27"/>
                </a:lnTo>
                <a:lnTo>
                  <a:pt x="5" y="28"/>
                </a:lnTo>
                <a:lnTo>
                  <a:pt x="6" y="28"/>
                </a:lnTo>
                <a:lnTo>
                  <a:pt x="8" y="29"/>
                </a:lnTo>
                <a:lnTo>
                  <a:pt x="9" y="29"/>
                </a:lnTo>
                <a:lnTo>
                  <a:pt x="10" y="29"/>
                </a:lnTo>
                <a:lnTo>
                  <a:pt x="11" y="29"/>
                </a:lnTo>
                <a:lnTo>
                  <a:pt x="12" y="29"/>
                </a:lnTo>
                <a:lnTo>
                  <a:pt x="13" y="29"/>
                </a:lnTo>
                <a:lnTo>
                  <a:pt x="14" y="29"/>
                </a:lnTo>
                <a:lnTo>
                  <a:pt x="15" y="29"/>
                </a:lnTo>
                <a:lnTo>
                  <a:pt x="16" y="28"/>
                </a:lnTo>
                <a:lnTo>
                  <a:pt x="17" y="27"/>
                </a:lnTo>
                <a:lnTo>
                  <a:pt x="18" y="26"/>
                </a:lnTo>
                <a:lnTo>
                  <a:pt x="18" y="25"/>
                </a:lnTo>
                <a:lnTo>
                  <a:pt x="20" y="24"/>
                </a:lnTo>
                <a:lnTo>
                  <a:pt x="21" y="24"/>
                </a:lnTo>
                <a:lnTo>
                  <a:pt x="21" y="23"/>
                </a:lnTo>
                <a:lnTo>
                  <a:pt x="21" y="22"/>
                </a:lnTo>
                <a:lnTo>
                  <a:pt x="22" y="19"/>
                </a:lnTo>
                <a:lnTo>
                  <a:pt x="23" y="18"/>
                </a:lnTo>
                <a:lnTo>
                  <a:pt x="23" y="17"/>
                </a:lnTo>
                <a:lnTo>
                  <a:pt x="23" y="16"/>
                </a:lnTo>
                <a:lnTo>
                  <a:pt x="23" y="14"/>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02" name="Line 709">
            <a:extLst>
              <a:ext uri="{FF2B5EF4-FFF2-40B4-BE49-F238E27FC236}">
                <a16:creationId xmlns:a16="http://schemas.microsoft.com/office/drawing/2014/main" id="{7153CD17-79FC-074D-9934-1A51B3E2EBC6}"/>
              </a:ext>
            </a:extLst>
          </p:cNvPr>
          <p:cNvSpPr>
            <a:spLocks noChangeShapeType="1"/>
          </p:cNvSpPr>
          <p:nvPr/>
        </p:nvSpPr>
        <p:spPr bwMode="auto">
          <a:xfrm>
            <a:off x="3090864" y="2376489"/>
            <a:ext cx="1587" cy="79375"/>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103" name="Line 710">
            <a:extLst>
              <a:ext uri="{FF2B5EF4-FFF2-40B4-BE49-F238E27FC236}">
                <a16:creationId xmlns:a16="http://schemas.microsoft.com/office/drawing/2014/main" id="{155742E3-C75E-6A41-AC63-F498518DEEC2}"/>
              </a:ext>
            </a:extLst>
          </p:cNvPr>
          <p:cNvSpPr>
            <a:spLocks noChangeShapeType="1"/>
          </p:cNvSpPr>
          <p:nvPr/>
        </p:nvSpPr>
        <p:spPr bwMode="auto">
          <a:xfrm>
            <a:off x="3060701" y="2414589"/>
            <a:ext cx="61913" cy="1587"/>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104" name="Rectangle 711">
            <a:extLst>
              <a:ext uri="{FF2B5EF4-FFF2-40B4-BE49-F238E27FC236}">
                <a16:creationId xmlns:a16="http://schemas.microsoft.com/office/drawing/2014/main" id="{0C2C99A7-6A21-2B4B-8AF5-DB0B40380890}"/>
              </a:ext>
            </a:extLst>
          </p:cNvPr>
          <p:cNvSpPr>
            <a:spLocks noChangeArrowheads="1"/>
          </p:cNvSpPr>
          <p:nvPr/>
        </p:nvSpPr>
        <p:spPr bwMode="auto">
          <a:xfrm>
            <a:off x="2438400" y="2514600"/>
            <a:ext cx="1231900" cy="2365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05" name="Rectangle 712">
            <a:extLst>
              <a:ext uri="{FF2B5EF4-FFF2-40B4-BE49-F238E27FC236}">
                <a16:creationId xmlns:a16="http://schemas.microsoft.com/office/drawing/2014/main" id="{A90D13A1-1485-A343-9A9D-A91821F777D1}"/>
              </a:ext>
            </a:extLst>
          </p:cNvPr>
          <p:cNvSpPr>
            <a:spLocks noChangeArrowheads="1"/>
          </p:cNvSpPr>
          <p:nvPr/>
        </p:nvSpPr>
        <p:spPr bwMode="auto">
          <a:xfrm>
            <a:off x="1524000" y="5791201"/>
            <a:ext cx="1155700" cy="3603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a:r>
              <a:rPr lang="en-GB" altLang="en-US" sz="1700" b="1">
                <a:solidFill>
                  <a:srgbClr val="000080"/>
                </a:solidFill>
              </a:rPr>
              <a:t>Section 4</a:t>
            </a:r>
          </a:p>
        </p:txBody>
      </p:sp>
      <p:sp>
        <p:nvSpPr>
          <p:cNvPr id="26106" name="Rectangle 713">
            <a:extLst>
              <a:ext uri="{FF2B5EF4-FFF2-40B4-BE49-F238E27FC236}">
                <a16:creationId xmlns:a16="http://schemas.microsoft.com/office/drawing/2014/main" id="{FCDF626B-856E-994F-8E26-2B3660E19C82}"/>
              </a:ext>
            </a:extLst>
          </p:cNvPr>
          <p:cNvSpPr>
            <a:spLocks noChangeArrowheads="1"/>
          </p:cNvSpPr>
          <p:nvPr/>
        </p:nvSpPr>
        <p:spPr bwMode="auto">
          <a:xfrm>
            <a:off x="9220200" y="5257801"/>
            <a:ext cx="1155700" cy="3603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a:r>
              <a:rPr lang="en-GB" altLang="en-US" sz="1700" b="1">
                <a:solidFill>
                  <a:srgbClr val="000080"/>
                </a:solidFill>
              </a:rPr>
              <a:t>Section 5</a:t>
            </a:r>
          </a:p>
        </p:txBody>
      </p:sp>
      <p:sp>
        <p:nvSpPr>
          <p:cNvPr id="26107" name="Rectangle 714">
            <a:extLst>
              <a:ext uri="{FF2B5EF4-FFF2-40B4-BE49-F238E27FC236}">
                <a16:creationId xmlns:a16="http://schemas.microsoft.com/office/drawing/2014/main" id="{4C47D355-3838-9842-A5A5-EE02151D5A9A}"/>
              </a:ext>
            </a:extLst>
          </p:cNvPr>
          <p:cNvSpPr>
            <a:spLocks noChangeArrowheads="1"/>
          </p:cNvSpPr>
          <p:nvPr/>
        </p:nvSpPr>
        <p:spPr bwMode="auto">
          <a:xfrm>
            <a:off x="9512300" y="3733801"/>
            <a:ext cx="1155700" cy="3603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a:r>
              <a:rPr lang="en-GB" altLang="en-US" sz="1700" b="1">
                <a:solidFill>
                  <a:srgbClr val="000080"/>
                </a:solidFill>
              </a:rPr>
              <a:t>Section 3</a:t>
            </a:r>
          </a:p>
        </p:txBody>
      </p:sp>
      <p:sp>
        <p:nvSpPr>
          <p:cNvPr id="26108" name="Rectangle 715">
            <a:extLst>
              <a:ext uri="{FF2B5EF4-FFF2-40B4-BE49-F238E27FC236}">
                <a16:creationId xmlns:a16="http://schemas.microsoft.com/office/drawing/2014/main" id="{C12A7B7D-1BF9-DD48-957F-B567701D7D79}"/>
              </a:ext>
            </a:extLst>
          </p:cNvPr>
          <p:cNvSpPr>
            <a:spLocks noChangeArrowheads="1"/>
          </p:cNvSpPr>
          <p:nvPr/>
        </p:nvSpPr>
        <p:spPr bwMode="auto">
          <a:xfrm>
            <a:off x="5791200" y="1066801"/>
            <a:ext cx="1155700" cy="3603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a:r>
              <a:rPr lang="en-GB" altLang="en-US" sz="1700" b="1">
                <a:solidFill>
                  <a:srgbClr val="000080"/>
                </a:solidFill>
              </a:rPr>
              <a:t>Section 2</a:t>
            </a:r>
          </a:p>
        </p:txBody>
      </p:sp>
      <p:sp>
        <p:nvSpPr>
          <p:cNvPr id="26109" name="Rectangle 716">
            <a:extLst>
              <a:ext uri="{FF2B5EF4-FFF2-40B4-BE49-F238E27FC236}">
                <a16:creationId xmlns:a16="http://schemas.microsoft.com/office/drawing/2014/main" id="{70B4888B-AFE9-D448-BE08-044DB08ADC6A}"/>
              </a:ext>
            </a:extLst>
          </p:cNvPr>
          <p:cNvSpPr>
            <a:spLocks noChangeArrowheads="1"/>
          </p:cNvSpPr>
          <p:nvPr/>
        </p:nvSpPr>
        <p:spPr bwMode="auto">
          <a:xfrm>
            <a:off x="2133600" y="1066801"/>
            <a:ext cx="1155700" cy="3603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a:r>
              <a:rPr lang="en-GB" altLang="en-US" sz="1700" b="1">
                <a:solidFill>
                  <a:srgbClr val="000080"/>
                </a:solidFill>
              </a:rPr>
              <a:t>Section 1</a:t>
            </a:r>
          </a:p>
        </p:txBody>
      </p:sp>
      <p:grpSp>
        <p:nvGrpSpPr>
          <p:cNvPr id="26110" name="Group 717">
            <a:extLst>
              <a:ext uri="{FF2B5EF4-FFF2-40B4-BE49-F238E27FC236}">
                <a16:creationId xmlns:a16="http://schemas.microsoft.com/office/drawing/2014/main" id="{9F19C516-18FE-5D4E-87C5-C751851CAD81}"/>
              </a:ext>
            </a:extLst>
          </p:cNvPr>
          <p:cNvGrpSpPr>
            <a:grpSpLocks/>
          </p:cNvGrpSpPr>
          <p:nvPr/>
        </p:nvGrpSpPr>
        <p:grpSpPr bwMode="auto">
          <a:xfrm>
            <a:off x="2438400" y="2590801"/>
            <a:ext cx="325438" cy="339725"/>
            <a:chOff x="263" y="1719"/>
            <a:chExt cx="205" cy="214"/>
          </a:xfrm>
        </p:grpSpPr>
        <p:sp>
          <p:nvSpPr>
            <p:cNvPr id="26186" name="Freeform 718">
              <a:extLst>
                <a:ext uri="{FF2B5EF4-FFF2-40B4-BE49-F238E27FC236}">
                  <a16:creationId xmlns:a16="http://schemas.microsoft.com/office/drawing/2014/main" id="{3D9A928D-A089-ED44-A76C-F14C67E824ED}"/>
                </a:ext>
              </a:extLst>
            </p:cNvPr>
            <p:cNvSpPr>
              <a:spLocks/>
            </p:cNvSpPr>
            <p:nvPr/>
          </p:nvSpPr>
          <p:spPr bwMode="auto">
            <a:xfrm>
              <a:off x="263" y="1719"/>
              <a:ext cx="205" cy="214"/>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FF000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87" name="Rectangle 719">
              <a:extLst>
                <a:ext uri="{FF2B5EF4-FFF2-40B4-BE49-F238E27FC236}">
                  <a16:creationId xmlns:a16="http://schemas.microsoft.com/office/drawing/2014/main" id="{CDBD190F-63DF-5B40-8072-534E6AC0600C}"/>
                </a:ext>
              </a:extLst>
            </p:cNvPr>
            <p:cNvSpPr>
              <a:spLocks noChangeArrowheads="1"/>
            </p:cNvSpPr>
            <p:nvPr/>
          </p:nvSpPr>
          <p:spPr bwMode="auto">
            <a:xfrm>
              <a:off x="282" y="1784"/>
              <a:ext cx="170" cy="139"/>
            </a:xfrm>
            <a:prstGeom prst="rect">
              <a:avLst/>
            </a:prstGeom>
            <a:solidFill>
              <a:srgbClr val="FF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88" name="Rectangle 720">
              <a:extLst>
                <a:ext uri="{FF2B5EF4-FFF2-40B4-BE49-F238E27FC236}">
                  <a16:creationId xmlns:a16="http://schemas.microsoft.com/office/drawing/2014/main" id="{19A6BB69-66EE-824B-8EAD-122EE948BD1C}"/>
                </a:ext>
              </a:extLst>
            </p:cNvPr>
            <p:cNvSpPr>
              <a:spLocks noChangeArrowheads="1"/>
            </p:cNvSpPr>
            <p:nvPr/>
          </p:nvSpPr>
          <p:spPr bwMode="auto">
            <a:xfrm>
              <a:off x="309" y="1817"/>
              <a:ext cx="60" cy="105"/>
            </a:xfrm>
            <a:prstGeom prst="rect">
              <a:avLst/>
            </a:prstGeom>
            <a:solidFill>
              <a:srgbClr val="FF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89" name="Rectangle 721">
              <a:extLst>
                <a:ext uri="{FF2B5EF4-FFF2-40B4-BE49-F238E27FC236}">
                  <a16:creationId xmlns:a16="http://schemas.microsoft.com/office/drawing/2014/main" id="{3E83C5C4-E116-F44F-BF88-376DC655811A}"/>
                </a:ext>
              </a:extLst>
            </p:cNvPr>
            <p:cNvSpPr>
              <a:spLocks noChangeArrowheads="1"/>
            </p:cNvSpPr>
            <p:nvPr/>
          </p:nvSpPr>
          <p:spPr bwMode="auto">
            <a:xfrm>
              <a:off x="395" y="1815"/>
              <a:ext cx="40" cy="50"/>
            </a:xfrm>
            <a:prstGeom prst="rect">
              <a:avLst/>
            </a:prstGeom>
            <a:solidFill>
              <a:srgbClr val="FF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90" name="Freeform 722">
              <a:extLst>
                <a:ext uri="{FF2B5EF4-FFF2-40B4-BE49-F238E27FC236}">
                  <a16:creationId xmlns:a16="http://schemas.microsoft.com/office/drawing/2014/main" id="{0DFCEF26-04C4-A047-978D-165BAB8228DA}"/>
                </a:ext>
              </a:extLst>
            </p:cNvPr>
            <p:cNvSpPr>
              <a:spLocks/>
            </p:cNvSpPr>
            <p:nvPr/>
          </p:nvSpPr>
          <p:spPr bwMode="auto">
            <a:xfrm>
              <a:off x="353" y="1866"/>
              <a:ext cx="8" cy="10"/>
            </a:xfrm>
            <a:custGeom>
              <a:avLst/>
              <a:gdLst>
                <a:gd name="T0" fmla="*/ 23 w 23"/>
                <a:gd name="T1" fmla="*/ 14 h 30"/>
                <a:gd name="T2" fmla="*/ 23 w 23"/>
                <a:gd name="T3" fmla="*/ 11 h 30"/>
                <a:gd name="T4" fmla="*/ 21 w 23"/>
                <a:gd name="T5" fmla="*/ 9 h 30"/>
                <a:gd name="T6" fmla="*/ 21 w 23"/>
                <a:gd name="T7" fmla="*/ 7 h 30"/>
                <a:gd name="T8" fmla="*/ 18 w 23"/>
                <a:gd name="T9" fmla="*/ 5 h 30"/>
                <a:gd name="T10" fmla="*/ 17 w 23"/>
                <a:gd name="T11" fmla="*/ 3 h 30"/>
                <a:gd name="T12" fmla="*/ 16 w 23"/>
                <a:gd name="T13" fmla="*/ 1 h 30"/>
                <a:gd name="T14" fmla="*/ 14 w 23"/>
                <a:gd name="T15" fmla="*/ 0 h 30"/>
                <a:gd name="T16" fmla="*/ 12 w 23"/>
                <a:gd name="T17" fmla="*/ 0 h 30"/>
                <a:gd name="T18" fmla="*/ 10 w 23"/>
                <a:gd name="T19" fmla="*/ 0 h 30"/>
                <a:gd name="T20" fmla="*/ 8 w 23"/>
                <a:gd name="T21" fmla="*/ 0 h 30"/>
                <a:gd name="T22" fmla="*/ 6 w 23"/>
                <a:gd name="T23" fmla="*/ 1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4 h 30"/>
                <a:gd name="T44" fmla="*/ 3 w 23"/>
                <a:gd name="T45" fmla="*/ 26 h 30"/>
                <a:gd name="T46" fmla="*/ 4 w 23"/>
                <a:gd name="T47" fmla="*/ 28 h 30"/>
                <a:gd name="T48" fmla="*/ 6 w 23"/>
                <a:gd name="T49" fmla="*/ 29 h 30"/>
                <a:gd name="T50" fmla="*/ 8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19" y="6"/>
                  </a:lnTo>
                  <a:lnTo>
                    <a:pt x="18" y="5"/>
                  </a:lnTo>
                  <a:lnTo>
                    <a:pt x="18" y="4"/>
                  </a:lnTo>
                  <a:lnTo>
                    <a:pt x="17" y="3"/>
                  </a:lnTo>
                  <a:lnTo>
                    <a:pt x="16" y="1"/>
                  </a:lnTo>
                  <a:lnTo>
                    <a:pt x="15" y="0"/>
                  </a:lnTo>
                  <a:lnTo>
                    <a:pt x="14" y="0"/>
                  </a:lnTo>
                  <a:lnTo>
                    <a:pt x="13" y="0"/>
                  </a:lnTo>
                  <a:lnTo>
                    <a:pt x="12" y="0"/>
                  </a:lnTo>
                  <a:lnTo>
                    <a:pt x="11" y="0"/>
                  </a:lnTo>
                  <a:lnTo>
                    <a:pt x="10" y="0"/>
                  </a:lnTo>
                  <a:lnTo>
                    <a:pt x="8" y="0"/>
                  </a:lnTo>
                  <a:lnTo>
                    <a:pt x="7" y="0"/>
                  </a:lnTo>
                  <a:lnTo>
                    <a:pt x="6" y="1"/>
                  </a:lnTo>
                  <a:lnTo>
                    <a:pt x="5" y="1"/>
                  </a:lnTo>
                  <a:lnTo>
                    <a:pt x="4"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4"/>
                  </a:lnTo>
                  <a:lnTo>
                    <a:pt x="2" y="24"/>
                  </a:lnTo>
                  <a:lnTo>
                    <a:pt x="3" y="26"/>
                  </a:lnTo>
                  <a:lnTo>
                    <a:pt x="3" y="27"/>
                  </a:lnTo>
                  <a:lnTo>
                    <a:pt x="4" y="28"/>
                  </a:lnTo>
                  <a:lnTo>
                    <a:pt x="5" y="29"/>
                  </a:lnTo>
                  <a:lnTo>
                    <a:pt x="6" y="29"/>
                  </a:lnTo>
                  <a:lnTo>
                    <a:pt x="7" y="30"/>
                  </a:lnTo>
                  <a:lnTo>
                    <a:pt x="8" y="30"/>
                  </a:lnTo>
                  <a:lnTo>
                    <a:pt x="10" y="30"/>
                  </a:lnTo>
                  <a:lnTo>
                    <a:pt x="11" y="30"/>
                  </a:lnTo>
                  <a:lnTo>
                    <a:pt x="12" y="30"/>
                  </a:lnTo>
                  <a:lnTo>
                    <a:pt x="13" y="30"/>
                  </a:lnTo>
                  <a:lnTo>
                    <a:pt x="14" y="30"/>
                  </a:lnTo>
                  <a:lnTo>
                    <a:pt x="15" y="30"/>
                  </a:lnTo>
                  <a:lnTo>
                    <a:pt x="16" y="29"/>
                  </a:lnTo>
                  <a:lnTo>
                    <a:pt x="17" y="28"/>
                  </a:lnTo>
                  <a:lnTo>
                    <a:pt x="18" y="27"/>
                  </a:lnTo>
                  <a:lnTo>
                    <a:pt x="18" y="26"/>
                  </a:lnTo>
                  <a:lnTo>
                    <a:pt x="19" y="24"/>
                  </a:lnTo>
                  <a:lnTo>
                    <a:pt x="21" y="24"/>
                  </a:lnTo>
                  <a:lnTo>
                    <a:pt x="21" y="23"/>
                  </a:lnTo>
                  <a:lnTo>
                    <a:pt x="21" y="22"/>
                  </a:lnTo>
                  <a:lnTo>
                    <a:pt x="22" y="20"/>
                  </a:lnTo>
                  <a:lnTo>
                    <a:pt x="23" y="19"/>
                  </a:lnTo>
                  <a:lnTo>
                    <a:pt x="23" y="18"/>
                  </a:lnTo>
                  <a:lnTo>
                    <a:pt x="23" y="17"/>
                  </a:lnTo>
                  <a:lnTo>
                    <a:pt x="23" y="15"/>
                  </a:lnTo>
                  <a:close/>
                </a:path>
              </a:pathLst>
            </a:custGeom>
            <a:solidFill>
              <a:srgbClr val="FF000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91" name="Line 723">
              <a:extLst>
                <a:ext uri="{FF2B5EF4-FFF2-40B4-BE49-F238E27FC236}">
                  <a16:creationId xmlns:a16="http://schemas.microsoft.com/office/drawing/2014/main" id="{295BE08F-FDB8-9E4F-A90C-86CB77780371}"/>
                </a:ext>
              </a:extLst>
            </p:cNvPr>
            <p:cNvSpPr>
              <a:spLocks noChangeShapeType="1"/>
            </p:cNvSpPr>
            <p:nvPr/>
          </p:nvSpPr>
          <p:spPr bwMode="auto">
            <a:xfrm>
              <a:off x="414" y="1815"/>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192" name="Line 724">
              <a:extLst>
                <a:ext uri="{FF2B5EF4-FFF2-40B4-BE49-F238E27FC236}">
                  <a16:creationId xmlns:a16="http://schemas.microsoft.com/office/drawing/2014/main" id="{4DAAE8C6-1E91-1B49-AA53-D8CACA64B143}"/>
                </a:ext>
              </a:extLst>
            </p:cNvPr>
            <p:cNvSpPr>
              <a:spLocks noChangeShapeType="1"/>
            </p:cNvSpPr>
            <p:nvPr/>
          </p:nvSpPr>
          <p:spPr bwMode="auto">
            <a:xfrm>
              <a:off x="395" y="1839"/>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111" name="Group 725">
            <a:extLst>
              <a:ext uri="{FF2B5EF4-FFF2-40B4-BE49-F238E27FC236}">
                <a16:creationId xmlns:a16="http://schemas.microsoft.com/office/drawing/2014/main" id="{032A7C40-2402-0D4F-9F89-34532564D8C6}"/>
              </a:ext>
            </a:extLst>
          </p:cNvPr>
          <p:cNvGrpSpPr>
            <a:grpSpLocks/>
          </p:cNvGrpSpPr>
          <p:nvPr/>
        </p:nvGrpSpPr>
        <p:grpSpPr bwMode="auto">
          <a:xfrm>
            <a:off x="2895600" y="2743201"/>
            <a:ext cx="325438" cy="339725"/>
            <a:chOff x="263" y="1719"/>
            <a:chExt cx="205" cy="214"/>
          </a:xfrm>
        </p:grpSpPr>
        <p:sp>
          <p:nvSpPr>
            <p:cNvPr id="26179" name="Freeform 726">
              <a:extLst>
                <a:ext uri="{FF2B5EF4-FFF2-40B4-BE49-F238E27FC236}">
                  <a16:creationId xmlns:a16="http://schemas.microsoft.com/office/drawing/2014/main" id="{4A4A363B-161C-8F42-AC83-C569F5EA323B}"/>
                </a:ext>
              </a:extLst>
            </p:cNvPr>
            <p:cNvSpPr>
              <a:spLocks/>
            </p:cNvSpPr>
            <p:nvPr/>
          </p:nvSpPr>
          <p:spPr bwMode="auto">
            <a:xfrm>
              <a:off x="263" y="1719"/>
              <a:ext cx="205" cy="214"/>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FF000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80" name="Rectangle 727">
              <a:extLst>
                <a:ext uri="{FF2B5EF4-FFF2-40B4-BE49-F238E27FC236}">
                  <a16:creationId xmlns:a16="http://schemas.microsoft.com/office/drawing/2014/main" id="{63528323-47A0-8148-AAD1-3B47010E5129}"/>
                </a:ext>
              </a:extLst>
            </p:cNvPr>
            <p:cNvSpPr>
              <a:spLocks noChangeArrowheads="1"/>
            </p:cNvSpPr>
            <p:nvPr/>
          </p:nvSpPr>
          <p:spPr bwMode="auto">
            <a:xfrm>
              <a:off x="282" y="1784"/>
              <a:ext cx="170" cy="139"/>
            </a:xfrm>
            <a:prstGeom prst="rect">
              <a:avLst/>
            </a:prstGeom>
            <a:solidFill>
              <a:srgbClr val="FF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81" name="Rectangle 728">
              <a:extLst>
                <a:ext uri="{FF2B5EF4-FFF2-40B4-BE49-F238E27FC236}">
                  <a16:creationId xmlns:a16="http://schemas.microsoft.com/office/drawing/2014/main" id="{2820CC3D-2061-C846-B90F-10640A290694}"/>
                </a:ext>
              </a:extLst>
            </p:cNvPr>
            <p:cNvSpPr>
              <a:spLocks noChangeArrowheads="1"/>
            </p:cNvSpPr>
            <p:nvPr/>
          </p:nvSpPr>
          <p:spPr bwMode="auto">
            <a:xfrm>
              <a:off x="309" y="1817"/>
              <a:ext cx="60" cy="105"/>
            </a:xfrm>
            <a:prstGeom prst="rect">
              <a:avLst/>
            </a:prstGeom>
            <a:solidFill>
              <a:srgbClr val="FF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82" name="Rectangle 729">
              <a:extLst>
                <a:ext uri="{FF2B5EF4-FFF2-40B4-BE49-F238E27FC236}">
                  <a16:creationId xmlns:a16="http://schemas.microsoft.com/office/drawing/2014/main" id="{1AC0F24F-8945-5745-8B15-EAD16A3EEDC2}"/>
                </a:ext>
              </a:extLst>
            </p:cNvPr>
            <p:cNvSpPr>
              <a:spLocks noChangeArrowheads="1"/>
            </p:cNvSpPr>
            <p:nvPr/>
          </p:nvSpPr>
          <p:spPr bwMode="auto">
            <a:xfrm>
              <a:off x="395" y="1815"/>
              <a:ext cx="40" cy="50"/>
            </a:xfrm>
            <a:prstGeom prst="rect">
              <a:avLst/>
            </a:prstGeom>
            <a:solidFill>
              <a:srgbClr val="FF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83" name="Freeform 730">
              <a:extLst>
                <a:ext uri="{FF2B5EF4-FFF2-40B4-BE49-F238E27FC236}">
                  <a16:creationId xmlns:a16="http://schemas.microsoft.com/office/drawing/2014/main" id="{2852B1D3-2F39-C542-AC0C-BC48A02A96C2}"/>
                </a:ext>
              </a:extLst>
            </p:cNvPr>
            <p:cNvSpPr>
              <a:spLocks/>
            </p:cNvSpPr>
            <p:nvPr/>
          </p:nvSpPr>
          <p:spPr bwMode="auto">
            <a:xfrm>
              <a:off x="353" y="1866"/>
              <a:ext cx="8" cy="10"/>
            </a:xfrm>
            <a:custGeom>
              <a:avLst/>
              <a:gdLst>
                <a:gd name="T0" fmla="*/ 23 w 23"/>
                <a:gd name="T1" fmla="*/ 14 h 30"/>
                <a:gd name="T2" fmla="*/ 23 w 23"/>
                <a:gd name="T3" fmla="*/ 11 h 30"/>
                <a:gd name="T4" fmla="*/ 21 w 23"/>
                <a:gd name="T5" fmla="*/ 9 h 30"/>
                <a:gd name="T6" fmla="*/ 21 w 23"/>
                <a:gd name="T7" fmla="*/ 7 h 30"/>
                <a:gd name="T8" fmla="*/ 18 w 23"/>
                <a:gd name="T9" fmla="*/ 5 h 30"/>
                <a:gd name="T10" fmla="*/ 17 w 23"/>
                <a:gd name="T11" fmla="*/ 3 h 30"/>
                <a:gd name="T12" fmla="*/ 16 w 23"/>
                <a:gd name="T13" fmla="*/ 1 h 30"/>
                <a:gd name="T14" fmla="*/ 14 w 23"/>
                <a:gd name="T15" fmla="*/ 0 h 30"/>
                <a:gd name="T16" fmla="*/ 12 w 23"/>
                <a:gd name="T17" fmla="*/ 0 h 30"/>
                <a:gd name="T18" fmla="*/ 10 w 23"/>
                <a:gd name="T19" fmla="*/ 0 h 30"/>
                <a:gd name="T20" fmla="*/ 8 w 23"/>
                <a:gd name="T21" fmla="*/ 0 h 30"/>
                <a:gd name="T22" fmla="*/ 6 w 23"/>
                <a:gd name="T23" fmla="*/ 1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4 h 30"/>
                <a:gd name="T44" fmla="*/ 3 w 23"/>
                <a:gd name="T45" fmla="*/ 26 h 30"/>
                <a:gd name="T46" fmla="*/ 4 w 23"/>
                <a:gd name="T47" fmla="*/ 28 h 30"/>
                <a:gd name="T48" fmla="*/ 6 w 23"/>
                <a:gd name="T49" fmla="*/ 29 h 30"/>
                <a:gd name="T50" fmla="*/ 8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19" y="6"/>
                  </a:lnTo>
                  <a:lnTo>
                    <a:pt x="18" y="5"/>
                  </a:lnTo>
                  <a:lnTo>
                    <a:pt x="18" y="4"/>
                  </a:lnTo>
                  <a:lnTo>
                    <a:pt x="17" y="3"/>
                  </a:lnTo>
                  <a:lnTo>
                    <a:pt x="16" y="1"/>
                  </a:lnTo>
                  <a:lnTo>
                    <a:pt x="15" y="0"/>
                  </a:lnTo>
                  <a:lnTo>
                    <a:pt x="14" y="0"/>
                  </a:lnTo>
                  <a:lnTo>
                    <a:pt x="13" y="0"/>
                  </a:lnTo>
                  <a:lnTo>
                    <a:pt x="12" y="0"/>
                  </a:lnTo>
                  <a:lnTo>
                    <a:pt x="11" y="0"/>
                  </a:lnTo>
                  <a:lnTo>
                    <a:pt x="10" y="0"/>
                  </a:lnTo>
                  <a:lnTo>
                    <a:pt x="8" y="0"/>
                  </a:lnTo>
                  <a:lnTo>
                    <a:pt x="7" y="0"/>
                  </a:lnTo>
                  <a:lnTo>
                    <a:pt x="6" y="1"/>
                  </a:lnTo>
                  <a:lnTo>
                    <a:pt x="5" y="1"/>
                  </a:lnTo>
                  <a:lnTo>
                    <a:pt x="4"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4"/>
                  </a:lnTo>
                  <a:lnTo>
                    <a:pt x="2" y="24"/>
                  </a:lnTo>
                  <a:lnTo>
                    <a:pt x="3" y="26"/>
                  </a:lnTo>
                  <a:lnTo>
                    <a:pt x="3" y="27"/>
                  </a:lnTo>
                  <a:lnTo>
                    <a:pt x="4" y="28"/>
                  </a:lnTo>
                  <a:lnTo>
                    <a:pt x="5" y="29"/>
                  </a:lnTo>
                  <a:lnTo>
                    <a:pt x="6" y="29"/>
                  </a:lnTo>
                  <a:lnTo>
                    <a:pt x="7" y="30"/>
                  </a:lnTo>
                  <a:lnTo>
                    <a:pt x="8" y="30"/>
                  </a:lnTo>
                  <a:lnTo>
                    <a:pt x="10" y="30"/>
                  </a:lnTo>
                  <a:lnTo>
                    <a:pt x="11" y="30"/>
                  </a:lnTo>
                  <a:lnTo>
                    <a:pt x="12" y="30"/>
                  </a:lnTo>
                  <a:lnTo>
                    <a:pt x="13" y="30"/>
                  </a:lnTo>
                  <a:lnTo>
                    <a:pt x="14" y="30"/>
                  </a:lnTo>
                  <a:lnTo>
                    <a:pt x="15" y="30"/>
                  </a:lnTo>
                  <a:lnTo>
                    <a:pt x="16" y="29"/>
                  </a:lnTo>
                  <a:lnTo>
                    <a:pt x="17" y="28"/>
                  </a:lnTo>
                  <a:lnTo>
                    <a:pt x="18" y="27"/>
                  </a:lnTo>
                  <a:lnTo>
                    <a:pt x="18" y="26"/>
                  </a:lnTo>
                  <a:lnTo>
                    <a:pt x="19" y="24"/>
                  </a:lnTo>
                  <a:lnTo>
                    <a:pt x="21" y="24"/>
                  </a:lnTo>
                  <a:lnTo>
                    <a:pt x="21" y="23"/>
                  </a:lnTo>
                  <a:lnTo>
                    <a:pt x="21" y="22"/>
                  </a:lnTo>
                  <a:lnTo>
                    <a:pt x="22" y="20"/>
                  </a:lnTo>
                  <a:lnTo>
                    <a:pt x="23" y="19"/>
                  </a:lnTo>
                  <a:lnTo>
                    <a:pt x="23" y="18"/>
                  </a:lnTo>
                  <a:lnTo>
                    <a:pt x="23" y="17"/>
                  </a:lnTo>
                  <a:lnTo>
                    <a:pt x="23" y="15"/>
                  </a:lnTo>
                  <a:close/>
                </a:path>
              </a:pathLst>
            </a:custGeom>
            <a:solidFill>
              <a:srgbClr val="FF000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84" name="Line 731">
              <a:extLst>
                <a:ext uri="{FF2B5EF4-FFF2-40B4-BE49-F238E27FC236}">
                  <a16:creationId xmlns:a16="http://schemas.microsoft.com/office/drawing/2014/main" id="{4207E726-9225-5C42-9261-802ADCE2AA52}"/>
                </a:ext>
              </a:extLst>
            </p:cNvPr>
            <p:cNvSpPr>
              <a:spLocks noChangeShapeType="1"/>
            </p:cNvSpPr>
            <p:nvPr/>
          </p:nvSpPr>
          <p:spPr bwMode="auto">
            <a:xfrm>
              <a:off x="414" y="1815"/>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185" name="Line 732">
              <a:extLst>
                <a:ext uri="{FF2B5EF4-FFF2-40B4-BE49-F238E27FC236}">
                  <a16:creationId xmlns:a16="http://schemas.microsoft.com/office/drawing/2014/main" id="{F099B4D1-29AC-9B4D-A506-06B33C1A8BEA}"/>
                </a:ext>
              </a:extLst>
            </p:cNvPr>
            <p:cNvSpPr>
              <a:spLocks noChangeShapeType="1"/>
            </p:cNvSpPr>
            <p:nvPr/>
          </p:nvSpPr>
          <p:spPr bwMode="auto">
            <a:xfrm>
              <a:off x="395" y="1839"/>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112" name="Group 733">
            <a:extLst>
              <a:ext uri="{FF2B5EF4-FFF2-40B4-BE49-F238E27FC236}">
                <a16:creationId xmlns:a16="http://schemas.microsoft.com/office/drawing/2014/main" id="{BF7CB7C2-3C22-3348-B238-16D7AC61CDE7}"/>
              </a:ext>
            </a:extLst>
          </p:cNvPr>
          <p:cNvGrpSpPr>
            <a:grpSpLocks/>
          </p:cNvGrpSpPr>
          <p:nvPr/>
        </p:nvGrpSpPr>
        <p:grpSpPr bwMode="auto">
          <a:xfrm>
            <a:off x="2895600" y="2209801"/>
            <a:ext cx="325438" cy="339725"/>
            <a:chOff x="263" y="1719"/>
            <a:chExt cx="205" cy="214"/>
          </a:xfrm>
        </p:grpSpPr>
        <p:sp>
          <p:nvSpPr>
            <p:cNvPr id="26172" name="Freeform 734">
              <a:extLst>
                <a:ext uri="{FF2B5EF4-FFF2-40B4-BE49-F238E27FC236}">
                  <a16:creationId xmlns:a16="http://schemas.microsoft.com/office/drawing/2014/main" id="{779DC299-5C8E-884C-B5C1-779EEB1D69D2}"/>
                </a:ext>
              </a:extLst>
            </p:cNvPr>
            <p:cNvSpPr>
              <a:spLocks/>
            </p:cNvSpPr>
            <p:nvPr/>
          </p:nvSpPr>
          <p:spPr bwMode="auto">
            <a:xfrm>
              <a:off x="263" y="1719"/>
              <a:ext cx="205" cy="214"/>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FF000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73" name="Rectangle 735">
              <a:extLst>
                <a:ext uri="{FF2B5EF4-FFF2-40B4-BE49-F238E27FC236}">
                  <a16:creationId xmlns:a16="http://schemas.microsoft.com/office/drawing/2014/main" id="{1A577158-AA77-9340-A89A-963147CD0E28}"/>
                </a:ext>
              </a:extLst>
            </p:cNvPr>
            <p:cNvSpPr>
              <a:spLocks noChangeArrowheads="1"/>
            </p:cNvSpPr>
            <p:nvPr/>
          </p:nvSpPr>
          <p:spPr bwMode="auto">
            <a:xfrm>
              <a:off x="282" y="1784"/>
              <a:ext cx="170" cy="139"/>
            </a:xfrm>
            <a:prstGeom prst="rect">
              <a:avLst/>
            </a:prstGeom>
            <a:solidFill>
              <a:srgbClr val="FF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74" name="Rectangle 736">
              <a:extLst>
                <a:ext uri="{FF2B5EF4-FFF2-40B4-BE49-F238E27FC236}">
                  <a16:creationId xmlns:a16="http://schemas.microsoft.com/office/drawing/2014/main" id="{455B7C8B-20D3-0647-B6C3-1F0DFA559A6F}"/>
                </a:ext>
              </a:extLst>
            </p:cNvPr>
            <p:cNvSpPr>
              <a:spLocks noChangeArrowheads="1"/>
            </p:cNvSpPr>
            <p:nvPr/>
          </p:nvSpPr>
          <p:spPr bwMode="auto">
            <a:xfrm>
              <a:off x="309" y="1817"/>
              <a:ext cx="60" cy="105"/>
            </a:xfrm>
            <a:prstGeom prst="rect">
              <a:avLst/>
            </a:prstGeom>
            <a:solidFill>
              <a:srgbClr val="FF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75" name="Rectangle 737">
              <a:extLst>
                <a:ext uri="{FF2B5EF4-FFF2-40B4-BE49-F238E27FC236}">
                  <a16:creationId xmlns:a16="http://schemas.microsoft.com/office/drawing/2014/main" id="{28F1AA91-2516-3341-822A-43DEF1ACB296}"/>
                </a:ext>
              </a:extLst>
            </p:cNvPr>
            <p:cNvSpPr>
              <a:spLocks noChangeArrowheads="1"/>
            </p:cNvSpPr>
            <p:nvPr/>
          </p:nvSpPr>
          <p:spPr bwMode="auto">
            <a:xfrm>
              <a:off x="395" y="1815"/>
              <a:ext cx="40" cy="50"/>
            </a:xfrm>
            <a:prstGeom prst="rect">
              <a:avLst/>
            </a:prstGeom>
            <a:solidFill>
              <a:srgbClr val="FF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76" name="Freeform 738">
              <a:extLst>
                <a:ext uri="{FF2B5EF4-FFF2-40B4-BE49-F238E27FC236}">
                  <a16:creationId xmlns:a16="http://schemas.microsoft.com/office/drawing/2014/main" id="{5E08C882-7BA9-0847-B2C3-5B2BA6538DC7}"/>
                </a:ext>
              </a:extLst>
            </p:cNvPr>
            <p:cNvSpPr>
              <a:spLocks/>
            </p:cNvSpPr>
            <p:nvPr/>
          </p:nvSpPr>
          <p:spPr bwMode="auto">
            <a:xfrm>
              <a:off x="353" y="1866"/>
              <a:ext cx="8" cy="10"/>
            </a:xfrm>
            <a:custGeom>
              <a:avLst/>
              <a:gdLst>
                <a:gd name="T0" fmla="*/ 23 w 23"/>
                <a:gd name="T1" fmla="*/ 14 h 30"/>
                <a:gd name="T2" fmla="*/ 23 w 23"/>
                <a:gd name="T3" fmla="*/ 11 h 30"/>
                <a:gd name="T4" fmla="*/ 21 w 23"/>
                <a:gd name="T5" fmla="*/ 9 h 30"/>
                <a:gd name="T6" fmla="*/ 21 w 23"/>
                <a:gd name="T7" fmla="*/ 7 h 30"/>
                <a:gd name="T8" fmla="*/ 18 w 23"/>
                <a:gd name="T9" fmla="*/ 5 h 30"/>
                <a:gd name="T10" fmla="*/ 17 w 23"/>
                <a:gd name="T11" fmla="*/ 3 h 30"/>
                <a:gd name="T12" fmla="*/ 16 w 23"/>
                <a:gd name="T13" fmla="*/ 1 h 30"/>
                <a:gd name="T14" fmla="*/ 14 w 23"/>
                <a:gd name="T15" fmla="*/ 0 h 30"/>
                <a:gd name="T16" fmla="*/ 12 w 23"/>
                <a:gd name="T17" fmla="*/ 0 h 30"/>
                <a:gd name="T18" fmla="*/ 10 w 23"/>
                <a:gd name="T19" fmla="*/ 0 h 30"/>
                <a:gd name="T20" fmla="*/ 8 w 23"/>
                <a:gd name="T21" fmla="*/ 0 h 30"/>
                <a:gd name="T22" fmla="*/ 6 w 23"/>
                <a:gd name="T23" fmla="*/ 1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4 h 30"/>
                <a:gd name="T44" fmla="*/ 3 w 23"/>
                <a:gd name="T45" fmla="*/ 26 h 30"/>
                <a:gd name="T46" fmla="*/ 4 w 23"/>
                <a:gd name="T47" fmla="*/ 28 h 30"/>
                <a:gd name="T48" fmla="*/ 6 w 23"/>
                <a:gd name="T49" fmla="*/ 29 h 30"/>
                <a:gd name="T50" fmla="*/ 8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19" y="6"/>
                  </a:lnTo>
                  <a:lnTo>
                    <a:pt x="18" y="5"/>
                  </a:lnTo>
                  <a:lnTo>
                    <a:pt x="18" y="4"/>
                  </a:lnTo>
                  <a:lnTo>
                    <a:pt x="17" y="3"/>
                  </a:lnTo>
                  <a:lnTo>
                    <a:pt x="16" y="1"/>
                  </a:lnTo>
                  <a:lnTo>
                    <a:pt x="15" y="0"/>
                  </a:lnTo>
                  <a:lnTo>
                    <a:pt x="14" y="0"/>
                  </a:lnTo>
                  <a:lnTo>
                    <a:pt x="13" y="0"/>
                  </a:lnTo>
                  <a:lnTo>
                    <a:pt x="12" y="0"/>
                  </a:lnTo>
                  <a:lnTo>
                    <a:pt x="11" y="0"/>
                  </a:lnTo>
                  <a:lnTo>
                    <a:pt x="10" y="0"/>
                  </a:lnTo>
                  <a:lnTo>
                    <a:pt x="8" y="0"/>
                  </a:lnTo>
                  <a:lnTo>
                    <a:pt x="7" y="0"/>
                  </a:lnTo>
                  <a:lnTo>
                    <a:pt x="6" y="1"/>
                  </a:lnTo>
                  <a:lnTo>
                    <a:pt x="5" y="1"/>
                  </a:lnTo>
                  <a:lnTo>
                    <a:pt x="4"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4"/>
                  </a:lnTo>
                  <a:lnTo>
                    <a:pt x="2" y="24"/>
                  </a:lnTo>
                  <a:lnTo>
                    <a:pt x="3" y="26"/>
                  </a:lnTo>
                  <a:lnTo>
                    <a:pt x="3" y="27"/>
                  </a:lnTo>
                  <a:lnTo>
                    <a:pt x="4" y="28"/>
                  </a:lnTo>
                  <a:lnTo>
                    <a:pt x="5" y="29"/>
                  </a:lnTo>
                  <a:lnTo>
                    <a:pt x="6" y="29"/>
                  </a:lnTo>
                  <a:lnTo>
                    <a:pt x="7" y="30"/>
                  </a:lnTo>
                  <a:lnTo>
                    <a:pt x="8" y="30"/>
                  </a:lnTo>
                  <a:lnTo>
                    <a:pt x="10" y="30"/>
                  </a:lnTo>
                  <a:lnTo>
                    <a:pt x="11" y="30"/>
                  </a:lnTo>
                  <a:lnTo>
                    <a:pt x="12" y="30"/>
                  </a:lnTo>
                  <a:lnTo>
                    <a:pt x="13" y="30"/>
                  </a:lnTo>
                  <a:lnTo>
                    <a:pt x="14" y="30"/>
                  </a:lnTo>
                  <a:lnTo>
                    <a:pt x="15" y="30"/>
                  </a:lnTo>
                  <a:lnTo>
                    <a:pt x="16" y="29"/>
                  </a:lnTo>
                  <a:lnTo>
                    <a:pt x="17" y="28"/>
                  </a:lnTo>
                  <a:lnTo>
                    <a:pt x="18" y="27"/>
                  </a:lnTo>
                  <a:lnTo>
                    <a:pt x="18" y="26"/>
                  </a:lnTo>
                  <a:lnTo>
                    <a:pt x="19" y="24"/>
                  </a:lnTo>
                  <a:lnTo>
                    <a:pt x="21" y="24"/>
                  </a:lnTo>
                  <a:lnTo>
                    <a:pt x="21" y="23"/>
                  </a:lnTo>
                  <a:lnTo>
                    <a:pt x="21" y="22"/>
                  </a:lnTo>
                  <a:lnTo>
                    <a:pt x="22" y="20"/>
                  </a:lnTo>
                  <a:lnTo>
                    <a:pt x="23" y="19"/>
                  </a:lnTo>
                  <a:lnTo>
                    <a:pt x="23" y="18"/>
                  </a:lnTo>
                  <a:lnTo>
                    <a:pt x="23" y="17"/>
                  </a:lnTo>
                  <a:lnTo>
                    <a:pt x="23" y="15"/>
                  </a:lnTo>
                  <a:close/>
                </a:path>
              </a:pathLst>
            </a:custGeom>
            <a:solidFill>
              <a:srgbClr val="FF000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77" name="Line 739">
              <a:extLst>
                <a:ext uri="{FF2B5EF4-FFF2-40B4-BE49-F238E27FC236}">
                  <a16:creationId xmlns:a16="http://schemas.microsoft.com/office/drawing/2014/main" id="{2949A7C6-155F-3046-B85C-AE49BF050279}"/>
                </a:ext>
              </a:extLst>
            </p:cNvPr>
            <p:cNvSpPr>
              <a:spLocks noChangeShapeType="1"/>
            </p:cNvSpPr>
            <p:nvPr/>
          </p:nvSpPr>
          <p:spPr bwMode="auto">
            <a:xfrm>
              <a:off x="414" y="1815"/>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178" name="Line 740">
              <a:extLst>
                <a:ext uri="{FF2B5EF4-FFF2-40B4-BE49-F238E27FC236}">
                  <a16:creationId xmlns:a16="http://schemas.microsoft.com/office/drawing/2014/main" id="{ED926249-B771-A246-9B70-6ADBD3556C28}"/>
                </a:ext>
              </a:extLst>
            </p:cNvPr>
            <p:cNvSpPr>
              <a:spLocks noChangeShapeType="1"/>
            </p:cNvSpPr>
            <p:nvPr/>
          </p:nvSpPr>
          <p:spPr bwMode="auto">
            <a:xfrm>
              <a:off x="395" y="1839"/>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113" name="Group 741">
            <a:extLst>
              <a:ext uri="{FF2B5EF4-FFF2-40B4-BE49-F238E27FC236}">
                <a16:creationId xmlns:a16="http://schemas.microsoft.com/office/drawing/2014/main" id="{B18D88F9-1906-E543-9E45-85734B9CF0A9}"/>
              </a:ext>
            </a:extLst>
          </p:cNvPr>
          <p:cNvGrpSpPr>
            <a:grpSpLocks/>
          </p:cNvGrpSpPr>
          <p:nvPr/>
        </p:nvGrpSpPr>
        <p:grpSpPr bwMode="auto">
          <a:xfrm>
            <a:off x="3352800" y="2590801"/>
            <a:ext cx="325438" cy="339725"/>
            <a:chOff x="263" y="1719"/>
            <a:chExt cx="205" cy="214"/>
          </a:xfrm>
        </p:grpSpPr>
        <p:sp>
          <p:nvSpPr>
            <p:cNvPr id="26165" name="Freeform 742">
              <a:extLst>
                <a:ext uri="{FF2B5EF4-FFF2-40B4-BE49-F238E27FC236}">
                  <a16:creationId xmlns:a16="http://schemas.microsoft.com/office/drawing/2014/main" id="{B764CE41-50B0-1246-B279-C12D3415B8DC}"/>
                </a:ext>
              </a:extLst>
            </p:cNvPr>
            <p:cNvSpPr>
              <a:spLocks/>
            </p:cNvSpPr>
            <p:nvPr/>
          </p:nvSpPr>
          <p:spPr bwMode="auto">
            <a:xfrm>
              <a:off x="263" y="1719"/>
              <a:ext cx="205" cy="214"/>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FF000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66" name="Rectangle 743">
              <a:extLst>
                <a:ext uri="{FF2B5EF4-FFF2-40B4-BE49-F238E27FC236}">
                  <a16:creationId xmlns:a16="http://schemas.microsoft.com/office/drawing/2014/main" id="{3CEFDFAA-72FA-7A41-B3C5-8822E637EEC9}"/>
                </a:ext>
              </a:extLst>
            </p:cNvPr>
            <p:cNvSpPr>
              <a:spLocks noChangeArrowheads="1"/>
            </p:cNvSpPr>
            <p:nvPr/>
          </p:nvSpPr>
          <p:spPr bwMode="auto">
            <a:xfrm>
              <a:off x="282" y="1784"/>
              <a:ext cx="170" cy="139"/>
            </a:xfrm>
            <a:prstGeom prst="rect">
              <a:avLst/>
            </a:prstGeom>
            <a:solidFill>
              <a:srgbClr val="FF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67" name="Rectangle 744">
              <a:extLst>
                <a:ext uri="{FF2B5EF4-FFF2-40B4-BE49-F238E27FC236}">
                  <a16:creationId xmlns:a16="http://schemas.microsoft.com/office/drawing/2014/main" id="{E43F3E36-852A-E149-AD80-2E79FDC362F4}"/>
                </a:ext>
              </a:extLst>
            </p:cNvPr>
            <p:cNvSpPr>
              <a:spLocks noChangeArrowheads="1"/>
            </p:cNvSpPr>
            <p:nvPr/>
          </p:nvSpPr>
          <p:spPr bwMode="auto">
            <a:xfrm>
              <a:off x="309" y="1817"/>
              <a:ext cx="60" cy="105"/>
            </a:xfrm>
            <a:prstGeom prst="rect">
              <a:avLst/>
            </a:prstGeom>
            <a:solidFill>
              <a:srgbClr val="FF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68" name="Rectangle 745">
              <a:extLst>
                <a:ext uri="{FF2B5EF4-FFF2-40B4-BE49-F238E27FC236}">
                  <a16:creationId xmlns:a16="http://schemas.microsoft.com/office/drawing/2014/main" id="{DE790375-7363-6448-91D6-3EDE8C9BF96B}"/>
                </a:ext>
              </a:extLst>
            </p:cNvPr>
            <p:cNvSpPr>
              <a:spLocks noChangeArrowheads="1"/>
            </p:cNvSpPr>
            <p:nvPr/>
          </p:nvSpPr>
          <p:spPr bwMode="auto">
            <a:xfrm>
              <a:off x="395" y="1815"/>
              <a:ext cx="40" cy="50"/>
            </a:xfrm>
            <a:prstGeom prst="rect">
              <a:avLst/>
            </a:prstGeom>
            <a:solidFill>
              <a:srgbClr val="FF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69" name="Freeform 746">
              <a:extLst>
                <a:ext uri="{FF2B5EF4-FFF2-40B4-BE49-F238E27FC236}">
                  <a16:creationId xmlns:a16="http://schemas.microsoft.com/office/drawing/2014/main" id="{F6FBD2A1-6D06-2042-AA6A-FE33736B1EAF}"/>
                </a:ext>
              </a:extLst>
            </p:cNvPr>
            <p:cNvSpPr>
              <a:spLocks/>
            </p:cNvSpPr>
            <p:nvPr/>
          </p:nvSpPr>
          <p:spPr bwMode="auto">
            <a:xfrm>
              <a:off x="353" y="1866"/>
              <a:ext cx="8" cy="10"/>
            </a:xfrm>
            <a:custGeom>
              <a:avLst/>
              <a:gdLst>
                <a:gd name="T0" fmla="*/ 23 w 23"/>
                <a:gd name="T1" fmla="*/ 14 h 30"/>
                <a:gd name="T2" fmla="*/ 23 w 23"/>
                <a:gd name="T3" fmla="*/ 11 h 30"/>
                <a:gd name="T4" fmla="*/ 21 w 23"/>
                <a:gd name="T5" fmla="*/ 9 h 30"/>
                <a:gd name="T6" fmla="*/ 21 w 23"/>
                <a:gd name="T7" fmla="*/ 7 h 30"/>
                <a:gd name="T8" fmla="*/ 18 w 23"/>
                <a:gd name="T9" fmla="*/ 5 h 30"/>
                <a:gd name="T10" fmla="*/ 17 w 23"/>
                <a:gd name="T11" fmla="*/ 3 h 30"/>
                <a:gd name="T12" fmla="*/ 16 w 23"/>
                <a:gd name="T13" fmla="*/ 1 h 30"/>
                <a:gd name="T14" fmla="*/ 14 w 23"/>
                <a:gd name="T15" fmla="*/ 0 h 30"/>
                <a:gd name="T16" fmla="*/ 12 w 23"/>
                <a:gd name="T17" fmla="*/ 0 h 30"/>
                <a:gd name="T18" fmla="*/ 10 w 23"/>
                <a:gd name="T19" fmla="*/ 0 h 30"/>
                <a:gd name="T20" fmla="*/ 8 w 23"/>
                <a:gd name="T21" fmla="*/ 0 h 30"/>
                <a:gd name="T22" fmla="*/ 6 w 23"/>
                <a:gd name="T23" fmla="*/ 1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4 h 30"/>
                <a:gd name="T44" fmla="*/ 3 w 23"/>
                <a:gd name="T45" fmla="*/ 26 h 30"/>
                <a:gd name="T46" fmla="*/ 4 w 23"/>
                <a:gd name="T47" fmla="*/ 28 h 30"/>
                <a:gd name="T48" fmla="*/ 6 w 23"/>
                <a:gd name="T49" fmla="*/ 29 h 30"/>
                <a:gd name="T50" fmla="*/ 8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19" y="6"/>
                  </a:lnTo>
                  <a:lnTo>
                    <a:pt x="18" y="5"/>
                  </a:lnTo>
                  <a:lnTo>
                    <a:pt x="18" y="4"/>
                  </a:lnTo>
                  <a:lnTo>
                    <a:pt x="17" y="3"/>
                  </a:lnTo>
                  <a:lnTo>
                    <a:pt x="16" y="1"/>
                  </a:lnTo>
                  <a:lnTo>
                    <a:pt x="15" y="0"/>
                  </a:lnTo>
                  <a:lnTo>
                    <a:pt x="14" y="0"/>
                  </a:lnTo>
                  <a:lnTo>
                    <a:pt x="13" y="0"/>
                  </a:lnTo>
                  <a:lnTo>
                    <a:pt x="12" y="0"/>
                  </a:lnTo>
                  <a:lnTo>
                    <a:pt x="11" y="0"/>
                  </a:lnTo>
                  <a:lnTo>
                    <a:pt x="10" y="0"/>
                  </a:lnTo>
                  <a:lnTo>
                    <a:pt x="8" y="0"/>
                  </a:lnTo>
                  <a:lnTo>
                    <a:pt x="7" y="0"/>
                  </a:lnTo>
                  <a:lnTo>
                    <a:pt x="6" y="1"/>
                  </a:lnTo>
                  <a:lnTo>
                    <a:pt x="5" y="1"/>
                  </a:lnTo>
                  <a:lnTo>
                    <a:pt x="4"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4"/>
                  </a:lnTo>
                  <a:lnTo>
                    <a:pt x="2" y="24"/>
                  </a:lnTo>
                  <a:lnTo>
                    <a:pt x="3" y="26"/>
                  </a:lnTo>
                  <a:lnTo>
                    <a:pt x="3" y="27"/>
                  </a:lnTo>
                  <a:lnTo>
                    <a:pt x="4" y="28"/>
                  </a:lnTo>
                  <a:lnTo>
                    <a:pt x="5" y="29"/>
                  </a:lnTo>
                  <a:lnTo>
                    <a:pt x="6" y="29"/>
                  </a:lnTo>
                  <a:lnTo>
                    <a:pt x="7" y="30"/>
                  </a:lnTo>
                  <a:lnTo>
                    <a:pt x="8" y="30"/>
                  </a:lnTo>
                  <a:lnTo>
                    <a:pt x="10" y="30"/>
                  </a:lnTo>
                  <a:lnTo>
                    <a:pt x="11" y="30"/>
                  </a:lnTo>
                  <a:lnTo>
                    <a:pt x="12" y="30"/>
                  </a:lnTo>
                  <a:lnTo>
                    <a:pt x="13" y="30"/>
                  </a:lnTo>
                  <a:lnTo>
                    <a:pt x="14" y="30"/>
                  </a:lnTo>
                  <a:lnTo>
                    <a:pt x="15" y="30"/>
                  </a:lnTo>
                  <a:lnTo>
                    <a:pt x="16" y="29"/>
                  </a:lnTo>
                  <a:lnTo>
                    <a:pt x="17" y="28"/>
                  </a:lnTo>
                  <a:lnTo>
                    <a:pt x="18" y="27"/>
                  </a:lnTo>
                  <a:lnTo>
                    <a:pt x="18" y="26"/>
                  </a:lnTo>
                  <a:lnTo>
                    <a:pt x="19" y="24"/>
                  </a:lnTo>
                  <a:lnTo>
                    <a:pt x="21" y="24"/>
                  </a:lnTo>
                  <a:lnTo>
                    <a:pt x="21" y="23"/>
                  </a:lnTo>
                  <a:lnTo>
                    <a:pt x="21" y="22"/>
                  </a:lnTo>
                  <a:lnTo>
                    <a:pt x="22" y="20"/>
                  </a:lnTo>
                  <a:lnTo>
                    <a:pt x="23" y="19"/>
                  </a:lnTo>
                  <a:lnTo>
                    <a:pt x="23" y="18"/>
                  </a:lnTo>
                  <a:lnTo>
                    <a:pt x="23" y="17"/>
                  </a:lnTo>
                  <a:lnTo>
                    <a:pt x="23" y="15"/>
                  </a:lnTo>
                  <a:close/>
                </a:path>
              </a:pathLst>
            </a:custGeom>
            <a:solidFill>
              <a:srgbClr val="FF000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70" name="Line 747">
              <a:extLst>
                <a:ext uri="{FF2B5EF4-FFF2-40B4-BE49-F238E27FC236}">
                  <a16:creationId xmlns:a16="http://schemas.microsoft.com/office/drawing/2014/main" id="{4DD546B5-2896-8F4A-BAC4-2AE1F3668719}"/>
                </a:ext>
              </a:extLst>
            </p:cNvPr>
            <p:cNvSpPr>
              <a:spLocks noChangeShapeType="1"/>
            </p:cNvSpPr>
            <p:nvPr/>
          </p:nvSpPr>
          <p:spPr bwMode="auto">
            <a:xfrm>
              <a:off x="414" y="1815"/>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171" name="Line 748">
              <a:extLst>
                <a:ext uri="{FF2B5EF4-FFF2-40B4-BE49-F238E27FC236}">
                  <a16:creationId xmlns:a16="http://schemas.microsoft.com/office/drawing/2014/main" id="{7D161BF3-17F4-E948-87BB-9CFEE3BF18D2}"/>
                </a:ext>
              </a:extLst>
            </p:cNvPr>
            <p:cNvSpPr>
              <a:spLocks noChangeShapeType="1"/>
            </p:cNvSpPr>
            <p:nvPr/>
          </p:nvSpPr>
          <p:spPr bwMode="auto">
            <a:xfrm>
              <a:off x="395" y="1839"/>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114" name="Group 749">
            <a:extLst>
              <a:ext uri="{FF2B5EF4-FFF2-40B4-BE49-F238E27FC236}">
                <a16:creationId xmlns:a16="http://schemas.microsoft.com/office/drawing/2014/main" id="{F08FFDCA-1EFC-2648-8663-024CB2BB1DA4}"/>
              </a:ext>
            </a:extLst>
          </p:cNvPr>
          <p:cNvGrpSpPr>
            <a:grpSpLocks/>
          </p:cNvGrpSpPr>
          <p:nvPr/>
        </p:nvGrpSpPr>
        <p:grpSpPr bwMode="auto">
          <a:xfrm>
            <a:off x="2438400" y="1905001"/>
            <a:ext cx="325438" cy="339725"/>
            <a:chOff x="263" y="1719"/>
            <a:chExt cx="205" cy="214"/>
          </a:xfrm>
        </p:grpSpPr>
        <p:sp>
          <p:nvSpPr>
            <p:cNvPr id="26158" name="Freeform 750">
              <a:extLst>
                <a:ext uri="{FF2B5EF4-FFF2-40B4-BE49-F238E27FC236}">
                  <a16:creationId xmlns:a16="http://schemas.microsoft.com/office/drawing/2014/main" id="{41FFA9DD-9295-964E-A26D-6FD5D9BEA20B}"/>
                </a:ext>
              </a:extLst>
            </p:cNvPr>
            <p:cNvSpPr>
              <a:spLocks/>
            </p:cNvSpPr>
            <p:nvPr/>
          </p:nvSpPr>
          <p:spPr bwMode="auto">
            <a:xfrm>
              <a:off x="263" y="1719"/>
              <a:ext cx="205" cy="214"/>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59" name="Rectangle 751">
              <a:extLst>
                <a:ext uri="{FF2B5EF4-FFF2-40B4-BE49-F238E27FC236}">
                  <a16:creationId xmlns:a16="http://schemas.microsoft.com/office/drawing/2014/main" id="{F8141D50-8077-5C42-A2F8-F9FEA6DE2AAB}"/>
                </a:ext>
              </a:extLst>
            </p:cNvPr>
            <p:cNvSpPr>
              <a:spLocks noChangeArrowheads="1"/>
            </p:cNvSpPr>
            <p:nvPr/>
          </p:nvSpPr>
          <p:spPr bwMode="auto">
            <a:xfrm>
              <a:off x="282" y="1784"/>
              <a:ext cx="170" cy="139"/>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60" name="Rectangle 752">
              <a:extLst>
                <a:ext uri="{FF2B5EF4-FFF2-40B4-BE49-F238E27FC236}">
                  <a16:creationId xmlns:a16="http://schemas.microsoft.com/office/drawing/2014/main" id="{229D696A-3B18-4044-8135-58DC34B7CE29}"/>
                </a:ext>
              </a:extLst>
            </p:cNvPr>
            <p:cNvSpPr>
              <a:spLocks noChangeArrowheads="1"/>
            </p:cNvSpPr>
            <p:nvPr/>
          </p:nvSpPr>
          <p:spPr bwMode="auto">
            <a:xfrm>
              <a:off x="309" y="1817"/>
              <a:ext cx="60" cy="10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61" name="Rectangle 753">
              <a:extLst>
                <a:ext uri="{FF2B5EF4-FFF2-40B4-BE49-F238E27FC236}">
                  <a16:creationId xmlns:a16="http://schemas.microsoft.com/office/drawing/2014/main" id="{A6E01251-BA99-A54C-8A37-31E9A70DA713}"/>
                </a:ext>
              </a:extLst>
            </p:cNvPr>
            <p:cNvSpPr>
              <a:spLocks noChangeArrowheads="1"/>
            </p:cNvSpPr>
            <p:nvPr/>
          </p:nvSpPr>
          <p:spPr bwMode="auto">
            <a:xfrm>
              <a:off x="395" y="1815"/>
              <a:ext cx="40" cy="50"/>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62" name="Freeform 754">
              <a:extLst>
                <a:ext uri="{FF2B5EF4-FFF2-40B4-BE49-F238E27FC236}">
                  <a16:creationId xmlns:a16="http://schemas.microsoft.com/office/drawing/2014/main" id="{A2309090-C977-524E-8F0D-FF0FAE69DD93}"/>
                </a:ext>
              </a:extLst>
            </p:cNvPr>
            <p:cNvSpPr>
              <a:spLocks/>
            </p:cNvSpPr>
            <p:nvPr/>
          </p:nvSpPr>
          <p:spPr bwMode="auto">
            <a:xfrm>
              <a:off x="353" y="1866"/>
              <a:ext cx="8" cy="10"/>
            </a:xfrm>
            <a:custGeom>
              <a:avLst/>
              <a:gdLst>
                <a:gd name="T0" fmla="*/ 23 w 23"/>
                <a:gd name="T1" fmla="*/ 14 h 30"/>
                <a:gd name="T2" fmla="*/ 23 w 23"/>
                <a:gd name="T3" fmla="*/ 11 h 30"/>
                <a:gd name="T4" fmla="*/ 21 w 23"/>
                <a:gd name="T5" fmla="*/ 9 h 30"/>
                <a:gd name="T6" fmla="*/ 21 w 23"/>
                <a:gd name="T7" fmla="*/ 7 h 30"/>
                <a:gd name="T8" fmla="*/ 18 w 23"/>
                <a:gd name="T9" fmla="*/ 5 h 30"/>
                <a:gd name="T10" fmla="*/ 17 w 23"/>
                <a:gd name="T11" fmla="*/ 3 h 30"/>
                <a:gd name="T12" fmla="*/ 16 w 23"/>
                <a:gd name="T13" fmla="*/ 1 h 30"/>
                <a:gd name="T14" fmla="*/ 14 w 23"/>
                <a:gd name="T15" fmla="*/ 0 h 30"/>
                <a:gd name="T16" fmla="*/ 12 w 23"/>
                <a:gd name="T17" fmla="*/ 0 h 30"/>
                <a:gd name="T18" fmla="*/ 10 w 23"/>
                <a:gd name="T19" fmla="*/ 0 h 30"/>
                <a:gd name="T20" fmla="*/ 8 w 23"/>
                <a:gd name="T21" fmla="*/ 0 h 30"/>
                <a:gd name="T22" fmla="*/ 6 w 23"/>
                <a:gd name="T23" fmla="*/ 1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4 h 30"/>
                <a:gd name="T44" fmla="*/ 3 w 23"/>
                <a:gd name="T45" fmla="*/ 26 h 30"/>
                <a:gd name="T46" fmla="*/ 4 w 23"/>
                <a:gd name="T47" fmla="*/ 28 h 30"/>
                <a:gd name="T48" fmla="*/ 6 w 23"/>
                <a:gd name="T49" fmla="*/ 29 h 30"/>
                <a:gd name="T50" fmla="*/ 8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19" y="6"/>
                  </a:lnTo>
                  <a:lnTo>
                    <a:pt x="18" y="5"/>
                  </a:lnTo>
                  <a:lnTo>
                    <a:pt x="18" y="4"/>
                  </a:lnTo>
                  <a:lnTo>
                    <a:pt x="17" y="3"/>
                  </a:lnTo>
                  <a:lnTo>
                    <a:pt x="16" y="1"/>
                  </a:lnTo>
                  <a:lnTo>
                    <a:pt x="15" y="0"/>
                  </a:lnTo>
                  <a:lnTo>
                    <a:pt x="14" y="0"/>
                  </a:lnTo>
                  <a:lnTo>
                    <a:pt x="13" y="0"/>
                  </a:lnTo>
                  <a:lnTo>
                    <a:pt x="12" y="0"/>
                  </a:lnTo>
                  <a:lnTo>
                    <a:pt x="11" y="0"/>
                  </a:lnTo>
                  <a:lnTo>
                    <a:pt x="10" y="0"/>
                  </a:lnTo>
                  <a:lnTo>
                    <a:pt x="8" y="0"/>
                  </a:lnTo>
                  <a:lnTo>
                    <a:pt x="7" y="0"/>
                  </a:lnTo>
                  <a:lnTo>
                    <a:pt x="6" y="1"/>
                  </a:lnTo>
                  <a:lnTo>
                    <a:pt x="5" y="1"/>
                  </a:lnTo>
                  <a:lnTo>
                    <a:pt x="4"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4"/>
                  </a:lnTo>
                  <a:lnTo>
                    <a:pt x="2" y="24"/>
                  </a:lnTo>
                  <a:lnTo>
                    <a:pt x="3" y="26"/>
                  </a:lnTo>
                  <a:lnTo>
                    <a:pt x="3" y="27"/>
                  </a:lnTo>
                  <a:lnTo>
                    <a:pt x="4" y="28"/>
                  </a:lnTo>
                  <a:lnTo>
                    <a:pt x="5" y="29"/>
                  </a:lnTo>
                  <a:lnTo>
                    <a:pt x="6" y="29"/>
                  </a:lnTo>
                  <a:lnTo>
                    <a:pt x="7" y="30"/>
                  </a:lnTo>
                  <a:lnTo>
                    <a:pt x="8" y="30"/>
                  </a:lnTo>
                  <a:lnTo>
                    <a:pt x="10" y="30"/>
                  </a:lnTo>
                  <a:lnTo>
                    <a:pt x="11" y="30"/>
                  </a:lnTo>
                  <a:lnTo>
                    <a:pt x="12" y="30"/>
                  </a:lnTo>
                  <a:lnTo>
                    <a:pt x="13" y="30"/>
                  </a:lnTo>
                  <a:lnTo>
                    <a:pt x="14" y="30"/>
                  </a:lnTo>
                  <a:lnTo>
                    <a:pt x="15" y="30"/>
                  </a:lnTo>
                  <a:lnTo>
                    <a:pt x="16" y="29"/>
                  </a:lnTo>
                  <a:lnTo>
                    <a:pt x="17" y="28"/>
                  </a:lnTo>
                  <a:lnTo>
                    <a:pt x="18" y="27"/>
                  </a:lnTo>
                  <a:lnTo>
                    <a:pt x="18" y="26"/>
                  </a:lnTo>
                  <a:lnTo>
                    <a:pt x="19" y="24"/>
                  </a:lnTo>
                  <a:lnTo>
                    <a:pt x="21" y="24"/>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63" name="Line 755">
              <a:extLst>
                <a:ext uri="{FF2B5EF4-FFF2-40B4-BE49-F238E27FC236}">
                  <a16:creationId xmlns:a16="http://schemas.microsoft.com/office/drawing/2014/main" id="{7E5BF758-4EDC-4B4B-9E96-78B91950479C}"/>
                </a:ext>
              </a:extLst>
            </p:cNvPr>
            <p:cNvSpPr>
              <a:spLocks noChangeShapeType="1"/>
            </p:cNvSpPr>
            <p:nvPr/>
          </p:nvSpPr>
          <p:spPr bwMode="auto">
            <a:xfrm>
              <a:off x="414" y="1815"/>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164" name="Line 756">
              <a:extLst>
                <a:ext uri="{FF2B5EF4-FFF2-40B4-BE49-F238E27FC236}">
                  <a16:creationId xmlns:a16="http://schemas.microsoft.com/office/drawing/2014/main" id="{47C7A958-B8C1-4A44-9A35-AC796F53B38C}"/>
                </a:ext>
              </a:extLst>
            </p:cNvPr>
            <p:cNvSpPr>
              <a:spLocks noChangeShapeType="1"/>
            </p:cNvSpPr>
            <p:nvPr/>
          </p:nvSpPr>
          <p:spPr bwMode="auto">
            <a:xfrm>
              <a:off x="395" y="1839"/>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115" name="Group 757">
            <a:extLst>
              <a:ext uri="{FF2B5EF4-FFF2-40B4-BE49-F238E27FC236}">
                <a16:creationId xmlns:a16="http://schemas.microsoft.com/office/drawing/2014/main" id="{2B5D8D0D-7204-774C-AB37-B828DEDC94C3}"/>
              </a:ext>
            </a:extLst>
          </p:cNvPr>
          <p:cNvGrpSpPr>
            <a:grpSpLocks/>
          </p:cNvGrpSpPr>
          <p:nvPr/>
        </p:nvGrpSpPr>
        <p:grpSpPr bwMode="auto">
          <a:xfrm>
            <a:off x="7010400" y="4876801"/>
            <a:ext cx="325438" cy="339725"/>
            <a:chOff x="263" y="1719"/>
            <a:chExt cx="205" cy="214"/>
          </a:xfrm>
        </p:grpSpPr>
        <p:sp>
          <p:nvSpPr>
            <p:cNvPr id="26151" name="Freeform 758">
              <a:extLst>
                <a:ext uri="{FF2B5EF4-FFF2-40B4-BE49-F238E27FC236}">
                  <a16:creationId xmlns:a16="http://schemas.microsoft.com/office/drawing/2014/main" id="{81E2B162-7835-6945-A867-52DC4684B690}"/>
                </a:ext>
              </a:extLst>
            </p:cNvPr>
            <p:cNvSpPr>
              <a:spLocks/>
            </p:cNvSpPr>
            <p:nvPr/>
          </p:nvSpPr>
          <p:spPr bwMode="auto">
            <a:xfrm>
              <a:off x="263" y="1719"/>
              <a:ext cx="205" cy="214"/>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FF000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52" name="Rectangle 759">
              <a:extLst>
                <a:ext uri="{FF2B5EF4-FFF2-40B4-BE49-F238E27FC236}">
                  <a16:creationId xmlns:a16="http://schemas.microsoft.com/office/drawing/2014/main" id="{5CB23676-9321-B34B-B2B7-ED1E1A114267}"/>
                </a:ext>
              </a:extLst>
            </p:cNvPr>
            <p:cNvSpPr>
              <a:spLocks noChangeArrowheads="1"/>
            </p:cNvSpPr>
            <p:nvPr/>
          </p:nvSpPr>
          <p:spPr bwMode="auto">
            <a:xfrm>
              <a:off x="282" y="1784"/>
              <a:ext cx="170" cy="139"/>
            </a:xfrm>
            <a:prstGeom prst="rect">
              <a:avLst/>
            </a:prstGeom>
            <a:solidFill>
              <a:srgbClr val="FF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53" name="Rectangle 760">
              <a:extLst>
                <a:ext uri="{FF2B5EF4-FFF2-40B4-BE49-F238E27FC236}">
                  <a16:creationId xmlns:a16="http://schemas.microsoft.com/office/drawing/2014/main" id="{16FFB57F-4D91-A549-9009-DE011E774EC1}"/>
                </a:ext>
              </a:extLst>
            </p:cNvPr>
            <p:cNvSpPr>
              <a:spLocks noChangeArrowheads="1"/>
            </p:cNvSpPr>
            <p:nvPr/>
          </p:nvSpPr>
          <p:spPr bwMode="auto">
            <a:xfrm>
              <a:off x="309" y="1817"/>
              <a:ext cx="60" cy="105"/>
            </a:xfrm>
            <a:prstGeom prst="rect">
              <a:avLst/>
            </a:prstGeom>
            <a:solidFill>
              <a:srgbClr val="FF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54" name="Rectangle 761">
              <a:extLst>
                <a:ext uri="{FF2B5EF4-FFF2-40B4-BE49-F238E27FC236}">
                  <a16:creationId xmlns:a16="http://schemas.microsoft.com/office/drawing/2014/main" id="{CC2A880F-B5E5-8246-AF4F-3DAA2BF30006}"/>
                </a:ext>
              </a:extLst>
            </p:cNvPr>
            <p:cNvSpPr>
              <a:spLocks noChangeArrowheads="1"/>
            </p:cNvSpPr>
            <p:nvPr/>
          </p:nvSpPr>
          <p:spPr bwMode="auto">
            <a:xfrm>
              <a:off x="395" y="1815"/>
              <a:ext cx="40" cy="50"/>
            </a:xfrm>
            <a:prstGeom prst="rect">
              <a:avLst/>
            </a:prstGeom>
            <a:solidFill>
              <a:srgbClr val="FF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55" name="Freeform 762">
              <a:extLst>
                <a:ext uri="{FF2B5EF4-FFF2-40B4-BE49-F238E27FC236}">
                  <a16:creationId xmlns:a16="http://schemas.microsoft.com/office/drawing/2014/main" id="{EF36C931-4EF4-CA4C-9F0A-B193E7893372}"/>
                </a:ext>
              </a:extLst>
            </p:cNvPr>
            <p:cNvSpPr>
              <a:spLocks/>
            </p:cNvSpPr>
            <p:nvPr/>
          </p:nvSpPr>
          <p:spPr bwMode="auto">
            <a:xfrm>
              <a:off x="353" y="1866"/>
              <a:ext cx="8" cy="10"/>
            </a:xfrm>
            <a:custGeom>
              <a:avLst/>
              <a:gdLst>
                <a:gd name="T0" fmla="*/ 23 w 23"/>
                <a:gd name="T1" fmla="*/ 14 h 30"/>
                <a:gd name="T2" fmla="*/ 23 w 23"/>
                <a:gd name="T3" fmla="*/ 11 h 30"/>
                <a:gd name="T4" fmla="*/ 21 w 23"/>
                <a:gd name="T5" fmla="*/ 9 h 30"/>
                <a:gd name="T6" fmla="*/ 21 w 23"/>
                <a:gd name="T7" fmla="*/ 7 h 30"/>
                <a:gd name="T8" fmla="*/ 18 w 23"/>
                <a:gd name="T9" fmla="*/ 5 h 30"/>
                <a:gd name="T10" fmla="*/ 17 w 23"/>
                <a:gd name="T11" fmla="*/ 3 h 30"/>
                <a:gd name="T12" fmla="*/ 16 w 23"/>
                <a:gd name="T13" fmla="*/ 1 h 30"/>
                <a:gd name="T14" fmla="*/ 14 w 23"/>
                <a:gd name="T15" fmla="*/ 0 h 30"/>
                <a:gd name="T16" fmla="*/ 12 w 23"/>
                <a:gd name="T17" fmla="*/ 0 h 30"/>
                <a:gd name="T18" fmla="*/ 10 w 23"/>
                <a:gd name="T19" fmla="*/ 0 h 30"/>
                <a:gd name="T20" fmla="*/ 8 w 23"/>
                <a:gd name="T21" fmla="*/ 0 h 30"/>
                <a:gd name="T22" fmla="*/ 6 w 23"/>
                <a:gd name="T23" fmla="*/ 1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4 h 30"/>
                <a:gd name="T44" fmla="*/ 3 w 23"/>
                <a:gd name="T45" fmla="*/ 26 h 30"/>
                <a:gd name="T46" fmla="*/ 4 w 23"/>
                <a:gd name="T47" fmla="*/ 28 h 30"/>
                <a:gd name="T48" fmla="*/ 6 w 23"/>
                <a:gd name="T49" fmla="*/ 29 h 30"/>
                <a:gd name="T50" fmla="*/ 8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19" y="6"/>
                  </a:lnTo>
                  <a:lnTo>
                    <a:pt x="18" y="5"/>
                  </a:lnTo>
                  <a:lnTo>
                    <a:pt x="18" y="4"/>
                  </a:lnTo>
                  <a:lnTo>
                    <a:pt x="17" y="3"/>
                  </a:lnTo>
                  <a:lnTo>
                    <a:pt x="16" y="1"/>
                  </a:lnTo>
                  <a:lnTo>
                    <a:pt x="15" y="0"/>
                  </a:lnTo>
                  <a:lnTo>
                    <a:pt x="14" y="0"/>
                  </a:lnTo>
                  <a:lnTo>
                    <a:pt x="13" y="0"/>
                  </a:lnTo>
                  <a:lnTo>
                    <a:pt x="12" y="0"/>
                  </a:lnTo>
                  <a:lnTo>
                    <a:pt x="11" y="0"/>
                  </a:lnTo>
                  <a:lnTo>
                    <a:pt x="10" y="0"/>
                  </a:lnTo>
                  <a:lnTo>
                    <a:pt x="8" y="0"/>
                  </a:lnTo>
                  <a:lnTo>
                    <a:pt x="7" y="0"/>
                  </a:lnTo>
                  <a:lnTo>
                    <a:pt x="6" y="1"/>
                  </a:lnTo>
                  <a:lnTo>
                    <a:pt x="5" y="1"/>
                  </a:lnTo>
                  <a:lnTo>
                    <a:pt x="4"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4"/>
                  </a:lnTo>
                  <a:lnTo>
                    <a:pt x="2" y="24"/>
                  </a:lnTo>
                  <a:lnTo>
                    <a:pt x="3" y="26"/>
                  </a:lnTo>
                  <a:lnTo>
                    <a:pt x="3" y="27"/>
                  </a:lnTo>
                  <a:lnTo>
                    <a:pt x="4" y="28"/>
                  </a:lnTo>
                  <a:lnTo>
                    <a:pt x="5" y="29"/>
                  </a:lnTo>
                  <a:lnTo>
                    <a:pt x="6" y="29"/>
                  </a:lnTo>
                  <a:lnTo>
                    <a:pt x="7" y="30"/>
                  </a:lnTo>
                  <a:lnTo>
                    <a:pt x="8" y="30"/>
                  </a:lnTo>
                  <a:lnTo>
                    <a:pt x="10" y="30"/>
                  </a:lnTo>
                  <a:lnTo>
                    <a:pt x="11" y="30"/>
                  </a:lnTo>
                  <a:lnTo>
                    <a:pt x="12" y="30"/>
                  </a:lnTo>
                  <a:lnTo>
                    <a:pt x="13" y="30"/>
                  </a:lnTo>
                  <a:lnTo>
                    <a:pt x="14" y="30"/>
                  </a:lnTo>
                  <a:lnTo>
                    <a:pt x="15" y="30"/>
                  </a:lnTo>
                  <a:lnTo>
                    <a:pt x="16" y="29"/>
                  </a:lnTo>
                  <a:lnTo>
                    <a:pt x="17" y="28"/>
                  </a:lnTo>
                  <a:lnTo>
                    <a:pt x="18" y="27"/>
                  </a:lnTo>
                  <a:lnTo>
                    <a:pt x="18" y="26"/>
                  </a:lnTo>
                  <a:lnTo>
                    <a:pt x="19" y="24"/>
                  </a:lnTo>
                  <a:lnTo>
                    <a:pt x="21" y="24"/>
                  </a:lnTo>
                  <a:lnTo>
                    <a:pt x="21" y="23"/>
                  </a:lnTo>
                  <a:lnTo>
                    <a:pt x="21" y="22"/>
                  </a:lnTo>
                  <a:lnTo>
                    <a:pt x="22" y="20"/>
                  </a:lnTo>
                  <a:lnTo>
                    <a:pt x="23" y="19"/>
                  </a:lnTo>
                  <a:lnTo>
                    <a:pt x="23" y="18"/>
                  </a:lnTo>
                  <a:lnTo>
                    <a:pt x="23" y="17"/>
                  </a:lnTo>
                  <a:lnTo>
                    <a:pt x="23" y="15"/>
                  </a:lnTo>
                  <a:close/>
                </a:path>
              </a:pathLst>
            </a:custGeom>
            <a:solidFill>
              <a:srgbClr val="FF000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56" name="Line 763">
              <a:extLst>
                <a:ext uri="{FF2B5EF4-FFF2-40B4-BE49-F238E27FC236}">
                  <a16:creationId xmlns:a16="http://schemas.microsoft.com/office/drawing/2014/main" id="{87D7F1F2-4C47-4347-A482-183BFBC6FC7B}"/>
                </a:ext>
              </a:extLst>
            </p:cNvPr>
            <p:cNvSpPr>
              <a:spLocks noChangeShapeType="1"/>
            </p:cNvSpPr>
            <p:nvPr/>
          </p:nvSpPr>
          <p:spPr bwMode="auto">
            <a:xfrm>
              <a:off x="414" y="1815"/>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157" name="Line 764">
              <a:extLst>
                <a:ext uri="{FF2B5EF4-FFF2-40B4-BE49-F238E27FC236}">
                  <a16:creationId xmlns:a16="http://schemas.microsoft.com/office/drawing/2014/main" id="{27D129FD-1792-7B4F-8D7E-426FC22452D1}"/>
                </a:ext>
              </a:extLst>
            </p:cNvPr>
            <p:cNvSpPr>
              <a:spLocks noChangeShapeType="1"/>
            </p:cNvSpPr>
            <p:nvPr/>
          </p:nvSpPr>
          <p:spPr bwMode="auto">
            <a:xfrm>
              <a:off x="395" y="1839"/>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116" name="Group 765">
            <a:extLst>
              <a:ext uri="{FF2B5EF4-FFF2-40B4-BE49-F238E27FC236}">
                <a16:creationId xmlns:a16="http://schemas.microsoft.com/office/drawing/2014/main" id="{F90BBD5B-7149-7345-88B1-FD1F6C42622D}"/>
              </a:ext>
            </a:extLst>
          </p:cNvPr>
          <p:cNvGrpSpPr>
            <a:grpSpLocks/>
          </p:cNvGrpSpPr>
          <p:nvPr/>
        </p:nvGrpSpPr>
        <p:grpSpPr bwMode="auto">
          <a:xfrm>
            <a:off x="6934200" y="4343401"/>
            <a:ext cx="325438" cy="339725"/>
            <a:chOff x="263" y="1719"/>
            <a:chExt cx="205" cy="214"/>
          </a:xfrm>
        </p:grpSpPr>
        <p:sp>
          <p:nvSpPr>
            <p:cNvPr id="26144" name="Freeform 766">
              <a:extLst>
                <a:ext uri="{FF2B5EF4-FFF2-40B4-BE49-F238E27FC236}">
                  <a16:creationId xmlns:a16="http://schemas.microsoft.com/office/drawing/2014/main" id="{A28824C6-AE24-5C40-9DD0-A12201A4A1D8}"/>
                </a:ext>
              </a:extLst>
            </p:cNvPr>
            <p:cNvSpPr>
              <a:spLocks/>
            </p:cNvSpPr>
            <p:nvPr/>
          </p:nvSpPr>
          <p:spPr bwMode="auto">
            <a:xfrm>
              <a:off x="263" y="1719"/>
              <a:ext cx="205" cy="214"/>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FF000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45" name="Rectangle 767">
              <a:extLst>
                <a:ext uri="{FF2B5EF4-FFF2-40B4-BE49-F238E27FC236}">
                  <a16:creationId xmlns:a16="http://schemas.microsoft.com/office/drawing/2014/main" id="{CBB43A0C-90C5-3A48-9041-52245195504B}"/>
                </a:ext>
              </a:extLst>
            </p:cNvPr>
            <p:cNvSpPr>
              <a:spLocks noChangeArrowheads="1"/>
            </p:cNvSpPr>
            <p:nvPr/>
          </p:nvSpPr>
          <p:spPr bwMode="auto">
            <a:xfrm>
              <a:off x="282" y="1784"/>
              <a:ext cx="170" cy="139"/>
            </a:xfrm>
            <a:prstGeom prst="rect">
              <a:avLst/>
            </a:prstGeom>
            <a:solidFill>
              <a:srgbClr val="FF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46" name="Rectangle 768">
              <a:extLst>
                <a:ext uri="{FF2B5EF4-FFF2-40B4-BE49-F238E27FC236}">
                  <a16:creationId xmlns:a16="http://schemas.microsoft.com/office/drawing/2014/main" id="{451FFD59-1F83-124C-B269-CA6044516D7B}"/>
                </a:ext>
              </a:extLst>
            </p:cNvPr>
            <p:cNvSpPr>
              <a:spLocks noChangeArrowheads="1"/>
            </p:cNvSpPr>
            <p:nvPr/>
          </p:nvSpPr>
          <p:spPr bwMode="auto">
            <a:xfrm>
              <a:off x="309" y="1817"/>
              <a:ext cx="60" cy="105"/>
            </a:xfrm>
            <a:prstGeom prst="rect">
              <a:avLst/>
            </a:prstGeom>
            <a:solidFill>
              <a:srgbClr val="FF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47" name="Rectangle 769">
              <a:extLst>
                <a:ext uri="{FF2B5EF4-FFF2-40B4-BE49-F238E27FC236}">
                  <a16:creationId xmlns:a16="http://schemas.microsoft.com/office/drawing/2014/main" id="{44B81316-AE35-344C-9C7D-0A9215254CA8}"/>
                </a:ext>
              </a:extLst>
            </p:cNvPr>
            <p:cNvSpPr>
              <a:spLocks noChangeArrowheads="1"/>
            </p:cNvSpPr>
            <p:nvPr/>
          </p:nvSpPr>
          <p:spPr bwMode="auto">
            <a:xfrm>
              <a:off x="395" y="1815"/>
              <a:ext cx="40" cy="50"/>
            </a:xfrm>
            <a:prstGeom prst="rect">
              <a:avLst/>
            </a:prstGeom>
            <a:solidFill>
              <a:srgbClr val="FF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48" name="Freeform 770">
              <a:extLst>
                <a:ext uri="{FF2B5EF4-FFF2-40B4-BE49-F238E27FC236}">
                  <a16:creationId xmlns:a16="http://schemas.microsoft.com/office/drawing/2014/main" id="{95D4F639-2F7C-494C-8035-ACD748015BBD}"/>
                </a:ext>
              </a:extLst>
            </p:cNvPr>
            <p:cNvSpPr>
              <a:spLocks/>
            </p:cNvSpPr>
            <p:nvPr/>
          </p:nvSpPr>
          <p:spPr bwMode="auto">
            <a:xfrm>
              <a:off x="353" y="1866"/>
              <a:ext cx="8" cy="10"/>
            </a:xfrm>
            <a:custGeom>
              <a:avLst/>
              <a:gdLst>
                <a:gd name="T0" fmla="*/ 23 w 23"/>
                <a:gd name="T1" fmla="*/ 14 h 30"/>
                <a:gd name="T2" fmla="*/ 23 w 23"/>
                <a:gd name="T3" fmla="*/ 11 h 30"/>
                <a:gd name="T4" fmla="*/ 21 w 23"/>
                <a:gd name="T5" fmla="*/ 9 h 30"/>
                <a:gd name="T6" fmla="*/ 21 w 23"/>
                <a:gd name="T7" fmla="*/ 7 h 30"/>
                <a:gd name="T8" fmla="*/ 18 w 23"/>
                <a:gd name="T9" fmla="*/ 5 h 30"/>
                <a:gd name="T10" fmla="*/ 17 w 23"/>
                <a:gd name="T11" fmla="*/ 3 h 30"/>
                <a:gd name="T12" fmla="*/ 16 w 23"/>
                <a:gd name="T13" fmla="*/ 1 h 30"/>
                <a:gd name="T14" fmla="*/ 14 w 23"/>
                <a:gd name="T15" fmla="*/ 0 h 30"/>
                <a:gd name="T16" fmla="*/ 12 w 23"/>
                <a:gd name="T17" fmla="*/ 0 h 30"/>
                <a:gd name="T18" fmla="*/ 10 w 23"/>
                <a:gd name="T19" fmla="*/ 0 h 30"/>
                <a:gd name="T20" fmla="*/ 8 w 23"/>
                <a:gd name="T21" fmla="*/ 0 h 30"/>
                <a:gd name="T22" fmla="*/ 6 w 23"/>
                <a:gd name="T23" fmla="*/ 1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4 h 30"/>
                <a:gd name="T44" fmla="*/ 3 w 23"/>
                <a:gd name="T45" fmla="*/ 26 h 30"/>
                <a:gd name="T46" fmla="*/ 4 w 23"/>
                <a:gd name="T47" fmla="*/ 28 h 30"/>
                <a:gd name="T48" fmla="*/ 6 w 23"/>
                <a:gd name="T49" fmla="*/ 29 h 30"/>
                <a:gd name="T50" fmla="*/ 8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19" y="6"/>
                  </a:lnTo>
                  <a:lnTo>
                    <a:pt x="18" y="5"/>
                  </a:lnTo>
                  <a:lnTo>
                    <a:pt x="18" y="4"/>
                  </a:lnTo>
                  <a:lnTo>
                    <a:pt x="17" y="3"/>
                  </a:lnTo>
                  <a:lnTo>
                    <a:pt x="16" y="1"/>
                  </a:lnTo>
                  <a:lnTo>
                    <a:pt x="15" y="0"/>
                  </a:lnTo>
                  <a:lnTo>
                    <a:pt x="14" y="0"/>
                  </a:lnTo>
                  <a:lnTo>
                    <a:pt x="13" y="0"/>
                  </a:lnTo>
                  <a:lnTo>
                    <a:pt x="12" y="0"/>
                  </a:lnTo>
                  <a:lnTo>
                    <a:pt x="11" y="0"/>
                  </a:lnTo>
                  <a:lnTo>
                    <a:pt x="10" y="0"/>
                  </a:lnTo>
                  <a:lnTo>
                    <a:pt x="8" y="0"/>
                  </a:lnTo>
                  <a:lnTo>
                    <a:pt x="7" y="0"/>
                  </a:lnTo>
                  <a:lnTo>
                    <a:pt x="6" y="1"/>
                  </a:lnTo>
                  <a:lnTo>
                    <a:pt x="5" y="1"/>
                  </a:lnTo>
                  <a:lnTo>
                    <a:pt x="4"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4"/>
                  </a:lnTo>
                  <a:lnTo>
                    <a:pt x="2" y="24"/>
                  </a:lnTo>
                  <a:lnTo>
                    <a:pt x="3" y="26"/>
                  </a:lnTo>
                  <a:lnTo>
                    <a:pt x="3" y="27"/>
                  </a:lnTo>
                  <a:lnTo>
                    <a:pt x="4" y="28"/>
                  </a:lnTo>
                  <a:lnTo>
                    <a:pt x="5" y="29"/>
                  </a:lnTo>
                  <a:lnTo>
                    <a:pt x="6" y="29"/>
                  </a:lnTo>
                  <a:lnTo>
                    <a:pt x="7" y="30"/>
                  </a:lnTo>
                  <a:lnTo>
                    <a:pt x="8" y="30"/>
                  </a:lnTo>
                  <a:lnTo>
                    <a:pt x="10" y="30"/>
                  </a:lnTo>
                  <a:lnTo>
                    <a:pt x="11" y="30"/>
                  </a:lnTo>
                  <a:lnTo>
                    <a:pt x="12" y="30"/>
                  </a:lnTo>
                  <a:lnTo>
                    <a:pt x="13" y="30"/>
                  </a:lnTo>
                  <a:lnTo>
                    <a:pt x="14" y="30"/>
                  </a:lnTo>
                  <a:lnTo>
                    <a:pt x="15" y="30"/>
                  </a:lnTo>
                  <a:lnTo>
                    <a:pt x="16" y="29"/>
                  </a:lnTo>
                  <a:lnTo>
                    <a:pt x="17" y="28"/>
                  </a:lnTo>
                  <a:lnTo>
                    <a:pt x="18" y="27"/>
                  </a:lnTo>
                  <a:lnTo>
                    <a:pt x="18" y="26"/>
                  </a:lnTo>
                  <a:lnTo>
                    <a:pt x="19" y="24"/>
                  </a:lnTo>
                  <a:lnTo>
                    <a:pt x="21" y="24"/>
                  </a:lnTo>
                  <a:lnTo>
                    <a:pt x="21" y="23"/>
                  </a:lnTo>
                  <a:lnTo>
                    <a:pt x="21" y="22"/>
                  </a:lnTo>
                  <a:lnTo>
                    <a:pt x="22" y="20"/>
                  </a:lnTo>
                  <a:lnTo>
                    <a:pt x="23" y="19"/>
                  </a:lnTo>
                  <a:lnTo>
                    <a:pt x="23" y="18"/>
                  </a:lnTo>
                  <a:lnTo>
                    <a:pt x="23" y="17"/>
                  </a:lnTo>
                  <a:lnTo>
                    <a:pt x="23" y="15"/>
                  </a:lnTo>
                  <a:close/>
                </a:path>
              </a:pathLst>
            </a:custGeom>
            <a:solidFill>
              <a:srgbClr val="FF000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49" name="Line 771">
              <a:extLst>
                <a:ext uri="{FF2B5EF4-FFF2-40B4-BE49-F238E27FC236}">
                  <a16:creationId xmlns:a16="http://schemas.microsoft.com/office/drawing/2014/main" id="{D743C37D-520C-514D-8304-53CFD29AA5CD}"/>
                </a:ext>
              </a:extLst>
            </p:cNvPr>
            <p:cNvSpPr>
              <a:spLocks noChangeShapeType="1"/>
            </p:cNvSpPr>
            <p:nvPr/>
          </p:nvSpPr>
          <p:spPr bwMode="auto">
            <a:xfrm>
              <a:off x="414" y="1815"/>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150" name="Line 772">
              <a:extLst>
                <a:ext uri="{FF2B5EF4-FFF2-40B4-BE49-F238E27FC236}">
                  <a16:creationId xmlns:a16="http://schemas.microsoft.com/office/drawing/2014/main" id="{1F99B053-330F-3848-A6A7-C48D4E97AAFE}"/>
                </a:ext>
              </a:extLst>
            </p:cNvPr>
            <p:cNvSpPr>
              <a:spLocks noChangeShapeType="1"/>
            </p:cNvSpPr>
            <p:nvPr/>
          </p:nvSpPr>
          <p:spPr bwMode="auto">
            <a:xfrm>
              <a:off x="395" y="1839"/>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117" name="Group 773">
            <a:extLst>
              <a:ext uri="{FF2B5EF4-FFF2-40B4-BE49-F238E27FC236}">
                <a16:creationId xmlns:a16="http://schemas.microsoft.com/office/drawing/2014/main" id="{348D4E70-D813-AC41-8E32-3E76E4913648}"/>
              </a:ext>
            </a:extLst>
          </p:cNvPr>
          <p:cNvGrpSpPr>
            <a:grpSpLocks/>
          </p:cNvGrpSpPr>
          <p:nvPr/>
        </p:nvGrpSpPr>
        <p:grpSpPr bwMode="auto">
          <a:xfrm>
            <a:off x="7620000" y="4724401"/>
            <a:ext cx="325438" cy="339725"/>
            <a:chOff x="263" y="1719"/>
            <a:chExt cx="205" cy="214"/>
          </a:xfrm>
        </p:grpSpPr>
        <p:sp>
          <p:nvSpPr>
            <p:cNvPr id="26137" name="Freeform 774">
              <a:extLst>
                <a:ext uri="{FF2B5EF4-FFF2-40B4-BE49-F238E27FC236}">
                  <a16:creationId xmlns:a16="http://schemas.microsoft.com/office/drawing/2014/main" id="{C6ACE94A-F370-E34E-9F49-2A82A2035CE8}"/>
                </a:ext>
              </a:extLst>
            </p:cNvPr>
            <p:cNvSpPr>
              <a:spLocks/>
            </p:cNvSpPr>
            <p:nvPr/>
          </p:nvSpPr>
          <p:spPr bwMode="auto">
            <a:xfrm>
              <a:off x="263" y="1719"/>
              <a:ext cx="205" cy="214"/>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FF000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38" name="Rectangle 775">
              <a:extLst>
                <a:ext uri="{FF2B5EF4-FFF2-40B4-BE49-F238E27FC236}">
                  <a16:creationId xmlns:a16="http://schemas.microsoft.com/office/drawing/2014/main" id="{6B3D5191-017C-A24B-A9EA-7C81FFD7FE15}"/>
                </a:ext>
              </a:extLst>
            </p:cNvPr>
            <p:cNvSpPr>
              <a:spLocks noChangeArrowheads="1"/>
            </p:cNvSpPr>
            <p:nvPr/>
          </p:nvSpPr>
          <p:spPr bwMode="auto">
            <a:xfrm>
              <a:off x="282" y="1784"/>
              <a:ext cx="170" cy="139"/>
            </a:xfrm>
            <a:prstGeom prst="rect">
              <a:avLst/>
            </a:prstGeom>
            <a:solidFill>
              <a:srgbClr val="FF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39" name="Rectangle 776">
              <a:extLst>
                <a:ext uri="{FF2B5EF4-FFF2-40B4-BE49-F238E27FC236}">
                  <a16:creationId xmlns:a16="http://schemas.microsoft.com/office/drawing/2014/main" id="{4735CCDA-B48A-CA41-B722-DB42160E7A10}"/>
                </a:ext>
              </a:extLst>
            </p:cNvPr>
            <p:cNvSpPr>
              <a:spLocks noChangeArrowheads="1"/>
            </p:cNvSpPr>
            <p:nvPr/>
          </p:nvSpPr>
          <p:spPr bwMode="auto">
            <a:xfrm>
              <a:off x="309" y="1817"/>
              <a:ext cx="60" cy="105"/>
            </a:xfrm>
            <a:prstGeom prst="rect">
              <a:avLst/>
            </a:prstGeom>
            <a:solidFill>
              <a:srgbClr val="FF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40" name="Rectangle 777">
              <a:extLst>
                <a:ext uri="{FF2B5EF4-FFF2-40B4-BE49-F238E27FC236}">
                  <a16:creationId xmlns:a16="http://schemas.microsoft.com/office/drawing/2014/main" id="{9F672271-BDAC-7F48-B3A6-564DBC3DC318}"/>
                </a:ext>
              </a:extLst>
            </p:cNvPr>
            <p:cNvSpPr>
              <a:spLocks noChangeArrowheads="1"/>
            </p:cNvSpPr>
            <p:nvPr/>
          </p:nvSpPr>
          <p:spPr bwMode="auto">
            <a:xfrm>
              <a:off x="395" y="1815"/>
              <a:ext cx="40" cy="50"/>
            </a:xfrm>
            <a:prstGeom prst="rect">
              <a:avLst/>
            </a:prstGeom>
            <a:solidFill>
              <a:srgbClr val="FF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41" name="Freeform 778">
              <a:extLst>
                <a:ext uri="{FF2B5EF4-FFF2-40B4-BE49-F238E27FC236}">
                  <a16:creationId xmlns:a16="http://schemas.microsoft.com/office/drawing/2014/main" id="{F1D59787-DE14-B140-B530-8FD59CDB0833}"/>
                </a:ext>
              </a:extLst>
            </p:cNvPr>
            <p:cNvSpPr>
              <a:spLocks/>
            </p:cNvSpPr>
            <p:nvPr/>
          </p:nvSpPr>
          <p:spPr bwMode="auto">
            <a:xfrm>
              <a:off x="353" y="1866"/>
              <a:ext cx="8" cy="10"/>
            </a:xfrm>
            <a:custGeom>
              <a:avLst/>
              <a:gdLst>
                <a:gd name="T0" fmla="*/ 23 w 23"/>
                <a:gd name="T1" fmla="*/ 14 h 30"/>
                <a:gd name="T2" fmla="*/ 23 w 23"/>
                <a:gd name="T3" fmla="*/ 11 h 30"/>
                <a:gd name="T4" fmla="*/ 21 w 23"/>
                <a:gd name="T5" fmla="*/ 9 h 30"/>
                <a:gd name="T6" fmla="*/ 21 w 23"/>
                <a:gd name="T7" fmla="*/ 7 h 30"/>
                <a:gd name="T8" fmla="*/ 18 w 23"/>
                <a:gd name="T9" fmla="*/ 5 h 30"/>
                <a:gd name="T10" fmla="*/ 17 w 23"/>
                <a:gd name="T11" fmla="*/ 3 h 30"/>
                <a:gd name="T12" fmla="*/ 16 w 23"/>
                <a:gd name="T13" fmla="*/ 1 h 30"/>
                <a:gd name="T14" fmla="*/ 14 w 23"/>
                <a:gd name="T15" fmla="*/ 0 h 30"/>
                <a:gd name="T16" fmla="*/ 12 w 23"/>
                <a:gd name="T17" fmla="*/ 0 h 30"/>
                <a:gd name="T18" fmla="*/ 10 w 23"/>
                <a:gd name="T19" fmla="*/ 0 h 30"/>
                <a:gd name="T20" fmla="*/ 8 w 23"/>
                <a:gd name="T21" fmla="*/ 0 h 30"/>
                <a:gd name="T22" fmla="*/ 6 w 23"/>
                <a:gd name="T23" fmla="*/ 1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4 h 30"/>
                <a:gd name="T44" fmla="*/ 3 w 23"/>
                <a:gd name="T45" fmla="*/ 26 h 30"/>
                <a:gd name="T46" fmla="*/ 4 w 23"/>
                <a:gd name="T47" fmla="*/ 28 h 30"/>
                <a:gd name="T48" fmla="*/ 6 w 23"/>
                <a:gd name="T49" fmla="*/ 29 h 30"/>
                <a:gd name="T50" fmla="*/ 8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19" y="6"/>
                  </a:lnTo>
                  <a:lnTo>
                    <a:pt x="18" y="5"/>
                  </a:lnTo>
                  <a:lnTo>
                    <a:pt x="18" y="4"/>
                  </a:lnTo>
                  <a:lnTo>
                    <a:pt x="17" y="3"/>
                  </a:lnTo>
                  <a:lnTo>
                    <a:pt x="16" y="1"/>
                  </a:lnTo>
                  <a:lnTo>
                    <a:pt x="15" y="0"/>
                  </a:lnTo>
                  <a:lnTo>
                    <a:pt x="14" y="0"/>
                  </a:lnTo>
                  <a:lnTo>
                    <a:pt x="13" y="0"/>
                  </a:lnTo>
                  <a:lnTo>
                    <a:pt x="12" y="0"/>
                  </a:lnTo>
                  <a:lnTo>
                    <a:pt x="11" y="0"/>
                  </a:lnTo>
                  <a:lnTo>
                    <a:pt x="10" y="0"/>
                  </a:lnTo>
                  <a:lnTo>
                    <a:pt x="8" y="0"/>
                  </a:lnTo>
                  <a:lnTo>
                    <a:pt x="7" y="0"/>
                  </a:lnTo>
                  <a:lnTo>
                    <a:pt x="6" y="1"/>
                  </a:lnTo>
                  <a:lnTo>
                    <a:pt x="5" y="1"/>
                  </a:lnTo>
                  <a:lnTo>
                    <a:pt x="4"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4"/>
                  </a:lnTo>
                  <a:lnTo>
                    <a:pt x="2" y="24"/>
                  </a:lnTo>
                  <a:lnTo>
                    <a:pt x="3" y="26"/>
                  </a:lnTo>
                  <a:lnTo>
                    <a:pt x="3" y="27"/>
                  </a:lnTo>
                  <a:lnTo>
                    <a:pt x="4" y="28"/>
                  </a:lnTo>
                  <a:lnTo>
                    <a:pt x="5" y="29"/>
                  </a:lnTo>
                  <a:lnTo>
                    <a:pt x="6" y="29"/>
                  </a:lnTo>
                  <a:lnTo>
                    <a:pt x="7" y="30"/>
                  </a:lnTo>
                  <a:lnTo>
                    <a:pt x="8" y="30"/>
                  </a:lnTo>
                  <a:lnTo>
                    <a:pt x="10" y="30"/>
                  </a:lnTo>
                  <a:lnTo>
                    <a:pt x="11" y="30"/>
                  </a:lnTo>
                  <a:lnTo>
                    <a:pt x="12" y="30"/>
                  </a:lnTo>
                  <a:lnTo>
                    <a:pt x="13" y="30"/>
                  </a:lnTo>
                  <a:lnTo>
                    <a:pt x="14" y="30"/>
                  </a:lnTo>
                  <a:lnTo>
                    <a:pt x="15" y="30"/>
                  </a:lnTo>
                  <a:lnTo>
                    <a:pt x="16" y="29"/>
                  </a:lnTo>
                  <a:lnTo>
                    <a:pt x="17" y="28"/>
                  </a:lnTo>
                  <a:lnTo>
                    <a:pt x="18" y="27"/>
                  </a:lnTo>
                  <a:lnTo>
                    <a:pt x="18" y="26"/>
                  </a:lnTo>
                  <a:lnTo>
                    <a:pt x="19" y="24"/>
                  </a:lnTo>
                  <a:lnTo>
                    <a:pt x="21" y="24"/>
                  </a:lnTo>
                  <a:lnTo>
                    <a:pt x="21" y="23"/>
                  </a:lnTo>
                  <a:lnTo>
                    <a:pt x="21" y="22"/>
                  </a:lnTo>
                  <a:lnTo>
                    <a:pt x="22" y="20"/>
                  </a:lnTo>
                  <a:lnTo>
                    <a:pt x="23" y="19"/>
                  </a:lnTo>
                  <a:lnTo>
                    <a:pt x="23" y="18"/>
                  </a:lnTo>
                  <a:lnTo>
                    <a:pt x="23" y="17"/>
                  </a:lnTo>
                  <a:lnTo>
                    <a:pt x="23" y="15"/>
                  </a:lnTo>
                  <a:close/>
                </a:path>
              </a:pathLst>
            </a:custGeom>
            <a:solidFill>
              <a:srgbClr val="FF000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42" name="Line 779">
              <a:extLst>
                <a:ext uri="{FF2B5EF4-FFF2-40B4-BE49-F238E27FC236}">
                  <a16:creationId xmlns:a16="http://schemas.microsoft.com/office/drawing/2014/main" id="{DFEE385E-1D7E-3A43-AEB5-4273767C42D1}"/>
                </a:ext>
              </a:extLst>
            </p:cNvPr>
            <p:cNvSpPr>
              <a:spLocks noChangeShapeType="1"/>
            </p:cNvSpPr>
            <p:nvPr/>
          </p:nvSpPr>
          <p:spPr bwMode="auto">
            <a:xfrm>
              <a:off x="414" y="1815"/>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143" name="Line 780">
              <a:extLst>
                <a:ext uri="{FF2B5EF4-FFF2-40B4-BE49-F238E27FC236}">
                  <a16:creationId xmlns:a16="http://schemas.microsoft.com/office/drawing/2014/main" id="{EFADE3B0-11EC-6F48-B287-BADE0EB3B81B}"/>
                </a:ext>
              </a:extLst>
            </p:cNvPr>
            <p:cNvSpPr>
              <a:spLocks noChangeShapeType="1"/>
            </p:cNvSpPr>
            <p:nvPr/>
          </p:nvSpPr>
          <p:spPr bwMode="auto">
            <a:xfrm>
              <a:off x="395" y="1839"/>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118" name="Group 781">
            <a:extLst>
              <a:ext uri="{FF2B5EF4-FFF2-40B4-BE49-F238E27FC236}">
                <a16:creationId xmlns:a16="http://schemas.microsoft.com/office/drawing/2014/main" id="{D83C2D78-05D8-3C47-83D1-FF66F83E9B0A}"/>
              </a:ext>
            </a:extLst>
          </p:cNvPr>
          <p:cNvGrpSpPr>
            <a:grpSpLocks/>
          </p:cNvGrpSpPr>
          <p:nvPr/>
        </p:nvGrpSpPr>
        <p:grpSpPr bwMode="auto">
          <a:xfrm>
            <a:off x="7467600" y="4191001"/>
            <a:ext cx="325438" cy="339725"/>
            <a:chOff x="263" y="1719"/>
            <a:chExt cx="205" cy="214"/>
          </a:xfrm>
        </p:grpSpPr>
        <p:sp>
          <p:nvSpPr>
            <p:cNvPr id="26130" name="Freeform 782">
              <a:extLst>
                <a:ext uri="{FF2B5EF4-FFF2-40B4-BE49-F238E27FC236}">
                  <a16:creationId xmlns:a16="http://schemas.microsoft.com/office/drawing/2014/main" id="{906146D9-D672-C74C-BDA7-5B307F1F69B5}"/>
                </a:ext>
              </a:extLst>
            </p:cNvPr>
            <p:cNvSpPr>
              <a:spLocks/>
            </p:cNvSpPr>
            <p:nvPr/>
          </p:nvSpPr>
          <p:spPr bwMode="auto">
            <a:xfrm>
              <a:off x="263" y="1719"/>
              <a:ext cx="205" cy="214"/>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FF000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31" name="Rectangle 783">
              <a:extLst>
                <a:ext uri="{FF2B5EF4-FFF2-40B4-BE49-F238E27FC236}">
                  <a16:creationId xmlns:a16="http://schemas.microsoft.com/office/drawing/2014/main" id="{E5357BCD-7D97-9B4D-8F78-96514635FA05}"/>
                </a:ext>
              </a:extLst>
            </p:cNvPr>
            <p:cNvSpPr>
              <a:spLocks noChangeArrowheads="1"/>
            </p:cNvSpPr>
            <p:nvPr/>
          </p:nvSpPr>
          <p:spPr bwMode="auto">
            <a:xfrm>
              <a:off x="282" y="1784"/>
              <a:ext cx="170" cy="139"/>
            </a:xfrm>
            <a:prstGeom prst="rect">
              <a:avLst/>
            </a:prstGeom>
            <a:solidFill>
              <a:srgbClr val="FF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32" name="Rectangle 784">
              <a:extLst>
                <a:ext uri="{FF2B5EF4-FFF2-40B4-BE49-F238E27FC236}">
                  <a16:creationId xmlns:a16="http://schemas.microsoft.com/office/drawing/2014/main" id="{0C413B5C-939F-6F45-A142-33C6F67232BD}"/>
                </a:ext>
              </a:extLst>
            </p:cNvPr>
            <p:cNvSpPr>
              <a:spLocks noChangeArrowheads="1"/>
            </p:cNvSpPr>
            <p:nvPr/>
          </p:nvSpPr>
          <p:spPr bwMode="auto">
            <a:xfrm>
              <a:off x="309" y="1817"/>
              <a:ext cx="60" cy="105"/>
            </a:xfrm>
            <a:prstGeom prst="rect">
              <a:avLst/>
            </a:prstGeom>
            <a:solidFill>
              <a:srgbClr val="FF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33" name="Rectangle 785">
              <a:extLst>
                <a:ext uri="{FF2B5EF4-FFF2-40B4-BE49-F238E27FC236}">
                  <a16:creationId xmlns:a16="http://schemas.microsoft.com/office/drawing/2014/main" id="{9B8DDEA1-201F-5447-A786-11D4FA32CDE9}"/>
                </a:ext>
              </a:extLst>
            </p:cNvPr>
            <p:cNvSpPr>
              <a:spLocks noChangeArrowheads="1"/>
            </p:cNvSpPr>
            <p:nvPr/>
          </p:nvSpPr>
          <p:spPr bwMode="auto">
            <a:xfrm>
              <a:off x="395" y="1815"/>
              <a:ext cx="40" cy="50"/>
            </a:xfrm>
            <a:prstGeom prst="rect">
              <a:avLst/>
            </a:prstGeom>
            <a:solidFill>
              <a:srgbClr val="FF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34" name="Freeform 786">
              <a:extLst>
                <a:ext uri="{FF2B5EF4-FFF2-40B4-BE49-F238E27FC236}">
                  <a16:creationId xmlns:a16="http://schemas.microsoft.com/office/drawing/2014/main" id="{BEDBDAC2-762B-E942-A952-368BEF3D8616}"/>
                </a:ext>
              </a:extLst>
            </p:cNvPr>
            <p:cNvSpPr>
              <a:spLocks/>
            </p:cNvSpPr>
            <p:nvPr/>
          </p:nvSpPr>
          <p:spPr bwMode="auto">
            <a:xfrm>
              <a:off x="353" y="1866"/>
              <a:ext cx="8" cy="10"/>
            </a:xfrm>
            <a:custGeom>
              <a:avLst/>
              <a:gdLst>
                <a:gd name="T0" fmla="*/ 23 w 23"/>
                <a:gd name="T1" fmla="*/ 14 h 30"/>
                <a:gd name="T2" fmla="*/ 23 w 23"/>
                <a:gd name="T3" fmla="*/ 11 h 30"/>
                <a:gd name="T4" fmla="*/ 21 w 23"/>
                <a:gd name="T5" fmla="*/ 9 h 30"/>
                <a:gd name="T6" fmla="*/ 21 w 23"/>
                <a:gd name="T7" fmla="*/ 7 h 30"/>
                <a:gd name="T8" fmla="*/ 18 w 23"/>
                <a:gd name="T9" fmla="*/ 5 h 30"/>
                <a:gd name="T10" fmla="*/ 17 w 23"/>
                <a:gd name="T11" fmla="*/ 3 h 30"/>
                <a:gd name="T12" fmla="*/ 16 w 23"/>
                <a:gd name="T13" fmla="*/ 1 h 30"/>
                <a:gd name="T14" fmla="*/ 14 w 23"/>
                <a:gd name="T15" fmla="*/ 0 h 30"/>
                <a:gd name="T16" fmla="*/ 12 w 23"/>
                <a:gd name="T17" fmla="*/ 0 h 30"/>
                <a:gd name="T18" fmla="*/ 10 w 23"/>
                <a:gd name="T19" fmla="*/ 0 h 30"/>
                <a:gd name="T20" fmla="*/ 8 w 23"/>
                <a:gd name="T21" fmla="*/ 0 h 30"/>
                <a:gd name="T22" fmla="*/ 6 w 23"/>
                <a:gd name="T23" fmla="*/ 1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4 h 30"/>
                <a:gd name="T44" fmla="*/ 3 w 23"/>
                <a:gd name="T45" fmla="*/ 26 h 30"/>
                <a:gd name="T46" fmla="*/ 4 w 23"/>
                <a:gd name="T47" fmla="*/ 28 h 30"/>
                <a:gd name="T48" fmla="*/ 6 w 23"/>
                <a:gd name="T49" fmla="*/ 29 h 30"/>
                <a:gd name="T50" fmla="*/ 8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19" y="6"/>
                  </a:lnTo>
                  <a:lnTo>
                    <a:pt x="18" y="5"/>
                  </a:lnTo>
                  <a:lnTo>
                    <a:pt x="18" y="4"/>
                  </a:lnTo>
                  <a:lnTo>
                    <a:pt x="17" y="3"/>
                  </a:lnTo>
                  <a:lnTo>
                    <a:pt x="16" y="1"/>
                  </a:lnTo>
                  <a:lnTo>
                    <a:pt x="15" y="0"/>
                  </a:lnTo>
                  <a:lnTo>
                    <a:pt x="14" y="0"/>
                  </a:lnTo>
                  <a:lnTo>
                    <a:pt x="13" y="0"/>
                  </a:lnTo>
                  <a:lnTo>
                    <a:pt x="12" y="0"/>
                  </a:lnTo>
                  <a:lnTo>
                    <a:pt x="11" y="0"/>
                  </a:lnTo>
                  <a:lnTo>
                    <a:pt x="10" y="0"/>
                  </a:lnTo>
                  <a:lnTo>
                    <a:pt x="8" y="0"/>
                  </a:lnTo>
                  <a:lnTo>
                    <a:pt x="7" y="0"/>
                  </a:lnTo>
                  <a:lnTo>
                    <a:pt x="6" y="1"/>
                  </a:lnTo>
                  <a:lnTo>
                    <a:pt x="5" y="1"/>
                  </a:lnTo>
                  <a:lnTo>
                    <a:pt x="4"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4"/>
                  </a:lnTo>
                  <a:lnTo>
                    <a:pt x="2" y="24"/>
                  </a:lnTo>
                  <a:lnTo>
                    <a:pt x="3" y="26"/>
                  </a:lnTo>
                  <a:lnTo>
                    <a:pt x="3" y="27"/>
                  </a:lnTo>
                  <a:lnTo>
                    <a:pt x="4" y="28"/>
                  </a:lnTo>
                  <a:lnTo>
                    <a:pt x="5" y="29"/>
                  </a:lnTo>
                  <a:lnTo>
                    <a:pt x="6" y="29"/>
                  </a:lnTo>
                  <a:lnTo>
                    <a:pt x="7" y="30"/>
                  </a:lnTo>
                  <a:lnTo>
                    <a:pt x="8" y="30"/>
                  </a:lnTo>
                  <a:lnTo>
                    <a:pt x="10" y="30"/>
                  </a:lnTo>
                  <a:lnTo>
                    <a:pt x="11" y="30"/>
                  </a:lnTo>
                  <a:lnTo>
                    <a:pt x="12" y="30"/>
                  </a:lnTo>
                  <a:lnTo>
                    <a:pt x="13" y="30"/>
                  </a:lnTo>
                  <a:lnTo>
                    <a:pt x="14" y="30"/>
                  </a:lnTo>
                  <a:lnTo>
                    <a:pt x="15" y="30"/>
                  </a:lnTo>
                  <a:lnTo>
                    <a:pt x="16" y="29"/>
                  </a:lnTo>
                  <a:lnTo>
                    <a:pt x="17" y="28"/>
                  </a:lnTo>
                  <a:lnTo>
                    <a:pt x="18" y="27"/>
                  </a:lnTo>
                  <a:lnTo>
                    <a:pt x="18" y="26"/>
                  </a:lnTo>
                  <a:lnTo>
                    <a:pt x="19" y="24"/>
                  </a:lnTo>
                  <a:lnTo>
                    <a:pt x="21" y="24"/>
                  </a:lnTo>
                  <a:lnTo>
                    <a:pt x="21" y="23"/>
                  </a:lnTo>
                  <a:lnTo>
                    <a:pt x="21" y="22"/>
                  </a:lnTo>
                  <a:lnTo>
                    <a:pt x="22" y="20"/>
                  </a:lnTo>
                  <a:lnTo>
                    <a:pt x="23" y="19"/>
                  </a:lnTo>
                  <a:lnTo>
                    <a:pt x="23" y="18"/>
                  </a:lnTo>
                  <a:lnTo>
                    <a:pt x="23" y="17"/>
                  </a:lnTo>
                  <a:lnTo>
                    <a:pt x="23" y="15"/>
                  </a:lnTo>
                  <a:close/>
                </a:path>
              </a:pathLst>
            </a:custGeom>
            <a:solidFill>
              <a:srgbClr val="FF000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35" name="Line 787">
              <a:extLst>
                <a:ext uri="{FF2B5EF4-FFF2-40B4-BE49-F238E27FC236}">
                  <a16:creationId xmlns:a16="http://schemas.microsoft.com/office/drawing/2014/main" id="{2D41DD7B-407F-1C42-8476-1C0535CB9FFE}"/>
                </a:ext>
              </a:extLst>
            </p:cNvPr>
            <p:cNvSpPr>
              <a:spLocks noChangeShapeType="1"/>
            </p:cNvSpPr>
            <p:nvPr/>
          </p:nvSpPr>
          <p:spPr bwMode="auto">
            <a:xfrm>
              <a:off x="414" y="1815"/>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136" name="Line 788">
              <a:extLst>
                <a:ext uri="{FF2B5EF4-FFF2-40B4-BE49-F238E27FC236}">
                  <a16:creationId xmlns:a16="http://schemas.microsoft.com/office/drawing/2014/main" id="{87CEE69E-1E08-C342-8F93-C6429152EA98}"/>
                </a:ext>
              </a:extLst>
            </p:cNvPr>
            <p:cNvSpPr>
              <a:spLocks noChangeShapeType="1"/>
            </p:cNvSpPr>
            <p:nvPr/>
          </p:nvSpPr>
          <p:spPr bwMode="auto">
            <a:xfrm>
              <a:off x="395" y="1839"/>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119" name="Group 789">
            <a:extLst>
              <a:ext uri="{FF2B5EF4-FFF2-40B4-BE49-F238E27FC236}">
                <a16:creationId xmlns:a16="http://schemas.microsoft.com/office/drawing/2014/main" id="{37AC907C-77F0-5D42-9059-359F54FCAAFA}"/>
              </a:ext>
            </a:extLst>
          </p:cNvPr>
          <p:cNvGrpSpPr>
            <a:grpSpLocks/>
          </p:cNvGrpSpPr>
          <p:nvPr/>
        </p:nvGrpSpPr>
        <p:grpSpPr bwMode="auto">
          <a:xfrm>
            <a:off x="7924800" y="4114801"/>
            <a:ext cx="325438" cy="339725"/>
            <a:chOff x="263" y="1719"/>
            <a:chExt cx="205" cy="214"/>
          </a:xfrm>
        </p:grpSpPr>
        <p:sp>
          <p:nvSpPr>
            <p:cNvPr id="26123" name="Freeform 790">
              <a:extLst>
                <a:ext uri="{FF2B5EF4-FFF2-40B4-BE49-F238E27FC236}">
                  <a16:creationId xmlns:a16="http://schemas.microsoft.com/office/drawing/2014/main" id="{42DA2B89-3C2F-FC42-9869-4C8164B10174}"/>
                </a:ext>
              </a:extLst>
            </p:cNvPr>
            <p:cNvSpPr>
              <a:spLocks/>
            </p:cNvSpPr>
            <p:nvPr/>
          </p:nvSpPr>
          <p:spPr bwMode="auto">
            <a:xfrm>
              <a:off x="263" y="1719"/>
              <a:ext cx="205" cy="214"/>
            </a:xfrm>
            <a:custGeom>
              <a:avLst/>
              <a:gdLst>
                <a:gd name="T0" fmla="*/ 56 w 614"/>
                <a:gd name="T1" fmla="*/ 196 h 643"/>
                <a:gd name="T2" fmla="*/ 0 w 614"/>
                <a:gd name="T3" fmla="*/ 196 h 643"/>
                <a:gd name="T4" fmla="*/ 307 w 614"/>
                <a:gd name="T5" fmla="*/ 0 h 643"/>
                <a:gd name="T6" fmla="*/ 614 w 614"/>
                <a:gd name="T7" fmla="*/ 196 h 643"/>
                <a:gd name="T8" fmla="*/ 587 w 614"/>
                <a:gd name="T9" fmla="*/ 196 h 643"/>
                <a:gd name="T10" fmla="*/ 558 w 614"/>
                <a:gd name="T11" fmla="*/ 196 h 643"/>
                <a:gd name="T12" fmla="*/ 558 w 614"/>
                <a:gd name="T13" fmla="*/ 615 h 643"/>
                <a:gd name="T14" fmla="*/ 56 w 614"/>
                <a:gd name="T15" fmla="*/ 615 h 643"/>
                <a:gd name="T16" fmla="*/ 56 w 614"/>
                <a:gd name="T17" fmla="*/ 196 h 643"/>
                <a:gd name="T18" fmla="*/ 558 w 614"/>
                <a:gd name="T19" fmla="*/ 196 h 643"/>
                <a:gd name="T20" fmla="*/ 587 w 614"/>
                <a:gd name="T21" fmla="*/ 196 h 643"/>
                <a:gd name="T22" fmla="*/ 587 w 614"/>
                <a:gd name="T23" fmla="*/ 643 h 643"/>
                <a:gd name="T24" fmla="*/ 56 w 614"/>
                <a:gd name="T25" fmla="*/ 643 h 643"/>
                <a:gd name="T26" fmla="*/ 56 w 614"/>
                <a:gd name="T27" fmla="*/ 615 h 643"/>
                <a:gd name="T28" fmla="*/ 56 w 614"/>
                <a:gd name="T29" fmla="*/ 196 h 6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4"/>
                <a:gd name="T46" fmla="*/ 0 h 643"/>
                <a:gd name="T47" fmla="*/ 614 w 614"/>
                <a:gd name="T48" fmla="*/ 643 h 6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4" h="643">
                  <a:moveTo>
                    <a:pt x="56" y="196"/>
                  </a:moveTo>
                  <a:lnTo>
                    <a:pt x="0" y="196"/>
                  </a:lnTo>
                  <a:lnTo>
                    <a:pt x="307" y="0"/>
                  </a:lnTo>
                  <a:lnTo>
                    <a:pt x="614" y="196"/>
                  </a:lnTo>
                  <a:lnTo>
                    <a:pt x="587" y="196"/>
                  </a:lnTo>
                  <a:lnTo>
                    <a:pt x="558" y="196"/>
                  </a:lnTo>
                  <a:lnTo>
                    <a:pt x="558" y="615"/>
                  </a:lnTo>
                  <a:lnTo>
                    <a:pt x="56" y="615"/>
                  </a:lnTo>
                  <a:lnTo>
                    <a:pt x="56" y="196"/>
                  </a:lnTo>
                  <a:lnTo>
                    <a:pt x="558" y="196"/>
                  </a:lnTo>
                  <a:lnTo>
                    <a:pt x="587" y="196"/>
                  </a:lnTo>
                  <a:lnTo>
                    <a:pt x="587" y="643"/>
                  </a:lnTo>
                  <a:lnTo>
                    <a:pt x="56" y="643"/>
                  </a:lnTo>
                  <a:lnTo>
                    <a:pt x="56" y="615"/>
                  </a:lnTo>
                  <a:lnTo>
                    <a:pt x="56" y="196"/>
                  </a:lnTo>
                  <a:close/>
                </a:path>
              </a:pathLst>
            </a:custGeom>
            <a:solidFill>
              <a:srgbClr val="008080"/>
            </a:solidFill>
            <a:ln w="0">
              <a:solidFill>
                <a:srgbClr val="00008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24" name="Rectangle 791">
              <a:extLst>
                <a:ext uri="{FF2B5EF4-FFF2-40B4-BE49-F238E27FC236}">
                  <a16:creationId xmlns:a16="http://schemas.microsoft.com/office/drawing/2014/main" id="{A6512574-9589-F444-8CCC-8B8022F47607}"/>
                </a:ext>
              </a:extLst>
            </p:cNvPr>
            <p:cNvSpPr>
              <a:spLocks noChangeArrowheads="1"/>
            </p:cNvSpPr>
            <p:nvPr/>
          </p:nvSpPr>
          <p:spPr bwMode="auto">
            <a:xfrm>
              <a:off x="282" y="1784"/>
              <a:ext cx="170" cy="139"/>
            </a:xfrm>
            <a:prstGeom prst="rect">
              <a:avLst/>
            </a:prstGeom>
            <a:solidFill>
              <a:srgbClr val="FFFF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25" name="Rectangle 792">
              <a:extLst>
                <a:ext uri="{FF2B5EF4-FFF2-40B4-BE49-F238E27FC236}">
                  <a16:creationId xmlns:a16="http://schemas.microsoft.com/office/drawing/2014/main" id="{4D192299-97CC-D241-B4EB-453039ED2F68}"/>
                </a:ext>
              </a:extLst>
            </p:cNvPr>
            <p:cNvSpPr>
              <a:spLocks noChangeArrowheads="1"/>
            </p:cNvSpPr>
            <p:nvPr/>
          </p:nvSpPr>
          <p:spPr bwMode="auto">
            <a:xfrm>
              <a:off x="309" y="1817"/>
              <a:ext cx="60" cy="105"/>
            </a:xfrm>
            <a:prstGeom prst="rect">
              <a:avLst/>
            </a:prstGeom>
            <a:solidFill>
              <a:srgbClr val="800000"/>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26" name="Rectangle 793">
              <a:extLst>
                <a:ext uri="{FF2B5EF4-FFF2-40B4-BE49-F238E27FC236}">
                  <a16:creationId xmlns:a16="http://schemas.microsoft.com/office/drawing/2014/main" id="{86849724-5BC6-AF4B-9410-F2E0410F95F5}"/>
                </a:ext>
              </a:extLst>
            </p:cNvPr>
            <p:cNvSpPr>
              <a:spLocks noChangeArrowheads="1"/>
            </p:cNvSpPr>
            <p:nvPr/>
          </p:nvSpPr>
          <p:spPr bwMode="auto">
            <a:xfrm>
              <a:off x="395" y="1815"/>
              <a:ext cx="40" cy="50"/>
            </a:xfrm>
            <a:prstGeom prst="rect">
              <a:avLst/>
            </a:prstGeom>
            <a:solidFill>
              <a:srgbClr val="80FFFF"/>
            </a:solidFill>
            <a:ln w="0">
              <a:solidFill>
                <a:srgbClr val="00004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27" name="Freeform 794">
              <a:extLst>
                <a:ext uri="{FF2B5EF4-FFF2-40B4-BE49-F238E27FC236}">
                  <a16:creationId xmlns:a16="http://schemas.microsoft.com/office/drawing/2014/main" id="{6AE59E30-4AF7-CD4B-89FB-20AB9F72E20E}"/>
                </a:ext>
              </a:extLst>
            </p:cNvPr>
            <p:cNvSpPr>
              <a:spLocks/>
            </p:cNvSpPr>
            <p:nvPr/>
          </p:nvSpPr>
          <p:spPr bwMode="auto">
            <a:xfrm>
              <a:off x="353" y="1866"/>
              <a:ext cx="8" cy="10"/>
            </a:xfrm>
            <a:custGeom>
              <a:avLst/>
              <a:gdLst>
                <a:gd name="T0" fmla="*/ 23 w 23"/>
                <a:gd name="T1" fmla="*/ 14 h 30"/>
                <a:gd name="T2" fmla="*/ 23 w 23"/>
                <a:gd name="T3" fmla="*/ 11 h 30"/>
                <a:gd name="T4" fmla="*/ 21 w 23"/>
                <a:gd name="T5" fmla="*/ 9 h 30"/>
                <a:gd name="T6" fmla="*/ 21 w 23"/>
                <a:gd name="T7" fmla="*/ 7 h 30"/>
                <a:gd name="T8" fmla="*/ 18 w 23"/>
                <a:gd name="T9" fmla="*/ 5 h 30"/>
                <a:gd name="T10" fmla="*/ 17 w 23"/>
                <a:gd name="T11" fmla="*/ 3 h 30"/>
                <a:gd name="T12" fmla="*/ 16 w 23"/>
                <a:gd name="T13" fmla="*/ 1 h 30"/>
                <a:gd name="T14" fmla="*/ 14 w 23"/>
                <a:gd name="T15" fmla="*/ 0 h 30"/>
                <a:gd name="T16" fmla="*/ 12 w 23"/>
                <a:gd name="T17" fmla="*/ 0 h 30"/>
                <a:gd name="T18" fmla="*/ 10 w 23"/>
                <a:gd name="T19" fmla="*/ 0 h 30"/>
                <a:gd name="T20" fmla="*/ 8 w 23"/>
                <a:gd name="T21" fmla="*/ 0 h 30"/>
                <a:gd name="T22" fmla="*/ 6 w 23"/>
                <a:gd name="T23" fmla="*/ 1 h 30"/>
                <a:gd name="T24" fmla="*/ 4 w 23"/>
                <a:gd name="T25" fmla="*/ 3 h 30"/>
                <a:gd name="T26" fmla="*/ 3 w 23"/>
                <a:gd name="T27" fmla="*/ 5 h 30"/>
                <a:gd name="T28" fmla="*/ 1 w 23"/>
                <a:gd name="T29" fmla="*/ 7 h 30"/>
                <a:gd name="T30" fmla="*/ 1 w 23"/>
                <a:gd name="T31" fmla="*/ 9 h 30"/>
                <a:gd name="T32" fmla="*/ 0 w 23"/>
                <a:gd name="T33" fmla="*/ 11 h 30"/>
                <a:gd name="T34" fmla="*/ 0 w 23"/>
                <a:gd name="T35" fmla="*/ 14 h 30"/>
                <a:gd name="T36" fmla="*/ 0 w 23"/>
                <a:gd name="T37" fmla="*/ 17 h 30"/>
                <a:gd name="T38" fmla="*/ 0 w 23"/>
                <a:gd name="T39" fmla="*/ 19 h 30"/>
                <a:gd name="T40" fmla="*/ 1 w 23"/>
                <a:gd name="T41" fmla="*/ 22 h 30"/>
                <a:gd name="T42" fmla="*/ 1 w 23"/>
                <a:gd name="T43" fmla="*/ 24 h 30"/>
                <a:gd name="T44" fmla="*/ 3 w 23"/>
                <a:gd name="T45" fmla="*/ 26 h 30"/>
                <a:gd name="T46" fmla="*/ 4 w 23"/>
                <a:gd name="T47" fmla="*/ 28 h 30"/>
                <a:gd name="T48" fmla="*/ 6 w 23"/>
                <a:gd name="T49" fmla="*/ 29 h 30"/>
                <a:gd name="T50" fmla="*/ 8 w 23"/>
                <a:gd name="T51" fmla="*/ 30 h 30"/>
                <a:gd name="T52" fmla="*/ 10 w 23"/>
                <a:gd name="T53" fmla="*/ 30 h 30"/>
                <a:gd name="T54" fmla="*/ 12 w 23"/>
                <a:gd name="T55" fmla="*/ 30 h 30"/>
                <a:gd name="T56" fmla="*/ 14 w 23"/>
                <a:gd name="T57" fmla="*/ 30 h 30"/>
                <a:gd name="T58" fmla="*/ 16 w 23"/>
                <a:gd name="T59" fmla="*/ 29 h 30"/>
                <a:gd name="T60" fmla="*/ 17 w 23"/>
                <a:gd name="T61" fmla="*/ 28 h 30"/>
                <a:gd name="T62" fmla="*/ 18 w 23"/>
                <a:gd name="T63" fmla="*/ 26 h 30"/>
                <a:gd name="T64" fmla="*/ 21 w 23"/>
                <a:gd name="T65" fmla="*/ 24 h 30"/>
                <a:gd name="T66" fmla="*/ 21 w 23"/>
                <a:gd name="T67" fmla="*/ 22 h 30"/>
                <a:gd name="T68" fmla="*/ 23 w 23"/>
                <a:gd name="T69" fmla="*/ 19 h 30"/>
                <a:gd name="T70" fmla="*/ 23 w 23"/>
                <a:gd name="T71" fmla="*/ 17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30"/>
                <a:gd name="T110" fmla="*/ 23 w 23"/>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30">
                  <a:moveTo>
                    <a:pt x="23" y="15"/>
                  </a:moveTo>
                  <a:lnTo>
                    <a:pt x="23" y="14"/>
                  </a:lnTo>
                  <a:lnTo>
                    <a:pt x="23" y="12"/>
                  </a:lnTo>
                  <a:lnTo>
                    <a:pt x="23" y="11"/>
                  </a:lnTo>
                  <a:lnTo>
                    <a:pt x="22" y="10"/>
                  </a:lnTo>
                  <a:lnTo>
                    <a:pt x="21" y="9"/>
                  </a:lnTo>
                  <a:lnTo>
                    <a:pt x="21" y="8"/>
                  </a:lnTo>
                  <a:lnTo>
                    <a:pt x="21" y="7"/>
                  </a:lnTo>
                  <a:lnTo>
                    <a:pt x="19" y="6"/>
                  </a:lnTo>
                  <a:lnTo>
                    <a:pt x="18" y="5"/>
                  </a:lnTo>
                  <a:lnTo>
                    <a:pt x="18" y="4"/>
                  </a:lnTo>
                  <a:lnTo>
                    <a:pt x="17" y="3"/>
                  </a:lnTo>
                  <a:lnTo>
                    <a:pt x="16" y="1"/>
                  </a:lnTo>
                  <a:lnTo>
                    <a:pt x="15" y="0"/>
                  </a:lnTo>
                  <a:lnTo>
                    <a:pt x="14" y="0"/>
                  </a:lnTo>
                  <a:lnTo>
                    <a:pt x="13" y="0"/>
                  </a:lnTo>
                  <a:lnTo>
                    <a:pt x="12" y="0"/>
                  </a:lnTo>
                  <a:lnTo>
                    <a:pt x="11" y="0"/>
                  </a:lnTo>
                  <a:lnTo>
                    <a:pt x="10" y="0"/>
                  </a:lnTo>
                  <a:lnTo>
                    <a:pt x="8" y="0"/>
                  </a:lnTo>
                  <a:lnTo>
                    <a:pt x="7" y="0"/>
                  </a:lnTo>
                  <a:lnTo>
                    <a:pt x="6" y="1"/>
                  </a:lnTo>
                  <a:lnTo>
                    <a:pt x="5" y="1"/>
                  </a:lnTo>
                  <a:lnTo>
                    <a:pt x="4" y="3"/>
                  </a:lnTo>
                  <a:lnTo>
                    <a:pt x="3" y="4"/>
                  </a:lnTo>
                  <a:lnTo>
                    <a:pt x="3" y="5"/>
                  </a:lnTo>
                  <a:lnTo>
                    <a:pt x="2" y="6"/>
                  </a:lnTo>
                  <a:lnTo>
                    <a:pt x="1" y="7"/>
                  </a:lnTo>
                  <a:lnTo>
                    <a:pt x="1" y="8"/>
                  </a:lnTo>
                  <a:lnTo>
                    <a:pt x="1" y="9"/>
                  </a:lnTo>
                  <a:lnTo>
                    <a:pt x="0" y="10"/>
                  </a:lnTo>
                  <a:lnTo>
                    <a:pt x="0" y="11"/>
                  </a:lnTo>
                  <a:lnTo>
                    <a:pt x="0" y="12"/>
                  </a:lnTo>
                  <a:lnTo>
                    <a:pt x="0" y="14"/>
                  </a:lnTo>
                  <a:lnTo>
                    <a:pt x="0" y="15"/>
                  </a:lnTo>
                  <a:lnTo>
                    <a:pt x="0" y="17"/>
                  </a:lnTo>
                  <a:lnTo>
                    <a:pt x="0" y="18"/>
                  </a:lnTo>
                  <a:lnTo>
                    <a:pt x="0" y="19"/>
                  </a:lnTo>
                  <a:lnTo>
                    <a:pt x="0" y="20"/>
                  </a:lnTo>
                  <a:lnTo>
                    <a:pt x="1" y="22"/>
                  </a:lnTo>
                  <a:lnTo>
                    <a:pt x="1" y="23"/>
                  </a:lnTo>
                  <a:lnTo>
                    <a:pt x="1" y="24"/>
                  </a:lnTo>
                  <a:lnTo>
                    <a:pt x="2" y="24"/>
                  </a:lnTo>
                  <a:lnTo>
                    <a:pt x="3" y="26"/>
                  </a:lnTo>
                  <a:lnTo>
                    <a:pt x="3" y="27"/>
                  </a:lnTo>
                  <a:lnTo>
                    <a:pt x="4" y="28"/>
                  </a:lnTo>
                  <a:lnTo>
                    <a:pt x="5" y="29"/>
                  </a:lnTo>
                  <a:lnTo>
                    <a:pt x="6" y="29"/>
                  </a:lnTo>
                  <a:lnTo>
                    <a:pt x="7" y="30"/>
                  </a:lnTo>
                  <a:lnTo>
                    <a:pt x="8" y="30"/>
                  </a:lnTo>
                  <a:lnTo>
                    <a:pt x="10" y="30"/>
                  </a:lnTo>
                  <a:lnTo>
                    <a:pt x="11" y="30"/>
                  </a:lnTo>
                  <a:lnTo>
                    <a:pt x="12" y="30"/>
                  </a:lnTo>
                  <a:lnTo>
                    <a:pt x="13" y="30"/>
                  </a:lnTo>
                  <a:lnTo>
                    <a:pt x="14" y="30"/>
                  </a:lnTo>
                  <a:lnTo>
                    <a:pt x="15" y="30"/>
                  </a:lnTo>
                  <a:lnTo>
                    <a:pt x="16" y="29"/>
                  </a:lnTo>
                  <a:lnTo>
                    <a:pt x="17" y="28"/>
                  </a:lnTo>
                  <a:lnTo>
                    <a:pt x="18" y="27"/>
                  </a:lnTo>
                  <a:lnTo>
                    <a:pt x="18" y="26"/>
                  </a:lnTo>
                  <a:lnTo>
                    <a:pt x="19" y="24"/>
                  </a:lnTo>
                  <a:lnTo>
                    <a:pt x="21" y="24"/>
                  </a:lnTo>
                  <a:lnTo>
                    <a:pt x="21" y="23"/>
                  </a:lnTo>
                  <a:lnTo>
                    <a:pt x="21" y="22"/>
                  </a:lnTo>
                  <a:lnTo>
                    <a:pt x="22" y="20"/>
                  </a:lnTo>
                  <a:lnTo>
                    <a:pt x="23" y="19"/>
                  </a:lnTo>
                  <a:lnTo>
                    <a:pt x="23" y="18"/>
                  </a:lnTo>
                  <a:lnTo>
                    <a:pt x="23" y="17"/>
                  </a:lnTo>
                  <a:lnTo>
                    <a:pt x="23" y="15"/>
                  </a:lnTo>
                  <a:close/>
                </a:path>
              </a:pathLst>
            </a:custGeom>
            <a:solidFill>
              <a:srgbClr val="008080"/>
            </a:solidFill>
            <a:ln w="0">
              <a:solidFill>
                <a:srgbClr val="000040"/>
              </a:solidFill>
              <a:round/>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28" name="Line 795">
              <a:extLst>
                <a:ext uri="{FF2B5EF4-FFF2-40B4-BE49-F238E27FC236}">
                  <a16:creationId xmlns:a16="http://schemas.microsoft.com/office/drawing/2014/main" id="{38EC8D93-0AB0-7444-BE37-4A9B757CD362}"/>
                </a:ext>
              </a:extLst>
            </p:cNvPr>
            <p:cNvSpPr>
              <a:spLocks noChangeShapeType="1"/>
            </p:cNvSpPr>
            <p:nvPr/>
          </p:nvSpPr>
          <p:spPr bwMode="auto">
            <a:xfrm>
              <a:off x="414" y="1815"/>
              <a:ext cx="1" cy="50"/>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129" name="Line 796">
              <a:extLst>
                <a:ext uri="{FF2B5EF4-FFF2-40B4-BE49-F238E27FC236}">
                  <a16:creationId xmlns:a16="http://schemas.microsoft.com/office/drawing/2014/main" id="{B4262A4C-2C0F-4049-94E4-32F328410608}"/>
                </a:ext>
              </a:extLst>
            </p:cNvPr>
            <p:cNvSpPr>
              <a:spLocks noChangeShapeType="1"/>
            </p:cNvSpPr>
            <p:nvPr/>
          </p:nvSpPr>
          <p:spPr bwMode="auto">
            <a:xfrm>
              <a:off x="395" y="1839"/>
              <a:ext cx="39" cy="1"/>
            </a:xfrm>
            <a:prstGeom prst="line">
              <a:avLst/>
            </a:prstGeom>
            <a:noFill/>
            <a:ln w="6350">
              <a:solidFill>
                <a:srgbClr val="00004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6120" name="Oval 797">
            <a:extLst>
              <a:ext uri="{FF2B5EF4-FFF2-40B4-BE49-F238E27FC236}">
                <a16:creationId xmlns:a16="http://schemas.microsoft.com/office/drawing/2014/main" id="{6D677054-1B52-E440-B74E-C430BEF431E6}"/>
              </a:ext>
            </a:extLst>
          </p:cNvPr>
          <p:cNvSpPr>
            <a:spLocks noChangeArrowheads="1"/>
          </p:cNvSpPr>
          <p:nvPr/>
        </p:nvSpPr>
        <p:spPr bwMode="auto">
          <a:xfrm>
            <a:off x="2362200" y="1981200"/>
            <a:ext cx="1524000" cy="1524000"/>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21" name="Oval 798">
            <a:extLst>
              <a:ext uri="{FF2B5EF4-FFF2-40B4-BE49-F238E27FC236}">
                <a16:creationId xmlns:a16="http://schemas.microsoft.com/office/drawing/2014/main" id="{F07D6A50-E3FD-6141-A5B7-BD92ECBF7A6C}"/>
              </a:ext>
            </a:extLst>
          </p:cNvPr>
          <p:cNvSpPr>
            <a:spLocks noChangeArrowheads="1"/>
          </p:cNvSpPr>
          <p:nvPr/>
        </p:nvSpPr>
        <p:spPr bwMode="auto">
          <a:xfrm>
            <a:off x="6629400" y="3962400"/>
            <a:ext cx="1524000" cy="1524000"/>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122" name="Line 799">
            <a:extLst>
              <a:ext uri="{FF2B5EF4-FFF2-40B4-BE49-F238E27FC236}">
                <a16:creationId xmlns:a16="http://schemas.microsoft.com/office/drawing/2014/main" id="{7EAB61A7-35C8-3941-830F-B068CE8A433A}"/>
              </a:ext>
            </a:extLst>
          </p:cNvPr>
          <p:cNvSpPr>
            <a:spLocks noChangeShapeType="1"/>
          </p:cNvSpPr>
          <p:nvPr/>
        </p:nvSpPr>
        <p:spPr bwMode="auto">
          <a:xfrm>
            <a:off x="1818006" y="1074421"/>
            <a:ext cx="8534400"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1753262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3609060D-CB65-7849-8244-9597A338EB71}"/>
              </a:ext>
            </a:extLst>
          </p:cNvPr>
          <p:cNvSpPr>
            <a:spLocks noGrp="1" noChangeArrowheads="1"/>
          </p:cNvSpPr>
          <p:nvPr>
            <p:ph type="title"/>
          </p:nvPr>
        </p:nvSpPr>
        <p:spPr>
          <a:xfrm>
            <a:off x="1164151" y="666730"/>
            <a:ext cx="10037249" cy="1139825"/>
          </a:xfrm>
        </p:spPr>
        <p:txBody>
          <a:bodyPr>
            <a:normAutofit/>
          </a:bodyPr>
          <a:lstStyle/>
          <a:p>
            <a:pPr eaLnBrk="1" hangingPunct="1"/>
            <a:r>
              <a:rPr lang="en-US" altLang="en-US" sz="4800" dirty="0"/>
              <a:t>Difference Between Strata and Clusters</a:t>
            </a:r>
          </a:p>
        </p:txBody>
      </p:sp>
      <p:sp>
        <p:nvSpPr>
          <p:cNvPr id="37890" name="Slide Number Placeholder 5">
            <a:extLst>
              <a:ext uri="{FF2B5EF4-FFF2-40B4-BE49-F238E27FC236}">
                <a16:creationId xmlns:a16="http://schemas.microsoft.com/office/drawing/2014/main" id="{435CA2CB-A6D4-9440-8F03-BBB6885AB34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DED2A41-1FAB-1F46-BFCE-7CB1BF9D6F97}" type="slidenum">
              <a:rPr lang="en-US" altLang="en-US">
                <a:solidFill>
                  <a:srgbClr val="FFFFFF"/>
                </a:solidFill>
                <a:latin typeface="Franklin Gothic Book" panose="020B0503020102020204" pitchFamily="34" charset="0"/>
              </a:rPr>
              <a:pPr eaLnBrk="1" hangingPunct="1"/>
              <a:t>19</a:t>
            </a:fld>
            <a:endParaRPr lang="en-US" altLang="en-US">
              <a:solidFill>
                <a:srgbClr val="FFFFFF"/>
              </a:solidFill>
              <a:latin typeface="Franklin Gothic Book" panose="020B0503020102020204" pitchFamily="34" charset="0"/>
            </a:endParaRPr>
          </a:p>
        </p:txBody>
      </p:sp>
      <p:sp>
        <p:nvSpPr>
          <p:cNvPr id="40964" name="Rectangle 3">
            <a:extLst>
              <a:ext uri="{FF2B5EF4-FFF2-40B4-BE49-F238E27FC236}">
                <a16:creationId xmlns:a16="http://schemas.microsoft.com/office/drawing/2014/main" id="{759D9E79-7F5D-3F49-9098-B603BD9DF183}"/>
              </a:ext>
            </a:extLst>
          </p:cNvPr>
          <p:cNvSpPr>
            <a:spLocks noGrp="1" noChangeArrowheads="1"/>
          </p:cNvSpPr>
          <p:nvPr>
            <p:ph sz="quarter" idx="1"/>
          </p:nvPr>
        </p:nvSpPr>
        <p:spPr/>
        <p:txBody>
          <a:bodyPr>
            <a:normAutofit/>
          </a:bodyPr>
          <a:lstStyle/>
          <a:p>
            <a:pPr eaLnBrk="1" hangingPunct="1">
              <a:lnSpc>
                <a:spcPct val="80000"/>
              </a:lnSpc>
            </a:pPr>
            <a:r>
              <a:rPr lang="en-US" altLang="en-US" sz="2800" dirty="0"/>
              <a:t>Although </a:t>
            </a:r>
            <a:r>
              <a:rPr lang="en-US" altLang="en-US" sz="2800" dirty="0">
                <a:hlinkClick r:id="rId3"/>
              </a:rPr>
              <a:t>strata</a:t>
            </a:r>
            <a:r>
              <a:rPr lang="en-US" altLang="en-US" sz="2800" dirty="0"/>
              <a:t> and clusters are both non-overlapping subsets of the population, they differ in several ways. </a:t>
            </a:r>
          </a:p>
          <a:p>
            <a:pPr eaLnBrk="1" hangingPunct="1">
              <a:lnSpc>
                <a:spcPct val="80000"/>
              </a:lnSpc>
            </a:pPr>
            <a:endParaRPr lang="en-US" altLang="en-US" sz="2800" dirty="0"/>
          </a:p>
          <a:p>
            <a:pPr lvl="1">
              <a:lnSpc>
                <a:spcPct val="80000"/>
              </a:lnSpc>
            </a:pPr>
            <a:r>
              <a:rPr lang="en-US" altLang="en-US" sz="2400" b="1" dirty="0"/>
              <a:t>All strata are represented in the sample; but only a subset of clusters are in the sample.</a:t>
            </a:r>
          </a:p>
          <a:p>
            <a:pPr lvl="1">
              <a:lnSpc>
                <a:spcPct val="80000"/>
              </a:lnSpc>
            </a:pPr>
            <a:endParaRPr lang="en-US" altLang="en-US" sz="2400" dirty="0"/>
          </a:p>
          <a:p>
            <a:pPr lvl="1">
              <a:lnSpc>
                <a:spcPct val="80000"/>
              </a:lnSpc>
            </a:pPr>
            <a:r>
              <a:rPr lang="en-US" altLang="en-US" sz="2400" dirty="0"/>
              <a:t>With stratified sampling, </a:t>
            </a:r>
            <a:r>
              <a:rPr lang="en-US" altLang="en-US" sz="2400" b="1" dirty="0"/>
              <a:t>the best survey results occur when elements within strata are internally </a:t>
            </a:r>
            <a:r>
              <a:rPr lang="en-US" altLang="en-US" sz="2400" b="1" dirty="0">
                <a:hlinkClick r:id="rId4"/>
              </a:rPr>
              <a:t>homogeneous</a:t>
            </a:r>
            <a:r>
              <a:rPr lang="en-US" altLang="en-US" sz="2400" b="1" dirty="0"/>
              <a:t>.</a:t>
            </a:r>
            <a:r>
              <a:rPr lang="en-US" altLang="en-US" sz="2400" dirty="0"/>
              <a:t> However, with cluster sampling, the</a:t>
            </a:r>
            <a:r>
              <a:rPr lang="en-US" altLang="en-US" sz="2400" b="1" dirty="0"/>
              <a:t> best results occur when elements within clusters are internally </a:t>
            </a:r>
            <a:r>
              <a:rPr lang="en-US" altLang="en-US" sz="2400" b="1" dirty="0">
                <a:hlinkClick r:id="rId5"/>
              </a:rPr>
              <a:t>heterogeneous</a:t>
            </a:r>
            <a:r>
              <a:rPr lang="en-US" altLang="en-US" sz="2400" b="1" dirty="0"/>
              <a:t>   </a:t>
            </a:r>
          </a:p>
        </p:txBody>
      </p:sp>
      <p:sp>
        <p:nvSpPr>
          <p:cNvPr id="40965" name="Rectangle 4">
            <a:extLst>
              <a:ext uri="{FF2B5EF4-FFF2-40B4-BE49-F238E27FC236}">
                <a16:creationId xmlns:a16="http://schemas.microsoft.com/office/drawing/2014/main" id="{F1957A68-E9EC-9F4B-A314-D874BB382EAE}"/>
              </a:ext>
            </a:extLst>
          </p:cNvPr>
          <p:cNvSpPr>
            <a:spLocks noChangeArrowheads="1"/>
          </p:cNvSpPr>
          <p:nvPr/>
        </p:nvSpPr>
        <p:spPr bwMode="auto">
          <a:xfrm>
            <a:off x="1524001" y="-2361"/>
            <a:ext cx="65" cy="553998"/>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66" name="Rectangle 5">
            <a:extLst>
              <a:ext uri="{FF2B5EF4-FFF2-40B4-BE49-F238E27FC236}">
                <a16:creationId xmlns:a16="http://schemas.microsoft.com/office/drawing/2014/main" id="{333A1BF6-0D98-7944-A487-3819C787FCC2}"/>
              </a:ext>
            </a:extLst>
          </p:cNvPr>
          <p:cNvSpPr>
            <a:spLocks noChangeArrowheads="1"/>
          </p:cNvSpPr>
          <p:nvPr/>
        </p:nvSpPr>
        <p:spPr bwMode="auto">
          <a:xfrm>
            <a:off x="1524001" y="-2361"/>
            <a:ext cx="65" cy="553998"/>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67" name="Rectangle 6">
            <a:extLst>
              <a:ext uri="{FF2B5EF4-FFF2-40B4-BE49-F238E27FC236}">
                <a16:creationId xmlns:a16="http://schemas.microsoft.com/office/drawing/2014/main" id="{77646C95-0548-0141-A97A-73DD95CA52D7}"/>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68" name="Rectangle 7">
            <a:extLst>
              <a:ext uri="{FF2B5EF4-FFF2-40B4-BE49-F238E27FC236}">
                <a16:creationId xmlns:a16="http://schemas.microsoft.com/office/drawing/2014/main" id="{C6B83054-A18E-EB4C-B902-8E5F615E635F}"/>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69" name="Rectangle 8">
            <a:extLst>
              <a:ext uri="{FF2B5EF4-FFF2-40B4-BE49-F238E27FC236}">
                <a16:creationId xmlns:a16="http://schemas.microsoft.com/office/drawing/2014/main" id="{D3F75B46-1208-B142-9C7C-76C3F37B1D5B}"/>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70" name="Rectangle 9">
            <a:extLst>
              <a:ext uri="{FF2B5EF4-FFF2-40B4-BE49-F238E27FC236}">
                <a16:creationId xmlns:a16="http://schemas.microsoft.com/office/drawing/2014/main" id="{1E6FD2F7-29A0-0C46-95A6-DB57992301F8}"/>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71" name="Rectangle 10">
            <a:extLst>
              <a:ext uri="{FF2B5EF4-FFF2-40B4-BE49-F238E27FC236}">
                <a16:creationId xmlns:a16="http://schemas.microsoft.com/office/drawing/2014/main" id="{A3C90119-721E-7D48-865B-F2E7069AF125}"/>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72" name="Rectangle 11">
            <a:extLst>
              <a:ext uri="{FF2B5EF4-FFF2-40B4-BE49-F238E27FC236}">
                <a16:creationId xmlns:a16="http://schemas.microsoft.com/office/drawing/2014/main" id="{68F6102A-4378-1B4E-B7C8-A507E448693F}"/>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73" name="Rectangle 12">
            <a:extLst>
              <a:ext uri="{FF2B5EF4-FFF2-40B4-BE49-F238E27FC236}">
                <a16:creationId xmlns:a16="http://schemas.microsoft.com/office/drawing/2014/main" id="{D433D785-E098-4A4F-89F0-065B8D1BDBCF}"/>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74" name="Rectangle 13">
            <a:extLst>
              <a:ext uri="{FF2B5EF4-FFF2-40B4-BE49-F238E27FC236}">
                <a16:creationId xmlns:a16="http://schemas.microsoft.com/office/drawing/2014/main" id="{F5E11737-C7AA-B143-A77E-67C39EC9FD61}"/>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75" name="Rectangle 14">
            <a:extLst>
              <a:ext uri="{FF2B5EF4-FFF2-40B4-BE49-F238E27FC236}">
                <a16:creationId xmlns:a16="http://schemas.microsoft.com/office/drawing/2014/main" id="{249DF4D5-D313-5C4E-B0FB-3DA422C7AD8C}"/>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76" name="Rectangle 15">
            <a:extLst>
              <a:ext uri="{FF2B5EF4-FFF2-40B4-BE49-F238E27FC236}">
                <a16:creationId xmlns:a16="http://schemas.microsoft.com/office/drawing/2014/main" id="{9F3020F2-D38F-A44F-B8D5-6C816479F7D3}"/>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77" name="Rectangle 16">
            <a:extLst>
              <a:ext uri="{FF2B5EF4-FFF2-40B4-BE49-F238E27FC236}">
                <a16:creationId xmlns:a16="http://schemas.microsoft.com/office/drawing/2014/main" id="{D35D9D5B-A88F-3B48-A831-5F0886E719AF}"/>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78" name="Rectangle 17">
            <a:extLst>
              <a:ext uri="{FF2B5EF4-FFF2-40B4-BE49-F238E27FC236}">
                <a16:creationId xmlns:a16="http://schemas.microsoft.com/office/drawing/2014/main" id="{403207B1-2E35-CC42-A0A8-5C87FA0B682C}"/>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79" name="Rectangle 18">
            <a:extLst>
              <a:ext uri="{FF2B5EF4-FFF2-40B4-BE49-F238E27FC236}">
                <a16:creationId xmlns:a16="http://schemas.microsoft.com/office/drawing/2014/main" id="{D82B1A54-E409-9049-ABD7-F2359764EC42}"/>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80" name="Rectangle 19">
            <a:extLst>
              <a:ext uri="{FF2B5EF4-FFF2-40B4-BE49-F238E27FC236}">
                <a16:creationId xmlns:a16="http://schemas.microsoft.com/office/drawing/2014/main" id="{432B9D8D-2166-394D-826E-AB764AEC6385}"/>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81" name="Rectangle 20">
            <a:extLst>
              <a:ext uri="{FF2B5EF4-FFF2-40B4-BE49-F238E27FC236}">
                <a16:creationId xmlns:a16="http://schemas.microsoft.com/office/drawing/2014/main" id="{F8CFD55C-C6B9-EC4C-9AB0-1A65101CFAEB}"/>
              </a:ext>
            </a:extLst>
          </p:cNvPr>
          <p:cNvSpPr>
            <a:spLocks noChangeArrowheads="1"/>
          </p:cNvSpPr>
          <p:nvPr/>
        </p:nvSpPr>
        <p:spPr bwMode="auto">
          <a:xfrm>
            <a:off x="152400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endParaRPr lang="en-US" altLang="en-US">
              <a:cs typeface="Arial" panose="020B0604020202020204" pitchFamily="34" charset="0"/>
            </a:endParaRPr>
          </a:p>
        </p:txBody>
      </p:sp>
      <p:sp>
        <p:nvSpPr>
          <p:cNvPr id="40982" name="Rectangle 21">
            <a:extLst>
              <a:ext uri="{FF2B5EF4-FFF2-40B4-BE49-F238E27FC236}">
                <a16:creationId xmlns:a16="http://schemas.microsoft.com/office/drawing/2014/main" id="{0B4DD067-5B33-7D49-BDEE-39C5D70E15CD}"/>
              </a:ext>
            </a:extLst>
          </p:cNvPr>
          <p:cNvSpPr>
            <a:spLocks noChangeArrowheads="1"/>
          </p:cNvSpPr>
          <p:nvPr/>
        </p:nvSpPr>
        <p:spPr bwMode="auto">
          <a:xfrm>
            <a:off x="1524000" y="0"/>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br>
              <a:rPr lang="en-US" altLang="en-US">
                <a:cs typeface="Arial" panose="020B0604020202020204" pitchFamily="34" charset="0"/>
              </a:rPr>
            </a:br>
            <a:endParaRPr lang="en-US" altLang="en-US">
              <a:cs typeface="Arial" panose="020B0604020202020204" pitchFamily="34" charset="0"/>
            </a:endParaRPr>
          </a:p>
        </p:txBody>
      </p:sp>
      <p:sp>
        <p:nvSpPr>
          <p:cNvPr id="40983" name="Rectangle 22">
            <a:extLst>
              <a:ext uri="{FF2B5EF4-FFF2-40B4-BE49-F238E27FC236}">
                <a16:creationId xmlns:a16="http://schemas.microsoft.com/office/drawing/2014/main" id="{BC31F764-69F3-A046-B43B-B8F9717AA648}"/>
              </a:ext>
            </a:extLst>
          </p:cNvPr>
          <p:cNvSpPr>
            <a:spLocks noChangeArrowheads="1"/>
          </p:cNvSpPr>
          <p:nvPr/>
        </p:nvSpPr>
        <p:spPr bwMode="auto">
          <a:xfrm>
            <a:off x="1524000" y="0"/>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br>
              <a:rPr lang="en-US" altLang="en-US">
                <a:cs typeface="Arial" panose="020B0604020202020204" pitchFamily="34" charset="0"/>
              </a:rPr>
            </a:br>
            <a:endParaRPr lang="en-US" altLang="en-US">
              <a:cs typeface="Arial" panose="020B0604020202020204" pitchFamily="34" charset="0"/>
            </a:endParaRPr>
          </a:p>
        </p:txBody>
      </p:sp>
      <p:sp>
        <p:nvSpPr>
          <p:cNvPr id="40984" name="Rectangle 23">
            <a:extLst>
              <a:ext uri="{FF2B5EF4-FFF2-40B4-BE49-F238E27FC236}">
                <a16:creationId xmlns:a16="http://schemas.microsoft.com/office/drawing/2014/main" id="{292E47B9-0237-2F4A-B2AB-50CD76D6C021}"/>
              </a:ext>
            </a:extLst>
          </p:cNvPr>
          <p:cNvSpPr>
            <a:spLocks noChangeArrowheads="1"/>
          </p:cNvSpPr>
          <p:nvPr/>
        </p:nvSpPr>
        <p:spPr bwMode="auto">
          <a:xfrm>
            <a:off x="1524000" y="0"/>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br>
              <a:rPr lang="en-US" altLang="en-US">
                <a:cs typeface="Arial" panose="020B0604020202020204" pitchFamily="34" charset="0"/>
              </a:rPr>
            </a:br>
            <a:endParaRPr lang="en-US" altLang="en-US">
              <a:cs typeface="Arial" panose="020B0604020202020204" pitchFamily="34" charset="0"/>
            </a:endParaRPr>
          </a:p>
        </p:txBody>
      </p:sp>
      <p:sp>
        <p:nvSpPr>
          <p:cNvPr id="40985" name="Rectangle 24">
            <a:extLst>
              <a:ext uri="{FF2B5EF4-FFF2-40B4-BE49-F238E27FC236}">
                <a16:creationId xmlns:a16="http://schemas.microsoft.com/office/drawing/2014/main" id="{16002BF4-788C-734B-A2F7-D642B418314C}"/>
              </a:ext>
            </a:extLst>
          </p:cNvPr>
          <p:cNvSpPr>
            <a:spLocks noChangeArrowheads="1"/>
          </p:cNvSpPr>
          <p:nvPr/>
        </p:nvSpPr>
        <p:spPr bwMode="auto">
          <a:xfrm>
            <a:off x="1524000" y="0"/>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br>
              <a:rPr lang="en-US" altLang="en-US">
                <a:cs typeface="Arial" panose="020B0604020202020204" pitchFamily="34" charset="0"/>
              </a:rPr>
            </a:br>
            <a:endParaRPr lang="en-US" altLang="en-US">
              <a:cs typeface="Arial" panose="020B0604020202020204" pitchFamily="34" charset="0"/>
            </a:endParaRPr>
          </a:p>
        </p:txBody>
      </p:sp>
      <p:sp>
        <p:nvSpPr>
          <p:cNvPr id="40986" name="Rectangle 25">
            <a:extLst>
              <a:ext uri="{FF2B5EF4-FFF2-40B4-BE49-F238E27FC236}">
                <a16:creationId xmlns:a16="http://schemas.microsoft.com/office/drawing/2014/main" id="{E4B3E124-061E-AB4F-8DEE-397BA3107A90}"/>
              </a:ext>
            </a:extLst>
          </p:cNvPr>
          <p:cNvSpPr>
            <a:spLocks noChangeArrowheads="1"/>
          </p:cNvSpPr>
          <p:nvPr/>
        </p:nvSpPr>
        <p:spPr bwMode="auto">
          <a:xfrm>
            <a:off x="1524000" y="0"/>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br>
              <a:rPr lang="en-US" altLang="en-US">
                <a:cs typeface="Arial" panose="020B0604020202020204" pitchFamily="34" charset="0"/>
              </a:rPr>
            </a:br>
            <a:endParaRPr lang="en-US" altLang="en-US">
              <a:cs typeface="Arial" panose="020B0604020202020204" pitchFamily="34" charset="0"/>
            </a:endParaRPr>
          </a:p>
        </p:txBody>
      </p:sp>
      <p:sp>
        <p:nvSpPr>
          <p:cNvPr id="40987" name="Rectangle 26">
            <a:extLst>
              <a:ext uri="{FF2B5EF4-FFF2-40B4-BE49-F238E27FC236}">
                <a16:creationId xmlns:a16="http://schemas.microsoft.com/office/drawing/2014/main" id="{9A4950C7-FD31-104A-8F0C-E7476501B436}"/>
              </a:ext>
            </a:extLst>
          </p:cNvPr>
          <p:cNvSpPr>
            <a:spLocks noChangeArrowheads="1"/>
          </p:cNvSpPr>
          <p:nvPr/>
        </p:nvSpPr>
        <p:spPr bwMode="auto">
          <a:xfrm>
            <a:off x="1524000" y="0"/>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br>
              <a:rPr lang="en-US" altLang="en-US">
                <a:cs typeface="Arial" panose="020B0604020202020204" pitchFamily="34" charset="0"/>
              </a:rPr>
            </a:br>
            <a:endParaRPr lang="en-US" altLang="en-US">
              <a:cs typeface="Arial" panose="020B0604020202020204" pitchFamily="34" charset="0"/>
            </a:endParaRPr>
          </a:p>
        </p:txBody>
      </p:sp>
      <p:sp>
        <p:nvSpPr>
          <p:cNvPr id="40988" name="Rectangle 27">
            <a:extLst>
              <a:ext uri="{FF2B5EF4-FFF2-40B4-BE49-F238E27FC236}">
                <a16:creationId xmlns:a16="http://schemas.microsoft.com/office/drawing/2014/main" id="{D9B8BB69-36D7-7742-A182-F882605A368E}"/>
              </a:ext>
            </a:extLst>
          </p:cNvPr>
          <p:cNvSpPr>
            <a:spLocks noChangeArrowheads="1"/>
          </p:cNvSpPr>
          <p:nvPr/>
        </p:nvSpPr>
        <p:spPr bwMode="auto">
          <a:xfrm>
            <a:off x="1524000" y="0"/>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br>
              <a:rPr lang="en-US" altLang="en-US">
                <a:cs typeface="Arial" panose="020B0604020202020204" pitchFamily="34" charset="0"/>
              </a:rPr>
            </a:br>
            <a:endParaRPr lang="en-US" altLang="en-US">
              <a:cs typeface="Arial" panose="020B0604020202020204" pitchFamily="34" charset="0"/>
            </a:endParaRPr>
          </a:p>
        </p:txBody>
      </p:sp>
      <p:sp>
        <p:nvSpPr>
          <p:cNvPr id="40989" name="Rectangle 28">
            <a:extLst>
              <a:ext uri="{FF2B5EF4-FFF2-40B4-BE49-F238E27FC236}">
                <a16:creationId xmlns:a16="http://schemas.microsoft.com/office/drawing/2014/main" id="{EECA08D4-3822-8241-BBBE-A6D47568D43A}"/>
              </a:ext>
            </a:extLst>
          </p:cNvPr>
          <p:cNvSpPr>
            <a:spLocks noChangeArrowheads="1"/>
          </p:cNvSpPr>
          <p:nvPr/>
        </p:nvSpPr>
        <p:spPr bwMode="auto">
          <a:xfrm>
            <a:off x="1524000" y="0"/>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br>
              <a:rPr lang="en-US" altLang="en-US">
                <a:cs typeface="Arial" panose="020B0604020202020204" pitchFamily="34" charset="0"/>
              </a:rPr>
            </a:br>
            <a:endParaRPr lang="en-US" altLang="en-US">
              <a:cs typeface="Arial" panose="020B0604020202020204" pitchFamily="34" charset="0"/>
            </a:endParaRPr>
          </a:p>
        </p:txBody>
      </p:sp>
      <p:sp>
        <p:nvSpPr>
          <p:cNvPr id="40990" name="Rectangle 29">
            <a:extLst>
              <a:ext uri="{FF2B5EF4-FFF2-40B4-BE49-F238E27FC236}">
                <a16:creationId xmlns:a16="http://schemas.microsoft.com/office/drawing/2014/main" id="{D741EDE6-D0CB-524A-B4F6-4A02B02EF4FF}"/>
              </a:ext>
            </a:extLst>
          </p:cNvPr>
          <p:cNvSpPr>
            <a:spLocks noChangeArrowheads="1"/>
          </p:cNvSpPr>
          <p:nvPr/>
        </p:nvSpPr>
        <p:spPr bwMode="auto">
          <a:xfrm>
            <a:off x="1524000" y="0"/>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br>
              <a:rPr lang="en-US" altLang="en-US">
                <a:cs typeface="Arial" panose="020B0604020202020204" pitchFamily="34" charset="0"/>
              </a:rPr>
            </a:br>
            <a:endParaRPr lang="en-US" altLang="en-US">
              <a:cs typeface="Arial" panose="020B0604020202020204" pitchFamily="34" charset="0"/>
            </a:endParaRPr>
          </a:p>
        </p:txBody>
      </p:sp>
      <p:sp>
        <p:nvSpPr>
          <p:cNvPr id="40991" name="Rectangle 30">
            <a:extLst>
              <a:ext uri="{FF2B5EF4-FFF2-40B4-BE49-F238E27FC236}">
                <a16:creationId xmlns:a16="http://schemas.microsoft.com/office/drawing/2014/main" id="{990D9556-5154-5345-B852-83C13469A2E1}"/>
              </a:ext>
            </a:extLst>
          </p:cNvPr>
          <p:cNvSpPr>
            <a:spLocks noChangeArrowheads="1"/>
          </p:cNvSpPr>
          <p:nvPr/>
        </p:nvSpPr>
        <p:spPr bwMode="auto">
          <a:xfrm>
            <a:off x="1524000" y="0"/>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br>
              <a:rPr lang="en-US" altLang="en-US">
                <a:cs typeface="Arial" panose="020B0604020202020204" pitchFamily="34" charset="0"/>
              </a:rPr>
            </a:br>
            <a:endParaRPr lang="en-US" altLang="en-US">
              <a:cs typeface="Arial" panose="020B0604020202020204" pitchFamily="34" charset="0"/>
            </a:endParaRPr>
          </a:p>
        </p:txBody>
      </p:sp>
      <p:sp>
        <p:nvSpPr>
          <p:cNvPr id="40992" name="Rectangle 31">
            <a:extLst>
              <a:ext uri="{FF2B5EF4-FFF2-40B4-BE49-F238E27FC236}">
                <a16:creationId xmlns:a16="http://schemas.microsoft.com/office/drawing/2014/main" id="{40AE5899-A3C2-464C-9473-90833E0C2C6F}"/>
              </a:ext>
            </a:extLst>
          </p:cNvPr>
          <p:cNvSpPr>
            <a:spLocks noChangeArrowheads="1"/>
          </p:cNvSpPr>
          <p:nvPr/>
        </p:nvSpPr>
        <p:spPr bwMode="auto">
          <a:xfrm>
            <a:off x="1524000" y="0"/>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br>
              <a:rPr lang="en-US" altLang="en-US">
                <a:cs typeface="Arial" panose="020B0604020202020204" pitchFamily="34" charset="0"/>
              </a:rPr>
            </a:br>
            <a:endParaRPr lang="en-US" altLang="en-US">
              <a:cs typeface="Arial" panose="020B0604020202020204" pitchFamily="34" charset="0"/>
            </a:endParaRPr>
          </a:p>
        </p:txBody>
      </p:sp>
      <p:sp>
        <p:nvSpPr>
          <p:cNvPr id="40993" name="Rectangle 32">
            <a:extLst>
              <a:ext uri="{FF2B5EF4-FFF2-40B4-BE49-F238E27FC236}">
                <a16:creationId xmlns:a16="http://schemas.microsoft.com/office/drawing/2014/main" id="{C5A48F69-1FE4-A94E-81EE-DC14540933B6}"/>
              </a:ext>
            </a:extLst>
          </p:cNvPr>
          <p:cNvSpPr>
            <a:spLocks noChangeArrowheads="1"/>
          </p:cNvSpPr>
          <p:nvPr/>
        </p:nvSpPr>
        <p:spPr bwMode="auto">
          <a:xfrm>
            <a:off x="1524000" y="0"/>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br>
              <a:rPr lang="en-US" altLang="en-US">
                <a:cs typeface="Arial" panose="020B0604020202020204" pitchFamily="34" charset="0"/>
              </a:rPr>
            </a:br>
            <a:endParaRPr lang="en-US" altLang="en-US">
              <a:cs typeface="Arial" panose="020B0604020202020204" pitchFamily="34" charset="0"/>
            </a:endParaRPr>
          </a:p>
        </p:txBody>
      </p:sp>
      <p:sp>
        <p:nvSpPr>
          <p:cNvPr id="40994" name="Rectangle 33">
            <a:extLst>
              <a:ext uri="{FF2B5EF4-FFF2-40B4-BE49-F238E27FC236}">
                <a16:creationId xmlns:a16="http://schemas.microsoft.com/office/drawing/2014/main" id="{B5300A6B-CBA6-9841-A3AA-6155991335CE}"/>
              </a:ext>
            </a:extLst>
          </p:cNvPr>
          <p:cNvSpPr>
            <a:spLocks noChangeArrowheads="1"/>
          </p:cNvSpPr>
          <p:nvPr/>
        </p:nvSpPr>
        <p:spPr bwMode="auto">
          <a:xfrm>
            <a:off x="1524000" y="0"/>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br>
              <a:rPr lang="en-US" altLang="en-US">
                <a:cs typeface="Arial" panose="020B0604020202020204" pitchFamily="34" charset="0"/>
              </a:rPr>
            </a:br>
            <a:endParaRPr lang="en-US" altLang="en-US">
              <a:cs typeface="Arial" panose="020B0604020202020204" pitchFamily="34" charset="0"/>
            </a:endParaRPr>
          </a:p>
        </p:txBody>
      </p:sp>
      <p:sp>
        <p:nvSpPr>
          <p:cNvPr id="40995" name="Rectangle 34">
            <a:extLst>
              <a:ext uri="{FF2B5EF4-FFF2-40B4-BE49-F238E27FC236}">
                <a16:creationId xmlns:a16="http://schemas.microsoft.com/office/drawing/2014/main" id="{747CAA98-F995-0949-949F-48FF26E1C00E}"/>
              </a:ext>
            </a:extLst>
          </p:cNvPr>
          <p:cNvSpPr>
            <a:spLocks noChangeArrowheads="1"/>
          </p:cNvSpPr>
          <p:nvPr/>
        </p:nvSpPr>
        <p:spPr bwMode="auto">
          <a:xfrm>
            <a:off x="1524000" y="0"/>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br>
              <a:rPr lang="en-US" altLang="en-US">
                <a:cs typeface="Arial" panose="020B0604020202020204" pitchFamily="34" charset="0"/>
              </a:rPr>
            </a:br>
            <a:endParaRPr lang="en-US" altLang="en-US">
              <a:cs typeface="Arial" panose="020B0604020202020204" pitchFamily="34" charset="0"/>
            </a:endParaRPr>
          </a:p>
        </p:txBody>
      </p:sp>
      <p:sp>
        <p:nvSpPr>
          <p:cNvPr id="40996" name="Rectangle 35">
            <a:extLst>
              <a:ext uri="{FF2B5EF4-FFF2-40B4-BE49-F238E27FC236}">
                <a16:creationId xmlns:a16="http://schemas.microsoft.com/office/drawing/2014/main" id="{B41B314E-8EE6-5E4B-AD3E-5CB68360CCD6}"/>
              </a:ext>
            </a:extLst>
          </p:cNvPr>
          <p:cNvSpPr>
            <a:spLocks noChangeArrowheads="1"/>
          </p:cNvSpPr>
          <p:nvPr/>
        </p:nvSpPr>
        <p:spPr bwMode="auto">
          <a:xfrm>
            <a:off x="1524000" y="0"/>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br>
              <a:rPr lang="en-US" altLang="en-US">
                <a:cs typeface="Arial" panose="020B0604020202020204" pitchFamily="34" charset="0"/>
              </a:rPr>
            </a:br>
            <a:endParaRPr lang="en-US" altLang="en-US">
              <a:cs typeface="Arial" panose="020B0604020202020204" pitchFamily="34" charset="0"/>
            </a:endParaRPr>
          </a:p>
        </p:txBody>
      </p:sp>
      <p:sp>
        <p:nvSpPr>
          <p:cNvPr id="40997" name="Rectangle 36">
            <a:extLst>
              <a:ext uri="{FF2B5EF4-FFF2-40B4-BE49-F238E27FC236}">
                <a16:creationId xmlns:a16="http://schemas.microsoft.com/office/drawing/2014/main" id="{8E342E28-291E-2645-87C1-A25F196FBF1A}"/>
              </a:ext>
            </a:extLst>
          </p:cNvPr>
          <p:cNvSpPr>
            <a:spLocks noChangeArrowheads="1"/>
          </p:cNvSpPr>
          <p:nvPr/>
        </p:nvSpPr>
        <p:spPr bwMode="auto">
          <a:xfrm>
            <a:off x="1524000" y="0"/>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a:p>
            <a:br>
              <a:rPr lang="en-US" altLang="en-US">
                <a:cs typeface="Arial" panose="020B0604020202020204" pitchFamily="34" charset="0"/>
              </a:rPr>
            </a:br>
            <a:endParaRPr lang="en-US" altLang="en-US">
              <a:cs typeface="Arial" panose="020B0604020202020204" pitchFamily="34" charset="0"/>
            </a:endParaRPr>
          </a:p>
        </p:txBody>
      </p:sp>
    </p:spTree>
    <p:extLst>
      <p:ext uri="{BB962C8B-B14F-4D97-AF65-F5344CB8AC3E}">
        <p14:creationId xmlns:p14="http://schemas.microsoft.com/office/powerpoint/2010/main" val="3234195461"/>
      </p:ext>
    </p:extLst>
  </p:cSld>
  <p:clrMapOvr>
    <a:masterClrMapping/>
  </p:clrMapOvr>
  <p:transition advTm="484"/>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00FB-B41E-804B-8DC9-6DD4A10D1D35}"/>
              </a:ext>
            </a:extLst>
          </p:cNvPr>
          <p:cNvSpPr>
            <a:spLocks noGrp="1"/>
          </p:cNvSpPr>
          <p:nvPr>
            <p:ph type="title"/>
          </p:nvPr>
        </p:nvSpPr>
        <p:spPr>
          <a:xfrm>
            <a:off x="1304795" y="685644"/>
            <a:ext cx="9720072" cy="977861"/>
          </a:xfrm>
        </p:spPr>
        <p:txBody>
          <a:bodyPr/>
          <a:lstStyle/>
          <a:p>
            <a:r>
              <a:rPr lang="en-US" b="1" dirty="0"/>
              <a:t>Multi-stage sampling</a:t>
            </a:r>
          </a:p>
        </p:txBody>
      </p:sp>
      <p:sp>
        <p:nvSpPr>
          <p:cNvPr id="3" name="Content Placeholder 2">
            <a:extLst>
              <a:ext uri="{FF2B5EF4-FFF2-40B4-BE49-F238E27FC236}">
                <a16:creationId xmlns:a16="http://schemas.microsoft.com/office/drawing/2014/main" id="{E041E918-C562-214F-A8D5-558AD969579B}"/>
              </a:ext>
            </a:extLst>
          </p:cNvPr>
          <p:cNvSpPr>
            <a:spLocks noGrp="1"/>
          </p:cNvSpPr>
          <p:nvPr>
            <p:ph idx="1"/>
          </p:nvPr>
        </p:nvSpPr>
        <p:spPr>
          <a:xfrm>
            <a:off x="1304795" y="2036063"/>
            <a:ext cx="9582410" cy="4279393"/>
          </a:xfrm>
        </p:spPr>
        <p:txBody>
          <a:bodyPr>
            <a:normAutofit/>
          </a:bodyPr>
          <a:lstStyle/>
          <a:p>
            <a:r>
              <a:rPr lang="en-US" sz="2800" dirty="0"/>
              <a:t>Complex form of cluster sampling in which two or more levels of units are embedded one in the other.</a:t>
            </a:r>
          </a:p>
          <a:p>
            <a:pPr lvl="1"/>
            <a:r>
              <a:rPr lang="en-US" sz="2400" dirty="0"/>
              <a:t> First stage, random number of districts chosen in all  states.</a:t>
            </a:r>
          </a:p>
          <a:p>
            <a:pPr lvl="1"/>
            <a:r>
              <a:rPr lang="en-US" sz="2400" b="1" dirty="0"/>
              <a:t>Followed by random number of talukas, villages. </a:t>
            </a:r>
          </a:p>
          <a:p>
            <a:pPr lvl="1"/>
            <a:r>
              <a:rPr lang="en-US" sz="2400" b="1" dirty="0"/>
              <a:t>Then third stage units will be houses.      </a:t>
            </a:r>
          </a:p>
          <a:p>
            <a:pPr lvl="1"/>
            <a:endParaRPr lang="en-US" sz="2400" dirty="0"/>
          </a:p>
          <a:p>
            <a:r>
              <a:rPr lang="en-US" sz="2800" dirty="0"/>
              <a:t> All ultimate units  (houses, for instance) selected at last step are surveyed</a:t>
            </a:r>
          </a:p>
          <a:p>
            <a:endParaRPr lang="en-US" sz="2800" dirty="0"/>
          </a:p>
        </p:txBody>
      </p:sp>
    </p:spTree>
    <p:extLst>
      <p:ext uri="{BB962C8B-B14F-4D97-AF65-F5344CB8AC3E}">
        <p14:creationId xmlns:p14="http://schemas.microsoft.com/office/powerpoint/2010/main" val="2269550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77423-F024-ED45-AF9B-FC4342923268}"/>
              </a:ext>
            </a:extLst>
          </p:cNvPr>
          <p:cNvSpPr>
            <a:spLocks noGrp="1"/>
          </p:cNvSpPr>
          <p:nvPr>
            <p:ph type="title"/>
          </p:nvPr>
        </p:nvSpPr>
        <p:spPr>
          <a:xfrm>
            <a:off x="1235964" y="845664"/>
            <a:ext cx="9720072" cy="977861"/>
          </a:xfrm>
        </p:spPr>
        <p:txBody>
          <a:bodyPr/>
          <a:lstStyle/>
          <a:p>
            <a:r>
              <a:rPr lang="en-US" dirty="0"/>
              <a:t>Non-probability sampling: Convenience</a:t>
            </a:r>
          </a:p>
        </p:txBody>
      </p:sp>
      <p:sp>
        <p:nvSpPr>
          <p:cNvPr id="3" name="Content Placeholder 2">
            <a:extLst>
              <a:ext uri="{FF2B5EF4-FFF2-40B4-BE49-F238E27FC236}">
                <a16:creationId xmlns:a16="http://schemas.microsoft.com/office/drawing/2014/main" id="{ECA180B3-02B5-6243-AC5C-ED59F2A258A8}"/>
              </a:ext>
            </a:extLst>
          </p:cNvPr>
          <p:cNvSpPr>
            <a:spLocks noGrp="1"/>
          </p:cNvSpPr>
          <p:nvPr>
            <p:ph idx="1"/>
          </p:nvPr>
        </p:nvSpPr>
        <p:spPr/>
        <p:txBody>
          <a:bodyPr/>
          <a:lstStyle/>
          <a:p>
            <a:r>
              <a:rPr lang="en-US" dirty="0"/>
              <a:t>Sometimes known as </a:t>
            </a:r>
            <a:r>
              <a:rPr lang="en-US" b="1" dirty="0"/>
              <a:t>grab or opportunity sampling or accidental or haphazard sampling. </a:t>
            </a:r>
          </a:p>
          <a:p>
            <a:r>
              <a:rPr lang="en-US" dirty="0"/>
              <a:t>A type of nonprobability sampling which involves the sample being drawn from that part of the population which is close to hand. That is, readily available and convenient. </a:t>
            </a:r>
          </a:p>
          <a:p>
            <a:r>
              <a:rPr lang="en-US" dirty="0"/>
              <a:t>The researcher using such a sample </a:t>
            </a:r>
            <a:r>
              <a:rPr lang="en-US" b="1" dirty="0"/>
              <a:t>cannot scientifically make generalizations about the total population </a:t>
            </a:r>
            <a:r>
              <a:rPr lang="en-US" dirty="0"/>
              <a:t>from this sample because it would not be representative enough.</a:t>
            </a:r>
          </a:p>
          <a:p>
            <a:r>
              <a:rPr lang="en-US" b="1" dirty="0"/>
              <a:t>This type of sampling is most useful for pilot testing. </a:t>
            </a:r>
          </a:p>
          <a:p>
            <a:endParaRPr lang="en-US" dirty="0"/>
          </a:p>
        </p:txBody>
      </p:sp>
    </p:spTree>
    <p:extLst>
      <p:ext uri="{BB962C8B-B14F-4D97-AF65-F5344CB8AC3E}">
        <p14:creationId xmlns:p14="http://schemas.microsoft.com/office/powerpoint/2010/main" val="1264598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a:extLst>
              <a:ext uri="{FF2B5EF4-FFF2-40B4-BE49-F238E27FC236}">
                <a16:creationId xmlns:a16="http://schemas.microsoft.com/office/drawing/2014/main" id="{2D370BAE-CD23-AA46-BC90-77C2F21A8803}"/>
              </a:ext>
            </a:extLst>
          </p:cNvPr>
          <p:cNvSpPr>
            <a:spLocks noGrp="1" noChangeArrowheads="1"/>
          </p:cNvSpPr>
          <p:nvPr>
            <p:ph type="title"/>
          </p:nvPr>
        </p:nvSpPr>
        <p:spPr>
          <a:xfrm>
            <a:off x="1298447" y="815184"/>
            <a:ext cx="9720072" cy="977861"/>
          </a:xfrm>
        </p:spPr>
        <p:txBody>
          <a:bodyPr rtlCol="0">
            <a:normAutofit/>
          </a:bodyPr>
          <a:lstStyle/>
          <a:p>
            <a:pPr>
              <a:defRPr/>
            </a:pPr>
            <a:r>
              <a:rPr lang="en-US" b="1" dirty="0"/>
              <a:t>Other sampling</a:t>
            </a:r>
          </a:p>
        </p:txBody>
      </p:sp>
      <p:sp>
        <p:nvSpPr>
          <p:cNvPr id="46082" name="Slide Number Placeholder 5">
            <a:extLst>
              <a:ext uri="{FF2B5EF4-FFF2-40B4-BE49-F238E27FC236}">
                <a16:creationId xmlns:a16="http://schemas.microsoft.com/office/drawing/2014/main" id="{62D2DB39-7807-9243-BC43-F32E577D660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700E364-F88C-E546-91A3-505A36CF0274}" type="slidenum">
              <a:rPr lang="en-US" altLang="en-US">
                <a:solidFill>
                  <a:srgbClr val="FFFFFF"/>
                </a:solidFill>
                <a:latin typeface="Franklin Gothic Book" panose="020B0503020102020204" pitchFamily="34" charset="0"/>
              </a:rPr>
              <a:pPr eaLnBrk="1" hangingPunct="1"/>
              <a:t>22</a:t>
            </a:fld>
            <a:endParaRPr lang="en-US" altLang="en-US">
              <a:solidFill>
                <a:srgbClr val="FFFFFF"/>
              </a:solidFill>
              <a:latin typeface="Franklin Gothic Book" panose="020B0503020102020204" pitchFamily="34" charset="0"/>
            </a:endParaRPr>
          </a:p>
        </p:txBody>
      </p:sp>
      <p:sp>
        <p:nvSpPr>
          <p:cNvPr id="49156" name="Rectangle 3">
            <a:extLst>
              <a:ext uri="{FF2B5EF4-FFF2-40B4-BE49-F238E27FC236}">
                <a16:creationId xmlns:a16="http://schemas.microsoft.com/office/drawing/2014/main" id="{B38742A0-2890-0D4D-A1AA-76D40D34BFF9}"/>
              </a:ext>
            </a:extLst>
          </p:cNvPr>
          <p:cNvSpPr>
            <a:spLocks noGrp="1" noChangeArrowheads="1"/>
          </p:cNvSpPr>
          <p:nvPr>
            <p:ph sz="quarter" idx="1"/>
          </p:nvPr>
        </p:nvSpPr>
        <p:spPr/>
        <p:txBody>
          <a:bodyPr/>
          <a:lstStyle/>
          <a:p>
            <a:r>
              <a:rPr lang="en-US" dirty="0"/>
              <a:t>Judgmental sampling or </a:t>
            </a:r>
            <a:r>
              <a:rPr lang="en-US" b="1" dirty="0"/>
              <a:t>Purposive sampling</a:t>
            </a:r>
            <a:r>
              <a:rPr lang="en-US" altLang="en-US" dirty="0"/>
              <a:t>: The researcher chooses the sample based on who they think would be appropriate for the study. This is used primarily when there is a limited number of people that have expertise in the area being researched </a:t>
            </a:r>
          </a:p>
          <a:p>
            <a:pPr eaLnBrk="1" hangingPunct="1"/>
            <a:endParaRPr lang="en-US" altLang="en-US" dirty="0"/>
          </a:p>
          <a:p>
            <a:r>
              <a:rPr lang="en-US" altLang="en-US" b="1" dirty="0"/>
              <a:t>Snowball Sampling:</a:t>
            </a:r>
            <a:r>
              <a:rPr lang="en-US" altLang="en-US" dirty="0"/>
              <a:t> </a:t>
            </a:r>
            <a:r>
              <a:rPr lang="en-IN" dirty="0"/>
              <a:t>In snowball sampling, you start by identifying a few respondents that match the criteria for inclusion in your study, and then ask them to recommend others they know who also meet your selection criteria.</a:t>
            </a:r>
          </a:p>
          <a:p>
            <a:pPr eaLnBrk="1" hangingPunct="1"/>
            <a:endParaRPr lang="en-US" altLang="en-US" dirty="0"/>
          </a:p>
        </p:txBody>
      </p:sp>
    </p:spTree>
    <p:extLst>
      <p:ext uri="{BB962C8B-B14F-4D97-AF65-F5344CB8AC3E}">
        <p14:creationId xmlns:p14="http://schemas.microsoft.com/office/powerpoint/2010/main" val="1918227449"/>
      </p:ext>
    </p:extLst>
  </p:cSld>
  <p:clrMapOvr>
    <a:masterClrMapping/>
  </p:clrMapOvr>
  <p:transition advTm="234"/>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91FCD9-6B48-F7E1-4504-A622FCB0ED10}"/>
              </a:ext>
            </a:extLst>
          </p:cNvPr>
          <p:cNvSpPr>
            <a:spLocks noGrp="1"/>
          </p:cNvSpPr>
          <p:nvPr>
            <p:ph type="title"/>
          </p:nvPr>
        </p:nvSpPr>
        <p:spPr/>
        <p:txBody>
          <a:bodyPr/>
          <a:lstStyle/>
          <a:p>
            <a:r>
              <a:rPr lang="en-IN" dirty="0"/>
              <a:t>STATISTICAL INFERENCE</a:t>
            </a:r>
          </a:p>
        </p:txBody>
      </p:sp>
      <p:sp>
        <p:nvSpPr>
          <p:cNvPr id="4" name="Text Placeholder 3">
            <a:extLst>
              <a:ext uri="{FF2B5EF4-FFF2-40B4-BE49-F238E27FC236}">
                <a16:creationId xmlns:a16="http://schemas.microsoft.com/office/drawing/2014/main" id="{228AEA6B-3507-9ABD-BD80-1CE94D3CB27B}"/>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509084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2B0AA78-D96F-684A-8090-241F7C3B36EF}"/>
              </a:ext>
            </a:extLst>
          </p:cNvPr>
          <p:cNvSpPr>
            <a:spLocks noGrp="1" noChangeArrowheads="1"/>
          </p:cNvSpPr>
          <p:nvPr>
            <p:ph type="title"/>
          </p:nvPr>
        </p:nvSpPr>
        <p:spPr/>
        <p:txBody>
          <a:bodyPr/>
          <a:lstStyle/>
          <a:p>
            <a:pPr eaLnBrk="1" hangingPunct="1"/>
            <a:r>
              <a:rPr lang="en-US" altLang="en-US" sz="4000" dirty="0"/>
              <a:t>Distinctions Between Parameters and Statistics</a:t>
            </a:r>
          </a:p>
        </p:txBody>
      </p:sp>
      <p:graphicFrame>
        <p:nvGraphicFramePr>
          <p:cNvPr id="144443" name="Group 59">
            <a:extLst>
              <a:ext uri="{FF2B5EF4-FFF2-40B4-BE49-F238E27FC236}">
                <a16:creationId xmlns:a16="http://schemas.microsoft.com/office/drawing/2014/main" id="{66444E4E-41E5-3F4F-8199-0BD0212C5940}"/>
              </a:ext>
            </a:extLst>
          </p:cNvPr>
          <p:cNvGraphicFramePr>
            <a:graphicFrameLocks noGrp="1"/>
          </p:cNvGraphicFramePr>
          <p:nvPr>
            <p:ph sz="half" idx="1"/>
          </p:nvPr>
        </p:nvGraphicFramePr>
        <p:xfrm>
          <a:off x="2076450" y="2184400"/>
          <a:ext cx="8274050" cy="3657602"/>
        </p:xfrm>
        <a:graphic>
          <a:graphicData uri="http://schemas.openxmlformats.org/drawingml/2006/table">
            <a:tbl>
              <a:tblPr/>
              <a:tblGrid>
                <a:gridCol w="2465388">
                  <a:extLst>
                    <a:ext uri="{9D8B030D-6E8A-4147-A177-3AD203B41FA5}">
                      <a16:colId xmlns:a16="http://schemas.microsoft.com/office/drawing/2014/main" val="20000"/>
                    </a:ext>
                  </a:extLst>
                </a:gridCol>
                <a:gridCol w="2641600">
                  <a:extLst>
                    <a:ext uri="{9D8B030D-6E8A-4147-A177-3AD203B41FA5}">
                      <a16:colId xmlns:a16="http://schemas.microsoft.com/office/drawing/2014/main" val="20001"/>
                    </a:ext>
                  </a:extLst>
                </a:gridCol>
                <a:gridCol w="3167062">
                  <a:extLst>
                    <a:ext uri="{9D8B030D-6E8A-4147-A177-3AD203B41FA5}">
                      <a16:colId xmlns:a16="http://schemas.microsoft.com/office/drawing/2014/main" val="20002"/>
                    </a:ext>
                  </a:extLst>
                </a:gridCol>
              </a:tblGrid>
              <a:tr h="7318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Parameters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Statistics </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318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Source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Population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Sample</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730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Notation</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Greek (e.g., </a:t>
                      </a:r>
                      <a:r>
                        <a:rPr kumimoji="0" lang="el-GR" sz="2800" b="0" i="0" u="none" strike="noStrike" cap="none" normalizeH="0" baseline="0">
                          <a:ln>
                            <a:noFill/>
                          </a:ln>
                          <a:solidFill>
                            <a:schemeClr val="tx1"/>
                          </a:solidFill>
                          <a:effectLst/>
                          <a:latin typeface="Arial" charset="0"/>
                          <a:cs typeface="Arial" charset="0"/>
                        </a:rPr>
                        <a:t>μ</a:t>
                      </a:r>
                      <a:r>
                        <a:rPr kumimoji="0" lang="en-US" sz="28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Roman (e.g., </a:t>
                      </a:r>
                      <a:r>
                        <a:rPr kumimoji="0" lang="en-US" sz="2800" b="0" i="1" u="none" strike="noStrike" cap="none" normalizeH="0" baseline="0">
                          <a:ln>
                            <a:noFill/>
                          </a:ln>
                          <a:solidFill>
                            <a:schemeClr val="tx1"/>
                          </a:solidFill>
                          <a:effectLst/>
                          <a:latin typeface="Arial" charset="0"/>
                        </a:rPr>
                        <a:t>xbar</a:t>
                      </a:r>
                      <a:r>
                        <a:rPr kumimoji="0" lang="en-US" sz="28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7318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Vary</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Yes</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7318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Calculated</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Yes</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642389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4">
            <a:extLst>
              <a:ext uri="{FF2B5EF4-FFF2-40B4-BE49-F238E27FC236}">
                <a16:creationId xmlns:a16="http://schemas.microsoft.com/office/drawing/2014/main" id="{60D0446E-8BF6-FF45-A377-5E31A75D09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7294"/>
          <a:stretch>
            <a:fillRect/>
          </a:stretch>
        </p:blipFill>
        <p:spPr bwMode="auto">
          <a:xfrm>
            <a:off x="2043114" y="349250"/>
            <a:ext cx="8059737" cy="59690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78594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D0FF38-A5DB-3B4D-83A4-E696C007AA8A}"/>
              </a:ext>
            </a:extLst>
          </p:cNvPr>
          <p:cNvSpPr>
            <a:spLocks noGrp="1" noChangeArrowheads="1"/>
          </p:cNvSpPr>
          <p:nvPr>
            <p:ph type="title"/>
          </p:nvPr>
        </p:nvSpPr>
        <p:spPr>
          <a:xfrm>
            <a:off x="1765300" y="274639"/>
            <a:ext cx="8688388" cy="968375"/>
          </a:xfrm>
        </p:spPr>
        <p:txBody>
          <a:bodyPr>
            <a:normAutofit fontScale="90000"/>
          </a:bodyPr>
          <a:lstStyle/>
          <a:p>
            <a:pPr eaLnBrk="1" hangingPunct="1"/>
            <a:r>
              <a:rPr lang="en-US" altLang="en-US" sz="3600"/>
              <a:t>Sampling Distributions of a Mean (Introduced in Ch 8)</a:t>
            </a:r>
          </a:p>
        </p:txBody>
      </p:sp>
      <p:sp>
        <p:nvSpPr>
          <p:cNvPr id="2053" name="Text Box 3">
            <a:extLst>
              <a:ext uri="{FF2B5EF4-FFF2-40B4-BE49-F238E27FC236}">
                <a16:creationId xmlns:a16="http://schemas.microsoft.com/office/drawing/2014/main" id="{56EC0BD0-C1D7-CD4E-9A18-06B37C6F0BB2}"/>
              </a:ext>
            </a:extLst>
          </p:cNvPr>
          <p:cNvSpPr txBox="1">
            <a:spLocks noChangeArrowheads="1"/>
          </p:cNvSpPr>
          <p:nvPr/>
        </p:nvSpPr>
        <p:spPr bwMode="auto">
          <a:xfrm>
            <a:off x="1979613" y="1455739"/>
            <a:ext cx="8153400" cy="955675"/>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800">
                <a:latin typeface="Tahoma" panose="020B0604030504040204" pitchFamily="34" charset="0"/>
              </a:rPr>
              <a:t>The </a:t>
            </a:r>
            <a:r>
              <a:rPr lang="en-US" altLang="en-US" sz="2800" b="1">
                <a:latin typeface="Tahoma" panose="020B0604030504040204" pitchFamily="34" charset="0"/>
              </a:rPr>
              <a:t>sampling distributions of a mean (SDM)  </a:t>
            </a:r>
            <a:r>
              <a:rPr lang="en-US" altLang="en-US" sz="2800">
                <a:latin typeface="Tahoma" panose="020B0604030504040204" pitchFamily="34" charset="0"/>
              </a:rPr>
              <a:t>describes the behavior of a sampling mean</a:t>
            </a:r>
            <a:endParaRPr lang="en-US" altLang="en-US" sz="2800" i="1">
              <a:latin typeface="Tahoma" panose="020B0604030504040204" pitchFamily="34" charset="0"/>
              <a:cs typeface="Tahoma" panose="020B0604030504040204" pitchFamily="34" charset="0"/>
            </a:endParaRPr>
          </a:p>
        </p:txBody>
      </p:sp>
      <p:pic>
        <p:nvPicPr>
          <p:cNvPr id="2054" name="Picture 4">
            <a:extLst>
              <a:ext uri="{FF2B5EF4-FFF2-40B4-BE49-F238E27FC236}">
                <a16:creationId xmlns:a16="http://schemas.microsoft.com/office/drawing/2014/main" id="{54E59000-C257-4B47-8009-8E56F998B7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1064" y="2797176"/>
            <a:ext cx="4498975" cy="351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050" name="Object 5">
            <a:extLst>
              <a:ext uri="{FF2B5EF4-FFF2-40B4-BE49-F238E27FC236}">
                <a16:creationId xmlns:a16="http://schemas.microsoft.com/office/drawing/2014/main" id="{5E57B655-CDD8-0E4D-8D4F-E9BA2567ACC6}"/>
              </a:ext>
            </a:extLst>
          </p:cNvPr>
          <p:cNvGraphicFramePr>
            <a:graphicFrameLocks noGrp="1" noChangeAspect="1"/>
          </p:cNvGraphicFramePr>
          <p:nvPr>
            <p:ph sz="half" idx="2"/>
          </p:nvPr>
        </p:nvGraphicFramePr>
        <p:xfrm>
          <a:off x="2146300" y="3025776"/>
          <a:ext cx="3752850" cy="2346325"/>
        </p:xfrm>
        <a:graphic>
          <a:graphicData uri="http://schemas.openxmlformats.org/presentationml/2006/ole">
            <mc:AlternateContent xmlns:mc="http://schemas.openxmlformats.org/markup-compatibility/2006">
              <mc:Choice xmlns:v="urn:schemas-microsoft-com:vml" Requires="v">
                <p:oleObj name="Equation" r:id="rId4" imgW="21069300" imgH="13169900" progId="Equation.3">
                  <p:embed/>
                </p:oleObj>
              </mc:Choice>
              <mc:Fallback>
                <p:oleObj name="Equation" r:id="rId4" imgW="21069300" imgH="13169900" progId="Equation.3">
                  <p:embed/>
                  <p:pic>
                    <p:nvPicPr>
                      <p:cNvPr id="2050" name="Object 5">
                        <a:extLst>
                          <a:ext uri="{FF2B5EF4-FFF2-40B4-BE49-F238E27FC236}">
                            <a16:creationId xmlns:a16="http://schemas.microsoft.com/office/drawing/2014/main" id="{5E57B655-CDD8-0E4D-8D4F-E9BA2567AC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6300" y="3025776"/>
                        <a:ext cx="3752850" cy="234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5" name="Rectangle 6">
            <a:extLst>
              <a:ext uri="{FF2B5EF4-FFF2-40B4-BE49-F238E27FC236}">
                <a16:creationId xmlns:a16="http://schemas.microsoft.com/office/drawing/2014/main" id="{D849DBCC-6725-D44D-8AF1-EF0E3780E67B}"/>
              </a:ext>
            </a:extLst>
          </p:cNvPr>
          <p:cNvSpPr>
            <a:spLocks noChangeArrowheads="1"/>
          </p:cNvSpPr>
          <p:nvPr/>
        </p:nvSpPr>
        <p:spPr bwMode="auto">
          <a:xfrm>
            <a:off x="7513639" y="6061075"/>
            <a:ext cx="1685925" cy="2619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33392126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5B0BE-FD23-7B1C-A6FA-36C524314C3F}"/>
              </a:ext>
            </a:extLst>
          </p:cNvPr>
          <p:cNvSpPr>
            <a:spLocks noGrp="1"/>
          </p:cNvSpPr>
          <p:nvPr>
            <p:ph type="title"/>
          </p:nvPr>
        </p:nvSpPr>
        <p:spPr/>
        <p:txBody>
          <a:bodyPr/>
          <a:lstStyle/>
          <a:p>
            <a:r>
              <a:rPr lang="en-IN" dirty="0"/>
              <a:t>PUNE SCHOOLS EXAMPLE</a:t>
            </a:r>
          </a:p>
        </p:txBody>
      </p:sp>
      <p:sp>
        <p:nvSpPr>
          <p:cNvPr id="6" name="TextBox 5">
            <a:extLst>
              <a:ext uri="{FF2B5EF4-FFF2-40B4-BE49-F238E27FC236}">
                <a16:creationId xmlns:a16="http://schemas.microsoft.com/office/drawing/2014/main" id="{0D517EBC-AAA7-589D-2122-9F7C5787C4B9}"/>
              </a:ext>
            </a:extLst>
          </p:cNvPr>
          <p:cNvSpPr txBox="1"/>
          <p:nvPr/>
        </p:nvSpPr>
        <p:spPr>
          <a:xfrm>
            <a:off x="6408420" y="1562963"/>
            <a:ext cx="5135880" cy="369332"/>
          </a:xfrm>
          <a:prstGeom prst="rect">
            <a:avLst/>
          </a:prstGeom>
          <a:noFill/>
        </p:spPr>
        <p:txBody>
          <a:bodyPr wrap="square" rtlCol="0">
            <a:spAutoFit/>
          </a:bodyPr>
          <a:lstStyle/>
          <a:p>
            <a:r>
              <a:rPr lang="en-IN" dirty="0"/>
              <a:t>7455 schools</a:t>
            </a:r>
          </a:p>
        </p:txBody>
      </p:sp>
      <p:graphicFrame>
        <p:nvGraphicFramePr>
          <p:cNvPr id="7" name="Table 6">
            <a:extLst>
              <a:ext uri="{FF2B5EF4-FFF2-40B4-BE49-F238E27FC236}">
                <a16:creationId xmlns:a16="http://schemas.microsoft.com/office/drawing/2014/main" id="{93BE24FB-F344-314B-D212-905B7996DA42}"/>
              </a:ext>
            </a:extLst>
          </p:cNvPr>
          <p:cNvGraphicFramePr>
            <a:graphicFrameLocks noGrp="1"/>
          </p:cNvGraphicFramePr>
          <p:nvPr>
            <p:extLst>
              <p:ext uri="{D42A27DB-BD31-4B8C-83A1-F6EECF244321}">
                <p14:modId xmlns:p14="http://schemas.microsoft.com/office/powerpoint/2010/main" val="3891807418"/>
              </p:ext>
            </p:extLst>
          </p:nvPr>
        </p:nvGraphicFramePr>
        <p:xfrm>
          <a:off x="920862" y="1932294"/>
          <a:ext cx="10341498" cy="3920033"/>
        </p:xfrm>
        <a:graphic>
          <a:graphicData uri="http://schemas.openxmlformats.org/drawingml/2006/table">
            <a:tbl>
              <a:tblPr firstRow="1" firstCol="1" lastRow="1" lastCol="1">
                <a:tableStyleId>{5C22544A-7EE6-4342-B048-85BDC9FD1C3A}</a:tableStyleId>
              </a:tblPr>
              <a:tblGrid>
                <a:gridCol w="1459598">
                  <a:extLst>
                    <a:ext uri="{9D8B030D-6E8A-4147-A177-3AD203B41FA5}">
                      <a16:colId xmlns:a16="http://schemas.microsoft.com/office/drawing/2014/main" val="1533032617"/>
                    </a:ext>
                  </a:extLst>
                </a:gridCol>
                <a:gridCol w="1153494">
                  <a:extLst>
                    <a:ext uri="{9D8B030D-6E8A-4147-A177-3AD203B41FA5}">
                      <a16:colId xmlns:a16="http://schemas.microsoft.com/office/drawing/2014/main" val="1726207027"/>
                    </a:ext>
                  </a:extLst>
                </a:gridCol>
                <a:gridCol w="832163">
                  <a:extLst>
                    <a:ext uri="{9D8B030D-6E8A-4147-A177-3AD203B41FA5}">
                      <a16:colId xmlns:a16="http://schemas.microsoft.com/office/drawing/2014/main" val="1969247684"/>
                    </a:ext>
                  </a:extLst>
                </a:gridCol>
                <a:gridCol w="634422">
                  <a:extLst>
                    <a:ext uri="{9D8B030D-6E8A-4147-A177-3AD203B41FA5}">
                      <a16:colId xmlns:a16="http://schemas.microsoft.com/office/drawing/2014/main" val="2331477694"/>
                    </a:ext>
                  </a:extLst>
                </a:gridCol>
                <a:gridCol w="922795">
                  <a:extLst>
                    <a:ext uri="{9D8B030D-6E8A-4147-A177-3AD203B41FA5}">
                      <a16:colId xmlns:a16="http://schemas.microsoft.com/office/drawing/2014/main" val="2040487484"/>
                    </a:ext>
                  </a:extLst>
                </a:gridCol>
                <a:gridCol w="913123">
                  <a:extLst>
                    <a:ext uri="{9D8B030D-6E8A-4147-A177-3AD203B41FA5}">
                      <a16:colId xmlns:a16="http://schemas.microsoft.com/office/drawing/2014/main" val="1029310865"/>
                    </a:ext>
                  </a:extLst>
                </a:gridCol>
                <a:gridCol w="718247">
                  <a:extLst>
                    <a:ext uri="{9D8B030D-6E8A-4147-A177-3AD203B41FA5}">
                      <a16:colId xmlns:a16="http://schemas.microsoft.com/office/drawing/2014/main" val="2544196709"/>
                    </a:ext>
                  </a:extLst>
                </a:gridCol>
                <a:gridCol w="832163">
                  <a:extLst>
                    <a:ext uri="{9D8B030D-6E8A-4147-A177-3AD203B41FA5}">
                      <a16:colId xmlns:a16="http://schemas.microsoft.com/office/drawing/2014/main" val="3643281309"/>
                    </a:ext>
                  </a:extLst>
                </a:gridCol>
                <a:gridCol w="391373">
                  <a:extLst>
                    <a:ext uri="{9D8B030D-6E8A-4147-A177-3AD203B41FA5}">
                      <a16:colId xmlns:a16="http://schemas.microsoft.com/office/drawing/2014/main" val="1136800154"/>
                    </a:ext>
                  </a:extLst>
                </a:gridCol>
                <a:gridCol w="411480">
                  <a:extLst>
                    <a:ext uri="{9D8B030D-6E8A-4147-A177-3AD203B41FA5}">
                      <a16:colId xmlns:a16="http://schemas.microsoft.com/office/drawing/2014/main" val="2950376300"/>
                    </a:ext>
                  </a:extLst>
                </a:gridCol>
                <a:gridCol w="624840">
                  <a:extLst>
                    <a:ext uri="{9D8B030D-6E8A-4147-A177-3AD203B41FA5}">
                      <a16:colId xmlns:a16="http://schemas.microsoft.com/office/drawing/2014/main" val="3409641185"/>
                    </a:ext>
                  </a:extLst>
                </a:gridCol>
                <a:gridCol w="586740">
                  <a:extLst>
                    <a:ext uri="{9D8B030D-6E8A-4147-A177-3AD203B41FA5}">
                      <a16:colId xmlns:a16="http://schemas.microsoft.com/office/drawing/2014/main" val="3206707503"/>
                    </a:ext>
                  </a:extLst>
                </a:gridCol>
                <a:gridCol w="861060">
                  <a:extLst>
                    <a:ext uri="{9D8B030D-6E8A-4147-A177-3AD203B41FA5}">
                      <a16:colId xmlns:a16="http://schemas.microsoft.com/office/drawing/2014/main" val="316818104"/>
                    </a:ext>
                  </a:extLst>
                </a:gridCol>
              </a:tblGrid>
              <a:tr h="1177920">
                <a:tc>
                  <a:txBody>
                    <a:bodyPr/>
                    <a:lstStyle/>
                    <a:p>
                      <a:pPr algn="l" fontAlgn="b"/>
                      <a:r>
                        <a:rPr lang="en-IN" sz="1600" b="1" u="none" strike="noStrike" dirty="0">
                          <a:effectLst/>
                        </a:rPr>
                        <a:t>School Management</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l" fontAlgn="b"/>
                      <a:r>
                        <a:rPr lang="en-IN" sz="1600" b="1" u="none" strike="noStrike" dirty="0">
                          <a:solidFill>
                            <a:srgbClr val="FF0000"/>
                          </a:solidFill>
                          <a:effectLst/>
                          <a:highlight>
                            <a:srgbClr val="FFFF00"/>
                          </a:highlight>
                        </a:rPr>
                        <a:t>Dept of Edu</a:t>
                      </a:r>
                      <a:endParaRPr lang="en-IN" sz="1600" b="1" i="0" u="none" strike="noStrike" dirty="0">
                        <a:solidFill>
                          <a:srgbClr val="FF0000"/>
                        </a:solidFill>
                        <a:effectLst/>
                        <a:highlight>
                          <a:srgbClr val="FFFF00"/>
                        </a:highlight>
                        <a:latin typeface="Calibri" panose="020F0502020204030204" pitchFamily="34" charset="0"/>
                      </a:endParaRPr>
                    </a:p>
                  </a:txBody>
                  <a:tcPr marL="5443" marR="5443" marT="5443" marB="0" anchor="b"/>
                </a:tc>
                <a:tc>
                  <a:txBody>
                    <a:bodyPr/>
                    <a:lstStyle/>
                    <a:p>
                      <a:pPr algn="l" fontAlgn="b"/>
                      <a:r>
                        <a:rPr lang="en-IN" sz="1600" b="1" u="none" strike="noStrike" dirty="0">
                          <a:solidFill>
                            <a:srgbClr val="FF0000"/>
                          </a:solidFill>
                          <a:effectLst/>
                          <a:highlight>
                            <a:srgbClr val="FFFF00"/>
                          </a:highlight>
                        </a:rPr>
                        <a:t>Tribal Welfare</a:t>
                      </a:r>
                      <a:endParaRPr lang="en-IN" sz="1600" b="1" i="0" u="none" strike="noStrike" dirty="0">
                        <a:solidFill>
                          <a:srgbClr val="FF0000"/>
                        </a:solidFill>
                        <a:effectLst/>
                        <a:highlight>
                          <a:srgbClr val="FFFF00"/>
                        </a:highlight>
                        <a:latin typeface="Calibri" panose="020F0502020204030204" pitchFamily="34" charset="0"/>
                      </a:endParaRPr>
                    </a:p>
                  </a:txBody>
                  <a:tcPr marL="5443" marR="5443" marT="5443" marB="0" anchor="b"/>
                </a:tc>
                <a:tc>
                  <a:txBody>
                    <a:bodyPr/>
                    <a:lstStyle/>
                    <a:p>
                      <a:pPr algn="l" fontAlgn="b"/>
                      <a:r>
                        <a:rPr lang="en-IN" sz="1600" b="1" u="none" strike="noStrike" dirty="0">
                          <a:solidFill>
                            <a:srgbClr val="FF0000"/>
                          </a:solidFill>
                          <a:effectLst/>
                          <a:highlight>
                            <a:srgbClr val="FFFF00"/>
                          </a:highlight>
                        </a:rPr>
                        <a:t>Local body</a:t>
                      </a:r>
                      <a:endParaRPr lang="en-IN" sz="1600" b="1" i="0" u="none" strike="noStrike" dirty="0">
                        <a:solidFill>
                          <a:srgbClr val="FF0000"/>
                        </a:solidFill>
                        <a:effectLst/>
                        <a:highlight>
                          <a:srgbClr val="FFFF00"/>
                        </a:highlight>
                        <a:latin typeface="Calibri" panose="020F0502020204030204" pitchFamily="34" charset="0"/>
                      </a:endParaRPr>
                    </a:p>
                  </a:txBody>
                  <a:tcPr marL="5443" marR="5443" marT="5443" marB="0" anchor="b"/>
                </a:tc>
                <a:tc>
                  <a:txBody>
                    <a:bodyPr/>
                    <a:lstStyle/>
                    <a:p>
                      <a:pPr algn="l" fontAlgn="b"/>
                      <a:r>
                        <a:rPr lang="en-IN" sz="1600" b="1" u="none" strike="noStrike" dirty="0">
                          <a:solidFill>
                            <a:srgbClr val="FF0000"/>
                          </a:solidFill>
                          <a:effectLst/>
                          <a:highlight>
                            <a:srgbClr val="FFFF00"/>
                          </a:highlight>
                        </a:rPr>
                        <a:t>Govt Aided</a:t>
                      </a:r>
                      <a:endParaRPr lang="en-IN" sz="1600" b="1" i="0" u="none" strike="noStrike" dirty="0">
                        <a:solidFill>
                          <a:srgbClr val="FF0000"/>
                        </a:solidFill>
                        <a:effectLst/>
                        <a:highlight>
                          <a:srgbClr val="FFFF00"/>
                        </a:highlight>
                        <a:latin typeface="Calibri" panose="020F0502020204030204" pitchFamily="34" charset="0"/>
                      </a:endParaRPr>
                    </a:p>
                  </a:txBody>
                  <a:tcPr marL="5443" marR="5443" marT="5443" marB="0" anchor="b"/>
                </a:tc>
                <a:tc>
                  <a:txBody>
                    <a:bodyPr/>
                    <a:lstStyle/>
                    <a:p>
                      <a:pPr algn="l" fontAlgn="b"/>
                      <a:r>
                        <a:rPr lang="en-IN" sz="1600" b="1" u="none" strike="noStrike" dirty="0">
                          <a:solidFill>
                            <a:srgbClr val="FF0000"/>
                          </a:solidFill>
                          <a:effectLst/>
                          <a:highlight>
                            <a:srgbClr val="FFFF00"/>
                          </a:highlight>
                        </a:rPr>
                        <a:t>Private Unaided</a:t>
                      </a:r>
                      <a:endParaRPr lang="en-IN" sz="1600" b="1" i="0" u="none" strike="noStrike" dirty="0">
                        <a:solidFill>
                          <a:srgbClr val="FF0000"/>
                        </a:solidFill>
                        <a:effectLst/>
                        <a:highlight>
                          <a:srgbClr val="FFFF00"/>
                        </a:highlight>
                        <a:latin typeface="Calibri" panose="020F0502020204030204" pitchFamily="34" charset="0"/>
                      </a:endParaRPr>
                    </a:p>
                  </a:txBody>
                  <a:tcPr marL="5443" marR="5443" marT="5443" marB="0" anchor="b"/>
                </a:tc>
                <a:tc>
                  <a:txBody>
                    <a:bodyPr/>
                    <a:lstStyle/>
                    <a:p>
                      <a:pPr algn="l" fontAlgn="b"/>
                      <a:r>
                        <a:rPr lang="en-IN" sz="1600" b="1" u="none" strike="noStrike" dirty="0">
                          <a:solidFill>
                            <a:schemeClr val="tx1"/>
                          </a:solidFill>
                          <a:effectLst/>
                        </a:rPr>
                        <a:t>Unrecognized</a:t>
                      </a:r>
                      <a:endParaRPr lang="en-IN" sz="1600" b="1" i="0" u="none" strike="noStrike" dirty="0">
                        <a:solidFill>
                          <a:schemeClr val="tx1"/>
                        </a:solidFill>
                        <a:effectLst/>
                        <a:latin typeface="Calibri" panose="020F0502020204030204" pitchFamily="34" charset="0"/>
                      </a:endParaRPr>
                    </a:p>
                  </a:txBody>
                  <a:tcPr marL="5443" marR="5443" marT="5443" marB="0" anchor="b"/>
                </a:tc>
                <a:tc>
                  <a:txBody>
                    <a:bodyPr/>
                    <a:lstStyle/>
                    <a:p>
                      <a:pPr algn="l" fontAlgn="b"/>
                      <a:r>
                        <a:rPr lang="en-IN" sz="1600" b="1" u="none" strike="noStrike" dirty="0">
                          <a:solidFill>
                            <a:schemeClr val="tx1"/>
                          </a:solidFill>
                          <a:effectLst/>
                        </a:rPr>
                        <a:t>Social Welfare</a:t>
                      </a:r>
                      <a:endParaRPr lang="en-IN" sz="1600" b="1" i="0" u="none" strike="noStrike" dirty="0">
                        <a:solidFill>
                          <a:schemeClr val="tx1"/>
                        </a:solidFill>
                        <a:effectLst/>
                        <a:latin typeface="Calibri" panose="020F0502020204030204" pitchFamily="34" charset="0"/>
                      </a:endParaRPr>
                    </a:p>
                  </a:txBody>
                  <a:tcPr marL="5443" marR="5443" marT="5443" marB="0" anchor="b"/>
                </a:tc>
                <a:tc>
                  <a:txBody>
                    <a:bodyPr/>
                    <a:lstStyle/>
                    <a:p>
                      <a:pPr algn="l" fontAlgn="b"/>
                      <a:r>
                        <a:rPr lang="en-IN" sz="1600" b="1" u="none" strike="noStrike" dirty="0">
                          <a:solidFill>
                            <a:schemeClr val="tx1"/>
                          </a:solidFill>
                          <a:effectLst/>
                        </a:rPr>
                        <a:t>KVS</a:t>
                      </a:r>
                      <a:endParaRPr lang="en-IN" sz="1600" b="1" i="0" u="none" strike="noStrike" dirty="0">
                        <a:solidFill>
                          <a:schemeClr val="tx1"/>
                        </a:solidFill>
                        <a:effectLst/>
                        <a:latin typeface="Calibri" panose="020F0502020204030204" pitchFamily="34" charset="0"/>
                      </a:endParaRPr>
                    </a:p>
                  </a:txBody>
                  <a:tcPr marL="5443" marR="5443" marT="5443" marB="0" anchor="b"/>
                </a:tc>
                <a:tc>
                  <a:txBody>
                    <a:bodyPr/>
                    <a:lstStyle/>
                    <a:p>
                      <a:pPr algn="l" fontAlgn="b"/>
                      <a:r>
                        <a:rPr lang="en-IN" sz="1600" b="1" u="none" strike="noStrike" dirty="0">
                          <a:solidFill>
                            <a:schemeClr val="tx1"/>
                          </a:solidFill>
                          <a:effectLst/>
                        </a:rPr>
                        <a:t>JNV</a:t>
                      </a:r>
                      <a:endParaRPr lang="en-IN" sz="1600" b="1" i="0" u="none" strike="noStrike" dirty="0">
                        <a:solidFill>
                          <a:schemeClr val="tx1"/>
                        </a:solidFill>
                        <a:effectLst/>
                        <a:latin typeface="Calibri" panose="020F0502020204030204" pitchFamily="34" charset="0"/>
                      </a:endParaRPr>
                    </a:p>
                  </a:txBody>
                  <a:tcPr marL="5443" marR="5443" marT="5443" marB="0" anchor="b"/>
                </a:tc>
                <a:tc>
                  <a:txBody>
                    <a:bodyPr/>
                    <a:lstStyle/>
                    <a:p>
                      <a:pPr algn="l" fontAlgn="b"/>
                      <a:r>
                        <a:rPr lang="en-IN" sz="1600" b="1" u="none" strike="noStrike" dirty="0">
                          <a:solidFill>
                            <a:schemeClr val="tx1"/>
                          </a:solidFill>
                          <a:effectLst/>
                        </a:rPr>
                        <a:t>Madrassa</a:t>
                      </a:r>
                      <a:endParaRPr lang="en-IN" sz="1600" b="1" i="0" u="none" strike="noStrike" dirty="0">
                        <a:solidFill>
                          <a:schemeClr val="tx1"/>
                        </a:solidFill>
                        <a:effectLst/>
                        <a:latin typeface="Calibri" panose="020F0502020204030204" pitchFamily="34" charset="0"/>
                      </a:endParaRPr>
                    </a:p>
                  </a:txBody>
                  <a:tcPr marL="5443" marR="5443" marT="5443" marB="0" anchor="b"/>
                </a:tc>
                <a:tc>
                  <a:txBody>
                    <a:bodyPr/>
                    <a:lstStyle/>
                    <a:p>
                      <a:pPr algn="l" fontAlgn="b"/>
                      <a:r>
                        <a:rPr lang="en-IN" sz="1600" b="1" u="none" strike="noStrike" dirty="0">
                          <a:solidFill>
                            <a:schemeClr val="tx1"/>
                          </a:solidFill>
                          <a:effectLst/>
                        </a:rPr>
                        <a:t>Unknown</a:t>
                      </a:r>
                      <a:endParaRPr lang="en-IN" sz="1600" b="1" i="0" u="none" strike="noStrike" dirty="0">
                        <a:solidFill>
                          <a:schemeClr val="tx1"/>
                        </a:solidFill>
                        <a:effectLst/>
                        <a:latin typeface="Calibri" panose="020F0502020204030204" pitchFamily="34" charset="0"/>
                      </a:endParaRPr>
                    </a:p>
                  </a:txBody>
                  <a:tcPr marL="5443" marR="5443" marT="5443" marB="0" anchor="b"/>
                </a:tc>
                <a:tc>
                  <a:txBody>
                    <a:bodyPr/>
                    <a:lstStyle/>
                    <a:p>
                      <a:pPr algn="l" fontAlgn="b"/>
                      <a:r>
                        <a:rPr lang="en-IN" sz="1600" b="1" i="0" u="none" strike="noStrike" dirty="0">
                          <a:solidFill>
                            <a:srgbClr val="000000"/>
                          </a:solidFill>
                          <a:effectLst/>
                          <a:latin typeface="Calibri" panose="020F0502020204030204" pitchFamily="34" charset="0"/>
                        </a:rPr>
                        <a:t> </a:t>
                      </a:r>
                      <a:r>
                        <a:rPr lang="en-IN" sz="1600" b="1" i="0" u="none" strike="noStrike" dirty="0">
                          <a:solidFill>
                            <a:srgbClr val="FF0000"/>
                          </a:solidFill>
                          <a:effectLst/>
                          <a:latin typeface="Calibri" panose="020F0502020204030204" pitchFamily="34" charset="0"/>
                        </a:rPr>
                        <a:t>Total</a:t>
                      </a:r>
                    </a:p>
                  </a:txBody>
                  <a:tcPr marL="5443" marR="5443" marT="5443" marB="0" anchor="b"/>
                </a:tc>
                <a:extLst>
                  <a:ext uri="{0D108BD9-81ED-4DB2-BD59-A6C34878D82A}">
                    <a16:rowId xmlns:a16="http://schemas.microsoft.com/office/drawing/2014/main" val="745627818"/>
                  </a:ext>
                </a:extLst>
              </a:tr>
              <a:tr h="240367">
                <a:tc>
                  <a:txBody>
                    <a:bodyPr/>
                    <a:lstStyle/>
                    <a:p>
                      <a:pPr algn="l" fontAlgn="b"/>
                      <a:r>
                        <a:rPr lang="en-IN" sz="1600" b="1" u="none" strike="noStrike" dirty="0">
                          <a:effectLst/>
                        </a:rPr>
                        <a:t>1</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2906</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189</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318</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20</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dirty="0">
                          <a:effectLst/>
                        </a:rPr>
                        <a:t>1</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dirty="0">
                          <a:effectLst/>
                        </a:rPr>
                        <a:t>3434</a:t>
                      </a:r>
                      <a:endParaRPr lang="en-IN" sz="1600" b="1" i="0" u="none" strike="noStrike" dirty="0">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2353155457"/>
                  </a:ext>
                </a:extLst>
              </a:tr>
              <a:tr h="240367">
                <a:tc>
                  <a:txBody>
                    <a:bodyPr/>
                    <a:lstStyle/>
                    <a:p>
                      <a:pPr algn="l" fontAlgn="b"/>
                      <a:r>
                        <a:rPr lang="en-IN" sz="1600" b="1" u="none" strike="noStrike" dirty="0">
                          <a:effectLst/>
                        </a:rPr>
                        <a:t>2</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2</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2</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dirty="0">
                          <a:effectLst/>
                        </a:rPr>
                        <a:t>1188</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202</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539</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13</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dirty="0">
                          <a:effectLst/>
                        </a:rPr>
                        <a:t>1948</a:t>
                      </a:r>
                      <a:endParaRPr lang="en-IN" sz="1600" b="1" i="0" u="none" strike="noStrike" dirty="0">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848621549"/>
                  </a:ext>
                </a:extLst>
              </a:tr>
              <a:tr h="240367">
                <a:tc>
                  <a:txBody>
                    <a:bodyPr/>
                    <a:lstStyle/>
                    <a:p>
                      <a:pPr algn="l" fontAlgn="b"/>
                      <a:r>
                        <a:rPr lang="en-IN" sz="1600" b="1" u="none" strike="noStrike" dirty="0">
                          <a:effectLst/>
                        </a:rPr>
                        <a:t>3</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r>
                        <a:rPr lang="en-IN" sz="1600" b="1" u="none" strike="noStrike">
                          <a:effectLst/>
                        </a:rPr>
                        <a:t>5</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5</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279</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205</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2</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14</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511</a:t>
                      </a:r>
                      <a:endParaRPr lang="en-IN" sz="1600" b="1"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3772857129"/>
                  </a:ext>
                </a:extLst>
              </a:tr>
              <a:tr h="240367">
                <a:tc>
                  <a:txBody>
                    <a:bodyPr/>
                    <a:lstStyle/>
                    <a:p>
                      <a:pPr algn="l" fontAlgn="b"/>
                      <a:r>
                        <a:rPr lang="en-IN" sz="1600" b="1" u="none" strike="noStrike" dirty="0">
                          <a:effectLst/>
                        </a:rPr>
                        <a:t>4</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4</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4</a:t>
                      </a:r>
                      <a:endParaRPr lang="en-IN" sz="1600" b="1"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3401550384"/>
                  </a:ext>
                </a:extLst>
              </a:tr>
              <a:tr h="240367">
                <a:tc>
                  <a:txBody>
                    <a:bodyPr/>
                    <a:lstStyle/>
                    <a:p>
                      <a:pPr algn="l" fontAlgn="b"/>
                      <a:r>
                        <a:rPr lang="en-IN" sz="1600" b="1" u="none" strike="noStrike" dirty="0">
                          <a:effectLst/>
                        </a:rPr>
                        <a:t>5</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4</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dirty="0">
                          <a:effectLst/>
                        </a:rPr>
                        <a:t>45</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47</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97</a:t>
                      </a:r>
                      <a:endParaRPr lang="en-IN" sz="1600" b="1"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51272451"/>
                  </a:ext>
                </a:extLst>
              </a:tr>
              <a:tr h="240367">
                <a:tc>
                  <a:txBody>
                    <a:bodyPr/>
                    <a:lstStyle/>
                    <a:p>
                      <a:pPr algn="l" fontAlgn="b"/>
                      <a:r>
                        <a:rPr lang="en-IN" sz="1600" b="1" u="none" strike="noStrike" dirty="0">
                          <a:effectLst/>
                        </a:rPr>
                        <a:t>6</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r>
                        <a:rPr lang="en-IN" sz="1600" b="1" u="none" strike="noStrike">
                          <a:effectLst/>
                        </a:rPr>
                        <a:t>13</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14</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370</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346</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746</a:t>
                      </a:r>
                      <a:endParaRPr lang="en-IN" sz="1600" b="1"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1089929713"/>
                  </a:ext>
                </a:extLst>
              </a:tr>
              <a:tr h="240367">
                <a:tc>
                  <a:txBody>
                    <a:bodyPr/>
                    <a:lstStyle/>
                    <a:p>
                      <a:pPr algn="l" fontAlgn="b"/>
                      <a:r>
                        <a:rPr lang="en-IN" sz="1600" b="1" u="none" strike="noStrike" dirty="0">
                          <a:effectLst/>
                        </a:rPr>
                        <a:t>7</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34</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220</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dirty="0">
                          <a:effectLst/>
                        </a:rPr>
                        <a:t>189</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4</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448</a:t>
                      </a:r>
                      <a:endParaRPr lang="en-IN" sz="1600" b="1"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1480955324"/>
                  </a:ext>
                </a:extLst>
              </a:tr>
              <a:tr h="240367">
                <a:tc>
                  <a:txBody>
                    <a:bodyPr/>
                    <a:lstStyle/>
                    <a:p>
                      <a:pPr algn="l" fontAlgn="b"/>
                      <a:r>
                        <a:rPr lang="en-IN" sz="1600" b="1" u="none" strike="noStrike" dirty="0">
                          <a:effectLst/>
                        </a:rPr>
                        <a:t>8</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13</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61</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dirty="0">
                          <a:effectLst/>
                        </a:rPr>
                        <a:t>4</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78</a:t>
                      </a:r>
                      <a:endParaRPr lang="en-IN" sz="1600" b="1"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3956075491"/>
                  </a:ext>
                </a:extLst>
              </a:tr>
              <a:tr h="240367">
                <a:tc>
                  <a:txBody>
                    <a:bodyPr/>
                    <a:lstStyle/>
                    <a:p>
                      <a:pPr algn="l" fontAlgn="b"/>
                      <a:r>
                        <a:rPr lang="en-IN" sz="1600" b="1" u="none" strike="noStrike" dirty="0">
                          <a:effectLst/>
                        </a:rPr>
                        <a:t>10</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16</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16</a:t>
                      </a:r>
                      <a:endParaRPr lang="en-IN" sz="1600" b="1"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643798"/>
                  </a:ext>
                </a:extLst>
              </a:tr>
              <a:tr h="240367">
                <a:tc>
                  <a:txBody>
                    <a:bodyPr/>
                    <a:lstStyle/>
                    <a:p>
                      <a:pPr algn="l" fontAlgn="b"/>
                      <a:r>
                        <a:rPr lang="en-IN" sz="1600" b="1" u="none" strike="noStrike" dirty="0">
                          <a:effectLst/>
                        </a:rPr>
                        <a:t>11</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41</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132</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l" fontAlgn="b"/>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173</a:t>
                      </a:r>
                      <a:endParaRPr lang="en-IN" sz="1600" b="1"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2241296304"/>
                  </a:ext>
                </a:extLst>
              </a:tr>
              <a:tr h="240367">
                <a:tc>
                  <a:txBody>
                    <a:bodyPr/>
                    <a:lstStyle/>
                    <a:p>
                      <a:pPr algn="l" fontAlgn="b"/>
                      <a:r>
                        <a:rPr lang="en-IN" sz="1600" b="1" u="none" strike="noStrike">
                          <a:effectLst/>
                        </a:rPr>
                        <a:t>Grand Total</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2</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dirty="0">
                          <a:effectLst/>
                        </a:rPr>
                        <a:t>20</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4164</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1346</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1857</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41</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a:effectLst/>
                        </a:rPr>
                        <a:t>7</a:t>
                      </a:r>
                      <a:endParaRPr lang="en-IN" sz="1600" b="1"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dirty="0">
                          <a:effectLst/>
                        </a:rPr>
                        <a:t>15</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dirty="0">
                          <a:effectLst/>
                        </a:rPr>
                        <a:t>1</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dirty="0">
                          <a:effectLst/>
                        </a:rPr>
                        <a:t>1</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dirty="0">
                          <a:effectLst/>
                        </a:rPr>
                        <a:t>1</a:t>
                      </a:r>
                      <a:endParaRPr lang="en-IN" sz="1600" b="1" i="0" u="none" strike="noStrike" dirty="0">
                        <a:solidFill>
                          <a:srgbClr val="000000"/>
                        </a:solidFill>
                        <a:effectLst/>
                        <a:latin typeface="Calibri" panose="020F0502020204030204" pitchFamily="34" charset="0"/>
                      </a:endParaRPr>
                    </a:p>
                  </a:txBody>
                  <a:tcPr marL="5443" marR="5443" marT="5443" marB="0" anchor="b"/>
                </a:tc>
                <a:tc>
                  <a:txBody>
                    <a:bodyPr/>
                    <a:lstStyle/>
                    <a:p>
                      <a:pPr algn="r" fontAlgn="b"/>
                      <a:r>
                        <a:rPr lang="en-IN" sz="1600" b="1" u="none" strike="noStrike" dirty="0">
                          <a:effectLst/>
                        </a:rPr>
                        <a:t>7455</a:t>
                      </a:r>
                      <a:endParaRPr lang="en-IN" sz="1600" b="1" i="0" u="none" strike="noStrike" dirty="0">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3569667283"/>
                  </a:ext>
                </a:extLst>
              </a:tr>
            </a:tbl>
          </a:graphicData>
        </a:graphic>
      </p:graphicFrame>
    </p:spTree>
    <p:extLst>
      <p:ext uri="{BB962C8B-B14F-4D97-AF65-F5344CB8AC3E}">
        <p14:creationId xmlns:p14="http://schemas.microsoft.com/office/powerpoint/2010/main" val="979590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E7FA1-C42E-DDFB-DECC-0A580B3C5C89}"/>
              </a:ext>
            </a:extLst>
          </p:cNvPr>
          <p:cNvSpPr>
            <a:spLocks noGrp="1"/>
          </p:cNvSpPr>
          <p:nvPr>
            <p:ph type="title"/>
          </p:nvPr>
        </p:nvSpPr>
        <p:spPr/>
        <p:txBody>
          <a:bodyPr/>
          <a:lstStyle/>
          <a:p>
            <a:r>
              <a:rPr lang="en-IN" dirty="0"/>
              <a:t>TEACHERS in Schools- ALL UDISE Census</a:t>
            </a:r>
          </a:p>
        </p:txBody>
      </p:sp>
      <p:pic>
        <p:nvPicPr>
          <p:cNvPr id="3" name="Picture 2">
            <a:extLst>
              <a:ext uri="{FF2B5EF4-FFF2-40B4-BE49-F238E27FC236}">
                <a16:creationId xmlns:a16="http://schemas.microsoft.com/office/drawing/2014/main" id="{86FE58A9-7F67-9D8C-BC92-E45094DBD4F5}"/>
              </a:ext>
            </a:extLst>
          </p:cNvPr>
          <p:cNvPicPr>
            <a:picLocks noChangeAspect="1"/>
          </p:cNvPicPr>
          <p:nvPr/>
        </p:nvPicPr>
        <p:blipFill>
          <a:blip r:embed="rId2"/>
          <a:stretch>
            <a:fillRect/>
          </a:stretch>
        </p:blipFill>
        <p:spPr>
          <a:xfrm>
            <a:off x="568677" y="2319325"/>
            <a:ext cx="5417087" cy="3580079"/>
          </a:xfrm>
          <a:prstGeom prst="rect">
            <a:avLst/>
          </a:prstGeom>
        </p:spPr>
      </p:pic>
      <p:sp>
        <p:nvSpPr>
          <p:cNvPr id="4" name="TextBox 3">
            <a:extLst>
              <a:ext uri="{FF2B5EF4-FFF2-40B4-BE49-F238E27FC236}">
                <a16:creationId xmlns:a16="http://schemas.microsoft.com/office/drawing/2014/main" id="{9B8661B9-C136-3CC2-940B-FA9361BEB37E}"/>
              </a:ext>
            </a:extLst>
          </p:cNvPr>
          <p:cNvSpPr txBox="1"/>
          <p:nvPr/>
        </p:nvSpPr>
        <p:spPr>
          <a:xfrm>
            <a:off x="6842760" y="1958340"/>
            <a:ext cx="3032760" cy="923330"/>
          </a:xfrm>
          <a:prstGeom prst="rect">
            <a:avLst/>
          </a:prstGeom>
          <a:noFill/>
        </p:spPr>
        <p:txBody>
          <a:bodyPr wrap="square" rtlCol="0">
            <a:spAutoFit/>
          </a:bodyPr>
          <a:lstStyle/>
          <a:p>
            <a:r>
              <a:rPr lang="en-IN" dirty="0"/>
              <a:t>Mean – mu = 9.47</a:t>
            </a:r>
          </a:p>
          <a:p>
            <a:r>
              <a:rPr lang="en-IN" dirty="0"/>
              <a:t>Sigma= 14.19</a:t>
            </a:r>
          </a:p>
          <a:p>
            <a:endParaRPr lang="en-IN" dirty="0"/>
          </a:p>
        </p:txBody>
      </p:sp>
      <p:pic>
        <p:nvPicPr>
          <p:cNvPr id="6" name="Picture 5">
            <a:extLst>
              <a:ext uri="{FF2B5EF4-FFF2-40B4-BE49-F238E27FC236}">
                <a16:creationId xmlns:a16="http://schemas.microsoft.com/office/drawing/2014/main" id="{DF9F5F78-48A6-5DAF-7CC5-F6A4ADF9AE14}"/>
              </a:ext>
            </a:extLst>
          </p:cNvPr>
          <p:cNvPicPr>
            <a:picLocks noChangeAspect="1"/>
          </p:cNvPicPr>
          <p:nvPr/>
        </p:nvPicPr>
        <p:blipFill rotWithShape="1">
          <a:blip r:embed="rId3"/>
          <a:srcRect t="10481" r="6848" b="5822"/>
          <a:stretch/>
        </p:blipFill>
        <p:spPr>
          <a:xfrm>
            <a:off x="5849200" y="2994660"/>
            <a:ext cx="5908460" cy="3505200"/>
          </a:xfrm>
          <a:prstGeom prst="rect">
            <a:avLst/>
          </a:prstGeom>
        </p:spPr>
      </p:pic>
    </p:spTree>
    <p:extLst>
      <p:ext uri="{BB962C8B-B14F-4D97-AF65-F5344CB8AC3E}">
        <p14:creationId xmlns:p14="http://schemas.microsoft.com/office/powerpoint/2010/main" val="23486946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90529-1677-1FD8-2474-BCDB2A592119}"/>
              </a:ext>
            </a:extLst>
          </p:cNvPr>
          <p:cNvSpPr>
            <a:spLocks noGrp="1"/>
          </p:cNvSpPr>
          <p:nvPr>
            <p:ph type="title"/>
          </p:nvPr>
        </p:nvSpPr>
        <p:spPr>
          <a:xfrm>
            <a:off x="861060" y="562928"/>
            <a:ext cx="8755380" cy="1499616"/>
          </a:xfrm>
        </p:spPr>
        <p:txBody>
          <a:bodyPr/>
          <a:lstStyle/>
          <a:p>
            <a:r>
              <a:rPr lang="en-IN" dirty="0"/>
              <a:t>Sample of schools and teachers</a:t>
            </a:r>
          </a:p>
        </p:txBody>
      </p:sp>
      <p:pic>
        <p:nvPicPr>
          <p:cNvPr id="4" name="Picture 3">
            <a:extLst>
              <a:ext uri="{FF2B5EF4-FFF2-40B4-BE49-F238E27FC236}">
                <a16:creationId xmlns:a16="http://schemas.microsoft.com/office/drawing/2014/main" id="{CDD6AD3D-A0DA-DEB4-D794-58E6C8F56580}"/>
              </a:ext>
            </a:extLst>
          </p:cNvPr>
          <p:cNvPicPr>
            <a:picLocks noChangeAspect="1"/>
          </p:cNvPicPr>
          <p:nvPr/>
        </p:nvPicPr>
        <p:blipFill>
          <a:blip r:embed="rId2"/>
          <a:stretch>
            <a:fillRect/>
          </a:stretch>
        </p:blipFill>
        <p:spPr>
          <a:xfrm>
            <a:off x="396973" y="2302089"/>
            <a:ext cx="5950487" cy="3932595"/>
          </a:xfrm>
          <a:prstGeom prst="rect">
            <a:avLst/>
          </a:prstGeom>
        </p:spPr>
      </p:pic>
      <p:sp>
        <p:nvSpPr>
          <p:cNvPr id="10" name="TextBox 9">
            <a:extLst>
              <a:ext uri="{FF2B5EF4-FFF2-40B4-BE49-F238E27FC236}">
                <a16:creationId xmlns:a16="http://schemas.microsoft.com/office/drawing/2014/main" id="{AF037FFF-324F-2218-4AA5-D2CBD44D6121}"/>
              </a:ext>
            </a:extLst>
          </p:cNvPr>
          <p:cNvSpPr txBox="1"/>
          <p:nvPr/>
        </p:nvSpPr>
        <p:spPr>
          <a:xfrm>
            <a:off x="8595360" y="444159"/>
            <a:ext cx="3764280" cy="1754326"/>
          </a:xfrm>
          <a:prstGeom prst="rect">
            <a:avLst/>
          </a:prstGeom>
          <a:noFill/>
        </p:spPr>
        <p:txBody>
          <a:bodyPr wrap="square">
            <a:spAutoFit/>
          </a:bodyPr>
          <a:lstStyle/>
          <a:p>
            <a:r>
              <a:rPr lang="en-IN" dirty="0"/>
              <a:t> </a:t>
            </a:r>
            <a:r>
              <a:rPr lang="en-IN" dirty="0" err="1"/>
              <a:t>xbar</a:t>
            </a:r>
            <a:r>
              <a:rPr lang="en-IN" dirty="0"/>
              <a:t>= 9.45826</a:t>
            </a:r>
          </a:p>
          <a:p>
            <a:r>
              <a:rPr lang="en-IN" dirty="0"/>
              <a:t>SE=1.412487</a:t>
            </a:r>
          </a:p>
          <a:p>
            <a:endParaRPr lang="en-IN" dirty="0"/>
          </a:p>
          <a:p>
            <a:r>
              <a:rPr lang="en-IN" dirty="0"/>
              <a:t>mu= 9.474581</a:t>
            </a:r>
          </a:p>
          <a:p>
            <a:r>
              <a:rPr lang="en-IN" dirty="0"/>
              <a:t>sigma/sqrt(</a:t>
            </a:r>
            <a:r>
              <a:rPr lang="en-IN" dirty="0" err="1"/>
              <a:t>num_schools_per_sample</a:t>
            </a:r>
            <a:r>
              <a:rPr lang="en-IN" dirty="0"/>
              <a:t>) =1.420</a:t>
            </a:r>
          </a:p>
        </p:txBody>
      </p:sp>
      <p:pic>
        <p:nvPicPr>
          <p:cNvPr id="12" name="Picture 11">
            <a:extLst>
              <a:ext uri="{FF2B5EF4-FFF2-40B4-BE49-F238E27FC236}">
                <a16:creationId xmlns:a16="http://schemas.microsoft.com/office/drawing/2014/main" id="{37714516-29F2-69E5-D858-BAD1E374B826}"/>
              </a:ext>
            </a:extLst>
          </p:cNvPr>
          <p:cNvPicPr>
            <a:picLocks noChangeAspect="1"/>
          </p:cNvPicPr>
          <p:nvPr/>
        </p:nvPicPr>
        <p:blipFill>
          <a:blip r:embed="rId3"/>
          <a:stretch>
            <a:fillRect/>
          </a:stretch>
        </p:blipFill>
        <p:spPr>
          <a:xfrm>
            <a:off x="6347460" y="2302089"/>
            <a:ext cx="5193341" cy="3429000"/>
          </a:xfrm>
          <a:prstGeom prst="rect">
            <a:avLst/>
          </a:prstGeom>
        </p:spPr>
      </p:pic>
      <p:sp>
        <p:nvSpPr>
          <p:cNvPr id="13" name="TextBox 12">
            <a:extLst>
              <a:ext uri="{FF2B5EF4-FFF2-40B4-BE49-F238E27FC236}">
                <a16:creationId xmlns:a16="http://schemas.microsoft.com/office/drawing/2014/main" id="{A508C6CA-0515-1B44-7E51-59AD38F934D3}"/>
              </a:ext>
            </a:extLst>
          </p:cNvPr>
          <p:cNvSpPr txBox="1"/>
          <p:nvPr/>
        </p:nvSpPr>
        <p:spPr>
          <a:xfrm>
            <a:off x="1897380" y="2084832"/>
            <a:ext cx="2377440" cy="646331"/>
          </a:xfrm>
          <a:prstGeom prst="rect">
            <a:avLst/>
          </a:prstGeom>
          <a:noFill/>
        </p:spPr>
        <p:txBody>
          <a:bodyPr wrap="square" rtlCol="0">
            <a:spAutoFit/>
          </a:bodyPr>
          <a:lstStyle/>
          <a:p>
            <a:r>
              <a:rPr lang="en-IN" b="1" dirty="0"/>
              <a:t>Sample size =100</a:t>
            </a:r>
          </a:p>
          <a:p>
            <a:r>
              <a:rPr lang="en-IN" b="1" dirty="0"/>
              <a:t>No of samples = 1000</a:t>
            </a:r>
          </a:p>
        </p:txBody>
      </p:sp>
    </p:spTree>
    <p:extLst>
      <p:ext uri="{BB962C8B-B14F-4D97-AF65-F5344CB8AC3E}">
        <p14:creationId xmlns:p14="http://schemas.microsoft.com/office/powerpoint/2010/main" val="19390015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35172</TotalTime>
  <Words>3621</Words>
  <Application>Microsoft Office PowerPoint</Application>
  <PresentationFormat>Widescreen</PresentationFormat>
  <Paragraphs>425</Paragraphs>
  <Slides>29</Slides>
  <Notes>17</Notes>
  <HiddenSlides>1</HiddenSlides>
  <MMClips>2</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45" baseType="lpstr">
      <vt:lpstr>굴림</vt:lpstr>
      <vt:lpstr>Arial</vt:lpstr>
      <vt:lpstr>Calibri</vt:lpstr>
      <vt:lpstr>Comic Sans MS</vt:lpstr>
      <vt:lpstr>Courier New</vt:lpstr>
      <vt:lpstr>Franklin Gothic Book</vt:lpstr>
      <vt:lpstr>Helvetica</vt:lpstr>
      <vt:lpstr>Tahoma</vt:lpstr>
      <vt:lpstr>Times New Roman</vt:lpstr>
      <vt:lpstr>Tw Cen MT</vt:lpstr>
      <vt:lpstr>Tw Cen MT Condensed</vt:lpstr>
      <vt:lpstr>Wingdings</vt:lpstr>
      <vt:lpstr>Wingdings 3</vt:lpstr>
      <vt:lpstr>YouTube Sans</vt:lpstr>
      <vt:lpstr>Integral</vt:lpstr>
      <vt:lpstr>Equation</vt:lpstr>
      <vt:lpstr>STAT 221-FUNDAMENTALS OF STATISTICAL DATA ANALYSIS </vt:lpstr>
      <vt:lpstr>SAMPLING</vt:lpstr>
      <vt:lpstr>Sampling process</vt:lpstr>
      <vt:lpstr>Population and sample</vt:lpstr>
      <vt:lpstr>PowerPoint Presentation</vt:lpstr>
      <vt:lpstr>Types of Samples</vt:lpstr>
      <vt:lpstr>SAMPLING Process </vt:lpstr>
      <vt:lpstr>PROBABILITY SAMPLING</vt:lpstr>
      <vt:lpstr>NON-PROBABILITY SAMPLING</vt:lpstr>
      <vt:lpstr>PowerPoint Presentation</vt:lpstr>
      <vt:lpstr>PowerPoint Presentation</vt:lpstr>
      <vt:lpstr>Simple random sampling</vt:lpstr>
      <vt:lpstr>SYSTEMATIC SAMPLING</vt:lpstr>
      <vt:lpstr>Stratified sampling </vt:lpstr>
      <vt:lpstr>STRATIFIED SAMPLING</vt:lpstr>
      <vt:lpstr>Cluster sampling</vt:lpstr>
      <vt:lpstr>CLUSTER SAMPLING…….</vt:lpstr>
      <vt:lpstr>Cluster sampling</vt:lpstr>
      <vt:lpstr>Difference Between Strata and Clusters</vt:lpstr>
      <vt:lpstr>Multi-stage sampling</vt:lpstr>
      <vt:lpstr>Non-probability sampling: Convenience</vt:lpstr>
      <vt:lpstr>Other sampling</vt:lpstr>
      <vt:lpstr>STATISTICAL INFERENCE</vt:lpstr>
      <vt:lpstr>Distinctions Between Parameters and Statistics</vt:lpstr>
      <vt:lpstr>PowerPoint Presentation</vt:lpstr>
      <vt:lpstr>Sampling Distributions of a Mean (Introduced in Ch 8)</vt:lpstr>
      <vt:lpstr>PUNE SCHOOLS EXAMPLE</vt:lpstr>
      <vt:lpstr>TEACHERS in Schools- ALL UDISE Census</vt:lpstr>
      <vt:lpstr>Sample of schools and teachers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 221-STATISTICAL DATA ANALYSIS</dc:title>
  <dc:creator>Shivakumar Jolad</dc:creator>
  <cp:lastModifiedBy>Shivakumar Jolad</cp:lastModifiedBy>
  <cp:revision>51</cp:revision>
  <dcterms:created xsi:type="dcterms:W3CDTF">2022-10-01T08:44:02Z</dcterms:created>
  <dcterms:modified xsi:type="dcterms:W3CDTF">2026-07-06T11:06:55Z</dcterms:modified>
</cp:coreProperties>
</file>