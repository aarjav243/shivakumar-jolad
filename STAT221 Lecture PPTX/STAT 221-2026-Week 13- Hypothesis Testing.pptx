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6"/>
  </p:notesMasterIdLst>
  <p:sldIdLst>
    <p:sldId id="257" r:id="rId2"/>
    <p:sldId id="434" r:id="rId3"/>
    <p:sldId id="437" r:id="rId4"/>
    <p:sldId id="291" r:id="rId5"/>
    <p:sldId id="317" r:id="rId6"/>
    <p:sldId id="376" r:id="rId7"/>
    <p:sldId id="377" r:id="rId8"/>
    <p:sldId id="440" r:id="rId9"/>
    <p:sldId id="378" r:id="rId10"/>
    <p:sldId id="379" r:id="rId11"/>
    <p:sldId id="318" r:id="rId12"/>
    <p:sldId id="319" r:id="rId13"/>
    <p:sldId id="320" r:id="rId14"/>
    <p:sldId id="265" r:id="rId15"/>
    <p:sldId id="321" r:id="rId16"/>
    <p:sldId id="367" r:id="rId17"/>
    <p:sldId id="322" r:id="rId18"/>
    <p:sldId id="323" r:id="rId19"/>
    <p:sldId id="368" r:id="rId20"/>
    <p:sldId id="294" r:id="rId21"/>
    <p:sldId id="369" r:id="rId22"/>
    <p:sldId id="370" r:id="rId23"/>
    <p:sldId id="371" r:id="rId24"/>
    <p:sldId id="296" r:id="rId25"/>
    <p:sldId id="324" r:id="rId26"/>
    <p:sldId id="372" r:id="rId27"/>
    <p:sldId id="325" r:id="rId28"/>
    <p:sldId id="374" r:id="rId29"/>
    <p:sldId id="297" r:id="rId30"/>
    <p:sldId id="326" r:id="rId31"/>
    <p:sldId id="327" r:id="rId32"/>
    <p:sldId id="361" r:id="rId33"/>
    <p:sldId id="328" r:id="rId34"/>
    <p:sldId id="329" r:id="rId35"/>
    <p:sldId id="298" r:id="rId36"/>
    <p:sldId id="330" r:id="rId37"/>
    <p:sldId id="299" r:id="rId38"/>
    <p:sldId id="331" r:id="rId39"/>
    <p:sldId id="332" r:id="rId40"/>
    <p:sldId id="375" r:id="rId41"/>
    <p:sldId id="380" r:id="rId42"/>
    <p:sldId id="439" r:id="rId43"/>
    <p:sldId id="334" r:id="rId44"/>
    <p:sldId id="435" r:id="rId45"/>
    <p:sldId id="305" r:id="rId46"/>
    <p:sldId id="335" r:id="rId47"/>
    <p:sldId id="362" r:id="rId48"/>
    <p:sldId id="336" r:id="rId49"/>
    <p:sldId id="337" r:id="rId50"/>
    <p:sldId id="338" r:id="rId51"/>
    <p:sldId id="339" r:id="rId52"/>
    <p:sldId id="306" r:id="rId53"/>
    <p:sldId id="340" r:id="rId54"/>
    <p:sldId id="436" r:id="rId55"/>
    <p:sldId id="341" r:id="rId56"/>
    <p:sldId id="342" r:id="rId57"/>
    <p:sldId id="310" r:id="rId58"/>
    <p:sldId id="343" r:id="rId59"/>
    <p:sldId id="344" r:id="rId60"/>
    <p:sldId id="364" r:id="rId61"/>
    <p:sldId id="363" r:id="rId62"/>
    <p:sldId id="441" r:id="rId63"/>
    <p:sldId id="442" r:id="rId64"/>
    <p:sldId id="443"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80603" autoAdjust="0"/>
  </p:normalViewPr>
  <p:slideViewPr>
    <p:cSldViewPr snapToGrid="0">
      <p:cViewPr varScale="1">
        <p:scale>
          <a:sx n="72" d="100"/>
          <a:sy n="72" d="100"/>
        </p:scale>
        <p:origin x="88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4F7E9A-B455-49EC-BBC8-A7C99001C973}" type="datetimeFigureOut">
              <a:rPr lang="en-IN" smtClean="0"/>
              <a:t>06-07-2026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D5FEED-732C-46A9-8A11-6E32F7E076B8}" type="slidenum">
              <a:rPr lang="en-IN" smtClean="0"/>
              <a:t>‹#›</a:t>
            </a:fld>
            <a:endParaRPr lang="en-IN"/>
          </a:p>
        </p:txBody>
      </p:sp>
    </p:spTree>
    <p:extLst>
      <p:ext uri="{BB962C8B-B14F-4D97-AF65-F5344CB8AC3E}">
        <p14:creationId xmlns:p14="http://schemas.microsoft.com/office/powerpoint/2010/main" val="882371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FA4C875-A037-784D-8559-BBB51CAB7AA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Chapter 9</a:t>
            </a:r>
          </a:p>
        </p:txBody>
      </p:sp>
      <p:sp>
        <p:nvSpPr>
          <p:cNvPr id="41987" name="Rectangle 3">
            <a:extLst>
              <a:ext uri="{FF2B5EF4-FFF2-40B4-BE49-F238E27FC236}">
                <a16:creationId xmlns:a16="http://schemas.microsoft.com/office/drawing/2014/main" id="{8D48AD22-5387-6148-9F36-B42DD9D7C29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3E4D31F-6149-B442-8124-F54DC0F1616B}" type="datetime1">
              <a:rPr lang="en-US" altLang="en-US"/>
              <a:pPr eaLnBrk="1" hangingPunct="1"/>
              <a:t>7/6/2026</a:t>
            </a:fld>
            <a:endParaRPr lang="en-US" altLang="en-US"/>
          </a:p>
        </p:txBody>
      </p:sp>
      <p:sp>
        <p:nvSpPr>
          <p:cNvPr id="41988" name="Rectangle 6">
            <a:extLst>
              <a:ext uri="{FF2B5EF4-FFF2-40B4-BE49-F238E27FC236}">
                <a16:creationId xmlns:a16="http://schemas.microsoft.com/office/drawing/2014/main" id="{5357ED3F-4CAC-2C49-8F50-D5C94C3AF4E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Basic Biostat</a:t>
            </a:r>
          </a:p>
        </p:txBody>
      </p:sp>
      <p:sp>
        <p:nvSpPr>
          <p:cNvPr id="41989" name="Rectangle 7">
            <a:extLst>
              <a:ext uri="{FF2B5EF4-FFF2-40B4-BE49-F238E27FC236}">
                <a16:creationId xmlns:a16="http://schemas.microsoft.com/office/drawing/2014/main" id="{81AE2188-85A3-EE4E-B8E2-E9F2E2AD4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9324EA1-1548-AE4C-ACA7-8FEC5D04A8F9}" type="slidenum">
              <a:rPr lang="en-US" altLang="en-US"/>
              <a:pPr eaLnBrk="1" hangingPunct="1"/>
              <a:t>3</a:t>
            </a:fld>
            <a:endParaRPr lang="en-US" altLang="en-US"/>
          </a:p>
        </p:txBody>
      </p:sp>
      <p:sp>
        <p:nvSpPr>
          <p:cNvPr id="41990" name="Rectangle 2">
            <a:extLst>
              <a:ext uri="{FF2B5EF4-FFF2-40B4-BE49-F238E27FC236}">
                <a16:creationId xmlns:a16="http://schemas.microsoft.com/office/drawing/2014/main" id="{83A86E27-F4EE-8B42-BC8A-308BE57840E2}"/>
              </a:ext>
            </a:extLst>
          </p:cNvPr>
          <p:cNvSpPr>
            <a:spLocks noGrp="1" noRot="1" noChangeAspect="1" noChangeArrowheads="1" noTextEdit="1"/>
          </p:cNvSpPr>
          <p:nvPr>
            <p:ph type="sldImg"/>
          </p:nvPr>
        </p:nvSpPr>
        <p:spPr>
          <a:ln/>
        </p:spPr>
      </p:sp>
      <p:sp>
        <p:nvSpPr>
          <p:cNvPr id="41991" name="Rectangle 3">
            <a:extLst>
              <a:ext uri="{FF2B5EF4-FFF2-40B4-BE49-F238E27FC236}">
                <a16:creationId xmlns:a16="http://schemas.microsoft.com/office/drawing/2014/main" id="{EE5552FF-CAB7-3343-A875-28B30926BB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Foundation of statistical inference: the difference between parameters and statistics. Parameters and statistics are related, but are not the same thing. </a:t>
            </a:r>
          </a:p>
        </p:txBody>
      </p:sp>
    </p:spTree>
    <p:extLst>
      <p:ext uri="{BB962C8B-B14F-4D97-AF65-F5344CB8AC3E}">
        <p14:creationId xmlns:p14="http://schemas.microsoft.com/office/powerpoint/2010/main" val="3147649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B0FE8E39-CD10-CF42-BA87-04788B65231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Chapter 9</a:t>
            </a:r>
          </a:p>
        </p:txBody>
      </p:sp>
      <p:sp>
        <p:nvSpPr>
          <p:cNvPr id="43011" name="Rectangle 3">
            <a:extLst>
              <a:ext uri="{FF2B5EF4-FFF2-40B4-BE49-F238E27FC236}">
                <a16:creationId xmlns:a16="http://schemas.microsoft.com/office/drawing/2014/main" id="{12EF23F8-C25B-6547-ADD3-0CF157DD64B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8DF9851-534D-864A-AD95-C3E2293A30DA}" type="datetime1">
              <a:rPr lang="en-US" altLang="en-US"/>
              <a:pPr eaLnBrk="1" hangingPunct="1"/>
              <a:t>7/6/2026</a:t>
            </a:fld>
            <a:endParaRPr lang="en-US" altLang="en-US"/>
          </a:p>
        </p:txBody>
      </p:sp>
      <p:sp>
        <p:nvSpPr>
          <p:cNvPr id="43012" name="Rectangle 6">
            <a:extLst>
              <a:ext uri="{FF2B5EF4-FFF2-40B4-BE49-F238E27FC236}">
                <a16:creationId xmlns:a16="http://schemas.microsoft.com/office/drawing/2014/main" id="{361F1987-7745-D547-B84A-D93620A164A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Basic Biostat</a:t>
            </a:r>
          </a:p>
        </p:txBody>
      </p:sp>
      <p:sp>
        <p:nvSpPr>
          <p:cNvPr id="43013" name="Rectangle 7">
            <a:extLst>
              <a:ext uri="{FF2B5EF4-FFF2-40B4-BE49-F238E27FC236}">
                <a16:creationId xmlns:a16="http://schemas.microsoft.com/office/drawing/2014/main" id="{30B8AB29-A838-6140-9EF4-EA18DDDE2F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AC83D22-70A2-9B47-9E83-097DD495F0DF}" type="slidenum">
              <a:rPr lang="en-US" altLang="en-US"/>
              <a:pPr eaLnBrk="1" hangingPunct="1"/>
              <a:t>5</a:t>
            </a:fld>
            <a:endParaRPr lang="en-US" altLang="en-US"/>
          </a:p>
        </p:txBody>
      </p:sp>
      <p:sp>
        <p:nvSpPr>
          <p:cNvPr id="43014" name="Rectangle 2">
            <a:extLst>
              <a:ext uri="{FF2B5EF4-FFF2-40B4-BE49-F238E27FC236}">
                <a16:creationId xmlns:a16="http://schemas.microsoft.com/office/drawing/2014/main" id="{0B3C0744-9742-C140-87A3-887AFCB8C9BB}"/>
              </a:ext>
            </a:extLst>
          </p:cNvPr>
          <p:cNvSpPr>
            <a:spLocks noGrp="1" noRot="1" noChangeAspect="1" noChangeArrowheads="1" noTextEdit="1"/>
          </p:cNvSpPr>
          <p:nvPr>
            <p:ph type="sldImg"/>
          </p:nvPr>
        </p:nvSpPr>
        <p:spPr>
          <a:ln/>
        </p:spPr>
      </p:sp>
      <p:sp>
        <p:nvSpPr>
          <p:cNvPr id="43015" name="Rectangle 3">
            <a:extLst>
              <a:ext uri="{FF2B5EF4-FFF2-40B4-BE49-F238E27FC236}">
                <a16:creationId xmlns:a16="http://schemas.microsoft.com/office/drawing/2014/main" id="{2FC89F60-8F5C-2040-AE3C-2B68890C3A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This slide summarize what we’ve learned about the sampling distribution of a mean from a large sample. It is based no three important sampling postulates: the central limit theorem, the law of large numbers (unbiased nature of the sample mean), and square root law. Based on these well established statistical theorems we can say that means based on large samples (and means based in Normal populations) will have a Normal sampling distribution with an expectation equal to the population mean with a standard deviation equal to the standard deviation of the population divided by the square root of the sample size </a:t>
            </a:r>
            <a:r>
              <a:rPr lang="en-US" altLang="en-US" i="1" dirty="0">
                <a:latin typeface="Arial" panose="020B0604020202020204" pitchFamily="34" charset="0"/>
              </a:rPr>
              <a:t>n</a:t>
            </a:r>
            <a:r>
              <a:rPr lang="en-US" altLang="en-US" dirty="0">
                <a:latin typeface="Arial" panose="020B0604020202020204" pitchFamily="34" charset="0"/>
              </a:rPr>
              <a:t>. </a:t>
            </a:r>
          </a:p>
        </p:txBody>
      </p:sp>
    </p:spTree>
    <p:extLst>
      <p:ext uri="{BB962C8B-B14F-4D97-AF65-F5344CB8AC3E}">
        <p14:creationId xmlns:p14="http://schemas.microsoft.com/office/powerpoint/2010/main" val="3028845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E50D9A4E-402E-E54A-B33B-751ED7822AD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Chapter 9</a:t>
            </a:r>
          </a:p>
        </p:txBody>
      </p:sp>
      <p:sp>
        <p:nvSpPr>
          <p:cNvPr id="44035" name="Rectangle 3">
            <a:extLst>
              <a:ext uri="{FF2B5EF4-FFF2-40B4-BE49-F238E27FC236}">
                <a16:creationId xmlns:a16="http://schemas.microsoft.com/office/drawing/2014/main" id="{54B33988-90D5-DE48-86FF-9C7A0268336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9A21805-0338-C14B-B7B0-286C0C21BB62}" type="datetime1">
              <a:rPr lang="en-US" altLang="en-US"/>
              <a:pPr eaLnBrk="1" hangingPunct="1"/>
              <a:t>7/6/2026</a:t>
            </a:fld>
            <a:endParaRPr lang="en-US" altLang="en-US"/>
          </a:p>
        </p:txBody>
      </p:sp>
      <p:sp>
        <p:nvSpPr>
          <p:cNvPr id="44036" name="Rectangle 6">
            <a:extLst>
              <a:ext uri="{FF2B5EF4-FFF2-40B4-BE49-F238E27FC236}">
                <a16:creationId xmlns:a16="http://schemas.microsoft.com/office/drawing/2014/main" id="{4B3FFAB4-8800-4949-9DD7-6F83570EF7A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Basic Biostat</a:t>
            </a:r>
          </a:p>
        </p:txBody>
      </p:sp>
      <p:sp>
        <p:nvSpPr>
          <p:cNvPr id="44037" name="Rectangle 7">
            <a:extLst>
              <a:ext uri="{FF2B5EF4-FFF2-40B4-BE49-F238E27FC236}">
                <a16:creationId xmlns:a16="http://schemas.microsoft.com/office/drawing/2014/main" id="{3ABEE6BB-D3E5-6844-A0C2-2937B80282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778B40-C2AD-8F43-B6CC-B83626E447F5}" type="slidenum">
              <a:rPr lang="en-US" altLang="en-US"/>
              <a:pPr eaLnBrk="1" hangingPunct="1"/>
              <a:t>11</a:t>
            </a:fld>
            <a:endParaRPr lang="en-US" altLang="en-US"/>
          </a:p>
        </p:txBody>
      </p:sp>
      <p:sp>
        <p:nvSpPr>
          <p:cNvPr id="44038" name="Rectangle 2">
            <a:extLst>
              <a:ext uri="{FF2B5EF4-FFF2-40B4-BE49-F238E27FC236}">
                <a16:creationId xmlns:a16="http://schemas.microsoft.com/office/drawing/2014/main" id="{475CDDA8-7896-C242-AF84-386A4AF6F901}"/>
              </a:ext>
            </a:extLst>
          </p:cNvPr>
          <p:cNvSpPr>
            <a:spLocks noGrp="1" noRot="1" noChangeAspect="1" noChangeArrowheads="1" noTextEdit="1"/>
          </p:cNvSpPr>
          <p:nvPr>
            <p:ph type="sldImg"/>
          </p:nvPr>
        </p:nvSpPr>
        <p:spPr>
          <a:ln/>
        </p:spPr>
      </p:sp>
      <p:sp>
        <p:nvSpPr>
          <p:cNvPr id="44039" name="Rectangle 3">
            <a:extLst>
              <a:ext uri="{FF2B5EF4-FFF2-40B4-BE49-F238E27FC236}">
                <a16:creationId xmlns:a16="http://schemas.microsoft.com/office/drawing/2014/main" id="{0A81E897-784E-C449-B13D-2F8ED1FF9E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Hypothesis testing (also called significance testing) uses a quasi-deductive procedure to judge claims about parameters. Before testing a statistical hypothesis it is important to clearly state the nature of the claim to be tested. We are then going to use a four step procedure (as outlined in the last bullet) to test the claim. </a:t>
            </a:r>
          </a:p>
        </p:txBody>
      </p:sp>
    </p:spTree>
    <p:extLst>
      <p:ext uri="{BB962C8B-B14F-4D97-AF65-F5344CB8AC3E}">
        <p14:creationId xmlns:p14="http://schemas.microsoft.com/office/powerpoint/2010/main" val="1038039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230608A2-50B0-2F4A-8D44-F711E52B5AE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Chapter 9</a:t>
            </a:r>
          </a:p>
        </p:txBody>
      </p:sp>
      <p:sp>
        <p:nvSpPr>
          <p:cNvPr id="45059" name="Rectangle 3">
            <a:extLst>
              <a:ext uri="{FF2B5EF4-FFF2-40B4-BE49-F238E27FC236}">
                <a16:creationId xmlns:a16="http://schemas.microsoft.com/office/drawing/2014/main" id="{927BB49F-5AFC-2F42-8656-ED8781B41C6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E7A47C-C7A6-3B4F-8D49-C11FBFD61789}" type="datetime1">
              <a:rPr lang="en-US" altLang="en-US"/>
              <a:pPr eaLnBrk="1" hangingPunct="1"/>
              <a:t>7/6/2026</a:t>
            </a:fld>
            <a:endParaRPr lang="en-US" altLang="en-US"/>
          </a:p>
        </p:txBody>
      </p:sp>
      <p:sp>
        <p:nvSpPr>
          <p:cNvPr id="45060" name="Rectangle 6">
            <a:extLst>
              <a:ext uri="{FF2B5EF4-FFF2-40B4-BE49-F238E27FC236}">
                <a16:creationId xmlns:a16="http://schemas.microsoft.com/office/drawing/2014/main" id="{DCAB1C30-59B7-7D49-A76B-9118429D54D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Basic Biostat</a:t>
            </a:r>
          </a:p>
        </p:txBody>
      </p:sp>
      <p:sp>
        <p:nvSpPr>
          <p:cNvPr id="45061" name="Rectangle 7">
            <a:extLst>
              <a:ext uri="{FF2B5EF4-FFF2-40B4-BE49-F238E27FC236}">
                <a16:creationId xmlns:a16="http://schemas.microsoft.com/office/drawing/2014/main" id="{712BA09D-78D7-2D47-955D-F220E522C5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A5957BA-E90C-074E-A97F-B7B27F950122}" type="slidenum">
              <a:rPr lang="en-US" altLang="en-US"/>
              <a:pPr eaLnBrk="1" hangingPunct="1"/>
              <a:t>12</a:t>
            </a:fld>
            <a:endParaRPr lang="en-US" altLang="en-US"/>
          </a:p>
        </p:txBody>
      </p:sp>
      <p:sp>
        <p:nvSpPr>
          <p:cNvPr id="45062" name="Rectangle 2">
            <a:extLst>
              <a:ext uri="{FF2B5EF4-FFF2-40B4-BE49-F238E27FC236}">
                <a16:creationId xmlns:a16="http://schemas.microsoft.com/office/drawing/2014/main" id="{649493B4-9A0B-0F41-9770-562B21C337EF}"/>
              </a:ext>
            </a:extLst>
          </p:cNvPr>
          <p:cNvSpPr>
            <a:spLocks noGrp="1" noRot="1" noChangeAspect="1" noChangeArrowheads="1" noTextEdit="1"/>
          </p:cNvSpPr>
          <p:nvPr>
            <p:ph type="sldImg"/>
          </p:nvPr>
        </p:nvSpPr>
        <p:spPr>
          <a:ln/>
        </p:spPr>
      </p:sp>
      <p:sp>
        <p:nvSpPr>
          <p:cNvPr id="45063" name="Rectangle 3">
            <a:extLst>
              <a:ext uri="{FF2B5EF4-FFF2-40B4-BE49-F238E27FC236}">
                <a16:creationId xmlns:a16="http://schemas.microsoft.com/office/drawing/2014/main" id="{A8C7A12E-F1C6-574C-B08E-D684D7D33E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The first step in the procedure is to state the hypotheses null and alternative forms. The null hypothesis (abbreviate “H naught”) is a statement of no difference. The alternative hypothesis (“H sub a”) is a statement of difference. Seek evidence against the claim of </a:t>
            </a:r>
            <a:r>
              <a:rPr lang="en-US" altLang="en-US" i="1">
                <a:latin typeface="Arial" panose="020B0604020202020204" pitchFamily="34" charset="0"/>
                <a:sym typeface="Symbol" pitchFamily="2" charset="2"/>
              </a:rPr>
              <a:t>H</a:t>
            </a:r>
            <a:r>
              <a:rPr lang="en-US" altLang="en-US" baseline="-25000">
                <a:latin typeface="Arial" panose="020B0604020202020204" pitchFamily="34" charset="0"/>
                <a:sym typeface="Symbol" pitchFamily="2" charset="2"/>
              </a:rPr>
              <a:t>0 </a:t>
            </a:r>
            <a:r>
              <a:rPr lang="en-US" altLang="en-US">
                <a:latin typeface="Arial" panose="020B0604020202020204" pitchFamily="34" charset="0"/>
              </a:rPr>
              <a:t>as a way of bolstering </a:t>
            </a:r>
            <a:r>
              <a:rPr lang="en-US" altLang="en-US" i="1">
                <a:latin typeface="Arial" panose="020B0604020202020204" pitchFamily="34" charset="0"/>
                <a:sym typeface="Symbol" pitchFamily="2" charset="2"/>
              </a:rPr>
              <a:t>H</a:t>
            </a:r>
            <a:r>
              <a:rPr lang="en-US" altLang="en-US" baseline="-25000">
                <a:latin typeface="Arial" panose="020B0604020202020204" pitchFamily="34" charset="0"/>
                <a:sym typeface="Symbol" pitchFamily="2" charset="2"/>
              </a:rPr>
              <a:t>a. </a:t>
            </a:r>
          </a:p>
          <a:p>
            <a:pPr eaLnBrk="1" hangingPunct="1"/>
            <a:r>
              <a:rPr lang="en-US" altLang="en-US">
                <a:latin typeface="Arial" panose="020B0604020202020204" pitchFamily="34" charset="0"/>
                <a:sym typeface="Symbol" pitchFamily="2" charset="2"/>
              </a:rPr>
              <a:t>The next slide offers an illustrative example on setting up the hypotheses.</a:t>
            </a:r>
          </a:p>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294162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47582B7B-E45E-5F4B-93B3-8BB5BD56ED2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Chapter 9</a:t>
            </a:r>
          </a:p>
        </p:txBody>
      </p:sp>
      <p:sp>
        <p:nvSpPr>
          <p:cNvPr id="46083" name="Rectangle 3">
            <a:extLst>
              <a:ext uri="{FF2B5EF4-FFF2-40B4-BE49-F238E27FC236}">
                <a16:creationId xmlns:a16="http://schemas.microsoft.com/office/drawing/2014/main" id="{0D5CF846-3EB8-BB43-B057-2E62BFBC197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C003EE5-F230-DD4D-A706-30C928EFBDE0}" type="datetime1">
              <a:rPr lang="en-US" altLang="en-US"/>
              <a:pPr eaLnBrk="1" hangingPunct="1"/>
              <a:t>7/6/2026</a:t>
            </a:fld>
            <a:endParaRPr lang="en-US" altLang="en-US"/>
          </a:p>
        </p:txBody>
      </p:sp>
      <p:sp>
        <p:nvSpPr>
          <p:cNvPr id="46084" name="Rectangle 6">
            <a:extLst>
              <a:ext uri="{FF2B5EF4-FFF2-40B4-BE49-F238E27FC236}">
                <a16:creationId xmlns:a16="http://schemas.microsoft.com/office/drawing/2014/main" id="{28DAA44E-1452-684F-B2B7-66F68F2E729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Basic Biostat</a:t>
            </a:r>
          </a:p>
        </p:txBody>
      </p:sp>
      <p:sp>
        <p:nvSpPr>
          <p:cNvPr id="46085" name="Rectangle 7">
            <a:extLst>
              <a:ext uri="{FF2B5EF4-FFF2-40B4-BE49-F238E27FC236}">
                <a16:creationId xmlns:a16="http://schemas.microsoft.com/office/drawing/2014/main" id="{68310A5B-FFB1-B348-B332-0B9881A47D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25F0A40-979B-1A4B-B118-6C0CD2151A57}" type="slidenum">
              <a:rPr lang="en-US" altLang="en-US"/>
              <a:pPr eaLnBrk="1" hangingPunct="1"/>
              <a:t>13</a:t>
            </a:fld>
            <a:endParaRPr lang="en-US" altLang="en-US"/>
          </a:p>
        </p:txBody>
      </p:sp>
      <p:sp>
        <p:nvSpPr>
          <p:cNvPr id="46086" name="Rectangle 2">
            <a:extLst>
              <a:ext uri="{FF2B5EF4-FFF2-40B4-BE49-F238E27FC236}">
                <a16:creationId xmlns:a16="http://schemas.microsoft.com/office/drawing/2014/main" id="{B628791C-1EE2-7242-B863-CC349A1EE6F2}"/>
              </a:ext>
            </a:extLst>
          </p:cNvPr>
          <p:cNvSpPr>
            <a:spLocks noGrp="1" noRot="1" noChangeAspect="1" noChangeArrowheads="1" noTextEdit="1"/>
          </p:cNvSpPr>
          <p:nvPr>
            <p:ph type="sldImg"/>
          </p:nvPr>
        </p:nvSpPr>
        <p:spPr>
          <a:ln/>
        </p:spPr>
      </p:sp>
      <p:sp>
        <p:nvSpPr>
          <p:cNvPr id="46087" name="Rectangle 3">
            <a:extLst>
              <a:ext uri="{FF2B5EF4-FFF2-40B4-BE49-F238E27FC236}">
                <a16:creationId xmlns:a16="http://schemas.microsoft.com/office/drawing/2014/main" id="{99042EE0-5EB1-4C41-B411-44AE1421A2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In the late 1970s, the weight of U.S. men between 20- and 29-years of age had a log-normal distribution with a mean of 170 pounds and standard deviation of 40 pounds. As you know, the overweight and obese conditions seems to be more prevalent today, constituting a major public health problem. To illustrate the hypothesis testing procedure, we ask if body weight in this group has increased since 1970. Under the null hypothesis there is no difference in the mean body weight between then and now, in which case </a:t>
            </a:r>
            <a:r>
              <a:rPr lang="el-GR" altLang="en-US">
                <a:latin typeface="Arial" panose="020B0604020202020204" pitchFamily="34" charset="0"/>
                <a:cs typeface="Arial" panose="020B0604020202020204" pitchFamily="34" charset="0"/>
              </a:rPr>
              <a:t>μ</a:t>
            </a:r>
            <a:r>
              <a:rPr lang="en-US" altLang="en-US">
                <a:latin typeface="Arial" panose="020B0604020202020204" pitchFamily="34" charset="0"/>
                <a:cs typeface="Arial" panose="020B0604020202020204" pitchFamily="34" charset="0"/>
              </a:rPr>
              <a:t> would still equal 170 pounds. </a:t>
            </a:r>
          </a:p>
          <a:p>
            <a:pPr eaLnBrk="1" hangingPunct="1"/>
            <a:endParaRPr lang="en-US" altLang="en-US">
              <a:latin typeface="Arial" panose="020B0604020202020204" pitchFamily="34" charset="0"/>
              <a:cs typeface="Arial" panose="020B0604020202020204" pitchFamily="34" charset="0"/>
            </a:endParaRPr>
          </a:p>
          <a:p>
            <a:pPr eaLnBrk="1" hangingPunct="1"/>
            <a:r>
              <a:rPr lang="en-US" altLang="en-US">
                <a:latin typeface="Arial" panose="020B0604020202020204" pitchFamily="34" charset="0"/>
                <a:cs typeface="Arial" panose="020B0604020202020204" pitchFamily="34" charset="0"/>
              </a:rPr>
              <a:t>Under the alternative hypothesis, the mean weight has increased Therefore, </a:t>
            </a:r>
            <a:r>
              <a:rPr lang="en-US" altLang="en-US" i="1">
                <a:latin typeface="Arial" panose="020B0604020202020204" pitchFamily="34" charset="0"/>
              </a:rPr>
              <a:t>H</a:t>
            </a:r>
            <a:r>
              <a:rPr lang="en-US" altLang="en-US" baseline="-25000">
                <a:latin typeface="Arial" panose="020B0604020202020204" pitchFamily="34" charset="0"/>
              </a:rPr>
              <a:t>a: </a:t>
            </a:r>
            <a:r>
              <a:rPr lang="el-GR" altLang="en-US">
                <a:latin typeface="Arial" panose="020B0604020202020204" pitchFamily="34" charset="0"/>
                <a:cs typeface="Arial" panose="020B0604020202020204" pitchFamily="34" charset="0"/>
              </a:rPr>
              <a:t>μ</a:t>
            </a:r>
            <a:r>
              <a:rPr lang="en-US" altLang="en-US">
                <a:latin typeface="Arial" panose="020B0604020202020204" pitchFamily="34" charset="0"/>
                <a:cs typeface="Arial" panose="020B0604020202020204" pitchFamily="34" charset="0"/>
              </a:rPr>
              <a:t> &gt; 170. This statement of the alternative hypothesis is one-sided. That is, it looks only for values larger than stated under the null hypothesis. </a:t>
            </a:r>
          </a:p>
          <a:p>
            <a:pPr eaLnBrk="1" hangingPunct="1"/>
            <a:endParaRPr lang="en-US" altLang="en-US">
              <a:latin typeface="Arial" panose="020B0604020202020204" pitchFamily="34" charset="0"/>
              <a:cs typeface="Arial" panose="020B0604020202020204" pitchFamily="34" charset="0"/>
            </a:endParaRPr>
          </a:p>
          <a:p>
            <a:pPr eaLnBrk="1" hangingPunct="1"/>
            <a:r>
              <a:rPr lang="en-US" altLang="en-US">
                <a:latin typeface="Arial" panose="020B0604020202020204" pitchFamily="34" charset="0"/>
                <a:cs typeface="Arial" panose="020B0604020202020204" pitchFamily="34" charset="0"/>
              </a:rPr>
              <a:t>There is another way to state the alternative hypothesis. We could state it in a “two-sided” manner, looking for values that are either higher- or lower-than expected. For the current illustrative example, the two-sided alternative is </a:t>
            </a:r>
            <a:r>
              <a:rPr lang="en-US" altLang="en-US" i="1">
                <a:latin typeface="Arial" panose="020B0604020202020204" pitchFamily="34" charset="0"/>
              </a:rPr>
              <a:t>H</a:t>
            </a:r>
            <a:r>
              <a:rPr lang="en-US" altLang="en-US" baseline="-25000">
                <a:latin typeface="Arial" panose="020B0604020202020204" pitchFamily="34" charset="0"/>
              </a:rPr>
              <a:t>a: </a:t>
            </a:r>
            <a:r>
              <a:rPr lang="el-GR" altLang="en-US">
                <a:latin typeface="Arial" panose="020B0604020202020204" pitchFamily="34" charset="0"/>
                <a:cs typeface="Arial" panose="020B0604020202020204" pitchFamily="34" charset="0"/>
              </a:rPr>
              <a:t>μ</a:t>
            </a:r>
            <a:r>
              <a:rPr lang="en-US" altLang="en-US">
                <a:latin typeface="Arial" panose="020B0604020202020204" pitchFamily="34" charset="0"/>
                <a:cs typeface="Arial" panose="020B0604020202020204" pitchFamily="34" charset="0"/>
              </a:rPr>
              <a:t> ≠ 170. Although for the current illustrative example, this seems unnecessary, two-sided alternative offers several advantages and are much more common in practice. </a:t>
            </a:r>
            <a:endParaRPr lang="el-GR"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2747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A4E25D33-ED9B-0247-957A-C234030609D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Chapter 9</a:t>
            </a:r>
          </a:p>
        </p:txBody>
      </p:sp>
      <p:sp>
        <p:nvSpPr>
          <p:cNvPr id="47107" name="Rectangle 3">
            <a:extLst>
              <a:ext uri="{FF2B5EF4-FFF2-40B4-BE49-F238E27FC236}">
                <a16:creationId xmlns:a16="http://schemas.microsoft.com/office/drawing/2014/main" id="{B70335C9-4EC2-E44A-A9A8-EAA86EA21A7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1B098BD-B116-354C-B841-3994E34E01BE}" type="datetime1">
              <a:rPr lang="en-US" altLang="en-US"/>
              <a:pPr eaLnBrk="1" hangingPunct="1"/>
              <a:t>7/6/2026</a:t>
            </a:fld>
            <a:endParaRPr lang="en-US" altLang="en-US"/>
          </a:p>
        </p:txBody>
      </p:sp>
      <p:sp>
        <p:nvSpPr>
          <p:cNvPr id="47108" name="Rectangle 6">
            <a:extLst>
              <a:ext uri="{FF2B5EF4-FFF2-40B4-BE49-F238E27FC236}">
                <a16:creationId xmlns:a16="http://schemas.microsoft.com/office/drawing/2014/main" id="{B289D9AD-71EF-014D-A18F-2CA9C94B135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Basic Biostat</a:t>
            </a:r>
          </a:p>
        </p:txBody>
      </p:sp>
      <p:sp>
        <p:nvSpPr>
          <p:cNvPr id="47109" name="Rectangle 7">
            <a:extLst>
              <a:ext uri="{FF2B5EF4-FFF2-40B4-BE49-F238E27FC236}">
                <a16:creationId xmlns:a16="http://schemas.microsoft.com/office/drawing/2014/main" id="{784B8CCC-D33B-4F4D-9606-91507F76C8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a:solidFill>
                  <a:schemeClr val="tx1"/>
                </a:solidFill>
                <a:latin typeface="Arial" panose="020B0604020202020204" pitchFamily="34" charset="0"/>
              </a:defRPr>
            </a:lvl1pPr>
            <a:lvl2pPr marL="742950" indent="-285750" defTabSz="966788" eaLnBrk="0" hangingPunct="0">
              <a:defRPr>
                <a:solidFill>
                  <a:schemeClr val="tx1"/>
                </a:solidFill>
                <a:latin typeface="Arial" panose="020B0604020202020204" pitchFamily="34" charset="0"/>
              </a:defRPr>
            </a:lvl2pPr>
            <a:lvl3pPr marL="1143000" indent="-228600" defTabSz="966788" eaLnBrk="0" hangingPunct="0">
              <a:defRPr>
                <a:solidFill>
                  <a:schemeClr val="tx1"/>
                </a:solidFill>
                <a:latin typeface="Arial" panose="020B0604020202020204" pitchFamily="34" charset="0"/>
              </a:defRPr>
            </a:lvl3pPr>
            <a:lvl4pPr marL="1600200" indent="-228600" defTabSz="966788" eaLnBrk="0" hangingPunct="0">
              <a:defRPr>
                <a:solidFill>
                  <a:schemeClr val="tx1"/>
                </a:solidFill>
                <a:latin typeface="Arial" panose="020B0604020202020204" pitchFamily="34" charset="0"/>
              </a:defRPr>
            </a:lvl4pPr>
            <a:lvl5pPr marL="2057400" indent="-228600" defTabSz="966788" eaLnBrk="0" hangingPunct="0">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3494FD-3CC3-864E-B75D-1EE9EEAA5CF9}" type="slidenum">
              <a:rPr lang="en-US" altLang="en-US"/>
              <a:pPr eaLnBrk="1" hangingPunct="1"/>
              <a:t>14</a:t>
            </a:fld>
            <a:endParaRPr lang="en-US" altLang="en-US"/>
          </a:p>
        </p:txBody>
      </p:sp>
      <p:sp>
        <p:nvSpPr>
          <p:cNvPr id="47110" name="Rectangle 2">
            <a:extLst>
              <a:ext uri="{FF2B5EF4-FFF2-40B4-BE49-F238E27FC236}">
                <a16:creationId xmlns:a16="http://schemas.microsoft.com/office/drawing/2014/main" id="{2FE304ED-0807-214D-BFCF-AD42EB85D7A2}"/>
              </a:ext>
            </a:extLst>
          </p:cNvPr>
          <p:cNvSpPr>
            <a:spLocks noGrp="1" noRot="1" noChangeAspect="1" noChangeArrowheads="1" noTextEdit="1"/>
          </p:cNvSpPr>
          <p:nvPr>
            <p:ph type="sldImg"/>
          </p:nvPr>
        </p:nvSpPr>
        <p:spPr>
          <a:ln/>
        </p:spPr>
      </p:sp>
      <p:sp>
        <p:nvSpPr>
          <p:cNvPr id="47111" name="Rectangle 3">
            <a:extLst>
              <a:ext uri="{FF2B5EF4-FFF2-40B4-BE49-F238E27FC236}">
                <a16:creationId xmlns:a16="http://schemas.microsoft.com/office/drawing/2014/main" id="{5210323D-B91D-C045-8463-61B4DBCC37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716170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AD5FEED-732C-46A9-8A11-6E32F7E076B8}" type="slidenum">
              <a:rPr lang="en-IN" smtClean="0"/>
              <a:t>17</a:t>
            </a:fld>
            <a:endParaRPr lang="en-IN"/>
          </a:p>
        </p:txBody>
      </p:sp>
    </p:spTree>
    <p:extLst>
      <p:ext uri="{BB962C8B-B14F-4D97-AF65-F5344CB8AC3E}">
        <p14:creationId xmlns:p14="http://schemas.microsoft.com/office/powerpoint/2010/main" val="2760634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5DAAAB66-66A1-914E-83F8-9350C0F1C615}"/>
              </a:ext>
            </a:extLst>
          </p:cNvPr>
          <p:cNvSpPr>
            <a:spLocks noGrp="1" noChangeArrowheads="1"/>
          </p:cNvSpPr>
          <p:nvPr>
            <p:ph type="hdr" sz="quarter"/>
          </p:nvPr>
        </p:nvSpPr>
        <p:spPr>
          <a:ln/>
        </p:spPr>
        <p:txBody>
          <a:bodyPr/>
          <a:lstStyle/>
          <a:p>
            <a:r>
              <a:rPr lang="en-US" altLang="en-US"/>
              <a:t>Chapter 11</a:t>
            </a:r>
          </a:p>
        </p:txBody>
      </p:sp>
      <p:sp>
        <p:nvSpPr>
          <p:cNvPr id="5" name="Rectangle 3">
            <a:extLst>
              <a:ext uri="{FF2B5EF4-FFF2-40B4-BE49-F238E27FC236}">
                <a16:creationId xmlns:a16="http://schemas.microsoft.com/office/drawing/2014/main" id="{239F7941-DB69-4F4A-8DC7-62B2AE72D611}"/>
              </a:ext>
            </a:extLst>
          </p:cNvPr>
          <p:cNvSpPr>
            <a:spLocks noGrp="1" noChangeArrowheads="1"/>
          </p:cNvSpPr>
          <p:nvPr>
            <p:ph type="dt" idx="1"/>
          </p:nvPr>
        </p:nvSpPr>
        <p:spPr>
          <a:ln/>
        </p:spPr>
        <p:txBody>
          <a:bodyPr/>
          <a:lstStyle/>
          <a:p>
            <a:fld id="{183880D1-D26E-F844-ADE8-09021894BA09}" type="datetime1">
              <a:rPr lang="en-US" altLang="en-US"/>
              <a:pPr/>
              <a:t>7/6/2026</a:t>
            </a:fld>
            <a:endParaRPr lang="en-US" altLang="en-US"/>
          </a:p>
        </p:txBody>
      </p:sp>
      <p:sp>
        <p:nvSpPr>
          <p:cNvPr id="6" name="Rectangle 6">
            <a:extLst>
              <a:ext uri="{FF2B5EF4-FFF2-40B4-BE49-F238E27FC236}">
                <a16:creationId xmlns:a16="http://schemas.microsoft.com/office/drawing/2014/main" id="{7E3657F6-0A7D-554A-8811-75B499E21B6A}"/>
              </a:ext>
            </a:extLst>
          </p:cNvPr>
          <p:cNvSpPr>
            <a:spLocks noGrp="1" noChangeArrowheads="1"/>
          </p:cNvSpPr>
          <p:nvPr>
            <p:ph type="ftr" sz="quarter" idx="4"/>
          </p:nvPr>
        </p:nvSpPr>
        <p:spPr>
          <a:ln/>
        </p:spPr>
        <p:txBody>
          <a:bodyPr/>
          <a:lstStyle/>
          <a:p>
            <a:r>
              <a:rPr lang="en-US" altLang="en-US"/>
              <a:t>Basic Biostat</a:t>
            </a:r>
          </a:p>
        </p:txBody>
      </p:sp>
      <p:sp>
        <p:nvSpPr>
          <p:cNvPr id="7" name="Rectangle 7">
            <a:extLst>
              <a:ext uri="{FF2B5EF4-FFF2-40B4-BE49-F238E27FC236}">
                <a16:creationId xmlns:a16="http://schemas.microsoft.com/office/drawing/2014/main" id="{302DDD0C-2672-874E-AA9F-9C2AB0652CA7}"/>
              </a:ext>
            </a:extLst>
          </p:cNvPr>
          <p:cNvSpPr>
            <a:spLocks noGrp="1" noChangeArrowheads="1"/>
          </p:cNvSpPr>
          <p:nvPr>
            <p:ph type="sldNum" sz="quarter" idx="5"/>
          </p:nvPr>
        </p:nvSpPr>
        <p:spPr>
          <a:ln/>
        </p:spPr>
        <p:txBody>
          <a:bodyPr/>
          <a:lstStyle/>
          <a:p>
            <a:fld id="{0145133B-47BC-A049-8796-8E84851CE085}" type="slidenum">
              <a:rPr lang="en-US" altLang="en-US"/>
              <a:pPr/>
              <a:t>43</a:t>
            </a:fld>
            <a:endParaRPr lang="en-US" altLang="en-US"/>
          </a:p>
        </p:txBody>
      </p:sp>
      <p:sp>
        <p:nvSpPr>
          <p:cNvPr id="216066" name="Rectangle 2">
            <a:extLst>
              <a:ext uri="{FF2B5EF4-FFF2-40B4-BE49-F238E27FC236}">
                <a16:creationId xmlns:a16="http://schemas.microsoft.com/office/drawing/2014/main" id="{8A5B79A2-1A25-1846-A7AD-1C0952B8E401}"/>
              </a:ext>
            </a:extLst>
          </p:cNvPr>
          <p:cNvSpPr>
            <a:spLocks noGrp="1" noRot="1" noChangeAspect="1" noChangeArrowheads="1" noTextEdit="1"/>
          </p:cNvSpPr>
          <p:nvPr>
            <p:ph type="sldImg"/>
          </p:nvPr>
        </p:nvSpPr>
        <p:spPr>
          <a:ln/>
        </p:spPr>
      </p:sp>
      <p:sp>
        <p:nvSpPr>
          <p:cNvPr id="216067" name="Rectangle 3">
            <a:extLst>
              <a:ext uri="{FF2B5EF4-FFF2-40B4-BE49-F238E27FC236}">
                <a16:creationId xmlns:a16="http://schemas.microsoft.com/office/drawing/2014/main" id="{70B57F78-1D44-BD49-81B6-17B955F85E95}"/>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324940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1DABB61-EFB2-4995-A3ED-DB7930B6FEB3}"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F43A97-402A-4B79-8D76-6B31506A449A}"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2207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7" y="335124"/>
            <a:ext cx="9720072" cy="977861"/>
          </a:xfrm>
        </p:spPr>
        <p:txBody>
          <a:bodyPr>
            <a:normAutofit/>
          </a:bodyPr>
          <a:lstStyle>
            <a:lvl1pPr>
              <a:defRPr sz="4200"/>
            </a:lvl1pPr>
          </a:lstStyle>
          <a:p>
            <a:r>
              <a:rPr lang="en-US"/>
              <a:t>Click to edit Master title style</a:t>
            </a:r>
            <a:endParaRPr lang="en-US" dirty="0"/>
          </a:p>
        </p:txBody>
      </p:sp>
      <p:sp>
        <p:nvSpPr>
          <p:cNvPr id="3" name="Content Placeholder 2"/>
          <p:cNvSpPr>
            <a:spLocks noGrp="1"/>
          </p:cNvSpPr>
          <p:nvPr>
            <p:ph idx="1"/>
          </p:nvPr>
        </p:nvSpPr>
        <p:spPr/>
        <p:txBody>
          <a:bodyPr/>
          <a:lstStyle>
            <a:lvl2pPr marL="265176" indent="-137160">
              <a:buFont typeface="Wingdings" panose="05000000000000000000" pitchFamily="2" charset="2"/>
              <a:buChar char="q"/>
              <a:defRPr/>
            </a:lvl2pPr>
            <a:lvl3pPr marL="448056" indent="-137160">
              <a:buFont typeface="Wingdings" panose="05000000000000000000" pitchFamily="2" charset="2"/>
              <a:buChar char="Ø"/>
              <a:defRPr/>
            </a:lvl3pPr>
            <a:lvl4pPr marL="594360" indent="-137160">
              <a:buFont typeface="Courier New" panose="02070309020205020404" pitchFamily="49" charset="0"/>
              <a:buChar char="o"/>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1DABB61-EFB2-4995-A3ED-DB7930B6FEB3}"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F43A97-402A-4B79-8D76-6B31506A449A}" type="slidenum">
              <a:rPr lang="en-IN" smtClean="0"/>
              <a:t>‹#›</a:t>
            </a:fld>
            <a:endParaRPr lang="en-IN"/>
          </a:p>
        </p:txBody>
      </p:sp>
    </p:spTree>
    <p:extLst>
      <p:ext uri="{BB962C8B-B14F-4D97-AF65-F5344CB8AC3E}">
        <p14:creationId xmlns:p14="http://schemas.microsoft.com/office/powerpoint/2010/main" val="1207144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DABB61-EFB2-4995-A3ED-DB7930B6FEB3}"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F43A97-402A-4B79-8D76-6B31506A449A}"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7067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DABB61-EFB2-4995-A3ED-DB7930B6FEB3}" type="datetimeFigureOut">
              <a:rPr lang="en-IN" smtClean="0"/>
              <a:t>06-07-2026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F43A97-402A-4B79-8D76-6B31506A449A}" type="slidenum">
              <a:rPr lang="en-IN" smtClean="0"/>
              <a:t>‹#›</a:t>
            </a:fld>
            <a:endParaRPr lang="en-IN"/>
          </a:p>
        </p:txBody>
      </p:sp>
    </p:spTree>
    <p:extLst>
      <p:ext uri="{BB962C8B-B14F-4D97-AF65-F5344CB8AC3E}">
        <p14:creationId xmlns:p14="http://schemas.microsoft.com/office/powerpoint/2010/main" val="2252074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DABB61-EFB2-4995-A3ED-DB7930B6FEB3}" type="datetimeFigureOut">
              <a:rPr lang="en-IN" smtClean="0"/>
              <a:t>06-07-2026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AF43A97-402A-4B79-8D76-6B31506A449A}" type="slidenum">
              <a:rPr lang="en-IN" smtClean="0"/>
              <a:t>‹#›</a:t>
            </a:fld>
            <a:endParaRPr lang="en-IN"/>
          </a:p>
        </p:txBody>
      </p:sp>
    </p:spTree>
    <p:extLst>
      <p:ext uri="{BB962C8B-B14F-4D97-AF65-F5344CB8AC3E}">
        <p14:creationId xmlns:p14="http://schemas.microsoft.com/office/powerpoint/2010/main" val="2067793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DABB61-EFB2-4995-A3ED-DB7930B6FEB3}" type="datetimeFigureOut">
              <a:rPr lang="en-IN" smtClean="0"/>
              <a:t>06-07-2026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AF43A97-402A-4B79-8D76-6B31506A449A}" type="slidenum">
              <a:rPr lang="en-IN" smtClean="0"/>
              <a:t>‹#›</a:t>
            </a:fld>
            <a:endParaRPr lang="en-IN"/>
          </a:p>
        </p:txBody>
      </p:sp>
    </p:spTree>
    <p:extLst>
      <p:ext uri="{BB962C8B-B14F-4D97-AF65-F5344CB8AC3E}">
        <p14:creationId xmlns:p14="http://schemas.microsoft.com/office/powerpoint/2010/main" val="2185083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DABB61-EFB2-4995-A3ED-DB7930B6FEB3}" type="datetimeFigureOut">
              <a:rPr lang="en-IN" smtClean="0"/>
              <a:t>06-07-2026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AF43A97-402A-4B79-8D76-6B31506A449A}" type="slidenum">
              <a:rPr lang="en-IN" smtClean="0"/>
              <a:t>‹#›</a:t>
            </a:fld>
            <a:endParaRPr lang="en-IN"/>
          </a:p>
        </p:txBody>
      </p:sp>
    </p:spTree>
    <p:extLst>
      <p:ext uri="{BB962C8B-B14F-4D97-AF65-F5344CB8AC3E}">
        <p14:creationId xmlns:p14="http://schemas.microsoft.com/office/powerpoint/2010/main" val="791589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DABB61-EFB2-4995-A3ED-DB7930B6FEB3}" type="datetimeFigureOut">
              <a:rPr lang="en-IN" smtClean="0"/>
              <a:t>06-07-2026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F43A97-402A-4B79-8D76-6B31506A449A}" type="slidenum">
              <a:rPr lang="en-IN" smtClean="0"/>
              <a:t>‹#›</a:t>
            </a:fld>
            <a:endParaRPr lang="en-IN"/>
          </a:p>
        </p:txBody>
      </p:sp>
    </p:spTree>
    <p:extLst>
      <p:ext uri="{BB962C8B-B14F-4D97-AF65-F5344CB8AC3E}">
        <p14:creationId xmlns:p14="http://schemas.microsoft.com/office/powerpoint/2010/main" val="3787668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DABB61-EFB2-4995-A3ED-DB7930B6FEB3}" type="datetimeFigureOut">
              <a:rPr lang="en-IN" smtClean="0"/>
              <a:t>06-07-2026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F43A97-402A-4B79-8D76-6B31506A449A}"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358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DABB61-EFB2-4995-A3ED-DB7930B6FEB3}"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F43A97-402A-4B79-8D76-6B31506A449A}" type="slidenum">
              <a:rPr lang="en-IN" smtClean="0"/>
              <a:t>‹#›</a:t>
            </a:fld>
            <a:endParaRPr lang="en-IN"/>
          </a:p>
        </p:txBody>
      </p:sp>
    </p:spTree>
    <p:extLst>
      <p:ext uri="{BB962C8B-B14F-4D97-AF65-F5344CB8AC3E}">
        <p14:creationId xmlns:p14="http://schemas.microsoft.com/office/powerpoint/2010/main" val="905836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DABB61-EFB2-4995-A3ED-DB7930B6FEB3}"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F43A97-402A-4B79-8D76-6B31506A449A}"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53552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E76D0CAE-F0BE-6A4F-B2EB-F89B705ED499}"/>
              </a:ext>
            </a:extLst>
          </p:cNvPr>
          <p:cNvSpPr>
            <a:spLocks noGrp="1" noChangeArrowheads="1"/>
          </p:cNvSpPr>
          <p:nvPr>
            <p:ph type="dt" sz="half" idx="10"/>
          </p:nvPr>
        </p:nvSpPr>
        <p:spPr>
          <a:ln/>
        </p:spPr>
        <p:txBody>
          <a:bodyPr/>
          <a:lstStyle>
            <a:lvl1pPr>
              <a:defRPr/>
            </a:lvl1pPr>
          </a:lstStyle>
          <a:p>
            <a:pPr>
              <a:defRPr/>
            </a:pPr>
            <a:r>
              <a:rPr lang="en-US"/>
              <a:t>Basic Biostat</a:t>
            </a:r>
          </a:p>
        </p:txBody>
      </p:sp>
      <p:sp>
        <p:nvSpPr>
          <p:cNvPr id="7" name="Rectangle 5">
            <a:extLst>
              <a:ext uri="{FF2B5EF4-FFF2-40B4-BE49-F238E27FC236}">
                <a16:creationId xmlns:a16="http://schemas.microsoft.com/office/drawing/2014/main" id="{DA3E052F-6B6C-C84D-B7C9-34325E8B3F41}"/>
              </a:ext>
            </a:extLst>
          </p:cNvPr>
          <p:cNvSpPr>
            <a:spLocks noGrp="1" noChangeArrowheads="1"/>
          </p:cNvSpPr>
          <p:nvPr>
            <p:ph type="ftr" sz="quarter" idx="11"/>
          </p:nvPr>
        </p:nvSpPr>
        <p:spPr>
          <a:ln/>
        </p:spPr>
        <p:txBody>
          <a:bodyPr/>
          <a:lstStyle>
            <a:lvl1pPr>
              <a:defRPr/>
            </a:lvl1pPr>
          </a:lstStyle>
          <a:p>
            <a:pPr>
              <a:defRPr/>
            </a:pPr>
            <a:r>
              <a:rPr lang="en-US"/>
              <a:t>9: Basics of Hypothesis Testing</a:t>
            </a:r>
          </a:p>
        </p:txBody>
      </p:sp>
      <p:sp>
        <p:nvSpPr>
          <p:cNvPr id="8" name="Rectangle 6">
            <a:extLst>
              <a:ext uri="{FF2B5EF4-FFF2-40B4-BE49-F238E27FC236}">
                <a16:creationId xmlns:a16="http://schemas.microsoft.com/office/drawing/2014/main" id="{67E1A73A-07F6-B84A-B2AC-A1632629E171}"/>
              </a:ext>
            </a:extLst>
          </p:cNvPr>
          <p:cNvSpPr>
            <a:spLocks noGrp="1" noChangeArrowheads="1"/>
          </p:cNvSpPr>
          <p:nvPr>
            <p:ph type="sldNum" sz="quarter" idx="12"/>
          </p:nvPr>
        </p:nvSpPr>
        <p:spPr>
          <a:ln/>
        </p:spPr>
        <p:txBody>
          <a:bodyPr/>
          <a:lstStyle>
            <a:lvl1pPr>
              <a:defRPr/>
            </a:lvl1pPr>
          </a:lstStyle>
          <a:p>
            <a:fld id="{FF18B9B6-70FA-1842-AB9D-AEDC57511DF9}" type="slidenum">
              <a:rPr lang="en-US" altLang="en-US"/>
              <a:pPr/>
              <a:t>‹#›</a:t>
            </a:fld>
            <a:endParaRPr lang="en-US" altLang="en-US"/>
          </a:p>
        </p:txBody>
      </p:sp>
    </p:spTree>
    <p:extLst>
      <p:ext uri="{BB962C8B-B14F-4D97-AF65-F5344CB8AC3E}">
        <p14:creationId xmlns:p14="http://schemas.microsoft.com/office/powerpoint/2010/main" val="3610626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1600201"/>
            <a:ext cx="5384800" cy="4525963"/>
          </a:xfrm>
        </p:spPr>
        <p:txBody>
          <a:bodyPr/>
          <a:lstStyle/>
          <a:p>
            <a:pPr lvl="0"/>
            <a:endParaRPr lang="en-US" noProof="0"/>
          </a:p>
        </p:txBody>
      </p:sp>
      <p:sp>
        <p:nvSpPr>
          <p:cNvPr id="5" name="Rectangle 4">
            <a:extLst>
              <a:ext uri="{FF2B5EF4-FFF2-40B4-BE49-F238E27FC236}">
                <a16:creationId xmlns:a16="http://schemas.microsoft.com/office/drawing/2014/main" id="{2BC5252D-4D18-4844-9D4A-61E465644AD0}"/>
              </a:ext>
            </a:extLst>
          </p:cNvPr>
          <p:cNvSpPr>
            <a:spLocks noGrp="1" noChangeArrowheads="1"/>
          </p:cNvSpPr>
          <p:nvPr>
            <p:ph type="dt" sz="half" idx="10"/>
          </p:nvPr>
        </p:nvSpPr>
        <p:spPr>
          <a:ln/>
        </p:spPr>
        <p:txBody>
          <a:bodyPr/>
          <a:lstStyle>
            <a:lvl1pPr>
              <a:defRPr/>
            </a:lvl1pPr>
          </a:lstStyle>
          <a:p>
            <a:pPr>
              <a:defRPr/>
            </a:pPr>
            <a:r>
              <a:rPr lang="en-US"/>
              <a:t>Basic Biostat</a:t>
            </a:r>
          </a:p>
        </p:txBody>
      </p:sp>
      <p:sp>
        <p:nvSpPr>
          <p:cNvPr id="6" name="Rectangle 5">
            <a:extLst>
              <a:ext uri="{FF2B5EF4-FFF2-40B4-BE49-F238E27FC236}">
                <a16:creationId xmlns:a16="http://schemas.microsoft.com/office/drawing/2014/main" id="{92F4C20A-E764-AC4C-80AA-4B200338BD7B}"/>
              </a:ext>
            </a:extLst>
          </p:cNvPr>
          <p:cNvSpPr>
            <a:spLocks noGrp="1" noChangeArrowheads="1"/>
          </p:cNvSpPr>
          <p:nvPr>
            <p:ph type="ftr" sz="quarter" idx="11"/>
          </p:nvPr>
        </p:nvSpPr>
        <p:spPr>
          <a:ln/>
        </p:spPr>
        <p:txBody>
          <a:bodyPr/>
          <a:lstStyle>
            <a:lvl1pPr>
              <a:defRPr/>
            </a:lvl1pPr>
          </a:lstStyle>
          <a:p>
            <a:pPr>
              <a:defRPr/>
            </a:pPr>
            <a:r>
              <a:rPr lang="en-US"/>
              <a:t>9: Basics of Hypothesis Testing</a:t>
            </a:r>
          </a:p>
        </p:txBody>
      </p:sp>
      <p:sp>
        <p:nvSpPr>
          <p:cNvPr id="7" name="Rectangle 6">
            <a:extLst>
              <a:ext uri="{FF2B5EF4-FFF2-40B4-BE49-F238E27FC236}">
                <a16:creationId xmlns:a16="http://schemas.microsoft.com/office/drawing/2014/main" id="{8FD951ED-27AA-FA47-8EDF-516A02E567CC}"/>
              </a:ext>
            </a:extLst>
          </p:cNvPr>
          <p:cNvSpPr>
            <a:spLocks noGrp="1" noChangeArrowheads="1"/>
          </p:cNvSpPr>
          <p:nvPr>
            <p:ph type="sldNum" sz="quarter" idx="12"/>
          </p:nvPr>
        </p:nvSpPr>
        <p:spPr>
          <a:ln/>
        </p:spPr>
        <p:txBody>
          <a:bodyPr/>
          <a:lstStyle>
            <a:lvl1pPr>
              <a:defRPr/>
            </a:lvl1pPr>
          </a:lstStyle>
          <a:p>
            <a:fld id="{8C080F71-46E4-D041-A7A5-9E1CF8DEF8A8}" type="slidenum">
              <a:rPr lang="en-US" altLang="en-US"/>
              <a:pPr/>
              <a:t>‹#›</a:t>
            </a:fld>
            <a:endParaRPr lang="en-US" altLang="en-US"/>
          </a:p>
        </p:txBody>
      </p:sp>
    </p:spTree>
    <p:extLst>
      <p:ext uri="{BB962C8B-B14F-4D97-AF65-F5344CB8AC3E}">
        <p14:creationId xmlns:p14="http://schemas.microsoft.com/office/powerpoint/2010/main" val="25484637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87C5C-F3F2-1D47-B0E5-3F3D36A3B0CF}"/>
              </a:ext>
            </a:extLst>
          </p:cNvPr>
          <p:cNvSpPr>
            <a:spLocks noGrp="1"/>
          </p:cNvSpPr>
          <p:nvPr>
            <p:ph type="title"/>
          </p:nvPr>
        </p:nvSpPr>
        <p:spPr>
          <a:xfrm>
            <a:off x="609600" y="274638"/>
            <a:ext cx="10972800" cy="1143000"/>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6E691BF-314D-4E48-83D0-4CA13E73C637}"/>
              </a:ext>
            </a:extLst>
          </p:cNvPr>
          <p:cNvSpPr>
            <a:spLocks noGrp="1"/>
          </p:cNvSpPr>
          <p:nvPr>
            <p:ph type="body" sz="half" idx="1"/>
          </p:nvPr>
        </p:nvSpPr>
        <p:spPr>
          <a:xfrm>
            <a:off x="609600" y="1600201"/>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0815BD9-49C4-404A-A875-AE061D21A794}"/>
              </a:ext>
            </a:extLst>
          </p:cNvPr>
          <p:cNvSpPr>
            <a:spLocks noGrp="1"/>
          </p:cNvSpPr>
          <p:nvPr>
            <p:ph sz="half" idx="2"/>
          </p:nvPr>
        </p:nvSpPr>
        <p:spPr>
          <a:xfrm>
            <a:off x="6197600" y="1600201"/>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56FE1FA-BE79-8143-8888-7F3078253E63}"/>
              </a:ext>
            </a:extLst>
          </p:cNvPr>
          <p:cNvSpPr>
            <a:spLocks noGrp="1"/>
          </p:cNvSpPr>
          <p:nvPr>
            <p:ph type="dt" sz="half" idx="10"/>
          </p:nvPr>
        </p:nvSpPr>
        <p:spPr>
          <a:xfrm>
            <a:off x="609600" y="6245225"/>
            <a:ext cx="2844800" cy="476250"/>
          </a:xfrm>
        </p:spPr>
        <p:txBody>
          <a:bodyPr/>
          <a:lstStyle>
            <a:lvl1pPr>
              <a:defRPr/>
            </a:lvl1pPr>
          </a:lstStyle>
          <a:p>
            <a:r>
              <a:rPr lang="en-US" altLang="en-US"/>
              <a:t>Basic Biostat</a:t>
            </a:r>
          </a:p>
        </p:txBody>
      </p:sp>
      <p:sp>
        <p:nvSpPr>
          <p:cNvPr id="6" name="Footer Placeholder 5">
            <a:extLst>
              <a:ext uri="{FF2B5EF4-FFF2-40B4-BE49-F238E27FC236}">
                <a16:creationId xmlns:a16="http://schemas.microsoft.com/office/drawing/2014/main" id="{DE21D049-594A-114A-B7A8-66DEF38CE027}"/>
              </a:ext>
            </a:extLst>
          </p:cNvPr>
          <p:cNvSpPr>
            <a:spLocks noGrp="1"/>
          </p:cNvSpPr>
          <p:nvPr>
            <p:ph type="ftr" sz="quarter" idx="11"/>
          </p:nvPr>
        </p:nvSpPr>
        <p:spPr>
          <a:xfrm>
            <a:off x="4165600" y="6245225"/>
            <a:ext cx="3860800" cy="476250"/>
          </a:xfrm>
        </p:spPr>
        <p:txBody>
          <a:bodyPr/>
          <a:lstStyle>
            <a:lvl1pPr>
              <a:defRPr/>
            </a:lvl1pPr>
          </a:lstStyle>
          <a:p>
            <a:r>
              <a:rPr lang="en-US" altLang="en-US"/>
              <a:t>8: Intro to Statistical Inference</a:t>
            </a:r>
          </a:p>
        </p:txBody>
      </p:sp>
      <p:sp>
        <p:nvSpPr>
          <p:cNvPr id="7" name="Slide Number Placeholder 6">
            <a:extLst>
              <a:ext uri="{FF2B5EF4-FFF2-40B4-BE49-F238E27FC236}">
                <a16:creationId xmlns:a16="http://schemas.microsoft.com/office/drawing/2014/main" id="{F8699DD8-6EE6-2544-A35C-916063278D1E}"/>
              </a:ext>
            </a:extLst>
          </p:cNvPr>
          <p:cNvSpPr>
            <a:spLocks noGrp="1"/>
          </p:cNvSpPr>
          <p:nvPr>
            <p:ph type="sldNum" sz="quarter" idx="12"/>
          </p:nvPr>
        </p:nvSpPr>
        <p:spPr>
          <a:xfrm>
            <a:off x="8737600" y="6245225"/>
            <a:ext cx="2844800" cy="476250"/>
          </a:xfrm>
        </p:spPr>
        <p:txBody>
          <a:bodyPr/>
          <a:lstStyle>
            <a:lvl1pPr>
              <a:defRPr/>
            </a:lvl1pPr>
          </a:lstStyle>
          <a:p>
            <a:fld id="{811A615E-2E6A-2848-952F-D3B4E9D96BC0}" type="slidenum">
              <a:rPr lang="en-US" altLang="en-US"/>
              <a:pPr/>
              <a:t>‹#›</a:t>
            </a:fld>
            <a:endParaRPr lang="en-US" altLang="en-US"/>
          </a:p>
        </p:txBody>
      </p:sp>
    </p:spTree>
    <p:extLst>
      <p:ext uri="{BB962C8B-B14F-4D97-AF65-F5344CB8AC3E}">
        <p14:creationId xmlns:p14="http://schemas.microsoft.com/office/powerpoint/2010/main" val="2496249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1DABB61-EFB2-4995-A3ED-DB7930B6FEB3}" type="datetimeFigureOut">
              <a:rPr lang="en-IN" smtClean="0"/>
              <a:t>06-07-2026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AF43A97-402A-4B79-8D76-6B31506A449A}"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373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4" r:id="rId13"/>
    <p:sldLayoutId id="2147483675" r:id="rId14"/>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14.xml"/><Relationship Id="rId5" Type="http://schemas.openxmlformats.org/officeDocument/2006/relationships/image" Target="../media/image4.png"/><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7.xml"/><Relationship Id="rId1" Type="http://schemas.openxmlformats.org/officeDocument/2006/relationships/video" Target="https://www.youtube.com/embed/tFRXsngz4UQ?list=PLm9FYjKtq7Pzjh7e727hSr8VvSR9OvqsZ" TargetMode="External"/><Relationship Id="rId4" Type="http://schemas.openxmlformats.org/officeDocument/2006/relationships/hyperlink" Target="https://www.youtube.com/watch?v=tFRXsngz4UQ&amp;list=PLm9FYjKtq7Pzjh7e727hSr8VvSR9OvqsZ"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6.xml"/><Relationship Id="rId1" Type="http://schemas.openxmlformats.org/officeDocument/2006/relationships/video" Target="https://www.youtube.com/embed/eyknGvncKLw?list=PLm9FYjKtq7Pzjh7e727hSr8VvSR9OvqsZ"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7.xml"/><Relationship Id="rId1" Type="http://schemas.openxmlformats.org/officeDocument/2006/relationships/video" Target="https://www.youtube.com/embed/0zZYBALbZgg?list=PLm9FYjKtq7Pzjh7e727hSr8VvSR9OvqsZ"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7.xml"/><Relationship Id="rId1" Type="http://schemas.openxmlformats.org/officeDocument/2006/relationships/video" Target="https://www.youtube.com/embed/DlwOTOydeyk?feature=oembed"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emf"/></Relationships>
</file>

<file path=ppt/slides/_rels/slide1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7.bin"/><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emf"/><Relationship Id="rId7" Type="http://schemas.openxmlformats.org/officeDocument/2006/relationships/image" Target="../media/image25.emf"/><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11.bin"/><Relationship Id="rId5" Type="http://schemas.openxmlformats.org/officeDocument/2006/relationships/image" Target="../media/image24.emf"/><Relationship Id="rId4" Type="http://schemas.openxmlformats.org/officeDocument/2006/relationships/oleObject" Target="../embeddings/oleObject10.bin"/></Relationships>
</file>

<file path=ppt/slides/_rels/slide3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slideLayout" Target="../slideLayouts/slideLayout6.xml"/><Relationship Id="rId1" Type="http://schemas.openxmlformats.org/officeDocument/2006/relationships/video" Target="https://www.youtube.com/embed/zJ8e_wAWUzE?start=191&amp;feature=oembed"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slideLayout" Target="../slideLayouts/slideLayout6.xml"/><Relationship Id="rId1" Type="http://schemas.openxmlformats.org/officeDocument/2006/relationships/video" Target="https://www.youtube.com/embed/-FtlH4svqx4?feature=oembed"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15.bin"/><Relationship Id="rId1" Type="http://schemas.openxmlformats.org/officeDocument/2006/relationships/slideLayout" Target="../slideLayouts/slideLayout14.xml"/><Relationship Id="rId5" Type="http://schemas.openxmlformats.org/officeDocument/2006/relationships/image" Target="../media/image34.emf"/><Relationship Id="rId4" Type="http://schemas.openxmlformats.org/officeDocument/2006/relationships/oleObject" Target="../embeddings/oleObject16.bin"/></Relationships>
</file>

<file path=ppt/slides/_rels/slide45.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17.bin"/><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35.png"/></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slideLayout" Target="../slideLayouts/slideLayout6.xml"/><Relationship Id="rId1" Type="http://schemas.openxmlformats.org/officeDocument/2006/relationships/video" Target="https://www.youtube.com/embed/Uv6nGIgZMVw?start=388&amp;feature=oembed"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42.emf"/><Relationship Id="rId7" Type="http://schemas.openxmlformats.org/officeDocument/2006/relationships/image" Target="../media/image44.emf"/><Relationship Id="rId2" Type="http://schemas.openxmlformats.org/officeDocument/2006/relationships/oleObject" Target="../embeddings/oleObject18.bin"/><Relationship Id="rId1" Type="http://schemas.openxmlformats.org/officeDocument/2006/relationships/slideLayout" Target="../slideLayouts/slideLayout2.xml"/><Relationship Id="rId6" Type="http://schemas.openxmlformats.org/officeDocument/2006/relationships/oleObject" Target="../embeddings/oleObject20.bin"/><Relationship Id="rId5" Type="http://schemas.openxmlformats.org/officeDocument/2006/relationships/image" Target="../media/image43.emf"/><Relationship Id="rId4" Type="http://schemas.openxmlformats.org/officeDocument/2006/relationships/oleObject" Target="../embeddings/oleObject19.bin"/><Relationship Id="rId9" Type="http://schemas.openxmlformats.org/officeDocument/2006/relationships/image" Target="../media/image45.emf"/></Relationships>
</file>

<file path=ppt/slides/_rels/slide53.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oleObject" Target="../embeddings/oleObject22.bin"/><Relationship Id="rId1" Type="http://schemas.openxmlformats.org/officeDocument/2006/relationships/slideLayout" Target="../slideLayouts/slideLayout4.xml"/><Relationship Id="rId6" Type="http://schemas.openxmlformats.org/officeDocument/2006/relationships/image" Target="../media/image48.jpeg"/><Relationship Id="rId5" Type="http://schemas.openxmlformats.org/officeDocument/2006/relationships/image" Target="../media/image47.emf"/><Relationship Id="rId4" Type="http://schemas.openxmlformats.org/officeDocument/2006/relationships/oleObject" Target="../embeddings/oleObject23.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image" Target="../media/image49.emf"/><Relationship Id="rId7" Type="http://schemas.openxmlformats.org/officeDocument/2006/relationships/image" Target="../media/image51.emf"/><Relationship Id="rId2" Type="http://schemas.openxmlformats.org/officeDocument/2006/relationships/oleObject" Target="../embeddings/oleObject24.bin"/><Relationship Id="rId1" Type="http://schemas.openxmlformats.org/officeDocument/2006/relationships/slideLayout" Target="../slideLayouts/slideLayout2.xml"/><Relationship Id="rId6" Type="http://schemas.openxmlformats.org/officeDocument/2006/relationships/oleObject" Target="../embeddings/oleObject26.bin"/><Relationship Id="rId5" Type="http://schemas.openxmlformats.org/officeDocument/2006/relationships/image" Target="../media/image50.emf"/><Relationship Id="rId4" Type="http://schemas.openxmlformats.org/officeDocument/2006/relationships/oleObject" Target="../embeddings/oleObject25.bin"/><Relationship Id="rId9" Type="http://schemas.openxmlformats.org/officeDocument/2006/relationships/image" Target="../media/image52.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57.emf"/><Relationship Id="rId5" Type="http://schemas.openxmlformats.org/officeDocument/2006/relationships/oleObject" Target="../embeddings/oleObject29.bin"/><Relationship Id="rId4" Type="http://schemas.openxmlformats.org/officeDocument/2006/relationships/image" Target="../media/image56.emf"/></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63.emf"/><Relationship Id="rId3" Type="http://schemas.openxmlformats.org/officeDocument/2006/relationships/image" Target="../media/image58.emf"/><Relationship Id="rId7" Type="http://schemas.openxmlformats.org/officeDocument/2006/relationships/image" Target="../media/image60.emf"/><Relationship Id="rId12" Type="http://schemas.openxmlformats.org/officeDocument/2006/relationships/oleObject" Target="../embeddings/oleObject35.bin"/><Relationship Id="rId2" Type="http://schemas.openxmlformats.org/officeDocument/2006/relationships/oleObject" Target="../embeddings/oleObject30.bin"/><Relationship Id="rId1" Type="http://schemas.openxmlformats.org/officeDocument/2006/relationships/slideLayout" Target="../slideLayouts/slideLayout2.xml"/><Relationship Id="rId6" Type="http://schemas.openxmlformats.org/officeDocument/2006/relationships/oleObject" Target="../embeddings/oleObject32.bin"/><Relationship Id="rId11" Type="http://schemas.openxmlformats.org/officeDocument/2006/relationships/image" Target="../media/image62.emf"/><Relationship Id="rId5" Type="http://schemas.openxmlformats.org/officeDocument/2006/relationships/image" Target="../media/image59.emf"/><Relationship Id="rId15" Type="http://schemas.openxmlformats.org/officeDocument/2006/relationships/image" Target="../media/image64.emf"/><Relationship Id="rId10" Type="http://schemas.openxmlformats.org/officeDocument/2006/relationships/oleObject" Target="../embeddings/oleObject34.bin"/><Relationship Id="rId4" Type="http://schemas.openxmlformats.org/officeDocument/2006/relationships/oleObject" Target="../embeddings/oleObject31.bin"/><Relationship Id="rId9" Type="http://schemas.openxmlformats.org/officeDocument/2006/relationships/image" Target="../media/image61.emf"/><Relationship Id="rId14" Type="http://schemas.openxmlformats.org/officeDocument/2006/relationships/oleObject" Target="../embeddings/oleObject36.bin"/></Relationships>
</file>

<file path=ppt/slides/_rels/slide6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6.xml"/><Relationship Id="rId4" Type="http://schemas.openxmlformats.org/officeDocument/2006/relationships/image" Target="../media/image440.png"/></Relationships>
</file>

<file path=ppt/slides/_rels/slide61.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6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9B0-43DD-35BD-EB8A-B372A00F78F9}"/>
              </a:ext>
            </a:extLst>
          </p:cNvPr>
          <p:cNvSpPr>
            <a:spLocks noGrp="1"/>
          </p:cNvSpPr>
          <p:nvPr>
            <p:ph type="ctrTitle"/>
          </p:nvPr>
        </p:nvSpPr>
        <p:spPr>
          <a:xfrm>
            <a:off x="1845790" y="1793137"/>
            <a:ext cx="7650617" cy="2278485"/>
          </a:xfrm>
        </p:spPr>
        <p:txBody>
          <a:bodyPr>
            <a:normAutofit/>
          </a:bodyPr>
          <a:lstStyle/>
          <a:p>
            <a:r>
              <a:rPr lang="en-IN" dirty="0">
                <a:highlight>
                  <a:srgbClr val="FFFF00"/>
                </a:highlight>
              </a:rPr>
              <a:t>STAT 221-FUNdamentals of STATISTICAL DATA ANALYSIS</a:t>
            </a:r>
            <a:br>
              <a:rPr lang="en-IN" dirty="0">
                <a:highlight>
                  <a:srgbClr val="FFFF00"/>
                </a:highlight>
              </a:rPr>
            </a:br>
            <a:endParaRPr lang="en-IN" sz="1800" dirty="0">
              <a:highlight>
                <a:srgbClr val="FFFF00"/>
              </a:highlight>
            </a:endParaRPr>
          </a:p>
        </p:txBody>
      </p:sp>
      <p:sp>
        <p:nvSpPr>
          <p:cNvPr id="3" name="Subtitle 2">
            <a:extLst>
              <a:ext uri="{FF2B5EF4-FFF2-40B4-BE49-F238E27FC236}">
                <a16:creationId xmlns:a16="http://schemas.microsoft.com/office/drawing/2014/main" id="{00ACD515-2431-B084-4B1B-3B5938342A14}"/>
              </a:ext>
            </a:extLst>
          </p:cNvPr>
          <p:cNvSpPr>
            <a:spLocks noGrp="1"/>
          </p:cNvSpPr>
          <p:nvPr>
            <p:ph type="subTitle" idx="1"/>
          </p:nvPr>
        </p:nvSpPr>
        <p:spPr>
          <a:xfrm>
            <a:off x="1303787" y="5064745"/>
            <a:ext cx="7099678" cy="1320802"/>
          </a:xfrm>
        </p:spPr>
        <p:txBody>
          <a:bodyPr>
            <a:noAutofit/>
          </a:bodyPr>
          <a:lstStyle/>
          <a:p>
            <a:pPr algn="ctr"/>
            <a:r>
              <a:rPr lang="en-IN" sz="2400" dirty="0">
                <a:solidFill>
                  <a:srgbClr val="FF0000"/>
                </a:solidFill>
              </a:rPr>
              <a:t>Week-13: Hypothesis Testing</a:t>
            </a:r>
          </a:p>
        </p:txBody>
      </p:sp>
      <p:sp>
        <p:nvSpPr>
          <p:cNvPr id="5" name="TextBox 4">
            <a:extLst>
              <a:ext uri="{FF2B5EF4-FFF2-40B4-BE49-F238E27FC236}">
                <a16:creationId xmlns:a16="http://schemas.microsoft.com/office/drawing/2014/main" id="{091CC985-F26E-10E0-3AB3-D1293D9322C3}"/>
              </a:ext>
            </a:extLst>
          </p:cNvPr>
          <p:cNvSpPr txBox="1"/>
          <p:nvPr/>
        </p:nvSpPr>
        <p:spPr>
          <a:xfrm>
            <a:off x="8403465" y="5540480"/>
            <a:ext cx="3256161" cy="369332"/>
          </a:xfrm>
          <a:prstGeom prst="rect">
            <a:avLst/>
          </a:prstGeom>
          <a:noFill/>
        </p:spPr>
        <p:txBody>
          <a:bodyPr wrap="square">
            <a:spAutoFit/>
          </a:bodyPr>
          <a:lstStyle/>
          <a:p>
            <a:pPr algn="ctr"/>
            <a:r>
              <a:rPr lang="en-IN" sz="1800" b="1" dirty="0">
                <a:solidFill>
                  <a:srgbClr val="0070C0"/>
                </a:solidFill>
              </a:rPr>
              <a:t>Shivakumar Jolad</a:t>
            </a:r>
          </a:p>
        </p:txBody>
      </p:sp>
    </p:spTree>
    <p:extLst>
      <p:ext uri="{BB962C8B-B14F-4D97-AF65-F5344CB8AC3E}">
        <p14:creationId xmlns:p14="http://schemas.microsoft.com/office/powerpoint/2010/main" val="3045451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76E309-48FA-2FBA-0B01-EE3BF281320B}"/>
              </a:ext>
            </a:extLst>
          </p:cNvPr>
          <p:cNvSpPr>
            <a:spLocks noGrp="1"/>
          </p:cNvSpPr>
          <p:nvPr>
            <p:ph type="title"/>
          </p:nvPr>
        </p:nvSpPr>
        <p:spPr/>
        <p:txBody>
          <a:bodyPr/>
          <a:lstStyle/>
          <a:p>
            <a:r>
              <a:rPr lang="en-IN" dirty="0"/>
              <a:t>Hypothesis testing</a:t>
            </a:r>
          </a:p>
        </p:txBody>
      </p:sp>
      <p:sp>
        <p:nvSpPr>
          <p:cNvPr id="4" name="Text Placeholder 3">
            <a:extLst>
              <a:ext uri="{FF2B5EF4-FFF2-40B4-BE49-F238E27FC236}">
                <a16:creationId xmlns:a16="http://schemas.microsoft.com/office/drawing/2014/main" id="{423107BD-A2DA-DF24-B100-B7D194F74C68}"/>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511587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2B0AA78-D96F-684A-8090-241F7C3B36EF}"/>
              </a:ext>
            </a:extLst>
          </p:cNvPr>
          <p:cNvSpPr>
            <a:spLocks noGrp="1" noChangeArrowheads="1"/>
          </p:cNvSpPr>
          <p:nvPr>
            <p:ph type="title"/>
          </p:nvPr>
        </p:nvSpPr>
        <p:spPr/>
        <p:txBody>
          <a:bodyPr/>
          <a:lstStyle/>
          <a:p>
            <a:pPr eaLnBrk="1" hangingPunct="1"/>
            <a:r>
              <a:rPr lang="en-US" altLang="en-US" sz="4000"/>
              <a:t>Distinctions Between Parameters and Statistics (Chapter 8 review)</a:t>
            </a:r>
          </a:p>
        </p:txBody>
      </p:sp>
      <p:graphicFrame>
        <p:nvGraphicFramePr>
          <p:cNvPr id="144443" name="Group 59">
            <a:extLst>
              <a:ext uri="{FF2B5EF4-FFF2-40B4-BE49-F238E27FC236}">
                <a16:creationId xmlns:a16="http://schemas.microsoft.com/office/drawing/2014/main" id="{66444E4E-41E5-3F4F-8199-0BD0212C5940}"/>
              </a:ext>
            </a:extLst>
          </p:cNvPr>
          <p:cNvGraphicFramePr>
            <a:graphicFrameLocks noGrp="1"/>
          </p:cNvGraphicFramePr>
          <p:nvPr>
            <p:ph sz="half" idx="1"/>
          </p:nvPr>
        </p:nvGraphicFramePr>
        <p:xfrm>
          <a:off x="2076450" y="2184400"/>
          <a:ext cx="8274050" cy="3657602"/>
        </p:xfrm>
        <a:graphic>
          <a:graphicData uri="http://schemas.openxmlformats.org/drawingml/2006/table">
            <a:tbl>
              <a:tblPr/>
              <a:tblGrid>
                <a:gridCol w="2465388">
                  <a:extLst>
                    <a:ext uri="{9D8B030D-6E8A-4147-A177-3AD203B41FA5}">
                      <a16:colId xmlns:a16="http://schemas.microsoft.com/office/drawing/2014/main" val="20000"/>
                    </a:ext>
                  </a:extLst>
                </a:gridCol>
                <a:gridCol w="2641600">
                  <a:extLst>
                    <a:ext uri="{9D8B030D-6E8A-4147-A177-3AD203B41FA5}">
                      <a16:colId xmlns:a16="http://schemas.microsoft.com/office/drawing/2014/main" val="20001"/>
                    </a:ext>
                  </a:extLst>
                </a:gridCol>
                <a:gridCol w="3167062">
                  <a:extLst>
                    <a:ext uri="{9D8B030D-6E8A-4147-A177-3AD203B41FA5}">
                      <a16:colId xmlns:a16="http://schemas.microsoft.com/office/drawing/2014/main" val="20002"/>
                    </a:ext>
                  </a:extLst>
                </a:gridCol>
              </a:tblGrid>
              <a:tr h="7318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Parameters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Statistics </a:t>
                      </a: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318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Source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Population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Sample</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730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Notation</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Greek (e.g., </a:t>
                      </a:r>
                      <a:r>
                        <a:rPr kumimoji="0" lang="el-GR" sz="2800" b="0" i="0" u="none" strike="noStrike" cap="none" normalizeH="0" baseline="0">
                          <a:ln>
                            <a:noFill/>
                          </a:ln>
                          <a:solidFill>
                            <a:schemeClr val="tx1"/>
                          </a:solidFill>
                          <a:effectLst/>
                          <a:latin typeface="Arial" charset="0"/>
                          <a:cs typeface="Arial" charset="0"/>
                        </a:rPr>
                        <a:t>μ</a:t>
                      </a:r>
                      <a:r>
                        <a:rPr kumimoji="0" lang="en-US" sz="28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Roman (e.g., </a:t>
                      </a:r>
                      <a:r>
                        <a:rPr kumimoji="0" lang="en-US" sz="2800" b="0" i="1" u="none" strike="noStrike" cap="none" normalizeH="0" baseline="0">
                          <a:ln>
                            <a:noFill/>
                          </a:ln>
                          <a:solidFill>
                            <a:schemeClr val="tx1"/>
                          </a:solidFill>
                          <a:effectLst/>
                          <a:latin typeface="Arial" charset="0"/>
                        </a:rPr>
                        <a:t>xbar</a:t>
                      </a:r>
                      <a:r>
                        <a:rPr kumimoji="0" lang="en-US" sz="28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7318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Vary</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Yes</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7318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Calculated</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Yes</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64238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4">
            <a:extLst>
              <a:ext uri="{FF2B5EF4-FFF2-40B4-BE49-F238E27FC236}">
                <a16:creationId xmlns:a16="http://schemas.microsoft.com/office/drawing/2014/main" id="{60D0446E-8BF6-FF45-A377-5E31A75D09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7294"/>
          <a:stretch>
            <a:fillRect/>
          </a:stretch>
        </p:blipFill>
        <p:spPr bwMode="auto">
          <a:xfrm>
            <a:off x="2043114" y="349250"/>
            <a:ext cx="8059737" cy="59690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7859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D0FF38-A5DB-3B4D-83A4-E696C007AA8A}"/>
              </a:ext>
            </a:extLst>
          </p:cNvPr>
          <p:cNvSpPr>
            <a:spLocks noGrp="1" noChangeArrowheads="1"/>
          </p:cNvSpPr>
          <p:nvPr>
            <p:ph type="title"/>
          </p:nvPr>
        </p:nvSpPr>
        <p:spPr>
          <a:xfrm>
            <a:off x="1444625" y="362199"/>
            <a:ext cx="8688388" cy="968375"/>
          </a:xfrm>
        </p:spPr>
        <p:txBody>
          <a:bodyPr>
            <a:normAutofit fontScale="90000"/>
          </a:bodyPr>
          <a:lstStyle/>
          <a:p>
            <a:pPr eaLnBrk="1" hangingPunct="1"/>
            <a:r>
              <a:rPr lang="en-US" altLang="en-US" sz="4400" dirty="0"/>
              <a:t>Sampling Distributions of a Mean (last Class)</a:t>
            </a:r>
          </a:p>
        </p:txBody>
      </p:sp>
      <p:graphicFrame>
        <p:nvGraphicFramePr>
          <p:cNvPr id="2050" name="Object 5">
            <a:extLst>
              <a:ext uri="{FF2B5EF4-FFF2-40B4-BE49-F238E27FC236}">
                <a16:creationId xmlns:a16="http://schemas.microsoft.com/office/drawing/2014/main" id="{5E57B655-CDD8-0E4D-8D4F-E9BA2567ACC6}"/>
              </a:ext>
            </a:extLst>
          </p:cNvPr>
          <p:cNvGraphicFramePr>
            <a:graphicFrameLocks noGrp="1" noChangeAspect="1"/>
          </p:cNvGraphicFramePr>
          <p:nvPr>
            <p:ph sz="half" idx="2"/>
            <p:extLst>
              <p:ext uri="{D42A27DB-BD31-4B8C-83A1-F6EECF244321}">
                <p14:modId xmlns:p14="http://schemas.microsoft.com/office/powerpoint/2010/main" val="4027441603"/>
              </p:ext>
            </p:extLst>
          </p:nvPr>
        </p:nvGraphicFramePr>
        <p:xfrm>
          <a:off x="2458720" y="3536316"/>
          <a:ext cx="2707640" cy="1692848"/>
        </p:xfrm>
        <a:graphic>
          <a:graphicData uri="http://schemas.openxmlformats.org/presentationml/2006/ole">
            <mc:AlternateContent xmlns:mc="http://schemas.openxmlformats.org/markup-compatibility/2006">
              <mc:Choice xmlns:v="urn:schemas-microsoft-com:vml" Requires="v">
                <p:oleObj name="Equation" r:id="rId3" imgW="21069300" imgH="13169900" progId="Equation.3">
                  <p:embed/>
                </p:oleObj>
              </mc:Choice>
              <mc:Fallback>
                <p:oleObj name="Equation" r:id="rId3" imgW="21069300" imgH="13169900" progId="Equation.3">
                  <p:embed/>
                  <p:pic>
                    <p:nvPicPr>
                      <p:cNvPr id="2050" name="Object 5">
                        <a:extLst>
                          <a:ext uri="{FF2B5EF4-FFF2-40B4-BE49-F238E27FC236}">
                            <a16:creationId xmlns:a16="http://schemas.microsoft.com/office/drawing/2014/main" id="{5E57B655-CDD8-0E4D-8D4F-E9BA2567AC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8720" y="3536316"/>
                        <a:ext cx="2707640" cy="1692848"/>
                      </a:xfrm>
                      <a:prstGeom prst="rect">
                        <a:avLst/>
                      </a:prstGeom>
                      <a:noFill/>
                      <a:ln>
                        <a:noFill/>
                      </a:ln>
                      <a:effectLst/>
                    </p:spPr>
                  </p:pic>
                </p:oleObj>
              </mc:Fallback>
            </mc:AlternateContent>
          </a:graphicData>
        </a:graphic>
      </p:graphicFrame>
      <p:sp>
        <p:nvSpPr>
          <p:cNvPr id="2053" name="Text Box 3">
            <a:extLst>
              <a:ext uri="{FF2B5EF4-FFF2-40B4-BE49-F238E27FC236}">
                <a16:creationId xmlns:a16="http://schemas.microsoft.com/office/drawing/2014/main" id="{56EC0BD0-C1D7-CD4E-9A18-06B37C6F0BB2}"/>
              </a:ext>
            </a:extLst>
          </p:cNvPr>
          <p:cNvSpPr txBox="1">
            <a:spLocks noChangeArrowheads="1"/>
          </p:cNvSpPr>
          <p:nvPr/>
        </p:nvSpPr>
        <p:spPr bwMode="auto">
          <a:xfrm>
            <a:off x="1590993" y="1942018"/>
            <a:ext cx="8153400" cy="707886"/>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dirty="0">
                <a:latin typeface="Tahoma" panose="020B0604030504040204" pitchFamily="34" charset="0"/>
              </a:rPr>
              <a:t>The </a:t>
            </a:r>
            <a:r>
              <a:rPr lang="en-US" altLang="en-US" sz="2000" b="1" dirty="0">
                <a:latin typeface="Tahoma" panose="020B0604030504040204" pitchFamily="34" charset="0"/>
              </a:rPr>
              <a:t>sampling distributions of a mean (SDM)  </a:t>
            </a:r>
            <a:r>
              <a:rPr lang="en-US" altLang="en-US" sz="2000" dirty="0">
                <a:latin typeface="Tahoma" panose="020B0604030504040204" pitchFamily="34" charset="0"/>
              </a:rPr>
              <a:t>describes the behavior of a sampling mean</a:t>
            </a:r>
            <a:endParaRPr lang="en-US" altLang="en-US" sz="2000" i="1" dirty="0">
              <a:latin typeface="Tahoma" panose="020B0604030504040204" pitchFamily="34" charset="0"/>
              <a:cs typeface="Tahoma" panose="020B0604030504040204" pitchFamily="34" charset="0"/>
            </a:endParaRPr>
          </a:p>
        </p:txBody>
      </p:sp>
      <p:pic>
        <p:nvPicPr>
          <p:cNvPr id="2054" name="Picture 4">
            <a:extLst>
              <a:ext uri="{FF2B5EF4-FFF2-40B4-BE49-F238E27FC236}">
                <a16:creationId xmlns:a16="http://schemas.microsoft.com/office/drawing/2014/main" id="{54E59000-C257-4B47-8009-8E56F998B7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61064" y="2797176"/>
            <a:ext cx="4498975" cy="351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Rectangle 6">
            <a:extLst>
              <a:ext uri="{FF2B5EF4-FFF2-40B4-BE49-F238E27FC236}">
                <a16:creationId xmlns:a16="http://schemas.microsoft.com/office/drawing/2014/main" id="{D849DBCC-6725-D44D-8AF1-EF0E3780E67B}"/>
              </a:ext>
            </a:extLst>
          </p:cNvPr>
          <p:cNvSpPr>
            <a:spLocks noChangeArrowheads="1"/>
          </p:cNvSpPr>
          <p:nvPr/>
        </p:nvSpPr>
        <p:spPr bwMode="auto">
          <a:xfrm>
            <a:off x="7513639" y="6061075"/>
            <a:ext cx="1685925" cy="2619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 name="TextBox 2">
            <a:extLst>
              <a:ext uri="{FF2B5EF4-FFF2-40B4-BE49-F238E27FC236}">
                <a16:creationId xmlns:a16="http://schemas.microsoft.com/office/drawing/2014/main" id="{03B34462-B347-EF9E-810B-77A2A7C7E757}"/>
              </a:ext>
            </a:extLst>
          </p:cNvPr>
          <p:cNvSpPr txBox="1"/>
          <p:nvPr/>
        </p:nvSpPr>
        <p:spPr>
          <a:xfrm>
            <a:off x="853440" y="5730379"/>
            <a:ext cx="6096000" cy="923330"/>
          </a:xfrm>
          <a:prstGeom prst="rect">
            <a:avLst/>
          </a:prstGeom>
          <a:noFill/>
        </p:spPr>
        <p:txBody>
          <a:bodyPr wrap="square">
            <a:spAutoFit/>
          </a:bodyPr>
          <a:lstStyle/>
          <a:p>
            <a:r>
              <a:rPr lang="en-US" altLang="en-US" dirty="0">
                <a:latin typeface="Arial" panose="020B0604020202020204" pitchFamily="34" charset="0"/>
              </a:rPr>
              <a:t>Three important sampling postulates: the central limit theorem, the law of large numbers (unbiased nature of the sample mean), and square root law. </a:t>
            </a:r>
            <a:endParaRPr lang="en-IN" dirty="0"/>
          </a:p>
        </p:txBody>
      </p:sp>
    </p:spTree>
    <p:extLst>
      <p:ext uri="{BB962C8B-B14F-4D97-AF65-F5344CB8AC3E}">
        <p14:creationId xmlns:p14="http://schemas.microsoft.com/office/powerpoint/2010/main" val="3339212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C0091D-B895-63C0-3B0F-626FB78F09E2}"/>
              </a:ext>
            </a:extLst>
          </p:cNvPr>
          <p:cNvSpPr>
            <a:spLocks noGrp="1"/>
          </p:cNvSpPr>
          <p:nvPr>
            <p:ph type="title"/>
          </p:nvPr>
        </p:nvSpPr>
        <p:spPr>
          <a:xfrm>
            <a:off x="1359408" y="2193036"/>
            <a:ext cx="9720072" cy="1499616"/>
          </a:xfrm>
        </p:spPr>
        <p:txBody>
          <a:bodyPr/>
          <a:lstStyle/>
          <a:p>
            <a:r>
              <a:rPr lang="en-IN" dirty="0"/>
              <a:t>Watch the videos</a:t>
            </a:r>
          </a:p>
        </p:txBody>
      </p:sp>
    </p:spTree>
    <p:extLst>
      <p:ext uri="{BB962C8B-B14F-4D97-AF65-F5344CB8AC3E}">
        <p14:creationId xmlns:p14="http://schemas.microsoft.com/office/powerpoint/2010/main" val="3585811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nline Media 2" title="Understanding Statistical Inference - statistics help">
            <a:hlinkClick r:id="" action="ppaction://media"/>
            <a:extLst>
              <a:ext uri="{FF2B5EF4-FFF2-40B4-BE49-F238E27FC236}">
                <a16:creationId xmlns:a16="http://schemas.microsoft.com/office/drawing/2014/main" id="{47A37A43-57C2-9FF8-239C-168786F612DA}"/>
              </a:ext>
            </a:extLst>
          </p:cNvPr>
          <p:cNvPicPr>
            <a:picLocks noRot="1" noChangeAspect="1"/>
          </p:cNvPicPr>
          <p:nvPr>
            <a:videoFile r:link="rId1"/>
          </p:nvPr>
        </p:nvPicPr>
        <p:blipFill>
          <a:blip r:embed="rId3"/>
          <a:stretch>
            <a:fillRect/>
          </a:stretch>
        </p:blipFill>
        <p:spPr>
          <a:xfrm>
            <a:off x="2529840" y="609981"/>
            <a:ext cx="8833131" cy="4990719"/>
          </a:xfrm>
          <a:prstGeom prst="rect">
            <a:avLst/>
          </a:prstGeom>
        </p:spPr>
      </p:pic>
      <p:sp>
        <p:nvSpPr>
          <p:cNvPr id="5" name="TextBox 4">
            <a:extLst>
              <a:ext uri="{FF2B5EF4-FFF2-40B4-BE49-F238E27FC236}">
                <a16:creationId xmlns:a16="http://schemas.microsoft.com/office/drawing/2014/main" id="{BCE1FC72-4BA8-9449-6401-0330161037D3}"/>
              </a:ext>
            </a:extLst>
          </p:cNvPr>
          <p:cNvSpPr txBox="1"/>
          <p:nvPr/>
        </p:nvSpPr>
        <p:spPr>
          <a:xfrm>
            <a:off x="1389888" y="5949618"/>
            <a:ext cx="9720072" cy="646331"/>
          </a:xfrm>
          <a:prstGeom prst="rect">
            <a:avLst/>
          </a:prstGeom>
          <a:noFill/>
        </p:spPr>
        <p:txBody>
          <a:bodyPr wrap="square">
            <a:spAutoFit/>
          </a:bodyPr>
          <a:lstStyle/>
          <a:p>
            <a:r>
              <a:rPr lang="en-IN" dirty="0"/>
              <a:t>Understanding Statistical Inference: 6:30 mins</a:t>
            </a:r>
            <a:endParaRPr lang="en-IN" dirty="0">
              <a:hlinkClick r:id="rId4"/>
            </a:endParaRPr>
          </a:p>
          <a:p>
            <a:r>
              <a:rPr lang="en-IN" dirty="0">
                <a:hlinkClick r:id="rId4"/>
              </a:rPr>
              <a:t>https://www.youtube.com/watch?v=tFRXsngz4UQ&amp;list=PLm9FYjKtq7Pzjh7e727hSr8VvSR9OvqsZ</a:t>
            </a:r>
            <a:endParaRPr lang="en-IN" dirty="0"/>
          </a:p>
        </p:txBody>
      </p:sp>
      <p:sp>
        <p:nvSpPr>
          <p:cNvPr id="6" name="TextBox 5">
            <a:extLst>
              <a:ext uri="{FF2B5EF4-FFF2-40B4-BE49-F238E27FC236}">
                <a16:creationId xmlns:a16="http://schemas.microsoft.com/office/drawing/2014/main" id="{F6F01CA4-0584-2834-20AC-F9487077C3B7}"/>
              </a:ext>
            </a:extLst>
          </p:cNvPr>
          <p:cNvSpPr txBox="1"/>
          <p:nvPr/>
        </p:nvSpPr>
        <p:spPr>
          <a:xfrm>
            <a:off x="182880" y="3142297"/>
            <a:ext cx="3787140" cy="369332"/>
          </a:xfrm>
          <a:prstGeom prst="rect">
            <a:avLst/>
          </a:prstGeom>
          <a:noFill/>
        </p:spPr>
        <p:txBody>
          <a:bodyPr wrap="square" rtlCol="0">
            <a:spAutoFit/>
          </a:bodyPr>
          <a:lstStyle/>
          <a:p>
            <a:r>
              <a:rPr lang="en-IN" b="1" dirty="0"/>
              <a:t>Basics (for your revision)</a:t>
            </a:r>
          </a:p>
        </p:txBody>
      </p:sp>
    </p:spTree>
    <p:extLst>
      <p:ext uri="{BB962C8B-B14F-4D97-AF65-F5344CB8AC3E}">
        <p14:creationId xmlns:p14="http://schemas.microsoft.com/office/powerpoint/2010/main" val="325088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81E5B-74F9-4963-5B13-0DF8084F48BE}"/>
              </a:ext>
            </a:extLst>
          </p:cNvPr>
          <p:cNvSpPr>
            <a:spLocks noGrp="1"/>
          </p:cNvSpPr>
          <p:nvPr>
            <p:ph type="title"/>
          </p:nvPr>
        </p:nvSpPr>
        <p:spPr/>
        <p:txBody>
          <a:bodyPr/>
          <a:lstStyle/>
          <a:p>
            <a:r>
              <a:rPr lang="en-IN" dirty="0"/>
              <a:t>P-value</a:t>
            </a:r>
          </a:p>
        </p:txBody>
      </p:sp>
      <p:sp>
        <p:nvSpPr>
          <p:cNvPr id="4" name="TextBox 3">
            <a:extLst>
              <a:ext uri="{FF2B5EF4-FFF2-40B4-BE49-F238E27FC236}">
                <a16:creationId xmlns:a16="http://schemas.microsoft.com/office/drawing/2014/main" id="{A4B00072-2A92-E694-6EC2-29F5E894AF3B}"/>
              </a:ext>
            </a:extLst>
          </p:cNvPr>
          <p:cNvSpPr txBox="1"/>
          <p:nvPr/>
        </p:nvSpPr>
        <p:spPr>
          <a:xfrm>
            <a:off x="1493520" y="5949618"/>
            <a:ext cx="10515600" cy="646331"/>
          </a:xfrm>
          <a:prstGeom prst="rect">
            <a:avLst/>
          </a:prstGeom>
          <a:noFill/>
        </p:spPr>
        <p:txBody>
          <a:bodyPr wrap="square">
            <a:spAutoFit/>
          </a:bodyPr>
          <a:lstStyle/>
          <a:p>
            <a:r>
              <a:rPr lang="en-IN" dirty="0"/>
              <a:t>Understanding p-value (4:30 mins)</a:t>
            </a:r>
          </a:p>
          <a:p>
            <a:r>
              <a:rPr lang="en-IN" dirty="0"/>
              <a:t>https://www.youtube.com/watch?v=eyknGvncKLw&amp;list=PLm9FYjKtq7Pzjh7e727hSr8VvSR9OvqsZ&amp;index=2</a:t>
            </a:r>
          </a:p>
        </p:txBody>
      </p:sp>
      <p:pic>
        <p:nvPicPr>
          <p:cNvPr id="5" name="Online Media 4" title="P-value in statistics: Understanding the p-value and what it tells us - Statistics Help">
            <a:hlinkClick r:id="" action="ppaction://media"/>
            <a:extLst>
              <a:ext uri="{FF2B5EF4-FFF2-40B4-BE49-F238E27FC236}">
                <a16:creationId xmlns:a16="http://schemas.microsoft.com/office/drawing/2014/main" id="{3F2678F5-ADAD-CD1B-C913-CDB11E586FEA}"/>
              </a:ext>
            </a:extLst>
          </p:cNvPr>
          <p:cNvPicPr>
            <a:picLocks noRot="1" noChangeAspect="1"/>
          </p:cNvPicPr>
          <p:nvPr>
            <a:videoFile r:link="rId1"/>
          </p:nvPr>
        </p:nvPicPr>
        <p:blipFill>
          <a:blip r:embed="rId3"/>
          <a:stretch>
            <a:fillRect/>
          </a:stretch>
        </p:blipFill>
        <p:spPr>
          <a:xfrm>
            <a:off x="3566160" y="502920"/>
            <a:ext cx="7178040" cy="5383530"/>
          </a:xfrm>
          <a:prstGeom prst="rect">
            <a:avLst/>
          </a:prstGeom>
        </p:spPr>
      </p:pic>
    </p:spTree>
    <p:extLst>
      <p:ext uri="{BB962C8B-B14F-4D97-AF65-F5344CB8AC3E}">
        <p14:creationId xmlns:p14="http://schemas.microsoft.com/office/powerpoint/2010/main" val="1617023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nline Media 2" title="Hypothesis testing: step-by-step, p-value, t-test for difference of two means - Statistics Help">
            <a:hlinkClick r:id="" action="ppaction://media"/>
            <a:extLst>
              <a:ext uri="{FF2B5EF4-FFF2-40B4-BE49-F238E27FC236}">
                <a16:creationId xmlns:a16="http://schemas.microsoft.com/office/drawing/2014/main" id="{59EA0441-ABA4-A7B3-688F-EEED81412B4A}"/>
              </a:ext>
            </a:extLst>
          </p:cNvPr>
          <p:cNvPicPr>
            <a:picLocks noRot="1" noChangeAspect="1"/>
          </p:cNvPicPr>
          <p:nvPr>
            <a:videoFile r:link="rId1"/>
          </p:nvPr>
        </p:nvPicPr>
        <p:blipFill>
          <a:blip r:embed="rId3"/>
          <a:stretch>
            <a:fillRect/>
          </a:stretch>
        </p:blipFill>
        <p:spPr>
          <a:xfrm>
            <a:off x="1927860" y="192405"/>
            <a:ext cx="7800340" cy="5850255"/>
          </a:xfrm>
          <a:prstGeom prst="rect">
            <a:avLst/>
          </a:prstGeom>
        </p:spPr>
      </p:pic>
      <p:sp>
        <p:nvSpPr>
          <p:cNvPr id="4" name="TextBox 3">
            <a:extLst>
              <a:ext uri="{FF2B5EF4-FFF2-40B4-BE49-F238E27FC236}">
                <a16:creationId xmlns:a16="http://schemas.microsoft.com/office/drawing/2014/main" id="{3B108FE5-8CF7-7FE3-13E2-6B6D5EC251A6}"/>
              </a:ext>
            </a:extLst>
          </p:cNvPr>
          <p:cNvSpPr txBox="1"/>
          <p:nvPr/>
        </p:nvSpPr>
        <p:spPr>
          <a:xfrm>
            <a:off x="556260" y="6156960"/>
            <a:ext cx="10972800" cy="646331"/>
          </a:xfrm>
          <a:prstGeom prst="rect">
            <a:avLst/>
          </a:prstGeom>
          <a:noFill/>
        </p:spPr>
        <p:txBody>
          <a:bodyPr wrap="square" rtlCol="0">
            <a:spAutoFit/>
          </a:bodyPr>
          <a:lstStyle/>
          <a:p>
            <a:r>
              <a:rPr lang="en-IN" dirty="0"/>
              <a:t>Hypothesis Testing (7:30 mins):  https://www.youtube.com/watch?v=0zZYBALbZgg&amp;list=PLm9FYjKtq7Pzjh7e727hSr8VvSR9OvqsZ&amp;index=3</a:t>
            </a:r>
          </a:p>
        </p:txBody>
      </p:sp>
    </p:spTree>
    <p:extLst>
      <p:ext uri="{BB962C8B-B14F-4D97-AF65-F5344CB8AC3E}">
        <p14:creationId xmlns:p14="http://schemas.microsoft.com/office/powerpoint/2010/main" val="3906709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nline Media 2" title="Hypothesis Testing - Introduction">
            <a:hlinkClick r:id="" action="ppaction://media"/>
            <a:extLst>
              <a:ext uri="{FF2B5EF4-FFF2-40B4-BE49-F238E27FC236}">
                <a16:creationId xmlns:a16="http://schemas.microsoft.com/office/drawing/2014/main" id="{D80D5624-EEC8-4942-6583-E1708C25DE82}"/>
              </a:ext>
            </a:extLst>
          </p:cNvPr>
          <p:cNvPicPr>
            <a:picLocks noRot="1" noChangeAspect="1"/>
          </p:cNvPicPr>
          <p:nvPr>
            <a:videoFile r:link="rId1"/>
          </p:nvPr>
        </p:nvPicPr>
        <p:blipFill>
          <a:blip r:embed="rId3"/>
          <a:stretch>
            <a:fillRect/>
          </a:stretch>
        </p:blipFill>
        <p:spPr>
          <a:xfrm>
            <a:off x="929640" y="510007"/>
            <a:ext cx="8138160" cy="4598060"/>
          </a:xfrm>
          <a:prstGeom prst="rect">
            <a:avLst/>
          </a:prstGeom>
        </p:spPr>
      </p:pic>
      <p:sp>
        <p:nvSpPr>
          <p:cNvPr id="5" name="TextBox 4">
            <a:extLst>
              <a:ext uri="{FF2B5EF4-FFF2-40B4-BE49-F238E27FC236}">
                <a16:creationId xmlns:a16="http://schemas.microsoft.com/office/drawing/2014/main" id="{97CDE76B-B669-0499-3091-6909AF5EBC83}"/>
              </a:ext>
            </a:extLst>
          </p:cNvPr>
          <p:cNvSpPr txBox="1"/>
          <p:nvPr/>
        </p:nvSpPr>
        <p:spPr>
          <a:xfrm>
            <a:off x="1295400" y="5701662"/>
            <a:ext cx="8336280" cy="646331"/>
          </a:xfrm>
          <a:prstGeom prst="rect">
            <a:avLst/>
          </a:prstGeom>
          <a:noFill/>
        </p:spPr>
        <p:txBody>
          <a:bodyPr wrap="square">
            <a:spAutoFit/>
          </a:bodyPr>
          <a:lstStyle/>
          <a:p>
            <a:r>
              <a:rPr lang="en-IN" dirty="0"/>
              <a:t>Hypothesis testing (4 mins): </a:t>
            </a:r>
            <a:br>
              <a:rPr lang="en-IN" dirty="0"/>
            </a:br>
            <a:r>
              <a:rPr lang="en-IN" dirty="0"/>
              <a:t>https://www.youtube.com/watch?v=DlwOTOydeyk</a:t>
            </a:r>
          </a:p>
        </p:txBody>
      </p:sp>
    </p:spTree>
    <p:extLst>
      <p:ext uri="{BB962C8B-B14F-4D97-AF65-F5344CB8AC3E}">
        <p14:creationId xmlns:p14="http://schemas.microsoft.com/office/powerpoint/2010/main" val="908768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1DAAE7CE-CD7F-4344-9A37-C2AF5B716C0F}"/>
              </a:ext>
            </a:extLst>
          </p:cNvPr>
          <p:cNvSpPr>
            <a:spLocks noGrp="1" noChangeArrowheads="1"/>
          </p:cNvSpPr>
          <p:nvPr>
            <p:ph type="title"/>
          </p:nvPr>
        </p:nvSpPr>
        <p:spPr>
          <a:xfrm>
            <a:off x="1176527" y="716124"/>
            <a:ext cx="9720072" cy="977861"/>
          </a:xfrm>
        </p:spPr>
        <p:txBody>
          <a:bodyPr/>
          <a:lstStyle/>
          <a:p>
            <a:pPr eaLnBrk="1" hangingPunct="1"/>
            <a:r>
              <a:rPr lang="en-US" altLang="en-US" sz="4800" dirty="0"/>
              <a:t>Hypothesis Testing</a:t>
            </a:r>
          </a:p>
        </p:txBody>
      </p:sp>
      <p:sp>
        <p:nvSpPr>
          <p:cNvPr id="18435" name="Rectangle 3">
            <a:extLst>
              <a:ext uri="{FF2B5EF4-FFF2-40B4-BE49-F238E27FC236}">
                <a16:creationId xmlns:a16="http://schemas.microsoft.com/office/drawing/2014/main" id="{152E591E-5154-BB4A-BE22-64B1518A7FEF}"/>
              </a:ext>
            </a:extLst>
          </p:cNvPr>
          <p:cNvSpPr>
            <a:spLocks noGrp="1" noChangeArrowheads="1"/>
          </p:cNvSpPr>
          <p:nvPr>
            <p:ph type="body" idx="1"/>
          </p:nvPr>
        </p:nvSpPr>
        <p:spPr>
          <a:xfrm>
            <a:off x="1031747" y="1693985"/>
            <a:ext cx="9431338" cy="4496435"/>
          </a:xfrm>
        </p:spPr>
        <p:txBody>
          <a:bodyPr>
            <a:normAutofit/>
          </a:bodyPr>
          <a:lstStyle/>
          <a:p>
            <a:pPr marL="609600" indent="-609600"/>
            <a:r>
              <a:rPr lang="en-US" altLang="en-US" dirty="0"/>
              <a:t>Is also called </a:t>
            </a:r>
            <a:r>
              <a:rPr lang="en-US" altLang="en-US" b="1" i="1" dirty="0"/>
              <a:t>significance testing</a:t>
            </a:r>
          </a:p>
          <a:p>
            <a:pPr marL="609600" indent="-609600"/>
            <a:r>
              <a:rPr lang="en-US" altLang="en-US" dirty="0"/>
              <a:t>Tests</a:t>
            </a:r>
            <a:r>
              <a:rPr lang="en-US" altLang="en-US" b="1" dirty="0"/>
              <a:t> </a:t>
            </a:r>
            <a:r>
              <a:rPr lang="en-US" altLang="en-US" dirty="0"/>
              <a:t>a claim about a parameter using evidence (data in a sample)</a:t>
            </a:r>
          </a:p>
          <a:p>
            <a:pPr marL="609600" indent="-609600"/>
            <a:r>
              <a:rPr lang="en-US" altLang="en-US" dirty="0"/>
              <a:t>The technique is introduced by considering </a:t>
            </a:r>
            <a:r>
              <a:rPr lang="en-US" altLang="en-US" b="1" dirty="0"/>
              <a:t>a one-sample z test</a:t>
            </a:r>
          </a:p>
          <a:p>
            <a:pPr marL="609600" indent="-609600"/>
            <a:endParaRPr lang="en-US" altLang="en-US" b="1" dirty="0"/>
          </a:p>
          <a:p>
            <a:pPr marL="0" indent="0">
              <a:buNone/>
            </a:pPr>
            <a:r>
              <a:rPr lang="en-US" altLang="en-US" b="1" dirty="0"/>
              <a:t>Procedure:</a:t>
            </a:r>
          </a:p>
          <a:p>
            <a:pPr marL="800100" lvl="1" indent="-342900">
              <a:buFont typeface="Wingdings" panose="05000000000000000000" pitchFamily="2" charset="2"/>
              <a:buChar char="Ø"/>
            </a:pPr>
            <a:r>
              <a:rPr lang="en-US" altLang="en-US" sz="2400" dirty="0"/>
              <a:t>Null and alternative hypotheses</a:t>
            </a:r>
          </a:p>
          <a:p>
            <a:pPr marL="800100" lvl="1" indent="-342900">
              <a:buFont typeface="Wingdings" panose="05000000000000000000" pitchFamily="2" charset="2"/>
              <a:buChar char="Ø"/>
            </a:pPr>
            <a:r>
              <a:rPr lang="en-US" altLang="en-US" sz="2400" dirty="0"/>
              <a:t>Test statistic</a:t>
            </a:r>
          </a:p>
          <a:p>
            <a:pPr marL="800100" lvl="1" indent="-342900">
              <a:buFont typeface="Wingdings" panose="05000000000000000000" pitchFamily="2" charset="2"/>
              <a:buChar char="Ø"/>
            </a:pPr>
            <a:r>
              <a:rPr lang="en-US" altLang="en-US" sz="2400" dirty="0"/>
              <a:t>P-value and interpretation</a:t>
            </a:r>
          </a:p>
          <a:p>
            <a:pPr marL="800100" lvl="1" indent="-342900">
              <a:buFont typeface="Wingdings" panose="05000000000000000000" pitchFamily="2" charset="2"/>
              <a:buChar char="Ø"/>
            </a:pPr>
            <a:r>
              <a:rPr lang="en-US" altLang="en-US" sz="2400" dirty="0"/>
              <a:t>Significance level (optional)</a:t>
            </a:r>
          </a:p>
          <a:p>
            <a:pPr marL="609600" indent="-609600"/>
            <a:r>
              <a:rPr lang="en-US" altLang="en-US" b="1" dirty="0"/>
              <a:t> </a:t>
            </a:r>
          </a:p>
        </p:txBody>
      </p:sp>
    </p:spTree>
    <p:extLst>
      <p:ext uri="{BB962C8B-B14F-4D97-AF65-F5344CB8AC3E}">
        <p14:creationId xmlns:p14="http://schemas.microsoft.com/office/powerpoint/2010/main" val="1407535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C4920834-FBB8-F145-8196-25E54DEEC7E8}"/>
              </a:ext>
            </a:extLst>
          </p:cNvPr>
          <p:cNvSpPr>
            <a:spLocks noGrp="1" noChangeArrowheads="1"/>
          </p:cNvSpPr>
          <p:nvPr>
            <p:ph type="title"/>
          </p:nvPr>
        </p:nvSpPr>
        <p:spPr>
          <a:xfrm>
            <a:off x="1196340" y="853759"/>
            <a:ext cx="9786938" cy="1184275"/>
          </a:xfrm>
        </p:spPr>
        <p:txBody>
          <a:bodyPr>
            <a:normAutofit/>
          </a:bodyPr>
          <a:lstStyle/>
          <a:p>
            <a:pPr eaLnBrk="1" hangingPunct="1"/>
            <a:r>
              <a:rPr lang="en-US" altLang="en-US" dirty="0"/>
              <a:t>Null and Alternative Hypotheses</a:t>
            </a:r>
          </a:p>
        </p:txBody>
      </p:sp>
      <p:sp>
        <p:nvSpPr>
          <p:cNvPr id="20483" name="Rectangle 3">
            <a:extLst>
              <a:ext uri="{FF2B5EF4-FFF2-40B4-BE49-F238E27FC236}">
                <a16:creationId xmlns:a16="http://schemas.microsoft.com/office/drawing/2014/main" id="{F25C3B5E-B80D-5840-9B9E-867F79409A21}"/>
              </a:ext>
            </a:extLst>
          </p:cNvPr>
          <p:cNvSpPr>
            <a:spLocks noGrp="1" noChangeArrowheads="1"/>
          </p:cNvSpPr>
          <p:nvPr>
            <p:ph type="body" idx="1"/>
          </p:nvPr>
        </p:nvSpPr>
        <p:spPr>
          <a:xfrm>
            <a:off x="1196340" y="2870200"/>
            <a:ext cx="10185399" cy="2067560"/>
          </a:xfrm>
        </p:spPr>
        <p:txBody>
          <a:bodyPr/>
          <a:lstStyle/>
          <a:p>
            <a:pPr eaLnBrk="1" hangingPunct="1"/>
            <a:r>
              <a:rPr lang="en-US" altLang="en-US" dirty="0"/>
              <a:t>Convert the research question to null and alternative hypotheses </a:t>
            </a:r>
          </a:p>
          <a:p>
            <a:pPr eaLnBrk="1" hangingPunct="1"/>
            <a:r>
              <a:rPr lang="en-US" altLang="en-US" dirty="0"/>
              <a:t>The </a:t>
            </a:r>
            <a:r>
              <a:rPr lang="en-US" altLang="en-US" b="1" dirty="0"/>
              <a:t>null hypothesis (</a:t>
            </a:r>
            <a:r>
              <a:rPr lang="en-US" altLang="en-US" b="1" i="1" dirty="0"/>
              <a:t>H</a:t>
            </a:r>
            <a:r>
              <a:rPr lang="en-US" altLang="en-US" b="1" baseline="-25000" dirty="0"/>
              <a:t>0</a:t>
            </a:r>
            <a:r>
              <a:rPr lang="en-US" altLang="en-US" b="1" dirty="0"/>
              <a:t>)</a:t>
            </a:r>
            <a:r>
              <a:rPr lang="en-US" altLang="en-US" dirty="0"/>
              <a:t> is a claim of “no difference in the population” </a:t>
            </a:r>
          </a:p>
          <a:p>
            <a:pPr eaLnBrk="1" hangingPunct="1"/>
            <a:r>
              <a:rPr lang="en-US" altLang="en-US" dirty="0"/>
              <a:t>The </a:t>
            </a:r>
            <a:r>
              <a:rPr lang="en-US" altLang="en-US" b="1" dirty="0"/>
              <a:t>alternative hypothesis (</a:t>
            </a:r>
            <a:r>
              <a:rPr lang="en-US" altLang="en-US" b="1" i="1" dirty="0"/>
              <a:t>H</a:t>
            </a:r>
            <a:r>
              <a:rPr lang="en-US" altLang="en-US" b="1" baseline="-25000" dirty="0"/>
              <a:t>a</a:t>
            </a:r>
            <a:r>
              <a:rPr lang="en-US" altLang="en-US" b="1" dirty="0"/>
              <a:t>)</a:t>
            </a:r>
            <a:r>
              <a:rPr lang="en-US" altLang="en-US" dirty="0"/>
              <a:t> claims “</a:t>
            </a:r>
            <a:r>
              <a:rPr lang="en-US" altLang="en-US" i="1" dirty="0"/>
              <a:t>H</a:t>
            </a:r>
            <a:r>
              <a:rPr lang="en-US" altLang="en-US" baseline="-25000" dirty="0"/>
              <a:t>0</a:t>
            </a:r>
            <a:r>
              <a:rPr lang="en-US" altLang="en-US" dirty="0"/>
              <a:t> is false”</a:t>
            </a:r>
          </a:p>
          <a:p>
            <a:pPr eaLnBrk="1" hangingPunct="1"/>
            <a:r>
              <a:rPr lang="en-US" altLang="en-US" dirty="0"/>
              <a:t>Collect data and seek evidence against </a:t>
            </a:r>
            <a:r>
              <a:rPr lang="en-US" altLang="en-US" i="1" dirty="0">
                <a:sym typeface="Symbol" pitchFamily="2" charset="2"/>
              </a:rPr>
              <a:t>H</a:t>
            </a:r>
            <a:r>
              <a:rPr lang="en-US" altLang="en-US" baseline="-25000" dirty="0">
                <a:sym typeface="Symbol" pitchFamily="2" charset="2"/>
              </a:rPr>
              <a:t>0 </a:t>
            </a:r>
            <a:r>
              <a:rPr lang="en-US" altLang="en-US" dirty="0"/>
              <a:t>as a way of bolstering </a:t>
            </a:r>
            <a:r>
              <a:rPr lang="en-US" altLang="en-US" i="1" dirty="0">
                <a:sym typeface="Symbol" pitchFamily="2" charset="2"/>
              </a:rPr>
              <a:t>H</a:t>
            </a:r>
            <a:r>
              <a:rPr lang="en-US" altLang="en-US" baseline="-25000" dirty="0">
                <a:sym typeface="Symbol" pitchFamily="2" charset="2"/>
              </a:rPr>
              <a:t>a </a:t>
            </a:r>
            <a:r>
              <a:rPr lang="en-US" altLang="en-US" dirty="0">
                <a:sym typeface="Symbol" pitchFamily="2" charset="2"/>
              </a:rPr>
              <a:t>(deduction)</a:t>
            </a:r>
          </a:p>
        </p:txBody>
      </p:sp>
    </p:spTree>
    <p:extLst>
      <p:ext uri="{BB962C8B-B14F-4D97-AF65-F5344CB8AC3E}">
        <p14:creationId xmlns:p14="http://schemas.microsoft.com/office/powerpoint/2010/main" val="3131128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85364F2E-9465-A94A-BCC2-3C1420B598BC}"/>
              </a:ext>
            </a:extLst>
          </p:cNvPr>
          <p:cNvSpPr>
            <a:spLocks noGrp="1" noChangeArrowheads="1"/>
          </p:cNvSpPr>
          <p:nvPr>
            <p:ph type="title"/>
          </p:nvPr>
        </p:nvSpPr>
        <p:spPr/>
        <p:txBody>
          <a:bodyPr/>
          <a:lstStyle/>
          <a:p>
            <a:pPr eaLnBrk="1" hangingPunct="1"/>
            <a:r>
              <a:rPr lang="en-US" altLang="en-US" sz="4000" dirty="0"/>
              <a:t>Illustrative Example: “Body Weight”</a:t>
            </a:r>
          </a:p>
        </p:txBody>
      </p:sp>
      <p:sp>
        <p:nvSpPr>
          <p:cNvPr id="141315" name="Rectangle 3">
            <a:extLst>
              <a:ext uri="{FF2B5EF4-FFF2-40B4-BE49-F238E27FC236}">
                <a16:creationId xmlns:a16="http://schemas.microsoft.com/office/drawing/2014/main" id="{EB5FEC4C-F9FC-F045-BFE9-4FDD004ED146}"/>
              </a:ext>
            </a:extLst>
          </p:cNvPr>
          <p:cNvSpPr>
            <a:spLocks noGrp="1" noChangeArrowheads="1"/>
          </p:cNvSpPr>
          <p:nvPr>
            <p:ph type="body" idx="1"/>
          </p:nvPr>
        </p:nvSpPr>
        <p:spPr>
          <a:xfrm>
            <a:off x="839153" y="1456691"/>
            <a:ext cx="10194607" cy="4760913"/>
          </a:xfrm>
        </p:spPr>
        <p:txBody>
          <a:bodyPr>
            <a:normAutofit/>
          </a:bodyPr>
          <a:lstStyle/>
          <a:p>
            <a:pPr eaLnBrk="1" hangingPunct="1">
              <a:lnSpc>
                <a:spcPct val="90000"/>
              </a:lnSpc>
            </a:pPr>
            <a:r>
              <a:rPr lang="en-US" altLang="en-US" sz="2800" b="1" dirty="0"/>
              <a:t>The problem: </a:t>
            </a:r>
            <a:r>
              <a:rPr lang="en-US" altLang="en-US" sz="2800" dirty="0"/>
              <a:t>In the 1970s, 20–29 year old men in the U.S. had a </a:t>
            </a:r>
            <a:r>
              <a:rPr lang="en-US" altLang="en-US" sz="2800" b="1" dirty="0"/>
              <a:t>mean </a:t>
            </a:r>
            <a:r>
              <a:rPr lang="el-GR" altLang="en-US" sz="2800" b="1" dirty="0">
                <a:cs typeface="Arial" panose="020B0604020202020204" pitchFamily="34" charset="0"/>
              </a:rPr>
              <a:t>μ</a:t>
            </a:r>
            <a:r>
              <a:rPr lang="en-US" altLang="en-US" sz="2800" b="1" dirty="0">
                <a:cs typeface="Arial" panose="020B0604020202020204" pitchFamily="34" charset="0"/>
              </a:rPr>
              <a:t> </a:t>
            </a:r>
            <a:r>
              <a:rPr lang="en-US" altLang="en-US" sz="2800" b="1" dirty="0"/>
              <a:t>body weight </a:t>
            </a:r>
            <a:r>
              <a:rPr lang="en-US" altLang="en-US" sz="2800" b="1" dirty="0">
                <a:cs typeface="Arial" panose="020B0604020202020204" pitchFamily="34" charset="0"/>
              </a:rPr>
              <a:t>of 170 pounds</a:t>
            </a:r>
            <a:r>
              <a:rPr lang="en-US" altLang="en-US" sz="2800" dirty="0">
                <a:cs typeface="Arial" panose="020B0604020202020204" pitchFamily="34" charset="0"/>
              </a:rPr>
              <a:t>. </a:t>
            </a:r>
            <a:r>
              <a:rPr lang="en-US" altLang="en-US" sz="2800" b="1" dirty="0">
                <a:cs typeface="Arial" panose="020B0604020202020204" pitchFamily="34" charset="0"/>
              </a:rPr>
              <a:t>Standard deviation </a:t>
            </a:r>
            <a:r>
              <a:rPr lang="el-GR" altLang="en-US" sz="2800" b="1" dirty="0">
                <a:cs typeface="Arial" panose="020B0604020202020204" pitchFamily="34" charset="0"/>
              </a:rPr>
              <a:t>σ</a:t>
            </a:r>
            <a:r>
              <a:rPr lang="en-US" altLang="en-US" sz="2800" b="1" dirty="0">
                <a:cs typeface="Arial" panose="020B0604020202020204" pitchFamily="34" charset="0"/>
              </a:rPr>
              <a:t> was 40 pounds.</a:t>
            </a:r>
            <a:r>
              <a:rPr lang="en-US" altLang="en-US" sz="2800" dirty="0">
                <a:cs typeface="Arial" panose="020B0604020202020204" pitchFamily="34" charset="0"/>
              </a:rPr>
              <a:t> We test whether mean body weight in the population now differs.</a:t>
            </a:r>
          </a:p>
          <a:p>
            <a:pPr eaLnBrk="1" hangingPunct="1">
              <a:lnSpc>
                <a:spcPct val="90000"/>
              </a:lnSpc>
            </a:pPr>
            <a:endParaRPr lang="en-US" altLang="en-US" sz="2800" dirty="0"/>
          </a:p>
          <a:p>
            <a:pPr eaLnBrk="1" hangingPunct="1">
              <a:lnSpc>
                <a:spcPct val="90000"/>
              </a:lnSpc>
            </a:pPr>
            <a:r>
              <a:rPr lang="en-US" altLang="en-US" sz="2800" b="1" dirty="0"/>
              <a:t>Null hypothesis </a:t>
            </a:r>
            <a:r>
              <a:rPr lang="en-US" altLang="en-US" sz="2800" i="1" dirty="0"/>
              <a:t>H</a:t>
            </a:r>
            <a:r>
              <a:rPr lang="en-US" altLang="en-US" sz="2800" baseline="-25000" dirty="0"/>
              <a:t>0: </a:t>
            </a:r>
            <a:r>
              <a:rPr lang="el-GR" altLang="en-US" sz="2800" dirty="0">
                <a:cs typeface="Arial" panose="020B0604020202020204" pitchFamily="34" charset="0"/>
              </a:rPr>
              <a:t>μ</a:t>
            </a:r>
            <a:r>
              <a:rPr lang="en-US" altLang="en-US" sz="2800" dirty="0">
                <a:cs typeface="Arial" panose="020B0604020202020204" pitchFamily="34" charset="0"/>
              </a:rPr>
              <a:t> = 170 (“no difference”)</a:t>
            </a:r>
          </a:p>
          <a:p>
            <a:pPr eaLnBrk="1" hangingPunct="1">
              <a:lnSpc>
                <a:spcPct val="90000"/>
              </a:lnSpc>
            </a:pPr>
            <a:endParaRPr lang="en-US" altLang="en-US" sz="2800" dirty="0">
              <a:cs typeface="Arial" panose="020B0604020202020204" pitchFamily="34" charset="0"/>
            </a:endParaRPr>
          </a:p>
          <a:p>
            <a:pPr eaLnBrk="1" hangingPunct="1">
              <a:lnSpc>
                <a:spcPct val="90000"/>
              </a:lnSpc>
            </a:pPr>
            <a:r>
              <a:rPr lang="en-US" altLang="en-US" sz="2800" dirty="0">
                <a:cs typeface="Arial" panose="020B0604020202020204" pitchFamily="34" charset="0"/>
              </a:rPr>
              <a:t>The </a:t>
            </a:r>
            <a:r>
              <a:rPr lang="en-US" altLang="en-US" sz="2800" b="1" dirty="0">
                <a:cs typeface="Arial" panose="020B0604020202020204" pitchFamily="34" charset="0"/>
              </a:rPr>
              <a:t>alternative hypothesis </a:t>
            </a:r>
            <a:r>
              <a:rPr lang="en-US" altLang="en-US" sz="2800" dirty="0">
                <a:cs typeface="Arial" panose="020B0604020202020204" pitchFamily="34" charset="0"/>
              </a:rPr>
              <a:t>can be either </a:t>
            </a:r>
            <a:br>
              <a:rPr lang="en-US" altLang="en-US" sz="2800" dirty="0">
                <a:cs typeface="Arial" panose="020B0604020202020204" pitchFamily="34" charset="0"/>
              </a:rPr>
            </a:br>
            <a:r>
              <a:rPr lang="en-US" altLang="en-US" sz="2800" i="1" dirty="0"/>
              <a:t>H</a:t>
            </a:r>
            <a:r>
              <a:rPr lang="en-US" altLang="en-US" sz="2800" baseline="-25000" dirty="0"/>
              <a:t>a: </a:t>
            </a:r>
            <a:r>
              <a:rPr lang="el-GR" altLang="en-US" sz="2800" dirty="0">
                <a:cs typeface="Arial" panose="020B0604020202020204" pitchFamily="34" charset="0"/>
              </a:rPr>
              <a:t>μ</a:t>
            </a:r>
            <a:r>
              <a:rPr lang="en-US" altLang="en-US" sz="2800" dirty="0">
                <a:cs typeface="Arial" panose="020B0604020202020204" pitchFamily="34" charset="0"/>
              </a:rPr>
              <a:t> &gt; 170 (</a:t>
            </a:r>
            <a:r>
              <a:rPr lang="en-US" altLang="en-US" sz="2800" b="1" dirty="0">
                <a:cs typeface="Arial" panose="020B0604020202020204" pitchFamily="34" charset="0"/>
              </a:rPr>
              <a:t>one-sided test</a:t>
            </a:r>
            <a:r>
              <a:rPr lang="en-US" altLang="en-US" sz="2800" dirty="0">
                <a:cs typeface="Arial" panose="020B0604020202020204" pitchFamily="34" charset="0"/>
              </a:rPr>
              <a:t>) or  </a:t>
            </a:r>
            <a:br>
              <a:rPr lang="en-US" altLang="en-US" sz="2800" dirty="0">
                <a:cs typeface="Arial" panose="020B0604020202020204" pitchFamily="34" charset="0"/>
              </a:rPr>
            </a:br>
            <a:r>
              <a:rPr lang="en-US" altLang="en-US" sz="2800" i="1" dirty="0"/>
              <a:t>H</a:t>
            </a:r>
            <a:r>
              <a:rPr lang="en-US" altLang="en-US" sz="2800" baseline="-25000" dirty="0"/>
              <a:t>a: </a:t>
            </a:r>
            <a:r>
              <a:rPr lang="el-GR" altLang="en-US" sz="2800" dirty="0">
                <a:cs typeface="Arial" panose="020B0604020202020204" pitchFamily="34" charset="0"/>
              </a:rPr>
              <a:t>μ</a:t>
            </a:r>
            <a:r>
              <a:rPr lang="en-US" altLang="en-US" sz="2800" dirty="0">
                <a:cs typeface="Arial" panose="020B0604020202020204" pitchFamily="34" charset="0"/>
              </a:rPr>
              <a:t> ≠ 170 (</a:t>
            </a:r>
            <a:r>
              <a:rPr lang="en-US" altLang="en-US" sz="2800" b="1" dirty="0">
                <a:cs typeface="Arial" panose="020B0604020202020204" pitchFamily="34" charset="0"/>
              </a:rPr>
              <a:t>two-sided test</a:t>
            </a:r>
            <a:r>
              <a:rPr lang="en-US" altLang="en-US" sz="2800" dirty="0">
                <a:cs typeface="Arial" panose="020B0604020202020204" pitchFamily="34" charset="0"/>
              </a:rPr>
              <a:t>)</a:t>
            </a:r>
          </a:p>
        </p:txBody>
      </p:sp>
    </p:spTree>
    <p:extLst>
      <p:ext uri="{BB962C8B-B14F-4D97-AF65-F5344CB8AC3E}">
        <p14:creationId xmlns:p14="http://schemas.microsoft.com/office/powerpoint/2010/main" val="16053667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41315">
                                            <p:txEl>
                                              <p:pRg st="0" end="0"/>
                                            </p:txEl>
                                          </p:spTgt>
                                        </p:tgtEl>
                                        <p:attrNameLst>
                                          <p:attrName>ppt_c</p:attrName>
                                        </p:attrNameLst>
                                      </p:cBhvr>
                                      <p:to>
                                        <a:schemeClr val="bg2"/>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131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41315">
                                            <p:txEl>
                                              <p:pRg st="2" end="2"/>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1315">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41315">
                                            <p:txEl>
                                              <p:pRg st="4" end="4"/>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a:extLst>
              <a:ext uri="{FF2B5EF4-FFF2-40B4-BE49-F238E27FC236}">
                <a16:creationId xmlns:a16="http://schemas.microsoft.com/office/drawing/2014/main" id="{814670F9-645A-7246-BC0C-493E2E6EA1FE}"/>
              </a:ext>
            </a:extLst>
          </p:cNvPr>
          <p:cNvSpPr>
            <a:spLocks noGrp="1" noChangeArrowheads="1"/>
          </p:cNvSpPr>
          <p:nvPr>
            <p:ph type="title"/>
          </p:nvPr>
        </p:nvSpPr>
        <p:spPr>
          <a:xfrm>
            <a:off x="1076325" y="704612"/>
            <a:ext cx="9410700" cy="887412"/>
          </a:xfrm>
        </p:spPr>
        <p:txBody>
          <a:bodyPr/>
          <a:lstStyle/>
          <a:p>
            <a:pPr eaLnBrk="1" hangingPunct="1"/>
            <a:r>
              <a:rPr lang="en-US" altLang="en-US" dirty="0"/>
              <a:t>Test Statistic</a:t>
            </a:r>
          </a:p>
        </p:txBody>
      </p:sp>
      <p:graphicFrame>
        <p:nvGraphicFramePr>
          <p:cNvPr id="149508" name="Object 4">
            <a:extLst>
              <a:ext uri="{FF2B5EF4-FFF2-40B4-BE49-F238E27FC236}">
                <a16:creationId xmlns:a16="http://schemas.microsoft.com/office/drawing/2014/main" id="{133A2CFD-3627-474E-B8DF-C611DCA17A5A}"/>
              </a:ext>
            </a:extLst>
          </p:cNvPr>
          <p:cNvGraphicFramePr>
            <a:graphicFrameLocks noChangeAspect="1"/>
          </p:cNvGraphicFramePr>
          <p:nvPr>
            <p:extLst>
              <p:ext uri="{D42A27DB-BD31-4B8C-83A1-F6EECF244321}">
                <p14:modId xmlns:p14="http://schemas.microsoft.com/office/powerpoint/2010/main" val="108955542"/>
              </p:ext>
            </p:extLst>
          </p:nvPr>
        </p:nvGraphicFramePr>
        <p:xfrm>
          <a:off x="611505" y="2922032"/>
          <a:ext cx="7683500" cy="2787650"/>
        </p:xfrm>
        <a:graphic>
          <a:graphicData uri="http://schemas.openxmlformats.org/presentationml/2006/ole">
            <mc:AlternateContent xmlns:mc="http://schemas.openxmlformats.org/markup-compatibility/2006">
              <mc:Choice xmlns:v="urn:schemas-microsoft-com:vml" Requires="v">
                <p:oleObj name="Equation" r:id="rId3" imgW="58216800" imgH="21653500" progId="Equation.3">
                  <p:embed/>
                </p:oleObj>
              </mc:Choice>
              <mc:Fallback>
                <p:oleObj name="Equation" r:id="rId3" imgW="58216800" imgH="21653500" progId="Equation.3">
                  <p:embed/>
                  <p:pic>
                    <p:nvPicPr>
                      <p:cNvPr id="149508" name="Object 4">
                        <a:extLst>
                          <a:ext uri="{FF2B5EF4-FFF2-40B4-BE49-F238E27FC236}">
                            <a16:creationId xmlns:a16="http://schemas.microsoft.com/office/drawing/2014/main" id="{133A2CFD-3627-474E-B8DF-C611DCA17A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05" y="2922032"/>
                        <a:ext cx="7683500" cy="278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7" name="Rectangle 6">
            <a:extLst>
              <a:ext uri="{FF2B5EF4-FFF2-40B4-BE49-F238E27FC236}">
                <a16:creationId xmlns:a16="http://schemas.microsoft.com/office/drawing/2014/main" id="{2FACE057-3D97-B74F-BC2B-2AE0E504901D}"/>
              </a:ext>
            </a:extLst>
          </p:cNvPr>
          <p:cNvSpPr>
            <a:spLocks noChangeArrowheads="1"/>
          </p:cNvSpPr>
          <p:nvPr/>
        </p:nvSpPr>
        <p:spPr bwMode="auto">
          <a:xfrm>
            <a:off x="1076325" y="1711157"/>
            <a:ext cx="1100137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t>This is an example of a one-sample test of a mean when </a:t>
            </a:r>
            <a:r>
              <a:rPr lang="el-GR" altLang="en-US" sz="2800" dirty="0">
                <a:cs typeface="Arial" panose="020B0604020202020204" pitchFamily="34" charset="0"/>
              </a:rPr>
              <a:t>σ</a:t>
            </a:r>
            <a:r>
              <a:rPr lang="en-US" altLang="en-US" sz="2800" dirty="0">
                <a:cs typeface="Arial" panose="020B0604020202020204" pitchFamily="34" charset="0"/>
              </a:rPr>
              <a:t> is known. Use this statistic to test the problem:</a:t>
            </a:r>
            <a:endParaRPr lang="el-GR" altLang="en-US" sz="2800" dirty="0">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F190A42-1521-0945-A3E1-5B2F463EF572}"/>
                  </a:ext>
                </a:extLst>
              </p:cNvPr>
              <p:cNvSpPr txBox="1"/>
              <p:nvPr/>
            </p:nvSpPr>
            <p:spPr>
              <a:xfrm>
                <a:off x="6418580" y="3198167"/>
                <a:ext cx="5452005" cy="461665"/>
              </a:xfrm>
              <a:prstGeom prst="rect">
                <a:avLst/>
              </a:prstGeom>
              <a:noFill/>
            </p:spPr>
            <p:txBody>
              <a:bodyPr wrap="none" rtlCol="0">
                <a:spAutoFit/>
              </a:bodyPr>
              <a:lstStyle/>
              <a:p>
                <a:r>
                  <a:rPr lang="en-US" sz="2400" dirty="0"/>
                  <a:t>Follow standard normal distribution </a:t>
                </a:r>
                <a14:m>
                  <m:oMath xmlns:m="http://schemas.openxmlformats.org/officeDocument/2006/math">
                    <m:r>
                      <a:rPr lang="en-IN" sz="2400" b="0" i="1" smtClean="0">
                        <a:latin typeface="Cambria Math" panose="02040503050406030204" pitchFamily="18" charset="0"/>
                      </a:rPr>
                      <m:t>𝑁</m:t>
                    </m:r>
                    <m:r>
                      <a:rPr lang="en-IN" sz="2400" b="0" i="1" smtClean="0">
                        <a:latin typeface="Cambria Math" panose="02040503050406030204" pitchFamily="18" charset="0"/>
                      </a:rPr>
                      <m:t>(0,1)</m:t>
                    </m:r>
                  </m:oMath>
                </a14:m>
                <a:endParaRPr lang="en-US" sz="2400" dirty="0"/>
              </a:p>
            </p:txBody>
          </p:sp>
        </mc:Choice>
        <mc:Fallback xmlns="">
          <p:sp>
            <p:nvSpPr>
              <p:cNvPr id="2" name="TextBox 1">
                <a:extLst>
                  <a:ext uri="{FF2B5EF4-FFF2-40B4-BE49-F238E27FC236}">
                    <a16:creationId xmlns:a16="http://schemas.microsoft.com/office/drawing/2014/main" id="{6F190A42-1521-0945-A3E1-5B2F463EF572}"/>
                  </a:ext>
                </a:extLst>
              </p:cNvPr>
              <p:cNvSpPr txBox="1">
                <a:spLocks noRot="1" noChangeAspect="1" noMove="1" noResize="1" noEditPoints="1" noAdjustHandles="1" noChangeArrowheads="1" noChangeShapeType="1" noTextEdit="1"/>
              </p:cNvSpPr>
              <p:nvPr/>
            </p:nvSpPr>
            <p:spPr>
              <a:xfrm>
                <a:off x="6418580" y="3198167"/>
                <a:ext cx="5452005" cy="461665"/>
              </a:xfrm>
              <a:prstGeom prst="rect">
                <a:avLst/>
              </a:prstGeom>
              <a:blipFill>
                <a:blip r:embed="rId5"/>
                <a:stretch>
                  <a:fillRect l="-1790" t="-10667" r="-336" b="-30667"/>
                </a:stretch>
              </a:blipFill>
            </p:spPr>
            <p:txBody>
              <a:bodyPr/>
              <a:lstStyle/>
              <a:p>
                <a:r>
                  <a:rPr lang="en-IN">
                    <a:noFill/>
                  </a:rPr>
                  <a:t> </a:t>
                </a:r>
              </a:p>
            </p:txBody>
          </p:sp>
        </mc:Fallback>
      </mc:AlternateContent>
    </p:spTree>
    <p:extLst>
      <p:ext uri="{BB962C8B-B14F-4D97-AF65-F5344CB8AC3E}">
        <p14:creationId xmlns:p14="http://schemas.microsoft.com/office/powerpoint/2010/main" val="19992454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9508"/>
                                        </p:tgtEl>
                                        <p:attrNameLst>
                                          <p:attrName>style.visibility</p:attrName>
                                        </p:attrNameLst>
                                      </p:cBhvr>
                                      <p:to>
                                        <p:strVal val="visible"/>
                                      </p:to>
                                    </p:set>
                                    <p:animEffect transition="in" filter="blinds(horizontal)">
                                      <p:cBhvr>
                                        <p:cTn id="7" dur="500"/>
                                        <p:tgtEl>
                                          <p:spTgt spid="149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2">
            <a:extLst>
              <a:ext uri="{FF2B5EF4-FFF2-40B4-BE49-F238E27FC236}">
                <a16:creationId xmlns:a16="http://schemas.microsoft.com/office/drawing/2014/main" id="{B454C0CA-8CB0-8146-8ADE-48BB2008BD8A}"/>
              </a:ext>
            </a:extLst>
          </p:cNvPr>
          <p:cNvSpPr>
            <a:spLocks noGrp="1" noChangeArrowheads="1"/>
          </p:cNvSpPr>
          <p:nvPr>
            <p:ph type="title"/>
          </p:nvPr>
        </p:nvSpPr>
        <p:spPr>
          <a:xfrm>
            <a:off x="1981200" y="274638"/>
            <a:ext cx="8229600" cy="887412"/>
          </a:xfrm>
        </p:spPr>
        <p:txBody>
          <a:bodyPr>
            <a:normAutofit/>
          </a:bodyPr>
          <a:lstStyle/>
          <a:p>
            <a:pPr eaLnBrk="1" hangingPunct="1"/>
            <a:r>
              <a:rPr lang="en-US" altLang="en-US" dirty="0"/>
              <a:t>Illustrative Example: </a:t>
            </a:r>
            <a:r>
              <a:rPr lang="en-US" altLang="en-US" i="1" dirty="0"/>
              <a:t>z  </a:t>
            </a:r>
            <a:r>
              <a:rPr lang="en-US" altLang="en-US" dirty="0"/>
              <a:t>statistic</a:t>
            </a:r>
          </a:p>
        </p:txBody>
      </p:sp>
      <p:sp>
        <p:nvSpPr>
          <p:cNvPr id="4102" name="Rectangle 3">
            <a:extLst>
              <a:ext uri="{FF2B5EF4-FFF2-40B4-BE49-F238E27FC236}">
                <a16:creationId xmlns:a16="http://schemas.microsoft.com/office/drawing/2014/main" id="{F8848179-4753-E243-9447-5B76AA7EB1F4}"/>
              </a:ext>
            </a:extLst>
          </p:cNvPr>
          <p:cNvSpPr>
            <a:spLocks noGrp="1" noChangeArrowheads="1"/>
          </p:cNvSpPr>
          <p:nvPr>
            <p:ph type="body" idx="1"/>
          </p:nvPr>
        </p:nvSpPr>
        <p:spPr>
          <a:xfrm>
            <a:off x="1443991" y="1137284"/>
            <a:ext cx="9648826" cy="5292725"/>
          </a:xfrm>
        </p:spPr>
        <p:txBody>
          <a:bodyPr/>
          <a:lstStyle/>
          <a:p>
            <a:pPr eaLnBrk="1" hangingPunct="1">
              <a:spcBef>
                <a:spcPct val="15000"/>
              </a:spcBef>
            </a:pPr>
            <a:endParaRPr lang="en-US" altLang="en-US" dirty="0"/>
          </a:p>
          <a:p>
            <a:pPr eaLnBrk="1" hangingPunct="1">
              <a:spcBef>
                <a:spcPct val="15000"/>
              </a:spcBef>
            </a:pPr>
            <a:r>
              <a:rPr lang="en-US" altLang="en-US" dirty="0"/>
              <a:t>For the illustrative example, </a:t>
            </a:r>
            <a:r>
              <a:rPr lang="el-GR" altLang="en-US" dirty="0">
                <a:cs typeface="Arial" panose="020B0604020202020204" pitchFamily="34" charset="0"/>
              </a:rPr>
              <a:t>μ</a:t>
            </a:r>
            <a:r>
              <a:rPr lang="en-US" altLang="en-US" baseline="-25000" dirty="0"/>
              <a:t>0</a:t>
            </a:r>
            <a:r>
              <a:rPr lang="en-US" altLang="en-US" dirty="0"/>
              <a:t> = 170</a:t>
            </a:r>
          </a:p>
          <a:p>
            <a:pPr eaLnBrk="1" hangingPunct="1">
              <a:spcBef>
                <a:spcPct val="15000"/>
              </a:spcBef>
            </a:pPr>
            <a:r>
              <a:rPr lang="en-US" altLang="en-US" dirty="0">
                <a:cs typeface="Arial" panose="020B0604020202020204" pitchFamily="34" charset="0"/>
              </a:rPr>
              <a:t>We know </a:t>
            </a:r>
            <a:r>
              <a:rPr lang="el-GR" altLang="en-US" dirty="0">
                <a:cs typeface="Arial" panose="020B0604020202020204" pitchFamily="34" charset="0"/>
              </a:rPr>
              <a:t>σ</a:t>
            </a:r>
            <a:r>
              <a:rPr lang="en-US" altLang="en-US" dirty="0">
                <a:cs typeface="Arial" panose="020B0604020202020204" pitchFamily="34" charset="0"/>
              </a:rPr>
              <a:t> = 40</a:t>
            </a:r>
          </a:p>
          <a:p>
            <a:pPr eaLnBrk="1" hangingPunct="1">
              <a:spcBef>
                <a:spcPct val="15000"/>
              </a:spcBef>
            </a:pPr>
            <a:r>
              <a:rPr lang="en-US" altLang="en-US" dirty="0">
                <a:cs typeface="Arial" panose="020B0604020202020204" pitchFamily="34" charset="0"/>
              </a:rPr>
              <a:t>Take an</a:t>
            </a:r>
            <a:r>
              <a:rPr lang="en-US" altLang="en-US" dirty="0"/>
              <a:t> SRS of </a:t>
            </a:r>
            <a:r>
              <a:rPr lang="en-US" altLang="en-US" i="1" dirty="0"/>
              <a:t>n </a:t>
            </a:r>
            <a:r>
              <a:rPr lang="en-US" altLang="en-US" dirty="0"/>
              <a:t>= 64. Therefore</a:t>
            </a:r>
          </a:p>
          <a:p>
            <a:pPr eaLnBrk="1" hangingPunct="1">
              <a:spcBef>
                <a:spcPct val="15000"/>
              </a:spcBef>
              <a:buFontTx/>
              <a:buNone/>
            </a:pPr>
            <a:br>
              <a:rPr lang="en-US" altLang="en-US" dirty="0"/>
            </a:br>
            <a:endParaRPr lang="en-US" altLang="en-US" dirty="0"/>
          </a:p>
          <a:p>
            <a:pPr eaLnBrk="1" hangingPunct="1">
              <a:spcBef>
                <a:spcPct val="15000"/>
              </a:spcBef>
            </a:pPr>
            <a:r>
              <a:rPr lang="en-US" altLang="en-US" dirty="0"/>
              <a:t>If we found a sample mean of 173, then </a:t>
            </a:r>
            <a:br>
              <a:rPr lang="en-US" altLang="en-US" dirty="0"/>
            </a:br>
            <a:br>
              <a:rPr lang="en-US" altLang="en-US" dirty="0"/>
            </a:br>
            <a:endParaRPr lang="en-US" altLang="en-US" dirty="0"/>
          </a:p>
        </p:txBody>
      </p:sp>
      <p:graphicFrame>
        <p:nvGraphicFramePr>
          <p:cNvPr id="4098" name="Object 4">
            <a:extLst>
              <a:ext uri="{FF2B5EF4-FFF2-40B4-BE49-F238E27FC236}">
                <a16:creationId xmlns:a16="http://schemas.microsoft.com/office/drawing/2014/main" id="{1640F604-3045-0947-AAA0-380862B3A745}"/>
              </a:ext>
            </a:extLst>
          </p:cNvPr>
          <p:cNvGraphicFramePr>
            <a:graphicFrameLocks noChangeAspect="1"/>
          </p:cNvGraphicFramePr>
          <p:nvPr/>
        </p:nvGraphicFramePr>
        <p:xfrm>
          <a:off x="7102475" y="2108199"/>
          <a:ext cx="3108325" cy="1030288"/>
        </p:xfrm>
        <a:graphic>
          <a:graphicData uri="http://schemas.openxmlformats.org/presentationml/2006/ole">
            <mc:AlternateContent xmlns:mc="http://schemas.openxmlformats.org/markup-compatibility/2006">
              <mc:Choice xmlns:v="urn:schemas-microsoft-com:vml" Requires="v">
                <p:oleObj name="Equation" r:id="rId2" imgW="26619200" imgH="8775700" progId="Equation.3">
                  <p:embed/>
                </p:oleObj>
              </mc:Choice>
              <mc:Fallback>
                <p:oleObj name="Equation" r:id="rId2" imgW="26619200" imgH="8775700" progId="Equation.3">
                  <p:embed/>
                  <p:pic>
                    <p:nvPicPr>
                      <p:cNvPr id="4098" name="Object 4">
                        <a:extLst>
                          <a:ext uri="{FF2B5EF4-FFF2-40B4-BE49-F238E27FC236}">
                            <a16:creationId xmlns:a16="http://schemas.microsoft.com/office/drawing/2014/main" id="{1640F604-3045-0947-AAA0-380862B3A7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2475" y="2108199"/>
                        <a:ext cx="3108325" cy="1030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9" name="Object 5">
            <a:extLst>
              <a:ext uri="{FF2B5EF4-FFF2-40B4-BE49-F238E27FC236}">
                <a16:creationId xmlns:a16="http://schemas.microsoft.com/office/drawing/2014/main" id="{DAA1EADF-FF1B-F244-859F-B13D1A440F3D}"/>
              </a:ext>
            </a:extLst>
          </p:cNvPr>
          <p:cNvGraphicFramePr>
            <a:graphicFrameLocks noChangeAspect="1"/>
          </p:cNvGraphicFramePr>
          <p:nvPr/>
        </p:nvGraphicFramePr>
        <p:xfrm>
          <a:off x="3548063" y="4749801"/>
          <a:ext cx="4589462" cy="1012825"/>
        </p:xfrm>
        <a:graphic>
          <a:graphicData uri="http://schemas.openxmlformats.org/presentationml/2006/ole">
            <mc:AlternateContent xmlns:mc="http://schemas.openxmlformats.org/markup-compatibility/2006">
              <mc:Choice xmlns:v="urn:schemas-microsoft-com:vml" Requires="v">
                <p:oleObj name="Equation" r:id="rId4" imgW="39789100" imgH="8775700" progId="Equation.3">
                  <p:embed/>
                </p:oleObj>
              </mc:Choice>
              <mc:Fallback>
                <p:oleObj name="Equation" r:id="rId4" imgW="39789100" imgH="8775700" progId="Equation.3">
                  <p:embed/>
                  <p:pic>
                    <p:nvPicPr>
                      <p:cNvPr id="4099" name="Object 5">
                        <a:extLst>
                          <a:ext uri="{FF2B5EF4-FFF2-40B4-BE49-F238E27FC236}">
                            <a16:creationId xmlns:a16="http://schemas.microsoft.com/office/drawing/2014/main" id="{DAA1EADF-FF1B-F244-859F-B13D1A440F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48063" y="4749801"/>
                        <a:ext cx="4589462"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928424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910EC87F-D67F-C64F-BAD4-96923774AC75}"/>
              </a:ext>
            </a:extLst>
          </p:cNvPr>
          <p:cNvSpPr>
            <a:spLocks noGrp="1" noChangeArrowheads="1"/>
          </p:cNvSpPr>
          <p:nvPr>
            <p:ph type="title"/>
          </p:nvPr>
        </p:nvSpPr>
        <p:spPr>
          <a:xfrm>
            <a:off x="1981200" y="274638"/>
            <a:ext cx="8229600" cy="887412"/>
          </a:xfrm>
        </p:spPr>
        <p:txBody>
          <a:bodyPr>
            <a:normAutofit/>
          </a:bodyPr>
          <a:lstStyle/>
          <a:p>
            <a:pPr eaLnBrk="1" hangingPunct="1"/>
            <a:r>
              <a:rPr lang="en-US" altLang="en-US"/>
              <a:t>Illustrative Example: </a:t>
            </a:r>
            <a:r>
              <a:rPr lang="en-US" altLang="en-US" i="1"/>
              <a:t>z </a:t>
            </a:r>
            <a:r>
              <a:rPr lang="en-US" altLang="en-US"/>
              <a:t>statistic</a:t>
            </a:r>
          </a:p>
        </p:txBody>
      </p:sp>
      <p:sp>
        <p:nvSpPr>
          <p:cNvPr id="5125" name="Rectangle 3">
            <a:extLst>
              <a:ext uri="{FF2B5EF4-FFF2-40B4-BE49-F238E27FC236}">
                <a16:creationId xmlns:a16="http://schemas.microsoft.com/office/drawing/2014/main" id="{5EA7D28C-16B7-7148-9A9A-AAA8CEA4C2DF}"/>
              </a:ext>
            </a:extLst>
          </p:cNvPr>
          <p:cNvSpPr>
            <a:spLocks noGrp="1" noChangeArrowheads="1"/>
          </p:cNvSpPr>
          <p:nvPr>
            <p:ph type="body" idx="1"/>
          </p:nvPr>
        </p:nvSpPr>
        <p:spPr>
          <a:xfrm>
            <a:off x="1981201" y="1201738"/>
            <a:ext cx="8296275" cy="768350"/>
          </a:xfrm>
        </p:spPr>
        <p:txBody>
          <a:bodyPr/>
          <a:lstStyle/>
          <a:p>
            <a:pPr marL="0" indent="0">
              <a:spcBef>
                <a:spcPct val="15000"/>
              </a:spcBef>
              <a:buNone/>
            </a:pPr>
            <a:r>
              <a:rPr lang="en-US" altLang="en-US"/>
              <a:t>If we found a sample mean of 185, then</a:t>
            </a:r>
          </a:p>
        </p:txBody>
      </p:sp>
      <p:graphicFrame>
        <p:nvGraphicFramePr>
          <p:cNvPr id="5122" name="Object 6">
            <a:extLst>
              <a:ext uri="{FF2B5EF4-FFF2-40B4-BE49-F238E27FC236}">
                <a16:creationId xmlns:a16="http://schemas.microsoft.com/office/drawing/2014/main" id="{5CD114D9-1767-F747-BB72-08263FA206BB}"/>
              </a:ext>
            </a:extLst>
          </p:cNvPr>
          <p:cNvGraphicFramePr>
            <a:graphicFrameLocks noChangeAspect="1"/>
          </p:cNvGraphicFramePr>
          <p:nvPr/>
        </p:nvGraphicFramePr>
        <p:xfrm>
          <a:off x="3530600" y="2851150"/>
          <a:ext cx="4870450" cy="1074738"/>
        </p:xfrm>
        <a:graphic>
          <a:graphicData uri="http://schemas.openxmlformats.org/presentationml/2006/ole">
            <mc:AlternateContent xmlns:mc="http://schemas.openxmlformats.org/markup-compatibility/2006">
              <mc:Choice xmlns:v="urn:schemas-microsoft-com:vml" Requires="v">
                <p:oleObj name="Equation" r:id="rId2" imgW="39789100" imgH="8775700" progId="Equation.3">
                  <p:embed/>
                </p:oleObj>
              </mc:Choice>
              <mc:Fallback>
                <p:oleObj name="Equation" r:id="rId2" imgW="39789100" imgH="8775700" progId="Equation.3">
                  <p:embed/>
                  <p:pic>
                    <p:nvPicPr>
                      <p:cNvPr id="5122" name="Object 6">
                        <a:extLst>
                          <a:ext uri="{FF2B5EF4-FFF2-40B4-BE49-F238E27FC236}">
                            <a16:creationId xmlns:a16="http://schemas.microsoft.com/office/drawing/2014/main" id="{5CD114D9-1767-F747-BB72-08263FA206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0600" y="2851150"/>
                        <a:ext cx="4870450" cy="107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06056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a:extLst>
              <a:ext uri="{FF2B5EF4-FFF2-40B4-BE49-F238E27FC236}">
                <a16:creationId xmlns:a16="http://schemas.microsoft.com/office/drawing/2014/main" id="{5E9F82BE-049B-0148-B6DB-0DCEB04A95D5}"/>
              </a:ext>
            </a:extLst>
          </p:cNvPr>
          <p:cNvSpPr>
            <a:spLocks noGrp="1" noChangeArrowheads="1"/>
          </p:cNvSpPr>
          <p:nvPr>
            <p:ph type="title"/>
          </p:nvPr>
        </p:nvSpPr>
        <p:spPr>
          <a:xfrm>
            <a:off x="1521460" y="371475"/>
            <a:ext cx="8229600" cy="968375"/>
          </a:xfrm>
        </p:spPr>
        <p:txBody>
          <a:bodyPr/>
          <a:lstStyle/>
          <a:p>
            <a:pPr eaLnBrk="1" hangingPunct="1"/>
            <a:r>
              <a:rPr lang="en-US" altLang="en-US" dirty="0"/>
              <a:t>Reasoning </a:t>
            </a:r>
            <a:r>
              <a:rPr lang="en-US" altLang="en-US" dirty="0" err="1"/>
              <a:t>BehinD</a:t>
            </a:r>
            <a:r>
              <a:rPr lang="en-US" altLang="en-US" dirty="0"/>
              <a:t> </a:t>
            </a:r>
            <a:r>
              <a:rPr lang="en-US" altLang="en-US" i="1" dirty="0" err="1"/>
              <a:t>z</a:t>
            </a:r>
            <a:r>
              <a:rPr lang="en-US" altLang="en-US" baseline="-25000" dirty="0" err="1"/>
              <a:t>stat</a:t>
            </a:r>
            <a:endParaRPr lang="en-US" altLang="en-US" baseline="-25000" dirty="0"/>
          </a:p>
        </p:txBody>
      </p:sp>
      <p:pic>
        <p:nvPicPr>
          <p:cNvPr id="6149" name="Picture 6">
            <a:extLst>
              <a:ext uri="{FF2B5EF4-FFF2-40B4-BE49-F238E27FC236}">
                <a16:creationId xmlns:a16="http://schemas.microsoft.com/office/drawing/2014/main" id="{A0704132-9E03-4843-91AB-EC0DA5DD35C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893889" y="1230314"/>
            <a:ext cx="8478837" cy="4219575"/>
          </a:xfrm>
          <a:noFill/>
          <a:ln w="3175">
            <a:solidFill>
              <a:schemeClr val="tx1"/>
            </a:solidFill>
            <a:miter lim="800000"/>
            <a:headEnd/>
            <a:tailEnd/>
          </a:ln>
        </p:spPr>
      </p:pic>
      <p:graphicFrame>
        <p:nvGraphicFramePr>
          <p:cNvPr id="6146" name="Object 7">
            <a:extLst>
              <a:ext uri="{FF2B5EF4-FFF2-40B4-BE49-F238E27FC236}">
                <a16:creationId xmlns:a16="http://schemas.microsoft.com/office/drawing/2014/main" id="{D7C28FE7-F9E3-834C-BFEE-0A21478D3B25}"/>
              </a:ext>
            </a:extLst>
          </p:cNvPr>
          <p:cNvGraphicFramePr>
            <a:graphicFrameLocks noChangeAspect="1"/>
          </p:cNvGraphicFramePr>
          <p:nvPr>
            <p:extLst>
              <p:ext uri="{D42A27DB-BD31-4B8C-83A1-F6EECF244321}">
                <p14:modId xmlns:p14="http://schemas.microsoft.com/office/powerpoint/2010/main" val="1061322870"/>
              </p:ext>
            </p:extLst>
          </p:nvPr>
        </p:nvGraphicFramePr>
        <p:xfrm>
          <a:off x="7599681" y="5783814"/>
          <a:ext cx="2336799" cy="637624"/>
        </p:xfrm>
        <a:graphic>
          <a:graphicData uri="http://schemas.openxmlformats.org/presentationml/2006/ole">
            <mc:AlternateContent xmlns:mc="http://schemas.openxmlformats.org/markup-compatibility/2006">
              <mc:Choice xmlns:v="urn:schemas-microsoft-com:vml" Requires="v">
                <p:oleObj name="Equation" r:id="rId4" imgW="16090900" imgH="4394200" progId="Equation.3">
                  <p:embed/>
                </p:oleObj>
              </mc:Choice>
              <mc:Fallback>
                <p:oleObj name="Equation" r:id="rId4" imgW="16090900" imgH="4394200" progId="Equation.3">
                  <p:embed/>
                  <p:pic>
                    <p:nvPicPr>
                      <p:cNvPr id="6146" name="Object 7">
                        <a:extLst>
                          <a:ext uri="{FF2B5EF4-FFF2-40B4-BE49-F238E27FC236}">
                            <a16:creationId xmlns:a16="http://schemas.microsoft.com/office/drawing/2014/main" id="{D7C28FE7-F9E3-834C-BFEE-0A21478D3B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9681" y="5783814"/>
                        <a:ext cx="2336799" cy="637624"/>
                      </a:xfrm>
                      <a:prstGeom prst="rect">
                        <a:avLst/>
                      </a:prstGeom>
                      <a:noFill/>
                      <a:ln>
                        <a:noFill/>
                      </a:ln>
                      <a:effectLst/>
                    </p:spPr>
                  </p:pic>
                </p:oleObj>
              </mc:Fallback>
            </mc:AlternateContent>
          </a:graphicData>
        </a:graphic>
      </p:graphicFrame>
      <p:sp>
        <p:nvSpPr>
          <p:cNvPr id="6150" name="Text Box 8">
            <a:extLst>
              <a:ext uri="{FF2B5EF4-FFF2-40B4-BE49-F238E27FC236}">
                <a16:creationId xmlns:a16="http://schemas.microsoft.com/office/drawing/2014/main" id="{54A4E272-E0FF-BC44-B18A-88E9C6293853}"/>
              </a:ext>
            </a:extLst>
          </p:cNvPr>
          <p:cNvSpPr txBox="1">
            <a:spLocks noChangeArrowheads="1"/>
          </p:cNvSpPr>
          <p:nvPr/>
        </p:nvSpPr>
        <p:spPr bwMode="auto">
          <a:xfrm>
            <a:off x="1909763" y="5467350"/>
            <a:ext cx="5207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800"/>
              <a:t>Sampling distribution of xbar under </a:t>
            </a:r>
            <a:r>
              <a:rPr lang="en-US" altLang="en-US" sz="2800" i="1"/>
              <a:t>H</a:t>
            </a:r>
            <a:r>
              <a:rPr lang="en-US" altLang="en-US" sz="2800" baseline="-25000"/>
              <a:t>0</a:t>
            </a:r>
            <a:r>
              <a:rPr lang="en-US" altLang="en-US" sz="2800"/>
              <a:t>: µ =  170 for </a:t>
            </a:r>
            <a:r>
              <a:rPr lang="en-US" altLang="en-US" sz="2800" i="1">
                <a:cs typeface="Arial" panose="020B0604020202020204" pitchFamily="34" charset="0"/>
              </a:rPr>
              <a:t>n </a:t>
            </a:r>
            <a:r>
              <a:rPr lang="en-US" altLang="en-US" sz="2800">
                <a:cs typeface="Arial" panose="020B0604020202020204" pitchFamily="34" charset="0"/>
              </a:rPr>
              <a:t>= 64 </a:t>
            </a:r>
            <a:r>
              <a:rPr lang="en-US" altLang="en-US" sz="2800">
                <a:cs typeface="Arial" panose="020B0604020202020204" pitchFamily="34" charset="0"/>
                <a:sym typeface="Symbol" pitchFamily="2" charset="2"/>
              </a:rPr>
              <a:t></a:t>
            </a:r>
          </a:p>
        </p:txBody>
      </p:sp>
    </p:spTree>
    <p:extLst>
      <p:ext uri="{BB962C8B-B14F-4D97-AF65-F5344CB8AC3E}">
        <p14:creationId xmlns:p14="http://schemas.microsoft.com/office/powerpoint/2010/main" val="22557423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898D67B7-45F8-174A-9E05-EAE25F4FADBE}"/>
              </a:ext>
            </a:extLst>
          </p:cNvPr>
          <p:cNvSpPr>
            <a:spLocks noGrp="1" noChangeArrowheads="1"/>
          </p:cNvSpPr>
          <p:nvPr>
            <p:ph type="title"/>
          </p:nvPr>
        </p:nvSpPr>
        <p:spPr/>
        <p:txBody>
          <a:bodyPr/>
          <a:lstStyle/>
          <a:p>
            <a:pPr eaLnBrk="1" hangingPunct="1"/>
            <a:r>
              <a:rPr lang="en-US" altLang="en-US" i="1" dirty="0"/>
              <a:t>P-</a:t>
            </a:r>
            <a:r>
              <a:rPr lang="en-US" altLang="en-US" dirty="0"/>
              <a:t>value</a:t>
            </a:r>
          </a:p>
        </p:txBody>
      </p:sp>
      <p:sp>
        <p:nvSpPr>
          <p:cNvPr id="154627" name="Rectangle 3">
            <a:extLst>
              <a:ext uri="{FF2B5EF4-FFF2-40B4-BE49-F238E27FC236}">
                <a16:creationId xmlns:a16="http://schemas.microsoft.com/office/drawing/2014/main" id="{44BF2FAF-64AE-1E43-A84B-6239C5617C2B}"/>
              </a:ext>
            </a:extLst>
          </p:cNvPr>
          <p:cNvSpPr>
            <a:spLocks noGrp="1" noChangeArrowheads="1"/>
          </p:cNvSpPr>
          <p:nvPr>
            <p:ph type="body" idx="1"/>
          </p:nvPr>
        </p:nvSpPr>
        <p:spPr>
          <a:xfrm>
            <a:off x="838200" y="1342863"/>
            <a:ext cx="10980761" cy="5180013"/>
          </a:xfrm>
        </p:spPr>
        <p:txBody>
          <a:bodyPr>
            <a:normAutofit/>
          </a:bodyPr>
          <a:lstStyle/>
          <a:p>
            <a:pPr eaLnBrk="1" hangingPunct="1"/>
            <a:r>
              <a:rPr lang="en-US" altLang="en-US" sz="2800" dirty="0"/>
              <a:t>The </a:t>
            </a:r>
            <a:r>
              <a:rPr lang="en-US" altLang="en-US" sz="2800" i="1" dirty="0"/>
              <a:t>P</a:t>
            </a:r>
            <a:r>
              <a:rPr lang="en-US" altLang="en-US" sz="2800" dirty="0"/>
              <a:t>-value answer the question: What is the probability of the observed test statistic or one more extreme </a:t>
            </a:r>
            <a:r>
              <a:rPr lang="en-US" altLang="en-US" sz="2800" b="1" dirty="0"/>
              <a:t>when </a:t>
            </a:r>
            <a:r>
              <a:rPr lang="en-US" altLang="en-US" sz="2800" b="1" i="1" dirty="0"/>
              <a:t>H</a:t>
            </a:r>
            <a:r>
              <a:rPr lang="en-US" altLang="en-US" sz="2800" b="1" baseline="-25000" dirty="0"/>
              <a:t>0</a:t>
            </a:r>
            <a:r>
              <a:rPr lang="en-US" altLang="en-US" sz="2800" b="1" i="1" dirty="0"/>
              <a:t> is true</a:t>
            </a:r>
            <a:r>
              <a:rPr lang="en-US" altLang="en-US" sz="2800" b="1" dirty="0"/>
              <a:t>? </a:t>
            </a:r>
          </a:p>
          <a:p>
            <a:pPr eaLnBrk="1" hangingPunct="1"/>
            <a:r>
              <a:rPr lang="en-US" altLang="en-US" sz="2800" dirty="0"/>
              <a:t>This corresponds to the AUC in the tail of the Standard Normal distribution beyond the </a:t>
            </a:r>
            <a:r>
              <a:rPr lang="en-US" altLang="en-US" sz="2800" i="1" dirty="0" err="1"/>
              <a:t>z</a:t>
            </a:r>
            <a:r>
              <a:rPr lang="en-US" altLang="en-US" sz="2800" baseline="-25000" dirty="0" err="1"/>
              <a:t>stat</a:t>
            </a:r>
            <a:r>
              <a:rPr lang="en-US" altLang="en-US" sz="2800" baseline="-25000" dirty="0"/>
              <a:t>. </a:t>
            </a:r>
          </a:p>
          <a:p>
            <a:pPr eaLnBrk="1" hangingPunct="1"/>
            <a:r>
              <a:rPr lang="en-US" altLang="en-US" sz="2800" dirty="0"/>
              <a:t>Convert </a:t>
            </a:r>
            <a:r>
              <a:rPr lang="en-US" altLang="en-US" sz="2800" i="1" dirty="0"/>
              <a:t>z</a:t>
            </a:r>
            <a:r>
              <a:rPr lang="en-US" altLang="en-US" sz="2800" dirty="0"/>
              <a:t> statistics to </a:t>
            </a:r>
            <a:r>
              <a:rPr lang="en-US" altLang="en-US" sz="2800" i="1" dirty="0"/>
              <a:t>P</a:t>
            </a:r>
            <a:r>
              <a:rPr lang="en-US" altLang="en-US" sz="2800" dirty="0"/>
              <a:t>-value : </a:t>
            </a:r>
          </a:p>
          <a:p>
            <a:pPr lvl="1" eaLnBrk="1" hangingPunct="1">
              <a:lnSpc>
                <a:spcPct val="95000"/>
              </a:lnSpc>
              <a:buFontTx/>
              <a:buNone/>
            </a:pPr>
            <a:r>
              <a:rPr lang="en-US" altLang="en-US" sz="2400" dirty="0"/>
              <a:t>For </a:t>
            </a:r>
            <a:r>
              <a:rPr lang="en-US" altLang="en-US" sz="2400" i="1" dirty="0"/>
              <a:t>H</a:t>
            </a:r>
            <a:r>
              <a:rPr lang="en-US" altLang="en-US" sz="2400" baseline="-25000" dirty="0"/>
              <a:t>a</a:t>
            </a:r>
            <a:r>
              <a:rPr lang="en-US" altLang="en-US" sz="2400" dirty="0"/>
              <a:t>: </a:t>
            </a:r>
            <a:r>
              <a:rPr lang="el-GR" altLang="en-US" sz="2400" dirty="0">
                <a:cs typeface="Arial" panose="020B0604020202020204" pitchFamily="34" charset="0"/>
              </a:rPr>
              <a:t>μ</a:t>
            </a:r>
            <a:r>
              <a:rPr lang="en-US" altLang="en-US" sz="2400" dirty="0">
                <a:latin typeface="Symbol" pitchFamily="2" charset="2"/>
              </a:rPr>
              <a:t> </a:t>
            </a:r>
            <a:r>
              <a:rPr lang="en-US" altLang="en-US" sz="2400" dirty="0"/>
              <a:t>&gt; </a:t>
            </a:r>
            <a:r>
              <a:rPr lang="el-GR" altLang="en-US" sz="2400" dirty="0">
                <a:cs typeface="Arial" panose="020B0604020202020204" pitchFamily="34" charset="0"/>
              </a:rPr>
              <a:t>μ</a:t>
            </a:r>
            <a:r>
              <a:rPr lang="en-US" altLang="en-US" sz="2400" baseline="-25000" dirty="0"/>
              <a:t>0 </a:t>
            </a:r>
            <a:r>
              <a:rPr lang="en-US" altLang="en-US" sz="2400" dirty="0">
                <a:sym typeface="Symbol" pitchFamily="2" charset="2"/>
              </a:rPr>
              <a:t> </a:t>
            </a:r>
            <a:r>
              <a:rPr lang="en-US" altLang="en-US" sz="2400" i="1" dirty="0"/>
              <a:t>P</a:t>
            </a:r>
            <a:r>
              <a:rPr lang="en-US" altLang="en-US" sz="2400" dirty="0"/>
              <a:t> = </a:t>
            </a:r>
            <a:r>
              <a:rPr lang="en-US" altLang="en-US" sz="2400" dirty="0" err="1"/>
              <a:t>Pr</a:t>
            </a:r>
            <a:r>
              <a:rPr lang="en-US" altLang="en-US" sz="2400" dirty="0"/>
              <a:t>(Z &gt; </a:t>
            </a:r>
            <a:r>
              <a:rPr lang="en-US" altLang="en-US" sz="2400" i="1" dirty="0" err="1"/>
              <a:t>z</a:t>
            </a:r>
            <a:r>
              <a:rPr lang="en-US" altLang="en-US" sz="2400" baseline="-25000" dirty="0" err="1"/>
              <a:t>stat</a:t>
            </a:r>
            <a:r>
              <a:rPr lang="en-US" altLang="en-US" sz="2400" dirty="0"/>
              <a:t>) = right-tail beyond </a:t>
            </a:r>
            <a:r>
              <a:rPr lang="en-US" altLang="en-US" sz="2400" dirty="0" err="1"/>
              <a:t>z</a:t>
            </a:r>
            <a:r>
              <a:rPr lang="en-US" altLang="en-US" sz="2400" baseline="-25000" dirty="0" err="1"/>
              <a:t>stat</a:t>
            </a:r>
            <a:endParaRPr lang="en-US" altLang="en-US" sz="2400" baseline="-25000" dirty="0"/>
          </a:p>
          <a:p>
            <a:pPr lvl="1" eaLnBrk="1" hangingPunct="1">
              <a:lnSpc>
                <a:spcPct val="95000"/>
              </a:lnSpc>
              <a:buFontTx/>
              <a:buNone/>
            </a:pPr>
            <a:r>
              <a:rPr lang="en-US" altLang="en-US" sz="2400" dirty="0"/>
              <a:t>For </a:t>
            </a:r>
            <a:r>
              <a:rPr lang="en-US" altLang="en-US" sz="2400" i="1" dirty="0"/>
              <a:t>H</a:t>
            </a:r>
            <a:r>
              <a:rPr lang="en-US" altLang="en-US" sz="2400" baseline="-25000" dirty="0"/>
              <a:t>a</a:t>
            </a:r>
            <a:r>
              <a:rPr lang="en-US" altLang="en-US" sz="2400" dirty="0"/>
              <a:t>: </a:t>
            </a:r>
            <a:r>
              <a:rPr lang="el-GR" altLang="en-US" sz="2400" dirty="0">
                <a:cs typeface="Arial" panose="020B0604020202020204" pitchFamily="34" charset="0"/>
              </a:rPr>
              <a:t>μ</a:t>
            </a:r>
            <a:r>
              <a:rPr lang="en-US" altLang="en-US" sz="2400" dirty="0">
                <a:latin typeface="Symbol" pitchFamily="2" charset="2"/>
              </a:rPr>
              <a:t> </a:t>
            </a:r>
            <a:r>
              <a:rPr lang="en-US" altLang="en-US" sz="2400" dirty="0"/>
              <a:t>&lt; </a:t>
            </a:r>
            <a:r>
              <a:rPr lang="el-GR" altLang="en-US" sz="2400" dirty="0">
                <a:cs typeface="Arial" panose="020B0604020202020204" pitchFamily="34" charset="0"/>
              </a:rPr>
              <a:t>μ</a:t>
            </a:r>
            <a:r>
              <a:rPr lang="en-US" altLang="en-US" sz="2400" baseline="-25000" dirty="0"/>
              <a:t>0 </a:t>
            </a:r>
            <a:r>
              <a:rPr lang="en-US" altLang="en-US" sz="2400" dirty="0">
                <a:sym typeface="Symbol" pitchFamily="2" charset="2"/>
              </a:rPr>
              <a:t> </a:t>
            </a:r>
            <a:r>
              <a:rPr lang="en-US" altLang="en-US" sz="2400" i="1" dirty="0"/>
              <a:t>P </a:t>
            </a:r>
            <a:r>
              <a:rPr lang="en-US" altLang="en-US" sz="2400" dirty="0"/>
              <a:t>= </a:t>
            </a:r>
            <a:r>
              <a:rPr lang="en-US" altLang="en-US" sz="2400" dirty="0" err="1"/>
              <a:t>Pr</a:t>
            </a:r>
            <a:r>
              <a:rPr lang="en-US" altLang="en-US" sz="2400" dirty="0"/>
              <a:t>(Z &lt; </a:t>
            </a:r>
            <a:r>
              <a:rPr lang="en-US" altLang="en-US" sz="2400" i="1" dirty="0" err="1"/>
              <a:t>z</a:t>
            </a:r>
            <a:r>
              <a:rPr lang="en-US" altLang="en-US" sz="2400" baseline="-25000" dirty="0" err="1"/>
              <a:t>stat</a:t>
            </a:r>
            <a:r>
              <a:rPr lang="en-US" altLang="en-US" sz="2400" dirty="0"/>
              <a:t>) = left tail beyond </a:t>
            </a:r>
            <a:r>
              <a:rPr lang="en-US" altLang="en-US" sz="2400" dirty="0" err="1"/>
              <a:t>z</a:t>
            </a:r>
            <a:r>
              <a:rPr lang="en-US" altLang="en-US" sz="2400" baseline="-25000" dirty="0" err="1"/>
              <a:t>stat</a:t>
            </a:r>
            <a:endParaRPr lang="en-US" altLang="en-US" sz="2400" baseline="-25000" dirty="0"/>
          </a:p>
          <a:p>
            <a:pPr lvl="1" eaLnBrk="1" hangingPunct="1">
              <a:lnSpc>
                <a:spcPct val="95000"/>
              </a:lnSpc>
              <a:buFontTx/>
              <a:buNone/>
            </a:pPr>
            <a:r>
              <a:rPr lang="en-US" altLang="en-US" sz="2400" dirty="0"/>
              <a:t>For </a:t>
            </a:r>
            <a:r>
              <a:rPr lang="en-US" altLang="en-US" sz="2400" i="1" dirty="0"/>
              <a:t>H</a:t>
            </a:r>
            <a:r>
              <a:rPr lang="en-US" altLang="en-US" sz="2400" baseline="-25000" dirty="0"/>
              <a:t>a</a:t>
            </a:r>
            <a:r>
              <a:rPr lang="en-US" altLang="en-US" sz="2400" dirty="0"/>
              <a:t>: </a:t>
            </a:r>
            <a:r>
              <a:rPr lang="el-GR" altLang="en-US" sz="2400" dirty="0">
                <a:cs typeface="Arial" panose="020B0604020202020204" pitchFamily="34" charset="0"/>
              </a:rPr>
              <a:t>μ</a:t>
            </a:r>
            <a:r>
              <a:rPr lang="en-US" altLang="en-US" sz="2400" dirty="0">
                <a:latin typeface="Symbol" pitchFamily="2" charset="2"/>
              </a:rPr>
              <a:t> ¹ </a:t>
            </a:r>
            <a:r>
              <a:rPr lang="el-GR" altLang="en-US" sz="2400" dirty="0">
                <a:cs typeface="Arial" panose="020B0604020202020204" pitchFamily="34" charset="0"/>
              </a:rPr>
              <a:t>μ</a:t>
            </a:r>
            <a:r>
              <a:rPr lang="en-US" altLang="en-US" sz="2400" baseline="-25000" dirty="0"/>
              <a:t>0 </a:t>
            </a:r>
            <a:r>
              <a:rPr lang="en-US" altLang="en-US" sz="2400" dirty="0">
                <a:sym typeface="Symbol" pitchFamily="2" charset="2"/>
              </a:rPr>
              <a:t> </a:t>
            </a:r>
            <a:r>
              <a:rPr lang="en-US" altLang="en-US" sz="2400" i="1" dirty="0"/>
              <a:t>P </a:t>
            </a:r>
            <a:r>
              <a:rPr lang="en-US" altLang="en-US" sz="2400" dirty="0"/>
              <a:t>= 2 </a:t>
            </a:r>
            <a:r>
              <a:rPr lang="en-US" altLang="en-US" sz="2400" dirty="0">
                <a:cs typeface="Arial" panose="020B0604020202020204" pitchFamily="34" charset="0"/>
              </a:rPr>
              <a:t>× </a:t>
            </a:r>
            <a:r>
              <a:rPr lang="en-US" altLang="en-US" sz="2400" dirty="0"/>
              <a:t>one-tailed </a:t>
            </a:r>
            <a:r>
              <a:rPr lang="en-US" altLang="en-US" sz="2400" i="1" dirty="0"/>
              <a:t>P</a:t>
            </a:r>
            <a:r>
              <a:rPr lang="en-US" altLang="en-US" sz="2400" dirty="0"/>
              <a:t>-value</a:t>
            </a:r>
          </a:p>
          <a:p>
            <a:pPr eaLnBrk="1" hangingPunct="1">
              <a:lnSpc>
                <a:spcPct val="95000"/>
              </a:lnSpc>
            </a:pPr>
            <a:r>
              <a:rPr lang="en-US" altLang="en-US" sz="2800" dirty="0"/>
              <a:t>Use Tables or software to find these probabilities (next two slides).</a:t>
            </a:r>
          </a:p>
          <a:p>
            <a:pPr lvl="1" eaLnBrk="1" hangingPunct="1">
              <a:lnSpc>
                <a:spcPct val="95000"/>
              </a:lnSpc>
              <a:buFontTx/>
              <a:buNone/>
            </a:pPr>
            <a:endParaRPr lang="en-US" altLang="en-US" sz="2400" dirty="0"/>
          </a:p>
        </p:txBody>
      </p:sp>
    </p:spTree>
    <p:extLst>
      <p:ext uri="{BB962C8B-B14F-4D97-AF65-F5344CB8AC3E}">
        <p14:creationId xmlns:p14="http://schemas.microsoft.com/office/powerpoint/2010/main" val="9498208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Effect transition="in" filter="fade">
                                      <p:cBhvr>
                                        <p:cTn id="7" dur="1000"/>
                                        <p:tgtEl>
                                          <p:spTgt spid="154627">
                                            <p:txEl>
                                              <p:pRg st="0" end="0"/>
                                            </p:txEl>
                                          </p:spTgt>
                                        </p:tgtEl>
                                      </p:cBhvr>
                                    </p:animEffect>
                                    <p:anim calcmode="lin" valueType="num">
                                      <p:cBhvr>
                                        <p:cTn id="8" dur="1000" fill="hold"/>
                                        <p:tgtEl>
                                          <p:spTgt spid="15462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462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4627">
                                            <p:txEl>
                                              <p:pRg st="1" end="1"/>
                                            </p:txEl>
                                          </p:spTgt>
                                        </p:tgtEl>
                                        <p:attrNameLst>
                                          <p:attrName>style.visibility</p:attrName>
                                        </p:attrNameLst>
                                      </p:cBhvr>
                                      <p:to>
                                        <p:strVal val="visible"/>
                                      </p:to>
                                    </p:set>
                                    <p:animEffect transition="in" filter="fade">
                                      <p:cBhvr>
                                        <p:cTn id="14" dur="1000"/>
                                        <p:tgtEl>
                                          <p:spTgt spid="154627">
                                            <p:txEl>
                                              <p:pRg st="1" end="1"/>
                                            </p:txEl>
                                          </p:spTgt>
                                        </p:tgtEl>
                                      </p:cBhvr>
                                    </p:animEffect>
                                    <p:anim calcmode="lin" valueType="num">
                                      <p:cBhvr>
                                        <p:cTn id="15" dur="1000" fill="hold"/>
                                        <p:tgtEl>
                                          <p:spTgt spid="15462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5462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4627">
                                            <p:txEl>
                                              <p:pRg st="2" end="2"/>
                                            </p:txEl>
                                          </p:spTgt>
                                        </p:tgtEl>
                                        <p:attrNameLst>
                                          <p:attrName>style.visibility</p:attrName>
                                        </p:attrNameLst>
                                      </p:cBhvr>
                                      <p:to>
                                        <p:strVal val="visible"/>
                                      </p:to>
                                    </p:set>
                                    <p:animEffect transition="in" filter="fade">
                                      <p:cBhvr>
                                        <p:cTn id="21" dur="1000"/>
                                        <p:tgtEl>
                                          <p:spTgt spid="154627">
                                            <p:txEl>
                                              <p:pRg st="2" end="2"/>
                                            </p:txEl>
                                          </p:spTgt>
                                        </p:tgtEl>
                                      </p:cBhvr>
                                    </p:animEffect>
                                    <p:anim calcmode="lin" valueType="num">
                                      <p:cBhvr>
                                        <p:cTn id="22" dur="1000" fill="hold"/>
                                        <p:tgtEl>
                                          <p:spTgt spid="15462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54627">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54627">
                                            <p:txEl>
                                              <p:pRg st="3" end="3"/>
                                            </p:txEl>
                                          </p:spTgt>
                                        </p:tgtEl>
                                        <p:attrNameLst>
                                          <p:attrName>style.visibility</p:attrName>
                                        </p:attrNameLst>
                                      </p:cBhvr>
                                      <p:to>
                                        <p:strVal val="visible"/>
                                      </p:to>
                                    </p:set>
                                    <p:animEffect transition="in" filter="fade">
                                      <p:cBhvr>
                                        <p:cTn id="26" dur="1000"/>
                                        <p:tgtEl>
                                          <p:spTgt spid="154627">
                                            <p:txEl>
                                              <p:pRg st="3" end="3"/>
                                            </p:txEl>
                                          </p:spTgt>
                                        </p:tgtEl>
                                      </p:cBhvr>
                                    </p:animEffect>
                                    <p:anim calcmode="lin" valueType="num">
                                      <p:cBhvr>
                                        <p:cTn id="27" dur="1000" fill="hold"/>
                                        <p:tgtEl>
                                          <p:spTgt spid="154627">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54627">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54627">
                                            <p:txEl>
                                              <p:pRg st="4" end="4"/>
                                            </p:txEl>
                                          </p:spTgt>
                                        </p:tgtEl>
                                        <p:attrNameLst>
                                          <p:attrName>style.visibility</p:attrName>
                                        </p:attrNameLst>
                                      </p:cBhvr>
                                      <p:to>
                                        <p:strVal val="visible"/>
                                      </p:to>
                                    </p:set>
                                    <p:animEffect transition="in" filter="fade">
                                      <p:cBhvr>
                                        <p:cTn id="31" dur="1000"/>
                                        <p:tgtEl>
                                          <p:spTgt spid="154627">
                                            <p:txEl>
                                              <p:pRg st="4" end="4"/>
                                            </p:txEl>
                                          </p:spTgt>
                                        </p:tgtEl>
                                      </p:cBhvr>
                                    </p:animEffect>
                                    <p:anim calcmode="lin" valueType="num">
                                      <p:cBhvr>
                                        <p:cTn id="32" dur="1000" fill="hold"/>
                                        <p:tgtEl>
                                          <p:spTgt spid="154627">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54627">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54627">
                                            <p:txEl>
                                              <p:pRg st="5" end="5"/>
                                            </p:txEl>
                                          </p:spTgt>
                                        </p:tgtEl>
                                        <p:attrNameLst>
                                          <p:attrName>style.visibility</p:attrName>
                                        </p:attrNameLst>
                                      </p:cBhvr>
                                      <p:to>
                                        <p:strVal val="visible"/>
                                      </p:to>
                                    </p:set>
                                    <p:animEffect transition="in" filter="fade">
                                      <p:cBhvr>
                                        <p:cTn id="36" dur="1000"/>
                                        <p:tgtEl>
                                          <p:spTgt spid="154627">
                                            <p:txEl>
                                              <p:pRg st="5" end="5"/>
                                            </p:txEl>
                                          </p:spTgt>
                                        </p:tgtEl>
                                      </p:cBhvr>
                                    </p:animEffect>
                                    <p:anim calcmode="lin" valueType="num">
                                      <p:cBhvr>
                                        <p:cTn id="37" dur="1000" fill="hold"/>
                                        <p:tgtEl>
                                          <p:spTgt spid="154627">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15462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54627">
                                            <p:txEl>
                                              <p:pRg st="6" end="6"/>
                                            </p:txEl>
                                          </p:spTgt>
                                        </p:tgtEl>
                                        <p:attrNameLst>
                                          <p:attrName>style.visibility</p:attrName>
                                        </p:attrNameLst>
                                      </p:cBhvr>
                                      <p:to>
                                        <p:strVal val="visible"/>
                                      </p:to>
                                    </p:set>
                                    <p:animEffect transition="in" filter="fade">
                                      <p:cBhvr>
                                        <p:cTn id="43" dur="1000"/>
                                        <p:tgtEl>
                                          <p:spTgt spid="154627">
                                            <p:txEl>
                                              <p:pRg st="6" end="6"/>
                                            </p:txEl>
                                          </p:spTgt>
                                        </p:tgtEl>
                                      </p:cBhvr>
                                    </p:animEffect>
                                    <p:anim calcmode="lin" valueType="num">
                                      <p:cBhvr>
                                        <p:cTn id="44" dur="1000" fill="hold"/>
                                        <p:tgtEl>
                                          <p:spTgt spid="154627">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15462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3">
            <a:extLst>
              <a:ext uri="{FF2B5EF4-FFF2-40B4-BE49-F238E27FC236}">
                <a16:creationId xmlns:a16="http://schemas.microsoft.com/office/drawing/2014/main" id="{633E60FD-F126-F444-B860-4CAE74007F86}"/>
              </a:ext>
            </a:extLst>
          </p:cNvPr>
          <p:cNvSpPr>
            <a:spLocks noGrp="1" noChangeArrowheads="1"/>
          </p:cNvSpPr>
          <p:nvPr>
            <p:ph type="title"/>
          </p:nvPr>
        </p:nvSpPr>
        <p:spPr>
          <a:xfrm>
            <a:off x="841248" y="431138"/>
            <a:ext cx="10058400" cy="960340"/>
          </a:xfrm>
        </p:spPr>
        <p:txBody>
          <a:bodyPr/>
          <a:lstStyle/>
          <a:p>
            <a:pPr eaLnBrk="1" hangingPunct="1"/>
            <a:r>
              <a:rPr lang="en-US" altLang="en-US" dirty="0">
                <a:solidFill>
                  <a:schemeClr val="tx1"/>
                </a:solidFill>
              </a:rPr>
              <a:t>One-sided </a:t>
            </a:r>
            <a:r>
              <a:rPr lang="en-US" altLang="en-US" i="1" dirty="0">
                <a:solidFill>
                  <a:schemeClr val="tx1"/>
                </a:solidFill>
              </a:rPr>
              <a:t>P</a:t>
            </a:r>
            <a:r>
              <a:rPr lang="en-US" altLang="en-US" dirty="0">
                <a:solidFill>
                  <a:schemeClr val="tx1"/>
                </a:solidFill>
              </a:rPr>
              <a:t>-value for </a:t>
            </a:r>
            <a:r>
              <a:rPr lang="en-US" altLang="en-US" i="1" dirty="0" err="1">
                <a:solidFill>
                  <a:schemeClr val="tx1"/>
                </a:solidFill>
              </a:rPr>
              <a:t>z</a:t>
            </a:r>
            <a:r>
              <a:rPr lang="en-US" altLang="en-US" baseline="-25000" dirty="0" err="1">
                <a:solidFill>
                  <a:schemeClr val="tx1"/>
                </a:solidFill>
              </a:rPr>
              <a:t>stat</a:t>
            </a:r>
            <a:r>
              <a:rPr lang="en-US" altLang="en-US" dirty="0">
                <a:solidFill>
                  <a:schemeClr val="tx1"/>
                </a:solidFill>
              </a:rPr>
              <a:t> of 0.6</a:t>
            </a:r>
          </a:p>
        </p:txBody>
      </p:sp>
      <p:pic>
        <p:nvPicPr>
          <p:cNvPr id="23555" name="Picture 5">
            <a:extLst>
              <a:ext uri="{FF2B5EF4-FFF2-40B4-BE49-F238E27FC236}">
                <a16:creationId xmlns:a16="http://schemas.microsoft.com/office/drawing/2014/main" id="{6764B2A4-4B29-1C4E-85EC-AF99162F0B19}"/>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1676400" y="1737868"/>
            <a:ext cx="8839200" cy="4635500"/>
          </a:xfrm>
          <a:noFill/>
        </p:spPr>
      </p:pic>
      <p:sp>
        <p:nvSpPr>
          <p:cNvPr id="23556" name="Rectangle 6">
            <a:extLst>
              <a:ext uri="{FF2B5EF4-FFF2-40B4-BE49-F238E27FC236}">
                <a16:creationId xmlns:a16="http://schemas.microsoft.com/office/drawing/2014/main" id="{CC078C5F-7818-A64A-ABA5-D01AB057C6C3}"/>
              </a:ext>
            </a:extLst>
          </p:cNvPr>
          <p:cNvSpPr>
            <a:spLocks noChangeArrowheads="1"/>
          </p:cNvSpPr>
          <p:nvPr/>
        </p:nvSpPr>
        <p:spPr bwMode="auto">
          <a:xfrm>
            <a:off x="7981661" y="1504951"/>
            <a:ext cx="184731" cy="535531"/>
          </a:xfrm>
          <a:prstGeom prst="rect">
            <a:avLst/>
          </a:prstGeom>
          <a:solidFill>
            <a:schemeClr val="bg1"/>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ct val="20000"/>
              </a:spcBef>
            </a:pPr>
            <a:endParaRPr lang="en-US" altLang="en-US" sz="3200"/>
          </a:p>
        </p:txBody>
      </p:sp>
    </p:spTree>
    <p:extLst>
      <p:ext uri="{BB962C8B-B14F-4D97-AF65-F5344CB8AC3E}">
        <p14:creationId xmlns:p14="http://schemas.microsoft.com/office/powerpoint/2010/main" val="603483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5">
            <a:extLst>
              <a:ext uri="{FF2B5EF4-FFF2-40B4-BE49-F238E27FC236}">
                <a16:creationId xmlns:a16="http://schemas.microsoft.com/office/drawing/2014/main" id="{CEA9DB0C-A226-A44A-AB46-910F6C2FFDAF}"/>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1195388" y="1816100"/>
            <a:ext cx="8693150" cy="4749800"/>
          </a:xfrm>
          <a:noFill/>
        </p:spPr>
      </p:pic>
      <p:sp>
        <p:nvSpPr>
          <p:cNvPr id="24579" name="Rectangle 7">
            <a:extLst>
              <a:ext uri="{FF2B5EF4-FFF2-40B4-BE49-F238E27FC236}">
                <a16:creationId xmlns:a16="http://schemas.microsoft.com/office/drawing/2014/main" id="{82DCA3B6-8A22-514D-8D1C-192B6E526A4B}"/>
              </a:ext>
            </a:extLst>
          </p:cNvPr>
          <p:cNvSpPr>
            <a:spLocks noGrp="1" noChangeArrowheads="1"/>
          </p:cNvSpPr>
          <p:nvPr>
            <p:ph type="title"/>
          </p:nvPr>
        </p:nvSpPr>
        <p:spPr>
          <a:xfrm>
            <a:off x="1066800" y="206756"/>
            <a:ext cx="10058400" cy="1609344"/>
          </a:xfrm>
        </p:spPr>
        <p:txBody>
          <a:bodyPr/>
          <a:lstStyle/>
          <a:p>
            <a:pPr eaLnBrk="1" hangingPunct="1"/>
            <a:r>
              <a:rPr lang="en-US" altLang="en-US" dirty="0">
                <a:solidFill>
                  <a:schemeClr val="tx1"/>
                </a:solidFill>
              </a:rPr>
              <a:t>One-sided</a:t>
            </a:r>
            <a:r>
              <a:rPr lang="en-US" altLang="en-US" i="1" dirty="0">
                <a:solidFill>
                  <a:schemeClr val="tx1"/>
                </a:solidFill>
              </a:rPr>
              <a:t> P</a:t>
            </a:r>
            <a:r>
              <a:rPr lang="en-US" altLang="en-US" dirty="0">
                <a:solidFill>
                  <a:schemeClr val="tx1"/>
                </a:solidFill>
              </a:rPr>
              <a:t>-value for </a:t>
            </a:r>
            <a:r>
              <a:rPr lang="en-US" altLang="en-US" i="1" dirty="0" err="1">
                <a:solidFill>
                  <a:schemeClr val="tx1"/>
                </a:solidFill>
              </a:rPr>
              <a:t>z</a:t>
            </a:r>
            <a:r>
              <a:rPr lang="en-US" altLang="en-US" baseline="-25000" dirty="0" err="1">
                <a:solidFill>
                  <a:schemeClr val="tx1"/>
                </a:solidFill>
              </a:rPr>
              <a:t>stat</a:t>
            </a:r>
            <a:r>
              <a:rPr lang="en-US" altLang="en-US" dirty="0">
                <a:solidFill>
                  <a:schemeClr val="tx1"/>
                </a:solidFill>
              </a:rPr>
              <a:t> of 3.0</a:t>
            </a:r>
          </a:p>
        </p:txBody>
      </p:sp>
    </p:spTree>
    <p:extLst>
      <p:ext uri="{BB962C8B-B14F-4D97-AF65-F5344CB8AC3E}">
        <p14:creationId xmlns:p14="http://schemas.microsoft.com/office/powerpoint/2010/main" val="3555002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FE7C89A-1A6E-E24E-8E0D-4A733F6AF05D}"/>
              </a:ext>
            </a:extLst>
          </p:cNvPr>
          <p:cNvSpPr>
            <a:spLocks noGrp="1" noChangeArrowheads="1"/>
          </p:cNvSpPr>
          <p:nvPr>
            <p:ph type="title"/>
          </p:nvPr>
        </p:nvSpPr>
        <p:spPr>
          <a:xfrm>
            <a:off x="1219200" y="571818"/>
            <a:ext cx="10972800" cy="1143000"/>
          </a:xfrm>
        </p:spPr>
        <p:txBody>
          <a:bodyPr/>
          <a:lstStyle/>
          <a:p>
            <a:pPr eaLnBrk="1" hangingPunct="1"/>
            <a:r>
              <a:rPr lang="en-US" altLang="en-US" sz="4800" dirty="0"/>
              <a:t>Two-Sided </a:t>
            </a:r>
            <a:r>
              <a:rPr lang="en-US" altLang="en-US" sz="4800" i="1" dirty="0"/>
              <a:t>P</a:t>
            </a:r>
            <a:r>
              <a:rPr lang="en-US" altLang="en-US" sz="4800" dirty="0"/>
              <a:t>-Value</a:t>
            </a:r>
          </a:p>
        </p:txBody>
      </p:sp>
      <p:sp>
        <p:nvSpPr>
          <p:cNvPr id="25603" name="Rectangle 3">
            <a:extLst>
              <a:ext uri="{FF2B5EF4-FFF2-40B4-BE49-F238E27FC236}">
                <a16:creationId xmlns:a16="http://schemas.microsoft.com/office/drawing/2014/main" id="{191846EE-5F85-6948-A398-1B162B006851}"/>
              </a:ext>
            </a:extLst>
          </p:cNvPr>
          <p:cNvSpPr>
            <a:spLocks noGrp="1" noChangeArrowheads="1"/>
          </p:cNvSpPr>
          <p:nvPr>
            <p:ph type="body" sz="half" idx="1"/>
          </p:nvPr>
        </p:nvSpPr>
        <p:spPr>
          <a:xfrm>
            <a:off x="620079" y="2008010"/>
            <a:ext cx="4968876" cy="4525963"/>
          </a:xfrm>
        </p:spPr>
        <p:txBody>
          <a:bodyPr>
            <a:normAutofit/>
          </a:bodyPr>
          <a:lstStyle/>
          <a:p>
            <a:pPr eaLnBrk="1" hangingPunct="1"/>
            <a:r>
              <a:rPr lang="en-US" altLang="en-US" sz="2400" dirty="0"/>
              <a:t>One-sided </a:t>
            </a:r>
            <a:r>
              <a:rPr lang="en-US" altLang="en-US" sz="2400" i="1" dirty="0"/>
              <a:t>H</a:t>
            </a:r>
            <a:r>
              <a:rPr lang="en-US" altLang="en-US" sz="2400" baseline="-25000" dirty="0"/>
              <a:t>a</a:t>
            </a:r>
            <a:r>
              <a:rPr lang="en-US" altLang="en-US" sz="2400" dirty="0"/>
              <a:t> </a:t>
            </a:r>
            <a:r>
              <a:rPr lang="en-US" altLang="en-US" sz="2400" dirty="0">
                <a:sym typeface="Symbol" pitchFamily="2" charset="2"/>
              </a:rPr>
              <a:t> AUC in tail beyond </a:t>
            </a:r>
            <a:r>
              <a:rPr lang="en-US" altLang="en-US" sz="2400" dirty="0" err="1">
                <a:sym typeface="Symbol" pitchFamily="2" charset="2"/>
              </a:rPr>
              <a:t>z</a:t>
            </a:r>
            <a:r>
              <a:rPr lang="en-US" altLang="en-US" sz="2400" baseline="-25000" dirty="0" err="1">
                <a:sym typeface="Symbol" pitchFamily="2" charset="2"/>
              </a:rPr>
              <a:t>stat</a:t>
            </a:r>
            <a:r>
              <a:rPr lang="en-US" altLang="en-US" sz="2400" dirty="0">
                <a:sym typeface="Symbol" pitchFamily="2" charset="2"/>
              </a:rPr>
              <a:t> </a:t>
            </a:r>
          </a:p>
          <a:p>
            <a:pPr eaLnBrk="1" hangingPunct="1"/>
            <a:r>
              <a:rPr lang="en-US" altLang="en-US" sz="2400" dirty="0">
                <a:sym typeface="Symbol" pitchFamily="2" charset="2"/>
              </a:rPr>
              <a:t>Two-sided </a:t>
            </a:r>
            <a:r>
              <a:rPr lang="en-US" altLang="en-US" sz="2400" i="1" dirty="0"/>
              <a:t>H</a:t>
            </a:r>
            <a:r>
              <a:rPr lang="en-US" altLang="en-US" sz="2400" baseline="-25000" dirty="0"/>
              <a:t>a</a:t>
            </a:r>
            <a:r>
              <a:rPr lang="en-US" altLang="en-US" sz="2400" dirty="0"/>
              <a:t> </a:t>
            </a:r>
            <a:r>
              <a:rPr lang="en-US" altLang="en-US" sz="2400" dirty="0">
                <a:sym typeface="Symbol" pitchFamily="2" charset="2"/>
              </a:rPr>
              <a:t> consider potential deviations in both directions  double the one-sided </a:t>
            </a:r>
            <a:r>
              <a:rPr lang="en-US" altLang="en-US" sz="2400" i="1" dirty="0">
                <a:sym typeface="Symbol" pitchFamily="2" charset="2"/>
              </a:rPr>
              <a:t>P</a:t>
            </a:r>
            <a:r>
              <a:rPr lang="en-US" altLang="en-US" sz="2400" dirty="0">
                <a:sym typeface="Symbol" pitchFamily="2" charset="2"/>
              </a:rPr>
              <a:t>-value</a:t>
            </a:r>
            <a:endParaRPr lang="en-US" altLang="en-US" sz="2400" dirty="0"/>
          </a:p>
        </p:txBody>
      </p:sp>
      <p:pic>
        <p:nvPicPr>
          <p:cNvPr id="25604" name="Picture 12">
            <a:extLst>
              <a:ext uri="{FF2B5EF4-FFF2-40B4-BE49-F238E27FC236}">
                <a16:creationId xmlns:a16="http://schemas.microsoft.com/office/drawing/2014/main" id="{9E802402-158E-244A-A0A8-B4774A2AC80F}"/>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5494496" y="2160270"/>
            <a:ext cx="6367491" cy="3310890"/>
          </a:xfrm>
          <a:noFill/>
          <a:ln w="6350">
            <a:solidFill>
              <a:schemeClr val="tx1"/>
            </a:solidFill>
            <a:miter lim="800000"/>
            <a:headEnd/>
            <a:tailEnd/>
          </a:ln>
        </p:spPr>
      </p:pic>
      <p:sp>
        <p:nvSpPr>
          <p:cNvPr id="25605" name="Text Box 14">
            <a:extLst>
              <a:ext uri="{FF2B5EF4-FFF2-40B4-BE49-F238E27FC236}">
                <a16:creationId xmlns:a16="http://schemas.microsoft.com/office/drawing/2014/main" id="{EB82744D-45D4-7640-B31B-E7EF7A5BD4CB}"/>
              </a:ext>
            </a:extLst>
          </p:cNvPr>
          <p:cNvSpPr txBox="1">
            <a:spLocks noChangeArrowheads="1"/>
          </p:cNvSpPr>
          <p:nvPr/>
        </p:nvSpPr>
        <p:spPr bwMode="auto">
          <a:xfrm>
            <a:off x="620079" y="4270992"/>
            <a:ext cx="434975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dirty="0">
                <a:sym typeface="Symbol" pitchFamily="2" charset="2"/>
              </a:rPr>
              <a:t>Examples: If one-sided </a:t>
            </a:r>
            <a:r>
              <a:rPr lang="en-US" altLang="en-US" sz="2000" i="1" dirty="0"/>
              <a:t>P</a:t>
            </a:r>
            <a:r>
              <a:rPr lang="en-US" altLang="en-US" sz="2000" dirty="0"/>
              <a:t> = 0.0010, then two-sided </a:t>
            </a:r>
            <a:r>
              <a:rPr lang="en-US" altLang="en-US" sz="2000" i="1" dirty="0"/>
              <a:t>P</a:t>
            </a:r>
            <a:r>
              <a:rPr lang="en-US" altLang="en-US" sz="2000" dirty="0"/>
              <a:t> = 2 × 0.0010 = 0.0020. If one-sided </a:t>
            </a:r>
            <a:r>
              <a:rPr lang="en-US" altLang="en-US" sz="2000" i="1" dirty="0"/>
              <a:t>P </a:t>
            </a:r>
            <a:r>
              <a:rPr lang="en-US" altLang="en-US" sz="2000" dirty="0"/>
              <a:t>= 0.2743, then two-sided </a:t>
            </a:r>
            <a:r>
              <a:rPr lang="en-US" altLang="en-US" sz="2000" i="1" dirty="0"/>
              <a:t>P</a:t>
            </a:r>
            <a:r>
              <a:rPr lang="en-US" altLang="en-US" sz="2000" dirty="0"/>
              <a:t> = 2 × 0.2743 = 0.5486.</a:t>
            </a:r>
          </a:p>
        </p:txBody>
      </p:sp>
    </p:spTree>
    <p:extLst>
      <p:ext uri="{BB962C8B-B14F-4D97-AF65-F5344CB8AC3E}">
        <p14:creationId xmlns:p14="http://schemas.microsoft.com/office/powerpoint/2010/main" val="4087877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04B57276-9D01-534E-BD63-0FFEC446D887}"/>
              </a:ext>
            </a:extLst>
          </p:cNvPr>
          <p:cNvSpPr>
            <a:spLocks noGrp="1" noChangeArrowheads="1"/>
          </p:cNvSpPr>
          <p:nvPr>
            <p:ph type="title"/>
          </p:nvPr>
        </p:nvSpPr>
        <p:spPr>
          <a:xfrm>
            <a:off x="1235964" y="891384"/>
            <a:ext cx="9720072" cy="977861"/>
          </a:xfrm>
        </p:spPr>
        <p:txBody>
          <a:bodyPr>
            <a:normAutofit/>
          </a:bodyPr>
          <a:lstStyle/>
          <a:p>
            <a:pPr eaLnBrk="1" hangingPunct="1"/>
            <a:r>
              <a:rPr lang="en-US" altLang="en-US" sz="4400" dirty="0"/>
              <a:t>Interpretation </a:t>
            </a:r>
          </a:p>
        </p:txBody>
      </p:sp>
      <p:sp>
        <p:nvSpPr>
          <p:cNvPr id="156675" name="Rectangle 3">
            <a:extLst>
              <a:ext uri="{FF2B5EF4-FFF2-40B4-BE49-F238E27FC236}">
                <a16:creationId xmlns:a16="http://schemas.microsoft.com/office/drawing/2014/main" id="{A7502F36-4693-E14A-8CDE-D1E91E1388F5}"/>
              </a:ext>
            </a:extLst>
          </p:cNvPr>
          <p:cNvSpPr>
            <a:spLocks noGrp="1" noChangeArrowheads="1"/>
          </p:cNvSpPr>
          <p:nvPr>
            <p:ph type="body" idx="1"/>
          </p:nvPr>
        </p:nvSpPr>
        <p:spPr>
          <a:xfrm>
            <a:off x="1322567" y="2496103"/>
            <a:ext cx="9760226" cy="2784557"/>
          </a:xfrm>
        </p:spPr>
        <p:txBody>
          <a:bodyPr>
            <a:normAutofit/>
          </a:bodyPr>
          <a:lstStyle/>
          <a:p>
            <a:pPr eaLnBrk="1" hangingPunct="1"/>
            <a:r>
              <a:rPr lang="en-US" altLang="en-US" sz="3200" i="1" dirty="0"/>
              <a:t>P</a:t>
            </a:r>
            <a:r>
              <a:rPr lang="en-US" altLang="en-US" sz="3200" dirty="0"/>
              <a:t>-value answer the question: What is the probability of the observed test statistic … </a:t>
            </a:r>
            <a:r>
              <a:rPr lang="en-US" altLang="en-US" sz="3200" b="1" dirty="0"/>
              <a:t>when </a:t>
            </a:r>
            <a:r>
              <a:rPr lang="en-US" altLang="en-US" sz="3200" b="1" i="1" dirty="0"/>
              <a:t>H</a:t>
            </a:r>
            <a:r>
              <a:rPr lang="en-US" altLang="en-US" sz="3200" b="1" baseline="-25000" dirty="0"/>
              <a:t>0</a:t>
            </a:r>
            <a:r>
              <a:rPr lang="en-US" altLang="en-US" sz="3200" b="1" i="1" dirty="0"/>
              <a:t> is true</a:t>
            </a:r>
            <a:r>
              <a:rPr lang="en-US" altLang="en-US" sz="3200" b="1" dirty="0"/>
              <a:t>?</a:t>
            </a:r>
            <a:r>
              <a:rPr lang="en-US" altLang="en-US" sz="3200" dirty="0">
                <a:sym typeface="Symbol" pitchFamily="2" charset="2"/>
              </a:rPr>
              <a:t>  </a:t>
            </a:r>
          </a:p>
          <a:p>
            <a:pPr eaLnBrk="1" hangingPunct="1"/>
            <a:r>
              <a:rPr lang="en-US" altLang="en-US" sz="3200" b="1" dirty="0">
                <a:sym typeface="Symbol" pitchFamily="2" charset="2"/>
              </a:rPr>
              <a:t>Thus, smaller and smaller </a:t>
            </a:r>
            <a:r>
              <a:rPr lang="en-US" altLang="en-US" sz="3200" b="1" i="1" dirty="0">
                <a:sym typeface="Symbol" pitchFamily="2" charset="2"/>
              </a:rPr>
              <a:t>P</a:t>
            </a:r>
            <a:r>
              <a:rPr lang="en-US" altLang="en-US" sz="3200" b="1" dirty="0">
                <a:sym typeface="Symbol" pitchFamily="2" charset="2"/>
              </a:rPr>
              <a:t>-values provide stronger and stronger </a:t>
            </a:r>
            <a:r>
              <a:rPr lang="en-US" altLang="en-US" sz="3200" b="1" i="1" dirty="0">
                <a:sym typeface="Symbol" pitchFamily="2" charset="2"/>
              </a:rPr>
              <a:t>evidence against</a:t>
            </a:r>
            <a:r>
              <a:rPr lang="en-US" altLang="en-US" sz="3200" b="1" dirty="0">
                <a:sym typeface="Symbol" pitchFamily="2" charset="2"/>
              </a:rPr>
              <a:t> </a:t>
            </a:r>
            <a:r>
              <a:rPr lang="en-US" altLang="en-US" sz="3200" b="1" i="1" dirty="0">
                <a:sym typeface="Symbol" pitchFamily="2" charset="2"/>
              </a:rPr>
              <a:t>H</a:t>
            </a:r>
            <a:r>
              <a:rPr lang="en-US" altLang="en-US" sz="3200" b="1" baseline="-25000" dirty="0">
                <a:sym typeface="Symbol" pitchFamily="2" charset="2"/>
              </a:rPr>
              <a:t>0</a:t>
            </a:r>
          </a:p>
          <a:p>
            <a:pPr eaLnBrk="1" hangingPunct="1"/>
            <a:r>
              <a:rPr lang="en-US" altLang="en-US" sz="3200" dirty="0">
                <a:sym typeface="Symbol" pitchFamily="2" charset="2"/>
              </a:rPr>
              <a:t>Small </a:t>
            </a:r>
            <a:r>
              <a:rPr lang="en-US" altLang="en-US" sz="3200" i="1" dirty="0">
                <a:sym typeface="Symbol" pitchFamily="2" charset="2"/>
              </a:rPr>
              <a:t>P</a:t>
            </a:r>
            <a:r>
              <a:rPr lang="en-US" altLang="en-US" sz="3200" dirty="0">
                <a:sym typeface="Symbol" pitchFamily="2" charset="2"/>
              </a:rPr>
              <a:t>-value  strong evidence</a:t>
            </a:r>
          </a:p>
        </p:txBody>
      </p:sp>
    </p:spTree>
    <p:extLst>
      <p:ext uri="{BB962C8B-B14F-4D97-AF65-F5344CB8AC3E}">
        <p14:creationId xmlns:p14="http://schemas.microsoft.com/office/powerpoint/2010/main" val="27047078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67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56675">
                                            <p:txEl>
                                              <p:pRg st="0" end="0"/>
                                            </p:txEl>
                                          </p:spTgt>
                                        </p:tgtEl>
                                        <p:attrNameLst>
                                          <p:attrName>ppt_c</p:attrName>
                                        </p:attrNameLst>
                                      </p:cBhvr>
                                      <p:to>
                                        <a:schemeClr val="bg2"/>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667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56675">
                                            <p:txEl>
                                              <p:pRg st="1" end="1"/>
                                            </p:txEl>
                                          </p:spTgt>
                                        </p:tgtEl>
                                        <p:attrNameLst>
                                          <p:attrName>ppt_c</p:attrName>
                                        </p:attrNameLst>
                                      </p:cBhvr>
                                      <p:to>
                                        <a:schemeClr val="bg2"/>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667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56675">
                                            <p:txEl>
                                              <p:pRg st="2" end="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D935A59F-AFA4-6845-95CC-2088D3C2820F}"/>
              </a:ext>
            </a:extLst>
          </p:cNvPr>
          <p:cNvSpPr>
            <a:spLocks noGrp="1" noChangeArrowheads="1"/>
          </p:cNvSpPr>
          <p:nvPr>
            <p:ph type="title"/>
          </p:nvPr>
        </p:nvSpPr>
        <p:spPr/>
        <p:txBody>
          <a:bodyPr/>
          <a:lstStyle/>
          <a:p>
            <a:pPr eaLnBrk="1" hangingPunct="1"/>
            <a:r>
              <a:rPr lang="en-US" altLang="en-US"/>
              <a:t>Interpretation </a:t>
            </a:r>
          </a:p>
        </p:txBody>
      </p:sp>
      <p:sp>
        <p:nvSpPr>
          <p:cNvPr id="239619" name="Rectangle 3">
            <a:extLst>
              <a:ext uri="{FF2B5EF4-FFF2-40B4-BE49-F238E27FC236}">
                <a16:creationId xmlns:a16="http://schemas.microsoft.com/office/drawing/2014/main" id="{C9A807DE-74D1-BC4F-AD76-EF70656A8E68}"/>
              </a:ext>
            </a:extLst>
          </p:cNvPr>
          <p:cNvSpPr>
            <a:spLocks noGrp="1" noChangeArrowheads="1"/>
          </p:cNvSpPr>
          <p:nvPr>
            <p:ph type="body" idx="1"/>
          </p:nvPr>
        </p:nvSpPr>
        <p:spPr>
          <a:xfrm>
            <a:off x="1981200" y="1328739"/>
            <a:ext cx="8229600" cy="4567237"/>
          </a:xfrm>
        </p:spPr>
        <p:txBody>
          <a:bodyPr/>
          <a:lstStyle/>
          <a:p>
            <a:pPr eaLnBrk="1" hangingPunct="1">
              <a:buFontTx/>
              <a:buNone/>
              <a:defRPr/>
            </a:pPr>
            <a:r>
              <a:rPr lang="en-US" b="1" dirty="0">
                <a:sym typeface="Symbol" pitchFamily="18" charset="2"/>
              </a:rPr>
              <a:t>Conventions*</a:t>
            </a:r>
            <a:endParaRPr lang="en-US" b="1" dirty="0">
              <a:effectLst>
                <a:outerShdw blurRad="38100" dist="38100" dir="2700000" algn="tl">
                  <a:srgbClr val="C0C0C0"/>
                </a:outerShdw>
              </a:effectLst>
              <a:sym typeface="Symbol" pitchFamily="18" charset="2"/>
            </a:endParaRPr>
          </a:p>
          <a:p>
            <a:pPr eaLnBrk="1" hangingPunct="1">
              <a:buFontTx/>
              <a:buNone/>
              <a:defRPr/>
            </a:pPr>
            <a:r>
              <a:rPr lang="en-US" i="1" dirty="0"/>
              <a:t>P</a:t>
            </a:r>
            <a:r>
              <a:rPr lang="en-US" dirty="0"/>
              <a:t> &gt; 0.10 </a:t>
            </a:r>
            <a:r>
              <a:rPr lang="en-US" dirty="0">
                <a:sym typeface="Symbol" pitchFamily="18" charset="2"/>
              </a:rPr>
              <a:t> non-significant evidence </a:t>
            </a:r>
            <a:r>
              <a:rPr lang="en-US" b="1" dirty="0">
                <a:sym typeface="Symbol" pitchFamily="18" charset="2"/>
              </a:rPr>
              <a:t>against </a:t>
            </a:r>
            <a:r>
              <a:rPr lang="en-US" b="1" i="1" dirty="0">
                <a:sym typeface="Symbol" pitchFamily="18" charset="2"/>
              </a:rPr>
              <a:t>H</a:t>
            </a:r>
            <a:r>
              <a:rPr lang="en-US" b="1" baseline="-25000" dirty="0">
                <a:sym typeface="Symbol" pitchFamily="18" charset="2"/>
              </a:rPr>
              <a:t>0</a:t>
            </a:r>
            <a:endParaRPr lang="en-US" b="1" dirty="0">
              <a:sym typeface="Symbol" pitchFamily="18" charset="2"/>
            </a:endParaRPr>
          </a:p>
          <a:p>
            <a:pPr eaLnBrk="1" hangingPunct="1">
              <a:buFontTx/>
              <a:buNone/>
              <a:defRPr/>
            </a:pPr>
            <a:r>
              <a:rPr lang="en-US" dirty="0">
                <a:sym typeface="Symbol" pitchFamily="18" charset="2"/>
              </a:rPr>
              <a:t>0.05 &lt; </a:t>
            </a:r>
            <a:r>
              <a:rPr lang="en-US" i="1" dirty="0">
                <a:sym typeface="Symbol" pitchFamily="18" charset="2"/>
              </a:rPr>
              <a:t>P</a:t>
            </a:r>
            <a:r>
              <a:rPr lang="en-US" dirty="0">
                <a:sym typeface="Symbol" pitchFamily="18" charset="2"/>
              </a:rPr>
              <a:t>  0.10  marginally significant evidence</a:t>
            </a:r>
          </a:p>
          <a:p>
            <a:pPr eaLnBrk="1" hangingPunct="1">
              <a:buFontTx/>
              <a:buNone/>
              <a:defRPr/>
            </a:pPr>
            <a:r>
              <a:rPr lang="en-US" dirty="0">
                <a:sym typeface="Symbol" pitchFamily="18" charset="2"/>
              </a:rPr>
              <a:t>0.01 &lt; </a:t>
            </a:r>
            <a:r>
              <a:rPr lang="en-US" i="1" dirty="0">
                <a:sym typeface="Symbol" pitchFamily="18" charset="2"/>
              </a:rPr>
              <a:t>P </a:t>
            </a:r>
            <a:r>
              <a:rPr lang="en-US" dirty="0">
                <a:sym typeface="Symbol" pitchFamily="18" charset="2"/>
              </a:rPr>
              <a:t> 0.05  significant evidence against </a:t>
            </a:r>
            <a:r>
              <a:rPr lang="en-US" i="1" dirty="0">
                <a:sym typeface="Symbol" pitchFamily="18" charset="2"/>
              </a:rPr>
              <a:t>H</a:t>
            </a:r>
            <a:r>
              <a:rPr lang="en-US" baseline="-25000" dirty="0">
                <a:sym typeface="Symbol" pitchFamily="18" charset="2"/>
              </a:rPr>
              <a:t>0</a:t>
            </a:r>
            <a:r>
              <a:rPr lang="en-US" dirty="0">
                <a:sym typeface="Symbol" pitchFamily="18" charset="2"/>
              </a:rPr>
              <a:t> </a:t>
            </a:r>
          </a:p>
          <a:p>
            <a:pPr eaLnBrk="1" hangingPunct="1">
              <a:buFontTx/>
              <a:buNone/>
              <a:defRPr/>
            </a:pPr>
            <a:r>
              <a:rPr lang="en-US" i="1" dirty="0">
                <a:sym typeface="Symbol" pitchFamily="18" charset="2"/>
              </a:rPr>
              <a:t>P</a:t>
            </a:r>
            <a:r>
              <a:rPr lang="en-US" dirty="0">
                <a:sym typeface="Symbol" pitchFamily="18" charset="2"/>
              </a:rPr>
              <a:t>  0.01  highly significant evidence against </a:t>
            </a:r>
            <a:r>
              <a:rPr lang="en-US" i="1" dirty="0">
                <a:sym typeface="Symbol" pitchFamily="18" charset="2"/>
              </a:rPr>
              <a:t>H</a:t>
            </a:r>
            <a:r>
              <a:rPr lang="en-US" baseline="-25000" dirty="0">
                <a:sym typeface="Symbol" pitchFamily="18" charset="2"/>
              </a:rPr>
              <a:t>0</a:t>
            </a:r>
            <a:r>
              <a:rPr lang="en-US" dirty="0">
                <a:sym typeface="Symbol" pitchFamily="18" charset="2"/>
              </a:rPr>
              <a:t> </a:t>
            </a:r>
          </a:p>
          <a:p>
            <a:pPr eaLnBrk="1" hangingPunct="1">
              <a:buFontTx/>
              <a:buNone/>
              <a:defRPr/>
            </a:pPr>
            <a:endParaRPr lang="en-US" dirty="0">
              <a:sym typeface="Symbol" pitchFamily="18" charset="2"/>
            </a:endParaRPr>
          </a:p>
          <a:p>
            <a:pPr eaLnBrk="1" hangingPunct="1">
              <a:buFontTx/>
              <a:buNone/>
              <a:defRPr/>
            </a:pPr>
            <a:r>
              <a:rPr lang="en-US" b="1" dirty="0">
                <a:sym typeface="Symbol" pitchFamily="18" charset="2"/>
              </a:rPr>
              <a:t>Examples</a:t>
            </a:r>
          </a:p>
          <a:p>
            <a:pPr lvl="1" eaLnBrk="1" hangingPunct="1">
              <a:buFontTx/>
              <a:buNone/>
              <a:defRPr/>
            </a:pPr>
            <a:r>
              <a:rPr lang="en-US" i="1" dirty="0">
                <a:sym typeface="Symbol" pitchFamily="18" charset="2"/>
              </a:rPr>
              <a:t>P =</a:t>
            </a:r>
            <a:r>
              <a:rPr lang="en-US" dirty="0">
                <a:sym typeface="Symbol" pitchFamily="18" charset="2"/>
              </a:rPr>
              <a:t>.27  non-significant evidence against </a:t>
            </a:r>
            <a:r>
              <a:rPr lang="en-US" i="1" dirty="0">
                <a:sym typeface="Symbol" pitchFamily="18" charset="2"/>
              </a:rPr>
              <a:t>H</a:t>
            </a:r>
            <a:r>
              <a:rPr lang="en-US" baseline="-25000" dirty="0">
                <a:sym typeface="Symbol" pitchFamily="18" charset="2"/>
              </a:rPr>
              <a:t>0</a:t>
            </a:r>
            <a:r>
              <a:rPr lang="en-US" dirty="0">
                <a:sym typeface="Symbol" pitchFamily="18" charset="2"/>
              </a:rPr>
              <a:t> </a:t>
            </a:r>
          </a:p>
          <a:p>
            <a:pPr lvl="1" eaLnBrk="1" hangingPunct="1">
              <a:buFontTx/>
              <a:buNone/>
              <a:defRPr/>
            </a:pPr>
            <a:r>
              <a:rPr lang="en-US" i="1" dirty="0">
                <a:sym typeface="Symbol" pitchFamily="18" charset="2"/>
              </a:rPr>
              <a:t>P</a:t>
            </a:r>
            <a:r>
              <a:rPr lang="en-US" dirty="0">
                <a:sym typeface="Symbol" pitchFamily="18" charset="2"/>
              </a:rPr>
              <a:t> =.01  highly significant evidence against </a:t>
            </a:r>
            <a:r>
              <a:rPr lang="en-US" i="1" dirty="0">
                <a:sym typeface="Symbol" pitchFamily="18" charset="2"/>
              </a:rPr>
              <a:t>H</a:t>
            </a:r>
            <a:r>
              <a:rPr lang="en-US" baseline="-25000" dirty="0">
                <a:sym typeface="Symbol" pitchFamily="18" charset="2"/>
              </a:rPr>
              <a:t>0</a:t>
            </a:r>
            <a:r>
              <a:rPr lang="en-US" dirty="0">
                <a:sym typeface="Symbol" pitchFamily="18" charset="2"/>
              </a:rPr>
              <a:t> </a:t>
            </a:r>
          </a:p>
        </p:txBody>
      </p:sp>
      <p:sp>
        <p:nvSpPr>
          <p:cNvPr id="27652" name="Text Box 4">
            <a:extLst>
              <a:ext uri="{FF2B5EF4-FFF2-40B4-BE49-F238E27FC236}">
                <a16:creationId xmlns:a16="http://schemas.microsoft.com/office/drawing/2014/main" id="{DEBC5AA8-3CB1-744C-93BC-B8EE9DB7EA61}"/>
              </a:ext>
            </a:extLst>
          </p:cNvPr>
          <p:cNvSpPr txBox="1">
            <a:spLocks noChangeArrowheads="1"/>
          </p:cNvSpPr>
          <p:nvPr/>
        </p:nvSpPr>
        <p:spPr bwMode="auto">
          <a:xfrm>
            <a:off x="2282825" y="6059489"/>
            <a:ext cx="7729538" cy="473075"/>
          </a:xfrm>
          <a:prstGeom prst="rect">
            <a:avLst/>
          </a:prstGeom>
          <a:solidFill>
            <a:schemeClr val="accent1"/>
          </a:solidFill>
          <a:ln w="1587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t>* It is </a:t>
            </a:r>
            <a:r>
              <a:rPr lang="en-US" altLang="en-US" sz="2400" b="1" i="1"/>
              <a:t>unwise</a:t>
            </a:r>
            <a:r>
              <a:rPr lang="en-US" altLang="en-US" sz="2400" b="1"/>
              <a:t> to draw firm borders for “significance”</a:t>
            </a:r>
          </a:p>
        </p:txBody>
      </p:sp>
    </p:spTree>
    <p:extLst>
      <p:ext uri="{BB962C8B-B14F-4D97-AF65-F5344CB8AC3E}">
        <p14:creationId xmlns:p14="http://schemas.microsoft.com/office/powerpoint/2010/main" val="5543101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9619">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239619">
                                            <p:txEl>
                                              <p:pRg st="0" end="0"/>
                                            </p:txEl>
                                          </p:spTgt>
                                        </p:tgtEl>
                                        <p:attrNameLst>
                                          <p:attrName>ppt_c</p:attrName>
                                        </p:attrNameLst>
                                      </p:cBhvr>
                                      <p:to>
                                        <a:schemeClr val="bg2"/>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9619">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239619">
                                            <p:txEl>
                                              <p:pRg st="1" end="1"/>
                                            </p:txEl>
                                          </p:spTgt>
                                        </p:tgtEl>
                                        <p:attrNameLst>
                                          <p:attrName>ppt_c</p:attrName>
                                        </p:attrNameLst>
                                      </p:cBhvr>
                                      <p:to>
                                        <a:schemeClr val="bg2"/>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9619">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239619">
                                            <p:txEl>
                                              <p:pRg st="2" end="2"/>
                                            </p:txEl>
                                          </p:spTgt>
                                        </p:tgtEl>
                                        <p:attrNameLst>
                                          <p:attrName>ppt_c</p:attrName>
                                        </p:attrNameLst>
                                      </p:cBhvr>
                                      <p:to>
                                        <a:schemeClr val="bg2"/>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9619">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239619">
                                            <p:txEl>
                                              <p:pRg st="3" end="3"/>
                                            </p:txEl>
                                          </p:spTgt>
                                        </p:tgtEl>
                                        <p:attrNameLst>
                                          <p:attrName>ppt_c</p:attrName>
                                        </p:attrNameLst>
                                      </p:cBhvr>
                                      <p:to>
                                        <a:schemeClr val="bg2"/>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9619">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239619">
                                            <p:txEl>
                                              <p:pRg st="4" end="4"/>
                                            </p:txEl>
                                          </p:spTgt>
                                        </p:tgtEl>
                                        <p:attrNameLst>
                                          <p:attrName>ppt_c</p:attrName>
                                        </p:attrNameLst>
                                      </p:cBhvr>
                                      <p:to>
                                        <a:schemeClr val="bg2"/>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9619">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239619">
                                            <p:txEl>
                                              <p:pRg st="6" end="6"/>
                                            </p:txEl>
                                          </p:spTgt>
                                        </p:tgtEl>
                                        <p:attrNameLst>
                                          <p:attrName>ppt_c</p:attrName>
                                        </p:attrNameLst>
                                      </p:cBhvr>
                                      <p:to>
                                        <a:schemeClr val="bg2"/>
                                      </p:to>
                                    </p:animClr>
                                  </p:subTnLst>
                                </p:cTn>
                              </p:par>
                              <p:par>
                                <p:cTn id="27" presetID="1" presetClass="entr" presetSubtype="0" fill="hold" grpId="0" nodeType="withEffect">
                                  <p:stCondLst>
                                    <p:cond delay="0"/>
                                  </p:stCondLst>
                                  <p:childTnLst>
                                    <p:set>
                                      <p:cBhvr>
                                        <p:cTn id="28" dur="1" fill="hold">
                                          <p:stCondLst>
                                            <p:cond delay="0"/>
                                          </p:stCondLst>
                                        </p:cTn>
                                        <p:tgtEl>
                                          <p:spTgt spid="239619">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239619">
                                            <p:txEl>
                                              <p:pRg st="7" end="7"/>
                                            </p:txEl>
                                          </p:spTgt>
                                        </p:tgtEl>
                                        <p:attrNameLst>
                                          <p:attrName>ppt_c</p:attrName>
                                        </p:attrNameLst>
                                      </p:cBhvr>
                                      <p:to>
                                        <a:schemeClr val="bg2"/>
                                      </p:to>
                                    </p:animClr>
                                  </p:subTnLst>
                                </p:cTn>
                              </p:par>
                              <p:par>
                                <p:cTn id="29" presetID="1" presetClass="entr" presetSubtype="0" fill="hold" grpId="0" nodeType="withEffect">
                                  <p:stCondLst>
                                    <p:cond delay="0"/>
                                  </p:stCondLst>
                                  <p:childTnLst>
                                    <p:set>
                                      <p:cBhvr>
                                        <p:cTn id="30" dur="1" fill="hold">
                                          <p:stCondLst>
                                            <p:cond delay="0"/>
                                          </p:stCondLst>
                                        </p:cTn>
                                        <p:tgtEl>
                                          <p:spTgt spid="239619">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239619">
                                            <p:txEl>
                                              <p:pRg st="8" end="8"/>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9"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AC1D2C5-D411-E740-821A-381F0BE92787}"/>
              </a:ext>
            </a:extLst>
          </p:cNvPr>
          <p:cNvSpPr>
            <a:spLocks noGrp="1" noChangeArrowheads="1"/>
          </p:cNvSpPr>
          <p:nvPr>
            <p:ph type="title"/>
          </p:nvPr>
        </p:nvSpPr>
        <p:spPr>
          <a:xfrm>
            <a:off x="1130807" y="746604"/>
            <a:ext cx="9720072" cy="977861"/>
          </a:xfrm>
        </p:spPr>
        <p:txBody>
          <a:bodyPr/>
          <a:lstStyle/>
          <a:p>
            <a:pPr eaLnBrk="1" hangingPunct="1"/>
            <a:r>
              <a:rPr lang="el-GR" altLang="en-US" sz="3600" dirty="0">
                <a:cs typeface="Arial" panose="020B0604020202020204" pitchFamily="34" charset="0"/>
                <a:sym typeface="Symbol" pitchFamily="2" charset="2"/>
              </a:rPr>
              <a:t>α</a:t>
            </a:r>
            <a:r>
              <a:rPr lang="en-US" altLang="en-US" sz="3600" dirty="0">
                <a:cs typeface="Arial" panose="020B0604020202020204" pitchFamily="34" charset="0"/>
                <a:sym typeface="Symbol" pitchFamily="2" charset="2"/>
              </a:rPr>
              <a:t>-</a:t>
            </a:r>
            <a:r>
              <a:rPr lang="en-US" altLang="en-US" sz="4000" dirty="0"/>
              <a:t>Level (Used in some situations)</a:t>
            </a:r>
          </a:p>
        </p:txBody>
      </p:sp>
      <p:sp>
        <p:nvSpPr>
          <p:cNvPr id="222211" name="Rectangle 3">
            <a:extLst>
              <a:ext uri="{FF2B5EF4-FFF2-40B4-BE49-F238E27FC236}">
                <a16:creationId xmlns:a16="http://schemas.microsoft.com/office/drawing/2014/main" id="{E857B4BA-BD53-1648-A1AB-CEC8D31CD701}"/>
              </a:ext>
            </a:extLst>
          </p:cNvPr>
          <p:cNvSpPr>
            <a:spLocks noGrp="1" noChangeArrowheads="1"/>
          </p:cNvSpPr>
          <p:nvPr>
            <p:ph type="body" idx="1"/>
          </p:nvPr>
        </p:nvSpPr>
        <p:spPr/>
        <p:txBody>
          <a:bodyPr/>
          <a:lstStyle/>
          <a:p>
            <a:pPr eaLnBrk="1" hangingPunct="1"/>
            <a:r>
              <a:rPr lang="en-US" altLang="en-US">
                <a:sym typeface="Symbol" pitchFamily="2" charset="2"/>
              </a:rPr>
              <a:t>Let </a:t>
            </a:r>
            <a:r>
              <a:rPr lang="el-GR" altLang="en-US">
                <a:cs typeface="Arial" panose="020B0604020202020204" pitchFamily="34" charset="0"/>
                <a:sym typeface="Symbol" pitchFamily="2" charset="2"/>
              </a:rPr>
              <a:t>α</a:t>
            </a:r>
            <a:r>
              <a:rPr lang="en-US" altLang="en-US">
                <a:cs typeface="Arial" panose="020B0604020202020204" pitchFamily="34" charset="0"/>
                <a:sym typeface="Symbol" pitchFamily="2" charset="2"/>
              </a:rPr>
              <a:t> ≡ probability of erroneously rejecting </a:t>
            </a:r>
            <a:r>
              <a:rPr lang="en-US" altLang="en-US" i="1">
                <a:sym typeface="Symbol" pitchFamily="2" charset="2"/>
              </a:rPr>
              <a:t>H</a:t>
            </a:r>
            <a:r>
              <a:rPr lang="en-US" altLang="en-US" baseline="-25000">
                <a:sym typeface="Symbol" pitchFamily="2" charset="2"/>
              </a:rPr>
              <a:t>0</a:t>
            </a:r>
            <a:r>
              <a:rPr lang="en-US" altLang="en-US">
                <a:sym typeface="Symbol" pitchFamily="2" charset="2"/>
              </a:rPr>
              <a:t> </a:t>
            </a:r>
          </a:p>
          <a:p>
            <a:pPr eaLnBrk="1" hangingPunct="1"/>
            <a:r>
              <a:rPr lang="en-US" altLang="en-US">
                <a:cs typeface="Arial" panose="020B0604020202020204" pitchFamily="34" charset="0"/>
                <a:sym typeface="Symbol" pitchFamily="2" charset="2"/>
              </a:rPr>
              <a:t>Set </a:t>
            </a:r>
            <a:r>
              <a:rPr lang="el-GR" altLang="en-US">
                <a:cs typeface="Arial" panose="020B0604020202020204" pitchFamily="34" charset="0"/>
                <a:sym typeface="Symbol" pitchFamily="2" charset="2"/>
              </a:rPr>
              <a:t>α</a:t>
            </a:r>
            <a:r>
              <a:rPr lang="en-US" altLang="en-US">
                <a:cs typeface="Arial" panose="020B0604020202020204" pitchFamily="34" charset="0"/>
                <a:sym typeface="Symbol" pitchFamily="2" charset="2"/>
              </a:rPr>
              <a:t> threshold (e.g., let </a:t>
            </a:r>
            <a:r>
              <a:rPr lang="el-GR" altLang="en-US">
                <a:cs typeface="Arial" panose="020B0604020202020204" pitchFamily="34" charset="0"/>
                <a:sym typeface="Symbol" pitchFamily="2" charset="2"/>
              </a:rPr>
              <a:t>α</a:t>
            </a:r>
            <a:r>
              <a:rPr lang="en-US" altLang="en-US">
                <a:cs typeface="Arial" panose="020B0604020202020204" pitchFamily="34" charset="0"/>
                <a:sym typeface="Symbol" pitchFamily="2" charset="2"/>
              </a:rPr>
              <a:t> = .10, .05, </a:t>
            </a:r>
            <a:r>
              <a:rPr lang="en-US" altLang="en-US" i="1">
                <a:cs typeface="Arial" panose="020B0604020202020204" pitchFamily="34" charset="0"/>
                <a:sym typeface="Symbol" pitchFamily="2" charset="2"/>
              </a:rPr>
              <a:t>or whatever</a:t>
            </a:r>
            <a:r>
              <a:rPr lang="en-US" altLang="en-US">
                <a:cs typeface="Arial" panose="020B0604020202020204" pitchFamily="34" charset="0"/>
                <a:sym typeface="Symbol" pitchFamily="2" charset="2"/>
              </a:rPr>
              <a:t>)</a:t>
            </a:r>
          </a:p>
          <a:p>
            <a:pPr eaLnBrk="1" hangingPunct="1"/>
            <a:r>
              <a:rPr lang="en-US" altLang="en-US">
                <a:cs typeface="Arial" panose="020B0604020202020204" pitchFamily="34" charset="0"/>
                <a:sym typeface="Symbol" pitchFamily="2" charset="2"/>
              </a:rPr>
              <a:t>Reject </a:t>
            </a:r>
            <a:r>
              <a:rPr lang="en-US" altLang="en-US" i="1">
                <a:cs typeface="Arial" panose="020B0604020202020204" pitchFamily="34" charset="0"/>
                <a:sym typeface="Symbol" pitchFamily="2" charset="2"/>
              </a:rPr>
              <a:t>H</a:t>
            </a:r>
            <a:r>
              <a:rPr lang="en-US" altLang="en-US" baseline="-25000">
                <a:cs typeface="Arial" panose="020B0604020202020204" pitchFamily="34" charset="0"/>
                <a:sym typeface="Symbol" pitchFamily="2" charset="2"/>
              </a:rPr>
              <a:t>0</a:t>
            </a:r>
            <a:r>
              <a:rPr lang="en-US" altLang="en-US">
                <a:cs typeface="Arial" panose="020B0604020202020204" pitchFamily="34" charset="0"/>
                <a:sym typeface="Symbol" pitchFamily="2" charset="2"/>
              </a:rPr>
              <a:t> when </a:t>
            </a:r>
            <a:r>
              <a:rPr lang="en-US" altLang="en-US" i="1">
                <a:cs typeface="Arial" panose="020B0604020202020204" pitchFamily="34" charset="0"/>
                <a:sym typeface="Symbol" pitchFamily="2" charset="2"/>
              </a:rPr>
              <a:t>P </a:t>
            </a:r>
            <a:r>
              <a:rPr lang="en-US" altLang="en-US">
                <a:cs typeface="Arial" panose="020B0604020202020204" pitchFamily="34" charset="0"/>
                <a:sym typeface="Symbol" pitchFamily="2" charset="2"/>
              </a:rPr>
              <a:t>≤ </a:t>
            </a:r>
            <a:r>
              <a:rPr lang="el-GR" altLang="en-US">
                <a:cs typeface="Arial" panose="020B0604020202020204" pitchFamily="34" charset="0"/>
                <a:sym typeface="Symbol" pitchFamily="2" charset="2"/>
              </a:rPr>
              <a:t>α</a:t>
            </a:r>
            <a:endParaRPr lang="en-US" altLang="en-US">
              <a:cs typeface="Arial" panose="020B0604020202020204" pitchFamily="34" charset="0"/>
              <a:sym typeface="Symbol" pitchFamily="2" charset="2"/>
            </a:endParaRPr>
          </a:p>
          <a:p>
            <a:pPr eaLnBrk="1" hangingPunct="1"/>
            <a:r>
              <a:rPr lang="en-US" altLang="en-US">
                <a:cs typeface="Arial" panose="020B0604020202020204" pitchFamily="34" charset="0"/>
                <a:sym typeface="Symbol" pitchFamily="2" charset="2"/>
              </a:rPr>
              <a:t>Retain </a:t>
            </a:r>
            <a:r>
              <a:rPr lang="en-US" altLang="en-US" i="1">
                <a:cs typeface="Arial" panose="020B0604020202020204" pitchFamily="34" charset="0"/>
                <a:sym typeface="Symbol" pitchFamily="2" charset="2"/>
              </a:rPr>
              <a:t>H</a:t>
            </a:r>
            <a:r>
              <a:rPr lang="en-US" altLang="en-US" baseline="-25000">
                <a:cs typeface="Arial" panose="020B0604020202020204" pitchFamily="34" charset="0"/>
                <a:sym typeface="Symbol" pitchFamily="2" charset="2"/>
              </a:rPr>
              <a:t>0</a:t>
            </a:r>
            <a:r>
              <a:rPr lang="en-US" altLang="en-US">
                <a:cs typeface="Arial" panose="020B0604020202020204" pitchFamily="34" charset="0"/>
                <a:sym typeface="Symbol" pitchFamily="2" charset="2"/>
              </a:rPr>
              <a:t> when </a:t>
            </a:r>
            <a:r>
              <a:rPr lang="en-US" altLang="en-US" i="1">
                <a:cs typeface="Arial" panose="020B0604020202020204" pitchFamily="34" charset="0"/>
                <a:sym typeface="Symbol" pitchFamily="2" charset="2"/>
              </a:rPr>
              <a:t>P </a:t>
            </a:r>
            <a:r>
              <a:rPr lang="en-US" altLang="en-US">
                <a:cs typeface="Arial" panose="020B0604020202020204" pitchFamily="34" charset="0"/>
                <a:sym typeface="Symbol" pitchFamily="2" charset="2"/>
              </a:rPr>
              <a:t>&gt; </a:t>
            </a:r>
            <a:r>
              <a:rPr lang="el-GR" altLang="en-US">
                <a:cs typeface="Arial" panose="020B0604020202020204" pitchFamily="34" charset="0"/>
                <a:sym typeface="Symbol" pitchFamily="2" charset="2"/>
              </a:rPr>
              <a:t>α</a:t>
            </a:r>
          </a:p>
          <a:p>
            <a:pPr eaLnBrk="1" hangingPunct="1"/>
            <a:r>
              <a:rPr lang="en-US" altLang="en-US">
                <a:sym typeface="Symbol" pitchFamily="2" charset="2"/>
              </a:rPr>
              <a:t>Example: Set </a:t>
            </a:r>
            <a:r>
              <a:rPr lang="el-GR" altLang="en-US">
                <a:cs typeface="Arial" panose="020B0604020202020204" pitchFamily="34" charset="0"/>
                <a:sym typeface="Symbol" pitchFamily="2" charset="2"/>
              </a:rPr>
              <a:t>α</a:t>
            </a:r>
            <a:r>
              <a:rPr lang="en-US" altLang="en-US">
                <a:cs typeface="Arial" panose="020B0604020202020204" pitchFamily="34" charset="0"/>
                <a:sym typeface="Symbol" pitchFamily="2" charset="2"/>
              </a:rPr>
              <a:t> = .10. Find </a:t>
            </a:r>
            <a:r>
              <a:rPr lang="en-US" altLang="en-US" i="1">
                <a:sym typeface="Symbol" pitchFamily="2" charset="2"/>
              </a:rPr>
              <a:t>P </a:t>
            </a:r>
            <a:r>
              <a:rPr lang="en-US" altLang="en-US">
                <a:sym typeface="Symbol" pitchFamily="2" charset="2"/>
              </a:rPr>
              <a:t>= 0.27  retain </a:t>
            </a:r>
            <a:r>
              <a:rPr lang="en-US" altLang="en-US" i="1">
                <a:sym typeface="Symbol" pitchFamily="2" charset="2"/>
              </a:rPr>
              <a:t>H</a:t>
            </a:r>
            <a:r>
              <a:rPr lang="en-US" altLang="en-US" baseline="-25000">
                <a:sym typeface="Symbol" pitchFamily="2" charset="2"/>
              </a:rPr>
              <a:t>0</a:t>
            </a:r>
            <a:endParaRPr lang="en-US" altLang="en-US">
              <a:sym typeface="Symbol" pitchFamily="2" charset="2"/>
            </a:endParaRPr>
          </a:p>
          <a:p>
            <a:pPr eaLnBrk="1" hangingPunct="1"/>
            <a:r>
              <a:rPr lang="en-US" altLang="en-US">
                <a:sym typeface="Symbol" pitchFamily="2" charset="2"/>
              </a:rPr>
              <a:t>Example: Set </a:t>
            </a:r>
            <a:r>
              <a:rPr lang="el-GR" altLang="en-US">
                <a:cs typeface="Arial" panose="020B0604020202020204" pitchFamily="34" charset="0"/>
                <a:sym typeface="Symbol" pitchFamily="2" charset="2"/>
              </a:rPr>
              <a:t>α</a:t>
            </a:r>
            <a:r>
              <a:rPr lang="en-US" altLang="en-US">
                <a:cs typeface="Arial" panose="020B0604020202020204" pitchFamily="34" charset="0"/>
                <a:sym typeface="Symbol" pitchFamily="2" charset="2"/>
              </a:rPr>
              <a:t> = .01. Find </a:t>
            </a:r>
            <a:r>
              <a:rPr lang="en-US" altLang="en-US" i="1">
                <a:sym typeface="Symbol" pitchFamily="2" charset="2"/>
              </a:rPr>
              <a:t>P </a:t>
            </a:r>
            <a:r>
              <a:rPr lang="en-US" altLang="en-US">
                <a:sym typeface="Symbol" pitchFamily="2" charset="2"/>
              </a:rPr>
              <a:t>= .001  reject </a:t>
            </a:r>
            <a:r>
              <a:rPr lang="en-US" altLang="en-US" i="1">
                <a:sym typeface="Symbol" pitchFamily="2" charset="2"/>
              </a:rPr>
              <a:t>H</a:t>
            </a:r>
            <a:r>
              <a:rPr lang="en-US" altLang="en-US" baseline="-25000">
                <a:sym typeface="Symbol" pitchFamily="2" charset="2"/>
              </a:rPr>
              <a:t>0</a:t>
            </a:r>
          </a:p>
        </p:txBody>
      </p:sp>
    </p:spTree>
    <p:extLst>
      <p:ext uri="{BB962C8B-B14F-4D97-AF65-F5344CB8AC3E}">
        <p14:creationId xmlns:p14="http://schemas.microsoft.com/office/powerpoint/2010/main" val="16861960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2211">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222211">
                                            <p:txEl>
                                              <p:pRg st="0" end="0"/>
                                            </p:txEl>
                                          </p:spTgt>
                                        </p:tgtEl>
                                        <p:attrNameLst>
                                          <p:attrName>ppt_c</p:attrName>
                                        </p:attrNameLst>
                                      </p:cBhvr>
                                      <p:to>
                                        <a:schemeClr val="bg2"/>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2211">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222211">
                                            <p:txEl>
                                              <p:pRg st="1" end="1"/>
                                            </p:txEl>
                                          </p:spTgt>
                                        </p:tgtEl>
                                        <p:attrNameLst>
                                          <p:attrName>ppt_c</p:attrName>
                                        </p:attrNameLst>
                                      </p:cBhvr>
                                      <p:to>
                                        <a:schemeClr val="bg2"/>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2211">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222211">
                                            <p:txEl>
                                              <p:pRg st="2" end="2"/>
                                            </p:txEl>
                                          </p:spTgt>
                                        </p:tgtEl>
                                        <p:attrNameLst>
                                          <p:attrName>ppt_c</p:attrName>
                                        </p:attrNameLst>
                                      </p:cBhvr>
                                      <p:to>
                                        <a:schemeClr val="bg2"/>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2211">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222211">
                                            <p:txEl>
                                              <p:pRg st="3" end="3"/>
                                            </p:txEl>
                                          </p:spTgt>
                                        </p:tgtEl>
                                        <p:attrNameLst>
                                          <p:attrName>ppt_c</p:attrName>
                                        </p:attrNameLst>
                                      </p:cBhvr>
                                      <p:to>
                                        <a:schemeClr val="bg2"/>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2211">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222211">
                                            <p:txEl>
                                              <p:pRg st="4" end="4"/>
                                            </p:txEl>
                                          </p:spTgt>
                                        </p:tgtEl>
                                        <p:attrNameLst>
                                          <p:attrName>ppt_c</p:attrName>
                                        </p:attrNameLst>
                                      </p:cBhvr>
                                      <p:to>
                                        <a:schemeClr val="bg2"/>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2211">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222211">
                                            <p:txEl>
                                              <p:pRg st="5" end="5"/>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a:extLst>
              <a:ext uri="{FF2B5EF4-FFF2-40B4-BE49-F238E27FC236}">
                <a16:creationId xmlns:a16="http://schemas.microsoft.com/office/drawing/2014/main" id="{374F5DFF-5473-CE47-924B-CF539C74F6E6}"/>
              </a:ext>
            </a:extLst>
          </p:cNvPr>
          <p:cNvSpPr>
            <a:spLocks noGrp="1" noChangeArrowheads="1"/>
          </p:cNvSpPr>
          <p:nvPr>
            <p:ph type="title"/>
          </p:nvPr>
        </p:nvSpPr>
        <p:spPr>
          <a:xfrm>
            <a:off x="812673" y="8127"/>
            <a:ext cx="10058400" cy="1609344"/>
          </a:xfrm>
        </p:spPr>
        <p:txBody>
          <a:bodyPr/>
          <a:lstStyle/>
          <a:p>
            <a:pPr eaLnBrk="1" hangingPunct="1"/>
            <a:r>
              <a:rPr lang="en-US" altLang="en-US" dirty="0"/>
              <a:t>(Summary) One-Sample </a:t>
            </a:r>
            <a:r>
              <a:rPr lang="en-US" altLang="en-US" i="1" dirty="0"/>
              <a:t>z</a:t>
            </a:r>
            <a:r>
              <a:rPr lang="en-US" altLang="en-US" dirty="0"/>
              <a:t> Test</a:t>
            </a:r>
          </a:p>
        </p:txBody>
      </p:sp>
      <p:sp>
        <p:nvSpPr>
          <p:cNvPr id="7173" name="Rectangle 6">
            <a:extLst>
              <a:ext uri="{FF2B5EF4-FFF2-40B4-BE49-F238E27FC236}">
                <a16:creationId xmlns:a16="http://schemas.microsoft.com/office/drawing/2014/main" id="{99F9BCDF-8506-C143-A585-5464B2D42BAA}"/>
              </a:ext>
            </a:extLst>
          </p:cNvPr>
          <p:cNvSpPr>
            <a:spLocks noGrp="1" noChangeArrowheads="1"/>
          </p:cNvSpPr>
          <p:nvPr>
            <p:ph type="body" sz="half" idx="2"/>
          </p:nvPr>
        </p:nvSpPr>
        <p:spPr>
          <a:xfrm>
            <a:off x="1484243" y="1506538"/>
            <a:ext cx="8928170" cy="4976812"/>
          </a:xfrm>
          <a:solidFill>
            <a:schemeClr val="accent1"/>
          </a:solidFill>
          <a:ln>
            <a:solidFill>
              <a:schemeClr val="tx1"/>
            </a:solidFill>
            <a:miter lim="800000"/>
            <a:headEnd/>
            <a:tailEnd/>
          </a:ln>
        </p:spPr>
        <p:txBody>
          <a:bodyPr/>
          <a:lstStyle/>
          <a:p>
            <a:pPr marL="457200" indent="-457200">
              <a:buFontTx/>
              <a:buAutoNum type="alphaUcPeriod"/>
            </a:pPr>
            <a:r>
              <a:rPr lang="en-US" altLang="en-US" dirty="0"/>
              <a:t>Hypothesis statements</a:t>
            </a:r>
            <a:r>
              <a:rPr lang="en-US" altLang="en-US" i="1" dirty="0"/>
              <a:t> </a:t>
            </a:r>
            <a:br>
              <a:rPr lang="en-US" altLang="en-US" i="1" dirty="0"/>
            </a:br>
            <a:r>
              <a:rPr lang="en-US" altLang="en-US" i="1" dirty="0"/>
              <a:t>H</a:t>
            </a:r>
            <a:r>
              <a:rPr lang="en-US" altLang="en-US" baseline="-25000" dirty="0"/>
              <a:t>0</a:t>
            </a:r>
            <a:r>
              <a:rPr lang="en-US" altLang="en-US" dirty="0"/>
              <a:t>: µ = µ</a:t>
            </a:r>
            <a:r>
              <a:rPr lang="en-US" altLang="en-US" baseline="-25000" dirty="0"/>
              <a:t>0</a:t>
            </a:r>
            <a:r>
              <a:rPr lang="en-US" altLang="en-US" dirty="0"/>
              <a:t> vs. </a:t>
            </a:r>
            <a:br>
              <a:rPr lang="en-US" altLang="en-US" dirty="0"/>
            </a:br>
            <a:r>
              <a:rPr lang="en-US" altLang="en-US" i="1" dirty="0"/>
              <a:t>H</a:t>
            </a:r>
            <a:r>
              <a:rPr lang="en-US" altLang="en-US" baseline="-25000" dirty="0"/>
              <a:t>a</a:t>
            </a:r>
            <a:r>
              <a:rPr lang="en-US" altLang="en-US" dirty="0"/>
              <a:t>: µ </a:t>
            </a:r>
            <a:r>
              <a:rPr lang="en-US" altLang="en-US" dirty="0">
                <a:cs typeface="Arial" panose="020B0604020202020204" pitchFamily="34" charset="0"/>
              </a:rPr>
              <a:t>≠</a:t>
            </a:r>
            <a:r>
              <a:rPr lang="en-US" altLang="en-US" dirty="0"/>
              <a:t> µ</a:t>
            </a:r>
            <a:r>
              <a:rPr lang="en-US" altLang="en-US" baseline="-25000" dirty="0"/>
              <a:t>0</a:t>
            </a:r>
            <a:r>
              <a:rPr lang="en-US" altLang="en-US" dirty="0"/>
              <a:t> (two-sided) or </a:t>
            </a:r>
            <a:br>
              <a:rPr lang="en-US" altLang="en-US" dirty="0"/>
            </a:br>
            <a:r>
              <a:rPr lang="en-US" altLang="en-US" i="1" dirty="0"/>
              <a:t>H</a:t>
            </a:r>
            <a:r>
              <a:rPr lang="en-US" altLang="en-US" baseline="-25000" dirty="0"/>
              <a:t>a</a:t>
            </a:r>
            <a:r>
              <a:rPr lang="en-US" altLang="en-US" dirty="0"/>
              <a:t>: µ &lt; µ</a:t>
            </a:r>
            <a:r>
              <a:rPr lang="en-US" altLang="en-US" baseline="-25000" dirty="0"/>
              <a:t>0</a:t>
            </a:r>
            <a:r>
              <a:rPr lang="en-US" altLang="en-US" dirty="0"/>
              <a:t> (left-sided) or</a:t>
            </a:r>
            <a:br>
              <a:rPr lang="en-US" altLang="en-US" dirty="0"/>
            </a:br>
            <a:r>
              <a:rPr lang="en-US" altLang="en-US" i="1" dirty="0"/>
              <a:t>H</a:t>
            </a:r>
            <a:r>
              <a:rPr lang="en-US" altLang="en-US" baseline="-25000" dirty="0"/>
              <a:t>a</a:t>
            </a:r>
            <a:r>
              <a:rPr lang="en-US" altLang="en-US" dirty="0"/>
              <a:t>: µ &gt; µ</a:t>
            </a:r>
            <a:r>
              <a:rPr lang="en-US" altLang="en-US" baseline="-25000" dirty="0"/>
              <a:t>0</a:t>
            </a:r>
            <a:r>
              <a:rPr lang="en-US" altLang="en-US" dirty="0"/>
              <a:t> (right-sided) </a:t>
            </a:r>
          </a:p>
          <a:p>
            <a:pPr marL="457200" indent="-457200">
              <a:buFontTx/>
              <a:buAutoNum type="alphaUcPeriod"/>
            </a:pPr>
            <a:r>
              <a:rPr lang="en-US" altLang="en-US" dirty="0"/>
              <a:t>Test statistic</a:t>
            </a:r>
            <a:br>
              <a:rPr lang="en-US" altLang="en-US" dirty="0"/>
            </a:br>
            <a:br>
              <a:rPr lang="en-US" altLang="en-US" dirty="0"/>
            </a:br>
            <a:endParaRPr lang="en-US" altLang="en-US" dirty="0"/>
          </a:p>
          <a:p>
            <a:pPr marL="457200" indent="-457200">
              <a:buFontTx/>
              <a:buAutoNum type="alphaUcPeriod"/>
            </a:pPr>
            <a:r>
              <a:rPr lang="en-US" altLang="en-US" dirty="0"/>
              <a:t>P-value: convert </a:t>
            </a:r>
            <a:r>
              <a:rPr lang="en-US" altLang="en-US" i="1" dirty="0" err="1"/>
              <a:t>z</a:t>
            </a:r>
            <a:r>
              <a:rPr lang="en-US" altLang="en-US" baseline="-25000" dirty="0" err="1"/>
              <a:t>stat</a:t>
            </a:r>
            <a:r>
              <a:rPr lang="en-US" altLang="en-US" baseline="-25000" dirty="0"/>
              <a:t> </a:t>
            </a:r>
            <a:r>
              <a:rPr lang="en-US" altLang="en-US" dirty="0"/>
              <a:t>to P value</a:t>
            </a:r>
          </a:p>
          <a:p>
            <a:pPr marL="457200" indent="-457200">
              <a:buFontTx/>
              <a:buAutoNum type="alphaUcPeriod"/>
            </a:pPr>
            <a:r>
              <a:rPr lang="en-US" altLang="en-US" dirty="0"/>
              <a:t>Significance statement (usually not necessary)</a:t>
            </a:r>
          </a:p>
        </p:txBody>
      </p:sp>
      <p:graphicFrame>
        <p:nvGraphicFramePr>
          <p:cNvPr id="7170" name="Object 7">
            <a:extLst>
              <a:ext uri="{FF2B5EF4-FFF2-40B4-BE49-F238E27FC236}">
                <a16:creationId xmlns:a16="http://schemas.microsoft.com/office/drawing/2014/main" id="{9A08E484-6724-8A47-9253-ED6E03D12F3B}"/>
              </a:ext>
            </a:extLst>
          </p:cNvPr>
          <p:cNvGraphicFramePr>
            <a:graphicFrameLocks noChangeAspect="1"/>
          </p:cNvGraphicFramePr>
          <p:nvPr/>
        </p:nvGraphicFramePr>
        <p:xfrm>
          <a:off x="4378325" y="4899026"/>
          <a:ext cx="5010150" cy="1146175"/>
        </p:xfrm>
        <a:graphic>
          <a:graphicData uri="http://schemas.openxmlformats.org/presentationml/2006/ole">
            <mc:AlternateContent xmlns:mc="http://schemas.openxmlformats.org/markup-compatibility/2006">
              <mc:Choice xmlns:v="urn:schemas-microsoft-com:vml" Requires="v">
                <p:oleObj name="Equation" r:id="rId2" imgW="38328600" imgH="8775700" progId="Equation.3">
                  <p:embed/>
                </p:oleObj>
              </mc:Choice>
              <mc:Fallback>
                <p:oleObj name="Equation" r:id="rId2" imgW="38328600" imgH="8775700" progId="Equation.3">
                  <p:embed/>
                  <p:pic>
                    <p:nvPicPr>
                      <p:cNvPr id="7170" name="Object 7">
                        <a:extLst>
                          <a:ext uri="{FF2B5EF4-FFF2-40B4-BE49-F238E27FC236}">
                            <a16:creationId xmlns:a16="http://schemas.microsoft.com/office/drawing/2014/main" id="{9A08E484-6724-8A47-9253-ED6E03D12F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8325" y="4899026"/>
                        <a:ext cx="5010150" cy="1146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39858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BCB291EE-1AA6-0142-B21C-5611ABD48733}"/>
              </a:ext>
            </a:extLst>
          </p:cNvPr>
          <p:cNvSpPr>
            <a:spLocks noGrp="1" noChangeArrowheads="1"/>
          </p:cNvSpPr>
          <p:nvPr>
            <p:ph type="title"/>
          </p:nvPr>
        </p:nvSpPr>
        <p:spPr>
          <a:xfrm>
            <a:off x="1066800" y="766572"/>
            <a:ext cx="10058400" cy="906846"/>
          </a:xfrm>
        </p:spPr>
        <p:txBody>
          <a:bodyPr/>
          <a:lstStyle/>
          <a:p>
            <a:pPr eaLnBrk="1" hangingPunct="1"/>
            <a:r>
              <a:rPr lang="en-US" altLang="en-US" sz="4800" dirty="0"/>
              <a:t>Conditions for z test</a:t>
            </a:r>
          </a:p>
        </p:txBody>
      </p:sp>
      <p:sp>
        <p:nvSpPr>
          <p:cNvPr id="240643" name="Rectangle 3">
            <a:extLst>
              <a:ext uri="{FF2B5EF4-FFF2-40B4-BE49-F238E27FC236}">
                <a16:creationId xmlns:a16="http://schemas.microsoft.com/office/drawing/2014/main" id="{4CBFD4EC-58A7-E345-A26C-AD64CB4C7757}"/>
              </a:ext>
            </a:extLst>
          </p:cNvPr>
          <p:cNvSpPr>
            <a:spLocks noGrp="1" noChangeArrowheads="1"/>
          </p:cNvSpPr>
          <p:nvPr>
            <p:ph type="body" sz="half" idx="1"/>
          </p:nvPr>
        </p:nvSpPr>
        <p:spPr>
          <a:xfrm>
            <a:off x="1187484" y="1950487"/>
            <a:ext cx="9613037" cy="2987273"/>
          </a:xfrm>
        </p:spPr>
        <p:txBody>
          <a:bodyPr>
            <a:normAutofit/>
          </a:bodyPr>
          <a:lstStyle/>
          <a:p>
            <a:pPr eaLnBrk="1" hangingPunct="1"/>
            <a:r>
              <a:rPr lang="el-GR" altLang="en-US" sz="3200" b="1" dirty="0">
                <a:cs typeface="Arial" panose="020B0604020202020204" pitchFamily="34" charset="0"/>
              </a:rPr>
              <a:t>σ</a:t>
            </a:r>
            <a:r>
              <a:rPr lang="en-US" altLang="en-US" sz="3200" b="1" dirty="0">
                <a:cs typeface="Arial" panose="020B0604020202020204" pitchFamily="34" charset="0"/>
              </a:rPr>
              <a:t> </a:t>
            </a:r>
            <a:r>
              <a:rPr lang="en-US" altLang="en-US" sz="3200" b="1" dirty="0"/>
              <a:t>known (not from data)</a:t>
            </a:r>
          </a:p>
          <a:p>
            <a:pPr eaLnBrk="1" hangingPunct="1"/>
            <a:r>
              <a:rPr lang="en-US" altLang="en-US" sz="3200" dirty="0"/>
              <a:t>Population approximately Normal or large sample (central limit theorem)</a:t>
            </a:r>
          </a:p>
          <a:p>
            <a:pPr eaLnBrk="1" hangingPunct="1"/>
            <a:r>
              <a:rPr lang="en-US" altLang="en-US" sz="3200" dirty="0"/>
              <a:t>SRS (Simple random Sample or facsimile)</a:t>
            </a:r>
          </a:p>
          <a:p>
            <a:pPr eaLnBrk="1" hangingPunct="1"/>
            <a:r>
              <a:rPr lang="en-US" altLang="en-US" sz="3200" dirty="0"/>
              <a:t>Data valid</a:t>
            </a:r>
          </a:p>
        </p:txBody>
      </p:sp>
    </p:spTree>
    <p:extLst>
      <p:ext uri="{BB962C8B-B14F-4D97-AF65-F5344CB8AC3E}">
        <p14:creationId xmlns:p14="http://schemas.microsoft.com/office/powerpoint/2010/main" val="35208784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40643">
                                            <p:txEl>
                                              <p:pRg st="0" end="0"/>
                                            </p:txEl>
                                          </p:spTgt>
                                        </p:tgtEl>
                                        <p:attrNameLst>
                                          <p:attrName>style.visibility</p:attrName>
                                        </p:attrNameLst>
                                      </p:cBhvr>
                                      <p:to>
                                        <p:strVal val="visible"/>
                                      </p:to>
                                    </p:set>
                                    <p:animEffect transition="in" filter="fade">
                                      <p:cBhvr>
                                        <p:cTn id="7" dur="1000"/>
                                        <p:tgtEl>
                                          <p:spTgt spid="240643">
                                            <p:txEl>
                                              <p:pRg st="0" end="0"/>
                                            </p:txEl>
                                          </p:spTgt>
                                        </p:tgtEl>
                                      </p:cBhvr>
                                    </p:animEffect>
                                    <p:anim calcmode="lin" valueType="num">
                                      <p:cBhvr>
                                        <p:cTn id="8" dur="1000" fill="hold"/>
                                        <p:tgtEl>
                                          <p:spTgt spid="24064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4064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40643">
                                            <p:txEl>
                                              <p:pRg st="1" end="1"/>
                                            </p:txEl>
                                          </p:spTgt>
                                        </p:tgtEl>
                                        <p:attrNameLst>
                                          <p:attrName>style.visibility</p:attrName>
                                        </p:attrNameLst>
                                      </p:cBhvr>
                                      <p:to>
                                        <p:strVal val="visible"/>
                                      </p:to>
                                    </p:set>
                                    <p:animEffect transition="in" filter="fade">
                                      <p:cBhvr>
                                        <p:cTn id="14" dur="1000"/>
                                        <p:tgtEl>
                                          <p:spTgt spid="240643">
                                            <p:txEl>
                                              <p:pRg st="1" end="1"/>
                                            </p:txEl>
                                          </p:spTgt>
                                        </p:tgtEl>
                                      </p:cBhvr>
                                    </p:animEffect>
                                    <p:anim calcmode="lin" valueType="num">
                                      <p:cBhvr>
                                        <p:cTn id="15" dur="1000" fill="hold"/>
                                        <p:tgtEl>
                                          <p:spTgt spid="24064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4064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40643">
                                            <p:txEl>
                                              <p:pRg st="2" end="2"/>
                                            </p:txEl>
                                          </p:spTgt>
                                        </p:tgtEl>
                                        <p:attrNameLst>
                                          <p:attrName>style.visibility</p:attrName>
                                        </p:attrNameLst>
                                      </p:cBhvr>
                                      <p:to>
                                        <p:strVal val="visible"/>
                                      </p:to>
                                    </p:set>
                                    <p:animEffect transition="in" filter="fade">
                                      <p:cBhvr>
                                        <p:cTn id="21" dur="1000"/>
                                        <p:tgtEl>
                                          <p:spTgt spid="240643">
                                            <p:txEl>
                                              <p:pRg st="2" end="2"/>
                                            </p:txEl>
                                          </p:spTgt>
                                        </p:tgtEl>
                                      </p:cBhvr>
                                    </p:animEffect>
                                    <p:anim calcmode="lin" valueType="num">
                                      <p:cBhvr>
                                        <p:cTn id="22" dur="1000" fill="hold"/>
                                        <p:tgtEl>
                                          <p:spTgt spid="24064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4064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40643">
                                            <p:txEl>
                                              <p:pRg st="3" end="3"/>
                                            </p:txEl>
                                          </p:spTgt>
                                        </p:tgtEl>
                                        <p:attrNameLst>
                                          <p:attrName>style.visibility</p:attrName>
                                        </p:attrNameLst>
                                      </p:cBhvr>
                                      <p:to>
                                        <p:strVal val="visible"/>
                                      </p:to>
                                    </p:set>
                                    <p:animEffect transition="in" filter="fade">
                                      <p:cBhvr>
                                        <p:cTn id="28" dur="1000"/>
                                        <p:tgtEl>
                                          <p:spTgt spid="240643">
                                            <p:txEl>
                                              <p:pRg st="3" end="3"/>
                                            </p:txEl>
                                          </p:spTgt>
                                        </p:tgtEl>
                                      </p:cBhvr>
                                    </p:animEffect>
                                    <p:anim calcmode="lin" valueType="num">
                                      <p:cBhvr>
                                        <p:cTn id="29" dur="1000" fill="hold"/>
                                        <p:tgtEl>
                                          <p:spTgt spid="24064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4064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30195A8-0DFF-7045-BD27-395340AEFC10}"/>
              </a:ext>
            </a:extLst>
          </p:cNvPr>
          <p:cNvSpPr>
            <a:spLocks noGrp="1" noChangeArrowheads="1"/>
          </p:cNvSpPr>
          <p:nvPr>
            <p:ph type="title"/>
          </p:nvPr>
        </p:nvSpPr>
        <p:spPr>
          <a:xfrm>
            <a:off x="1107947" y="882669"/>
            <a:ext cx="9720072" cy="977861"/>
          </a:xfrm>
        </p:spPr>
        <p:txBody>
          <a:bodyPr>
            <a:normAutofit/>
          </a:bodyPr>
          <a:lstStyle/>
          <a:p>
            <a:pPr eaLnBrk="1" hangingPunct="1"/>
            <a:r>
              <a:rPr lang="en-US" altLang="en-US" sz="4000" dirty="0"/>
              <a:t>The Lake Wobegon Example</a:t>
            </a:r>
            <a:br>
              <a:rPr lang="en-US" altLang="en-US" sz="4000" dirty="0"/>
            </a:br>
            <a:r>
              <a:rPr lang="en-US" altLang="en-US" sz="2800" dirty="0"/>
              <a:t>“where all the children are above average”</a:t>
            </a:r>
          </a:p>
        </p:txBody>
      </p:sp>
      <p:sp>
        <p:nvSpPr>
          <p:cNvPr id="30723" name="Rectangle 3">
            <a:extLst>
              <a:ext uri="{FF2B5EF4-FFF2-40B4-BE49-F238E27FC236}">
                <a16:creationId xmlns:a16="http://schemas.microsoft.com/office/drawing/2014/main" id="{D17FA3F9-5A07-7743-964C-7E18AA0C56CB}"/>
              </a:ext>
            </a:extLst>
          </p:cNvPr>
          <p:cNvSpPr>
            <a:spLocks noGrp="1" noChangeArrowheads="1"/>
          </p:cNvSpPr>
          <p:nvPr>
            <p:ph type="body" idx="1"/>
          </p:nvPr>
        </p:nvSpPr>
        <p:spPr>
          <a:xfrm>
            <a:off x="850790" y="2556195"/>
            <a:ext cx="10845178" cy="3036886"/>
          </a:xfrm>
        </p:spPr>
        <p:txBody>
          <a:bodyPr/>
          <a:lstStyle/>
          <a:p>
            <a:pPr marL="533400" indent="-533400"/>
            <a:r>
              <a:rPr lang="en-US" altLang="en-US" dirty="0"/>
              <a:t>Let X represent Weschler </a:t>
            </a:r>
            <a:r>
              <a:rPr lang="en-US" altLang="en-US" b="1" dirty="0"/>
              <a:t>Adult Intelligence scores </a:t>
            </a:r>
            <a:r>
              <a:rPr lang="en-US" altLang="en-US" dirty="0"/>
              <a:t>(WAIS)</a:t>
            </a:r>
          </a:p>
          <a:p>
            <a:pPr marL="533400" indent="-533400"/>
            <a:r>
              <a:rPr lang="en-US" altLang="en-US" dirty="0"/>
              <a:t>Typically, X ~ N(100, 15)</a:t>
            </a:r>
          </a:p>
          <a:p>
            <a:pPr marL="533400" indent="-533400"/>
            <a:r>
              <a:rPr lang="en-US" altLang="en-US" dirty="0"/>
              <a:t>Take SRS of </a:t>
            </a:r>
            <a:r>
              <a:rPr lang="en-US" altLang="en-US" i="1" dirty="0"/>
              <a:t>n </a:t>
            </a:r>
            <a:r>
              <a:rPr lang="en-US" altLang="en-US" dirty="0"/>
              <a:t>= 9 from Lake Wobegon population</a:t>
            </a:r>
          </a:p>
          <a:p>
            <a:pPr marL="533400" indent="-533400"/>
            <a:r>
              <a:rPr lang="en-US" altLang="en-US" dirty="0">
                <a:sym typeface="Symbol" pitchFamily="2" charset="2"/>
              </a:rPr>
              <a:t>Data  {116, 128, 125, 119, 89, 99, 105, 116, 118}</a:t>
            </a:r>
          </a:p>
          <a:p>
            <a:pPr marL="533400" indent="-533400"/>
            <a:r>
              <a:rPr lang="en-US" altLang="en-US" dirty="0">
                <a:sym typeface="Symbol" pitchFamily="2" charset="2"/>
              </a:rPr>
              <a:t>Calculate: x-bar = 112.8 </a:t>
            </a:r>
          </a:p>
          <a:p>
            <a:pPr marL="533400" indent="-533400"/>
            <a:r>
              <a:rPr lang="en-US" altLang="en-US" dirty="0">
                <a:sym typeface="Symbol" pitchFamily="2" charset="2"/>
              </a:rPr>
              <a:t>Does sample mean provide strong evidence</a:t>
            </a:r>
            <a:r>
              <a:rPr lang="en-US" altLang="en-US" i="1" dirty="0">
                <a:sym typeface="Symbol" pitchFamily="2" charset="2"/>
              </a:rPr>
              <a:t> </a:t>
            </a:r>
            <a:r>
              <a:rPr lang="en-US" altLang="en-US" dirty="0">
                <a:sym typeface="Symbol" pitchFamily="2" charset="2"/>
              </a:rPr>
              <a:t>that population mean </a:t>
            </a:r>
            <a:r>
              <a:rPr lang="el-GR" altLang="en-US" dirty="0">
                <a:cs typeface="Arial" panose="020B0604020202020204" pitchFamily="34" charset="0"/>
                <a:sym typeface="Symbol" pitchFamily="2" charset="2"/>
              </a:rPr>
              <a:t>μ</a:t>
            </a:r>
            <a:r>
              <a:rPr lang="en-US" altLang="en-US" dirty="0">
                <a:sym typeface="Symbol" pitchFamily="2" charset="2"/>
              </a:rPr>
              <a:t> </a:t>
            </a:r>
            <a:r>
              <a:rPr lang="en-US" altLang="en-US" dirty="0">
                <a:cs typeface="Tahoma" panose="020B0604030504040204" pitchFamily="34" charset="0"/>
                <a:sym typeface="Symbol" pitchFamily="2" charset="2"/>
              </a:rPr>
              <a:t>&gt; 100?</a:t>
            </a:r>
            <a:endParaRPr lang="el-GR" altLang="en-US" dirty="0">
              <a:cs typeface="Tahoma" panose="020B0604030504040204" pitchFamily="34" charset="0"/>
              <a:sym typeface="Symbol" pitchFamily="2" charset="2"/>
            </a:endParaRPr>
          </a:p>
        </p:txBody>
      </p:sp>
      <p:sp>
        <p:nvSpPr>
          <p:cNvPr id="30724" name="Rectangle 5">
            <a:extLst>
              <a:ext uri="{FF2B5EF4-FFF2-40B4-BE49-F238E27FC236}">
                <a16:creationId xmlns:a16="http://schemas.microsoft.com/office/drawing/2014/main" id="{6C3C5917-FA65-204B-80CA-A5CDDEFDC8A3}"/>
              </a:ext>
            </a:extLst>
          </p:cNvPr>
          <p:cNvSpPr>
            <a:spLocks noChangeArrowheads="1"/>
          </p:cNvSpPr>
          <p:nvPr/>
        </p:nvSpPr>
        <p:spPr bwMode="auto">
          <a:xfrm>
            <a:off x="3886200" y="5181600"/>
            <a:ext cx="68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3148100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a:extLst>
              <a:ext uri="{FF2B5EF4-FFF2-40B4-BE49-F238E27FC236}">
                <a16:creationId xmlns:a16="http://schemas.microsoft.com/office/drawing/2014/main" id="{1791157C-694B-3E48-872E-A1EEF9AB38E0}"/>
              </a:ext>
            </a:extLst>
          </p:cNvPr>
          <p:cNvSpPr>
            <a:spLocks noGrp="1" noChangeArrowheads="1"/>
          </p:cNvSpPr>
          <p:nvPr>
            <p:ph type="title"/>
          </p:nvPr>
        </p:nvSpPr>
        <p:spPr/>
        <p:txBody>
          <a:bodyPr/>
          <a:lstStyle/>
          <a:p>
            <a:pPr eaLnBrk="1" hangingPunct="1"/>
            <a:r>
              <a:rPr lang="en-US" altLang="en-US"/>
              <a:t>Example: “Lake Wobegon”</a:t>
            </a:r>
          </a:p>
        </p:txBody>
      </p:sp>
      <p:sp>
        <p:nvSpPr>
          <p:cNvPr id="8197" name="Rectangle 3">
            <a:extLst>
              <a:ext uri="{FF2B5EF4-FFF2-40B4-BE49-F238E27FC236}">
                <a16:creationId xmlns:a16="http://schemas.microsoft.com/office/drawing/2014/main" id="{25B9980C-FDF9-284D-93E8-CDB48CA5888D}"/>
              </a:ext>
            </a:extLst>
          </p:cNvPr>
          <p:cNvSpPr>
            <a:spLocks noGrp="1" noChangeArrowheads="1"/>
          </p:cNvSpPr>
          <p:nvPr>
            <p:ph type="body" idx="1"/>
          </p:nvPr>
        </p:nvSpPr>
        <p:spPr>
          <a:xfrm>
            <a:off x="1981200" y="1371601"/>
            <a:ext cx="8229600" cy="4754563"/>
          </a:xfrm>
        </p:spPr>
        <p:txBody>
          <a:bodyPr/>
          <a:lstStyle/>
          <a:p>
            <a:pPr marL="609600" indent="-609600">
              <a:buFontTx/>
              <a:buAutoNum type="alphaUcPeriod"/>
            </a:pPr>
            <a:r>
              <a:rPr lang="en-US" altLang="en-US" b="1" dirty="0"/>
              <a:t>Hypotheses: </a:t>
            </a:r>
            <a:br>
              <a:rPr lang="en-US" altLang="en-US" b="1" dirty="0"/>
            </a:br>
            <a:r>
              <a:rPr lang="en-US" altLang="en-US" i="1" dirty="0"/>
              <a:t>H</a:t>
            </a:r>
            <a:r>
              <a:rPr lang="en-US" altLang="en-US" baseline="-25000" dirty="0"/>
              <a:t>0</a:t>
            </a:r>
            <a:r>
              <a:rPr lang="en-US" altLang="en-US" dirty="0"/>
              <a:t>: µ = 100 versus </a:t>
            </a:r>
            <a:br>
              <a:rPr lang="en-US" altLang="en-US" dirty="0"/>
            </a:br>
            <a:r>
              <a:rPr lang="en-US" altLang="en-US" i="1" dirty="0"/>
              <a:t>H</a:t>
            </a:r>
            <a:r>
              <a:rPr lang="en-US" altLang="en-US" baseline="-25000" dirty="0"/>
              <a:t>a</a:t>
            </a:r>
            <a:r>
              <a:rPr lang="en-US" altLang="en-US" dirty="0"/>
              <a:t>: µ &gt; 100 (one-sided)</a:t>
            </a:r>
            <a:br>
              <a:rPr lang="en-US" altLang="en-US" dirty="0"/>
            </a:br>
            <a:r>
              <a:rPr lang="en-US" altLang="en-US" i="1" dirty="0"/>
              <a:t>H</a:t>
            </a:r>
            <a:r>
              <a:rPr lang="en-US" altLang="en-US" baseline="-25000" dirty="0"/>
              <a:t>a</a:t>
            </a:r>
            <a:r>
              <a:rPr lang="en-US" altLang="en-US" dirty="0"/>
              <a:t>: µ  </a:t>
            </a:r>
            <a:r>
              <a:rPr lang="en-US" altLang="en-US" dirty="0">
                <a:cs typeface="Arial" panose="020B0604020202020204" pitchFamily="34" charset="0"/>
              </a:rPr>
              <a:t>≠ </a:t>
            </a:r>
            <a:r>
              <a:rPr lang="en-US" altLang="en-US" dirty="0"/>
              <a:t>100 (two-sided)</a:t>
            </a:r>
          </a:p>
          <a:p>
            <a:pPr marL="609600" indent="-609600">
              <a:buFontTx/>
              <a:buAutoNum type="alphaUcPeriod"/>
            </a:pPr>
            <a:r>
              <a:rPr lang="en-US" altLang="en-US" b="1" dirty="0"/>
              <a:t>Test statistic:</a:t>
            </a:r>
          </a:p>
        </p:txBody>
      </p:sp>
      <p:graphicFrame>
        <p:nvGraphicFramePr>
          <p:cNvPr id="8194" name="Object 10">
            <a:extLst>
              <a:ext uri="{FF2B5EF4-FFF2-40B4-BE49-F238E27FC236}">
                <a16:creationId xmlns:a16="http://schemas.microsoft.com/office/drawing/2014/main" id="{3E89FE01-9370-A346-B4C5-FCE52BA3750A}"/>
              </a:ext>
            </a:extLst>
          </p:cNvPr>
          <p:cNvGraphicFramePr>
            <a:graphicFrameLocks noGrp="1" noChangeAspect="1"/>
          </p:cNvGraphicFramePr>
          <p:nvPr>
            <p:ph sz="quarter" idx="4294967295"/>
          </p:nvPr>
        </p:nvGraphicFramePr>
        <p:xfrm>
          <a:off x="2681289" y="3940176"/>
          <a:ext cx="6169025" cy="2563813"/>
        </p:xfrm>
        <a:graphic>
          <a:graphicData uri="http://schemas.openxmlformats.org/presentationml/2006/ole">
            <mc:AlternateContent xmlns:mc="http://schemas.openxmlformats.org/markup-compatibility/2006">
              <mc:Choice xmlns:v="urn:schemas-microsoft-com:vml" Requires="v">
                <p:oleObj name="Equation" r:id="rId2" imgW="41541700" imgH="17259300" progId="Equation.3">
                  <p:embed/>
                </p:oleObj>
              </mc:Choice>
              <mc:Fallback>
                <p:oleObj name="Equation" r:id="rId2" imgW="41541700" imgH="17259300" progId="Equation.3">
                  <p:embed/>
                  <p:pic>
                    <p:nvPicPr>
                      <p:cNvPr id="8194" name="Object 10">
                        <a:extLst>
                          <a:ext uri="{FF2B5EF4-FFF2-40B4-BE49-F238E27FC236}">
                            <a16:creationId xmlns:a16="http://schemas.microsoft.com/office/drawing/2014/main" id="{3E89FE01-9370-A346-B4C5-FCE52BA375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1289" y="3940176"/>
                        <a:ext cx="6169025" cy="2563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980178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a:extLst>
              <a:ext uri="{FF2B5EF4-FFF2-40B4-BE49-F238E27FC236}">
                <a16:creationId xmlns:a16="http://schemas.microsoft.com/office/drawing/2014/main" id="{346FFBCD-1FEA-E744-B179-2AB42BA3E16C}"/>
              </a:ext>
            </a:extLst>
          </p:cNvPr>
          <p:cNvSpPr>
            <a:spLocks noGrp="1" noChangeArrowheads="1"/>
          </p:cNvSpPr>
          <p:nvPr>
            <p:ph type="body" idx="1"/>
          </p:nvPr>
        </p:nvSpPr>
        <p:spPr>
          <a:xfrm>
            <a:off x="1981200" y="736601"/>
            <a:ext cx="8229600" cy="5389563"/>
          </a:xfrm>
        </p:spPr>
        <p:txBody>
          <a:bodyPr>
            <a:normAutofit/>
          </a:bodyPr>
          <a:lstStyle/>
          <a:p>
            <a:pPr marL="609600" indent="-609600">
              <a:buNone/>
            </a:pPr>
            <a:r>
              <a:rPr lang="en-US" altLang="en-US" b="1"/>
              <a:t>C.</a:t>
            </a:r>
            <a:r>
              <a:rPr lang="en-US" altLang="en-US" b="1" i="1"/>
              <a:t> P-</a:t>
            </a:r>
            <a:r>
              <a:rPr lang="en-US" altLang="en-US" b="1"/>
              <a:t>value: </a:t>
            </a:r>
            <a:r>
              <a:rPr lang="en-US" altLang="en-US" i="1"/>
              <a:t>P </a:t>
            </a:r>
            <a:r>
              <a:rPr lang="en-US" altLang="en-US"/>
              <a:t>= Pr(</a:t>
            </a:r>
            <a:r>
              <a:rPr lang="en-US" altLang="en-US" i="1"/>
              <a:t>Z</a:t>
            </a:r>
            <a:r>
              <a:rPr lang="en-US" altLang="en-US"/>
              <a:t> </a:t>
            </a:r>
            <a:r>
              <a:rPr lang="en-US" altLang="en-US">
                <a:cs typeface="Tahoma" panose="020B0604030504040204" pitchFamily="34" charset="0"/>
              </a:rPr>
              <a:t>≥ </a:t>
            </a:r>
            <a:r>
              <a:rPr lang="en-US" altLang="en-US"/>
              <a:t>2.56) = 0.0052</a:t>
            </a:r>
            <a:endParaRPr lang="en-US" altLang="en-US" baseline="-25000"/>
          </a:p>
          <a:p>
            <a:pPr marL="609600" indent="-609600">
              <a:buNone/>
            </a:pPr>
            <a:endParaRPr lang="en-US" altLang="en-US" b="1"/>
          </a:p>
          <a:p>
            <a:pPr marL="609600" indent="-609600">
              <a:buNone/>
            </a:pPr>
            <a:endParaRPr lang="en-US" altLang="en-US" b="1"/>
          </a:p>
          <a:p>
            <a:pPr marL="609600" indent="-609600">
              <a:buNone/>
            </a:pPr>
            <a:endParaRPr lang="en-US" altLang="en-US" b="1"/>
          </a:p>
          <a:p>
            <a:pPr marL="609600" indent="-609600">
              <a:buNone/>
            </a:pPr>
            <a:endParaRPr lang="en-US" altLang="en-US" b="1"/>
          </a:p>
          <a:p>
            <a:pPr marL="609600" indent="-609600">
              <a:buNone/>
            </a:pPr>
            <a:endParaRPr lang="en-US" altLang="en-US" b="1"/>
          </a:p>
          <a:p>
            <a:pPr marL="609600" indent="-609600">
              <a:buNone/>
            </a:pPr>
            <a:endParaRPr lang="en-US" altLang="en-US" b="1"/>
          </a:p>
          <a:p>
            <a:pPr marL="609600" indent="-609600">
              <a:buNone/>
            </a:pPr>
            <a:endParaRPr lang="en-US" altLang="en-US" b="1"/>
          </a:p>
          <a:p>
            <a:pPr marL="609600" indent="-609600">
              <a:buNone/>
            </a:pPr>
            <a:r>
              <a:rPr lang="en-US" altLang="en-US"/>
              <a:t>	</a:t>
            </a:r>
          </a:p>
          <a:p>
            <a:pPr marL="609600" indent="-609600">
              <a:buNone/>
            </a:pPr>
            <a:br>
              <a:rPr lang="en-US" altLang="en-US"/>
            </a:br>
            <a:endParaRPr lang="en-US" altLang="en-US"/>
          </a:p>
          <a:p>
            <a:pPr marL="609600" indent="-609600">
              <a:buNone/>
            </a:pPr>
            <a:endParaRPr lang="en-US" altLang="en-US"/>
          </a:p>
        </p:txBody>
      </p:sp>
      <p:grpSp>
        <p:nvGrpSpPr>
          <p:cNvPr id="31747" name="Group 6">
            <a:extLst>
              <a:ext uri="{FF2B5EF4-FFF2-40B4-BE49-F238E27FC236}">
                <a16:creationId xmlns:a16="http://schemas.microsoft.com/office/drawing/2014/main" id="{CB911005-5402-4048-BB2F-14D628559184}"/>
              </a:ext>
            </a:extLst>
          </p:cNvPr>
          <p:cNvGrpSpPr>
            <a:grpSpLocks/>
          </p:cNvGrpSpPr>
          <p:nvPr/>
        </p:nvGrpSpPr>
        <p:grpSpPr bwMode="auto">
          <a:xfrm>
            <a:off x="2535239" y="1316039"/>
            <a:ext cx="6364287" cy="4097337"/>
            <a:chOff x="1468" y="1012"/>
            <a:chExt cx="2750" cy="2054"/>
          </a:xfrm>
        </p:grpSpPr>
        <p:pic>
          <p:nvPicPr>
            <p:cNvPr id="31750" name="Picture 4">
              <a:extLst>
                <a:ext uri="{FF2B5EF4-FFF2-40B4-BE49-F238E27FC236}">
                  <a16:creationId xmlns:a16="http://schemas.microsoft.com/office/drawing/2014/main" id="{75C0A1AB-6082-334A-A665-C34BAA9D1F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8" y="1012"/>
              <a:ext cx="2750" cy="2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1" name="Rectangle 5">
              <a:extLst>
                <a:ext uri="{FF2B5EF4-FFF2-40B4-BE49-F238E27FC236}">
                  <a16:creationId xmlns:a16="http://schemas.microsoft.com/office/drawing/2014/main" id="{A82DD058-86C4-8749-B0B4-A7F540E4CECE}"/>
                </a:ext>
              </a:extLst>
            </p:cNvPr>
            <p:cNvSpPr>
              <a:spLocks noChangeArrowheads="1"/>
            </p:cNvSpPr>
            <p:nvPr/>
          </p:nvSpPr>
          <p:spPr bwMode="auto">
            <a:xfrm>
              <a:off x="2481" y="2924"/>
              <a:ext cx="813" cy="13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sp>
        <p:nvSpPr>
          <p:cNvPr id="31748" name="Text Box 7">
            <a:extLst>
              <a:ext uri="{FF2B5EF4-FFF2-40B4-BE49-F238E27FC236}">
                <a16:creationId xmlns:a16="http://schemas.microsoft.com/office/drawing/2014/main" id="{1F657EF9-F7D9-B544-936A-BE5A9B31FC2C}"/>
              </a:ext>
            </a:extLst>
          </p:cNvPr>
          <p:cNvSpPr txBox="1">
            <a:spLocks noChangeArrowheads="1"/>
          </p:cNvSpPr>
          <p:nvPr/>
        </p:nvSpPr>
        <p:spPr bwMode="auto">
          <a:xfrm>
            <a:off x="2170113" y="4373563"/>
            <a:ext cx="8064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endParaRPr lang="en-US" altLang="en-US"/>
          </a:p>
        </p:txBody>
      </p:sp>
      <p:sp>
        <p:nvSpPr>
          <p:cNvPr id="31749" name="Text Box 8">
            <a:extLst>
              <a:ext uri="{FF2B5EF4-FFF2-40B4-BE49-F238E27FC236}">
                <a16:creationId xmlns:a16="http://schemas.microsoft.com/office/drawing/2014/main" id="{06A484DB-1992-4B4E-B601-E286FE3035F5}"/>
              </a:ext>
            </a:extLst>
          </p:cNvPr>
          <p:cNvSpPr txBox="1">
            <a:spLocks noChangeArrowheads="1"/>
          </p:cNvSpPr>
          <p:nvPr/>
        </p:nvSpPr>
        <p:spPr bwMode="auto">
          <a:xfrm>
            <a:off x="1954213" y="5430838"/>
            <a:ext cx="83248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800" i="1"/>
              <a:t>P</a:t>
            </a:r>
            <a:r>
              <a:rPr lang="en-US" altLang="en-US" sz="2800"/>
              <a:t> =.0052 </a:t>
            </a:r>
            <a:r>
              <a:rPr lang="en-US" altLang="en-US" sz="2800">
                <a:sym typeface="Symbol" pitchFamily="2" charset="2"/>
              </a:rPr>
              <a:t> it is unlikely the sample came from this null distribution   </a:t>
            </a:r>
            <a:r>
              <a:rPr lang="en-US" altLang="en-US" sz="2800"/>
              <a:t>strong evidence against </a:t>
            </a:r>
            <a:r>
              <a:rPr lang="en-US" altLang="en-US" sz="2800" i="1"/>
              <a:t>H</a:t>
            </a:r>
            <a:r>
              <a:rPr lang="en-US" altLang="en-US" sz="2800" baseline="-25000"/>
              <a:t>0</a:t>
            </a:r>
          </a:p>
        </p:txBody>
      </p:sp>
    </p:spTree>
    <p:extLst>
      <p:ext uri="{BB962C8B-B14F-4D97-AF65-F5344CB8AC3E}">
        <p14:creationId xmlns:p14="http://schemas.microsoft.com/office/powerpoint/2010/main" val="10974326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2770" name="Picture 4">
            <a:extLst>
              <a:ext uri="{FF2B5EF4-FFF2-40B4-BE49-F238E27FC236}">
                <a16:creationId xmlns:a16="http://schemas.microsoft.com/office/drawing/2014/main" id="{85C4758E-A740-EF46-B166-1D570EC83EC7}"/>
              </a:ext>
            </a:extLst>
          </p:cNvPr>
          <p:cNvPicPr>
            <a:picLocks noGrp="1" noChangeAspect="1" noChangeArrowheads="1"/>
          </p:cNvPicPr>
          <p:nvPr>
            <p:ph type="clipArt" sz="half" idx="2"/>
          </p:nvPr>
        </p:nvPicPr>
        <p:blipFill>
          <a:blip r:embed="rId2">
            <a:extLst>
              <a:ext uri="{28A0092B-C50C-407E-A947-70E740481C1C}">
                <a14:useLocalDpi xmlns:a14="http://schemas.microsoft.com/office/drawing/2010/main" val="0"/>
              </a:ext>
            </a:extLst>
          </a:blip>
          <a:srcRect/>
          <a:stretch>
            <a:fillRect/>
          </a:stretch>
        </p:blipFill>
        <p:spPr>
          <a:xfrm>
            <a:off x="5473701" y="2378076"/>
            <a:ext cx="5072063" cy="4340225"/>
          </a:xfrm>
          <a:noFill/>
        </p:spPr>
      </p:pic>
      <p:sp>
        <p:nvSpPr>
          <p:cNvPr id="175107" name="Rectangle 3">
            <a:extLst>
              <a:ext uri="{FF2B5EF4-FFF2-40B4-BE49-F238E27FC236}">
                <a16:creationId xmlns:a16="http://schemas.microsoft.com/office/drawing/2014/main" id="{15CE7F3C-7486-1041-A0CA-AAF58392F400}"/>
              </a:ext>
            </a:extLst>
          </p:cNvPr>
          <p:cNvSpPr>
            <a:spLocks noGrp="1" noChangeArrowheads="1"/>
          </p:cNvSpPr>
          <p:nvPr>
            <p:ph type="body" sz="half" idx="1"/>
          </p:nvPr>
        </p:nvSpPr>
        <p:spPr>
          <a:xfrm>
            <a:off x="871538" y="1293814"/>
            <a:ext cx="5656263" cy="5114925"/>
          </a:xfrm>
        </p:spPr>
        <p:txBody>
          <a:bodyPr>
            <a:normAutofit/>
          </a:bodyPr>
          <a:lstStyle/>
          <a:p>
            <a:pPr marL="233363" indent="-233363"/>
            <a:r>
              <a:rPr lang="en-US" altLang="en-US" sz="2800" i="1" dirty="0"/>
              <a:t>H</a:t>
            </a:r>
            <a:r>
              <a:rPr lang="en-US" altLang="en-US" sz="2800" baseline="-25000" dirty="0"/>
              <a:t>a</a:t>
            </a:r>
            <a:r>
              <a:rPr lang="en-US" altLang="en-US" sz="2800" dirty="0"/>
              <a:t>: µ </a:t>
            </a:r>
            <a:r>
              <a:rPr lang="en-US" altLang="en-US" sz="2800" dirty="0">
                <a:cs typeface="Arial" panose="020B0604020202020204" pitchFamily="34" charset="0"/>
              </a:rPr>
              <a:t>≠</a:t>
            </a:r>
            <a:r>
              <a:rPr lang="en-US" altLang="en-US" sz="2800" dirty="0"/>
              <a:t>100 </a:t>
            </a:r>
          </a:p>
          <a:p>
            <a:pPr marL="233363" indent="-233363"/>
            <a:r>
              <a:rPr lang="en-US" altLang="en-US" sz="2800" dirty="0"/>
              <a:t>Considers random deviations “up” and “down” from </a:t>
            </a:r>
            <a:r>
              <a:rPr lang="el-GR" altLang="en-US" sz="2800" dirty="0">
                <a:cs typeface="Arial" panose="020B0604020202020204" pitchFamily="34" charset="0"/>
              </a:rPr>
              <a:t>μ</a:t>
            </a:r>
            <a:r>
              <a:rPr lang="en-US" altLang="en-US" sz="2800" baseline="-25000" dirty="0">
                <a:cs typeface="Arial" panose="020B0604020202020204" pitchFamily="34" charset="0"/>
              </a:rPr>
              <a:t>0 </a:t>
            </a:r>
            <a:r>
              <a:rPr lang="en-US" altLang="en-US" sz="2800" dirty="0">
                <a:sym typeface="Symbol" pitchFamily="2" charset="2"/>
              </a:rPr>
              <a:t>t</a:t>
            </a:r>
            <a:r>
              <a:rPr lang="en-US" altLang="en-US" sz="2800" dirty="0"/>
              <a:t>ails above and below </a:t>
            </a:r>
            <a:r>
              <a:rPr lang="en-US" altLang="en-US" sz="2800" dirty="0">
                <a:cs typeface="Arial" panose="020B0604020202020204" pitchFamily="34" charset="0"/>
              </a:rPr>
              <a:t>±</a:t>
            </a:r>
            <a:r>
              <a:rPr lang="en-US" altLang="en-US" sz="2800" dirty="0" err="1"/>
              <a:t>z</a:t>
            </a:r>
            <a:r>
              <a:rPr lang="en-US" altLang="en-US" sz="2800" baseline="-25000" dirty="0" err="1"/>
              <a:t>stat</a:t>
            </a:r>
            <a:r>
              <a:rPr lang="en-US" altLang="en-US" sz="2800" dirty="0">
                <a:cs typeface="Arial" panose="020B0604020202020204" pitchFamily="34" charset="0"/>
              </a:rPr>
              <a:t> </a:t>
            </a:r>
            <a:endParaRPr lang="en-US" altLang="en-US" sz="2800" i="1" dirty="0">
              <a:cs typeface="Arial" panose="020B0604020202020204" pitchFamily="34" charset="0"/>
            </a:endParaRPr>
          </a:p>
          <a:p>
            <a:pPr marL="233363" indent="-233363"/>
            <a:r>
              <a:rPr lang="en-US" altLang="en-US" sz="2800" dirty="0"/>
              <a:t>Thus, two-sided </a:t>
            </a:r>
            <a:r>
              <a:rPr lang="en-US" altLang="en-US" sz="2800" i="1" dirty="0"/>
              <a:t>P</a:t>
            </a:r>
            <a:r>
              <a:rPr lang="en-US" altLang="en-US" sz="2800" dirty="0"/>
              <a:t> </a:t>
            </a:r>
            <a:br>
              <a:rPr lang="en-US" altLang="en-US" sz="2800" dirty="0"/>
            </a:br>
            <a:r>
              <a:rPr lang="en-US" altLang="en-US" sz="2800" dirty="0"/>
              <a:t>= 2 </a:t>
            </a:r>
            <a:r>
              <a:rPr lang="en-US" altLang="en-US" sz="2800" dirty="0">
                <a:cs typeface="Tahoma" panose="020B0604030504040204" pitchFamily="34" charset="0"/>
              </a:rPr>
              <a:t>× 0.0052 </a:t>
            </a:r>
            <a:br>
              <a:rPr lang="en-US" altLang="en-US" sz="2800" dirty="0">
                <a:cs typeface="Tahoma" panose="020B0604030504040204" pitchFamily="34" charset="0"/>
              </a:rPr>
            </a:br>
            <a:r>
              <a:rPr lang="en-US" altLang="en-US" sz="2800" dirty="0">
                <a:cs typeface="Tahoma" panose="020B0604030504040204" pitchFamily="34" charset="0"/>
              </a:rPr>
              <a:t>= 0.0104</a:t>
            </a:r>
            <a:endParaRPr lang="en-US" altLang="en-US" sz="2800" dirty="0"/>
          </a:p>
        </p:txBody>
      </p:sp>
      <p:sp>
        <p:nvSpPr>
          <p:cNvPr id="32772" name="Rectangle 2">
            <a:extLst>
              <a:ext uri="{FF2B5EF4-FFF2-40B4-BE49-F238E27FC236}">
                <a16:creationId xmlns:a16="http://schemas.microsoft.com/office/drawing/2014/main" id="{EDF50999-DA4C-754B-8079-B4195EF82E9F}"/>
              </a:ext>
            </a:extLst>
          </p:cNvPr>
          <p:cNvSpPr>
            <a:spLocks noGrp="1" noChangeArrowheads="1"/>
          </p:cNvSpPr>
          <p:nvPr>
            <p:ph type="title"/>
          </p:nvPr>
        </p:nvSpPr>
        <p:spPr/>
        <p:txBody>
          <a:bodyPr/>
          <a:lstStyle/>
          <a:p>
            <a:pPr eaLnBrk="1" hangingPunct="1"/>
            <a:r>
              <a:rPr lang="en-US" altLang="en-US" sz="4000"/>
              <a:t>Two-Sided </a:t>
            </a:r>
            <a:r>
              <a:rPr lang="en-US" altLang="en-US" sz="4000" i="1"/>
              <a:t>P</a:t>
            </a:r>
            <a:r>
              <a:rPr lang="en-US" altLang="en-US" sz="4000"/>
              <a:t>-value: Lake Wobegon</a:t>
            </a:r>
          </a:p>
        </p:txBody>
      </p:sp>
    </p:spTree>
    <p:extLst>
      <p:ext uri="{BB962C8B-B14F-4D97-AF65-F5344CB8AC3E}">
        <p14:creationId xmlns:p14="http://schemas.microsoft.com/office/powerpoint/2010/main" val="4857023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5107">
                                            <p:txEl>
                                              <p:pRg st="0" end="0"/>
                                            </p:txEl>
                                          </p:spTgt>
                                        </p:tgtEl>
                                        <p:attrNameLst>
                                          <p:attrName>style.visibility</p:attrName>
                                        </p:attrNameLst>
                                      </p:cBhvr>
                                      <p:to>
                                        <p:strVal val="visible"/>
                                      </p:to>
                                    </p:set>
                                    <p:animEffect transition="in" filter="fade">
                                      <p:cBhvr>
                                        <p:cTn id="7" dur="1000"/>
                                        <p:tgtEl>
                                          <p:spTgt spid="175107">
                                            <p:txEl>
                                              <p:pRg st="0" end="0"/>
                                            </p:txEl>
                                          </p:spTgt>
                                        </p:tgtEl>
                                      </p:cBhvr>
                                    </p:animEffect>
                                    <p:anim calcmode="lin" valueType="num">
                                      <p:cBhvr>
                                        <p:cTn id="8" dur="1000" fill="hold"/>
                                        <p:tgtEl>
                                          <p:spTgt spid="17510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510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75107">
                                            <p:txEl>
                                              <p:pRg st="1" end="1"/>
                                            </p:txEl>
                                          </p:spTgt>
                                        </p:tgtEl>
                                        <p:attrNameLst>
                                          <p:attrName>style.visibility</p:attrName>
                                        </p:attrNameLst>
                                      </p:cBhvr>
                                      <p:to>
                                        <p:strVal val="visible"/>
                                      </p:to>
                                    </p:set>
                                    <p:animEffect transition="in" filter="fade">
                                      <p:cBhvr>
                                        <p:cTn id="14" dur="1000"/>
                                        <p:tgtEl>
                                          <p:spTgt spid="175107">
                                            <p:txEl>
                                              <p:pRg st="1" end="1"/>
                                            </p:txEl>
                                          </p:spTgt>
                                        </p:tgtEl>
                                      </p:cBhvr>
                                    </p:animEffect>
                                    <p:anim calcmode="lin" valueType="num">
                                      <p:cBhvr>
                                        <p:cTn id="15" dur="1000" fill="hold"/>
                                        <p:tgtEl>
                                          <p:spTgt spid="17510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510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75107">
                                            <p:txEl>
                                              <p:pRg st="2" end="2"/>
                                            </p:txEl>
                                          </p:spTgt>
                                        </p:tgtEl>
                                        <p:attrNameLst>
                                          <p:attrName>style.visibility</p:attrName>
                                        </p:attrNameLst>
                                      </p:cBhvr>
                                      <p:to>
                                        <p:strVal val="visible"/>
                                      </p:to>
                                    </p:set>
                                    <p:animEffect transition="in" filter="fade">
                                      <p:cBhvr>
                                        <p:cTn id="21" dur="1000"/>
                                        <p:tgtEl>
                                          <p:spTgt spid="175107">
                                            <p:txEl>
                                              <p:pRg st="2" end="2"/>
                                            </p:txEl>
                                          </p:spTgt>
                                        </p:tgtEl>
                                      </p:cBhvr>
                                    </p:animEffect>
                                    <p:anim calcmode="lin" valueType="num">
                                      <p:cBhvr>
                                        <p:cTn id="22" dur="1000" fill="hold"/>
                                        <p:tgtEl>
                                          <p:spTgt spid="17510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510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CD9865B-CC3F-7340-90E0-4C59AFF31C74}"/>
              </a:ext>
            </a:extLst>
          </p:cNvPr>
          <p:cNvSpPr>
            <a:spLocks noGrp="1" noChangeArrowheads="1"/>
          </p:cNvSpPr>
          <p:nvPr>
            <p:ph type="title"/>
          </p:nvPr>
        </p:nvSpPr>
        <p:spPr>
          <a:xfrm>
            <a:off x="1165543" y="761739"/>
            <a:ext cx="10058400" cy="840134"/>
          </a:xfrm>
        </p:spPr>
        <p:txBody>
          <a:bodyPr/>
          <a:lstStyle/>
          <a:p>
            <a:pPr eaLnBrk="1" hangingPunct="1"/>
            <a:r>
              <a:rPr lang="en-US" altLang="en-US" sz="4800" dirty="0">
                <a:cs typeface="Arial" panose="020B0604020202020204" pitchFamily="34" charset="0"/>
              </a:rPr>
              <a:t>Power and Sample Size</a:t>
            </a:r>
            <a:endParaRPr lang="en-US" altLang="en-US" sz="4800" dirty="0"/>
          </a:p>
        </p:txBody>
      </p:sp>
      <p:graphicFrame>
        <p:nvGraphicFramePr>
          <p:cNvPr id="193596" name="Group 60">
            <a:extLst>
              <a:ext uri="{FF2B5EF4-FFF2-40B4-BE49-F238E27FC236}">
                <a16:creationId xmlns:a16="http://schemas.microsoft.com/office/drawing/2014/main" id="{DE56B635-5789-BF49-9ADB-32676CF1A0B8}"/>
              </a:ext>
            </a:extLst>
          </p:cNvPr>
          <p:cNvGraphicFramePr>
            <a:graphicFrameLocks noGrp="1"/>
          </p:cNvGraphicFramePr>
          <p:nvPr>
            <p:extLst>
              <p:ext uri="{D42A27DB-BD31-4B8C-83A1-F6EECF244321}">
                <p14:modId xmlns:p14="http://schemas.microsoft.com/office/powerpoint/2010/main" val="4224942594"/>
              </p:ext>
            </p:extLst>
          </p:nvPr>
        </p:nvGraphicFramePr>
        <p:xfrm>
          <a:off x="1741488" y="3024188"/>
          <a:ext cx="8661400" cy="2239962"/>
        </p:xfrm>
        <a:graphic>
          <a:graphicData uri="http://schemas.openxmlformats.org/drawingml/2006/table">
            <a:tbl>
              <a:tblPr/>
              <a:tblGrid>
                <a:gridCol w="2573337">
                  <a:extLst>
                    <a:ext uri="{9D8B030D-6E8A-4147-A177-3AD203B41FA5}">
                      <a16:colId xmlns:a16="http://schemas.microsoft.com/office/drawing/2014/main" val="20000"/>
                    </a:ext>
                  </a:extLst>
                </a:gridCol>
                <a:gridCol w="2882900">
                  <a:extLst>
                    <a:ext uri="{9D8B030D-6E8A-4147-A177-3AD203B41FA5}">
                      <a16:colId xmlns:a16="http://schemas.microsoft.com/office/drawing/2014/main" val="20001"/>
                    </a:ext>
                  </a:extLst>
                </a:gridCol>
                <a:gridCol w="3205163">
                  <a:extLst>
                    <a:ext uri="{9D8B030D-6E8A-4147-A177-3AD203B41FA5}">
                      <a16:colId xmlns:a16="http://schemas.microsoft.com/office/drawing/2014/main" val="20002"/>
                    </a:ext>
                  </a:extLst>
                </a:gridCol>
              </a:tblGrid>
              <a:tr h="518233">
                <a:tc>
                  <a:txBody>
                    <a:bodyPr/>
                    <a:lstStyle/>
                    <a:p>
                      <a:pPr marL="0" marR="0" lvl="0" indent="0" algn="l" defTabSz="914400" rtl="0" eaLnBrk="1" fontAlgn="base" latinLnBrk="0" hangingPunct="1">
                        <a:lnSpc>
                          <a:spcPct val="100000"/>
                        </a:lnSpc>
                        <a:spcBef>
                          <a:spcPct val="10000"/>
                        </a:spcBef>
                        <a:spcAft>
                          <a:spcPct val="0"/>
                        </a:spcAft>
                        <a:buClrTx/>
                        <a:buSzTx/>
                        <a:buFontTx/>
                        <a:buNone/>
                        <a:tabLst/>
                      </a:pPr>
                      <a:endParaRPr kumimoji="0" lang="en-US" sz="2000" b="0" i="0" u="none" strike="noStrike" cap="none" normalizeH="0" baseline="0">
                        <a:ln>
                          <a:noFill/>
                        </a:ln>
                        <a:solidFill>
                          <a:schemeClr val="tx1"/>
                        </a:solidFill>
                        <a:effectLst/>
                        <a:latin typeface="Tahoma" pitchFamily="34" charset="0"/>
                      </a:endParaRPr>
                    </a:p>
                  </a:txBody>
                  <a:tcPr marT="45726" marB="45726" anchor="ctr" anchorCtr="1" horzOverflow="overflow">
                    <a:lnL cap="flat">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rPr>
                        <a:t>Truth</a:t>
                      </a:r>
                    </a:p>
                  </a:txBody>
                  <a:tcPr marT="45726" marB="45726" anchor="b" anchorCtr="1" horzOverflow="overflow">
                    <a:lnL>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518233">
                <a:tc>
                  <a:txBody>
                    <a:bodyPr/>
                    <a:lstStyle/>
                    <a:p>
                      <a:pPr marL="0" marR="0" lvl="0" indent="0" algn="ctr" defTabSz="914400" rtl="0" eaLnBrk="1" fontAlgn="base" latinLnBrk="0" hangingPunct="1">
                        <a:lnSpc>
                          <a:spcPct val="100000"/>
                        </a:lnSpc>
                        <a:spcBef>
                          <a:spcPct val="1000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rPr>
                        <a:t>Decision</a:t>
                      </a:r>
                    </a:p>
                  </a:txBody>
                  <a:tcPr marT="45726" marB="45726" anchor="b" horzOverflow="overflow">
                    <a:lnL cap="flat">
                      <a:noFill/>
                    </a:lnL>
                    <a:lnR>
                      <a:noFill/>
                    </a:lnR>
                    <a:lnT>
                      <a:noFill/>
                    </a:lnT>
                    <a:lnB>
                      <a:noFill/>
                    </a:lnB>
                    <a:lnTlToBr>
                      <a:noFill/>
                    </a:lnTlToBr>
                    <a:lnBlToTr>
                      <a:noFill/>
                    </a:lnBlToTr>
                    <a:noFill/>
                  </a:tcPr>
                </a:tc>
                <a:tc>
                  <a:txBody>
                    <a:bodyPr/>
                    <a:lstStyle/>
                    <a:p>
                      <a:pPr marL="457200" marR="0" lvl="1" indent="0" algn="l" defTabSz="914400" rtl="0" eaLnBrk="1" fontAlgn="base" latinLnBrk="0" hangingPunct="1">
                        <a:lnSpc>
                          <a:spcPct val="100000"/>
                        </a:lnSpc>
                        <a:spcBef>
                          <a:spcPct val="10000"/>
                        </a:spcBef>
                        <a:spcAft>
                          <a:spcPct val="0"/>
                        </a:spcAft>
                        <a:buClrTx/>
                        <a:buSzTx/>
                        <a:buFontTx/>
                        <a:buNone/>
                        <a:tabLst/>
                      </a:pPr>
                      <a:r>
                        <a:rPr kumimoji="0" lang="en-US" sz="2000" b="0" i="1" u="none" strike="noStrike" cap="none" normalizeH="0" baseline="0">
                          <a:ln>
                            <a:noFill/>
                          </a:ln>
                          <a:solidFill>
                            <a:schemeClr val="tx1"/>
                          </a:solidFill>
                          <a:effectLst/>
                          <a:latin typeface="Tahoma" pitchFamily="34" charset="0"/>
                        </a:rPr>
                        <a:t>H</a:t>
                      </a:r>
                      <a:r>
                        <a:rPr kumimoji="0" lang="en-US" sz="2000" b="0" i="0" u="none" strike="noStrike" cap="none" normalizeH="0" baseline="-25000">
                          <a:ln>
                            <a:noFill/>
                          </a:ln>
                          <a:solidFill>
                            <a:schemeClr val="tx1"/>
                          </a:solidFill>
                          <a:effectLst/>
                          <a:latin typeface="Tahoma" pitchFamily="34" charset="0"/>
                        </a:rPr>
                        <a:t>0</a:t>
                      </a:r>
                      <a:r>
                        <a:rPr kumimoji="0" lang="en-US" sz="2000" b="0" i="0" u="none" strike="noStrike" cap="none" normalizeH="0" baseline="0">
                          <a:ln>
                            <a:noFill/>
                          </a:ln>
                          <a:solidFill>
                            <a:schemeClr val="tx1"/>
                          </a:solidFill>
                          <a:effectLst/>
                          <a:latin typeface="Tahoma" pitchFamily="34" charset="0"/>
                        </a:rPr>
                        <a:t> true</a:t>
                      </a:r>
                    </a:p>
                  </a:txBody>
                  <a:tcPr marT="45726" marB="45726" anchor="ctr" anchorCtr="1"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Tx/>
                        <a:buSzTx/>
                        <a:buFontTx/>
                        <a:buNone/>
                        <a:tabLst/>
                      </a:pPr>
                      <a:r>
                        <a:rPr kumimoji="0" lang="en-US" sz="2000" b="0" i="1" u="none" strike="noStrike" cap="none" normalizeH="0" baseline="0">
                          <a:ln>
                            <a:noFill/>
                          </a:ln>
                          <a:solidFill>
                            <a:schemeClr val="tx1"/>
                          </a:solidFill>
                          <a:effectLst/>
                          <a:latin typeface="Tahoma" pitchFamily="34" charset="0"/>
                        </a:rPr>
                        <a:t>H</a:t>
                      </a:r>
                      <a:r>
                        <a:rPr kumimoji="0" lang="en-US" sz="2000" b="0" i="0" u="none" strike="noStrike" cap="none" normalizeH="0" baseline="-25000">
                          <a:ln>
                            <a:noFill/>
                          </a:ln>
                          <a:solidFill>
                            <a:schemeClr val="tx1"/>
                          </a:solidFill>
                          <a:effectLst/>
                          <a:latin typeface="Tahoma" pitchFamily="34" charset="0"/>
                        </a:rPr>
                        <a:t>0</a:t>
                      </a:r>
                      <a:r>
                        <a:rPr kumimoji="0" lang="en-US" sz="2000" b="0" i="0" u="none" strike="noStrike" cap="none" normalizeH="0" baseline="0">
                          <a:ln>
                            <a:noFill/>
                          </a:ln>
                          <a:solidFill>
                            <a:schemeClr val="tx1"/>
                          </a:solidFill>
                          <a:effectLst/>
                          <a:latin typeface="Tahoma" pitchFamily="34" charset="0"/>
                        </a:rPr>
                        <a:t> false</a:t>
                      </a:r>
                    </a:p>
                  </a:txBody>
                  <a:tcPr marT="45726" marB="45726" anchor="ctr" anchorCtr="1" horzOverflow="overflow">
                    <a:lnL>
                      <a:noFill/>
                    </a:lnL>
                    <a:lnR cap="flat">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1748">
                <a:tc>
                  <a:txBody>
                    <a:bodyPr/>
                    <a:lstStyle/>
                    <a:p>
                      <a:pPr marL="0" marR="0" lvl="0" indent="0" algn="ctr" defTabSz="914400" rtl="0" eaLnBrk="1" fontAlgn="base" latinLnBrk="0" hangingPunct="1">
                        <a:lnSpc>
                          <a:spcPct val="100000"/>
                        </a:lnSpc>
                        <a:spcBef>
                          <a:spcPct val="1000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rPr>
                        <a:t>Retain </a:t>
                      </a:r>
                      <a:r>
                        <a:rPr kumimoji="0" lang="en-US" sz="2000" b="0" i="1" u="none" strike="noStrike" cap="none" normalizeH="0" baseline="0">
                          <a:ln>
                            <a:noFill/>
                          </a:ln>
                          <a:solidFill>
                            <a:schemeClr val="tx1"/>
                          </a:solidFill>
                          <a:effectLst/>
                          <a:latin typeface="Tahoma" pitchFamily="34" charset="0"/>
                        </a:rPr>
                        <a:t>H</a:t>
                      </a:r>
                      <a:r>
                        <a:rPr kumimoji="0" lang="en-US" sz="2000" b="0" i="0" u="none" strike="noStrike" cap="none" normalizeH="0" baseline="-25000">
                          <a:ln>
                            <a:noFill/>
                          </a:ln>
                          <a:solidFill>
                            <a:schemeClr val="tx1"/>
                          </a:solidFill>
                          <a:effectLst/>
                          <a:latin typeface="Tahoma" pitchFamily="34" charset="0"/>
                        </a:rPr>
                        <a:t>0</a:t>
                      </a:r>
                      <a:r>
                        <a:rPr kumimoji="0" lang="en-US" sz="2000" b="0" i="0" u="none" strike="noStrike" cap="none" normalizeH="0" baseline="0">
                          <a:ln>
                            <a:noFill/>
                          </a:ln>
                          <a:solidFill>
                            <a:schemeClr val="tx1"/>
                          </a:solidFill>
                          <a:effectLst/>
                          <a:latin typeface="Tahoma" pitchFamily="34" charset="0"/>
                        </a:rPr>
                        <a:t> </a:t>
                      </a:r>
                    </a:p>
                  </a:txBody>
                  <a:tcPr marT="45726" marB="45726" anchor="ctr" anchorCtr="1" horzOverflow="overflow">
                    <a:lnL cap="flat">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Arial" charset="0"/>
                        </a:rPr>
                        <a:t>Correct retention</a:t>
                      </a:r>
                    </a:p>
                  </a:txBody>
                  <a:tcPr marT="45726" marB="45726"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1000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rPr>
                        <a:t>Type II error</a:t>
                      </a:r>
                    </a:p>
                  </a:txBody>
                  <a:tcPr marT="45726" marB="45726"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1748">
                <a:tc>
                  <a:txBody>
                    <a:bodyPr/>
                    <a:lstStyle/>
                    <a:p>
                      <a:pPr marL="0" marR="0" lvl="0" indent="0" algn="ctr" defTabSz="914400" rtl="0" eaLnBrk="1" fontAlgn="base" latinLnBrk="0" hangingPunct="1">
                        <a:lnSpc>
                          <a:spcPct val="100000"/>
                        </a:lnSpc>
                        <a:spcBef>
                          <a:spcPct val="1000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rPr>
                        <a:t>Reject </a:t>
                      </a:r>
                      <a:r>
                        <a:rPr kumimoji="0" lang="en-US" sz="2000" b="0" i="1" u="none" strike="noStrike" cap="none" normalizeH="0" baseline="0">
                          <a:ln>
                            <a:noFill/>
                          </a:ln>
                          <a:solidFill>
                            <a:schemeClr val="tx1"/>
                          </a:solidFill>
                          <a:effectLst/>
                          <a:latin typeface="Tahoma" pitchFamily="34" charset="0"/>
                        </a:rPr>
                        <a:t>H</a:t>
                      </a:r>
                      <a:r>
                        <a:rPr kumimoji="0" lang="en-US" sz="2000" b="0" i="0" u="none" strike="noStrike" cap="none" normalizeH="0" baseline="-25000">
                          <a:ln>
                            <a:noFill/>
                          </a:ln>
                          <a:solidFill>
                            <a:schemeClr val="tx1"/>
                          </a:solidFill>
                          <a:effectLst/>
                          <a:latin typeface="Tahoma" pitchFamily="34" charset="0"/>
                        </a:rPr>
                        <a:t>0</a:t>
                      </a:r>
                    </a:p>
                  </a:txBody>
                  <a:tcPr marT="45726" marB="45726" anchor="ctr" anchorCtr="1" horzOverflow="overflow">
                    <a:lnL cap="flat">
                      <a:noFill/>
                    </a:lnL>
                    <a:lnR w="12700" cap="flat" cmpd="sng" algn="ctr">
                      <a:solidFill>
                        <a:schemeClr val="tx1"/>
                      </a:solidFill>
                      <a:prstDash val="solid"/>
                      <a:miter lim="800000"/>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rPr>
                        <a:t>Type I error</a:t>
                      </a:r>
                    </a:p>
                  </a:txBody>
                  <a:tcPr marT="45726" marB="45726"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10000"/>
                        </a:spcBef>
                        <a:spcAft>
                          <a:spcPct val="0"/>
                        </a:spcAft>
                        <a:buClrTx/>
                        <a:buSzTx/>
                        <a:buFontTx/>
                        <a:buNone/>
                        <a:tabLst/>
                      </a:pPr>
                      <a:r>
                        <a:rPr kumimoji="0" lang="en-US" sz="2000" b="0" i="0" u="none" strike="noStrike" cap="none" normalizeH="0" baseline="0" dirty="0">
                          <a:ln>
                            <a:noFill/>
                          </a:ln>
                          <a:solidFill>
                            <a:schemeClr val="tx1"/>
                          </a:solidFill>
                          <a:effectLst/>
                          <a:latin typeface="Tahoma" pitchFamily="34" charset="0"/>
                          <a:cs typeface="Arial" charset="0"/>
                        </a:rPr>
                        <a:t>Correct rejection</a:t>
                      </a:r>
                    </a:p>
                  </a:txBody>
                  <a:tcPr marT="45726" marB="45726"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3813" name="Text Box 33">
            <a:extLst>
              <a:ext uri="{FF2B5EF4-FFF2-40B4-BE49-F238E27FC236}">
                <a16:creationId xmlns:a16="http://schemas.microsoft.com/office/drawing/2014/main" id="{244621B0-C897-6040-9DA1-2A68B63EB80A}"/>
              </a:ext>
            </a:extLst>
          </p:cNvPr>
          <p:cNvSpPr txBox="1">
            <a:spLocks noChangeArrowheads="1"/>
          </p:cNvSpPr>
          <p:nvPr/>
        </p:nvSpPr>
        <p:spPr bwMode="auto">
          <a:xfrm>
            <a:off x="2316163" y="5464175"/>
            <a:ext cx="7162800" cy="861774"/>
          </a:xfrm>
          <a:prstGeom prst="rect">
            <a:avLst/>
          </a:prstGeom>
          <a:solidFill>
            <a:schemeClr val="accent1"/>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l-GR" altLang="en-US" sz="2000">
                <a:cs typeface="Times New Roman" panose="02020603050405020304" pitchFamily="18" charset="0"/>
              </a:rPr>
              <a:t>α</a:t>
            </a:r>
            <a:r>
              <a:rPr lang="en-US" altLang="en-US" sz="2000">
                <a:cs typeface="Times New Roman" panose="02020603050405020304" pitchFamily="18" charset="0"/>
              </a:rPr>
              <a:t> </a:t>
            </a:r>
            <a:r>
              <a:rPr lang="en-US" altLang="en-US" sz="2000"/>
              <a:t>≡ probability of a Type I error</a:t>
            </a:r>
            <a:endParaRPr lang="en-US" altLang="en-US" sz="2000">
              <a:cs typeface="Times New Roman" panose="02020603050405020304" pitchFamily="18" charset="0"/>
            </a:endParaRPr>
          </a:p>
          <a:p>
            <a:pPr algn="ctr" eaLnBrk="1" hangingPunct="1">
              <a:spcBef>
                <a:spcPct val="50000"/>
              </a:spcBef>
            </a:pPr>
            <a:r>
              <a:rPr lang="el-GR" altLang="en-US" sz="2000"/>
              <a:t>β</a:t>
            </a:r>
            <a:r>
              <a:rPr lang="en-US" altLang="en-US" sz="2000"/>
              <a:t> ≡ Probability of a Type II error </a:t>
            </a:r>
            <a:endParaRPr lang="el-GR" altLang="en-US" sz="2000"/>
          </a:p>
        </p:txBody>
      </p:sp>
      <p:sp>
        <p:nvSpPr>
          <p:cNvPr id="33814" name="Text Box 37">
            <a:extLst>
              <a:ext uri="{FF2B5EF4-FFF2-40B4-BE49-F238E27FC236}">
                <a16:creationId xmlns:a16="http://schemas.microsoft.com/office/drawing/2014/main" id="{337260A2-A377-1E4C-85A8-CEE4764B76D8}"/>
              </a:ext>
            </a:extLst>
          </p:cNvPr>
          <p:cNvSpPr txBox="1">
            <a:spLocks noChangeArrowheads="1"/>
          </p:cNvSpPr>
          <p:nvPr/>
        </p:nvSpPr>
        <p:spPr bwMode="auto">
          <a:xfrm>
            <a:off x="1524001" y="1785402"/>
            <a:ext cx="8061325"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2000" dirty="0">
                <a:latin typeface="Tahoma" panose="020B0604030504040204" pitchFamily="34" charset="0"/>
              </a:rPr>
              <a:t>Two types of decision errors:</a:t>
            </a:r>
          </a:p>
          <a:p>
            <a:pPr algn="ctr" eaLnBrk="1" hangingPunct="1">
              <a:spcBef>
                <a:spcPct val="20000"/>
              </a:spcBef>
            </a:pPr>
            <a:r>
              <a:rPr lang="en-US" altLang="en-US" sz="2000" dirty="0">
                <a:latin typeface="Tahoma" panose="020B0604030504040204" pitchFamily="34" charset="0"/>
              </a:rPr>
              <a:t>Type I error = erroneous rejection of true </a:t>
            </a:r>
            <a:r>
              <a:rPr lang="en-US" altLang="en-US" sz="2000" i="1" dirty="0">
                <a:latin typeface="Tahoma" panose="020B0604030504040204" pitchFamily="34" charset="0"/>
              </a:rPr>
              <a:t>H</a:t>
            </a:r>
            <a:r>
              <a:rPr lang="en-US" altLang="en-US" sz="2000" baseline="-25000" dirty="0">
                <a:latin typeface="Tahoma" panose="020B0604030504040204" pitchFamily="34" charset="0"/>
              </a:rPr>
              <a:t>0</a:t>
            </a:r>
          </a:p>
          <a:p>
            <a:pPr algn="ctr" eaLnBrk="1" hangingPunct="1">
              <a:spcBef>
                <a:spcPct val="20000"/>
              </a:spcBef>
            </a:pPr>
            <a:r>
              <a:rPr lang="en-US" altLang="en-US" sz="2000" dirty="0">
                <a:latin typeface="Tahoma" panose="020B0604030504040204" pitchFamily="34" charset="0"/>
              </a:rPr>
              <a:t>Type II error = erroneous retention of false </a:t>
            </a:r>
            <a:r>
              <a:rPr lang="en-US" altLang="en-US" sz="2000" i="1" dirty="0">
                <a:latin typeface="Tahoma" panose="020B0604030504040204" pitchFamily="34" charset="0"/>
              </a:rPr>
              <a:t>H</a:t>
            </a:r>
            <a:r>
              <a:rPr lang="en-US" altLang="en-US" sz="2000" baseline="-25000" dirty="0">
                <a:latin typeface="Tahoma" panose="020B0604030504040204" pitchFamily="34" charset="0"/>
              </a:rPr>
              <a:t>0</a:t>
            </a:r>
          </a:p>
        </p:txBody>
      </p:sp>
    </p:spTree>
    <p:extLst>
      <p:ext uri="{BB962C8B-B14F-4D97-AF65-F5344CB8AC3E}">
        <p14:creationId xmlns:p14="http://schemas.microsoft.com/office/powerpoint/2010/main" val="16428149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2" descr="Type I Error and Type II Error- Definition, 10 Differences, Examples |  Microbe Notes">
            <a:extLst>
              <a:ext uri="{FF2B5EF4-FFF2-40B4-BE49-F238E27FC236}">
                <a16:creationId xmlns:a16="http://schemas.microsoft.com/office/drawing/2014/main" id="{F118CF18-3BF5-024A-955A-E6575A4045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762000"/>
            <a:ext cx="10160000"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75431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24A2CC04-6FDC-EF47-9600-2A0FE757E970}"/>
              </a:ext>
            </a:extLst>
          </p:cNvPr>
          <p:cNvSpPr>
            <a:spLocks noGrp="1" noChangeArrowheads="1"/>
          </p:cNvSpPr>
          <p:nvPr>
            <p:ph type="title"/>
          </p:nvPr>
        </p:nvSpPr>
        <p:spPr/>
        <p:txBody>
          <a:bodyPr/>
          <a:lstStyle/>
          <a:p>
            <a:pPr eaLnBrk="1" hangingPunct="1"/>
            <a:r>
              <a:rPr lang="en-US" altLang="en-US"/>
              <a:t>Power</a:t>
            </a:r>
          </a:p>
        </p:txBody>
      </p:sp>
      <p:sp>
        <p:nvSpPr>
          <p:cNvPr id="194563" name="Rectangle 3">
            <a:extLst>
              <a:ext uri="{FF2B5EF4-FFF2-40B4-BE49-F238E27FC236}">
                <a16:creationId xmlns:a16="http://schemas.microsoft.com/office/drawing/2014/main" id="{0A9B0A6E-C026-3B40-94DD-5B50116F6B19}"/>
              </a:ext>
            </a:extLst>
          </p:cNvPr>
          <p:cNvSpPr>
            <a:spLocks noGrp="1" noChangeArrowheads="1"/>
          </p:cNvSpPr>
          <p:nvPr>
            <p:ph type="body" idx="1"/>
          </p:nvPr>
        </p:nvSpPr>
        <p:spPr>
          <a:xfrm>
            <a:off x="1454425" y="1498780"/>
            <a:ext cx="9007836" cy="4654550"/>
          </a:xfrm>
        </p:spPr>
        <p:txBody>
          <a:bodyPr>
            <a:normAutofit/>
          </a:bodyPr>
          <a:lstStyle/>
          <a:p>
            <a:pPr eaLnBrk="1" hangingPunct="1"/>
            <a:r>
              <a:rPr lang="el-GR" altLang="en-US" sz="3200" dirty="0">
                <a:cs typeface="Arial" panose="020B0604020202020204" pitchFamily="34" charset="0"/>
              </a:rPr>
              <a:t>β</a:t>
            </a:r>
            <a:r>
              <a:rPr lang="en-US" altLang="en-US" sz="3200" dirty="0">
                <a:cs typeface="Arial" panose="020B0604020202020204" pitchFamily="34" charset="0"/>
              </a:rPr>
              <a:t> ≡ </a:t>
            </a:r>
            <a:r>
              <a:rPr lang="en-US" altLang="en-US" sz="3200" dirty="0"/>
              <a:t>probability of a Type II error</a:t>
            </a:r>
          </a:p>
          <a:p>
            <a:pPr lvl="1" eaLnBrk="1" hangingPunct="1">
              <a:buFontTx/>
              <a:buNone/>
            </a:pPr>
            <a:r>
              <a:rPr lang="el-GR" altLang="en-US" sz="3200" dirty="0">
                <a:cs typeface="Arial" panose="020B0604020202020204" pitchFamily="34" charset="0"/>
              </a:rPr>
              <a:t>β</a:t>
            </a:r>
            <a:r>
              <a:rPr lang="en-US" altLang="en-US" sz="3200" dirty="0">
                <a:cs typeface="Arial" panose="020B0604020202020204" pitchFamily="34" charset="0"/>
              </a:rPr>
              <a:t> = </a:t>
            </a:r>
            <a:r>
              <a:rPr lang="en-US" altLang="en-US" sz="3200" dirty="0" err="1">
                <a:cs typeface="Arial" panose="020B0604020202020204" pitchFamily="34" charset="0"/>
              </a:rPr>
              <a:t>Pr</a:t>
            </a:r>
            <a:r>
              <a:rPr lang="en-US" altLang="en-US" sz="3200" dirty="0">
                <a:cs typeface="Arial" panose="020B0604020202020204" pitchFamily="34" charset="0"/>
              </a:rPr>
              <a:t>(retain </a:t>
            </a:r>
            <a:r>
              <a:rPr lang="en-US" altLang="en-US" sz="3200" i="1" dirty="0">
                <a:cs typeface="Arial" panose="020B0604020202020204" pitchFamily="34" charset="0"/>
              </a:rPr>
              <a:t>H</a:t>
            </a:r>
            <a:r>
              <a:rPr lang="en-US" altLang="en-US" sz="3200" baseline="-25000" dirty="0">
                <a:cs typeface="Arial" panose="020B0604020202020204" pitchFamily="34" charset="0"/>
              </a:rPr>
              <a:t>0</a:t>
            </a:r>
            <a:r>
              <a:rPr lang="en-US" altLang="en-US" sz="3200" dirty="0">
                <a:cs typeface="Arial" panose="020B0604020202020204" pitchFamily="34" charset="0"/>
              </a:rPr>
              <a:t> | </a:t>
            </a:r>
            <a:r>
              <a:rPr lang="en-US" altLang="en-US" sz="3200" i="1" dirty="0">
                <a:cs typeface="Arial" panose="020B0604020202020204" pitchFamily="34" charset="0"/>
              </a:rPr>
              <a:t>H</a:t>
            </a:r>
            <a:r>
              <a:rPr lang="en-US" altLang="en-US" sz="3200" baseline="-25000" dirty="0">
                <a:cs typeface="Arial" panose="020B0604020202020204" pitchFamily="34" charset="0"/>
              </a:rPr>
              <a:t>0</a:t>
            </a:r>
            <a:r>
              <a:rPr lang="en-US" altLang="en-US" sz="3200" dirty="0">
                <a:cs typeface="Arial" panose="020B0604020202020204" pitchFamily="34" charset="0"/>
              </a:rPr>
              <a:t> false)</a:t>
            </a:r>
            <a:br>
              <a:rPr lang="en-US" altLang="en-US" sz="3200" dirty="0">
                <a:cs typeface="Arial" panose="020B0604020202020204" pitchFamily="34" charset="0"/>
              </a:rPr>
            </a:br>
            <a:r>
              <a:rPr lang="en-US" altLang="en-US" sz="3200" dirty="0">
                <a:cs typeface="Arial" panose="020B0604020202020204" pitchFamily="34" charset="0"/>
              </a:rPr>
              <a:t>(the “|” is read as “given”) </a:t>
            </a:r>
            <a:br>
              <a:rPr lang="en-US" altLang="en-US" sz="3200" dirty="0">
                <a:cs typeface="Arial" panose="020B0604020202020204" pitchFamily="34" charset="0"/>
              </a:rPr>
            </a:br>
            <a:endParaRPr lang="en-US" altLang="en-US" sz="3200" dirty="0"/>
          </a:p>
          <a:p>
            <a:pPr eaLnBrk="1" hangingPunct="1"/>
            <a:r>
              <a:rPr lang="en-US" altLang="en-US" sz="3200" dirty="0"/>
              <a:t>1 – </a:t>
            </a:r>
            <a:r>
              <a:rPr lang="el-GR" altLang="en-US" sz="3200" dirty="0">
                <a:cs typeface="Arial" panose="020B0604020202020204" pitchFamily="34" charset="0"/>
              </a:rPr>
              <a:t>β</a:t>
            </a:r>
            <a:r>
              <a:rPr lang="en-US" altLang="en-US" sz="3200" dirty="0">
                <a:cs typeface="Arial" panose="020B0604020202020204" pitchFamily="34" charset="0"/>
              </a:rPr>
              <a:t> </a:t>
            </a:r>
            <a:r>
              <a:rPr lang="en-US" altLang="en-US" sz="3200" dirty="0"/>
              <a:t>= “Power” </a:t>
            </a:r>
            <a:r>
              <a:rPr lang="en-US" altLang="en-US" sz="3200" dirty="0">
                <a:cs typeface="Arial" panose="020B0604020202020204" pitchFamily="34" charset="0"/>
              </a:rPr>
              <a:t>≡</a:t>
            </a:r>
            <a:r>
              <a:rPr lang="en-US" altLang="en-US" sz="3200" dirty="0"/>
              <a:t> </a:t>
            </a:r>
            <a:r>
              <a:rPr lang="en-US" altLang="en-US" sz="3200" b="1" dirty="0"/>
              <a:t>probability of avoiding a Type II error</a:t>
            </a:r>
            <a:br>
              <a:rPr lang="en-US" altLang="en-US" sz="3200" dirty="0"/>
            </a:br>
            <a:r>
              <a:rPr lang="en-US" altLang="en-US" sz="3200" dirty="0"/>
              <a:t>1– </a:t>
            </a:r>
            <a:r>
              <a:rPr lang="el-GR" altLang="en-US" sz="3200" dirty="0">
                <a:cs typeface="Arial" panose="020B0604020202020204" pitchFamily="34" charset="0"/>
              </a:rPr>
              <a:t>β</a:t>
            </a:r>
            <a:r>
              <a:rPr lang="en-US" altLang="en-US" sz="3200" dirty="0">
                <a:cs typeface="Arial" panose="020B0604020202020204" pitchFamily="34" charset="0"/>
              </a:rPr>
              <a:t> = </a:t>
            </a:r>
            <a:r>
              <a:rPr lang="en-US" altLang="en-US" sz="3200" dirty="0" err="1">
                <a:cs typeface="Arial" panose="020B0604020202020204" pitchFamily="34" charset="0"/>
              </a:rPr>
              <a:t>Pr</a:t>
            </a:r>
            <a:r>
              <a:rPr lang="en-US" altLang="en-US" sz="3200" dirty="0">
                <a:cs typeface="Arial" panose="020B0604020202020204" pitchFamily="34" charset="0"/>
              </a:rPr>
              <a:t>(reject </a:t>
            </a:r>
            <a:r>
              <a:rPr lang="en-US" altLang="en-US" sz="3200" i="1" dirty="0">
                <a:cs typeface="Arial" panose="020B0604020202020204" pitchFamily="34" charset="0"/>
              </a:rPr>
              <a:t>H</a:t>
            </a:r>
            <a:r>
              <a:rPr lang="en-US" altLang="en-US" sz="3200" baseline="-25000" dirty="0">
                <a:cs typeface="Arial" panose="020B0604020202020204" pitchFamily="34" charset="0"/>
              </a:rPr>
              <a:t>0</a:t>
            </a:r>
            <a:r>
              <a:rPr lang="en-US" altLang="en-US" sz="3200" dirty="0">
                <a:cs typeface="Arial" panose="020B0604020202020204" pitchFamily="34" charset="0"/>
              </a:rPr>
              <a:t> | </a:t>
            </a:r>
            <a:r>
              <a:rPr lang="en-US" altLang="en-US" sz="3200" i="1" dirty="0">
                <a:cs typeface="Arial" panose="020B0604020202020204" pitchFamily="34" charset="0"/>
              </a:rPr>
              <a:t>H</a:t>
            </a:r>
            <a:r>
              <a:rPr lang="en-US" altLang="en-US" sz="3200" baseline="-25000" dirty="0">
                <a:cs typeface="Arial" panose="020B0604020202020204" pitchFamily="34" charset="0"/>
              </a:rPr>
              <a:t>0</a:t>
            </a:r>
            <a:r>
              <a:rPr lang="en-US" altLang="en-US" sz="3200" dirty="0">
                <a:cs typeface="Arial" panose="020B0604020202020204" pitchFamily="34" charset="0"/>
              </a:rPr>
              <a:t> false)</a:t>
            </a:r>
            <a:endParaRPr lang="en-US" altLang="en-US" sz="3200" dirty="0"/>
          </a:p>
          <a:p>
            <a:pPr lvl="1" eaLnBrk="1" hangingPunct="1">
              <a:buFontTx/>
              <a:buNone/>
            </a:pPr>
            <a:endParaRPr lang="en-US" altLang="en-US" sz="3200" dirty="0"/>
          </a:p>
        </p:txBody>
      </p:sp>
    </p:spTree>
    <p:extLst>
      <p:ext uri="{BB962C8B-B14F-4D97-AF65-F5344CB8AC3E}">
        <p14:creationId xmlns:p14="http://schemas.microsoft.com/office/powerpoint/2010/main" val="2274145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4563">
                                            <p:txEl>
                                              <p:pRg st="0" end="0"/>
                                            </p:txEl>
                                          </p:spTgt>
                                        </p:tgtEl>
                                        <p:attrNameLst>
                                          <p:attrName>style.visibility</p:attrName>
                                        </p:attrNameLst>
                                      </p:cBhvr>
                                      <p:to>
                                        <p:strVal val="visible"/>
                                      </p:to>
                                    </p:set>
                                    <p:animEffect transition="in" filter="fade">
                                      <p:cBhvr>
                                        <p:cTn id="7" dur="1000"/>
                                        <p:tgtEl>
                                          <p:spTgt spid="194563">
                                            <p:txEl>
                                              <p:pRg st="0" end="0"/>
                                            </p:txEl>
                                          </p:spTgt>
                                        </p:tgtEl>
                                      </p:cBhvr>
                                    </p:animEffect>
                                    <p:anim calcmode="lin" valueType="num">
                                      <p:cBhvr>
                                        <p:cTn id="8" dur="1000" fill="hold"/>
                                        <p:tgtEl>
                                          <p:spTgt spid="1945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9456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94563">
                                            <p:txEl>
                                              <p:pRg st="1" end="1"/>
                                            </p:txEl>
                                          </p:spTgt>
                                        </p:tgtEl>
                                        <p:attrNameLst>
                                          <p:attrName>style.visibility</p:attrName>
                                        </p:attrNameLst>
                                      </p:cBhvr>
                                      <p:to>
                                        <p:strVal val="visible"/>
                                      </p:to>
                                    </p:set>
                                    <p:animEffect transition="in" filter="fade">
                                      <p:cBhvr>
                                        <p:cTn id="12" dur="1000"/>
                                        <p:tgtEl>
                                          <p:spTgt spid="194563">
                                            <p:txEl>
                                              <p:pRg st="1" end="1"/>
                                            </p:txEl>
                                          </p:spTgt>
                                        </p:tgtEl>
                                      </p:cBhvr>
                                    </p:animEffect>
                                    <p:anim calcmode="lin" valueType="num">
                                      <p:cBhvr>
                                        <p:cTn id="13" dur="1000" fill="hold"/>
                                        <p:tgtEl>
                                          <p:spTgt spid="19456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9456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94563">
                                            <p:txEl>
                                              <p:pRg st="2" end="2"/>
                                            </p:txEl>
                                          </p:spTgt>
                                        </p:tgtEl>
                                        <p:attrNameLst>
                                          <p:attrName>style.visibility</p:attrName>
                                        </p:attrNameLst>
                                      </p:cBhvr>
                                      <p:to>
                                        <p:strVal val="visible"/>
                                      </p:to>
                                    </p:set>
                                    <p:animEffect transition="in" filter="fade">
                                      <p:cBhvr>
                                        <p:cTn id="19" dur="1000"/>
                                        <p:tgtEl>
                                          <p:spTgt spid="194563">
                                            <p:txEl>
                                              <p:pRg st="2" end="2"/>
                                            </p:txEl>
                                          </p:spTgt>
                                        </p:tgtEl>
                                      </p:cBhvr>
                                    </p:animEffect>
                                    <p:anim calcmode="lin" valueType="num">
                                      <p:cBhvr>
                                        <p:cTn id="20" dur="1000" fill="hold"/>
                                        <p:tgtEl>
                                          <p:spTgt spid="19456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9456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Rectangle 2">
            <a:extLst>
              <a:ext uri="{FF2B5EF4-FFF2-40B4-BE49-F238E27FC236}">
                <a16:creationId xmlns:a16="http://schemas.microsoft.com/office/drawing/2014/main" id="{68F99F75-D129-1F46-B612-FA676AAEB9D1}"/>
              </a:ext>
            </a:extLst>
          </p:cNvPr>
          <p:cNvSpPr>
            <a:spLocks noGrp="1" noChangeArrowheads="1"/>
          </p:cNvSpPr>
          <p:nvPr>
            <p:ph type="title"/>
          </p:nvPr>
        </p:nvSpPr>
        <p:spPr/>
        <p:txBody>
          <a:bodyPr/>
          <a:lstStyle/>
          <a:p>
            <a:pPr eaLnBrk="1" hangingPunct="1"/>
            <a:r>
              <a:rPr lang="en-US" altLang="en-US">
                <a:cs typeface="Tahoma" panose="020B0604030504040204" pitchFamily="34" charset="0"/>
              </a:rPr>
              <a:t>Power of a </a:t>
            </a:r>
            <a:r>
              <a:rPr lang="en-US" altLang="en-US" i="1">
                <a:cs typeface="Tahoma" panose="020B0604030504040204" pitchFamily="34" charset="0"/>
              </a:rPr>
              <a:t>z </a:t>
            </a:r>
            <a:r>
              <a:rPr lang="en-US" altLang="en-US">
                <a:cs typeface="Tahoma" panose="020B0604030504040204" pitchFamily="34" charset="0"/>
              </a:rPr>
              <a:t>test</a:t>
            </a:r>
          </a:p>
        </p:txBody>
      </p:sp>
      <p:sp>
        <p:nvSpPr>
          <p:cNvPr id="9223" name="Rectangle 14">
            <a:extLst>
              <a:ext uri="{FF2B5EF4-FFF2-40B4-BE49-F238E27FC236}">
                <a16:creationId xmlns:a16="http://schemas.microsoft.com/office/drawing/2014/main" id="{7C100E55-211B-5148-94D1-AF9F32440093}"/>
              </a:ext>
            </a:extLst>
          </p:cNvPr>
          <p:cNvSpPr>
            <a:spLocks noGrp="1" noChangeArrowheads="1"/>
          </p:cNvSpPr>
          <p:nvPr>
            <p:ph type="body" idx="1"/>
          </p:nvPr>
        </p:nvSpPr>
        <p:spPr>
          <a:xfrm>
            <a:off x="1981200" y="3676650"/>
            <a:ext cx="8229600" cy="2155701"/>
          </a:xfrm>
        </p:spPr>
        <p:txBody>
          <a:bodyPr/>
          <a:lstStyle/>
          <a:p>
            <a:pPr eaLnBrk="1" hangingPunct="1">
              <a:lnSpc>
                <a:spcPct val="90000"/>
              </a:lnSpc>
              <a:buFontTx/>
              <a:buNone/>
            </a:pPr>
            <a:r>
              <a:rPr lang="en-US" altLang="en-US" dirty="0"/>
              <a:t>where </a:t>
            </a:r>
          </a:p>
          <a:p>
            <a:pPr eaLnBrk="1" hangingPunct="1">
              <a:lnSpc>
                <a:spcPct val="90000"/>
              </a:lnSpc>
            </a:pPr>
            <a:r>
              <a:rPr lang="en-US" altLang="en-US" dirty="0" err="1"/>
              <a:t>Φ</a:t>
            </a:r>
            <a:r>
              <a:rPr lang="en-US" altLang="en-US" dirty="0"/>
              <a:t>(</a:t>
            </a:r>
            <a:r>
              <a:rPr lang="en-US" altLang="en-US" i="1" dirty="0"/>
              <a:t>z</a:t>
            </a:r>
            <a:r>
              <a:rPr lang="en-US" altLang="en-US" dirty="0"/>
              <a:t>) represent the cumulative probability of Standard Normal </a:t>
            </a:r>
            <a:r>
              <a:rPr lang="en-US" altLang="en-US" i="1" dirty="0"/>
              <a:t>Z</a:t>
            </a:r>
            <a:endParaRPr lang="en-US" altLang="en-US" dirty="0"/>
          </a:p>
          <a:p>
            <a:pPr eaLnBrk="1" hangingPunct="1">
              <a:lnSpc>
                <a:spcPct val="90000"/>
              </a:lnSpc>
            </a:pPr>
            <a:r>
              <a:rPr lang="en-US" altLang="en-US" dirty="0"/>
              <a:t>μ</a:t>
            </a:r>
            <a:r>
              <a:rPr lang="en-US" altLang="en-US" baseline="-25000" dirty="0"/>
              <a:t>0</a:t>
            </a:r>
            <a:r>
              <a:rPr lang="en-US" altLang="en-US" dirty="0"/>
              <a:t> represent the population mean under the null hypothesis</a:t>
            </a:r>
          </a:p>
          <a:p>
            <a:pPr eaLnBrk="1" hangingPunct="1">
              <a:lnSpc>
                <a:spcPct val="90000"/>
              </a:lnSpc>
            </a:pPr>
            <a:r>
              <a:rPr lang="en-US" altLang="en-US" dirty="0" err="1"/>
              <a:t>μ</a:t>
            </a:r>
            <a:r>
              <a:rPr lang="en-US" altLang="en-US" baseline="-25000" dirty="0" err="1"/>
              <a:t>a</a:t>
            </a:r>
            <a:r>
              <a:rPr lang="en-US" altLang="en-US" dirty="0"/>
              <a:t> represents the population mean under the alternative hypothesis</a:t>
            </a:r>
          </a:p>
        </p:txBody>
      </p:sp>
      <p:sp>
        <p:nvSpPr>
          <p:cNvPr id="9224" name="Rectangle 5">
            <a:extLst>
              <a:ext uri="{FF2B5EF4-FFF2-40B4-BE49-F238E27FC236}">
                <a16:creationId xmlns:a16="http://schemas.microsoft.com/office/drawing/2014/main" id="{BCAC77B5-D0F6-3246-84A8-20E38507011B}"/>
              </a:ext>
            </a:extLst>
          </p:cNvPr>
          <p:cNvSpPr>
            <a:spLocks noChangeArrowheads="1"/>
          </p:cNvSpPr>
          <p:nvPr/>
        </p:nvSpPr>
        <p:spPr bwMode="auto">
          <a:xfrm>
            <a:off x="1524001" y="29919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aphicFrame>
        <p:nvGraphicFramePr>
          <p:cNvPr id="9218" name="Object 7">
            <a:extLst>
              <a:ext uri="{FF2B5EF4-FFF2-40B4-BE49-F238E27FC236}">
                <a16:creationId xmlns:a16="http://schemas.microsoft.com/office/drawing/2014/main" id="{B2446E88-C05C-B448-9B87-244CB711858B}"/>
              </a:ext>
            </a:extLst>
          </p:cNvPr>
          <p:cNvGraphicFramePr>
            <a:graphicFrameLocks noChangeAspect="1"/>
          </p:cNvGraphicFramePr>
          <p:nvPr/>
        </p:nvGraphicFramePr>
        <p:xfrm>
          <a:off x="-4605338" y="3135313"/>
          <a:ext cx="371475" cy="266700"/>
        </p:xfrm>
        <a:graphic>
          <a:graphicData uri="http://schemas.openxmlformats.org/presentationml/2006/ole">
            <mc:AlternateContent xmlns:mc="http://schemas.openxmlformats.org/markup-compatibility/2006">
              <mc:Choice xmlns:v="urn:schemas-microsoft-com:vml" Requires="v">
                <p:oleObj name="Equation" r:id="rId2" imgW="8483600" imgH="6146800" progId="Equation.3">
                  <p:embed/>
                </p:oleObj>
              </mc:Choice>
              <mc:Fallback>
                <p:oleObj name="Equation" r:id="rId2" imgW="8483600" imgH="6146800" progId="Equation.3">
                  <p:embed/>
                  <p:pic>
                    <p:nvPicPr>
                      <p:cNvPr id="9218" name="Object 7">
                        <a:extLst>
                          <a:ext uri="{FF2B5EF4-FFF2-40B4-BE49-F238E27FC236}">
                            <a16:creationId xmlns:a16="http://schemas.microsoft.com/office/drawing/2014/main" id="{B2446E88-C05C-B448-9B87-244CB7118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5338" y="3135313"/>
                        <a:ext cx="371475"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9" name="Object 6">
            <a:extLst>
              <a:ext uri="{FF2B5EF4-FFF2-40B4-BE49-F238E27FC236}">
                <a16:creationId xmlns:a16="http://schemas.microsoft.com/office/drawing/2014/main" id="{DF7210D1-D26A-8943-A279-240C26C28D1F}"/>
              </a:ext>
            </a:extLst>
          </p:cNvPr>
          <p:cNvGraphicFramePr>
            <a:graphicFrameLocks noChangeAspect="1"/>
          </p:cNvGraphicFramePr>
          <p:nvPr/>
        </p:nvGraphicFramePr>
        <p:xfrm>
          <a:off x="-4605338" y="3676650"/>
          <a:ext cx="371475" cy="228600"/>
        </p:xfrm>
        <a:graphic>
          <a:graphicData uri="http://schemas.openxmlformats.org/presentationml/2006/ole">
            <mc:AlternateContent xmlns:mc="http://schemas.openxmlformats.org/markup-compatibility/2006">
              <mc:Choice xmlns:v="urn:schemas-microsoft-com:vml" Requires="v">
                <p:oleObj name="Equation" r:id="rId4" imgW="8483600" imgH="5270500" progId="Equation.3">
                  <p:embed/>
                </p:oleObj>
              </mc:Choice>
              <mc:Fallback>
                <p:oleObj name="Equation" r:id="rId4" imgW="8483600" imgH="5270500" progId="Equation.3">
                  <p:embed/>
                  <p:pic>
                    <p:nvPicPr>
                      <p:cNvPr id="9219" name="Object 6">
                        <a:extLst>
                          <a:ext uri="{FF2B5EF4-FFF2-40B4-BE49-F238E27FC236}">
                            <a16:creationId xmlns:a16="http://schemas.microsoft.com/office/drawing/2014/main" id="{DF7210D1-D26A-8943-A279-240C26C28D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5338" y="3676650"/>
                        <a:ext cx="371475"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5" name="Rectangle 9">
            <a:extLst>
              <a:ext uri="{FF2B5EF4-FFF2-40B4-BE49-F238E27FC236}">
                <a16:creationId xmlns:a16="http://schemas.microsoft.com/office/drawing/2014/main" id="{974A9E7A-CE0D-4C4D-AD14-A80243E869FA}"/>
              </a:ext>
            </a:extLst>
          </p:cNvPr>
          <p:cNvSpPr>
            <a:spLocks noChangeArrowheads="1"/>
          </p:cNvSpPr>
          <p:nvPr/>
        </p:nvSpPr>
        <p:spPr bwMode="auto">
          <a:xfrm>
            <a:off x="-4605338" y="3402014"/>
            <a:ext cx="4968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a:cs typeface="Times New Roman" panose="02020603050405020304" pitchFamily="18" charset="0"/>
              </a:rPr>
              <a:t>with </a:t>
            </a:r>
            <a:endParaRPr lang="en-US" altLang="en-US"/>
          </a:p>
        </p:txBody>
      </p:sp>
      <p:sp>
        <p:nvSpPr>
          <p:cNvPr id="9226" name="Rectangle 10">
            <a:extLst>
              <a:ext uri="{FF2B5EF4-FFF2-40B4-BE49-F238E27FC236}">
                <a16:creationId xmlns:a16="http://schemas.microsoft.com/office/drawing/2014/main" id="{FC83AD5D-3135-EB49-9F58-6E77CE151082}"/>
              </a:ext>
            </a:extLst>
          </p:cNvPr>
          <p:cNvSpPr>
            <a:spLocks noChangeArrowheads="1"/>
          </p:cNvSpPr>
          <p:nvPr/>
        </p:nvSpPr>
        <p:spPr bwMode="auto">
          <a:xfrm>
            <a:off x="-4605338" y="3905250"/>
            <a:ext cx="2270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a:cs typeface="Times New Roman" panose="02020603050405020304" pitchFamily="18" charset="0"/>
              </a:rPr>
              <a:t>.</a:t>
            </a:r>
            <a:endParaRPr lang="en-US" altLang="en-US"/>
          </a:p>
        </p:txBody>
      </p:sp>
      <p:sp>
        <p:nvSpPr>
          <p:cNvPr id="9227" name="Rectangle 13">
            <a:extLst>
              <a:ext uri="{FF2B5EF4-FFF2-40B4-BE49-F238E27FC236}">
                <a16:creationId xmlns:a16="http://schemas.microsoft.com/office/drawing/2014/main" id="{A2AEB7DF-1A38-F449-BF50-A895C3A54BF0}"/>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aphicFrame>
        <p:nvGraphicFramePr>
          <p:cNvPr id="9220" name="Object 4">
            <a:extLst>
              <a:ext uri="{FF2B5EF4-FFF2-40B4-BE49-F238E27FC236}">
                <a16:creationId xmlns:a16="http://schemas.microsoft.com/office/drawing/2014/main" id="{B18CBFE1-024F-CF48-883E-BFC136F20D38}"/>
              </a:ext>
            </a:extLst>
          </p:cNvPr>
          <p:cNvGraphicFramePr>
            <a:graphicFrameLocks noChangeAspect="1"/>
          </p:cNvGraphicFramePr>
          <p:nvPr>
            <p:extLst>
              <p:ext uri="{D42A27DB-BD31-4B8C-83A1-F6EECF244321}">
                <p14:modId xmlns:p14="http://schemas.microsoft.com/office/powerpoint/2010/main" val="1331925414"/>
              </p:ext>
            </p:extLst>
          </p:nvPr>
        </p:nvGraphicFramePr>
        <p:xfrm>
          <a:off x="2772753" y="1884363"/>
          <a:ext cx="5616575" cy="1384300"/>
        </p:xfrm>
        <a:graphic>
          <a:graphicData uri="http://schemas.openxmlformats.org/presentationml/2006/ole">
            <mc:AlternateContent xmlns:mc="http://schemas.openxmlformats.org/markup-compatibility/2006">
              <mc:Choice xmlns:v="urn:schemas-microsoft-com:vml" Requires="v">
                <p:oleObj name="Equation" r:id="rId6" imgW="47104300" imgH="11696700" progId="Equation.3">
                  <p:embed/>
                </p:oleObj>
              </mc:Choice>
              <mc:Fallback>
                <p:oleObj name="Equation" r:id="rId6" imgW="47104300" imgH="11696700" progId="Equation.3">
                  <p:embed/>
                  <p:pic>
                    <p:nvPicPr>
                      <p:cNvPr id="9220" name="Object 4">
                        <a:extLst>
                          <a:ext uri="{FF2B5EF4-FFF2-40B4-BE49-F238E27FC236}">
                            <a16:creationId xmlns:a16="http://schemas.microsoft.com/office/drawing/2014/main" id="{B18CBFE1-024F-CF48-883E-BFC136F20D3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72753" y="1884363"/>
                        <a:ext cx="561657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491628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a:extLst>
              <a:ext uri="{FF2B5EF4-FFF2-40B4-BE49-F238E27FC236}">
                <a16:creationId xmlns:a16="http://schemas.microsoft.com/office/drawing/2014/main" id="{512DB00D-504A-DC47-B1BB-475BDCFF9633}"/>
              </a:ext>
            </a:extLst>
          </p:cNvPr>
          <p:cNvSpPr>
            <a:spLocks noGrp="1" noChangeArrowheads="1"/>
          </p:cNvSpPr>
          <p:nvPr>
            <p:ph type="title"/>
          </p:nvPr>
        </p:nvSpPr>
        <p:spPr>
          <a:xfrm>
            <a:off x="1981200" y="274639"/>
            <a:ext cx="8229600" cy="1062037"/>
          </a:xfrm>
        </p:spPr>
        <p:txBody>
          <a:bodyPr/>
          <a:lstStyle/>
          <a:p>
            <a:pPr eaLnBrk="1" hangingPunct="1"/>
            <a:r>
              <a:rPr lang="en-US" altLang="en-US"/>
              <a:t>Calculating Power: Example</a:t>
            </a:r>
          </a:p>
        </p:txBody>
      </p:sp>
      <p:sp>
        <p:nvSpPr>
          <p:cNvPr id="10245" name="Text Box 4">
            <a:extLst>
              <a:ext uri="{FF2B5EF4-FFF2-40B4-BE49-F238E27FC236}">
                <a16:creationId xmlns:a16="http://schemas.microsoft.com/office/drawing/2014/main" id="{41D3BEC0-435D-6546-A394-8EDA39AE0668}"/>
              </a:ext>
            </a:extLst>
          </p:cNvPr>
          <p:cNvSpPr txBox="1">
            <a:spLocks noChangeArrowheads="1"/>
          </p:cNvSpPr>
          <p:nvPr/>
        </p:nvSpPr>
        <p:spPr bwMode="auto">
          <a:xfrm>
            <a:off x="1901825" y="1247775"/>
            <a:ext cx="8364538"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800"/>
              <a:t>A study of </a:t>
            </a:r>
            <a:r>
              <a:rPr lang="en-US" altLang="en-US" sz="2800" i="1"/>
              <a:t>n</a:t>
            </a:r>
            <a:r>
              <a:rPr lang="en-US" altLang="en-US" sz="2800"/>
              <a:t> = 16 retains </a:t>
            </a:r>
            <a:r>
              <a:rPr lang="en-US" altLang="en-US" sz="2800" i="1"/>
              <a:t>H</a:t>
            </a:r>
            <a:r>
              <a:rPr lang="en-US" altLang="en-US" sz="2800" baseline="-25000"/>
              <a:t>0</a:t>
            </a:r>
            <a:r>
              <a:rPr lang="en-US" altLang="en-US" sz="2800"/>
              <a:t>: μ = 170 at α = 0.05 (two-sided); </a:t>
            </a:r>
            <a:r>
              <a:rPr lang="el-GR" altLang="en-US" sz="2800">
                <a:cs typeface="Arial" panose="020B0604020202020204" pitchFamily="34" charset="0"/>
              </a:rPr>
              <a:t>σ</a:t>
            </a:r>
            <a:r>
              <a:rPr lang="en-US" altLang="en-US" sz="2800">
                <a:cs typeface="Arial" panose="020B0604020202020204" pitchFamily="34" charset="0"/>
              </a:rPr>
              <a:t> is 40. </a:t>
            </a:r>
            <a:r>
              <a:rPr lang="en-US" altLang="en-US" sz="2800"/>
              <a:t>What was the power of test’s conditions to identify a population mean of 190?</a:t>
            </a:r>
            <a:endParaRPr lang="en-US" altLang="en-US"/>
          </a:p>
        </p:txBody>
      </p:sp>
      <p:graphicFrame>
        <p:nvGraphicFramePr>
          <p:cNvPr id="10242" name="Object 5">
            <a:extLst>
              <a:ext uri="{FF2B5EF4-FFF2-40B4-BE49-F238E27FC236}">
                <a16:creationId xmlns:a16="http://schemas.microsoft.com/office/drawing/2014/main" id="{C95AAA1B-93DC-5044-B112-9399EDBC9A00}"/>
              </a:ext>
            </a:extLst>
          </p:cNvPr>
          <p:cNvGraphicFramePr>
            <a:graphicFrameLocks noChangeAspect="1"/>
          </p:cNvGraphicFramePr>
          <p:nvPr/>
        </p:nvGraphicFramePr>
        <p:xfrm>
          <a:off x="2879726" y="2900364"/>
          <a:ext cx="5946775" cy="3665537"/>
        </p:xfrm>
        <a:graphic>
          <a:graphicData uri="http://schemas.openxmlformats.org/presentationml/2006/ole">
            <mc:AlternateContent xmlns:mc="http://schemas.openxmlformats.org/markup-compatibility/2006">
              <mc:Choice xmlns:v="urn:schemas-microsoft-com:vml" Requires="v">
                <p:oleObj name="Equation" r:id="rId2" imgW="43294300" imgH="28968700" progId="Equation.3">
                  <p:embed/>
                </p:oleObj>
              </mc:Choice>
              <mc:Fallback>
                <p:oleObj name="Equation" r:id="rId2" imgW="43294300" imgH="28968700" progId="Equation.3">
                  <p:embed/>
                  <p:pic>
                    <p:nvPicPr>
                      <p:cNvPr id="10242" name="Object 5">
                        <a:extLst>
                          <a:ext uri="{FF2B5EF4-FFF2-40B4-BE49-F238E27FC236}">
                            <a16:creationId xmlns:a16="http://schemas.microsoft.com/office/drawing/2014/main" id="{C95AAA1B-93DC-5044-B112-9399EDBC9A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9726" y="2900364"/>
                        <a:ext cx="5946775" cy="366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521156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a:extLst>
              <a:ext uri="{FF2B5EF4-FFF2-40B4-BE49-F238E27FC236}">
                <a16:creationId xmlns:a16="http://schemas.microsoft.com/office/drawing/2014/main" id="{77665050-DE9B-0D4F-A33A-0D0D1C121F2C}"/>
              </a:ext>
            </a:extLst>
          </p:cNvPr>
          <p:cNvSpPr>
            <a:spLocks noGrp="1" noChangeArrowheads="1"/>
          </p:cNvSpPr>
          <p:nvPr>
            <p:ph type="title"/>
          </p:nvPr>
        </p:nvSpPr>
        <p:spPr>
          <a:xfrm>
            <a:off x="1138427" y="746604"/>
            <a:ext cx="9720072" cy="977861"/>
          </a:xfrm>
        </p:spPr>
        <p:txBody>
          <a:bodyPr/>
          <a:lstStyle/>
          <a:p>
            <a:pPr eaLnBrk="1" hangingPunct="1"/>
            <a:r>
              <a:rPr lang="en-US" altLang="en-US" dirty="0"/>
              <a:t>Reasoning Behind Power</a:t>
            </a:r>
            <a:r>
              <a:rPr lang="en-US" altLang="en-US" sz="4000" dirty="0"/>
              <a:t> </a:t>
            </a:r>
            <a:endParaRPr lang="en-US" altLang="en-US" sz="3200" dirty="0"/>
          </a:p>
        </p:txBody>
      </p:sp>
      <p:sp>
        <p:nvSpPr>
          <p:cNvPr id="35843" name="Rectangle 5">
            <a:extLst>
              <a:ext uri="{FF2B5EF4-FFF2-40B4-BE49-F238E27FC236}">
                <a16:creationId xmlns:a16="http://schemas.microsoft.com/office/drawing/2014/main" id="{306797D1-E978-0C4A-B3FE-802F141CBE1F}"/>
              </a:ext>
            </a:extLst>
          </p:cNvPr>
          <p:cNvSpPr>
            <a:spLocks noGrp="1" noChangeArrowheads="1"/>
          </p:cNvSpPr>
          <p:nvPr>
            <p:ph type="body" idx="1"/>
          </p:nvPr>
        </p:nvSpPr>
        <p:spPr/>
        <p:txBody>
          <a:bodyPr/>
          <a:lstStyle/>
          <a:p>
            <a:pPr eaLnBrk="1" hangingPunct="1"/>
            <a:r>
              <a:rPr lang="en-US" altLang="en-US" dirty="0"/>
              <a:t>Competing sampling distributions</a:t>
            </a:r>
          </a:p>
          <a:p>
            <a:pPr lvl="1" eaLnBrk="1" hangingPunct="1">
              <a:buFontTx/>
              <a:buNone/>
            </a:pPr>
            <a:r>
              <a:rPr lang="en-US" altLang="en-US" dirty="0"/>
              <a:t>Top curve (next page) assumes </a:t>
            </a:r>
            <a:r>
              <a:rPr lang="en-US" altLang="en-US" i="1" dirty="0"/>
              <a:t>H</a:t>
            </a:r>
            <a:r>
              <a:rPr lang="en-US" altLang="en-US" baseline="-25000" dirty="0"/>
              <a:t>0</a:t>
            </a:r>
            <a:r>
              <a:rPr lang="en-US" altLang="en-US" dirty="0"/>
              <a:t> is true </a:t>
            </a:r>
          </a:p>
          <a:p>
            <a:pPr lvl="1" eaLnBrk="1" hangingPunct="1">
              <a:buFontTx/>
              <a:buNone/>
            </a:pPr>
            <a:r>
              <a:rPr lang="en-US" altLang="en-US" dirty="0"/>
              <a:t>Bottom curve assumes </a:t>
            </a:r>
            <a:r>
              <a:rPr lang="en-US" altLang="en-US" i="1" dirty="0"/>
              <a:t>H</a:t>
            </a:r>
            <a:r>
              <a:rPr lang="en-US" altLang="en-US" baseline="-25000" dirty="0"/>
              <a:t>a</a:t>
            </a:r>
            <a:r>
              <a:rPr lang="en-US" altLang="en-US" dirty="0"/>
              <a:t> is true</a:t>
            </a:r>
          </a:p>
          <a:p>
            <a:pPr lvl="1" eaLnBrk="1" hangingPunct="1">
              <a:buFontTx/>
              <a:buNone/>
            </a:pPr>
            <a:r>
              <a:rPr lang="el-GR" altLang="en-US" dirty="0">
                <a:cs typeface="Arial" panose="020B0604020202020204" pitchFamily="34" charset="0"/>
              </a:rPr>
              <a:t>α</a:t>
            </a:r>
            <a:r>
              <a:rPr lang="en-US" altLang="en-US" dirty="0">
                <a:cs typeface="Arial" panose="020B0604020202020204" pitchFamily="34" charset="0"/>
              </a:rPr>
              <a:t> is set to 0.05 (two-sided)</a:t>
            </a:r>
          </a:p>
          <a:p>
            <a:pPr eaLnBrk="1" hangingPunct="1"/>
            <a:r>
              <a:rPr lang="en-US" altLang="en-US" dirty="0">
                <a:cs typeface="Arial" panose="020B0604020202020204" pitchFamily="34" charset="0"/>
              </a:rPr>
              <a:t>We will reject </a:t>
            </a:r>
            <a:r>
              <a:rPr lang="en-US" altLang="en-US" i="1" dirty="0">
                <a:cs typeface="Arial" panose="020B0604020202020204" pitchFamily="34" charset="0"/>
              </a:rPr>
              <a:t>H</a:t>
            </a:r>
            <a:r>
              <a:rPr lang="en-US" altLang="en-US" baseline="-25000" dirty="0">
                <a:cs typeface="Arial" panose="020B0604020202020204" pitchFamily="34" charset="0"/>
              </a:rPr>
              <a:t>0</a:t>
            </a:r>
            <a:r>
              <a:rPr lang="en-US" altLang="en-US" dirty="0">
                <a:cs typeface="Arial" panose="020B0604020202020204" pitchFamily="34" charset="0"/>
              </a:rPr>
              <a:t> when a  sample mean exceeds 189.6 (right tail, top curve)</a:t>
            </a:r>
          </a:p>
          <a:p>
            <a:pPr eaLnBrk="1" hangingPunct="1"/>
            <a:r>
              <a:rPr lang="en-US" altLang="en-US" dirty="0">
                <a:cs typeface="Arial" panose="020B0604020202020204" pitchFamily="34" charset="0"/>
              </a:rPr>
              <a:t>The probability of getting a value greater than 189.6 on the bottom curve is 0.5160, corresponding to the power of the test</a:t>
            </a:r>
          </a:p>
        </p:txBody>
      </p:sp>
    </p:spTree>
    <p:extLst>
      <p:ext uri="{BB962C8B-B14F-4D97-AF65-F5344CB8AC3E}">
        <p14:creationId xmlns:p14="http://schemas.microsoft.com/office/powerpoint/2010/main" val="4413931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4">
            <a:extLst>
              <a:ext uri="{FF2B5EF4-FFF2-40B4-BE49-F238E27FC236}">
                <a16:creationId xmlns:a16="http://schemas.microsoft.com/office/drawing/2014/main" id="{F3990800-F06D-504F-8750-B593BED974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0063" y="176214"/>
            <a:ext cx="6094412" cy="641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94121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a:extLst>
              <a:ext uri="{FF2B5EF4-FFF2-40B4-BE49-F238E27FC236}">
                <a16:creationId xmlns:a16="http://schemas.microsoft.com/office/drawing/2014/main" id="{D16026C5-8CF2-7F4B-B04F-25F7D26144D6}"/>
              </a:ext>
            </a:extLst>
          </p:cNvPr>
          <p:cNvSpPr>
            <a:spLocks noGrp="1" noChangeArrowheads="1"/>
          </p:cNvSpPr>
          <p:nvPr>
            <p:ph type="title"/>
          </p:nvPr>
        </p:nvSpPr>
        <p:spPr/>
        <p:txBody>
          <a:bodyPr/>
          <a:lstStyle/>
          <a:p>
            <a:pPr eaLnBrk="1" hangingPunct="1"/>
            <a:r>
              <a:rPr lang="en-US" altLang="en-US" sz="4800"/>
              <a:t>Sample Size Requirements</a:t>
            </a:r>
          </a:p>
        </p:txBody>
      </p:sp>
      <p:sp>
        <p:nvSpPr>
          <p:cNvPr id="11269" name="Rectangle 3">
            <a:extLst>
              <a:ext uri="{FF2B5EF4-FFF2-40B4-BE49-F238E27FC236}">
                <a16:creationId xmlns:a16="http://schemas.microsoft.com/office/drawing/2014/main" id="{256AEC66-CCE9-1842-AC1D-93BFDFEE5E5F}"/>
              </a:ext>
            </a:extLst>
          </p:cNvPr>
          <p:cNvSpPr>
            <a:spLocks noGrp="1" noChangeArrowheads="1"/>
          </p:cNvSpPr>
          <p:nvPr>
            <p:ph type="body" idx="1"/>
          </p:nvPr>
        </p:nvSpPr>
        <p:spPr>
          <a:xfrm>
            <a:off x="1626764" y="1202499"/>
            <a:ext cx="8699500" cy="5332412"/>
          </a:xfrm>
        </p:spPr>
        <p:txBody>
          <a:bodyPr/>
          <a:lstStyle/>
          <a:p>
            <a:pPr marL="0" indent="0">
              <a:buNone/>
            </a:pPr>
            <a:r>
              <a:rPr lang="en-US" altLang="en-US" dirty="0"/>
              <a:t>Sample size for one-sample </a:t>
            </a:r>
            <a:r>
              <a:rPr lang="en-US" altLang="en-US" i="1" dirty="0"/>
              <a:t>z </a:t>
            </a:r>
            <a:r>
              <a:rPr lang="en-US" altLang="en-US" dirty="0"/>
              <a:t>test: </a:t>
            </a:r>
            <a:br>
              <a:rPr lang="en-US" altLang="en-US" dirty="0"/>
            </a:br>
            <a:br>
              <a:rPr lang="en-US" altLang="en-US" dirty="0"/>
            </a:br>
            <a:br>
              <a:rPr lang="en-US" altLang="en-US" dirty="0"/>
            </a:br>
            <a:endParaRPr lang="en-US" altLang="en-US" dirty="0"/>
          </a:p>
          <a:p>
            <a:pPr marL="0" indent="0">
              <a:buNone/>
            </a:pPr>
            <a:endParaRPr lang="en-US" altLang="en-US" dirty="0"/>
          </a:p>
          <a:p>
            <a:pPr marL="0" indent="0">
              <a:buNone/>
            </a:pPr>
            <a:r>
              <a:rPr lang="en-US" altLang="en-US" dirty="0"/>
              <a:t>where </a:t>
            </a:r>
          </a:p>
          <a:p>
            <a:pPr marL="0" indent="0">
              <a:buNone/>
            </a:pPr>
            <a:r>
              <a:rPr lang="en-US" altLang="en-US" dirty="0"/>
              <a:t>	1 – β </a:t>
            </a:r>
            <a:r>
              <a:rPr lang="en-US" altLang="en-US" dirty="0">
                <a:cs typeface="Arial" panose="020B0604020202020204" pitchFamily="34" charset="0"/>
              </a:rPr>
              <a:t>≡ </a:t>
            </a:r>
            <a:r>
              <a:rPr lang="en-US" altLang="en-US" dirty="0"/>
              <a:t>desired power</a:t>
            </a:r>
          </a:p>
          <a:p>
            <a:pPr marL="0" indent="0">
              <a:buNone/>
            </a:pPr>
            <a:r>
              <a:rPr lang="en-US" altLang="en-US" dirty="0"/>
              <a:t>	α </a:t>
            </a:r>
            <a:r>
              <a:rPr lang="en-US" altLang="en-US" dirty="0">
                <a:cs typeface="Arial" panose="020B0604020202020204" pitchFamily="34" charset="0"/>
              </a:rPr>
              <a:t>≡ </a:t>
            </a:r>
            <a:r>
              <a:rPr lang="en-US" altLang="en-US" dirty="0"/>
              <a:t>desired significance level (two-sided) </a:t>
            </a:r>
          </a:p>
          <a:p>
            <a:pPr marL="0" indent="0">
              <a:buNone/>
            </a:pPr>
            <a:r>
              <a:rPr lang="en-US" altLang="en-US" dirty="0"/>
              <a:t>	</a:t>
            </a:r>
            <a:r>
              <a:rPr lang="en-US" altLang="en-US" dirty="0" err="1"/>
              <a:t>σ</a:t>
            </a:r>
            <a:r>
              <a:rPr lang="en-US" altLang="en-US" dirty="0"/>
              <a:t> </a:t>
            </a:r>
            <a:r>
              <a:rPr lang="en-US" altLang="en-US" dirty="0">
                <a:cs typeface="Arial" panose="020B0604020202020204" pitchFamily="34" charset="0"/>
              </a:rPr>
              <a:t>≡ </a:t>
            </a:r>
            <a:r>
              <a:rPr lang="en-US" altLang="en-US" dirty="0"/>
              <a:t>population</a:t>
            </a:r>
            <a:r>
              <a:rPr lang="en-US" altLang="en-US" dirty="0">
                <a:cs typeface="Arial" panose="020B0604020202020204" pitchFamily="34" charset="0"/>
              </a:rPr>
              <a:t> </a:t>
            </a:r>
            <a:r>
              <a:rPr lang="en-US" altLang="en-US" dirty="0"/>
              <a:t>standard deviation</a:t>
            </a:r>
          </a:p>
          <a:p>
            <a:pPr marL="0" indent="0">
              <a:buNone/>
            </a:pPr>
            <a:r>
              <a:rPr lang="en-US" altLang="en-US" dirty="0"/>
              <a:t>	</a:t>
            </a:r>
            <a:r>
              <a:rPr lang="en-US" altLang="en-US" dirty="0" err="1"/>
              <a:t>Δ</a:t>
            </a:r>
            <a:r>
              <a:rPr lang="en-US" altLang="en-US" dirty="0"/>
              <a:t> = μ</a:t>
            </a:r>
            <a:r>
              <a:rPr lang="en-US" altLang="en-US" baseline="-25000" dirty="0"/>
              <a:t>0</a:t>
            </a:r>
            <a:r>
              <a:rPr lang="en-US" altLang="en-US" dirty="0"/>
              <a:t> – </a:t>
            </a:r>
            <a:r>
              <a:rPr lang="en-US" altLang="en-US" dirty="0" err="1"/>
              <a:t>μ</a:t>
            </a:r>
            <a:r>
              <a:rPr lang="en-US" altLang="en-US" baseline="-25000" dirty="0" err="1"/>
              <a:t>a</a:t>
            </a:r>
            <a:r>
              <a:rPr lang="en-US" altLang="en-US" baseline="-25000" dirty="0"/>
              <a:t> </a:t>
            </a:r>
            <a:r>
              <a:rPr lang="en-US" altLang="en-US" dirty="0">
                <a:cs typeface="Arial" panose="020B0604020202020204" pitchFamily="34" charset="0"/>
              </a:rPr>
              <a:t>≡ </a:t>
            </a:r>
            <a:r>
              <a:rPr lang="en-US" altLang="en-US" dirty="0"/>
              <a:t>the </a:t>
            </a:r>
            <a:r>
              <a:rPr lang="en-US" altLang="en-US" b="1" dirty="0"/>
              <a:t>difference worth detecting</a:t>
            </a:r>
          </a:p>
        </p:txBody>
      </p:sp>
      <p:sp>
        <p:nvSpPr>
          <p:cNvPr id="11270" name="Rectangle 5">
            <a:extLst>
              <a:ext uri="{FF2B5EF4-FFF2-40B4-BE49-F238E27FC236}">
                <a16:creationId xmlns:a16="http://schemas.microsoft.com/office/drawing/2014/main" id="{30099AC1-9212-6848-8C3E-59385C754B5C}"/>
              </a:ext>
            </a:extLst>
          </p:cNvPr>
          <p:cNvSpPr>
            <a:spLocks noChangeArrowheads="1"/>
          </p:cNvSpPr>
          <p:nvPr/>
        </p:nvSpPr>
        <p:spPr bwMode="auto">
          <a:xfrm>
            <a:off x="1524001" y="299668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aphicFrame>
        <p:nvGraphicFramePr>
          <p:cNvPr id="11266" name="Object 4">
            <a:extLst>
              <a:ext uri="{FF2B5EF4-FFF2-40B4-BE49-F238E27FC236}">
                <a16:creationId xmlns:a16="http://schemas.microsoft.com/office/drawing/2014/main" id="{8AECB330-2029-B740-A3B7-DD1D621171A1}"/>
              </a:ext>
            </a:extLst>
          </p:cNvPr>
          <p:cNvGraphicFramePr>
            <a:graphicFrameLocks noChangeAspect="1"/>
          </p:cNvGraphicFramePr>
          <p:nvPr/>
        </p:nvGraphicFramePr>
        <p:xfrm>
          <a:off x="3633788" y="2070101"/>
          <a:ext cx="4305300" cy="1712913"/>
        </p:xfrm>
        <a:graphic>
          <a:graphicData uri="http://schemas.openxmlformats.org/presentationml/2006/ole">
            <mc:AlternateContent xmlns:mc="http://schemas.openxmlformats.org/markup-compatibility/2006">
              <mc:Choice xmlns:v="urn:schemas-microsoft-com:vml" Requires="v">
                <p:oleObj name="Equation" r:id="rId2" imgW="29260800" imgH="11404600" progId="Equation.3">
                  <p:embed/>
                </p:oleObj>
              </mc:Choice>
              <mc:Fallback>
                <p:oleObj name="Equation" r:id="rId2" imgW="29260800" imgH="11404600" progId="Equation.3">
                  <p:embed/>
                  <p:pic>
                    <p:nvPicPr>
                      <p:cNvPr id="11266" name="Object 4">
                        <a:extLst>
                          <a:ext uri="{FF2B5EF4-FFF2-40B4-BE49-F238E27FC236}">
                            <a16:creationId xmlns:a16="http://schemas.microsoft.com/office/drawing/2014/main" id="{8AECB330-2029-B740-A3B7-DD1D621171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3788" y="2070101"/>
                        <a:ext cx="4305300" cy="171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4138200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8">
            <a:extLst>
              <a:ext uri="{FF2B5EF4-FFF2-40B4-BE49-F238E27FC236}">
                <a16:creationId xmlns:a16="http://schemas.microsoft.com/office/drawing/2014/main" id="{633C0658-8C32-384D-B09B-56541BF1C2BF}"/>
              </a:ext>
            </a:extLst>
          </p:cNvPr>
          <p:cNvSpPr>
            <a:spLocks noGrp="1" noChangeArrowheads="1"/>
          </p:cNvSpPr>
          <p:nvPr>
            <p:ph type="title"/>
          </p:nvPr>
        </p:nvSpPr>
        <p:spPr/>
        <p:txBody>
          <a:bodyPr/>
          <a:lstStyle/>
          <a:p>
            <a:pPr eaLnBrk="1" hangingPunct="1"/>
            <a:r>
              <a:rPr lang="en-US" altLang="en-US" sz="4000"/>
              <a:t>Example: Sample Size Requirement</a:t>
            </a:r>
          </a:p>
        </p:txBody>
      </p:sp>
      <p:sp>
        <p:nvSpPr>
          <p:cNvPr id="12293" name="Rectangle 17">
            <a:extLst>
              <a:ext uri="{FF2B5EF4-FFF2-40B4-BE49-F238E27FC236}">
                <a16:creationId xmlns:a16="http://schemas.microsoft.com/office/drawing/2014/main" id="{D43162AF-15DB-3047-8442-44DE1BBC2737}"/>
              </a:ext>
            </a:extLst>
          </p:cNvPr>
          <p:cNvSpPr>
            <a:spLocks noGrp="1" noChangeArrowheads="1"/>
          </p:cNvSpPr>
          <p:nvPr>
            <p:ph type="body" idx="1"/>
          </p:nvPr>
        </p:nvSpPr>
        <p:spPr>
          <a:xfrm>
            <a:off x="1981200" y="1600200"/>
            <a:ext cx="8229600" cy="4902200"/>
          </a:xfrm>
        </p:spPr>
        <p:txBody>
          <a:bodyPr/>
          <a:lstStyle/>
          <a:p>
            <a:pPr marL="0" indent="0">
              <a:buNone/>
            </a:pPr>
            <a:r>
              <a:rPr lang="en-US" altLang="en-US"/>
              <a:t>How large a sample is needed for a one-sample </a:t>
            </a:r>
            <a:r>
              <a:rPr lang="en-US" altLang="en-US" i="1"/>
              <a:t>z</a:t>
            </a:r>
            <a:r>
              <a:rPr lang="en-US" altLang="en-US"/>
              <a:t> test with 90% power and α = 0.05 (two-tailed) when σ = 40? Let </a:t>
            </a:r>
            <a:r>
              <a:rPr lang="en-US" altLang="en-US" i="1"/>
              <a:t>H</a:t>
            </a:r>
            <a:r>
              <a:rPr lang="en-US" altLang="en-US" baseline="-25000"/>
              <a:t>0</a:t>
            </a:r>
            <a:r>
              <a:rPr lang="en-US" altLang="en-US"/>
              <a:t>: μ = 170 and </a:t>
            </a:r>
            <a:r>
              <a:rPr lang="en-US" altLang="en-US" i="1"/>
              <a:t>H</a:t>
            </a:r>
            <a:r>
              <a:rPr lang="en-US" altLang="en-US" baseline="-25000"/>
              <a:t>a</a:t>
            </a:r>
            <a:r>
              <a:rPr lang="en-US" altLang="en-US"/>
              <a:t>: μ = 190 (thus, Δ = μ</a:t>
            </a:r>
            <a:r>
              <a:rPr lang="en-US" altLang="en-US" baseline="-25000"/>
              <a:t>0</a:t>
            </a:r>
            <a:r>
              <a:rPr lang="en-US" altLang="en-US"/>
              <a:t> − μ</a:t>
            </a:r>
            <a:r>
              <a:rPr lang="en-US" altLang="en-US" baseline="-25000"/>
              <a:t>a</a:t>
            </a:r>
            <a:r>
              <a:rPr lang="en-US" altLang="en-US"/>
              <a:t> = 170 – 190 = −20)</a:t>
            </a:r>
          </a:p>
          <a:p>
            <a:pPr marL="0" indent="0"/>
            <a:endParaRPr lang="en-US" altLang="en-US" i="1"/>
          </a:p>
          <a:p>
            <a:pPr marL="0" indent="0"/>
            <a:endParaRPr lang="en-US" altLang="en-US" i="1"/>
          </a:p>
          <a:p>
            <a:pPr marL="0" indent="0"/>
            <a:endParaRPr lang="en-US" altLang="en-US" i="1"/>
          </a:p>
          <a:p>
            <a:pPr marL="0" indent="0"/>
            <a:endParaRPr lang="en-US" altLang="en-US"/>
          </a:p>
          <a:p>
            <a:pPr marL="0" indent="0">
              <a:buNone/>
            </a:pPr>
            <a:r>
              <a:rPr lang="en-US" altLang="en-US"/>
              <a:t>Round up to 42 to ensure adequate power.</a:t>
            </a:r>
          </a:p>
        </p:txBody>
      </p:sp>
      <p:sp>
        <p:nvSpPr>
          <p:cNvPr id="12294" name="Rectangle 14">
            <a:extLst>
              <a:ext uri="{FF2B5EF4-FFF2-40B4-BE49-F238E27FC236}">
                <a16:creationId xmlns:a16="http://schemas.microsoft.com/office/drawing/2014/main" id="{F2CA83FE-C698-9048-98D4-E3042D521E8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aphicFrame>
        <p:nvGraphicFramePr>
          <p:cNvPr id="12290" name="Object 13">
            <a:extLst>
              <a:ext uri="{FF2B5EF4-FFF2-40B4-BE49-F238E27FC236}">
                <a16:creationId xmlns:a16="http://schemas.microsoft.com/office/drawing/2014/main" id="{91096C9B-D483-3244-A7EB-E964821128DF}"/>
              </a:ext>
            </a:extLst>
          </p:cNvPr>
          <p:cNvGraphicFramePr>
            <a:graphicFrameLocks noChangeAspect="1"/>
          </p:cNvGraphicFramePr>
          <p:nvPr/>
        </p:nvGraphicFramePr>
        <p:xfrm>
          <a:off x="2124076" y="3711576"/>
          <a:ext cx="7993063" cy="1357313"/>
        </p:xfrm>
        <a:graphic>
          <a:graphicData uri="http://schemas.openxmlformats.org/presentationml/2006/ole">
            <mc:AlternateContent xmlns:mc="http://schemas.openxmlformats.org/markup-compatibility/2006">
              <mc:Choice xmlns:v="urn:schemas-microsoft-com:vml" Requires="v">
                <p:oleObj name="Equation" r:id="rId2" imgW="59105800" imgH="9944100" progId="Equation.3">
                  <p:embed/>
                </p:oleObj>
              </mc:Choice>
              <mc:Fallback>
                <p:oleObj name="Equation" r:id="rId2" imgW="59105800" imgH="9944100" progId="Equation.3">
                  <p:embed/>
                  <p:pic>
                    <p:nvPicPr>
                      <p:cNvPr id="12290" name="Object 13">
                        <a:extLst>
                          <a:ext uri="{FF2B5EF4-FFF2-40B4-BE49-F238E27FC236}">
                            <a16:creationId xmlns:a16="http://schemas.microsoft.com/office/drawing/2014/main" id="{91096C9B-D483-3244-A7EB-E964821128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6" y="3711576"/>
                        <a:ext cx="7993063" cy="135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8296323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4">
            <a:extLst>
              <a:ext uri="{FF2B5EF4-FFF2-40B4-BE49-F238E27FC236}">
                <a16:creationId xmlns:a16="http://schemas.microsoft.com/office/drawing/2014/main" id="{493F6942-92E0-5149-B888-E5C1F8C1B9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6526" y="277813"/>
            <a:ext cx="6850063" cy="636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Text Box 5">
            <a:extLst>
              <a:ext uri="{FF2B5EF4-FFF2-40B4-BE49-F238E27FC236}">
                <a16:creationId xmlns:a16="http://schemas.microsoft.com/office/drawing/2014/main" id="{1BF5A197-D54A-F243-8B32-29C3F32AEEE6}"/>
              </a:ext>
            </a:extLst>
          </p:cNvPr>
          <p:cNvSpPr txBox="1">
            <a:spLocks noChangeArrowheads="1"/>
          </p:cNvSpPr>
          <p:nvPr/>
        </p:nvSpPr>
        <p:spPr bwMode="auto">
          <a:xfrm>
            <a:off x="6810376" y="515938"/>
            <a:ext cx="38576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endParaRPr lang="en-US" altLang="en-US" sz="2800"/>
          </a:p>
        </p:txBody>
      </p:sp>
      <p:sp>
        <p:nvSpPr>
          <p:cNvPr id="37892" name="Text Box 6">
            <a:extLst>
              <a:ext uri="{FF2B5EF4-FFF2-40B4-BE49-F238E27FC236}">
                <a16:creationId xmlns:a16="http://schemas.microsoft.com/office/drawing/2014/main" id="{48F0B9E9-3EBF-A041-A502-6912EC5E0D34}"/>
              </a:ext>
            </a:extLst>
          </p:cNvPr>
          <p:cNvSpPr txBox="1">
            <a:spLocks noChangeArrowheads="1"/>
          </p:cNvSpPr>
          <p:nvPr/>
        </p:nvSpPr>
        <p:spPr bwMode="auto">
          <a:xfrm>
            <a:off x="6448426" y="525464"/>
            <a:ext cx="3914775" cy="955675"/>
          </a:xfrm>
          <a:prstGeom prst="rect">
            <a:avLst/>
          </a:prstGeom>
          <a:solidFill>
            <a:schemeClr val="bg1"/>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800"/>
              <a:t>Illustration: conditions for 90% power.</a:t>
            </a:r>
          </a:p>
        </p:txBody>
      </p:sp>
    </p:spTree>
    <p:extLst>
      <p:ext uri="{BB962C8B-B14F-4D97-AF65-F5344CB8AC3E}">
        <p14:creationId xmlns:p14="http://schemas.microsoft.com/office/powerpoint/2010/main" val="7693989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33F4B-0757-28EA-BE2E-E7978252980F}"/>
              </a:ext>
            </a:extLst>
          </p:cNvPr>
          <p:cNvSpPr>
            <a:spLocks noGrp="1"/>
          </p:cNvSpPr>
          <p:nvPr>
            <p:ph type="title"/>
          </p:nvPr>
        </p:nvSpPr>
        <p:spPr>
          <a:xfrm>
            <a:off x="1123188" y="468163"/>
            <a:ext cx="9720072" cy="854964"/>
          </a:xfrm>
        </p:spPr>
        <p:txBody>
          <a:bodyPr/>
          <a:lstStyle/>
          <a:p>
            <a:r>
              <a:rPr lang="en-IN" dirty="0"/>
              <a:t>Additional Resources</a:t>
            </a:r>
          </a:p>
        </p:txBody>
      </p:sp>
      <p:sp>
        <p:nvSpPr>
          <p:cNvPr id="4" name="TextBox 3">
            <a:extLst>
              <a:ext uri="{FF2B5EF4-FFF2-40B4-BE49-F238E27FC236}">
                <a16:creationId xmlns:a16="http://schemas.microsoft.com/office/drawing/2014/main" id="{8447CCAC-9369-A88A-B99E-BCB2506BD43A}"/>
              </a:ext>
            </a:extLst>
          </p:cNvPr>
          <p:cNvSpPr txBox="1"/>
          <p:nvPr/>
        </p:nvSpPr>
        <p:spPr>
          <a:xfrm>
            <a:off x="1123188" y="1332423"/>
            <a:ext cx="10238232" cy="369332"/>
          </a:xfrm>
          <a:prstGeom prst="rect">
            <a:avLst/>
          </a:prstGeom>
          <a:noFill/>
        </p:spPr>
        <p:txBody>
          <a:bodyPr wrap="square">
            <a:spAutoFit/>
          </a:bodyPr>
          <a:lstStyle/>
          <a:p>
            <a:r>
              <a:rPr lang="en-IN" dirty="0"/>
              <a:t>https://www.simplilearn.com/tutorials/statistics-tutorial/hypothesis-testing-in-statistics</a:t>
            </a:r>
          </a:p>
        </p:txBody>
      </p:sp>
      <p:pic>
        <p:nvPicPr>
          <p:cNvPr id="5" name="Online Media 5" title="Hypothesis Testing Problems - Z Test &amp; T Statistics - One &amp; Two Tailed Tests   2">
            <a:hlinkClick r:id="" action="ppaction://media"/>
            <a:extLst>
              <a:ext uri="{FF2B5EF4-FFF2-40B4-BE49-F238E27FC236}">
                <a16:creationId xmlns:a16="http://schemas.microsoft.com/office/drawing/2014/main" id="{ED63D9DA-69CE-F48E-FD8E-D5757B3D4009}"/>
              </a:ext>
            </a:extLst>
          </p:cNvPr>
          <p:cNvPicPr>
            <a:picLocks noRot="1" noChangeAspect="1"/>
          </p:cNvPicPr>
          <p:nvPr>
            <a:videoFile r:link="rId1"/>
          </p:nvPr>
        </p:nvPicPr>
        <p:blipFill>
          <a:blip r:embed="rId3"/>
          <a:stretch>
            <a:fillRect/>
          </a:stretch>
        </p:blipFill>
        <p:spPr>
          <a:xfrm>
            <a:off x="1231456" y="2022394"/>
            <a:ext cx="7470584" cy="4220880"/>
          </a:xfrm>
          <a:prstGeom prst="rect">
            <a:avLst/>
          </a:prstGeom>
        </p:spPr>
      </p:pic>
      <p:sp>
        <p:nvSpPr>
          <p:cNvPr id="6" name="TextBox 5">
            <a:extLst>
              <a:ext uri="{FF2B5EF4-FFF2-40B4-BE49-F238E27FC236}">
                <a16:creationId xmlns:a16="http://schemas.microsoft.com/office/drawing/2014/main" id="{367A3251-31DD-18D7-1C81-E0DDE8F6D8D1}"/>
              </a:ext>
            </a:extLst>
          </p:cNvPr>
          <p:cNvSpPr txBox="1"/>
          <p:nvPr/>
        </p:nvSpPr>
        <p:spPr>
          <a:xfrm>
            <a:off x="1010476" y="6389837"/>
            <a:ext cx="7543801" cy="369332"/>
          </a:xfrm>
          <a:prstGeom prst="rect">
            <a:avLst/>
          </a:prstGeom>
          <a:noFill/>
        </p:spPr>
        <p:txBody>
          <a:bodyPr wrap="square">
            <a:spAutoFit/>
          </a:bodyPr>
          <a:lstStyle/>
          <a:p>
            <a:r>
              <a:rPr lang="en-IN" dirty="0"/>
              <a:t>https://www.youtube.com/watch?v=zJ8e_wAWUzE&amp;t=191s</a:t>
            </a:r>
          </a:p>
        </p:txBody>
      </p:sp>
    </p:spTree>
    <p:extLst>
      <p:ext uri="{BB962C8B-B14F-4D97-AF65-F5344CB8AC3E}">
        <p14:creationId xmlns:p14="http://schemas.microsoft.com/office/powerpoint/2010/main" val="842422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80000">
                <p:cTn id="12" fill="hold" display="0">
                  <p:stCondLst>
                    <p:cond delay="indefinite"/>
                  </p:stCondLst>
                </p:cTn>
                <p:tgtEl>
                  <p:spTgt spid="5"/>
                </p:tgtEl>
              </p:cMediaNode>
            </p:video>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F87E0-38EF-1114-FB7B-144801C78AA8}"/>
              </a:ext>
            </a:extLst>
          </p:cNvPr>
          <p:cNvSpPr>
            <a:spLocks noGrp="1"/>
          </p:cNvSpPr>
          <p:nvPr>
            <p:ph type="title"/>
          </p:nvPr>
        </p:nvSpPr>
        <p:spPr/>
        <p:txBody>
          <a:bodyPr/>
          <a:lstStyle/>
          <a:p>
            <a:endParaRPr lang="en-IN"/>
          </a:p>
        </p:txBody>
      </p:sp>
      <p:pic>
        <p:nvPicPr>
          <p:cNvPr id="3" name="Online Media 2" title="Hypothesis testing and p-values | Inferential statistics | Probability and Statistics | Khan Academy">
            <a:hlinkClick r:id="" action="ppaction://media"/>
            <a:extLst>
              <a:ext uri="{FF2B5EF4-FFF2-40B4-BE49-F238E27FC236}">
                <a16:creationId xmlns:a16="http://schemas.microsoft.com/office/drawing/2014/main" id="{C49BCA9F-1F3C-D213-27D2-1B66EE5D80EC}"/>
              </a:ext>
            </a:extLst>
          </p:cNvPr>
          <p:cNvPicPr>
            <a:picLocks noRot="1" noChangeAspect="1"/>
          </p:cNvPicPr>
          <p:nvPr>
            <a:videoFile r:link="rId1"/>
          </p:nvPr>
        </p:nvPicPr>
        <p:blipFill>
          <a:blip r:embed="rId3"/>
          <a:stretch>
            <a:fillRect/>
          </a:stretch>
        </p:blipFill>
        <p:spPr>
          <a:xfrm>
            <a:off x="944678" y="518503"/>
            <a:ext cx="8664122" cy="4895229"/>
          </a:xfrm>
          <a:prstGeom prst="rect">
            <a:avLst/>
          </a:prstGeom>
        </p:spPr>
      </p:pic>
      <p:sp>
        <p:nvSpPr>
          <p:cNvPr id="5" name="TextBox 4">
            <a:extLst>
              <a:ext uri="{FF2B5EF4-FFF2-40B4-BE49-F238E27FC236}">
                <a16:creationId xmlns:a16="http://schemas.microsoft.com/office/drawing/2014/main" id="{19BC479F-D283-271E-45E3-B566DE53443A}"/>
              </a:ext>
            </a:extLst>
          </p:cNvPr>
          <p:cNvSpPr txBox="1"/>
          <p:nvPr/>
        </p:nvSpPr>
        <p:spPr>
          <a:xfrm>
            <a:off x="2332931" y="5631765"/>
            <a:ext cx="6094990" cy="369332"/>
          </a:xfrm>
          <a:prstGeom prst="rect">
            <a:avLst/>
          </a:prstGeom>
          <a:noFill/>
        </p:spPr>
        <p:txBody>
          <a:bodyPr wrap="square">
            <a:spAutoFit/>
          </a:bodyPr>
          <a:lstStyle/>
          <a:p>
            <a:r>
              <a:rPr lang="en-IN" dirty="0"/>
              <a:t>https://www.youtube.com/watch?v=-FtlH4svqx4</a:t>
            </a:r>
          </a:p>
        </p:txBody>
      </p:sp>
    </p:spTree>
    <p:extLst>
      <p:ext uri="{BB962C8B-B14F-4D97-AF65-F5344CB8AC3E}">
        <p14:creationId xmlns:p14="http://schemas.microsoft.com/office/powerpoint/2010/main" val="215775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B2A922ED-F86D-CD42-81BE-8C89D80A0E2F}"/>
              </a:ext>
            </a:extLst>
          </p:cNvPr>
          <p:cNvSpPr>
            <a:spLocks noGrp="1" noChangeArrowheads="1"/>
          </p:cNvSpPr>
          <p:nvPr>
            <p:ph type="title"/>
          </p:nvPr>
        </p:nvSpPr>
        <p:spPr/>
        <p:txBody>
          <a:bodyPr anchor="ctr"/>
          <a:lstStyle/>
          <a:p>
            <a:pPr algn="l"/>
            <a:r>
              <a:rPr lang="en-US" altLang="en-US" sz="4400" dirty="0"/>
              <a:t>Inference about mean:</a:t>
            </a:r>
          </a:p>
        </p:txBody>
      </p:sp>
      <p:sp>
        <p:nvSpPr>
          <p:cNvPr id="215043" name="Rectangle 3">
            <a:extLst>
              <a:ext uri="{FF2B5EF4-FFF2-40B4-BE49-F238E27FC236}">
                <a16:creationId xmlns:a16="http://schemas.microsoft.com/office/drawing/2014/main" id="{982ACFBB-5D82-0A44-9C70-2BCC4959F2B2}"/>
              </a:ext>
            </a:extLst>
          </p:cNvPr>
          <p:cNvSpPr>
            <a:spLocks noGrp="1" noChangeArrowheads="1"/>
          </p:cNvSpPr>
          <p:nvPr>
            <p:ph idx="1"/>
          </p:nvPr>
        </p:nvSpPr>
        <p:spPr/>
        <p:txBody>
          <a:bodyPr>
            <a:normAutofit lnSpcReduction="10000"/>
          </a:bodyPr>
          <a:lstStyle/>
          <a:p>
            <a:pPr>
              <a:buFont typeface="Arial" panose="020B0604020202020204" pitchFamily="34" charset="0"/>
              <a:buChar char="•"/>
            </a:pPr>
            <a:r>
              <a:rPr lang="en-US" altLang="en-US" sz="3200" dirty="0"/>
              <a:t>Estimated Standard Error of the Mean</a:t>
            </a:r>
          </a:p>
          <a:p>
            <a:pPr>
              <a:buFont typeface="Arial" panose="020B0604020202020204" pitchFamily="34" charset="0"/>
              <a:buChar char="•"/>
            </a:pPr>
            <a:r>
              <a:rPr lang="en-US" altLang="en-US" sz="3200" dirty="0"/>
              <a:t>Student’s </a:t>
            </a:r>
            <a:r>
              <a:rPr lang="en-US" altLang="en-US" sz="3200" i="1" dirty="0"/>
              <a:t>t </a:t>
            </a:r>
            <a:r>
              <a:rPr lang="en-US" altLang="en-US" sz="3200" dirty="0"/>
              <a:t>Distribution</a:t>
            </a:r>
            <a:endParaRPr lang="en-US" altLang="en-US" sz="3200" dirty="0">
              <a:cs typeface="Arial" panose="020B0604020202020204" pitchFamily="34" charset="0"/>
            </a:endParaRPr>
          </a:p>
          <a:p>
            <a:pPr>
              <a:buFont typeface="Arial" panose="020B0604020202020204" pitchFamily="34" charset="0"/>
              <a:buChar char="•"/>
            </a:pPr>
            <a:r>
              <a:rPr lang="en-US" altLang="en-US" sz="3200" dirty="0">
                <a:cs typeface="Arial" panose="020B0604020202020204" pitchFamily="34" charset="0"/>
              </a:rPr>
              <a:t>One-Sample </a:t>
            </a:r>
            <a:r>
              <a:rPr lang="en-US" altLang="en-US" sz="3200" i="1" dirty="0">
                <a:cs typeface="Arial" panose="020B0604020202020204" pitchFamily="34" charset="0"/>
              </a:rPr>
              <a:t>t </a:t>
            </a:r>
            <a:r>
              <a:rPr lang="en-US" altLang="en-US" sz="3200" dirty="0">
                <a:cs typeface="Arial" panose="020B0604020202020204" pitchFamily="34" charset="0"/>
              </a:rPr>
              <a:t>Test</a:t>
            </a:r>
            <a:endParaRPr lang="el-GR" altLang="en-US" sz="3200" dirty="0">
              <a:cs typeface="Arial" panose="020B0604020202020204" pitchFamily="34" charset="0"/>
            </a:endParaRPr>
          </a:p>
          <a:p>
            <a:pPr>
              <a:buFont typeface="Arial" panose="020B0604020202020204" pitchFamily="34" charset="0"/>
              <a:buChar char="•"/>
            </a:pPr>
            <a:r>
              <a:rPr lang="en-US" altLang="en-US" sz="3200" dirty="0"/>
              <a:t>Confidence Interval for </a:t>
            </a:r>
            <a:r>
              <a:rPr lang="el-GR" altLang="en-US" sz="3200" dirty="0">
                <a:cs typeface="Arial" panose="020B0604020202020204" pitchFamily="34" charset="0"/>
              </a:rPr>
              <a:t>μ</a:t>
            </a:r>
            <a:endParaRPr lang="en-US" altLang="en-US" sz="3200" dirty="0">
              <a:cs typeface="Arial" panose="020B0604020202020204" pitchFamily="34" charset="0"/>
            </a:endParaRPr>
          </a:p>
          <a:p>
            <a:pPr>
              <a:buFont typeface="Arial" panose="020B0604020202020204" pitchFamily="34" charset="0"/>
              <a:buChar char="•"/>
            </a:pPr>
            <a:r>
              <a:rPr lang="en-US" altLang="en-US" sz="3200" dirty="0">
                <a:cs typeface="Arial" panose="020B0604020202020204" pitchFamily="34" charset="0"/>
              </a:rPr>
              <a:t>Paired Samples</a:t>
            </a:r>
          </a:p>
          <a:p>
            <a:pPr>
              <a:buFont typeface="Arial" panose="020B0604020202020204" pitchFamily="34" charset="0"/>
              <a:buChar char="•"/>
            </a:pPr>
            <a:r>
              <a:rPr lang="en-US" altLang="en-US" sz="3200" dirty="0">
                <a:cs typeface="Arial" panose="020B0604020202020204" pitchFamily="34" charset="0"/>
              </a:rPr>
              <a:t>Conditions for Inference</a:t>
            </a:r>
          </a:p>
          <a:p>
            <a:pPr>
              <a:buFont typeface="Arial" panose="020B0604020202020204" pitchFamily="34" charset="0"/>
              <a:buChar char="•"/>
            </a:pPr>
            <a:r>
              <a:rPr lang="en-US" altLang="en-US" sz="3200" dirty="0">
                <a:cs typeface="Arial" panose="020B0604020202020204" pitchFamily="34" charset="0"/>
              </a:rPr>
              <a:t>Sample Size and Power</a:t>
            </a:r>
            <a:endParaRPr lang="el-GR" altLang="en-US" sz="3200" dirty="0">
              <a:cs typeface="Arial" panose="020B0604020202020204" pitchFamily="34" charset="0"/>
            </a:endParaRPr>
          </a:p>
        </p:txBody>
      </p:sp>
      <p:sp>
        <p:nvSpPr>
          <p:cNvPr id="4" name="Date Placeholder 3">
            <a:extLst>
              <a:ext uri="{FF2B5EF4-FFF2-40B4-BE49-F238E27FC236}">
                <a16:creationId xmlns:a16="http://schemas.microsoft.com/office/drawing/2014/main" id="{70A5A1B3-14EB-3642-A5D5-0E9A70FFCD8C}"/>
              </a:ext>
            </a:extLst>
          </p:cNvPr>
          <p:cNvSpPr>
            <a:spLocks noGrp="1"/>
          </p:cNvSpPr>
          <p:nvPr>
            <p:ph type="dt" sz="half" idx="10"/>
          </p:nvPr>
        </p:nvSpPr>
        <p:spPr/>
        <p:txBody>
          <a:bodyPr/>
          <a:lstStyle/>
          <a:p>
            <a:fld id="{C36439DA-DB3E-5941-B363-73F60CD45E35}" type="datetime1">
              <a:rPr lang="en-US" altLang="en-US"/>
              <a:pPr/>
              <a:t>7/6/2026</a:t>
            </a:fld>
            <a:endParaRPr lang="en-US" altLang="en-US"/>
          </a:p>
        </p:txBody>
      </p:sp>
      <p:sp>
        <p:nvSpPr>
          <p:cNvPr id="5" name="Slide Number Placeholder 5">
            <a:extLst>
              <a:ext uri="{FF2B5EF4-FFF2-40B4-BE49-F238E27FC236}">
                <a16:creationId xmlns:a16="http://schemas.microsoft.com/office/drawing/2014/main" id="{9D104053-5B40-7B4B-8C67-2C282377EE13}"/>
              </a:ext>
            </a:extLst>
          </p:cNvPr>
          <p:cNvSpPr>
            <a:spLocks noGrp="1"/>
          </p:cNvSpPr>
          <p:nvPr>
            <p:ph type="sldNum" sz="quarter" idx="12"/>
          </p:nvPr>
        </p:nvSpPr>
        <p:spPr/>
        <p:txBody>
          <a:bodyPr/>
          <a:lstStyle/>
          <a:p>
            <a:fld id="{5C34B855-86EA-9849-889D-53E3744A2DCF}" type="slidenum">
              <a:rPr lang="en-US" altLang="en-US"/>
              <a:pPr/>
              <a:t>43</a:t>
            </a:fld>
            <a:endParaRPr lang="en-US" altLang="en-US"/>
          </a:p>
        </p:txBody>
      </p:sp>
    </p:spTree>
    <p:extLst>
      <p:ext uri="{BB962C8B-B14F-4D97-AF65-F5344CB8AC3E}">
        <p14:creationId xmlns:p14="http://schemas.microsoft.com/office/powerpoint/2010/main" val="25821520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28020353-3613-4B46-9790-5F48E35FDDDC}"/>
              </a:ext>
            </a:extLst>
          </p:cNvPr>
          <p:cNvSpPr>
            <a:spLocks noGrp="1" noChangeArrowheads="1"/>
          </p:cNvSpPr>
          <p:nvPr>
            <p:ph type="title"/>
          </p:nvPr>
        </p:nvSpPr>
        <p:spPr>
          <a:xfrm>
            <a:off x="928447" y="626269"/>
            <a:ext cx="10972800" cy="1143000"/>
          </a:xfrm>
        </p:spPr>
        <p:txBody>
          <a:bodyPr/>
          <a:lstStyle/>
          <a:p>
            <a:r>
              <a:rPr lang="en-IN" altLang="en-US" dirty="0">
                <a:cs typeface="Arial" panose="020B0604020202020204" pitchFamily="34" charset="0"/>
              </a:rPr>
              <a:t>sigma</a:t>
            </a:r>
            <a:r>
              <a:rPr lang="en-US" altLang="en-US" dirty="0">
                <a:cs typeface="Arial" panose="020B0604020202020204" pitchFamily="34" charset="0"/>
              </a:rPr>
              <a:t> not known</a:t>
            </a:r>
            <a:endParaRPr lang="el-GR" altLang="en-US" dirty="0">
              <a:cs typeface="Arial" panose="020B0604020202020204" pitchFamily="34" charset="0"/>
            </a:endParaRPr>
          </a:p>
        </p:txBody>
      </p:sp>
      <p:sp>
        <p:nvSpPr>
          <p:cNvPr id="156675" name="Rectangle 3">
            <a:extLst>
              <a:ext uri="{FF2B5EF4-FFF2-40B4-BE49-F238E27FC236}">
                <a16:creationId xmlns:a16="http://schemas.microsoft.com/office/drawing/2014/main" id="{2A2DCD7B-AB91-B541-8769-742A8731E7C1}"/>
              </a:ext>
            </a:extLst>
          </p:cNvPr>
          <p:cNvSpPr>
            <a:spLocks noGrp="1" noChangeArrowheads="1"/>
          </p:cNvSpPr>
          <p:nvPr>
            <p:ph type="body" sz="half" idx="1"/>
          </p:nvPr>
        </p:nvSpPr>
        <p:spPr>
          <a:xfrm>
            <a:off x="752834" y="2375322"/>
            <a:ext cx="6410326" cy="2947576"/>
          </a:xfrm>
        </p:spPr>
        <p:txBody>
          <a:bodyPr/>
          <a:lstStyle/>
          <a:p>
            <a:r>
              <a:rPr lang="en-US" altLang="en-US" sz="2800" dirty="0"/>
              <a:t>Prior chapter: </a:t>
            </a:r>
            <a:r>
              <a:rPr lang="en-US" altLang="en-US" sz="2800" b="1" dirty="0" err="1">
                <a:cs typeface="Tahoma" panose="020B0604030504040204" pitchFamily="34" charset="0"/>
              </a:rPr>
              <a:t>σ</a:t>
            </a:r>
            <a:r>
              <a:rPr lang="en-US" altLang="en-US" sz="2800" b="1" dirty="0">
                <a:cs typeface="Tahoma" panose="020B0604030504040204" pitchFamily="34" charset="0"/>
              </a:rPr>
              <a:t> </a:t>
            </a:r>
            <a:r>
              <a:rPr lang="en-US" altLang="en-US" sz="2800" dirty="0">
                <a:cs typeface="Tahoma" panose="020B0604030504040204" pitchFamily="34" charset="0"/>
              </a:rPr>
              <a:t>was known before collecting data </a:t>
            </a:r>
            <a:r>
              <a:rPr lang="en-US" altLang="en-US" sz="2800" dirty="0">
                <a:cs typeface="Tahoma" panose="020B0604030504040204" pitchFamily="34" charset="0"/>
                <a:sym typeface="Symbol" pitchFamily="2" charset="2"/>
              </a:rPr>
              <a:t></a:t>
            </a:r>
            <a:r>
              <a:rPr lang="en-US" altLang="en-US" sz="2800" dirty="0">
                <a:cs typeface="Tahoma" panose="020B0604030504040204" pitchFamily="34" charset="0"/>
              </a:rPr>
              <a:t> </a:t>
            </a:r>
            <a:r>
              <a:rPr lang="en-US" altLang="en-US" sz="2800" b="1" dirty="0"/>
              <a:t>z procedures</a:t>
            </a:r>
            <a:r>
              <a:rPr lang="en-US" altLang="en-US" sz="2800" dirty="0"/>
              <a:t> used to help infer µ</a:t>
            </a:r>
            <a:endParaRPr lang="en-US" altLang="en-US" sz="2800" dirty="0">
              <a:cs typeface="Tahoma" panose="020B0604030504040204" pitchFamily="34" charset="0"/>
            </a:endParaRPr>
          </a:p>
          <a:p>
            <a:r>
              <a:rPr lang="en-US" altLang="en-US" sz="2800" dirty="0">
                <a:cs typeface="Tahoma" panose="020B0604030504040204" pitchFamily="34" charset="0"/>
              </a:rPr>
              <a:t>When </a:t>
            </a:r>
            <a:r>
              <a:rPr lang="en-US" altLang="en-US" sz="2800" b="1" dirty="0" err="1">
                <a:cs typeface="Tahoma" panose="020B0604030504040204" pitchFamily="34" charset="0"/>
              </a:rPr>
              <a:t>σ</a:t>
            </a:r>
            <a:r>
              <a:rPr lang="en-US" altLang="en-US" sz="2800" b="1" dirty="0">
                <a:cs typeface="Tahoma" panose="020B0604030504040204" pitchFamily="34" charset="0"/>
              </a:rPr>
              <a:t> </a:t>
            </a:r>
            <a:r>
              <a:rPr lang="en-US" altLang="en-US" sz="2800" dirty="0">
                <a:cs typeface="Tahoma" panose="020B0604030504040204" pitchFamily="34" charset="0"/>
              </a:rPr>
              <a:t>NOT known, calculate sample standard deviations </a:t>
            </a:r>
            <a:r>
              <a:rPr lang="en-US" altLang="en-US" sz="2800" b="1" i="1" dirty="0">
                <a:cs typeface="Tahoma" panose="020B0604030504040204" pitchFamily="34" charset="0"/>
              </a:rPr>
              <a:t>s</a:t>
            </a:r>
            <a:r>
              <a:rPr lang="en-US" altLang="en-US" sz="2800" b="1" dirty="0">
                <a:cs typeface="Tahoma" panose="020B0604030504040204" pitchFamily="34" charset="0"/>
              </a:rPr>
              <a:t> </a:t>
            </a:r>
            <a:r>
              <a:rPr lang="en-US" altLang="en-US" sz="2800" dirty="0">
                <a:cs typeface="Tahoma" panose="020B0604030504040204" pitchFamily="34" charset="0"/>
              </a:rPr>
              <a:t>and use it to calculate this standard error</a:t>
            </a:r>
            <a:r>
              <a:rPr lang="en-US" altLang="en-US" sz="2800" b="1" dirty="0">
                <a:cs typeface="Tahoma" panose="020B0604030504040204" pitchFamily="34" charset="0"/>
              </a:rPr>
              <a:t>:</a:t>
            </a:r>
          </a:p>
        </p:txBody>
      </p:sp>
      <p:graphicFrame>
        <p:nvGraphicFramePr>
          <p:cNvPr id="156677" name="Object 5">
            <a:extLst>
              <a:ext uri="{FF2B5EF4-FFF2-40B4-BE49-F238E27FC236}">
                <a16:creationId xmlns:a16="http://schemas.microsoft.com/office/drawing/2014/main" id="{4689FAF6-39A2-3944-BA13-5939E0D6A3A8}"/>
              </a:ext>
            </a:extLst>
          </p:cNvPr>
          <p:cNvGraphicFramePr>
            <a:graphicFrameLocks noGrp="1" noChangeAspect="1"/>
          </p:cNvGraphicFramePr>
          <p:nvPr>
            <p:ph sz="half" idx="2"/>
          </p:nvPr>
        </p:nvGraphicFramePr>
        <p:xfrm>
          <a:off x="8045450" y="1931988"/>
          <a:ext cx="1798638" cy="1984375"/>
        </p:xfrm>
        <a:graphic>
          <a:graphicData uri="http://schemas.openxmlformats.org/presentationml/2006/ole">
            <mc:AlternateContent xmlns:mc="http://schemas.openxmlformats.org/markup-compatibility/2006">
              <mc:Choice xmlns:v="urn:schemas-microsoft-com:vml" Requires="v">
                <p:oleObj name="Equation" r:id="rId2" imgW="8483600" imgH="9359900" progId="Equation.3">
                  <p:embed/>
                </p:oleObj>
              </mc:Choice>
              <mc:Fallback>
                <p:oleObj name="Equation" r:id="rId2" imgW="8483600" imgH="9359900" progId="Equation.3">
                  <p:embed/>
                  <p:pic>
                    <p:nvPicPr>
                      <p:cNvPr id="156677" name="Object 5">
                        <a:extLst>
                          <a:ext uri="{FF2B5EF4-FFF2-40B4-BE49-F238E27FC236}">
                            <a16:creationId xmlns:a16="http://schemas.microsoft.com/office/drawing/2014/main" id="{4689FAF6-39A2-3944-BA13-5939E0D6A3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5450" y="1931988"/>
                        <a:ext cx="1798638" cy="198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Date Placeholder 4">
            <a:extLst>
              <a:ext uri="{FF2B5EF4-FFF2-40B4-BE49-F238E27FC236}">
                <a16:creationId xmlns:a16="http://schemas.microsoft.com/office/drawing/2014/main" id="{1090B376-3822-0648-ADBC-D0136741A211}"/>
              </a:ext>
            </a:extLst>
          </p:cNvPr>
          <p:cNvSpPr>
            <a:spLocks noGrp="1"/>
          </p:cNvSpPr>
          <p:nvPr>
            <p:ph type="dt" sz="half" idx="10"/>
          </p:nvPr>
        </p:nvSpPr>
        <p:spPr/>
        <p:txBody>
          <a:bodyPr/>
          <a:lstStyle/>
          <a:p>
            <a:fld id="{7ACA77B5-61E9-3848-9200-1CB3A1A07326}" type="datetime1">
              <a:rPr lang="en-US" altLang="en-US"/>
              <a:pPr/>
              <a:t>7/6/2026</a:t>
            </a:fld>
            <a:endParaRPr lang="en-US" altLang="en-US"/>
          </a:p>
        </p:txBody>
      </p:sp>
      <p:sp>
        <p:nvSpPr>
          <p:cNvPr id="7" name="Slide Number Placeholder 6">
            <a:extLst>
              <a:ext uri="{FF2B5EF4-FFF2-40B4-BE49-F238E27FC236}">
                <a16:creationId xmlns:a16="http://schemas.microsoft.com/office/drawing/2014/main" id="{FBE1A76D-4910-4345-B48C-3B7A15BBAE18}"/>
              </a:ext>
            </a:extLst>
          </p:cNvPr>
          <p:cNvSpPr>
            <a:spLocks noGrp="1"/>
          </p:cNvSpPr>
          <p:nvPr>
            <p:ph type="sldNum" sz="quarter" idx="12"/>
          </p:nvPr>
        </p:nvSpPr>
        <p:spPr/>
        <p:txBody>
          <a:bodyPr/>
          <a:lstStyle/>
          <a:p>
            <a:fld id="{64D33DD8-F377-7D43-96A9-434369F6B47D}" type="slidenum">
              <a:rPr lang="en-US" altLang="en-US"/>
              <a:pPr/>
              <a:t>44</a:t>
            </a:fld>
            <a:endParaRPr lang="en-US" altLang="en-US"/>
          </a:p>
        </p:txBody>
      </p:sp>
      <p:graphicFrame>
        <p:nvGraphicFramePr>
          <p:cNvPr id="156676" name="Object 4">
            <a:extLst>
              <a:ext uri="{FF2B5EF4-FFF2-40B4-BE49-F238E27FC236}">
                <a16:creationId xmlns:a16="http://schemas.microsoft.com/office/drawing/2014/main" id="{BB2CE6DA-AB6F-D24E-B7CC-65AF3CAE3967}"/>
              </a:ext>
            </a:extLst>
          </p:cNvPr>
          <p:cNvGraphicFramePr>
            <a:graphicFrameLocks noChangeAspect="1"/>
          </p:cNvGraphicFramePr>
          <p:nvPr/>
        </p:nvGraphicFramePr>
        <p:xfrm>
          <a:off x="7354889" y="4241801"/>
          <a:ext cx="2700337" cy="1685925"/>
        </p:xfrm>
        <a:graphic>
          <a:graphicData uri="http://schemas.openxmlformats.org/presentationml/2006/ole">
            <mc:AlternateContent xmlns:mc="http://schemas.openxmlformats.org/markup-compatibility/2006">
              <mc:Choice xmlns:v="urn:schemas-microsoft-com:vml" Requires="v">
                <p:oleObj name="Equation" r:id="rId4" imgW="14046200" imgH="8775700" progId="Equation.3">
                  <p:embed/>
                </p:oleObj>
              </mc:Choice>
              <mc:Fallback>
                <p:oleObj name="Equation" r:id="rId4" imgW="14046200" imgH="8775700" progId="Equation.3">
                  <p:embed/>
                  <p:pic>
                    <p:nvPicPr>
                      <p:cNvPr id="156676" name="Object 4">
                        <a:extLst>
                          <a:ext uri="{FF2B5EF4-FFF2-40B4-BE49-F238E27FC236}">
                            <a16:creationId xmlns:a16="http://schemas.microsoft.com/office/drawing/2014/main" id="{BB2CE6DA-AB6F-D24E-B7CC-65AF3CAE39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54889" y="4241801"/>
                        <a:ext cx="2700337" cy="1685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099262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6675">
                                            <p:txEl>
                                              <p:pRg st="0" end="0"/>
                                            </p:txEl>
                                          </p:spTgt>
                                        </p:tgtEl>
                                        <p:attrNameLst>
                                          <p:attrName>style.visibility</p:attrName>
                                        </p:attrNameLst>
                                      </p:cBhvr>
                                      <p:to>
                                        <p:strVal val="visible"/>
                                      </p:to>
                                    </p:set>
                                    <p:animEffect transition="in" filter="fade">
                                      <p:cBhvr>
                                        <p:cTn id="7" dur="1000"/>
                                        <p:tgtEl>
                                          <p:spTgt spid="156675">
                                            <p:txEl>
                                              <p:pRg st="0" end="0"/>
                                            </p:txEl>
                                          </p:spTgt>
                                        </p:tgtEl>
                                      </p:cBhvr>
                                    </p:animEffect>
                                    <p:anim calcmode="lin" valueType="num">
                                      <p:cBhvr>
                                        <p:cTn id="8" dur="1000" fill="hold"/>
                                        <p:tgtEl>
                                          <p:spTgt spid="15667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667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6675">
                                            <p:txEl>
                                              <p:pRg st="1" end="1"/>
                                            </p:txEl>
                                          </p:spTgt>
                                        </p:tgtEl>
                                        <p:attrNameLst>
                                          <p:attrName>style.visibility</p:attrName>
                                        </p:attrNameLst>
                                      </p:cBhvr>
                                      <p:to>
                                        <p:strVal val="visible"/>
                                      </p:to>
                                    </p:set>
                                    <p:animEffect transition="in" filter="fade">
                                      <p:cBhvr>
                                        <p:cTn id="14" dur="1000"/>
                                        <p:tgtEl>
                                          <p:spTgt spid="156675">
                                            <p:txEl>
                                              <p:pRg st="1" end="1"/>
                                            </p:txEl>
                                          </p:spTgt>
                                        </p:tgtEl>
                                      </p:cBhvr>
                                    </p:animEffect>
                                    <p:anim calcmode="lin" valueType="num">
                                      <p:cBhvr>
                                        <p:cTn id="15" dur="1000" fill="hold"/>
                                        <p:tgtEl>
                                          <p:spTgt spid="15667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5667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156676"/>
                                        </p:tgtEl>
                                        <p:attrNameLst>
                                          <p:attrName>style.visibility</p:attrName>
                                        </p:attrNameLst>
                                      </p:cBhvr>
                                      <p:to>
                                        <p:strVal val="visible"/>
                                      </p:to>
                                    </p:set>
                                    <p:animEffect transition="in" filter="blinds(horizontal)">
                                      <p:cBhvr>
                                        <p:cTn id="21" dur="500"/>
                                        <p:tgtEl>
                                          <p:spTgt spid="156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6178" name="Rectangle 2">
            <a:extLst>
              <a:ext uri="{FF2B5EF4-FFF2-40B4-BE49-F238E27FC236}">
                <a16:creationId xmlns:a16="http://schemas.microsoft.com/office/drawing/2014/main" id="{911A64B7-3803-7B48-9E0C-5D853B3CE6E8}"/>
              </a:ext>
            </a:extLst>
          </p:cNvPr>
          <p:cNvSpPr>
            <a:spLocks noGrp="1" noChangeArrowheads="1"/>
          </p:cNvSpPr>
          <p:nvPr>
            <p:ph type="title"/>
          </p:nvPr>
        </p:nvSpPr>
        <p:spPr>
          <a:xfrm>
            <a:off x="1024129" y="345916"/>
            <a:ext cx="9720072" cy="1499616"/>
          </a:xfrm>
        </p:spPr>
        <p:txBody>
          <a:bodyPr/>
          <a:lstStyle/>
          <a:p>
            <a:r>
              <a:rPr lang="en-US" altLang="en-US" dirty="0">
                <a:cs typeface="Arial" panose="020B0604020202020204" pitchFamily="34" charset="0"/>
              </a:rPr>
              <a:t>Additional Uncertainty</a:t>
            </a:r>
          </a:p>
        </p:txBody>
      </p:sp>
      <p:sp>
        <p:nvSpPr>
          <p:cNvPr id="306179" name="Rectangle 3">
            <a:extLst>
              <a:ext uri="{FF2B5EF4-FFF2-40B4-BE49-F238E27FC236}">
                <a16:creationId xmlns:a16="http://schemas.microsoft.com/office/drawing/2014/main" id="{1A573B0E-2105-F642-A78D-F9BA97F35D90}"/>
              </a:ext>
            </a:extLst>
          </p:cNvPr>
          <p:cNvSpPr>
            <a:spLocks noGrp="1" noChangeArrowheads="1"/>
          </p:cNvSpPr>
          <p:nvPr>
            <p:ph idx="1"/>
          </p:nvPr>
        </p:nvSpPr>
        <p:spPr>
          <a:xfrm>
            <a:off x="940809" y="3655140"/>
            <a:ext cx="6400800" cy="1837316"/>
          </a:xfrm>
        </p:spPr>
        <p:txBody>
          <a:bodyPr/>
          <a:lstStyle/>
          <a:p>
            <a:r>
              <a:rPr lang="en-US" altLang="en-US" dirty="0">
                <a:cs typeface="Tahoma" panose="020B0604030504040204" pitchFamily="34" charset="0"/>
              </a:rPr>
              <a:t>Using </a:t>
            </a:r>
            <a:r>
              <a:rPr lang="en-US" altLang="en-US" i="1" dirty="0">
                <a:cs typeface="Tahoma" panose="020B0604030504040204" pitchFamily="34" charset="0"/>
              </a:rPr>
              <a:t>s</a:t>
            </a:r>
            <a:r>
              <a:rPr lang="en-US" altLang="en-US" dirty="0">
                <a:cs typeface="Tahoma" panose="020B0604030504040204" pitchFamily="34" charset="0"/>
              </a:rPr>
              <a:t> instead of </a:t>
            </a:r>
            <a:r>
              <a:rPr lang="el-GR" altLang="en-US" dirty="0">
                <a:cs typeface="Arial" panose="020B0604020202020204" pitchFamily="34" charset="0"/>
              </a:rPr>
              <a:t>σ</a:t>
            </a:r>
            <a:r>
              <a:rPr lang="en-US" altLang="en-US" dirty="0">
                <a:cs typeface="Arial" panose="020B0604020202020204" pitchFamily="34" charset="0"/>
              </a:rPr>
              <a:t> adds </a:t>
            </a:r>
            <a:r>
              <a:rPr lang="en-US" altLang="en-US" dirty="0">
                <a:cs typeface="Tahoma" panose="020B0604030504040204" pitchFamily="34" charset="0"/>
              </a:rPr>
              <a:t>uncertainty to inferences </a:t>
            </a:r>
            <a:r>
              <a:rPr lang="en-US" altLang="en-US" dirty="0">
                <a:cs typeface="Tahoma" panose="020B0604030504040204" pitchFamily="34" charset="0"/>
                <a:sym typeface="Symbol" pitchFamily="2" charset="2"/>
              </a:rPr>
              <a:t> can NOT use </a:t>
            </a:r>
            <a:r>
              <a:rPr lang="en-US" altLang="en-US" dirty="0">
                <a:cs typeface="Tahoma" panose="020B0604030504040204" pitchFamily="34" charset="0"/>
              </a:rPr>
              <a:t>z procedures</a:t>
            </a:r>
          </a:p>
          <a:p>
            <a:r>
              <a:rPr lang="en-US" altLang="en-US" dirty="0">
                <a:cs typeface="Tahoma" panose="020B0604030504040204" pitchFamily="34" charset="0"/>
              </a:rPr>
              <a:t>Instead, rely on </a:t>
            </a:r>
            <a:r>
              <a:rPr lang="en-US" altLang="en-US" b="1" dirty="0">
                <a:cs typeface="Tahoma" panose="020B0604030504040204" pitchFamily="34" charset="0"/>
              </a:rPr>
              <a:t>Student’s </a:t>
            </a:r>
            <a:r>
              <a:rPr lang="en-US" altLang="en-US" b="1" i="1" dirty="0">
                <a:cs typeface="Tahoma" panose="020B0604030504040204" pitchFamily="34" charset="0"/>
              </a:rPr>
              <a:t>t </a:t>
            </a:r>
            <a:r>
              <a:rPr lang="en-US" altLang="en-US" b="1" dirty="0">
                <a:cs typeface="Tahoma" panose="020B0604030504040204" pitchFamily="34" charset="0"/>
              </a:rPr>
              <a:t>procedures</a:t>
            </a:r>
            <a:endParaRPr lang="en-US" altLang="en-US" dirty="0">
              <a:cs typeface="Tahoma" panose="020B0604030504040204" pitchFamily="34" charset="0"/>
            </a:endParaRPr>
          </a:p>
        </p:txBody>
      </p:sp>
      <p:sp>
        <p:nvSpPr>
          <p:cNvPr id="8" name="Date Placeholder 3">
            <a:extLst>
              <a:ext uri="{FF2B5EF4-FFF2-40B4-BE49-F238E27FC236}">
                <a16:creationId xmlns:a16="http://schemas.microsoft.com/office/drawing/2014/main" id="{1F454380-7B5B-0640-9305-63DA9936A009}"/>
              </a:ext>
            </a:extLst>
          </p:cNvPr>
          <p:cNvSpPr>
            <a:spLocks noGrp="1"/>
          </p:cNvSpPr>
          <p:nvPr>
            <p:ph type="dt" sz="half" idx="10"/>
          </p:nvPr>
        </p:nvSpPr>
        <p:spPr/>
        <p:txBody>
          <a:bodyPr/>
          <a:lstStyle/>
          <a:p>
            <a:fld id="{74C9FD8D-490A-1546-A84C-ADCCA4661C25}" type="datetime1">
              <a:rPr lang="en-US" altLang="en-US"/>
              <a:pPr/>
              <a:t>7/6/2026</a:t>
            </a:fld>
            <a:endParaRPr lang="en-US" altLang="en-US"/>
          </a:p>
        </p:txBody>
      </p:sp>
      <p:sp>
        <p:nvSpPr>
          <p:cNvPr id="9" name="Slide Number Placeholder 5">
            <a:extLst>
              <a:ext uri="{FF2B5EF4-FFF2-40B4-BE49-F238E27FC236}">
                <a16:creationId xmlns:a16="http://schemas.microsoft.com/office/drawing/2014/main" id="{1E32B568-4807-8E43-8B7B-ECEAE43D54A3}"/>
              </a:ext>
            </a:extLst>
          </p:cNvPr>
          <p:cNvSpPr>
            <a:spLocks noGrp="1"/>
          </p:cNvSpPr>
          <p:nvPr>
            <p:ph type="sldNum" sz="quarter" idx="12"/>
          </p:nvPr>
        </p:nvSpPr>
        <p:spPr/>
        <p:txBody>
          <a:bodyPr/>
          <a:lstStyle/>
          <a:p>
            <a:fld id="{F36E8BD3-6C41-CC49-ACE5-297F21AA23C5}" type="slidenum">
              <a:rPr lang="en-US" altLang="en-US"/>
              <a:pPr/>
              <a:t>45</a:t>
            </a:fld>
            <a:endParaRPr lang="en-US" altLang="en-US"/>
          </a:p>
        </p:txBody>
      </p:sp>
      <p:graphicFrame>
        <p:nvGraphicFramePr>
          <p:cNvPr id="306180" name="Object 4">
            <a:extLst>
              <a:ext uri="{FF2B5EF4-FFF2-40B4-BE49-F238E27FC236}">
                <a16:creationId xmlns:a16="http://schemas.microsoft.com/office/drawing/2014/main" id="{9B66EF85-F696-894A-BCBA-59AE92568737}"/>
              </a:ext>
            </a:extLst>
          </p:cNvPr>
          <p:cNvGraphicFramePr>
            <a:graphicFrameLocks noChangeAspect="1"/>
          </p:cNvGraphicFramePr>
          <p:nvPr/>
        </p:nvGraphicFramePr>
        <p:xfrm>
          <a:off x="1723022" y="1890515"/>
          <a:ext cx="1662075" cy="1037816"/>
        </p:xfrm>
        <a:graphic>
          <a:graphicData uri="http://schemas.openxmlformats.org/presentationml/2006/ole">
            <mc:AlternateContent xmlns:mc="http://schemas.openxmlformats.org/markup-compatibility/2006">
              <mc:Choice xmlns:v="urn:schemas-microsoft-com:vml" Requires="v">
                <p:oleObj name="Equation" r:id="rId2" imgW="14046200" imgH="8775700" progId="Equation.3">
                  <p:embed/>
                </p:oleObj>
              </mc:Choice>
              <mc:Fallback>
                <p:oleObj name="Equation" r:id="rId2" imgW="14046200" imgH="8775700" progId="Equation.3">
                  <p:embed/>
                  <p:pic>
                    <p:nvPicPr>
                      <p:cNvPr id="306180" name="Object 4">
                        <a:extLst>
                          <a:ext uri="{FF2B5EF4-FFF2-40B4-BE49-F238E27FC236}">
                            <a16:creationId xmlns:a16="http://schemas.microsoft.com/office/drawing/2014/main" id="{9B66EF85-F696-894A-BCBA-59AE925687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3022" y="1890515"/>
                        <a:ext cx="1662075" cy="1037816"/>
                      </a:xfrm>
                      <a:prstGeom prst="rect">
                        <a:avLst/>
                      </a:prstGeom>
                      <a:noFill/>
                      <a:ln>
                        <a:noFill/>
                      </a:ln>
                      <a:effectLst/>
                    </p:spPr>
                  </p:pic>
                </p:oleObj>
              </mc:Fallback>
            </mc:AlternateContent>
          </a:graphicData>
        </a:graphic>
      </p:graphicFrame>
      <p:pic>
        <p:nvPicPr>
          <p:cNvPr id="306181" name="Picture 5">
            <a:extLst>
              <a:ext uri="{FF2B5EF4-FFF2-40B4-BE49-F238E27FC236}">
                <a16:creationId xmlns:a16="http://schemas.microsoft.com/office/drawing/2014/main" id="{15DC7114-A0A9-E24F-872E-084C1F84FD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5100" y="3768725"/>
            <a:ext cx="1619250" cy="196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6182" name="AutoShape 6">
            <a:extLst>
              <a:ext uri="{FF2B5EF4-FFF2-40B4-BE49-F238E27FC236}">
                <a16:creationId xmlns:a16="http://schemas.microsoft.com/office/drawing/2014/main" id="{A737F2EA-9CFE-EB44-BF98-9E3AEF3A638E}"/>
              </a:ext>
            </a:extLst>
          </p:cNvPr>
          <p:cNvSpPr>
            <a:spLocks noChangeArrowheads="1"/>
          </p:cNvSpPr>
          <p:nvPr/>
        </p:nvSpPr>
        <p:spPr bwMode="auto">
          <a:xfrm>
            <a:off x="7989888" y="1127125"/>
            <a:ext cx="2640012" cy="2236789"/>
          </a:xfrm>
          <a:prstGeom prst="cloudCallout">
            <a:avLst>
              <a:gd name="adj1" fmla="val -18343"/>
              <a:gd name="adj2" fmla="val 91333"/>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en-US" sz="2000" dirty="0"/>
              <a:t>The Normal distribution doesn’t fit well</a:t>
            </a:r>
          </a:p>
        </p:txBody>
      </p:sp>
      <p:sp>
        <p:nvSpPr>
          <p:cNvPr id="306183" name="Text Box 7">
            <a:extLst>
              <a:ext uri="{FF2B5EF4-FFF2-40B4-BE49-F238E27FC236}">
                <a16:creationId xmlns:a16="http://schemas.microsoft.com/office/drawing/2014/main" id="{F0CF5AC1-A02F-794D-ABF8-2AF384C4B4D3}"/>
              </a:ext>
            </a:extLst>
          </p:cNvPr>
          <p:cNvSpPr txBox="1">
            <a:spLocks noChangeArrowheads="1"/>
          </p:cNvSpPr>
          <p:nvPr/>
        </p:nvSpPr>
        <p:spPr bwMode="auto">
          <a:xfrm>
            <a:off x="7775576" y="5843589"/>
            <a:ext cx="223361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a:t>William Sealy </a:t>
            </a:r>
            <a:r>
              <a:rPr lang="en-US" altLang="en-US" sz="1600" i="1"/>
              <a:t>Gosset</a:t>
            </a:r>
            <a:r>
              <a:rPr lang="en-US" altLang="en-US" sz="1600"/>
              <a:t> (1876–1937) </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47BB57A-329D-3CE9-0CC5-0F458F65A20C}"/>
                  </a:ext>
                </a:extLst>
              </p:cNvPr>
              <p:cNvSpPr txBox="1"/>
              <p:nvPr/>
            </p:nvSpPr>
            <p:spPr>
              <a:xfrm>
                <a:off x="5181599" y="1965679"/>
                <a:ext cx="1828801" cy="84144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sz="2400" b="0" i="1" smtClean="0">
                          <a:latin typeface="Cambria Math" panose="02040503050406030204" pitchFamily="18" charset="0"/>
                        </a:rPr>
                        <m:t>𝑡</m:t>
                      </m:r>
                      <m:r>
                        <a:rPr lang="en-IN" sz="2400" b="0" i="1" smtClean="0">
                          <a:latin typeface="Cambria Math" panose="02040503050406030204" pitchFamily="18" charset="0"/>
                        </a:rPr>
                        <m:t>=</m:t>
                      </m:r>
                      <m:f>
                        <m:fPr>
                          <m:ctrlPr>
                            <a:rPr lang="en-IN" sz="2400" b="0" i="1" smtClean="0">
                              <a:latin typeface="Cambria Math" panose="02040503050406030204" pitchFamily="18" charset="0"/>
                            </a:rPr>
                          </m:ctrlPr>
                        </m:fPr>
                        <m:num>
                          <m:acc>
                            <m:accPr>
                              <m:chr m:val="̅"/>
                              <m:ctrlPr>
                                <a:rPr lang="en-IN" sz="2400" b="0" i="1" smtClean="0">
                                  <a:latin typeface="Cambria Math" panose="02040503050406030204" pitchFamily="18" charset="0"/>
                                </a:rPr>
                              </m:ctrlPr>
                            </m:accPr>
                            <m:e>
                              <m:r>
                                <a:rPr lang="en-IN" sz="2400" b="0" i="1" smtClean="0">
                                  <a:latin typeface="Cambria Math" panose="02040503050406030204" pitchFamily="18" charset="0"/>
                                </a:rPr>
                                <m:t>𝑋</m:t>
                              </m:r>
                            </m:e>
                          </m:acc>
                          <m:r>
                            <a:rPr lang="en-IN" sz="2400" b="0" i="1" smtClean="0">
                              <a:latin typeface="Cambria Math" panose="02040503050406030204" pitchFamily="18" charset="0"/>
                            </a:rPr>
                            <m:t>−</m:t>
                          </m:r>
                          <m:r>
                            <a:rPr lang="en-IN" sz="2400" b="0" i="1" smtClean="0">
                              <a:latin typeface="Cambria Math" panose="02040503050406030204" pitchFamily="18" charset="0"/>
                            </a:rPr>
                            <m:t>𝜇</m:t>
                          </m:r>
                        </m:num>
                        <m:den>
                          <m:r>
                            <a:rPr lang="en-IN" sz="2400" b="0" i="1" smtClean="0">
                              <a:latin typeface="Cambria Math" panose="02040503050406030204" pitchFamily="18" charset="0"/>
                            </a:rPr>
                            <m:t>𝑠</m:t>
                          </m:r>
                          <m:r>
                            <a:rPr lang="en-IN" sz="2400" b="0" i="1" smtClean="0">
                              <a:latin typeface="Cambria Math" panose="02040503050406030204" pitchFamily="18" charset="0"/>
                            </a:rPr>
                            <m:t>/√</m:t>
                          </m:r>
                          <m:r>
                            <a:rPr lang="en-IN" sz="2400" b="0" i="1" smtClean="0">
                              <a:latin typeface="Cambria Math" panose="02040503050406030204" pitchFamily="18" charset="0"/>
                            </a:rPr>
                            <m:t>𝑛</m:t>
                          </m:r>
                        </m:den>
                      </m:f>
                    </m:oMath>
                  </m:oMathPara>
                </a14:m>
                <a:endParaRPr lang="en-IN" sz="2400" dirty="0"/>
              </a:p>
            </p:txBody>
          </p:sp>
        </mc:Choice>
        <mc:Fallback xmlns="">
          <p:sp>
            <p:nvSpPr>
              <p:cNvPr id="2" name="TextBox 1">
                <a:extLst>
                  <a:ext uri="{FF2B5EF4-FFF2-40B4-BE49-F238E27FC236}">
                    <a16:creationId xmlns:a16="http://schemas.microsoft.com/office/drawing/2014/main" id="{C47BB57A-329D-3CE9-0CC5-0F458F65A20C}"/>
                  </a:ext>
                </a:extLst>
              </p:cNvPr>
              <p:cNvSpPr txBox="1">
                <a:spLocks noRot="1" noChangeAspect="1" noMove="1" noResize="1" noEditPoints="1" noAdjustHandles="1" noChangeArrowheads="1" noChangeShapeType="1" noTextEdit="1"/>
              </p:cNvSpPr>
              <p:nvPr/>
            </p:nvSpPr>
            <p:spPr>
              <a:xfrm>
                <a:off x="5181599" y="1965679"/>
                <a:ext cx="1828801" cy="841449"/>
              </a:xfrm>
              <a:prstGeom prst="rect">
                <a:avLst/>
              </a:prstGeom>
              <a:blipFill>
                <a:blip r:embed="rId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9740404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6179">
                                            <p:txEl>
                                              <p:pRg st="0" end="0"/>
                                            </p:txEl>
                                          </p:spTgt>
                                        </p:tgtEl>
                                        <p:attrNameLst>
                                          <p:attrName>style.visibility</p:attrName>
                                        </p:attrNameLst>
                                      </p:cBhvr>
                                      <p:to>
                                        <p:strVal val="visible"/>
                                      </p:to>
                                    </p:set>
                                    <p:animEffect transition="in" filter="fade">
                                      <p:cBhvr>
                                        <p:cTn id="7" dur="1000"/>
                                        <p:tgtEl>
                                          <p:spTgt spid="306179">
                                            <p:txEl>
                                              <p:pRg st="0" end="0"/>
                                            </p:txEl>
                                          </p:spTgt>
                                        </p:tgtEl>
                                      </p:cBhvr>
                                    </p:animEffect>
                                    <p:anim calcmode="lin" valueType="num">
                                      <p:cBhvr>
                                        <p:cTn id="8" dur="1000" fill="hold"/>
                                        <p:tgtEl>
                                          <p:spTgt spid="30617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0617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06179">
                                            <p:txEl>
                                              <p:pRg st="1" end="1"/>
                                            </p:txEl>
                                          </p:spTgt>
                                        </p:tgtEl>
                                        <p:attrNameLst>
                                          <p:attrName>style.visibility</p:attrName>
                                        </p:attrNameLst>
                                      </p:cBhvr>
                                      <p:to>
                                        <p:strVal val="visible"/>
                                      </p:to>
                                    </p:set>
                                    <p:animEffect transition="in" filter="fade">
                                      <p:cBhvr>
                                        <p:cTn id="14" dur="1000"/>
                                        <p:tgtEl>
                                          <p:spTgt spid="306179">
                                            <p:txEl>
                                              <p:pRg st="1" end="1"/>
                                            </p:txEl>
                                          </p:spTgt>
                                        </p:tgtEl>
                                      </p:cBhvr>
                                    </p:animEffect>
                                    <p:anim calcmode="lin" valueType="num">
                                      <p:cBhvr>
                                        <p:cTn id="15" dur="1000" fill="hold"/>
                                        <p:tgtEl>
                                          <p:spTgt spid="30617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0617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79" grpId="0" build="p"/>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9E0B45E3-D318-E24D-A670-E4B9747F9766}"/>
              </a:ext>
            </a:extLst>
          </p:cNvPr>
          <p:cNvSpPr>
            <a:spLocks noGrp="1" noChangeArrowheads="1"/>
          </p:cNvSpPr>
          <p:nvPr>
            <p:ph type="title"/>
          </p:nvPr>
        </p:nvSpPr>
        <p:spPr>
          <a:xfrm>
            <a:off x="1275719" y="338140"/>
            <a:ext cx="10972800" cy="1143000"/>
          </a:xfrm>
        </p:spPr>
        <p:txBody>
          <a:bodyPr/>
          <a:lstStyle/>
          <a:p>
            <a:r>
              <a:rPr lang="en-US" altLang="en-US" dirty="0"/>
              <a:t>Student’s </a:t>
            </a:r>
            <a:r>
              <a:rPr lang="en-US" altLang="en-US" i="1" dirty="0"/>
              <a:t>t</a:t>
            </a:r>
            <a:r>
              <a:rPr lang="en-US" altLang="en-US" dirty="0"/>
              <a:t> distributions </a:t>
            </a:r>
          </a:p>
        </p:txBody>
      </p:sp>
      <p:sp>
        <p:nvSpPr>
          <p:cNvPr id="159747" name="Rectangle 3">
            <a:extLst>
              <a:ext uri="{FF2B5EF4-FFF2-40B4-BE49-F238E27FC236}">
                <a16:creationId xmlns:a16="http://schemas.microsoft.com/office/drawing/2014/main" id="{1246BAAC-DFBF-F84A-89FF-82B46015834D}"/>
              </a:ext>
            </a:extLst>
          </p:cNvPr>
          <p:cNvSpPr>
            <a:spLocks noGrp="1" noChangeArrowheads="1"/>
          </p:cNvSpPr>
          <p:nvPr>
            <p:ph type="body" sz="half" idx="1"/>
          </p:nvPr>
        </p:nvSpPr>
        <p:spPr>
          <a:xfrm>
            <a:off x="1025525" y="1803022"/>
            <a:ext cx="5384800" cy="4525963"/>
          </a:xfrm>
        </p:spPr>
        <p:txBody>
          <a:bodyPr/>
          <a:lstStyle/>
          <a:p>
            <a:pPr>
              <a:lnSpc>
                <a:spcPct val="90000"/>
              </a:lnSpc>
            </a:pPr>
            <a:r>
              <a:rPr lang="en-US" altLang="en-US" sz="2800" dirty="0"/>
              <a:t>Family</a:t>
            </a:r>
            <a:r>
              <a:rPr lang="en-US" altLang="en-US" sz="2800" b="1" dirty="0"/>
              <a:t> </a:t>
            </a:r>
            <a:r>
              <a:rPr lang="en-US" altLang="en-US" sz="2800" dirty="0"/>
              <a:t>of probability distributions </a:t>
            </a:r>
          </a:p>
          <a:p>
            <a:pPr>
              <a:lnSpc>
                <a:spcPct val="90000"/>
              </a:lnSpc>
            </a:pPr>
            <a:r>
              <a:rPr lang="en-US" altLang="en-US" sz="2800" dirty="0"/>
              <a:t>Family members identified by degrees of freedom (</a:t>
            </a:r>
            <a:r>
              <a:rPr lang="en-US" altLang="en-US" sz="2800" i="1" dirty="0" err="1"/>
              <a:t>df</a:t>
            </a:r>
            <a:r>
              <a:rPr lang="en-US" altLang="en-US" sz="2800" dirty="0"/>
              <a:t>)</a:t>
            </a:r>
          </a:p>
          <a:p>
            <a:pPr>
              <a:lnSpc>
                <a:spcPct val="90000"/>
              </a:lnSpc>
            </a:pPr>
            <a:r>
              <a:rPr lang="en-US" altLang="en-US" sz="2800" dirty="0"/>
              <a:t>Similar to </a:t>
            </a:r>
            <a:r>
              <a:rPr lang="en-US" altLang="en-US" sz="2800" i="1" dirty="0"/>
              <a:t>“Z”,</a:t>
            </a:r>
            <a:r>
              <a:rPr lang="en-US" altLang="en-US" sz="2800" dirty="0"/>
              <a:t> but with broader tails </a:t>
            </a:r>
          </a:p>
          <a:p>
            <a:pPr>
              <a:lnSpc>
                <a:spcPct val="90000"/>
              </a:lnSpc>
            </a:pPr>
            <a:r>
              <a:rPr lang="en-US" altLang="en-US" sz="2800" dirty="0"/>
              <a:t>As </a:t>
            </a:r>
            <a:r>
              <a:rPr lang="en-US" altLang="en-US" sz="2800" i="1" dirty="0" err="1"/>
              <a:t>df</a:t>
            </a:r>
            <a:r>
              <a:rPr lang="en-US" altLang="en-US" sz="2800" i="1" dirty="0"/>
              <a:t> </a:t>
            </a:r>
            <a:r>
              <a:rPr lang="en-US" altLang="en-US" sz="2800" dirty="0"/>
              <a:t>increases </a:t>
            </a:r>
            <a:r>
              <a:rPr lang="en-US" altLang="en-US" sz="2800" dirty="0">
                <a:cs typeface="Arial" panose="020B0604020202020204" pitchFamily="34" charset="0"/>
              </a:rPr>
              <a:t>→ tails get skinnier </a:t>
            </a:r>
            <a:r>
              <a:rPr lang="en-US" altLang="en-US" sz="2800" dirty="0"/>
              <a:t> </a:t>
            </a:r>
            <a:br>
              <a:rPr lang="en-US" altLang="en-US" sz="2800" dirty="0"/>
            </a:br>
            <a:r>
              <a:rPr lang="en-US" altLang="en-US" sz="2800" dirty="0">
                <a:cs typeface="Arial" panose="020B0604020202020204" pitchFamily="34" charset="0"/>
              </a:rPr>
              <a:t>→ </a:t>
            </a:r>
            <a:r>
              <a:rPr lang="en-US" altLang="en-US" sz="2800" i="1" dirty="0">
                <a:cs typeface="Arial" panose="020B0604020202020204" pitchFamily="34" charset="0"/>
              </a:rPr>
              <a:t>t </a:t>
            </a:r>
            <a:r>
              <a:rPr lang="en-US" altLang="en-US" sz="2800" dirty="0">
                <a:cs typeface="Arial" panose="020B0604020202020204" pitchFamily="34" charset="0"/>
              </a:rPr>
              <a:t>become like </a:t>
            </a:r>
            <a:r>
              <a:rPr lang="en-US" altLang="en-US" sz="2800" i="1" dirty="0"/>
              <a:t>z </a:t>
            </a:r>
            <a:endParaRPr lang="en-US" altLang="en-US" sz="2800" dirty="0"/>
          </a:p>
        </p:txBody>
      </p:sp>
      <p:pic>
        <p:nvPicPr>
          <p:cNvPr id="159757" name="Picture 13">
            <a:extLst>
              <a:ext uri="{FF2B5EF4-FFF2-40B4-BE49-F238E27FC236}">
                <a16:creationId xmlns:a16="http://schemas.microsoft.com/office/drawing/2014/main" id="{EF273674-99C5-7942-A52E-304CE5D8731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6410325" y="1354138"/>
            <a:ext cx="3765550" cy="3143250"/>
          </a:xfrm>
          <a:noFill/>
          <a:ln/>
        </p:spPr>
      </p:pic>
      <p:sp>
        <p:nvSpPr>
          <p:cNvPr id="6" name="Date Placeholder 4">
            <a:extLst>
              <a:ext uri="{FF2B5EF4-FFF2-40B4-BE49-F238E27FC236}">
                <a16:creationId xmlns:a16="http://schemas.microsoft.com/office/drawing/2014/main" id="{9A29DEDC-99AC-044A-B774-5FF6E1565B81}"/>
              </a:ext>
            </a:extLst>
          </p:cNvPr>
          <p:cNvSpPr>
            <a:spLocks noGrp="1"/>
          </p:cNvSpPr>
          <p:nvPr>
            <p:ph type="dt" sz="half" idx="10"/>
          </p:nvPr>
        </p:nvSpPr>
        <p:spPr/>
        <p:txBody>
          <a:bodyPr/>
          <a:lstStyle/>
          <a:p>
            <a:fld id="{578C9728-E61E-8D46-BAC5-A00EA427420D}" type="datetime1">
              <a:rPr lang="en-US" altLang="en-US"/>
              <a:pPr/>
              <a:t>7/6/2026</a:t>
            </a:fld>
            <a:endParaRPr lang="en-US" altLang="en-US"/>
          </a:p>
        </p:txBody>
      </p:sp>
      <p:sp>
        <p:nvSpPr>
          <p:cNvPr id="7" name="Slide Number Placeholder 6">
            <a:extLst>
              <a:ext uri="{FF2B5EF4-FFF2-40B4-BE49-F238E27FC236}">
                <a16:creationId xmlns:a16="http://schemas.microsoft.com/office/drawing/2014/main" id="{B7FEE909-41C8-664E-B9EB-27F4B6E948E4}"/>
              </a:ext>
            </a:extLst>
          </p:cNvPr>
          <p:cNvSpPr>
            <a:spLocks noGrp="1"/>
          </p:cNvSpPr>
          <p:nvPr>
            <p:ph type="sldNum" sz="quarter" idx="12"/>
          </p:nvPr>
        </p:nvSpPr>
        <p:spPr/>
        <p:txBody>
          <a:bodyPr/>
          <a:lstStyle/>
          <a:p>
            <a:fld id="{9AF52A9A-0221-6248-9C2C-82E2E97C2E34}" type="slidenum">
              <a:rPr lang="en-US" altLang="en-US"/>
              <a:pPr/>
              <a:t>46</a:t>
            </a:fld>
            <a:endParaRPr lang="en-US" altLang="en-US"/>
          </a:p>
        </p:txBody>
      </p:sp>
      <p:sp>
        <p:nvSpPr>
          <p:cNvPr id="159758" name="Text Box 14">
            <a:extLst>
              <a:ext uri="{FF2B5EF4-FFF2-40B4-BE49-F238E27FC236}">
                <a16:creationId xmlns:a16="http://schemas.microsoft.com/office/drawing/2014/main" id="{7299CAE0-C10E-D343-9359-C68194A059C1}"/>
              </a:ext>
            </a:extLst>
          </p:cNvPr>
          <p:cNvSpPr txBox="1">
            <a:spLocks noChangeArrowheads="1"/>
          </p:cNvSpPr>
          <p:nvPr/>
        </p:nvSpPr>
        <p:spPr bwMode="auto">
          <a:xfrm>
            <a:off x="6351588" y="4759325"/>
            <a:ext cx="399256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A </a:t>
            </a:r>
            <a:r>
              <a:rPr lang="en-US" altLang="en-US" sz="2400" i="1"/>
              <a:t>t </a:t>
            </a:r>
            <a:r>
              <a:rPr lang="en-US" altLang="en-US" sz="2400"/>
              <a:t>distribution with infinite degrees of freedom </a:t>
            </a:r>
            <a:r>
              <a:rPr lang="en-US" altLang="en-US" sz="2400" i="1"/>
              <a:t>is</a:t>
            </a:r>
            <a:r>
              <a:rPr lang="en-US" altLang="en-US" sz="2400"/>
              <a:t> a  Standard Normal Z distribution</a:t>
            </a:r>
          </a:p>
        </p:txBody>
      </p:sp>
    </p:spTree>
    <p:extLst>
      <p:ext uri="{BB962C8B-B14F-4D97-AF65-F5344CB8AC3E}">
        <p14:creationId xmlns:p14="http://schemas.microsoft.com/office/powerpoint/2010/main" val="34379872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Effect transition="in" filter="fade">
                                      <p:cBhvr>
                                        <p:cTn id="7" dur="1000"/>
                                        <p:tgtEl>
                                          <p:spTgt spid="159747">
                                            <p:txEl>
                                              <p:pRg st="0" end="0"/>
                                            </p:txEl>
                                          </p:spTgt>
                                        </p:tgtEl>
                                      </p:cBhvr>
                                    </p:animEffect>
                                    <p:anim calcmode="lin" valueType="num">
                                      <p:cBhvr>
                                        <p:cTn id="8" dur="1000" fill="hold"/>
                                        <p:tgtEl>
                                          <p:spTgt spid="15974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974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9747">
                                            <p:txEl>
                                              <p:pRg st="1" end="1"/>
                                            </p:txEl>
                                          </p:spTgt>
                                        </p:tgtEl>
                                        <p:attrNameLst>
                                          <p:attrName>style.visibility</p:attrName>
                                        </p:attrNameLst>
                                      </p:cBhvr>
                                      <p:to>
                                        <p:strVal val="visible"/>
                                      </p:to>
                                    </p:set>
                                    <p:animEffect transition="in" filter="fade">
                                      <p:cBhvr>
                                        <p:cTn id="14" dur="1000"/>
                                        <p:tgtEl>
                                          <p:spTgt spid="159747">
                                            <p:txEl>
                                              <p:pRg st="1" end="1"/>
                                            </p:txEl>
                                          </p:spTgt>
                                        </p:tgtEl>
                                      </p:cBhvr>
                                    </p:animEffect>
                                    <p:anim calcmode="lin" valueType="num">
                                      <p:cBhvr>
                                        <p:cTn id="15" dur="1000" fill="hold"/>
                                        <p:tgtEl>
                                          <p:spTgt spid="15974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5974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9747">
                                            <p:txEl>
                                              <p:pRg st="2" end="2"/>
                                            </p:txEl>
                                          </p:spTgt>
                                        </p:tgtEl>
                                        <p:attrNameLst>
                                          <p:attrName>style.visibility</p:attrName>
                                        </p:attrNameLst>
                                      </p:cBhvr>
                                      <p:to>
                                        <p:strVal val="visible"/>
                                      </p:to>
                                    </p:set>
                                    <p:animEffect transition="in" filter="fade">
                                      <p:cBhvr>
                                        <p:cTn id="21" dur="1000"/>
                                        <p:tgtEl>
                                          <p:spTgt spid="159747">
                                            <p:txEl>
                                              <p:pRg st="2" end="2"/>
                                            </p:txEl>
                                          </p:spTgt>
                                        </p:tgtEl>
                                      </p:cBhvr>
                                    </p:animEffect>
                                    <p:anim calcmode="lin" valueType="num">
                                      <p:cBhvr>
                                        <p:cTn id="22" dur="1000" fill="hold"/>
                                        <p:tgtEl>
                                          <p:spTgt spid="15974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5974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59747">
                                            <p:txEl>
                                              <p:pRg st="3" end="3"/>
                                            </p:txEl>
                                          </p:spTgt>
                                        </p:tgtEl>
                                        <p:attrNameLst>
                                          <p:attrName>style.visibility</p:attrName>
                                        </p:attrNameLst>
                                      </p:cBhvr>
                                      <p:to>
                                        <p:strVal val="visible"/>
                                      </p:to>
                                    </p:set>
                                    <p:animEffect transition="in" filter="fade">
                                      <p:cBhvr>
                                        <p:cTn id="28" dur="1000"/>
                                        <p:tgtEl>
                                          <p:spTgt spid="159747">
                                            <p:txEl>
                                              <p:pRg st="3" end="3"/>
                                            </p:txEl>
                                          </p:spTgt>
                                        </p:tgtEl>
                                      </p:cBhvr>
                                    </p:animEffect>
                                    <p:anim calcmode="lin" valueType="num">
                                      <p:cBhvr>
                                        <p:cTn id="29" dur="1000" fill="hold"/>
                                        <p:tgtEl>
                                          <p:spTgt spid="15974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5974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59758"/>
                                        </p:tgtEl>
                                        <p:attrNameLst>
                                          <p:attrName>style.visibility</p:attrName>
                                        </p:attrNameLst>
                                      </p:cBhvr>
                                      <p:to>
                                        <p:strVal val="visible"/>
                                      </p:to>
                                    </p:set>
                                    <p:animEffect transition="in" filter="blinds(horizontal)">
                                      <p:cBhvr>
                                        <p:cTn id="35" dur="500"/>
                                        <p:tgtEl>
                                          <p:spTgt spid="159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uild="p"/>
      <p:bldP spid="15975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EB2DEAA-E042-B048-86FF-75EAEF0FD105}"/>
              </a:ext>
            </a:extLst>
          </p:cNvPr>
          <p:cNvSpPr>
            <a:spLocks noGrp="1"/>
          </p:cNvSpPr>
          <p:nvPr>
            <p:ph type="title"/>
          </p:nvPr>
        </p:nvSpPr>
        <p:spPr/>
        <p:txBody>
          <a:bodyPr/>
          <a:lstStyle/>
          <a:p>
            <a:endParaRPr lang="en-US"/>
          </a:p>
        </p:txBody>
      </p:sp>
      <p:sp>
        <p:nvSpPr>
          <p:cNvPr id="6" name="Rectangle 5">
            <a:extLst>
              <a:ext uri="{FF2B5EF4-FFF2-40B4-BE49-F238E27FC236}">
                <a16:creationId xmlns:a16="http://schemas.microsoft.com/office/drawing/2014/main" id="{2A974E7A-8A48-B84D-A8C5-DAC3E665A3BC}"/>
              </a:ext>
            </a:extLst>
          </p:cNvPr>
          <p:cNvSpPr/>
          <p:nvPr/>
        </p:nvSpPr>
        <p:spPr>
          <a:xfrm>
            <a:off x="1308100" y="6050202"/>
            <a:ext cx="7581900" cy="369332"/>
          </a:xfrm>
          <a:prstGeom prst="rect">
            <a:avLst/>
          </a:prstGeom>
        </p:spPr>
        <p:txBody>
          <a:bodyPr wrap="square">
            <a:spAutoFit/>
          </a:bodyPr>
          <a:lstStyle/>
          <a:p>
            <a:r>
              <a:rPr lang="en-US" dirty="0"/>
              <a:t>https://</a:t>
            </a:r>
            <a:r>
              <a:rPr lang="en-US" dirty="0" err="1"/>
              <a:t>www.youtube.com</a:t>
            </a:r>
            <a:r>
              <a:rPr lang="en-US" dirty="0"/>
              <a:t>/</a:t>
            </a:r>
            <a:r>
              <a:rPr lang="en-US" dirty="0" err="1"/>
              <a:t>watch?v</a:t>
            </a:r>
            <a:r>
              <a:rPr lang="en-US" dirty="0"/>
              <a:t>=Uv6nGIgZMVw&amp;t=388s</a:t>
            </a:r>
          </a:p>
        </p:txBody>
      </p:sp>
      <p:pic>
        <p:nvPicPr>
          <p:cNvPr id="7" name="Online Media 6" descr="Introduction to the t Distribution (non-technical)">
            <a:hlinkClick r:id="" action="ppaction://media"/>
            <a:extLst>
              <a:ext uri="{FF2B5EF4-FFF2-40B4-BE49-F238E27FC236}">
                <a16:creationId xmlns:a16="http://schemas.microsoft.com/office/drawing/2014/main" id="{3B737857-EE69-CA40-8878-D71708D654C0}"/>
              </a:ext>
            </a:extLst>
          </p:cNvPr>
          <p:cNvPicPr>
            <a:picLocks noRot="1" noChangeAspect="1"/>
          </p:cNvPicPr>
          <p:nvPr>
            <a:videoFile r:link="rId1"/>
          </p:nvPr>
        </p:nvPicPr>
        <p:blipFill>
          <a:blip r:embed="rId3"/>
          <a:stretch>
            <a:fillRect/>
          </a:stretch>
        </p:blipFill>
        <p:spPr>
          <a:xfrm>
            <a:off x="1171435" y="636739"/>
            <a:ext cx="9100461" cy="5141761"/>
          </a:xfrm>
          <a:prstGeom prst="rect">
            <a:avLst/>
          </a:prstGeom>
        </p:spPr>
      </p:pic>
    </p:spTree>
    <p:extLst>
      <p:ext uri="{BB962C8B-B14F-4D97-AF65-F5344CB8AC3E}">
        <p14:creationId xmlns:p14="http://schemas.microsoft.com/office/powerpoint/2010/main" val="198958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BC21F2D0-E983-4948-9A2D-779E6EFB5F76}"/>
              </a:ext>
            </a:extLst>
          </p:cNvPr>
          <p:cNvSpPr>
            <a:spLocks noGrp="1" noChangeArrowheads="1"/>
          </p:cNvSpPr>
          <p:nvPr>
            <p:ph type="title"/>
          </p:nvPr>
        </p:nvSpPr>
        <p:spPr>
          <a:xfrm>
            <a:off x="898398" y="100012"/>
            <a:ext cx="10058400" cy="1609344"/>
          </a:xfrm>
        </p:spPr>
        <p:txBody>
          <a:bodyPr/>
          <a:lstStyle/>
          <a:p>
            <a:r>
              <a:rPr lang="en-US" altLang="en-US" dirty="0"/>
              <a:t>Table C (</a:t>
            </a:r>
            <a:r>
              <a:rPr lang="en-US" altLang="en-US" i="1" dirty="0"/>
              <a:t>t </a:t>
            </a:r>
            <a:r>
              <a:rPr lang="en-US" altLang="en-US" dirty="0"/>
              <a:t>table)</a:t>
            </a:r>
          </a:p>
        </p:txBody>
      </p:sp>
      <p:sp>
        <p:nvSpPr>
          <p:cNvPr id="8" name="Date Placeholder 2">
            <a:extLst>
              <a:ext uri="{FF2B5EF4-FFF2-40B4-BE49-F238E27FC236}">
                <a16:creationId xmlns:a16="http://schemas.microsoft.com/office/drawing/2014/main" id="{EA9DE7EB-D99A-AE4C-8EA1-96ACAF35CE64}"/>
              </a:ext>
            </a:extLst>
          </p:cNvPr>
          <p:cNvSpPr>
            <a:spLocks noGrp="1"/>
          </p:cNvSpPr>
          <p:nvPr>
            <p:ph type="dt" sz="half" idx="10"/>
          </p:nvPr>
        </p:nvSpPr>
        <p:spPr/>
        <p:txBody>
          <a:bodyPr/>
          <a:lstStyle/>
          <a:p>
            <a:fld id="{A87074B7-E2ED-214E-82D8-F79A749FD95C}" type="datetime1">
              <a:rPr lang="en-US" altLang="en-US"/>
              <a:pPr/>
              <a:t>7/6/2026</a:t>
            </a:fld>
            <a:endParaRPr lang="en-US" altLang="en-US"/>
          </a:p>
        </p:txBody>
      </p:sp>
      <p:sp>
        <p:nvSpPr>
          <p:cNvPr id="9" name="Slide Number Placeholder 4">
            <a:extLst>
              <a:ext uri="{FF2B5EF4-FFF2-40B4-BE49-F238E27FC236}">
                <a16:creationId xmlns:a16="http://schemas.microsoft.com/office/drawing/2014/main" id="{C2FFEAFA-28AE-2C48-B8EE-CD7BDA789661}"/>
              </a:ext>
            </a:extLst>
          </p:cNvPr>
          <p:cNvSpPr>
            <a:spLocks noGrp="1"/>
          </p:cNvSpPr>
          <p:nvPr>
            <p:ph type="sldNum" sz="quarter" idx="12"/>
          </p:nvPr>
        </p:nvSpPr>
        <p:spPr/>
        <p:txBody>
          <a:bodyPr/>
          <a:lstStyle/>
          <a:p>
            <a:fld id="{E7B5C5D5-EE15-A14A-B9CD-0D4199DBC179}" type="slidenum">
              <a:rPr lang="en-US" altLang="en-US"/>
              <a:pPr/>
              <a:t>48</a:t>
            </a:fld>
            <a:endParaRPr lang="en-US" altLang="en-US"/>
          </a:p>
        </p:txBody>
      </p:sp>
      <p:sp>
        <p:nvSpPr>
          <p:cNvPr id="161805" name="Rectangle 13">
            <a:extLst>
              <a:ext uri="{FF2B5EF4-FFF2-40B4-BE49-F238E27FC236}">
                <a16:creationId xmlns:a16="http://schemas.microsoft.com/office/drawing/2014/main" id="{0F4F7755-FE30-D543-BC4E-92DFE7A5ED0B}"/>
              </a:ext>
            </a:extLst>
          </p:cNvPr>
          <p:cNvSpPr>
            <a:spLocks noChangeArrowheads="1"/>
          </p:cNvSpPr>
          <p:nvPr/>
        </p:nvSpPr>
        <p:spPr bwMode="auto">
          <a:xfrm>
            <a:off x="1579562" y="4043471"/>
            <a:ext cx="4122738"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20000"/>
              </a:spcBef>
            </a:pPr>
            <a:r>
              <a:rPr lang="en-US" altLang="en-US" dirty="0"/>
              <a:t>Rows </a:t>
            </a:r>
            <a:r>
              <a:rPr lang="en-US" altLang="en-US" dirty="0">
                <a:sym typeface="Symbol" pitchFamily="2" charset="2"/>
              </a:rPr>
              <a:t> </a:t>
            </a:r>
            <a:r>
              <a:rPr lang="en-US" altLang="en-US" i="1" dirty="0"/>
              <a:t>df</a:t>
            </a:r>
          </a:p>
          <a:p>
            <a:r>
              <a:rPr lang="en-US" altLang="en-US" dirty="0"/>
              <a:t>Columns </a:t>
            </a:r>
            <a:r>
              <a:rPr lang="en-US" altLang="en-US" dirty="0">
                <a:sym typeface="Symbol" pitchFamily="2" charset="2"/>
              </a:rPr>
              <a:t> probabilities</a:t>
            </a:r>
          </a:p>
          <a:p>
            <a:r>
              <a:rPr lang="en-US" altLang="en-US" dirty="0"/>
              <a:t>Entries </a:t>
            </a:r>
            <a:r>
              <a:rPr lang="en-US" altLang="en-US" dirty="0">
                <a:sym typeface="Symbol" pitchFamily="2" charset="2"/>
              </a:rPr>
              <a:t> </a:t>
            </a:r>
            <a:r>
              <a:rPr lang="en-US" altLang="en-US" i="1" dirty="0"/>
              <a:t>t </a:t>
            </a:r>
            <a:r>
              <a:rPr lang="en-US" altLang="en-US" dirty="0"/>
              <a:t>values</a:t>
            </a:r>
          </a:p>
        </p:txBody>
      </p:sp>
      <p:pic>
        <p:nvPicPr>
          <p:cNvPr id="161811" name="Picture 19">
            <a:extLst>
              <a:ext uri="{FF2B5EF4-FFF2-40B4-BE49-F238E27FC236}">
                <a16:creationId xmlns:a16="http://schemas.microsoft.com/office/drawing/2014/main" id="{F8CFA86B-6D1D-7C4F-8BC3-A8FEE5F7B7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5507" y="1361304"/>
            <a:ext cx="9256612" cy="2475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1812" name="Picture 20">
            <a:extLst>
              <a:ext uri="{FF2B5EF4-FFF2-40B4-BE49-F238E27FC236}">
                <a16:creationId xmlns:a16="http://schemas.microsoft.com/office/drawing/2014/main" id="{70833A56-F5CC-3646-8E30-D94631EE89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4130" y="4043471"/>
            <a:ext cx="3217863" cy="267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1813" name="Text Box 21">
            <a:extLst>
              <a:ext uri="{FF2B5EF4-FFF2-40B4-BE49-F238E27FC236}">
                <a16:creationId xmlns:a16="http://schemas.microsoft.com/office/drawing/2014/main" id="{4AC89065-8965-034F-A19F-E396A534DC0C}"/>
              </a:ext>
            </a:extLst>
          </p:cNvPr>
          <p:cNvSpPr txBox="1">
            <a:spLocks noChangeArrowheads="1"/>
          </p:cNvSpPr>
          <p:nvPr/>
        </p:nvSpPr>
        <p:spPr bwMode="auto">
          <a:xfrm>
            <a:off x="2012950" y="5154613"/>
            <a:ext cx="48831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Notation: </a:t>
            </a:r>
            <a:r>
              <a:rPr lang="en-US" altLang="en-US" i="1"/>
              <a:t>t</a:t>
            </a:r>
            <a:r>
              <a:rPr lang="en-US" altLang="en-US" baseline="-25000"/>
              <a:t>cum_prob,df</a:t>
            </a:r>
            <a:r>
              <a:rPr lang="en-US" altLang="en-US"/>
              <a:t> = </a:t>
            </a:r>
            <a:r>
              <a:rPr lang="en-US" altLang="en-US" i="1"/>
              <a:t>t</a:t>
            </a:r>
            <a:r>
              <a:rPr lang="en-US" altLang="en-US"/>
              <a:t> value</a:t>
            </a:r>
          </a:p>
        </p:txBody>
      </p:sp>
      <p:sp>
        <p:nvSpPr>
          <p:cNvPr id="161814" name="Text Box 22">
            <a:extLst>
              <a:ext uri="{FF2B5EF4-FFF2-40B4-BE49-F238E27FC236}">
                <a16:creationId xmlns:a16="http://schemas.microsoft.com/office/drawing/2014/main" id="{1F5FDBAF-24FB-D04E-B693-BB59B24A226A}"/>
              </a:ext>
            </a:extLst>
          </p:cNvPr>
          <p:cNvSpPr txBox="1">
            <a:spLocks noChangeArrowheads="1"/>
          </p:cNvSpPr>
          <p:nvPr/>
        </p:nvSpPr>
        <p:spPr bwMode="auto">
          <a:xfrm>
            <a:off x="2108200" y="5730875"/>
            <a:ext cx="48831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Example: </a:t>
            </a:r>
            <a:r>
              <a:rPr lang="en-US" altLang="en-US" i="1"/>
              <a:t>t</a:t>
            </a:r>
            <a:r>
              <a:rPr lang="en-US" altLang="en-US" baseline="-25000"/>
              <a:t>.975, 9</a:t>
            </a:r>
            <a:r>
              <a:rPr lang="en-US" altLang="en-US"/>
              <a:t> = 2.262</a:t>
            </a:r>
          </a:p>
        </p:txBody>
      </p:sp>
    </p:spTree>
    <p:extLst>
      <p:ext uri="{BB962C8B-B14F-4D97-AF65-F5344CB8AC3E}">
        <p14:creationId xmlns:p14="http://schemas.microsoft.com/office/powerpoint/2010/main" val="28974303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1805"/>
                                        </p:tgtEl>
                                        <p:attrNameLst>
                                          <p:attrName>style.visibility</p:attrName>
                                        </p:attrNameLst>
                                      </p:cBhvr>
                                      <p:to>
                                        <p:strVal val="visible"/>
                                      </p:to>
                                    </p:set>
                                    <p:animEffect transition="in" filter="blinds(horizontal)">
                                      <p:cBhvr>
                                        <p:cTn id="7" dur="500"/>
                                        <p:tgtEl>
                                          <p:spTgt spid="1618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1813"/>
                                        </p:tgtEl>
                                        <p:attrNameLst>
                                          <p:attrName>style.visibility</p:attrName>
                                        </p:attrNameLst>
                                      </p:cBhvr>
                                      <p:to>
                                        <p:strVal val="visible"/>
                                      </p:to>
                                    </p:set>
                                    <p:animEffect transition="in" filter="blinds(horizontal)">
                                      <p:cBhvr>
                                        <p:cTn id="12" dur="500"/>
                                        <p:tgtEl>
                                          <p:spTgt spid="1618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1814"/>
                                        </p:tgtEl>
                                        <p:attrNameLst>
                                          <p:attrName>style.visibility</p:attrName>
                                        </p:attrNameLst>
                                      </p:cBhvr>
                                      <p:to>
                                        <p:strVal val="visible"/>
                                      </p:to>
                                    </p:set>
                                    <p:animEffect transition="in" filter="blinds(horizontal)">
                                      <p:cBhvr>
                                        <p:cTn id="17" dur="500"/>
                                        <p:tgtEl>
                                          <p:spTgt spid="1618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61812"/>
                                        </p:tgtEl>
                                        <p:attrNameLst>
                                          <p:attrName>style.visibility</p:attrName>
                                        </p:attrNameLst>
                                      </p:cBhvr>
                                      <p:to>
                                        <p:strVal val="visible"/>
                                      </p:to>
                                    </p:set>
                                    <p:animEffect transition="in" filter="blinds(horizontal)">
                                      <p:cBhvr>
                                        <p:cTn id="22" dur="500"/>
                                        <p:tgtEl>
                                          <p:spTgt spid="161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805" grpId="0"/>
      <p:bldP spid="161813" grpId="0"/>
      <p:bldP spid="161814" grpId="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ABED8479-79D1-9E4C-9AE1-B976821E0BD8}"/>
              </a:ext>
            </a:extLst>
          </p:cNvPr>
          <p:cNvSpPr>
            <a:spLocks noGrp="1" noChangeArrowheads="1"/>
          </p:cNvSpPr>
          <p:nvPr>
            <p:ph type="title"/>
          </p:nvPr>
        </p:nvSpPr>
        <p:spPr/>
        <p:txBody>
          <a:bodyPr/>
          <a:lstStyle/>
          <a:p>
            <a:r>
              <a:rPr lang="en-US" altLang="en-US"/>
              <a:t>One-Sample </a:t>
            </a:r>
            <a:r>
              <a:rPr lang="en-US" altLang="en-US" i="1"/>
              <a:t>t</a:t>
            </a:r>
            <a:r>
              <a:rPr lang="en-US" altLang="en-US"/>
              <a:t> Test</a:t>
            </a:r>
          </a:p>
        </p:txBody>
      </p:sp>
      <p:sp>
        <p:nvSpPr>
          <p:cNvPr id="163844" name="Rectangle 4">
            <a:extLst>
              <a:ext uri="{FF2B5EF4-FFF2-40B4-BE49-F238E27FC236}">
                <a16:creationId xmlns:a16="http://schemas.microsoft.com/office/drawing/2014/main" id="{4B81B3CE-669D-5E48-967C-ED2F7F56D64E}"/>
              </a:ext>
            </a:extLst>
          </p:cNvPr>
          <p:cNvSpPr>
            <a:spLocks noGrp="1" noChangeArrowheads="1"/>
          </p:cNvSpPr>
          <p:nvPr>
            <p:ph sz="half" idx="1"/>
          </p:nvPr>
        </p:nvSpPr>
        <p:spPr>
          <a:xfrm>
            <a:off x="1905000" y="2484439"/>
            <a:ext cx="8478838" cy="3951287"/>
          </a:xfrm>
          <a:noFill/>
          <a:ln/>
        </p:spPr>
        <p:txBody>
          <a:bodyPr/>
          <a:lstStyle/>
          <a:p>
            <a:pPr marL="457200" indent="-457200">
              <a:buNone/>
            </a:pPr>
            <a:r>
              <a:rPr lang="en-US" altLang="en-US" sz="2800" b="1"/>
              <a:t>Objective</a:t>
            </a:r>
            <a:r>
              <a:rPr lang="en-US" altLang="en-US" sz="2800"/>
              <a:t>: test a claim about population mean µ</a:t>
            </a:r>
            <a:endParaRPr lang="en-US" altLang="en-US" sz="2800" baseline="-25000"/>
          </a:p>
          <a:p>
            <a:pPr marL="457200" indent="-457200">
              <a:buNone/>
            </a:pPr>
            <a:r>
              <a:rPr lang="en-US" altLang="en-US" sz="2800" b="1"/>
              <a:t>Conditions</a:t>
            </a:r>
            <a:r>
              <a:rPr lang="en-US" altLang="en-US" sz="2800"/>
              <a:t> :  </a:t>
            </a:r>
          </a:p>
          <a:p>
            <a:pPr marL="457200" indent="-457200"/>
            <a:r>
              <a:rPr lang="en-US" altLang="en-US" sz="2800"/>
              <a:t>Simple Random Sample </a:t>
            </a:r>
          </a:p>
          <a:p>
            <a:pPr marL="457200" indent="-457200"/>
            <a:r>
              <a:rPr lang="en-US" altLang="en-US" sz="2800"/>
              <a:t>Normal population </a:t>
            </a:r>
            <a:r>
              <a:rPr lang="en-US" altLang="en-US" sz="2800" i="1"/>
              <a:t>or</a:t>
            </a:r>
            <a:r>
              <a:rPr lang="en-US" altLang="en-US" sz="2800"/>
              <a:t> “large sample” </a:t>
            </a:r>
          </a:p>
        </p:txBody>
      </p:sp>
      <p:sp>
        <p:nvSpPr>
          <p:cNvPr id="5" name="Date Placeholder 4">
            <a:extLst>
              <a:ext uri="{FF2B5EF4-FFF2-40B4-BE49-F238E27FC236}">
                <a16:creationId xmlns:a16="http://schemas.microsoft.com/office/drawing/2014/main" id="{EDF0E43E-6327-0043-9210-61FC9949D512}"/>
              </a:ext>
            </a:extLst>
          </p:cNvPr>
          <p:cNvSpPr>
            <a:spLocks noGrp="1"/>
          </p:cNvSpPr>
          <p:nvPr>
            <p:ph type="dt" sz="half" idx="10"/>
          </p:nvPr>
        </p:nvSpPr>
        <p:spPr/>
        <p:txBody>
          <a:bodyPr/>
          <a:lstStyle/>
          <a:p>
            <a:fld id="{E8ACEBF9-B978-324A-8456-C25A9ACE140C}" type="datetime1">
              <a:rPr lang="en-US" altLang="en-US"/>
              <a:pPr/>
              <a:t>7/6/2026</a:t>
            </a:fld>
            <a:endParaRPr lang="en-US" altLang="en-US"/>
          </a:p>
        </p:txBody>
      </p:sp>
      <p:sp>
        <p:nvSpPr>
          <p:cNvPr id="6" name="Slide Number Placeholder 6">
            <a:extLst>
              <a:ext uri="{FF2B5EF4-FFF2-40B4-BE49-F238E27FC236}">
                <a16:creationId xmlns:a16="http://schemas.microsoft.com/office/drawing/2014/main" id="{6F151079-A4D0-9448-9367-493E2DED7ACA}"/>
              </a:ext>
            </a:extLst>
          </p:cNvPr>
          <p:cNvSpPr>
            <a:spLocks noGrp="1"/>
          </p:cNvSpPr>
          <p:nvPr>
            <p:ph type="sldNum" sz="quarter" idx="12"/>
          </p:nvPr>
        </p:nvSpPr>
        <p:spPr/>
        <p:txBody>
          <a:bodyPr/>
          <a:lstStyle/>
          <a:p>
            <a:fld id="{4BC55086-D2D9-E74C-9728-BF2B650D41EC}" type="slidenum">
              <a:rPr lang="en-US" altLang="en-US"/>
              <a:pPr/>
              <a:t>49</a:t>
            </a:fld>
            <a:endParaRPr lang="en-US" altLang="en-US"/>
          </a:p>
        </p:txBody>
      </p:sp>
    </p:spTree>
    <p:extLst>
      <p:ext uri="{BB962C8B-B14F-4D97-AF65-F5344CB8AC3E}">
        <p14:creationId xmlns:p14="http://schemas.microsoft.com/office/powerpoint/2010/main" val="29408209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3844">
                                            <p:txEl>
                                              <p:pRg st="0" end="0"/>
                                            </p:txEl>
                                          </p:spTgt>
                                        </p:tgtEl>
                                        <p:attrNameLst>
                                          <p:attrName>style.visibility</p:attrName>
                                        </p:attrNameLst>
                                      </p:cBhvr>
                                      <p:to>
                                        <p:strVal val="visible"/>
                                      </p:to>
                                    </p:set>
                                    <p:animEffect transition="in" filter="fade">
                                      <p:cBhvr>
                                        <p:cTn id="7" dur="1000"/>
                                        <p:tgtEl>
                                          <p:spTgt spid="163844">
                                            <p:txEl>
                                              <p:pRg st="0" end="0"/>
                                            </p:txEl>
                                          </p:spTgt>
                                        </p:tgtEl>
                                      </p:cBhvr>
                                    </p:animEffect>
                                    <p:anim calcmode="lin" valueType="num">
                                      <p:cBhvr>
                                        <p:cTn id="8" dur="1000" fill="hold"/>
                                        <p:tgtEl>
                                          <p:spTgt spid="16384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384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63844">
                                            <p:txEl>
                                              <p:pRg st="1" end="1"/>
                                            </p:txEl>
                                          </p:spTgt>
                                        </p:tgtEl>
                                        <p:attrNameLst>
                                          <p:attrName>style.visibility</p:attrName>
                                        </p:attrNameLst>
                                      </p:cBhvr>
                                      <p:to>
                                        <p:strVal val="visible"/>
                                      </p:to>
                                    </p:set>
                                    <p:animEffect transition="in" filter="fade">
                                      <p:cBhvr>
                                        <p:cTn id="14" dur="1000"/>
                                        <p:tgtEl>
                                          <p:spTgt spid="163844">
                                            <p:txEl>
                                              <p:pRg st="1" end="1"/>
                                            </p:txEl>
                                          </p:spTgt>
                                        </p:tgtEl>
                                      </p:cBhvr>
                                    </p:animEffect>
                                    <p:anim calcmode="lin" valueType="num">
                                      <p:cBhvr>
                                        <p:cTn id="15" dur="1000" fill="hold"/>
                                        <p:tgtEl>
                                          <p:spTgt spid="16384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6384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63844">
                                            <p:txEl>
                                              <p:pRg st="2" end="2"/>
                                            </p:txEl>
                                          </p:spTgt>
                                        </p:tgtEl>
                                        <p:attrNameLst>
                                          <p:attrName>style.visibility</p:attrName>
                                        </p:attrNameLst>
                                      </p:cBhvr>
                                      <p:to>
                                        <p:strVal val="visible"/>
                                      </p:to>
                                    </p:set>
                                    <p:animEffect transition="in" filter="fade">
                                      <p:cBhvr>
                                        <p:cTn id="21" dur="1000"/>
                                        <p:tgtEl>
                                          <p:spTgt spid="163844">
                                            <p:txEl>
                                              <p:pRg st="2" end="2"/>
                                            </p:txEl>
                                          </p:spTgt>
                                        </p:tgtEl>
                                      </p:cBhvr>
                                    </p:animEffect>
                                    <p:anim calcmode="lin" valueType="num">
                                      <p:cBhvr>
                                        <p:cTn id="22" dur="1000" fill="hold"/>
                                        <p:tgtEl>
                                          <p:spTgt spid="16384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6384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63844">
                                            <p:txEl>
                                              <p:pRg st="3" end="3"/>
                                            </p:txEl>
                                          </p:spTgt>
                                        </p:tgtEl>
                                        <p:attrNameLst>
                                          <p:attrName>style.visibility</p:attrName>
                                        </p:attrNameLst>
                                      </p:cBhvr>
                                      <p:to>
                                        <p:strVal val="visible"/>
                                      </p:to>
                                    </p:set>
                                    <p:animEffect transition="in" filter="fade">
                                      <p:cBhvr>
                                        <p:cTn id="28" dur="1000"/>
                                        <p:tgtEl>
                                          <p:spTgt spid="163844">
                                            <p:txEl>
                                              <p:pRg st="3" end="3"/>
                                            </p:txEl>
                                          </p:spTgt>
                                        </p:tgtEl>
                                      </p:cBhvr>
                                    </p:animEffect>
                                    <p:anim calcmode="lin" valueType="num">
                                      <p:cBhvr>
                                        <p:cTn id="29" dur="1000" fill="hold"/>
                                        <p:tgtEl>
                                          <p:spTgt spid="16384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6384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4" grpId="0" build="p"/>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5394" name="Rectangle 2">
            <a:extLst>
              <a:ext uri="{FF2B5EF4-FFF2-40B4-BE49-F238E27FC236}">
                <a16:creationId xmlns:a16="http://schemas.microsoft.com/office/drawing/2014/main" id="{DE3F4B3B-8E95-F142-B595-9AA838FB794D}"/>
              </a:ext>
            </a:extLst>
          </p:cNvPr>
          <p:cNvSpPr>
            <a:spLocks noGrp="1" noChangeArrowheads="1"/>
          </p:cNvSpPr>
          <p:nvPr>
            <p:ph type="title"/>
          </p:nvPr>
        </p:nvSpPr>
        <p:spPr>
          <a:xfrm>
            <a:off x="1219200" y="397671"/>
            <a:ext cx="10972800" cy="1143000"/>
          </a:xfrm>
        </p:spPr>
        <p:txBody>
          <a:bodyPr/>
          <a:lstStyle/>
          <a:p>
            <a:r>
              <a:rPr lang="en-US" altLang="en-US" sz="4800" dirty="0"/>
              <a:t>Hypothesis Statements</a:t>
            </a:r>
          </a:p>
        </p:txBody>
      </p:sp>
      <p:sp>
        <p:nvSpPr>
          <p:cNvPr id="315395" name="Rectangle 3">
            <a:extLst>
              <a:ext uri="{FF2B5EF4-FFF2-40B4-BE49-F238E27FC236}">
                <a16:creationId xmlns:a16="http://schemas.microsoft.com/office/drawing/2014/main" id="{D3D2537E-34F4-4244-91B8-BB2A4DC2303D}"/>
              </a:ext>
            </a:extLst>
          </p:cNvPr>
          <p:cNvSpPr>
            <a:spLocks noGrp="1" noChangeArrowheads="1"/>
          </p:cNvSpPr>
          <p:nvPr>
            <p:ph type="body" sz="half" idx="1"/>
          </p:nvPr>
        </p:nvSpPr>
        <p:spPr>
          <a:noFill/>
          <a:ln/>
        </p:spPr>
        <p:txBody>
          <a:bodyPr/>
          <a:lstStyle/>
          <a:p>
            <a:pPr marL="457200" indent="-457200"/>
            <a:r>
              <a:rPr lang="en-US" altLang="en-US" sz="2400" b="1"/>
              <a:t>Null hypothesis</a:t>
            </a:r>
            <a:r>
              <a:rPr lang="en-US" altLang="en-US" sz="2400"/>
              <a:t> </a:t>
            </a:r>
            <a:br>
              <a:rPr lang="en-US" altLang="en-US" sz="2400"/>
            </a:br>
            <a:r>
              <a:rPr lang="en-US" altLang="en-US" sz="2400" i="1"/>
              <a:t>H</a:t>
            </a:r>
            <a:r>
              <a:rPr lang="en-US" altLang="en-US" sz="2400" baseline="-25000"/>
              <a:t>0</a:t>
            </a:r>
            <a:r>
              <a:rPr lang="en-US" altLang="en-US" sz="2400"/>
              <a:t>: µ = µ</a:t>
            </a:r>
            <a:r>
              <a:rPr lang="en-US" altLang="en-US" sz="2400" baseline="-25000"/>
              <a:t>0</a:t>
            </a:r>
            <a:r>
              <a:rPr lang="en-US" altLang="en-US" sz="2400"/>
              <a:t> </a:t>
            </a:r>
          </a:p>
          <a:p>
            <a:pPr marL="457200" indent="-457200">
              <a:buNone/>
            </a:pPr>
            <a:r>
              <a:rPr lang="en-US" altLang="en-US" sz="2400"/>
              <a:t>	where µ</a:t>
            </a:r>
            <a:r>
              <a:rPr lang="en-US" altLang="en-US" sz="2400" baseline="-25000"/>
              <a:t>0</a:t>
            </a:r>
            <a:r>
              <a:rPr lang="en-US" altLang="en-US" sz="2400"/>
              <a:t> represents the pop. mean expected by the null hypothesis</a:t>
            </a:r>
            <a:br>
              <a:rPr lang="en-US" altLang="en-US" sz="2400"/>
            </a:br>
            <a:endParaRPr lang="en-US" altLang="en-US" sz="2400"/>
          </a:p>
          <a:p>
            <a:pPr marL="457200" indent="-457200"/>
            <a:r>
              <a:rPr lang="en-US" altLang="en-US" sz="2400" b="1"/>
              <a:t>Alternative hypotheses</a:t>
            </a:r>
          </a:p>
          <a:p>
            <a:pPr marL="457200" indent="-457200">
              <a:buNone/>
            </a:pPr>
            <a:r>
              <a:rPr lang="en-US" altLang="en-US" sz="2400"/>
              <a:t>	</a:t>
            </a:r>
            <a:r>
              <a:rPr lang="en-US" altLang="en-US" sz="2400" i="1"/>
              <a:t>H</a:t>
            </a:r>
            <a:r>
              <a:rPr lang="en-US" altLang="en-US" sz="2400" baseline="-25000"/>
              <a:t>a</a:t>
            </a:r>
            <a:r>
              <a:rPr lang="en-US" altLang="en-US" sz="2400"/>
              <a:t>: µ &lt; µ</a:t>
            </a:r>
            <a:r>
              <a:rPr lang="en-US" altLang="en-US" sz="2400" baseline="-25000"/>
              <a:t>0</a:t>
            </a:r>
            <a:r>
              <a:rPr lang="en-US" altLang="en-US" sz="2400"/>
              <a:t> </a:t>
            </a:r>
            <a:r>
              <a:rPr lang="en-US" altLang="en-US"/>
              <a:t>(one-sided, left)</a:t>
            </a:r>
          </a:p>
          <a:p>
            <a:pPr marL="457200" indent="-457200">
              <a:buNone/>
            </a:pPr>
            <a:r>
              <a:rPr lang="en-US" altLang="en-US" sz="2400" i="1"/>
              <a:t>	H</a:t>
            </a:r>
            <a:r>
              <a:rPr lang="en-US" altLang="en-US" sz="2400" baseline="-25000"/>
              <a:t>a</a:t>
            </a:r>
            <a:r>
              <a:rPr lang="en-US" altLang="en-US" sz="2400"/>
              <a:t>: µ &gt; µ</a:t>
            </a:r>
            <a:r>
              <a:rPr lang="en-US" altLang="en-US" sz="2400" baseline="-25000"/>
              <a:t>0 </a:t>
            </a:r>
            <a:r>
              <a:rPr lang="en-US" altLang="en-US"/>
              <a:t>(one-sided, right) </a:t>
            </a:r>
          </a:p>
          <a:p>
            <a:pPr marL="457200" indent="-457200">
              <a:buNone/>
            </a:pPr>
            <a:r>
              <a:rPr lang="en-US" altLang="en-US" sz="2400" i="1"/>
              <a:t>	H</a:t>
            </a:r>
            <a:r>
              <a:rPr lang="en-US" altLang="en-US" sz="2400" baseline="-25000"/>
              <a:t>a</a:t>
            </a:r>
            <a:r>
              <a:rPr lang="en-US" altLang="en-US" sz="2400"/>
              <a:t>: µ </a:t>
            </a:r>
            <a:r>
              <a:rPr lang="en-US" altLang="en-US" sz="2400">
                <a:cs typeface="Arial" panose="020B0604020202020204" pitchFamily="34" charset="0"/>
              </a:rPr>
              <a:t>≠</a:t>
            </a:r>
            <a:r>
              <a:rPr lang="en-US" altLang="en-US" sz="2400"/>
              <a:t> µ</a:t>
            </a:r>
            <a:r>
              <a:rPr lang="en-US" altLang="en-US" sz="2400" baseline="-25000"/>
              <a:t>0 </a:t>
            </a:r>
            <a:r>
              <a:rPr lang="en-US" altLang="en-US"/>
              <a:t>(two-sided)</a:t>
            </a:r>
            <a:r>
              <a:rPr lang="en-US" altLang="en-US" sz="2400"/>
              <a:t> </a:t>
            </a:r>
          </a:p>
        </p:txBody>
      </p:sp>
      <p:pic>
        <p:nvPicPr>
          <p:cNvPr id="315399" name="Picture 7">
            <a:extLst>
              <a:ext uri="{FF2B5EF4-FFF2-40B4-BE49-F238E27FC236}">
                <a16:creationId xmlns:a16="http://schemas.microsoft.com/office/drawing/2014/main" id="{E87616DA-54E4-9743-B857-F1132F45C6FC}"/>
              </a:ext>
            </a:extLst>
          </p:cNvPr>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a:xfrm>
            <a:off x="6710364" y="1600201"/>
            <a:ext cx="3017837" cy="45259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Date Placeholder 4">
            <a:extLst>
              <a:ext uri="{FF2B5EF4-FFF2-40B4-BE49-F238E27FC236}">
                <a16:creationId xmlns:a16="http://schemas.microsoft.com/office/drawing/2014/main" id="{38DA25D8-2144-D94E-A8C5-095247970184}"/>
              </a:ext>
            </a:extLst>
          </p:cNvPr>
          <p:cNvSpPr>
            <a:spLocks noGrp="1"/>
          </p:cNvSpPr>
          <p:nvPr>
            <p:ph type="dt" sz="half" idx="10"/>
          </p:nvPr>
        </p:nvSpPr>
        <p:spPr/>
        <p:txBody>
          <a:bodyPr/>
          <a:lstStyle/>
          <a:p>
            <a:fld id="{EDA6C4A4-3D3D-D146-81B1-A9D038BC374C}" type="datetime1">
              <a:rPr lang="en-US" altLang="en-US"/>
              <a:pPr/>
              <a:t>7/6/2026</a:t>
            </a:fld>
            <a:endParaRPr lang="en-US" altLang="en-US"/>
          </a:p>
        </p:txBody>
      </p:sp>
      <p:sp>
        <p:nvSpPr>
          <p:cNvPr id="6" name="Slide Number Placeholder 6">
            <a:extLst>
              <a:ext uri="{FF2B5EF4-FFF2-40B4-BE49-F238E27FC236}">
                <a16:creationId xmlns:a16="http://schemas.microsoft.com/office/drawing/2014/main" id="{68D0E51D-F947-454F-8C04-6AA32FAA4D90}"/>
              </a:ext>
            </a:extLst>
          </p:cNvPr>
          <p:cNvSpPr>
            <a:spLocks noGrp="1"/>
          </p:cNvSpPr>
          <p:nvPr>
            <p:ph type="sldNum" sz="quarter" idx="12"/>
          </p:nvPr>
        </p:nvSpPr>
        <p:spPr/>
        <p:txBody>
          <a:bodyPr/>
          <a:lstStyle/>
          <a:p>
            <a:fld id="{C9C608E1-11EE-FD41-ABE3-C5AB2270A4D2}" type="slidenum">
              <a:rPr lang="en-US" altLang="en-US"/>
              <a:pPr/>
              <a:t>50</a:t>
            </a:fld>
            <a:endParaRPr lang="en-US" altLang="en-US"/>
          </a:p>
        </p:txBody>
      </p:sp>
    </p:spTree>
    <p:extLst>
      <p:ext uri="{BB962C8B-B14F-4D97-AF65-F5344CB8AC3E}">
        <p14:creationId xmlns:p14="http://schemas.microsoft.com/office/powerpoint/2010/main" val="32645846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5395">
                                            <p:txEl>
                                              <p:pRg st="0" end="0"/>
                                            </p:txEl>
                                          </p:spTgt>
                                        </p:tgtEl>
                                        <p:attrNameLst>
                                          <p:attrName>style.visibility</p:attrName>
                                        </p:attrNameLst>
                                      </p:cBhvr>
                                      <p:to>
                                        <p:strVal val="visible"/>
                                      </p:to>
                                    </p:set>
                                    <p:animEffect transition="in" filter="fade">
                                      <p:cBhvr>
                                        <p:cTn id="7" dur="1000"/>
                                        <p:tgtEl>
                                          <p:spTgt spid="315395">
                                            <p:txEl>
                                              <p:pRg st="0" end="0"/>
                                            </p:txEl>
                                          </p:spTgt>
                                        </p:tgtEl>
                                      </p:cBhvr>
                                    </p:animEffect>
                                    <p:anim calcmode="lin" valueType="num">
                                      <p:cBhvr>
                                        <p:cTn id="8" dur="1000" fill="hold"/>
                                        <p:tgtEl>
                                          <p:spTgt spid="3153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153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15395">
                                            <p:txEl>
                                              <p:pRg st="1" end="1"/>
                                            </p:txEl>
                                          </p:spTgt>
                                        </p:tgtEl>
                                        <p:attrNameLst>
                                          <p:attrName>style.visibility</p:attrName>
                                        </p:attrNameLst>
                                      </p:cBhvr>
                                      <p:to>
                                        <p:strVal val="visible"/>
                                      </p:to>
                                    </p:set>
                                    <p:animEffect transition="in" filter="fade">
                                      <p:cBhvr>
                                        <p:cTn id="14" dur="1000"/>
                                        <p:tgtEl>
                                          <p:spTgt spid="315395">
                                            <p:txEl>
                                              <p:pRg st="1" end="1"/>
                                            </p:txEl>
                                          </p:spTgt>
                                        </p:tgtEl>
                                      </p:cBhvr>
                                    </p:animEffect>
                                    <p:anim calcmode="lin" valueType="num">
                                      <p:cBhvr>
                                        <p:cTn id="15" dur="1000" fill="hold"/>
                                        <p:tgtEl>
                                          <p:spTgt spid="31539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1539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15395">
                                            <p:txEl>
                                              <p:pRg st="2" end="2"/>
                                            </p:txEl>
                                          </p:spTgt>
                                        </p:tgtEl>
                                        <p:attrNameLst>
                                          <p:attrName>style.visibility</p:attrName>
                                        </p:attrNameLst>
                                      </p:cBhvr>
                                      <p:to>
                                        <p:strVal val="visible"/>
                                      </p:to>
                                    </p:set>
                                    <p:animEffect transition="in" filter="fade">
                                      <p:cBhvr>
                                        <p:cTn id="21" dur="1000"/>
                                        <p:tgtEl>
                                          <p:spTgt spid="315395">
                                            <p:txEl>
                                              <p:pRg st="2" end="2"/>
                                            </p:txEl>
                                          </p:spTgt>
                                        </p:tgtEl>
                                      </p:cBhvr>
                                    </p:animEffect>
                                    <p:anim calcmode="lin" valueType="num">
                                      <p:cBhvr>
                                        <p:cTn id="22" dur="1000" fill="hold"/>
                                        <p:tgtEl>
                                          <p:spTgt spid="31539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1539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15395">
                                            <p:txEl>
                                              <p:pRg st="3" end="3"/>
                                            </p:txEl>
                                          </p:spTgt>
                                        </p:tgtEl>
                                        <p:attrNameLst>
                                          <p:attrName>style.visibility</p:attrName>
                                        </p:attrNameLst>
                                      </p:cBhvr>
                                      <p:to>
                                        <p:strVal val="visible"/>
                                      </p:to>
                                    </p:set>
                                    <p:animEffect transition="in" filter="fade">
                                      <p:cBhvr>
                                        <p:cTn id="28" dur="1000"/>
                                        <p:tgtEl>
                                          <p:spTgt spid="315395">
                                            <p:txEl>
                                              <p:pRg st="3" end="3"/>
                                            </p:txEl>
                                          </p:spTgt>
                                        </p:tgtEl>
                                      </p:cBhvr>
                                    </p:animEffect>
                                    <p:anim calcmode="lin" valueType="num">
                                      <p:cBhvr>
                                        <p:cTn id="29" dur="1000" fill="hold"/>
                                        <p:tgtEl>
                                          <p:spTgt spid="31539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1539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15395">
                                            <p:txEl>
                                              <p:pRg st="4" end="4"/>
                                            </p:txEl>
                                          </p:spTgt>
                                        </p:tgtEl>
                                        <p:attrNameLst>
                                          <p:attrName>style.visibility</p:attrName>
                                        </p:attrNameLst>
                                      </p:cBhvr>
                                      <p:to>
                                        <p:strVal val="visible"/>
                                      </p:to>
                                    </p:set>
                                    <p:animEffect transition="in" filter="fade">
                                      <p:cBhvr>
                                        <p:cTn id="35" dur="1000"/>
                                        <p:tgtEl>
                                          <p:spTgt spid="315395">
                                            <p:txEl>
                                              <p:pRg st="4" end="4"/>
                                            </p:txEl>
                                          </p:spTgt>
                                        </p:tgtEl>
                                      </p:cBhvr>
                                    </p:animEffect>
                                    <p:anim calcmode="lin" valueType="num">
                                      <p:cBhvr>
                                        <p:cTn id="36" dur="1000" fill="hold"/>
                                        <p:tgtEl>
                                          <p:spTgt spid="315395">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1539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15395">
                                            <p:txEl>
                                              <p:pRg st="5" end="5"/>
                                            </p:txEl>
                                          </p:spTgt>
                                        </p:tgtEl>
                                        <p:attrNameLst>
                                          <p:attrName>style.visibility</p:attrName>
                                        </p:attrNameLst>
                                      </p:cBhvr>
                                      <p:to>
                                        <p:strVal val="visible"/>
                                      </p:to>
                                    </p:set>
                                    <p:animEffect transition="in" filter="fade">
                                      <p:cBhvr>
                                        <p:cTn id="42" dur="1000"/>
                                        <p:tgtEl>
                                          <p:spTgt spid="315395">
                                            <p:txEl>
                                              <p:pRg st="5" end="5"/>
                                            </p:txEl>
                                          </p:spTgt>
                                        </p:tgtEl>
                                      </p:cBhvr>
                                    </p:animEffect>
                                    <p:anim calcmode="lin" valueType="num">
                                      <p:cBhvr>
                                        <p:cTn id="43" dur="1000" fill="hold"/>
                                        <p:tgtEl>
                                          <p:spTgt spid="315395">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1539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5" grpId="0" build="p"/>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679FD9D6-03CE-4E43-B38E-E3798B727E7F}"/>
              </a:ext>
            </a:extLst>
          </p:cNvPr>
          <p:cNvSpPr>
            <a:spLocks noGrp="1" noChangeArrowheads="1"/>
          </p:cNvSpPr>
          <p:nvPr>
            <p:ph type="title"/>
          </p:nvPr>
        </p:nvSpPr>
        <p:spPr>
          <a:xfrm>
            <a:off x="1378665" y="616907"/>
            <a:ext cx="10972800" cy="1143000"/>
          </a:xfrm>
        </p:spPr>
        <p:txBody>
          <a:bodyPr/>
          <a:lstStyle/>
          <a:p>
            <a:r>
              <a:rPr lang="en-US" altLang="en-US"/>
              <a:t>Example</a:t>
            </a:r>
          </a:p>
        </p:txBody>
      </p:sp>
      <p:sp>
        <p:nvSpPr>
          <p:cNvPr id="165895" name="Rectangle 7">
            <a:extLst>
              <a:ext uri="{FF2B5EF4-FFF2-40B4-BE49-F238E27FC236}">
                <a16:creationId xmlns:a16="http://schemas.microsoft.com/office/drawing/2014/main" id="{426CAF3A-7784-A246-8917-2519CF31D0D2}"/>
              </a:ext>
            </a:extLst>
          </p:cNvPr>
          <p:cNvSpPr>
            <a:spLocks noGrp="1" noChangeArrowheads="1"/>
          </p:cNvSpPr>
          <p:nvPr>
            <p:ph type="body" sz="half" idx="1"/>
          </p:nvPr>
        </p:nvSpPr>
        <p:spPr>
          <a:xfrm>
            <a:off x="1112217" y="1957387"/>
            <a:ext cx="9067296" cy="4525963"/>
          </a:xfrm>
        </p:spPr>
        <p:txBody>
          <a:bodyPr/>
          <a:lstStyle/>
          <a:p>
            <a:pPr>
              <a:lnSpc>
                <a:spcPct val="90000"/>
              </a:lnSpc>
            </a:pPr>
            <a:r>
              <a:rPr lang="en-US" altLang="en-US" sz="2800" dirty="0"/>
              <a:t>Do SIDS babies have lower average birth weights than a general population mean µ of 3300 </a:t>
            </a:r>
            <a:r>
              <a:rPr lang="en-US" altLang="en-US" sz="2800" dirty="0" err="1"/>
              <a:t>gms</a:t>
            </a:r>
            <a:r>
              <a:rPr lang="en-US" altLang="en-US" sz="2800" dirty="0"/>
              <a:t>? </a:t>
            </a:r>
          </a:p>
          <a:p>
            <a:pPr>
              <a:lnSpc>
                <a:spcPct val="90000"/>
              </a:lnSpc>
            </a:pPr>
            <a:r>
              <a:rPr lang="en-US" altLang="en-US" sz="2800" i="1" dirty="0"/>
              <a:t>H</a:t>
            </a:r>
            <a:r>
              <a:rPr lang="en-US" altLang="en-US" sz="2800" baseline="-25000" dirty="0"/>
              <a:t>0</a:t>
            </a:r>
            <a:r>
              <a:rPr lang="en-US" altLang="en-US" sz="2800" dirty="0"/>
              <a:t>: µ = 3300</a:t>
            </a:r>
          </a:p>
          <a:p>
            <a:pPr>
              <a:lnSpc>
                <a:spcPct val="90000"/>
              </a:lnSpc>
            </a:pPr>
            <a:r>
              <a:rPr lang="en-US" altLang="en-US" sz="2800" i="1" dirty="0"/>
              <a:t>H</a:t>
            </a:r>
            <a:r>
              <a:rPr lang="en-US" altLang="en-US" sz="2800" baseline="-25000" dirty="0"/>
              <a:t>a</a:t>
            </a:r>
            <a:r>
              <a:rPr lang="en-US" altLang="en-US" sz="2800" dirty="0"/>
              <a:t>: µ </a:t>
            </a:r>
            <a:r>
              <a:rPr lang="en-US" altLang="en-US" sz="2800" dirty="0">
                <a:cs typeface="Arial" panose="020B0604020202020204" pitchFamily="34" charset="0"/>
              </a:rPr>
              <a:t>&lt;</a:t>
            </a:r>
            <a:r>
              <a:rPr lang="en-US" altLang="en-US" sz="2800" dirty="0"/>
              <a:t> 3300 (one-sided)</a:t>
            </a:r>
            <a:r>
              <a:rPr lang="en-US" altLang="en-US" sz="2800" i="1" dirty="0"/>
              <a:t> or </a:t>
            </a:r>
            <a:br>
              <a:rPr lang="en-US" altLang="en-US" sz="2800" i="1" dirty="0"/>
            </a:br>
            <a:r>
              <a:rPr lang="en-US" altLang="en-US" sz="2800" i="1" dirty="0"/>
              <a:t>H</a:t>
            </a:r>
            <a:r>
              <a:rPr lang="en-US" altLang="en-US" sz="2800" baseline="-25000" dirty="0"/>
              <a:t>a</a:t>
            </a:r>
            <a:r>
              <a:rPr lang="en-US" altLang="en-US" sz="2800" dirty="0"/>
              <a:t>: µ </a:t>
            </a:r>
            <a:r>
              <a:rPr lang="en-US" altLang="en-US" sz="2800" dirty="0">
                <a:cs typeface="Arial" panose="020B0604020202020204" pitchFamily="34" charset="0"/>
              </a:rPr>
              <a:t>≠</a:t>
            </a:r>
            <a:r>
              <a:rPr lang="en-US" altLang="en-US" sz="2800" dirty="0"/>
              <a:t> 3300 (two-sided)</a:t>
            </a:r>
          </a:p>
        </p:txBody>
      </p:sp>
      <p:pic>
        <p:nvPicPr>
          <p:cNvPr id="165896" name="Picture 8">
            <a:extLst>
              <a:ext uri="{FF2B5EF4-FFF2-40B4-BE49-F238E27FC236}">
                <a16:creationId xmlns:a16="http://schemas.microsoft.com/office/drawing/2014/main" id="{6A669A8D-7DB7-5E43-BA48-9845C58B280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a:xfrm>
            <a:off x="7806221" y="3012756"/>
            <a:ext cx="2857899" cy="2209524"/>
          </a:xfrm>
        </p:spPr>
      </p:pic>
      <p:sp>
        <p:nvSpPr>
          <p:cNvPr id="5" name="Date Placeholder 4">
            <a:extLst>
              <a:ext uri="{FF2B5EF4-FFF2-40B4-BE49-F238E27FC236}">
                <a16:creationId xmlns:a16="http://schemas.microsoft.com/office/drawing/2014/main" id="{1120E964-526D-EA4D-9377-6BBCF0B0F722}"/>
              </a:ext>
            </a:extLst>
          </p:cNvPr>
          <p:cNvSpPr>
            <a:spLocks noGrp="1"/>
          </p:cNvSpPr>
          <p:nvPr>
            <p:ph type="dt" sz="half" idx="10"/>
          </p:nvPr>
        </p:nvSpPr>
        <p:spPr/>
        <p:txBody>
          <a:bodyPr/>
          <a:lstStyle/>
          <a:p>
            <a:fld id="{3E4800AA-8A99-1844-9E6A-7AE3CF0543C0}" type="datetime1">
              <a:rPr lang="en-US" altLang="en-US"/>
              <a:pPr/>
              <a:t>7/6/2026</a:t>
            </a:fld>
            <a:endParaRPr lang="en-US" altLang="en-US"/>
          </a:p>
        </p:txBody>
      </p:sp>
      <p:sp>
        <p:nvSpPr>
          <p:cNvPr id="6" name="Slide Number Placeholder 6">
            <a:extLst>
              <a:ext uri="{FF2B5EF4-FFF2-40B4-BE49-F238E27FC236}">
                <a16:creationId xmlns:a16="http://schemas.microsoft.com/office/drawing/2014/main" id="{7CB4D41E-6A10-2A49-A9EE-CE2827A3B3AB}"/>
              </a:ext>
            </a:extLst>
          </p:cNvPr>
          <p:cNvSpPr>
            <a:spLocks noGrp="1"/>
          </p:cNvSpPr>
          <p:nvPr>
            <p:ph type="sldNum" sz="quarter" idx="12"/>
          </p:nvPr>
        </p:nvSpPr>
        <p:spPr/>
        <p:txBody>
          <a:bodyPr/>
          <a:lstStyle/>
          <a:p>
            <a:fld id="{EAE5795D-8EE1-AF44-9C63-549DBC96F13C}" type="slidenum">
              <a:rPr lang="en-US" altLang="en-US"/>
              <a:pPr/>
              <a:t>51</a:t>
            </a:fld>
            <a:endParaRPr lang="en-US" altLang="en-US"/>
          </a:p>
        </p:txBody>
      </p:sp>
    </p:spTree>
    <p:extLst>
      <p:ext uri="{BB962C8B-B14F-4D97-AF65-F5344CB8AC3E}">
        <p14:creationId xmlns:p14="http://schemas.microsoft.com/office/powerpoint/2010/main" val="28633305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5895">
                                            <p:txEl>
                                              <p:pRg st="0" end="0"/>
                                            </p:txEl>
                                          </p:spTgt>
                                        </p:tgtEl>
                                        <p:attrNameLst>
                                          <p:attrName>style.visibility</p:attrName>
                                        </p:attrNameLst>
                                      </p:cBhvr>
                                      <p:to>
                                        <p:strVal val="visible"/>
                                      </p:to>
                                    </p:set>
                                    <p:animEffect transition="in" filter="fade">
                                      <p:cBhvr>
                                        <p:cTn id="7" dur="1000"/>
                                        <p:tgtEl>
                                          <p:spTgt spid="165895">
                                            <p:txEl>
                                              <p:pRg st="0" end="0"/>
                                            </p:txEl>
                                          </p:spTgt>
                                        </p:tgtEl>
                                      </p:cBhvr>
                                    </p:animEffect>
                                    <p:anim calcmode="lin" valueType="num">
                                      <p:cBhvr>
                                        <p:cTn id="8" dur="1000" fill="hold"/>
                                        <p:tgtEl>
                                          <p:spTgt spid="1658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58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65895">
                                            <p:txEl>
                                              <p:pRg st="1" end="1"/>
                                            </p:txEl>
                                          </p:spTgt>
                                        </p:tgtEl>
                                        <p:attrNameLst>
                                          <p:attrName>style.visibility</p:attrName>
                                        </p:attrNameLst>
                                      </p:cBhvr>
                                      <p:to>
                                        <p:strVal val="visible"/>
                                      </p:to>
                                    </p:set>
                                    <p:animEffect transition="in" filter="fade">
                                      <p:cBhvr>
                                        <p:cTn id="14" dur="1000"/>
                                        <p:tgtEl>
                                          <p:spTgt spid="165895">
                                            <p:txEl>
                                              <p:pRg st="1" end="1"/>
                                            </p:txEl>
                                          </p:spTgt>
                                        </p:tgtEl>
                                      </p:cBhvr>
                                    </p:animEffect>
                                    <p:anim calcmode="lin" valueType="num">
                                      <p:cBhvr>
                                        <p:cTn id="15" dur="1000" fill="hold"/>
                                        <p:tgtEl>
                                          <p:spTgt spid="16589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6589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65895">
                                            <p:txEl>
                                              <p:pRg st="2" end="2"/>
                                            </p:txEl>
                                          </p:spTgt>
                                        </p:tgtEl>
                                        <p:attrNameLst>
                                          <p:attrName>style.visibility</p:attrName>
                                        </p:attrNameLst>
                                      </p:cBhvr>
                                      <p:to>
                                        <p:strVal val="visible"/>
                                      </p:to>
                                    </p:set>
                                    <p:animEffect transition="in" filter="fade">
                                      <p:cBhvr>
                                        <p:cTn id="21" dur="1000"/>
                                        <p:tgtEl>
                                          <p:spTgt spid="165895">
                                            <p:txEl>
                                              <p:pRg st="2" end="2"/>
                                            </p:txEl>
                                          </p:spTgt>
                                        </p:tgtEl>
                                      </p:cBhvr>
                                    </p:animEffect>
                                    <p:anim calcmode="lin" valueType="num">
                                      <p:cBhvr>
                                        <p:cTn id="22" dur="1000" fill="hold"/>
                                        <p:tgtEl>
                                          <p:spTgt spid="16589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6589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5"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a:extLst>
              <a:ext uri="{FF2B5EF4-FFF2-40B4-BE49-F238E27FC236}">
                <a16:creationId xmlns:a16="http://schemas.microsoft.com/office/drawing/2014/main" id="{E3EC6AC5-5518-5842-BA69-CB4297B24095}"/>
              </a:ext>
            </a:extLst>
          </p:cNvPr>
          <p:cNvSpPr>
            <a:spLocks noGrp="1" noChangeArrowheads="1"/>
          </p:cNvSpPr>
          <p:nvPr>
            <p:ph type="title"/>
          </p:nvPr>
        </p:nvSpPr>
        <p:spPr>
          <a:xfrm>
            <a:off x="878793" y="205644"/>
            <a:ext cx="9720072" cy="1499616"/>
          </a:xfrm>
        </p:spPr>
        <p:txBody>
          <a:bodyPr/>
          <a:lstStyle/>
          <a:p>
            <a:r>
              <a:rPr lang="en-US" altLang="en-US" sz="4800" dirty="0"/>
              <a:t>One-Sample </a:t>
            </a:r>
            <a:r>
              <a:rPr lang="en-US" altLang="en-US" sz="4800" i="1" dirty="0"/>
              <a:t>t</a:t>
            </a:r>
            <a:r>
              <a:rPr lang="en-US" altLang="en-US" sz="4800" dirty="0"/>
              <a:t> Test Statistic</a:t>
            </a:r>
          </a:p>
        </p:txBody>
      </p:sp>
      <p:graphicFrame>
        <p:nvGraphicFramePr>
          <p:cNvPr id="307210" name="Object 10">
            <a:extLst>
              <a:ext uri="{FF2B5EF4-FFF2-40B4-BE49-F238E27FC236}">
                <a16:creationId xmlns:a16="http://schemas.microsoft.com/office/drawing/2014/main" id="{EC0119A6-C253-DD41-B44B-9B86BB54CFC6}"/>
              </a:ext>
            </a:extLst>
          </p:cNvPr>
          <p:cNvGraphicFramePr>
            <a:graphicFrameLocks noGrp="1" noChangeAspect="1"/>
          </p:cNvGraphicFramePr>
          <p:nvPr>
            <p:ph idx="1"/>
          </p:nvPr>
        </p:nvGraphicFramePr>
        <p:xfrm>
          <a:off x="950231" y="3352005"/>
          <a:ext cx="2681287" cy="420688"/>
        </p:xfrm>
        <a:graphic>
          <a:graphicData uri="http://schemas.openxmlformats.org/presentationml/2006/ole">
            <mc:AlternateContent xmlns:mc="http://schemas.openxmlformats.org/markup-compatibility/2006">
              <mc:Choice xmlns:v="urn:schemas-microsoft-com:vml" Requires="v">
                <p:oleObj name="Equation" r:id="rId2" imgW="29845000" imgH="4686300" progId="Equation.3">
                  <p:embed/>
                </p:oleObj>
              </mc:Choice>
              <mc:Fallback>
                <p:oleObj name="Equation" r:id="rId2" imgW="29845000" imgH="4686300" progId="Equation.3">
                  <p:embed/>
                  <p:pic>
                    <p:nvPicPr>
                      <p:cNvPr id="307210" name="Object 10">
                        <a:extLst>
                          <a:ext uri="{FF2B5EF4-FFF2-40B4-BE49-F238E27FC236}">
                            <a16:creationId xmlns:a16="http://schemas.microsoft.com/office/drawing/2014/main" id="{EC0119A6-C253-DD41-B44B-9B86BB54CF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0231" y="3352005"/>
                        <a:ext cx="2681287"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Date Placeholder 3">
            <a:extLst>
              <a:ext uri="{FF2B5EF4-FFF2-40B4-BE49-F238E27FC236}">
                <a16:creationId xmlns:a16="http://schemas.microsoft.com/office/drawing/2014/main" id="{2820A1B7-3393-8641-A7A5-0A72A64960A8}"/>
              </a:ext>
            </a:extLst>
          </p:cNvPr>
          <p:cNvSpPr>
            <a:spLocks noGrp="1"/>
          </p:cNvSpPr>
          <p:nvPr>
            <p:ph type="dt" sz="half" idx="10"/>
          </p:nvPr>
        </p:nvSpPr>
        <p:spPr/>
        <p:txBody>
          <a:bodyPr/>
          <a:lstStyle/>
          <a:p>
            <a:fld id="{6E4279D1-5568-C842-B102-E4BD684696E8}" type="datetime1">
              <a:rPr lang="en-US" altLang="en-US"/>
              <a:pPr/>
              <a:t>7/6/2026</a:t>
            </a:fld>
            <a:endParaRPr lang="en-US" altLang="en-US"/>
          </a:p>
        </p:txBody>
      </p:sp>
      <p:sp>
        <p:nvSpPr>
          <p:cNvPr id="12" name="Slide Number Placeholder 5">
            <a:extLst>
              <a:ext uri="{FF2B5EF4-FFF2-40B4-BE49-F238E27FC236}">
                <a16:creationId xmlns:a16="http://schemas.microsoft.com/office/drawing/2014/main" id="{1A0486B8-CF6C-FC41-B739-BA7919B90E2D}"/>
              </a:ext>
            </a:extLst>
          </p:cNvPr>
          <p:cNvSpPr>
            <a:spLocks noGrp="1"/>
          </p:cNvSpPr>
          <p:nvPr>
            <p:ph type="sldNum" sz="quarter" idx="12"/>
          </p:nvPr>
        </p:nvSpPr>
        <p:spPr/>
        <p:txBody>
          <a:bodyPr/>
          <a:lstStyle/>
          <a:p>
            <a:fld id="{9B97D21A-1B9B-7E43-A58E-E0604BCF9C8A}" type="slidenum">
              <a:rPr lang="en-US" altLang="en-US"/>
              <a:pPr/>
              <a:t>52</a:t>
            </a:fld>
            <a:endParaRPr lang="en-US" altLang="en-US"/>
          </a:p>
        </p:txBody>
      </p:sp>
      <p:sp>
        <p:nvSpPr>
          <p:cNvPr id="307203" name="Rectangle 3">
            <a:extLst>
              <a:ext uri="{FF2B5EF4-FFF2-40B4-BE49-F238E27FC236}">
                <a16:creationId xmlns:a16="http://schemas.microsoft.com/office/drawing/2014/main" id="{0A994CE5-80FE-C14D-8554-5EB87D74194E}"/>
              </a:ext>
            </a:extLst>
          </p:cNvPr>
          <p:cNvSpPr>
            <a:spLocks noGrp="1" noChangeArrowheads="1"/>
          </p:cNvSpPr>
          <p:nvPr>
            <p:ph type="body" idx="4294967295"/>
          </p:nvPr>
        </p:nvSpPr>
        <p:spPr>
          <a:xfrm>
            <a:off x="0" y="1825625"/>
            <a:ext cx="10515600" cy="4351338"/>
          </a:xfrm>
          <a:noFill/>
          <a:ln/>
        </p:spPr>
        <p:txBody>
          <a:bodyPr/>
          <a:lstStyle/>
          <a:p>
            <a:pPr marL="457200" indent="-457200">
              <a:buNone/>
            </a:pPr>
            <a:r>
              <a:rPr lang="en-US" altLang="en-US" b="1"/>
              <a:t> </a:t>
            </a:r>
          </a:p>
          <a:p>
            <a:pPr marL="457200" indent="-457200">
              <a:buNone/>
            </a:pPr>
            <a:endParaRPr lang="en-US" altLang="en-US">
              <a:cs typeface="Arial" panose="020B0604020202020204" pitchFamily="34" charset="0"/>
            </a:endParaRPr>
          </a:p>
        </p:txBody>
      </p:sp>
      <p:graphicFrame>
        <p:nvGraphicFramePr>
          <p:cNvPr id="307211" name="Object 11">
            <a:extLst>
              <a:ext uri="{FF2B5EF4-FFF2-40B4-BE49-F238E27FC236}">
                <a16:creationId xmlns:a16="http://schemas.microsoft.com/office/drawing/2014/main" id="{604BDB4F-25AD-AC4D-84CA-ADA58361882C}"/>
              </a:ext>
            </a:extLst>
          </p:cNvPr>
          <p:cNvGraphicFramePr>
            <a:graphicFrameLocks noChangeAspect="1"/>
          </p:cNvGraphicFramePr>
          <p:nvPr/>
        </p:nvGraphicFramePr>
        <p:xfrm>
          <a:off x="1109531" y="1654003"/>
          <a:ext cx="2186765" cy="1093960"/>
        </p:xfrm>
        <a:graphic>
          <a:graphicData uri="http://schemas.openxmlformats.org/presentationml/2006/ole">
            <mc:AlternateContent xmlns:mc="http://schemas.openxmlformats.org/markup-compatibility/2006">
              <mc:Choice xmlns:v="urn:schemas-microsoft-com:vml" Requires="v">
                <p:oleObj name="Equation" r:id="rId4" imgW="19900900" imgH="9944100" progId="Equation.3">
                  <p:embed/>
                </p:oleObj>
              </mc:Choice>
              <mc:Fallback>
                <p:oleObj name="Equation" r:id="rId4" imgW="19900900" imgH="9944100" progId="Equation.3">
                  <p:embed/>
                  <p:pic>
                    <p:nvPicPr>
                      <p:cNvPr id="307211" name="Object 11">
                        <a:extLst>
                          <a:ext uri="{FF2B5EF4-FFF2-40B4-BE49-F238E27FC236}">
                            <a16:creationId xmlns:a16="http://schemas.microsoft.com/office/drawing/2014/main" id="{604BDB4F-25AD-AC4D-84CA-ADA5836188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9531" y="1654003"/>
                        <a:ext cx="2186765" cy="1093960"/>
                      </a:xfrm>
                      <a:prstGeom prst="rect">
                        <a:avLst/>
                      </a:prstGeom>
                      <a:noFill/>
                      <a:ln>
                        <a:noFill/>
                      </a:ln>
                      <a:effectLst/>
                    </p:spPr>
                  </p:pic>
                </p:oleObj>
              </mc:Fallback>
            </mc:AlternateContent>
          </a:graphicData>
        </a:graphic>
      </p:graphicFrame>
      <p:sp>
        <p:nvSpPr>
          <p:cNvPr id="307213" name="Text Box 13">
            <a:extLst>
              <a:ext uri="{FF2B5EF4-FFF2-40B4-BE49-F238E27FC236}">
                <a16:creationId xmlns:a16="http://schemas.microsoft.com/office/drawing/2014/main" id="{FC9A3199-39AF-DC41-BFD0-2A1294506891}"/>
              </a:ext>
            </a:extLst>
          </p:cNvPr>
          <p:cNvSpPr txBox="1">
            <a:spLocks noChangeArrowheads="1"/>
          </p:cNvSpPr>
          <p:nvPr/>
        </p:nvSpPr>
        <p:spPr bwMode="auto">
          <a:xfrm>
            <a:off x="739094" y="5303043"/>
            <a:ext cx="420499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rPr>
              <a:t>This </a:t>
            </a:r>
            <a:r>
              <a:rPr lang="en-US" altLang="en-US" i="1">
                <a:latin typeface="Times New Roman" panose="02020603050405020304" pitchFamily="18" charset="0"/>
              </a:rPr>
              <a:t>t </a:t>
            </a:r>
            <a:r>
              <a:rPr lang="en-US" altLang="en-US">
                <a:latin typeface="Times New Roman" panose="02020603050405020304" pitchFamily="18" charset="0"/>
              </a:rPr>
              <a:t>statistic has </a:t>
            </a:r>
            <a:r>
              <a:rPr lang="en-US" altLang="en-US" i="1">
                <a:latin typeface="Times New Roman" panose="02020603050405020304" pitchFamily="18" charset="0"/>
              </a:rPr>
              <a:t>n </a:t>
            </a:r>
            <a:r>
              <a:rPr lang="en-US" altLang="en-US">
                <a:latin typeface="Times New Roman" panose="02020603050405020304" pitchFamily="18" charset="0"/>
              </a:rPr>
              <a:t>– 1 degrees of freedom</a:t>
            </a:r>
          </a:p>
        </p:txBody>
      </p:sp>
      <p:graphicFrame>
        <p:nvGraphicFramePr>
          <p:cNvPr id="307216" name="Object 16">
            <a:extLst>
              <a:ext uri="{FF2B5EF4-FFF2-40B4-BE49-F238E27FC236}">
                <a16:creationId xmlns:a16="http://schemas.microsoft.com/office/drawing/2014/main" id="{47859AFB-48EF-3846-ADA4-FA5B010EDBA8}"/>
              </a:ext>
            </a:extLst>
          </p:cNvPr>
          <p:cNvGraphicFramePr>
            <a:graphicFrameLocks noChangeAspect="1"/>
          </p:cNvGraphicFramePr>
          <p:nvPr/>
        </p:nvGraphicFramePr>
        <p:xfrm>
          <a:off x="878793" y="3871119"/>
          <a:ext cx="5295900" cy="477837"/>
        </p:xfrm>
        <a:graphic>
          <a:graphicData uri="http://schemas.openxmlformats.org/presentationml/2006/ole">
            <mc:AlternateContent xmlns:mc="http://schemas.openxmlformats.org/markup-compatibility/2006">
              <mc:Choice xmlns:v="urn:schemas-microsoft-com:vml" Requires="v">
                <p:oleObj name="Equation" r:id="rId6" imgW="58216800" imgH="5270500" progId="Equation.3">
                  <p:embed/>
                </p:oleObj>
              </mc:Choice>
              <mc:Fallback>
                <p:oleObj name="Equation" r:id="rId6" imgW="58216800" imgH="5270500" progId="Equation.3">
                  <p:embed/>
                  <p:pic>
                    <p:nvPicPr>
                      <p:cNvPr id="307216" name="Object 16">
                        <a:extLst>
                          <a:ext uri="{FF2B5EF4-FFF2-40B4-BE49-F238E27FC236}">
                            <a16:creationId xmlns:a16="http://schemas.microsoft.com/office/drawing/2014/main" id="{47859AFB-48EF-3846-ADA4-FA5B010EDB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8793" y="3871119"/>
                        <a:ext cx="5295900"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17" name="Text Box 17">
            <a:extLst>
              <a:ext uri="{FF2B5EF4-FFF2-40B4-BE49-F238E27FC236}">
                <a16:creationId xmlns:a16="http://schemas.microsoft.com/office/drawing/2014/main" id="{A26156DB-5C11-FA41-96AE-4FE3A54D7B40}"/>
              </a:ext>
            </a:extLst>
          </p:cNvPr>
          <p:cNvSpPr txBox="1">
            <a:spLocks noChangeArrowheads="1"/>
          </p:cNvSpPr>
          <p:nvPr/>
        </p:nvSpPr>
        <p:spPr bwMode="auto">
          <a:xfrm>
            <a:off x="2251075" y="2949575"/>
            <a:ext cx="9137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where</a:t>
            </a:r>
          </a:p>
        </p:txBody>
      </p:sp>
      <p:graphicFrame>
        <p:nvGraphicFramePr>
          <p:cNvPr id="307218" name="Object 18">
            <a:extLst>
              <a:ext uri="{FF2B5EF4-FFF2-40B4-BE49-F238E27FC236}">
                <a16:creationId xmlns:a16="http://schemas.microsoft.com/office/drawing/2014/main" id="{5D093006-22A7-FF43-B866-C3EB0378EBB9}"/>
              </a:ext>
            </a:extLst>
          </p:cNvPr>
          <p:cNvGraphicFramePr>
            <a:graphicFrameLocks noChangeAspect="1"/>
          </p:cNvGraphicFramePr>
          <p:nvPr/>
        </p:nvGraphicFramePr>
        <p:xfrm>
          <a:off x="893081" y="4274344"/>
          <a:ext cx="1269274" cy="805845"/>
        </p:xfrm>
        <a:graphic>
          <a:graphicData uri="http://schemas.openxmlformats.org/presentationml/2006/ole">
            <mc:AlternateContent xmlns:mc="http://schemas.openxmlformats.org/markup-compatibility/2006">
              <mc:Choice xmlns:v="urn:schemas-microsoft-com:vml" Requires="v">
                <p:oleObj name="Equation" r:id="rId8" imgW="15214600" imgH="9652000" progId="Equation.3">
                  <p:embed/>
                </p:oleObj>
              </mc:Choice>
              <mc:Fallback>
                <p:oleObj name="Equation" r:id="rId8" imgW="15214600" imgH="9652000" progId="Equation.3">
                  <p:embed/>
                  <p:pic>
                    <p:nvPicPr>
                      <p:cNvPr id="307218" name="Object 18">
                        <a:extLst>
                          <a:ext uri="{FF2B5EF4-FFF2-40B4-BE49-F238E27FC236}">
                            <a16:creationId xmlns:a16="http://schemas.microsoft.com/office/drawing/2014/main" id="{5D093006-22A7-FF43-B866-C3EB0378EBB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3081" y="4274344"/>
                        <a:ext cx="1269274" cy="80584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4376098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07210"/>
                                        </p:tgtEl>
                                        <p:attrNameLst>
                                          <p:attrName>style.visibility</p:attrName>
                                        </p:attrNameLst>
                                      </p:cBhvr>
                                      <p:to>
                                        <p:strVal val="visible"/>
                                      </p:to>
                                    </p:set>
                                    <p:animEffect transition="in" filter="blinds(horizontal)">
                                      <p:cBhvr>
                                        <p:cTn id="7" dur="500"/>
                                        <p:tgtEl>
                                          <p:spTgt spid="3072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7216"/>
                                        </p:tgtEl>
                                        <p:attrNameLst>
                                          <p:attrName>style.visibility</p:attrName>
                                        </p:attrNameLst>
                                      </p:cBhvr>
                                      <p:to>
                                        <p:strVal val="visible"/>
                                      </p:to>
                                    </p:set>
                                    <p:animEffect transition="in" filter="blinds(horizontal)">
                                      <p:cBhvr>
                                        <p:cTn id="12" dur="500"/>
                                        <p:tgtEl>
                                          <p:spTgt spid="3072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07218"/>
                                        </p:tgtEl>
                                        <p:attrNameLst>
                                          <p:attrName>style.visibility</p:attrName>
                                        </p:attrNameLst>
                                      </p:cBhvr>
                                      <p:to>
                                        <p:strVal val="visible"/>
                                      </p:to>
                                    </p:set>
                                    <p:animEffect transition="in" filter="blinds(horizontal)">
                                      <p:cBhvr>
                                        <p:cTn id="17" dur="500"/>
                                        <p:tgtEl>
                                          <p:spTgt spid="3072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07213"/>
                                        </p:tgtEl>
                                        <p:attrNameLst>
                                          <p:attrName>style.visibility</p:attrName>
                                        </p:attrNameLst>
                                      </p:cBhvr>
                                      <p:to>
                                        <p:strVal val="visible"/>
                                      </p:to>
                                    </p:set>
                                    <p:anim calcmode="lin" valueType="num">
                                      <p:cBhvr additive="base">
                                        <p:cTn id="22" dur="500" fill="hold"/>
                                        <p:tgtEl>
                                          <p:spTgt spid="307213"/>
                                        </p:tgtEl>
                                        <p:attrNameLst>
                                          <p:attrName>ppt_x</p:attrName>
                                        </p:attrNameLst>
                                      </p:cBhvr>
                                      <p:tavLst>
                                        <p:tav tm="0">
                                          <p:val>
                                            <p:strVal val="#ppt_x"/>
                                          </p:val>
                                        </p:tav>
                                        <p:tav tm="100000">
                                          <p:val>
                                            <p:strVal val="#ppt_x"/>
                                          </p:val>
                                        </p:tav>
                                      </p:tavLst>
                                    </p:anim>
                                    <p:anim calcmode="lin" valueType="num">
                                      <p:cBhvr additive="base">
                                        <p:cTn id="23" dur="500" fill="hold"/>
                                        <p:tgtEl>
                                          <p:spTgt spid="3072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13" grpId="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3042" name="Rectangle 2">
            <a:extLst>
              <a:ext uri="{FF2B5EF4-FFF2-40B4-BE49-F238E27FC236}">
                <a16:creationId xmlns:a16="http://schemas.microsoft.com/office/drawing/2014/main" id="{BAE2BE8E-F0E7-0F40-91D4-37B13C3D5827}"/>
              </a:ext>
            </a:extLst>
          </p:cNvPr>
          <p:cNvSpPr>
            <a:spLocks noGrp="1" noChangeArrowheads="1"/>
          </p:cNvSpPr>
          <p:nvPr>
            <p:ph type="title"/>
          </p:nvPr>
        </p:nvSpPr>
        <p:spPr>
          <a:xfrm>
            <a:off x="968375" y="220091"/>
            <a:ext cx="10058400" cy="1609344"/>
          </a:xfrm>
        </p:spPr>
        <p:txBody>
          <a:bodyPr/>
          <a:lstStyle/>
          <a:p>
            <a:r>
              <a:rPr lang="en-US" altLang="en-US" dirty="0"/>
              <a:t>Example (Data)</a:t>
            </a:r>
          </a:p>
        </p:txBody>
      </p:sp>
      <p:graphicFrame>
        <p:nvGraphicFramePr>
          <p:cNvPr id="343160" name="Group 120">
            <a:extLst>
              <a:ext uri="{FF2B5EF4-FFF2-40B4-BE49-F238E27FC236}">
                <a16:creationId xmlns:a16="http://schemas.microsoft.com/office/drawing/2014/main" id="{2ADFC0A6-F544-6A44-90B0-C8E03AC209CC}"/>
              </a:ext>
            </a:extLst>
          </p:cNvPr>
          <p:cNvGraphicFramePr>
            <a:graphicFrameLocks noGrp="1"/>
          </p:cNvGraphicFramePr>
          <p:nvPr>
            <p:ph sz="half" idx="1"/>
          </p:nvPr>
        </p:nvGraphicFramePr>
        <p:xfrm>
          <a:off x="2100263" y="1731407"/>
          <a:ext cx="760538" cy="4525967"/>
        </p:xfrm>
        <a:graphic>
          <a:graphicData uri="http://schemas.openxmlformats.org/drawingml/2006/table">
            <a:tbl>
              <a:tblPr/>
              <a:tblGrid>
                <a:gridCol w="760538">
                  <a:extLst>
                    <a:ext uri="{9D8B030D-6E8A-4147-A177-3AD203B41FA5}">
                      <a16:colId xmlns:a16="http://schemas.microsoft.com/office/drawing/2014/main" val="3329452501"/>
                    </a:ext>
                  </a:extLst>
                </a:gridCol>
              </a:tblGrid>
              <a:tr h="4524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2998</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462073802"/>
                  </a:ext>
                </a:extLst>
              </a:tr>
              <a:tr h="4524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3740</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82821743"/>
                  </a:ext>
                </a:extLst>
              </a:tr>
              <a:tr h="4524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2031</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3810353785"/>
                  </a:ext>
                </a:extLst>
              </a:tr>
              <a:tr h="4524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2804</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3654528327"/>
                  </a:ext>
                </a:extLst>
              </a:tr>
              <a:tr h="454025">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2454</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2084481327"/>
                  </a:ext>
                </a:extLst>
              </a:tr>
              <a:tr h="4524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2780</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207227003"/>
                  </a:ext>
                </a:extLst>
              </a:tr>
              <a:tr h="4524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2203</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2970575220"/>
                  </a:ext>
                </a:extLst>
              </a:tr>
              <a:tr h="4524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3803</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2808510862"/>
                  </a:ext>
                </a:extLst>
              </a:tr>
              <a:tr h="4524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3948</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2411260141"/>
                  </a:ext>
                </a:extLst>
              </a:tr>
              <a:tr h="4524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2144</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64263604"/>
                  </a:ext>
                </a:extLst>
              </a:tr>
            </a:tbl>
          </a:graphicData>
        </a:graphic>
      </p:graphicFrame>
      <p:graphicFrame>
        <p:nvGraphicFramePr>
          <p:cNvPr id="343151" name="Object 111">
            <a:extLst>
              <a:ext uri="{FF2B5EF4-FFF2-40B4-BE49-F238E27FC236}">
                <a16:creationId xmlns:a16="http://schemas.microsoft.com/office/drawing/2014/main" id="{BFC7DFE6-A07F-C243-9435-B8AC258747FB}"/>
              </a:ext>
            </a:extLst>
          </p:cNvPr>
          <p:cNvGraphicFramePr>
            <a:graphicFrameLocks noGrp="1" noChangeAspect="1"/>
          </p:cNvGraphicFramePr>
          <p:nvPr>
            <p:ph sz="half" idx="2"/>
          </p:nvPr>
        </p:nvGraphicFramePr>
        <p:xfrm>
          <a:off x="5997575" y="2632075"/>
          <a:ext cx="3073400" cy="1766888"/>
        </p:xfrm>
        <a:graphic>
          <a:graphicData uri="http://schemas.openxmlformats.org/presentationml/2006/ole">
            <mc:AlternateContent xmlns:mc="http://schemas.openxmlformats.org/markup-compatibility/2006">
              <mc:Choice xmlns:v="urn:schemas-microsoft-com:vml" Requires="v">
                <p:oleObj name="Equation" r:id="rId2" imgW="25450800" imgH="14630400" progId="Equation.3">
                  <p:embed/>
                </p:oleObj>
              </mc:Choice>
              <mc:Fallback>
                <p:oleObj name="Equation" r:id="rId2" imgW="25450800" imgH="14630400" progId="Equation.3">
                  <p:embed/>
                  <p:pic>
                    <p:nvPicPr>
                      <p:cNvPr id="343151" name="Object 111">
                        <a:extLst>
                          <a:ext uri="{FF2B5EF4-FFF2-40B4-BE49-F238E27FC236}">
                            <a16:creationId xmlns:a16="http://schemas.microsoft.com/office/drawing/2014/main" id="{BFC7DFE6-A07F-C243-9435-B8AC258747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7575" y="2632075"/>
                        <a:ext cx="3073400" cy="176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Date Placeholder 4">
            <a:extLst>
              <a:ext uri="{FF2B5EF4-FFF2-40B4-BE49-F238E27FC236}">
                <a16:creationId xmlns:a16="http://schemas.microsoft.com/office/drawing/2014/main" id="{C2403C0F-C81C-A246-A34D-92295B5869EB}"/>
              </a:ext>
            </a:extLst>
          </p:cNvPr>
          <p:cNvSpPr>
            <a:spLocks noGrp="1"/>
          </p:cNvSpPr>
          <p:nvPr>
            <p:ph type="dt" sz="half" idx="10"/>
          </p:nvPr>
        </p:nvSpPr>
        <p:spPr/>
        <p:txBody>
          <a:bodyPr/>
          <a:lstStyle/>
          <a:p>
            <a:fld id="{E43A47E0-1997-6140-9C1D-12AFD23AC8C1}" type="datetime1">
              <a:rPr lang="en-US" altLang="en-US"/>
              <a:pPr/>
              <a:t>7/6/2026</a:t>
            </a:fld>
            <a:endParaRPr lang="en-US" altLang="en-US"/>
          </a:p>
        </p:txBody>
      </p:sp>
      <p:sp>
        <p:nvSpPr>
          <p:cNvPr id="23" name="Slide Number Placeholder 6">
            <a:extLst>
              <a:ext uri="{FF2B5EF4-FFF2-40B4-BE49-F238E27FC236}">
                <a16:creationId xmlns:a16="http://schemas.microsoft.com/office/drawing/2014/main" id="{7FE319D8-FCEE-A04E-9B7A-F3798291D956}"/>
              </a:ext>
            </a:extLst>
          </p:cNvPr>
          <p:cNvSpPr>
            <a:spLocks noGrp="1"/>
          </p:cNvSpPr>
          <p:nvPr>
            <p:ph type="sldNum" sz="quarter" idx="12"/>
          </p:nvPr>
        </p:nvSpPr>
        <p:spPr/>
        <p:txBody>
          <a:bodyPr/>
          <a:lstStyle/>
          <a:p>
            <a:fld id="{7470C262-3F1A-8C48-970E-FA8A878E06DA}" type="slidenum">
              <a:rPr lang="en-US" altLang="en-US"/>
              <a:pPr/>
              <a:t>53</a:t>
            </a:fld>
            <a:endParaRPr lang="en-US" altLang="en-US"/>
          </a:p>
        </p:txBody>
      </p:sp>
      <p:sp>
        <p:nvSpPr>
          <p:cNvPr id="343150" name="Text Box 110">
            <a:extLst>
              <a:ext uri="{FF2B5EF4-FFF2-40B4-BE49-F238E27FC236}">
                <a16:creationId xmlns:a16="http://schemas.microsoft.com/office/drawing/2014/main" id="{C20B6005-8350-5B47-964C-89D659A68205}"/>
              </a:ext>
            </a:extLst>
          </p:cNvPr>
          <p:cNvSpPr txBox="1">
            <a:spLocks noChangeArrowheads="1"/>
          </p:cNvSpPr>
          <p:nvPr/>
        </p:nvSpPr>
        <p:spPr bwMode="auto">
          <a:xfrm>
            <a:off x="4083050" y="1362075"/>
            <a:ext cx="58245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en-US" altLang="en-US"/>
              <a:t>SRS </a:t>
            </a:r>
            <a:r>
              <a:rPr lang="en-US" altLang="en-US" i="1"/>
              <a:t>n </a:t>
            </a:r>
            <a:r>
              <a:rPr lang="en-US" altLang="en-US"/>
              <a:t>= 10 birth weights (grams) of SIDS cases</a:t>
            </a:r>
          </a:p>
        </p:txBody>
      </p:sp>
      <p:graphicFrame>
        <p:nvGraphicFramePr>
          <p:cNvPr id="343158" name="Object 118">
            <a:extLst>
              <a:ext uri="{FF2B5EF4-FFF2-40B4-BE49-F238E27FC236}">
                <a16:creationId xmlns:a16="http://schemas.microsoft.com/office/drawing/2014/main" id="{E1C31CB6-A23F-6D45-B85C-516333D0C900}"/>
              </a:ext>
            </a:extLst>
          </p:cNvPr>
          <p:cNvGraphicFramePr>
            <a:graphicFrameLocks noChangeAspect="1"/>
          </p:cNvGraphicFramePr>
          <p:nvPr/>
        </p:nvGraphicFramePr>
        <p:xfrm>
          <a:off x="4289426" y="4610101"/>
          <a:ext cx="5389563" cy="1139825"/>
        </p:xfrm>
        <a:graphic>
          <a:graphicData uri="http://schemas.openxmlformats.org/presentationml/2006/ole">
            <mc:AlternateContent xmlns:mc="http://schemas.openxmlformats.org/markup-compatibility/2006">
              <mc:Choice xmlns:v="urn:schemas-microsoft-com:vml" Requires="v">
                <p:oleObj name="Equation" r:id="rId4" imgW="45643800" imgH="9652000" progId="Equation.3">
                  <p:embed/>
                </p:oleObj>
              </mc:Choice>
              <mc:Fallback>
                <p:oleObj name="Equation" r:id="rId4" imgW="45643800" imgH="9652000" progId="Equation.3">
                  <p:embed/>
                  <p:pic>
                    <p:nvPicPr>
                      <p:cNvPr id="343158" name="Object 118">
                        <a:extLst>
                          <a:ext uri="{FF2B5EF4-FFF2-40B4-BE49-F238E27FC236}">
                            <a16:creationId xmlns:a16="http://schemas.microsoft.com/office/drawing/2014/main" id="{E1C31CB6-A23F-6D45-B85C-516333D0C9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9426" y="4610101"/>
                        <a:ext cx="5389563"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43159" name="Picture 119">
            <a:extLst>
              <a:ext uri="{FF2B5EF4-FFF2-40B4-BE49-F238E27FC236}">
                <a16:creationId xmlns:a16="http://schemas.microsoft.com/office/drawing/2014/main" id="{07348F69-6F02-B745-B64E-482909F1076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4025" y="2538414"/>
            <a:ext cx="1035050" cy="1817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1319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43159"/>
                                        </p:tgtEl>
                                        <p:attrNameLst>
                                          <p:attrName>style.visibility</p:attrName>
                                        </p:attrNameLst>
                                      </p:cBhvr>
                                      <p:to>
                                        <p:strVal val="visible"/>
                                      </p:to>
                                    </p:set>
                                    <p:animEffect transition="in" filter="blinds(horizontal)">
                                      <p:cBhvr>
                                        <p:cTn id="7" dur="500"/>
                                        <p:tgtEl>
                                          <p:spTgt spid="3431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43151"/>
                                        </p:tgtEl>
                                        <p:attrNameLst>
                                          <p:attrName>style.visibility</p:attrName>
                                        </p:attrNameLst>
                                      </p:cBhvr>
                                      <p:to>
                                        <p:strVal val="visible"/>
                                      </p:to>
                                    </p:set>
                                    <p:animEffect transition="in" filter="blinds(horizontal)">
                                      <p:cBhvr>
                                        <p:cTn id="12" dur="500"/>
                                        <p:tgtEl>
                                          <p:spTgt spid="3431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43158"/>
                                        </p:tgtEl>
                                        <p:attrNameLst>
                                          <p:attrName>style.visibility</p:attrName>
                                        </p:attrNameLst>
                                      </p:cBhvr>
                                      <p:to>
                                        <p:strVal val="visible"/>
                                      </p:to>
                                    </p:set>
                                    <p:animEffect transition="in" filter="blinds(horizontal)">
                                      <p:cBhvr>
                                        <p:cTn id="17" dur="500"/>
                                        <p:tgtEl>
                                          <p:spTgt spid="343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90" name="Rectangle 6">
            <a:extLst>
              <a:ext uri="{FF2B5EF4-FFF2-40B4-BE49-F238E27FC236}">
                <a16:creationId xmlns:a16="http://schemas.microsoft.com/office/drawing/2014/main" id="{04FE5616-D32A-E147-BED7-7D8BE79FA13C}"/>
              </a:ext>
            </a:extLst>
          </p:cNvPr>
          <p:cNvSpPr>
            <a:spLocks noGrp="1" noChangeArrowheads="1"/>
          </p:cNvSpPr>
          <p:nvPr>
            <p:ph type="title"/>
          </p:nvPr>
        </p:nvSpPr>
        <p:spPr>
          <a:xfrm>
            <a:off x="1117261" y="248509"/>
            <a:ext cx="9720072" cy="1499616"/>
          </a:xfrm>
        </p:spPr>
        <p:txBody>
          <a:bodyPr/>
          <a:lstStyle/>
          <a:p>
            <a:r>
              <a:rPr lang="en-US" altLang="en-US" sz="4800" dirty="0"/>
              <a:t>Example</a:t>
            </a:r>
          </a:p>
        </p:txBody>
      </p:sp>
      <p:sp>
        <p:nvSpPr>
          <p:cNvPr id="221187" name="Rectangle 3">
            <a:extLst>
              <a:ext uri="{FF2B5EF4-FFF2-40B4-BE49-F238E27FC236}">
                <a16:creationId xmlns:a16="http://schemas.microsoft.com/office/drawing/2014/main" id="{FB476192-89D7-3C49-B34A-7356F138A8B2}"/>
              </a:ext>
            </a:extLst>
          </p:cNvPr>
          <p:cNvSpPr>
            <a:spLocks noGrp="1" noChangeArrowheads="1"/>
          </p:cNvSpPr>
          <p:nvPr>
            <p:ph idx="1"/>
          </p:nvPr>
        </p:nvSpPr>
        <p:spPr>
          <a:xfrm>
            <a:off x="1954213" y="1504951"/>
            <a:ext cx="8229600" cy="836613"/>
          </a:xfrm>
        </p:spPr>
        <p:txBody>
          <a:bodyPr/>
          <a:lstStyle/>
          <a:p>
            <a:pPr marL="609600" indent="-609600">
              <a:buNone/>
            </a:pPr>
            <a:r>
              <a:rPr lang="en-US" altLang="en-US"/>
              <a:t>Testing </a:t>
            </a:r>
            <a:r>
              <a:rPr lang="en-US" altLang="en-US" i="1"/>
              <a:t>H</a:t>
            </a:r>
            <a:r>
              <a:rPr lang="en-US" altLang="en-US" baseline="-25000"/>
              <a:t>0</a:t>
            </a:r>
            <a:r>
              <a:rPr lang="en-US" altLang="en-US"/>
              <a:t>: µ = 3300</a:t>
            </a:r>
            <a:endParaRPr lang="en-US" altLang="en-US">
              <a:sym typeface="Symbol" pitchFamily="2" charset="2"/>
            </a:endParaRPr>
          </a:p>
        </p:txBody>
      </p:sp>
      <p:sp>
        <p:nvSpPr>
          <p:cNvPr id="8" name="Date Placeholder 3">
            <a:extLst>
              <a:ext uri="{FF2B5EF4-FFF2-40B4-BE49-F238E27FC236}">
                <a16:creationId xmlns:a16="http://schemas.microsoft.com/office/drawing/2014/main" id="{6481C871-0096-784E-BC42-F7C1BA79C609}"/>
              </a:ext>
            </a:extLst>
          </p:cNvPr>
          <p:cNvSpPr>
            <a:spLocks noGrp="1"/>
          </p:cNvSpPr>
          <p:nvPr>
            <p:ph type="dt" sz="half" idx="10"/>
          </p:nvPr>
        </p:nvSpPr>
        <p:spPr/>
        <p:txBody>
          <a:bodyPr/>
          <a:lstStyle/>
          <a:p>
            <a:fld id="{A716E904-F3CE-D444-93EB-C83A6ABC54D6}" type="datetime1">
              <a:rPr lang="en-US" altLang="en-US"/>
              <a:pPr/>
              <a:t>7/6/2026</a:t>
            </a:fld>
            <a:endParaRPr lang="en-US" altLang="en-US" dirty="0"/>
          </a:p>
        </p:txBody>
      </p:sp>
      <p:sp>
        <p:nvSpPr>
          <p:cNvPr id="9" name="Slide Number Placeholder 5">
            <a:extLst>
              <a:ext uri="{FF2B5EF4-FFF2-40B4-BE49-F238E27FC236}">
                <a16:creationId xmlns:a16="http://schemas.microsoft.com/office/drawing/2014/main" id="{D6E6BE9C-E0B4-5B48-9E8E-E6E463235EF2}"/>
              </a:ext>
            </a:extLst>
          </p:cNvPr>
          <p:cNvSpPr>
            <a:spLocks noGrp="1"/>
          </p:cNvSpPr>
          <p:nvPr>
            <p:ph type="sldNum" sz="quarter" idx="12"/>
          </p:nvPr>
        </p:nvSpPr>
        <p:spPr/>
        <p:txBody>
          <a:bodyPr/>
          <a:lstStyle/>
          <a:p>
            <a:fld id="{12E65A8C-3CAC-F94B-AA58-9183315429E3}" type="slidenum">
              <a:rPr lang="en-US" altLang="en-US"/>
              <a:pPr/>
              <a:t>54</a:t>
            </a:fld>
            <a:endParaRPr lang="en-US" altLang="en-US"/>
          </a:p>
        </p:txBody>
      </p:sp>
      <p:graphicFrame>
        <p:nvGraphicFramePr>
          <p:cNvPr id="221191" name="Object 7">
            <a:extLst>
              <a:ext uri="{FF2B5EF4-FFF2-40B4-BE49-F238E27FC236}">
                <a16:creationId xmlns:a16="http://schemas.microsoft.com/office/drawing/2014/main" id="{C09E2E03-ADEA-754C-A8A4-72AAEE8F280F}"/>
              </a:ext>
            </a:extLst>
          </p:cNvPr>
          <p:cNvGraphicFramePr>
            <a:graphicFrameLocks noChangeAspect="1"/>
          </p:cNvGraphicFramePr>
          <p:nvPr/>
        </p:nvGraphicFramePr>
        <p:xfrm>
          <a:off x="1954213" y="3514002"/>
          <a:ext cx="2388388" cy="787592"/>
        </p:xfrm>
        <a:graphic>
          <a:graphicData uri="http://schemas.openxmlformats.org/presentationml/2006/ole">
            <mc:AlternateContent xmlns:mc="http://schemas.openxmlformats.org/markup-compatibility/2006">
              <mc:Choice xmlns:v="urn:schemas-microsoft-com:vml" Requires="v">
                <p:oleObj name="Equation" r:id="rId2" imgW="30137100" imgH="9944100" progId="Equation.3">
                  <p:embed/>
                </p:oleObj>
              </mc:Choice>
              <mc:Fallback>
                <p:oleObj name="Equation" r:id="rId2" imgW="30137100" imgH="9944100" progId="Equation.3">
                  <p:embed/>
                  <p:pic>
                    <p:nvPicPr>
                      <p:cNvPr id="221191" name="Object 7">
                        <a:extLst>
                          <a:ext uri="{FF2B5EF4-FFF2-40B4-BE49-F238E27FC236}">
                            <a16:creationId xmlns:a16="http://schemas.microsoft.com/office/drawing/2014/main" id="{C09E2E03-ADEA-754C-A8A4-72AAEE8F28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4213" y="3514002"/>
                        <a:ext cx="2388388" cy="787592"/>
                      </a:xfrm>
                      <a:prstGeom prst="rect">
                        <a:avLst/>
                      </a:prstGeom>
                      <a:noFill/>
                      <a:ln>
                        <a:noFill/>
                      </a:ln>
                      <a:effectLst/>
                    </p:spPr>
                  </p:pic>
                </p:oleObj>
              </mc:Fallback>
            </mc:AlternateContent>
          </a:graphicData>
        </a:graphic>
      </p:graphicFrame>
      <p:grpSp>
        <p:nvGrpSpPr>
          <p:cNvPr id="2" name="Group 1">
            <a:extLst>
              <a:ext uri="{FF2B5EF4-FFF2-40B4-BE49-F238E27FC236}">
                <a16:creationId xmlns:a16="http://schemas.microsoft.com/office/drawing/2014/main" id="{F0AA59F7-1776-2648-3452-95B4512AB97B}"/>
              </a:ext>
            </a:extLst>
          </p:cNvPr>
          <p:cNvGrpSpPr/>
          <p:nvPr/>
        </p:nvGrpSpPr>
        <p:grpSpPr>
          <a:xfrm>
            <a:off x="2030413" y="2308225"/>
            <a:ext cx="6057276" cy="1039473"/>
            <a:chOff x="2030413" y="2308225"/>
            <a:chExt cx="6057276" cy="1039473"/>
          </a:xfrm>
        </p:grpSpPr>
        <p:graphicFrame>
          <p:nvGraphicFramePr>
            <p:cNvPr id="221189" name="Object 5">
              <a:extLst>
                <a:ext uri="{FF2B5EF4-FFF2-40B4-BE49-F238E27FC236}">
                  <a16:creationId xmlns:a16="http://schemas.microsoft.com/office/drawing/2014/main" id="{97C6DB98-94E0-C842-950E-1353023BDA8D}"/>
                </a:ext>
              </a:extLst>
            </p:cNvPr>
            <p:cNvGraphicFramePr>
              <a:graphicFrameLocks noChangeAspect="1"/>
            </p:cNvGraphicFramePr>
            <p:nvPr/>
          </p:nvGraphicFramePr>
          <p:xfrm>
            <a:off x="2030413" y="2308225"/>
            <a:ext cx="2081359" cy="1039473"/>
          </p:xfrm>
          <a:graphic>
            <a:graphicData uri="http://schemas.openxmlformats.org/presentationml/2006/ole">
              <mc:AlternateContent xmlns:mc="http://schemas.openxmlformats.org/markup-compatibility/2006">
                <mc:Choice xmlns:v="urn:schemas-microsoft-com:vml" Requires="v">
                  <p:oleObj name="Equation" r:id="rId4" imgW="19900900" imgH="9944100" progId="Equation.3">
                    <p:embed/>
                  </p:oleObj>
                </mc:Choice>
                <mc:Fallback>
                  <p:oleObj name="Equation" r:id="rId4" imgW="19900900" imgH="9944100" progId="Equation.3">
                    <p:embed/>
                    <p:pic>
                      <p:nvPicPr>
                        <p:cNvPr id="221189" name="Object 5">
                          <a:extLst>
                            <a:ext uri="{FF2B5EF4-FFF2-40B4-BE49-F238E27FC236}">
                              <a16:creationId xmlns:a16="http://schemas.microsoft.com/office/drawing/2014/main" id="{97C6DB98-94E0-C842-950E-1353023BDA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0413" y="2308225"/>
                          <a:ext cx="2081359" cy="1039473"/>
                        </a:xfrm>
                        <a:prstGeom prst="rect">
                          <a:avLst/>
                        </a:prstGeom>
                        <a:noFill/>
                        <a:ln>
                          <a:noFill/>
                        </a:ln>
                        <a:effectLst/>
                      </p:spPr>
                    </p:pic>
                  </p:oleObj>
                </mc:Fallback>
              </mc:AlternateContent>
            </a:graphicData>
          </a:graphic>
        </p:graphicFrame>
        <p:graphicFrame>
          <p:nvGraphicFramePr>
            <p:cNvPr id="221192" name="Object 8">
              <a:extLst>
                <a:ext uri="{FF2B5EF4-FFF2-40B4-BE49-F238E27FC236}">
                  <a16:creationId xmlns:a16="http://schemas.microsoft.com/office/drawing/2014/main" id="{0F23035C-AB57-4642-B61A-89ECE3752F18}"/>
                </a:ext>
              </a:extLst>
            </p:cNvPr>
            <p:cNvGraphicFramePr>
              <a:graphicFrameLocks noChangeAspect="1"/>
            </p:cNvGraphicFramePr>
            <p:nvPr/>
          </p:nvGraphicFramePr>
          <p:xfrm>
            <a:off x="4111772" y="2361493"/>
            <a:ext cx="2297756" cy="836613"/>
          </p:xfrm>
          <a:graphic>
            <a:graphicData uri="http://schemas.openxmlformats.org/presentationml/2006/ole">
              <mc:AlternateContent xmlns:mc="http://schemas.openxmlformats.org/markup-compatibility/2006">
                <mc:Choice xmlns:v="urn:schemas-microsoft-com:vml" Requires="v">
                  <p:oleObj name="Equation" r:id="rId6" imgW="24866600" imgH="9067800" progId="Equation.3">
                    <p:embed/>
                  </p:oleObj>
                </mc:Choice>
                <mc:Fallback>
                  <p:oleObj name="Equation" r:id="rId6" imgW="24866600" imgH="9067800" progId="Equation.3">
                    <p:embed/>
                    <p:pic>
                      <p:nvPicPr>
                        <p:cNvPr id="221192" name="Object 8">
                          <a:extLst>
                            <a:ext uri="{FF2B5EF4-FFF2-40B4-BE49-F238E27FC236}">
                              <a16:creationId xmlns:a16="http://schemas.microsoft.com/office/drawing/2014/main" id="{0F23035C-AB57-4642-B61A-89ECE3752F1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11772" y="2361493"/>
                          <a:ext cx="2297756" cy="836613"/>
                        </a:xfrm>
                        <a:prstGeom prst="rect">
                          <a:avLst/>
                        </a:prstGeom>
                        <a:noFill/>
                        <a:ln>
                          <a:noFill/>
                        </a:ln>
                        <a:effectLst/>
                      </p:spPr>
                    </p:pic>
                  </p:oleObj>
                </mc:Fallback>
              </mc:AlternateContent>
            </a:graphicData>
          </a:graphic>
        </p:graphicFrame>
        <p:graphicFrame>
          <p:nvGraphicFramePr>
            <p:cNvPr id="221193" name="Object 9">
              <a:extLst>
                <a:ext uri="{FF2B5EF4-FFF2-40B4-BE49-F238E27FC236}">
                  <a16:creationId xmlns:a16="http://schemas.microsoft.com/office/drawing/2014/main" id="{9F21809E-968A-5E41-8D3D-B31D44AEA5FB}"/>
                </a:ext>
              </a:extLst>
            </p:cNvPr>
            <p:cNvGraphicFramePr>
              <a:graphicFrameLocks noChangeAspect="1"/>
            </p:cNvGraphicFramePr>
            <p:nvPr/>
          </p:nvGraphicFramePr>
          <p:xfrm>
            <a:off x="6599154" y="2496461"/>
            <a:ext cx="1488535" cy="508106"/>
          </p:xfrm>
          <a:graphic>
            <a:graphicData uri="http://schemas.openxmlformats.org/presentationml/2006/ole">
              <mc:AlternateContent xmlns:mc="http://schemas.openxmlformats.org/markup-compatibility/2006">
                <mc:Choice xmlns:v="urn:schemas-microsoft-com:vml" Requires="v">
                  <p:oleObj name="Equation" r:id="rId8" imgW="12001500" imgH="4102100" progId="Equation.3">
                    <p:embed/>
                  </p:oleObj>
                </mc:Choice>
                <mc:Fallback>
                  <p:oleObj name="Equation" r:id="rId8" imgW="12001500" imgH="4102100" progId="Equation.3">
                    <p:embed/>
                    <p:pic>
                      <p:nvPicPr>
                        <p:cNvPr id="221193" name="Object 9">
                          <a:extLst>
                            <a:ext uri="{FF2B5EF4-FFF2-40B4-BE49-F238E27FC236}">
                              <a16:creationId xmlns:a16="http://schemas.microsoft.com/office/drawing/2014/main" id="{9F21809E-968A-5E41-8D3D-B31D44AEA5F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99154" y="2496461"/>
                          <a:ext cx="1488535" cy="508106"/>
                        </a:xfrm>
                        <a:prstGeom prst="rect">
                          <a:avLst/>
                        </a:prstGeom>
                        <a:noFill/>
                        <a:ln>
                          <a:noFill/>
                        </a:ln>
                        <a:effectLst/>
                      </p:spPr>
                    </p:pic>
                  </p:oleObj>
                </mc:Fallback>
              </mc:AlternateContent>
            </a:graphicData>
          </a:graphic>
        </p:graphicFrame>
      </p:grpSp>
    </p:spTree>
    <p:extLst>
      <p:ext uri="{BB962C8B-B14F-4D97-AF65-F5344CB8AC3E}">
        <p14:creationId xmlns:p14="http://schemas.microsoft.com/office/powerpoint/2010/main" val="8430207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1191"/>
                                        </p:tgtEl>
                                        <p:attrNameLst>
                                          <p:attrName>style.visibility</p:attrName>
                                        </p:attrNameLst>
                                      </p:cBhvr>
                                      <p:to>
                                        <p:strVal val="visible"/>
                                      </p:to>
                                    </p:set>
                                    <p:animEffect transition="in" filter="blinds(horizontal)">
                                      <p:cBhvr>
                                        <p:cTn id="7" dur="500"/>
                                        <p:tgtEl>
                                          <p:spTgt spid="221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443E7D54-CCF5-6A4B-B989-7A6D7049F47B}"/>
              </a:ext>
            </a:extLst>
          </p:cNvPr>
          <p:cNvSpPr>
            <a:spLocks noGrp="1" noChangeArrowheads="1"/>
          </p:cNvSpPr>
          <p:nvPr>
            <p:ph type="title"/>
          </p:nvPr>
        </p:nvSpPr>
        <p:spPr>
          <a:xfrm>
            <a:off x="1981200" y="274638"/>
            <a:ext cx="8229600" cy="982662"/>
          </a:xfrm>
        </p:spPr>
        <p:txBody>
          <a:bodyPr/>
          <a:lstStyle/>
          <a:p>
            <a:r>
              <a:rPr lang="en-US" altLang="en-US" i="1"/>
              <a:t>P</a:t>
            </a:r>
            <a:r>
              <a:rPr lang="en-US" altLang="en-US"/>
              <a:t>-value via Table C</a:t>
            </a:r>
          </a:p>
        </p:txBody>
      </p:sp>
      <p:sp>
        <p:nvSpPr>
          <p:cNvPr id="166915" name="Rectangle 3">
            <a:extLst>
              <a:ext uri="{FF2B5EF4-FFF2-40B4-BE49-F238E27FC236}">
                <a16:creationId xmlns:a16="http://schemas.microsoft.com/office/drawing/2014/main" id="{C595AFBD-36E9-0B49-A199-580997BBBEBD}"/>
              </a:ext>
            </a:extLst>
          </p:cNvPr>
          <p:cNvSpPr>
            <a:spLocks noGrp="1" noChangeArrowheads="1"/>
          </p:cNvSpPr>
          <p:nvPr>
            <p:ph idx="1"/>
          </p:nvPr>
        </p:nvSpPr>
        <p:spPr>
          <a:xfrm>
            <a:off x="1973263" y="1479550"/>
            <a:ext cx="8229600" cy="1346200"/>
          </a:xfrm>
        </p:spPr>
        <p:txBody>
          <a:bodyPr/>
          <a:lstStyle/>
          <a:p>
            <a:pPr marL="234950" indent="-234950"/>
            <a:r>
              <a:rPr lang="en-US" altLang="en-US"/>
              <a:t>Bracket |</a:t>
            </a:r>
            <a:r>
              <a:rPr lang="en-US" altLang="en-US" i="1"/>
              <a:t>t</a:t>
            </a:r>
            <a:r>
              <a:rPr lang="en-US" altLang="en-US" baseline="-25000"/>
              <a:t>stat</a:t>
            </a:r>
            <a:r>
              <a:rPr lang="en-US" altLang="en-US"/>
              <a:t>| between </a:t>
            </a:r>
            <a:r>
              <a:rPr lang="en-US" altLang="en-US" i="1"/>
              <a:t>t </a:t>
            </a:r>
            <a:r>
              <a:rPr lang="en-US" altLang="en-US"/>
              <a:t>critical values </a:t>
            </a:r>
          </a:p>
          <a:p>
            <a:pPr marL="234950" indent="-234950"/>
            <a:r>
              <a:rPr lang="en-US" altLang="en-US">
                <a:sym typeface="Symbol" pitchFamily="2" charset="2"/>
              </a:rPr>
              <a:t>For</a:t>
            </a:r>
            <a:r>
              <a:rPr lang="en-US" altLang="en-US" i="1">
                <a:sym typeface="Symbol" pitchFamily="2" charset="2"/>
              </a:rPr>
              <a:t> |t</a:t>
            </a:r>
            <a:r>
              <a:rPr lang="en-US" altLang="en-US" baseline="-25000">
                <a:sym typeface="Symbol" pitchFamily="2" charset="2"/>
              </a:rPr>
              <a:t>stat</a:t>
            </a:r>
            <a:r>
              <a:rPr lang="en-US" altLang="en-US">
                <a:sym typeface="Symbol" pitchFamily="2" charset="2"/>
              </a:rPr>
              <a:t>| = 1.80 with  9 </a:t>
            </a:r>
            <a:r>
              <a:rPr lang="en-US" altLang="en-US" i="1">
                <a:sym typeface="Symbol" pitchFamily="2" charset="2"/>
              </a:rPr>
              <a:t>df</a:t>
            </a:r>
            <a:r>
              <a:rPr lang="en-US" altLang="en-US">
                <a:sym typeface="Symbol" pitchFamily="2" charset="2"/>
              </a:rPr>
              <a:t> </a:t>
            </a:r>
          </a:p>
        </p:txBody>
      </p:sp>
      <p:sp>
        <p:nvSpPr>
          <p:cNvPr id="34" name="Date Placeholder 3">
            <a:extLst>
              <a:ext uri="{FF2B5EF4-FFF2-40B4-BE49-F238E27FC236}">
                <a16:creationId xmlns:a16="http://schemas.microsoft.com/office/drawing/2014/main" id="{7714BC02-B781-E64A-B9D1-37DF5557A93A}"/>
              </a:ext>
            </a:extLst>
          </p:cNvPr>
          <p:cNvSpPr>
            <a:spLocks noGrp="1"/>
          </p:cNvSpPr>
          <p:nvPr>
            <p:ph type="dt" sz="half" idx="10"/>
          </p:nvPr>
        </p:nvSpPr>
        <p:spPr/>
        <p:txBody>
          <a:bodyPr/>
          <a:lstStyle/>
          <a:p>
            <a:fld id="{07EC3E59-714E-BE44-8D3B-99AB4D93EC82}" type="datetime1">
              <a:rPr lang="en-US" altLang="en-US"/>
              <a:pPr/>
              <a:t>7/6/2026</a:t>
            </a:fld>
            <a:endParaRPr lang="en-US" altLang="en-US"/>
          </a:p>
        </p:txBody>
      </p:sp>
      <p:sp>
        <p:nvSpPr>
          <p:cNvPr id="35" name="Slide Number Placeholder 5">
            <a:extLst>
              <a:ext uri="{FF2B5EF4-FFF2-40B4-BE49-F238E27FC236}">
                <a16:creationId xmlns:a16="http://schemas.microsoft.com/office/drawing/2014/main" id="{0268F5A7-1FBB-B042-9B7A-935CAAB2F928}"/>
              </a:ext>
            </a:extLst>
          </p:cNvPr>
          <p:cNvSpPr>
            <a:spLocks noGrp="1"/>
          </p:cNvSpPr>
          <p:nvPr>
            <p:ph type="sldNum" sz="quarter" idx="12"/>
          </p:nvPr>
        </p:nvSpPr>
        <p:spPr/>
        <p:txBody>
          <a:bodyPr/>
          <a:lstStyle/>
          <a:p>
            <a:fld id="{5F36BB9B-29B1-4744-8E28-FCD907799358}" type="slidenum">
              <a:rPr lang="en-US" altLang="en-US"/>
              <a:pPr/>
              <a:t>55</a:t>
            </a:fld>
            <a:endParaRPr lang="en-US" altLang="en-US"/>
          </a:p>
        </p:txBody>
      </p:sp>
      <p:graphicFrame>
        <p:nvGraphicFramePr>
          <p:cNvPr id="166971" name="Group 59">
            <a:extLst>
              <a:ext uri="{FF2B5EF4-FFF2-40B4-BE49-F238E27FC236}">
                <a16:creationId xmlns:a16="http://schemas.microsoft.com/office/drawing/2014/main" id="{8EB741B4-ADEE-2941-BEDC-2ECDCAA32BC5}"/>
              </a:ext>
            </a:extLst>
          </p:cNvPr>
          <p:cNvGraphicFramePr>
            <a:graphicFrameLocks noGrp="1"/>
          </p:cNvGraphicFramePr>
          <p:nvPr/>
        </p:nvGraphicFramePr>
        <p:xfrm>
          <a:off x="1920876" y="3300413"/>
          <a:ext cx="8067675" cy="1127760"/>
        </p:xfrm>
        <a:graphic>
          <a:graphicData uri="http://schemas.openxmlformats.org/drawingml/2006/table">
            <a:tbl>
              <a:tblPr/>
              <a:tblGrid>
                <a:gridCol w="1830388">
                  <a:extLst>
                    <a:ext uri="{9D8B030D-6E8A-4147-A177-3AD203B41FA5}">
                      <a16:colId xmlns:a16="http://schemas.microsoft.com/office/drawing/2014/main" val="222801157"/>
                    </a:ext>
                  </a:extLst>
                </a:gridCol>
                <a:gridCol w="1125537">
                  <a:extLst>
                    <a:ext uri="{9D8B030D-6E8A-4147-A177-3AD203B41FA5}">
                      <a16:colId xmlns:a16="http://schemas.microsoft.com/office/drawing/2014/main" val="3414794209"/>
                    </a:ext>
                  </a:extLst>
                </a:gridCol>
                <a:gridCol w="1066800">
                  <a:extLst>
                    <a:ext uri="{9D8B030D-6E8A-4147-A177-3AD203B41FA5}">
                      <a16:colId xmlns:a16="http://schemas.microsoft.com/office/drawing/2014/main" val="1710895533"/>
                    </a:ext>
                  </a:extLst>
                </a:gridCol>
                <a:gridCol w="1031875">
                  <a:extLst>
                    <a:ext uri="{9D8B030D-6E8A-4147-A177-3AD203B41FA5}">
                      <a16:colId xmlns:a16="http://schemas.microsoft.com/office/drawing/2014/main" val="2795647113"/>
                    </a:ext>
                  </a:extLst>
                </a:gridCol>
                <a:gridCol w="969963">
                  <a:extLst>
                    <a:ext uri="{9D8B030D-6E8A-4147-A177-3AD203B41FA5}">
                      <a16:colId xmlns:a16="http://schemas.microsoft.com/office/drawing/2014/main" val="4100883891"/>
                    </a:ext>
                  </a:extLst>
                </a:gridCol>
                <a:gridCol w="963612">
                  <a:extLst>
                    <a:ext uri="{9D8B030D-6E8A-4147-A177-3AD203B41FA5}">
                      <a16:colId xmlns:a16="http://schemas.microsoft.com/office/drawing/2014/main" val="3448508846"/>
                    </a:ext>
                  </a:extLst>
                </a:gridCol>
                <a:gridCol w="1079500">
                  <a:extLst>
                    <a:ext uri="{9D8B030D-6E8A-4147-A177-3AD203B41FA5}">
                      <a16:colId xmlns:a16="http://schemas.microsoft.com/office/drawing/2014/main" val="769023755"/>
                    </a:ext>
                  </a:extLst>
                </a:gridCol>
              </a:tblGrid>
              <a:tr h="161925">
                <a:tc gridSpan="7">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Table C. </a:t>
                      </a:r>
                    </a:p>
                  </a:txBody>
                  <a:tcPr horzOverflow="overflow">
                    <a:lnL cap="flat">
                      <a:noFill/>
                    </a:lnL>
                    <a:lnR cap="flat">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46773087"/>
                  </a:ext>
                </a:extLst>
              </a:tr>
              <a:tr h="161925">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Upper-tail P</a:t>
                      </a:r>
                      <a:endParaRPr kumimoji="0" lang="en-US" altLang="en-US"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horzOverflow="overflow">
                    <a:lnL cap="flat">
                      <a:noFill/>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0.25</a:t>
                      </a:r>
                    </a:p>
                  </a:txBody>
                  <a:tcPr anchor="b" horzOverflow="overflow">
                    <a:lnL w="9525"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0.20</a:t>
                      </a:r>
                    </a:p>
                  </a:txBody>
                  <a:tcPr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0.15</a:t>
                      </a:r>
                    </a:p>
                  </a:txBody>
                  <a:tcPr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0.10</a:t>
                      </a:r>
                    </a:p>
                  </a:txBody>
                  <a:tcPr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0.05</a:t>
                      </a:r>
                    </a:p>
                  </a:txBody>
                  <a:tcPr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0.025</a:t>
                      </a:r>
                    </a:p>
                  </a:txBody>
                  <a:tcPr anchor="b"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70389739"/>
                  </a:ext>
                </a:extLst>
              </a:tr>
              <a:tr h="360363">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1"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df</a:t>
                      </a:r>
                      <a:r>
                        <a:rPr kumimoji="0" lang="en-US" altLang="en-US"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 9</a:t>
                      </a:r>
                    </a:p>
                  </a:txBody>
                  <a:tcPr horzOverflow="overflow">
                    <a:lnL cap="flat">
                      <a:noFill/>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0.703</a:t>
                      </a:r>
                    </a:p>
                  </a:txBody>
                  <a:tcPr anchor="b" horzOverflow="overflow">
                    <a:lnL w="9525"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0.883</a:t>
                      </a:r>
                    </a:p>
                  </a:txBody>
                  <a:tcPr anchor="b" horzOverflow="overflow">
                    <a:lnL>
                      <a:noFill/>
                    </a:lnL>
                    <a:lnR>
                      <a:noFill/>
                    </a:lnR>
                    <a:lnT w="12700" cap="flat" cmpd="sng" algn="ctr">
                      <a:solidFill>
                        <a:schemeClr val="tx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1.100</a:t>
                      </a:r>
                    </a:p>
                  </a:txBody>
                  <a:tcPr anchor="b" horzOverflow="overflow">
                    <a:lnL>
                      <a:noFill/>
                    </a:lnL>
                    <a:lnR>
                      <a:noFill/>
                    </a:lnR>
                    <a:lnT w="12700" cap="flat" cmpd="sng" algn="ctr">
                      <a:solidFill>
                        <a:schemeClr val="tx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1.383</a:t>
                      </a:r>
                    </a:p>
                  </a:txBody>
                  <a:tcPr anchor="b" horzOverflow="overflow">
                    <a:lnL>
                      <a:noFill/>
                    </a:lnL>
                    <a:lnR>
                      <a:noFill/>
                    </a:lnR>
                    <a:lnT w="12700" cap="flat" cmpd="sng" algn="ctr">
                      <a:solidFill>
                        <a:schemeClr val="tx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1.833</a:t>
                      </a:r>
                    </a:p>
                  </a:txBody>
                  <a:tcPr anchor="b" horzOverflow="overflow">
                    <a:lnL>
                      <a:noFill/>
                    </a:lnL>
                    <a:lnR>
                      <a:noFill/>
                    </a:lnR>
                    <a:lnT w="12700" cap="flat" cmpd="sng" algn="ctr">
                      <a:solidFill>
                        <a:schemeClr val="tx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2.262</a:t>
                      </a:r>
                    </a:p>
                  </a:txBody>
                  <a:tcPr anchor="b" horzOverflow="overflow">
                    <a:lnL>
                      <a:noFill/>
                    </a:lnL>
                    <a:lnR cap="flat">
                      <a:noFill/>
                    </a:lnR>
                    <a:lnT w="12700" cap="flat" cmpd="sng" algn="ctr">
                      <a:solidFill>
                        <a:schemeClr val="tx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57589764"/>
                  </a:ext>
                </a:extLst>
              </a:tr>
            </a:tbl>
          </a:graphicData>
        </a:graphic>
      </p:graphicFrame>
      <p:sp>
        <p:nvSpPr>
          <p:cNvPr id="166968" name="Rectangle 56">
            <a:extLst>
              <a:ext uri="{FF2B5EF4-FFF2-40B4-BE49-F238E27FC236}">
                <a16:creationId xmlns:a16="http://schemas.microsoft.com/office/drawing/2014/main" id="{FFB63218-229F-A041-A851-8741CBE1ACA9}"/>
              </a:ext>
            </a:extLst>
          </p:cNvPr>
          <p:cNvSpPr>
            <a:spLocks noChangeArrowheads="1"/>
          </p:cNvSpPr>
          <p:nvPr/>
        </p:nvSpPr>
        <p:spPr bwMode="auto">
          <a:xfrm>
            <a:off x="1914525" y="5024438"/>
            <a:ext cx="7302143"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800100" indent="-342900">
              <a:spcBef>
                <a:spcPct val="20000"/>
              </a:spcBef>
              <a:buChar char="–"/>
              <a:defRPr sz="2800">
                <a:solidFill>
                  <a:schemeClr val="tx1"/>
                </a:solidFill>
                <a:latin typeface="Arial" panose="020B0604020202020204" pitchFamily="34" charset="0"/>
              </a:defRPr>
            </a:lvl2pPr>
            <a:lvl3pPr marL="1219200" indent="-304800">
              <a:spcBef>
                <a:spcPct val="20000"/>
              </a:spcBef>
              <a:buChar char="•"/>
              <a:defRPr sz="2400">
                <a:solidFill>
                  <a:schemeClr val="tx1"/>
                </a:solidFill>
                <a:latin typeface="Arial" panose="020B0604020202020204" pitchFamily="34" charset="0"/>
              </a:defRPr>
            </a:lvl3pPr>
            <a:lvl4pPr marL="1638300" indent="-266700">
              <a:spcBef>
                <a:spcPct val="20000"/>
              </a:spcBef>
              <a:buChar char="–"/>
              <a:defRPr sz="2000">
                <a:solidFill>
                  <a:schemeClr val="tx1"/>
                </a:solidFill>
                <a:latin typeface="Arial" panose="020B0604020202020204" pitchFamily="34" charset="0"/>
              </a:defRPr>
            </a:lvl4pPr>
            <a:lvl5pPr marL="2095500" indent="-266700">
              <a:spcBef>
                <a:spcPct val="20000"/>
              </a:spcBef>
              <a:buChar char="»"/>
              <a:defRPr sz="2000">
                <a:solidFill>
                  <a:schemeClr val="tx1"/>
                </a:solidFill>
                <a:latin typeface="Arial" panose="020B0604020202020204" pitchFamily="34" charset="0"/>
              </a:defRPr>
            </a:lvl5pPr>
            <a:lvl6pPr marL="2552700" indent="-266700" fontAlgn="base">
              <a:spcBef>
                <a:spcPct val="20000"/>
              </a:spcBef>
              <a:spcAft>
                <a:spcPct val="0"/>
              </a:spcAft>
              <a:buChar char="»"/>
              <a:defRPr sz="2000">
                <a:solidFill>
                  <a:schemeClr val="tx1"/>
                </a:solidFill>
                <a:latin typeface="Arial" panose="020B0604020202020204" pitchFamily="34" charset="0"/>
              </a:defRPr>
            </a:lvl6pPr>
            <a:lvl7pPr marL="3009900" indent="-266700" fontAlgn="base">
              <a:spcBef>
                <a:spcPct val="20000"/>
              </a:spcBef>
              <a:spcAft>
                <a:spcPct val="0"/>
              </a:spcAft>
              <a:buChar char="»"/>
              <a:defRPr sz="2000">
                <a:solidFill>
                  <a:schemeClr val="tx1"/>
                </a:solidFill>
                <a:latin typeface="Arial" panose="020B0604020202020204" pitchFamily="34" charset="0"/>
              </a:defRPr>
            </a:lvl7pPr>
            <a:lvl8pPr marL="3467100" indent="-266700" fontAlgn="base">
              <a:spcBef>
                <a:spcPct val="20000"/>
              </a:spcBef>
              <a:spcAft>
                <a:spcPct val="0"/>
              </a:spcAft>
              <a:buChar char="»"/>
              <a:defRPr sz="2000">
                <a:solidFill>
                  <a:schemeClr val="tx1"/>
                </a:solidFill>
                <a:latin typeface="Arial" panose="020B0604020202020204" pitchFamily="34" charset="0"/>
              </a:defRPr>
            </a:lvl8pPr>
            <a:lvl9pPr marL="3924300" indent="-266700" fontAlgn="base">
              <a:spcBef>
                <a:spcPct val="20000"/>
              </a:spcBef>
              <a:spcAft>
                <a:spcPct val="0"/>
              </a:spcAft>
              <a:buChar char="»"/>
              <a:defRPr sz="2000">
                <a:solidFill>
                  <a:schemeClr val="tx1"/>
                </a:solidFill>
                <a:latin typeface="Arial" panose="020B0604020202020204" pitchFamily="34" charset="0"/>
              </a:defRPr>
            </a:lvl9pPr>
          </a:lstStyle>
          <a:p>
            <a:pPr>
              <a:buFont typeface="Wingdings" pitchFamily="2" charset="2"/>
              <a:buNone/>
            </a:pPr>
            <a:r>
              <a:rPr lang="en-US" altLang="en-US" sz="2000" dirty="0">
                <a:sym typeface="Symbol" pitchFamily="2" charset="2"/>
              </a:rPr>
              <a:t>Thus  O</a:t>
            </a:r>
            <a:r>
              <a:rPr lang="en-US" altLang="en-US" sz="2000" dirty="0"/>
              <a:t>ne-tailed: 0.05 &lt; </a:t>
            </a:r>
            <a:r>
              <a:rPr lang="en-US" altLang="en-US" sz="2000" i="1" dirty="0"/>
              <a:t>P </a:t>
            </a:r>
            <a:r>
              <a:rPr lang="en-US" altLang="en-US" sz="2000" dirty="0"/>
              <a:t>&lt; 0.10 </a:t>
            </a:r>
          </a:p>
          <a:p>
            <a:pPr>
              <a:buFont typeface="Wingdings" pitchFamily="2" charset="2"/>
              <a:buNone/>
            </a:pPr>
            <a:r>
              <a:rPr lang="en-US" altLang="en-US" sz="2000" dirty="0"/>
              <a:t>	    Two-tailed: 0.10 &lt; </a:t>
            </a:r>
            <a:r>
              <a:rPr lang="en-US" altLang="en-US" sz="2000" i="1" dirty="0"/>
              <a:t>P </a:t>
            </a:r>
            <a:r>
              <a:rPr lang="en-US" altLang="en-US" sz="2000" dirty="0"/>
              <a:t>&lt; 0.20 </a:t>
            </a:r>
          </a:p>
        </p:txBody>
      </p:sp>
      <p:grpSp>
        <p:nvGrpSpPr>
          <p:cNvPr id="166982" name="Group 70">
            <a:extLst>
              <a:ext uri="{FF2B5EF4-FFF2-40B4-BE49-F238E27FC236}">
                <a16:creationId xmlns:a16="http://schemas.microsoft.com/office/drawing/2014/main" id="{EC03495A-BA0B-1E46-AC7E-F49A6F5D90F5}"/>
              </a:ext>
            </a:extLst>
          </p:cNvPr>
          <p:cNvGrpSpPr>
            <a:grpSpLocks/>
          </p:cNvGrpSpPr>
          <p:nvPr/>
        </p:nvGrpSpPr>
        <p:grpSpPr bwMode="auto">
          <a:xfrm>
            <a:off x="7143813" y="2929256"/>
            <a:ext cx="1471613" cy="1143000"/>
            <a:chOff x="3505" y="1683"/>
            <a:chExt cx="927" cy="720"/>
          </a:xfrm>
        </p:grpSpPr>
        <p:sp>
          <p:nvSpPr>
            <p:cNvPr id="166980" name="Rectangle 68">
              <a:extLst>
                <a:ext uri="{FF2B5EF4-FFF2-40B4-BE49-F238E27FC236}">
                  <a16:creationId xmlns:a16="http://schemas.microsoft.com/office/drawing/2014/main" id="{793561ED-6D92-3145-83BF-5E4E767DB296}"/>
                </a:ext>
              </a:extLst>
            </p:cNvPr>
            <p:cNvSpPr>
              <a:spLocks noChangeArrowheads="1"/>
            </p:cNvSpPr>
            <p:nvPr/>
          </p:nvSpPr>
          <p:spPr bwMode="auto">
            <a:xfrm>
              <a:off x="3505" y="1683"/>
              <a:ext cx="92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dirty="0">
                  <a:solidFill>
                    <a:srgbClr val="FF0000"/>
                  </a:solidFill>
                </a:rPr>
                <a:t>|</a:t>
              </a:r>
              <a:r>
                <a:rPr lang="en-US" altLang="en-US" i="1" dirty="0" err="1">
                  <a:solidFill>
                    <a:srgbClr val="FF0000"/>
                  </a:solidFill>
                </a:rPr>
                <a:t>t</a:t>
              </a:r>
              <a:r>
                <a:rPr lang="en-US" altLang="en-US" baseline="-25000" dirty="0" err="1">
                  <a:solidFill>
                    <a:srgbClr val="FF0000"/>
                  </a:solidFill>
                </a:rPr>
                <a:t>stat</a:t>
              </a:r>
              <a:r>
                <a:rPr lang="en-US" altLang="en-US" i="1" dirty="0">
                  <a:solidFill>
                    <a:srgbClr val="FF0000"/>
                  </a:solidFill>
                </a:rPr>
                <a:t>|</a:t>
              </a:r>
              <a:r>
                <a:rPr lang="en-US" altLang="en-US" dirty="0">
                  <a:solidFill>
                    <a:srgbClr val="FF0000"/>
                  </a:solidFill>
                </a:rPr>
                <a:t> =</a:t>
              </a:r>
              <a:r>
                <a:rPr lang="en-US" altLang="en-US" sz="1600" dirty="0">
                  <a:solidFill>
                    <a:srgbClr val="FF0000"/>
                  </a:solidFill>
                </a:rPr>
                <a:t>  </a:t>
              </a:r>
              <a:r>
                <a:rPr lang="en-US" altLang="en-US" dirty="0">
                  <a:solidFill>
                    <a:srgbClr val="FF0000"/>
                  </a:solidFill>
                </a:rPr>
                <a:t>1.80</a:t>
              </a:r>
            </a:p>
          </p:txBody>
        </p:sp>
        <p:sp>
          <p:nvSpPr>
            <p:cNvPr id="166981" name="Line 69">
              <a:extLst>
                <a:ext uri="{FF2B5EF4-FFF2-40B4-BE49-F238E27FC236}">
                  <a16:creationId xmlns:a16="http://schemas.microsoft.com/office/drawing/2014/main" id="{A1743AA6-7A24-874E-A606-8CA31647F844}"/>
                </a:ext>
              </a:extLst>
            </p:cNvPr>
            <p:cNvSpPr>
              <a:spLocks noChangeShapeType="1"/>
            </p:cNvSpPr>
            <p:nvPr/>
          </p:nvSpPr>
          <p:spPr bwMode="auto">
            <a:xfrm>
              <a:off x="4009" y="1971"/>
              <a:ext cx="0" cy="432"/>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400"/>
            </a:p>
          </p:txBody>
        </p:sp>
      </p:grpSp>
      <p:sp>
        <p:nvSpPr>
          <p:cNvPr id="166985" name="Oval 73">
            <a:extLst>
              <a:ext uri="{FF2B5EF4-FFF2-40B4-BE49-F238E27FC236}">
                <a16:creationId xmlns:a16="http://schemas.microsoft.com/office/drawing/2014/main" id="{76BBCB7D-F5CC-5349-B2FD-D2A7EA5680E1}"/>
              </a:ext>
            </a:extLst>
          </p:cNvPr>
          <p:cNvSpPr>
            <a:spLocks noChangeArrowheads="1"/>
          </p:cNvSpPr>
          <p:nvPr/>
        </p:nvSpPr>
        <p:spPr bwMode="auto">
          <a:xfrm>
            <a:off x="6886309" y="4014154"/>
            <a:ext cx="1986619" cy="50006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400"/>
          </a:p>
        </p:txBody>
      </p:sp>
    </p:spTree>
    <p:extLst>
      <p:ext uri="{BB962C8B-B14F-4D97-AF65-F5344CB8AC3E}">
        <p14:creationId xmlns:p14="http://schemas.microsoft.com/office/powerpoint/2010/main" val="2480146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6915">
                                            <p:txEl>
                                              <p:pRg st="0" end="0"/>
                                            </p:txEl>
                                          </p:spTgt>
                                        </p:tgtEl>
                                        <p:attrNameLst>
                                          <p:attrName>style.visibility</p:attrName>
                                        </p:attrNameLst>
                                      </p:cBhvr>
                                      <p:to>
                                        <p:strVal val="visible"/>
                                      </p:to>
                                    </p:set>
                                    <p:animEffect transition="in" filter="fade">
                                      <p:cBhvr>
                                        <p:cTn id="7" dur="1000"/>
                                        <p:tgtEl>
                                          <p:spTgt spid="166915">
                                            <p:txEl>
                                              <p:pRg st="0" end="0"/>
                                            </p:txEl>
                                          </p:spTgt>
                                        </p:tgtEl>
                                      </p:cBhvr>
                                    </p:animEffect>
                                    <p:anim calcmode="lin" valueType="num">
                                      <p:cBhvr>
                                        <p:cTn id="8" dur="1000" fill="hold"/>
                                        <p:tgtEl>
                                          <p:spTgt spid="1669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69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66915">
                                            <p:txEl>
                                              <p:pRg st="1" end="1"/>
                                            </p:txEl>
                                          </p:spTgt>
                                        </p:tgtEl>
                                        <p:attrNameLst>
                                          <p:attrName>style.visibility</p:attrName>
                                        </p:attrNameLst>
                                      </p:cBhvr>
                                      <p:to>
                                        <p:strVal val="visible"/>
                                      </p:to>
                                    </p:set>
                                    <p:animEffect transition="in" filter="fade">
                                      <p:cBhvr>
                                        <p:cTn id="14" dur="1000"/>
                                        <p:tgtEl>
                                          <p:spTgt spid="166915">
                                            <p:txEl>
                                              <p:pRg st="1" end="1"/>
                                            </p:txEl>
                                          </p:spTgt>
                                        </p:tgtEl>
                                      </p:cBhvr>
                                    </p:animEffect>
                                    <p:anim calcmode="lin" valueType="num">
                                      <p:cBhvr>
                                        <p:cTn id="15" dur="1000" fill="hold"/>
                                        <p:tgtEl>
                                          <p:spTgt spid="16691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669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166971"/>
                                        </p:tgtEl>
                                        <p:attrNameLst>
                                          <p:attrName>style.visibility</p:attrName>
                                        </p:attrNameLst>
                                      </p:cBhvr>
                                      <p:to>
                                        <p:strVal val="visible"/>
                                      </p:to>
                                    </p:set>
                                    <p:animEffect transition="in" filter="blinds(horizontal)">
                                      <p:cBhvr>
                                        <p:cTn id="21" dur="500"/>
                                        <p:tgtEl>
                                          <p:spTgt spid="16697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1" fill="hold" nodeType="clickEffect">
                                  <p:stCondLst>
                                    <p:cond delay="0"/>
                                  </p:stCondLst>
                                  <p:childTnLst>
                                    <p:set>
                                      <p:cBhvr>
                                        <p:cTn id="25" dur="1" fill="hold">
                                          <p:stCondLst>
                                            <p:cond delay="0"/>
                                          </p:stCondLst>
                                        </p:cTn>
                                        <p:tgtEl>
                                          <p:spTgt spid="166982"/>
                                        </p:tgtEl>
                                        <p:attrNameLst>
                                          <p:attrName>style.visibility</p:attrName>
                                        </p:attrNameLst>
                                      </p:cBhvr>
                                      <p:to>
                                        <p:strVal val="visible"/>
                                      </p:to>
                                    </p:set>
                                    <p:anim calcmode="lin" valueType="num">
                                      <p:cBhvr additive="base">
                                        <p:cTn id="26" dur="500" fill="hold"/>
                                        <p:tgtEl>
                                          <p:spTgt spid="166982"/>
                                        </p:tgtEl>
                                        <p:attrNameLst>
                                          <p:attrName>ppt_x</p:attrName>
                                        </p:attrNameLst>
                                      </p:cBhvr>
                                      <p:tavLst>
                                        <p:tav tm="0">
                                          <p:val>
                                            <p:strVal val="#ppt_x"/>
                                          </p:val>
                                        </p:tav>
                                        <p:tav tm="100000">
                                          <p:val>
                                            <p:strVal val="#ppt_x"/>
                                          </p:val>
                                        </p:tav>
                                      </p:tavLst>
                                    </p:anim>
                                    <p:anim calcmode="lin" valueType="num">
                                      <p:cBhvr additive="base">
                                        <p:cTn id="27" dur="500" fill="hold"/>
                                        <p:tgtEl>
                                          <p:spTgt spid="166982"/>
                                        </p:tgtEl>
                                        <p:attrNameLst>
                                          <p:attrName>ppt_y</p:attrName>
                                        </p:attrNameLst>
                                      </p:cBhvr>
                                      <p:tavLst>
                                        <p:tav tm="0">
                                          <p:val>
                                            <p:strVal val="0-#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66985"/>
                                        </p:tgtEl>
                                        <p:attrNameLst>
                                          <p:attrName>style.visibility</p:attrName>
                                        </p:attrNameLst>
                                      </p:cBhvr>
                                      <p:to>
                                        <p:strVal val="visible"/>
                                      </p:to>
                                    </p:set>
                                    <p:animEffect transition="in" filter="blinds(horizontal)">
                                      <p:cBhvr>
                                        <p:cTn id="32" dur="500"/>
                                        <p:tgtEl>
                                          <p:spTgt spid="16698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66968"/>
                                        </p:tgtEl>
                                        <p:attrNameLst>
                                          <p:attrName>style.visibility</p:attrName>
                                        </p:attrNameLst>
                                      </p:cBhvr>
                                      <p:to>
                                        <p:strVal val="visible"/>
                                      </p:to>
                                    </p:set>
                                    <p:animEffect transition="in" filter="blinds(horizontal)">
                                      <p:cBhvr>
                                        <p:cTn id="37" dur="500"/>
                                        <p:tgtEl>
                                          <p:spTgt spid="166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5" grpId="0" build="p"/>
      <p:bldP spid="16696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a:extLst>
              <a:ext uri="{FF2B5EF4-FFF2-40B4-BE49-F238E27FC236}">
                <a16:creationId xmlns:a16="http://schemas.microsoft.com/office/drawing/2014/main" id="{0E99C44A-A990-EE48-9AA5-3141EB65DDD4}"/>
              </a:ext>
            </a:extLst>
          </p:cNvPr>
          <p:cNvSpPr>
            <a:spLocks noGrp="1" noChangeArrowheads="1"/>
          </p:cNvSpPr>
          <p:nvPr>
            <p:ph type="title"/>
          </p:nvPr>
        </p:nvSpPr>
        <p:spPr>
          <a:xfrm>
            <a:off x="828675" y="496888"/>
            <a:ext cx="9382125" cy="1143000"/>
          </a:xfrm>
        </p:spPr>
        <p:txBody>
          <a:bodyPr>
            <a:normAutofit/>
          </a:bodyPr>
          <a:lstStyle/>
          <a:p>
            <a:r>
              <a:rPr lang="en-US" altLang="en-US" sz="4000" dirty="0"/>
              <a:t>For a more precise </a:t>
            </a:r>
            <a:r>
              <a:rPr lang="en-US" altLang="en-US" sz="4000" i="1" dirty="0"/>
              <a:t>P</a:t>
            </a:r>
            <a:r>
              <a:rPr lang="en-US" altLang="en-US" sz="4000" dirty="0"/>
              <a:t>-value use a computer utility</a:t>
            </a:r>
          </a:p>
        </p:txBody>
      </p:sp>
      <p:pic>
        <p:nvPicPr>
          <p:cNvPr id="258097" name="Picture 49">
            <a:extLst>
              <a:ext uri="{FF2B5EF4-FFF2-40B4-BE49-F238E27FC236}">
                <a16:creationId xmlns:a16="http://schemas.microsoft.com/office/drawing/2014/main" id="{C355A98D-DE49-D843-A289-0A345397A0D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166939" y="2003425"/>
            <a:ext cx="3298825" cy="3468688"/>
          </a:xfrm>
          <a:noFill/>
          <a:ln/>
        </p:spPr>
      </p:pic>
      <p:sp>
        <p:nvSpPr>
          <p:cNvPr id="7" name="Date Placeholder 3">
            <a:extLst>
              <a:ext uri="{FF2B5EF4-FFF2-40B4-BE49-F238E27FC236}">
                <a16:creationId xmlns:a16="http://schemas.microsoft.com/office/drawing/2014/main" id="{8FDD8BAA-8D04-E64E-9D3D-30782DFB8FE5}"/>
              </a:ext>
            </a:extLst>
          </p:cNvPr>
          <p:cNvSpPr>
            <a:spLocks noGrp="1"/>
          </p:cNvSpPr>
          <p:nvPr>
            <p:ph type="dt" sz="half" idx="10"/>
          </p:nvPr>
        </p:nvSpPr>
        <p:spPr/>
        <p:txBody>
          <a:bodyPr/>
          <a:lstStyle/>
          <a:p>
            <a:fld id="{9837CF41-D98D-D248-B971-730BB05A6167}" type="datetime1">
              <a:rPr lang="en-US" altLang="en-US"/>
              <a:pPr/>
              <a:t>7/6/2026</a:t>
            </a:fld>
            <a:endParaRPr lang="en-US" altLang="en-US"/>
          </a:p>
        </p:txBody>
      </p:sp>
      <p:sp>
        <p:nvSpPr>
          <p:cNvPr id="8" name="Slide Number Placeholder 5">
            <a:extLst>
              <a:ext uri="{FF2B5EF4-FFF2-40B4-BE49-F238E27FC236}">
                <a16:creationId xmlns:a16="http://schemas.microsoft.com/office/drawing/2014/main" id="{DBFA7D65-2919-BE4D-A4A1-6376B066E580}"/>
              </a:ext>
            </a:extLst>
          </p:cNvPr>
          <p:cNvSpPr>
            <a:spLocks noGrp="1"/>
          </p:cNvSpPr>
          <p:nvPr>
            <p:ph type="sldNum" sz="quarter" idx="12"/>
          </p:nvPr>
        </p:nvSpPr>
        <p:spPr/>
        <p:txBody>
          <a:bodyPr/>
          <a:lstStyle/>
          <a:p>
            <a:fld id="{2B677673-C571-F040-B91C-FA5F25FBFB38}" type="slidenum">
              <a:rPr lang="en-US" altLang="en-US"/>
              <a:pPr/>
              <a:t>56</a:t>
            </a:fld>
            <a:endParaRPr lang="en-US" altLang="en-US"/>
          </a:p>
        </p:txBody>
      </p:sp>
      <p:pic>
        <p:nvPicPr>
          <p:cNvPr id="258101" name="Picture 53">
            <a:extLst>
              <a:ext uri="{FF2B5EF4-FFF2-40B4-BE49-F238E27FC236}">
                <a16:creationId xmlns:a16="http://schemas.microsoft.com/office/drawing/2014/main" id="{78333FA3-70AC-5F40-8550-55B5079F67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8314" y="3344863"/>
            <a:ext cx="5119687" cy="290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8102" name="Text Box 54">
            <a:extLst>
              <a:ext uri="{FF2B5EF4-FFF2-40B4-BE49-F238E27FC236}">
                <a16:creationId xmlns:a16="http://schemas.microsoft.com/office/drawing/2014/main" id="{5959D0B3-EB2B-DE4C-B37E-9771D62898EE}"/>
              </a:ext>
            </a:extLst>
          </p:cNvPr>
          <p:cNvSpPr txBox="1">
            <a:spLocks noChangeArrowheads="1"/>
          </p:cNvSpPr>
          <p:nvPr/>
        </p:nvSpPr>
        <p:spPr bwMode="auto">
          <a:xfrm>
            <a:off x="5813425" y="1809751"/>
            <a:ext cx="42608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Here’s output from the free utility StaTable</a:t>
            </a:r>
          </a:p>
        </p:txBody>
      </p:sp>
      <p:sp>
        <p:nvSpPr>
          <p:cNvPr id="258103" name="Text Box 55">
            <a:extLst>
              <a:ext uri="{FF2B5EF4-FFF2-40B4-BE49-F238E27FC236}">
                <a16:creationId xmlns:a16="http://schemas.microsoft.com/office/drawing/2014/main" id="{14BD5DAE-ED41-0046-B93F-F5946A549816}"/>
              </a:ext>
            </a:extLst>
          </p:cNvPr>
          <p:cNvSpPr txBox="1">
            <a:spLocks noChangeArrowheads="1"/>
          </p:cNvSpPr>
          <p:nvPr/>
        </p:nvSpPr>
        <p:spPr bwMode="auto">
          <a:xfrm>
            <a:off x="5834064" y="2832100"/>
            <a:ext cx="14951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Graphically:</a:t>
            </a:r>
          </a:p>
        </p:txBody>
      </p:sp>
    </p:spTree>
    <p:extLst>
      <p:ext uri="{BB962C8B-B14F-4D97-AF65-F5344CB8AC3E}">
        <p14:creationId xmlns:p14="http://schemas.microsoft.com/office/powerpoint/2010/main" val="30333822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58097"/>
                                        </p:tgtEl>
                                        <p:attrNameLst>
                                          <p:attrName>style.visibility</p:attrName>
                                        </p:attrNameLst>
                                      </p:cBhvr>
                                      <p:to>
                                        <p:strVal val="visible"/>
                                      </p:to>
                                    </p:set>
                                    <p:animEffect transition="in" filter="blinds(horizontal)">
                                      <p:cBhvr>
                                        <p:cTn id="7" dur="500"/>
                                        <p:tgtEl>
                                          <p:spTgt spid="2580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8103"/>
                                        </p:tgtEl>
                                        <p:attrNameLst>
                                          <p:attrName>style.visibility</p:attrName>
                                        </p:attrNameLst>
                                      </p:cBhvr>
                                      <p:to>
                                        <p:strVal val="visible"/>
                                      </p:to>
                                    </p:set>
                                    <p:animEffect transition="in" filter="blinds(horizontal)">
                                      <p:cBhvr>
                                        <p:cTn id="12" dur="500"/>
                                        <p:tgtEl>
                                          <p:spTgt spid="2581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58101"/>
                                        </p:tgtEl>
                                        <p:attrNameLst>
                                          <p:attrName>style.visibility</p:attrName>
                                        </p:attrNameLst>
                                      </p:cBhvr>
                                      <p:to>
                                        <p:strVal val="visible"/>
                                      </p:to>
                                    </p:set>
                                    <p:animEffect transition="in" filter="blinds(horizontal)">
                                      <p:cBhvr>
                                        <p:cTn id="17" dur="500"/>
                                        <p:tgtEl>
                                          <p:spTgt spid="258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103" grpId="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6658" name="Rectangle 2">
            <a:extLst>
              <a:ext uri="{FF2B5EF4-FFF2-40B4-BE49-F238E27FC236}">
                <a16:creationId xmlns:a16="http://schemas.microsoft.com/office/drawing/2014/main" id="{E00F3571-C8D9-9042-968F-6B70B03C8423}"/>
              </a:ext>
            </a:extLst>
          </p:cNvPr>
          <p:cNvSpPr>
            <a:spLocks noGrp="1" noChangeArrowheads="1"/>
          </p:cNvSpPr>
          <p:nvPr>
            <p:ph type="title"/>
          </p:nvPr>
        </p:nvSpPr>
        <p:spPr>
          <a:xfrm>
            <a:off x="1054100" y="338140"/>
            <a:ext cx="10972800" cy="1143000"/>
          </a:xfrm>
        </p:spPr>
        <p:txBody>
          <a:bodyPr/>
          <a:lstStyle/>
          <a:p>
            <a:r>
              <a:rPr lang="en-US" altLang="en-US" dirty="0"/>
              <a:t>Interpretation</a:t>
            </a:r>
          </a:p>
        </p:txBody>
      </p:sp>
      <p:sp>
        <p:nvSpPr>
          <p:cNvPr id="326690" name="Rectangle 34">
            <a:extLst>
              <a:ext uri="{FF2B5EF4-FFF2-40B4-BE49-F238E27FC236}">
                <a16:creationId xmlns:a16="http://schemas.microsoft.com/office/drawing/2014/main" id="{5444BF95-3FC1-7A4A-BD33-155BC347B961}"/>
              </a:ext>
            </a:extLst>
          </p:cNvPr>
          <p:cNvSpPr>
            <a:spLocks noGrp="1" noChangeArrowheads="1"/>
          </p:cNvSpPr>
          <p:nvPr>
            <p:ph type="body" sz="half" idx="1"/>
          </p:nvPr>
        </p:nvSpPr>
        <p:spPr>
          <a:xfrm>
            <a:off x="912382" y="1727189"/>
            <a:ext cx="6311900" cy="3438263"/>
          </a:xfrm>
        </p:spPr>
        <p:txBody>
          <a:bodyPr>
            <a:normAutofit/>
          </a:bodyPr>
          <a:lstStyle/>
          <a:p>
            <a:r>
              <a:rPr lang="en-US" altLang="en-US" sz="2000" dirty="0"/>
              <a:t>Testing </a:t>
            </a:r>
            <a:r>
              <a:rPr lang="en-US" altLang="en-US" sz="2000" i="1" dirty="0"/>
              <a:t>H</a:t>
            </a:r>
            <a:r>
              <a:rPr lang="en-US" altLang="en-US" sz="2000" baseline="-25000" dirty="0"/>
              <a:t>0</a:t>
            </a:r>
            <a:r>
              <a:rPr lang="en-US" altLang="en-US" sz="2000" dirty="0"/>
              <a:t>: µ = 3300 </a:t>
            </a:r>
            <a:r>
              <a:rPr lang="en-US" altLang="en-US" sz="2000" dirty="0" err="1"/>
              <a:t>gms</a:t>
            </a:r>
            <a:endParaRPr lang="en-US" altLang="en-US" sz="2000" dirty="0"/>
          </a:p>
          <a:p>
            <a:endParaRPr lang="en-US" altLang="en-US" sz="2000" dirty="0"/>
          </a:p>
          <a:p>
            <a:r>
              <a:rPr lang="en-US" altLang="en-US" sz="2000" dirty="0"/>
              <a:t>Two-tailed </a:t>
            </a:r>
            <a:r>
              <a:rPr lang="en-US" altLang="en-US" sz="2000" i="1" dirty="0"/>
              <a:t>P &gt; </a:t>
            </a:r>
            <a:r>
              <a:rPr lang="en-US" altLang="en-US" sz="2000" dirty="0"/>
              <a:t>.10</a:t>
            </a:r>
          </a:p>
          <a:p>
            <a:endParaRPr lang="en-US" altLang="en-US" sz="2000" dirty="0"/>
          </a:p>
          <a:p>
            <a:r>
              <a:rPr lang="en-US" altLang="en-US" sz="2000" dirty="0"/>
              <a:t>Conclude: weak evidence against </a:t>
            </a:r>
            <a:r>
              <a:rPr lang="en-US" altLang="en-US" sz="2000" i="1" dirty="0"/>
              <a:t>H</a:t>
            </a:r>
            <a:r>
              <a:rPr lang="en-US" altLang="en-US" sz="2000" baseline="-25000" dirty="0"/>
              <a:t>0</a:t>
            </a:r>
          </a:p>
          <a:p>
            <a:endParaRPr lang="en-US" altLang="en-US" sz="2000" dirty="0"/>
          </a:p>
          <a:p>
            <a:r>
              <a:rPr lang="en-US" altLang="en-US" sz="2000" dirty="0"/>
              <a:t>The sample mean (2890.5) is NOT significantly different from 3300</a:t>
            </a:r>
          </a:p>
        </p:txBody>
      </p:sp>
      <p:pic>
        <p:nvPicPr>
          <p:cNvPr id="326691" name="Picture 35">
            <a:extLst>
              <a:ext uri="{FF2B5EF4-FFF2-40B4-BE49-F238E27FC236}">
                <a16:creationId xmlns:a16="http://schemas.microsoft.com/office/drawing/2014/main" id="{23A07DEC-0601-3943-9ADD-3D3A367201D7}"/>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7867650" y="1166018"/>
            <a:ext cx="3270250" cy="4525963"/>
          </a:xfrm>
        </p:spPr>
      </p:pic>
      <p:sp>
        <p:nvSpPr>
          <p:cNvPr id="5" name="Date Placeholder 4">
            <a:extLst>
              <a:ext uri="{FF2B5EF4-FFF2-40B4-BE49-F238E27FC236}">
                <a16:creationId xmlns:a16="http://schemas.microsoft.com/office/drawing/2014/main" id="{53DAD31A-FE79-1441-844B-3E28A37B5615}"/>
              </a:ext>
            </a:extLst>
          </p:cNvPr>
          <p:cNvSpPr>
            <a:spLocks noGrp="1"/>
          </p:cNvSpPr>
          <p:nvPr>
            <p:ph type="dt" sz="half" idx="10"/>
          </p:nvPr>
        </p:nvSpPr>
        <p:spPr/>
        <p:txBody>
          <a:bodyPr/>
          <a:lstStyle/>
          <a:p>
            <a:fld id="{60D25EC5-1A60-F149-BEB8-F9200DEBD02E}" type="datetime1">
              <a:rPr lang="en-US" altLang="en-US"/>
              <a:pPr/>
              <a:t>7/6/2026</a:t>
            </a:fld>
            <a:endParaRPr lang="en-US" altLang="en-US"/>
          </a:p>
        </p:txBody>
      </p:sp>
      <p:sp>
        <p:nvSpPr>
          <p:cNvPr id="6" name="Slide Number Placeholder 6">
            <a:extLst>
              <a:ext uri="{FF2B5EF4-FFF2-40B4-BE49-F238E27FC236}">
                <a16:creationId xmlns:a16="http://schemas.microsoft.com/office/drawing/2014/main" id="{D2A96278-AEA8-434E-B8AB-2A62EF3CC663}"/>
              </a:ext>
            </a:extLst>
          </p:cNvPr>
          <p:cNvSpPr>
            <a:spLocks noGrp="1"/>
          </p:cNvSpPr>
          <p:nvPr>
            <p:ph type="sldNum" sz="quarter" idx="12"/>
          </p:nvPr>
        </p:nvSpPr>
        <p:spPr/>
        <p:txBody>
          <a:bodyPr/>
          <a:lstStyle/>
          <a:p>
            <a:fld id="{1A9BB30D-32CB-F645-A80A-A63CBDC3834F}" type="slidenum">
              <a:rPr lang="en-US" altLang="en-US"/>
              <a:pPr/>
              <a:t>57</a:t>
            </a:fld>
            <a:endParaRPr lang="en-US" altLang="en-US"/>
          </a:p>
        </p:txBody>
      </p:sp>
    </p:spTree>
    <p:extLst>
      <p:ext uri="{BB962C8B-B14F-4D97-AF65-F5344CB8AC3E}">
        <p14:creationId xmlns:p14="http://schemas.microsoft.com/office/powerpoint/2010/main" val="13925458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6690">
                                            <p:txEl>
                                              <p:pRg st="0" end="0"/>
                                            </p:txEl>
                                          </p:spTgt>
                                        </p:tgtEl>
                                        <p:attrNameLst>
                                          <p:attrName>style.visibility</p:attrName>
                                        </p:attrNameLst>
                                      </p:cBhvr>
                                      <p:to>
                                        <p:strVal val="visible"/>
                                      </p:to>
                                    </p:set>
                                    <p:animEffect transition="in" filter="fade">
                                      <p:cBhvr>
                                        <p:cTn id="7" dur="1000"/>
                                        <p:tgtEl>
                                          <p:spTgt spid="326690">
                                            <p:txEl>
                                              <p:pRg st="0" end="0"/>
                                            </p:txEl>
                                          </p:spTgt>
                                        </p:tgtEl>
                                      </p:cBhvr>
                                    </p:animEffect>
                                    <p:anim calcmode="lin" valueType="num">
                                      <p:cBhvr>
                                        <p:cTn id="8" dur="1000" fill="hold"/>
                                        <p:tgtEl>
                                          <p:spTgt spid="32669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2669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26690">
                                            <p:txEl>
                                              <p:pRg st="2" end="2"/>
                                            </p:txEl>
                                          </p:spTgt>
                                        </p:tgtEl>
                                        <p:attrNameLst>
                                          <p:attrName>style.visibility</p:attrName>
                                        </p:attrNameLst>
                                      </p:cBhvr>
                                      <p:to>
                                        <p:strVal val="visible"/>
                                      </p:to>
                                    </p:set>
                                    <p:animEffect transition="in" filter="fade">
                                      <p:cBhvr>
                                        <p:cTn id="14" dur="1000"/>
                                        <p:tgtEl>
                                          <p:spTgt spid="326690">
                                            <p:txEl>
                                              <p:pRg st="2" end="2"/>
                                            </p:txEl>
                                          </p:spTgt>
                                        </p:tgtEl>
                                      </p:cBhvr>
                                    </p:animEffect>
                                    <p:anim calcmode="lin" valueType="num">
                                      <p:cBhvr>
                                        <p:cTn id="15" dur="1000" fill="hold"/>
                                        <p:tgtEl>
                                          <p:spTgt spid="326690">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2669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26690">
                                            <p:txEl>
                                              <p:pRg st="4" end="4"/>
                                            </p:txEl>
                                          </p:spTgt>
                                        </p:tgtEl>
                                        <p:attrNameLst>
                                          <p:attrName>style.visibility</p:attrName>
                                        </p:attrNameLst>
                                      </p:cBhvr>
                                      <p:to>
                                        <p:strVal val="visible"/>
                                      </p:to>
                                    </p:set>
                                    <p:animEffect transition="in" filter="fade">
                                      <p:cBhvr>
                                        <p:cTn id="21" dur="1000"/>
                                        <p:tgtEl>
                                          <p:spTgt spid="326690">
                                            <p:txEl>
                                              <p:pRg st="4" end="4"/>
                                            </p:txEl>
                                          </p:spTgt>
                                        </p:tgtEl>
                                      </p:cBhvr>
                                    </p:animEffect>
                                    <p:anim calcmode="lin" valueType="num">
                                      <p:cBhvr>
                                        <p:cTn id="22" dur="1000" fill="hold"/>
                                        <p:tgtEl>
                                          <p:spTgt spid="326690">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2669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26690">
                                            <p:txEl>
                                              <p:pRg st="6" end="6"/>
                                            </p:txEl>
                                          </p:spTgt>
                                        </p:tgtEl>
                                        <p:attrNameLst>
                                          <p:attrName>style.visibility</p:attrName>
                                        </p:attrNameLst>
                                      </p:cBhvr>
                                      <p:to>
                                        <p:strVal val="visible"/>
                                      </p:to>
                                    </p:set>
                                    <p:animEffect transition="in" filter="fade">
                                      <p:cBhvr>
                                        <p:cTn id="28" dur="1000"/>
                                        <p:tgtEl>
                                          <p:spTgt spid="326690">
                                            <p:txEl>
                                              <p:pRg st="6" end="6"/>
                                            </p:txEl>
                                          </p:spTgt>
                                        </p:tgtEl>
                                      </p:cBhvr>
                                    </p:animEffect>
                                    <p:anim calcmode="lin" valueType="num">
                                      <p:cBhvr>
                                        <p:cTn id="29" dur="1000" fill="hold"/>
                                        <p:tgtEl>
                                          <p:spTgt spid="326690">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2669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690"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4082" name="Rectangle 2">
                <a:extLst>
                  <a:ext uri="{FF2B5EF4-FFF2-40B4-BE49-F238E27FC236}">
                    <a16:creationId xmlns:a16="http://schemas.microsoft.com/office/drawing/2014/main" id="{30AD54C2-974E-FE44-93E1-C953A78A19AA}"/>
                  </a:ext>
                </a:extLst>
              </p:cNvPr>
              <p:cNvSpPr>
                <a:spLocks noGrp="1" noChangeArrowheads="1"/>
              </p:cNvSpPr>
              <p:nvPr>
                <p:ph type="title"/>
              </p:nvPr>
            </p:nvSpPr>
            <p:spPr>
              <a:xfrm>
                <a:off x="635505" y="470404"/>
                <a:ext cx="11167872" cy="1499616"/>
              </a:xfrm>
            </p:spPr>
            <p:txBody>
              <a:bodyPr>
                <a:normAutofit/>
              </a:bodyPr>
              <a:lstStyle/>
              <a:p>
                <a:pPr/>
                <a14:m>
                  <m:oMathPara xmlns:m="http://schemas.openxmlformats.org/officeDocument/2006/math">
                    <m:oMathParaPr>
                      <m:jc m:val="centerGroup"/>
                    </m:oMathParaPr>
                    <m:oMath xmlns:m="http://schemas.openxmlformats.org/officeDocument/2006/math">
                      <m:d>
                        <m:dPr>
                          <m:ctrlPr>
                            <a:rPr lang="en-IN" altLang="en-US" sz="4000" b="0" i="1" smtClean="0">
                              <a:latin typeface="Cambria Math" panose="02040503050406030204" pitchFamily="18" charset="0"/>
                            </a:rPr>
                          </m:ctrlPr>
                        </m:dPr>
                        <m:e>
                          <m:r>
                            <a:rPr lang="en-IN" altLang="en-US" sz="4000" b="0" i="1" smtClean="0">
                              <a:latin typeface="Cambria Math" panose="02040503050406030204" pitchFamily="18" charset="0"/>
                            </a:rPr>
                            <m:t>1−</m:t>
                          </m:r>
                          <m:r>
                            <a:rPr lang="en-IN" altLang="en-US" sz="4000" b="0" i="1" smtClean="0">
                              <a:latin typeface="Cambria Math" panose="02040503050406030204" pitchFamily="18" charset="0"/>
                            </a:rPr>
                            <m:t>𝛼</m:t>
                          </m:r>
                        </m:e>
                      </m:d>
                      <m:r>
                        <a:rPr lang="en-IN" altLang="en-US" sz="4000" b="0" i="1" smtClean="0">
                          <a:latin typeface="Cambria Math" panose="02040503050406030204" pitchFamily="18" charset="0"/>
                        </a:rPr>
                        <m:t>∗100−</m:t>
                      </m:r>
                      <m:r>
                        <a:rPr lang="en-IN" altLang="en-US" sz="4000" b="0" i="1" smtClean="0">
                          <a:latin typeface="Cambria Math" panose="02040503050406030204" pitchFamily="18" charset="0"/>
                        </a:rPr>
                        <m:t>𝐶𝑜𝑛𝑓𝑖𝑑𝑒𝑛𝑐𝑒</m:t>
                      </m:r>
                      <m:r>
                        <a:rPr lang="en-IN" altLang="en-US" sz="4000" b="0" i="1" smtClean="0">
                          <a:latin typeface="Cambria Math" panose="02040503050406030204" pitchFamily="18" charset="0"/>
                        </a:rPr>
                        <m:t> </m:t>
                      </m:r>
                      <m:r>
                        <a:rPr lang="en-IN" altLang="en-US" sz="4000" b="0" i="1" smtClean="0">
                          <a:latin typeface="Cambria Math" panose="02040503050406030204" pitchFamily="18" charset="0"/>
                        </a:rPr>
                        <m:t>𝐼𝑛𝑡𝑒𝑟𝑣𝑎𝑙</m:t>
                      </m:r>
                    </m:oMath>
                  </m:oMathPara>
                </a14:m>
                <a:endParaRPr lang="en-US" altLang="en-US" sz="4000" dirty="0"/>
              </a:p>
            </p:txBody>
          </p:sp>
        </mc:Choice>
        <mc:Fallback xmlns="">
          <p:sp>
            <p:nvSpPr>
              <p:cNvPr id="174082" name="Rectangle 2">
                <a:extLst>
                  <a:ext uri="{FF2B5EF4-FFF2-40B4-BE49-F238E27FC236}">
                    <a16:creationId xmlns:a16="http://schemas.microsoft.com/office/drawing/2014/main" id="{30AD54C2-974E-FE44-93E1-C953A78A19AA}"/>
                  </a:ext>
                </a:extLst>
              </p:cNvPr>
              <p:cNvSpPr>
                <a:spLocks noGrp="1" noRot="1" noChangeAspect="1" noMove="1" noResize="1" noEditPoints="1" noAdjustHandles="1" noChangeArrowheads="1" noChangeShapeType="1" noTextEdit="1"/>
              </p:cNvSpPr>
              <p:nvPr>
                <p:ph type="title"/>
              </p:nvPr>
            </p:nvSpPr>
            <p:spPr>
              <a:xfrm>
                <a:off x="635505" y="470404"/>
                <a:ext cx="11167872" cy="1499616"/>
              </a:xfrm>
              <a:blipFill>
                <a:blip r:embed="rId2"/>
                <a:stretch>
                  <a:fillRect/>
                </a:stretch>
              </a:blipFill>
            </p:spPr>
            <p:txBody>
              <a:bodyPr/>
              <a:lstStyle/>
              <a:p>
                <a:r>
                  <a:rPr lang="en-IN">
                    <a:noFill/>
                  </a:rPr>
                  <a:t> </a:t>
                </a:r>
              </a:p>
            </p:txBody>
          </p:sp>
        </mc:Fallback>
      </mc:AlternateContent>
      <p:sp>
        <p:nvSpPr>
          <p:cNvPr id="8" name="Date Placeholder 3">
            <a:extLst>
              <a:ext uri="{FF2B5EF4-FFF2-40B4-BE49-F238E27FC236}">
                <a16:creationId xmlns:a16="http://schemas.microsoft.com/office/drawing/2014/main" id="{7D158683-E4A5-BD4F-B549-1AFA6CAA9F84}"/>
              </a:ext>
            </a:extLst>
          </p:cNvPr>
          <p:cNvSpPr>
            <a:spLocks noGrp="1"/>
          </p:cNvSpPr>
          <p:nvPr>
            <p:ph type="dt" sz="half" idx="10"/>
          </p:nvPr>
        </p:nvSpPr>
        <p:spPr/>
        <p:txBody>
          <a:bodyPr/>
          <a:lstStyle/>
          <a:p>
            <a:fld id="{DB9E5DE0-4BE2-8345-B16F-541A082F610F}" type="datetime1">
              <a:rPr lang="en-US" altLang="en-US"/>
              <a:pPr/>
              <a:t>7/6/2026</a:t>
            </a:fld>
            <a:endParaRPr lang="en-US" altLang="en-US"/>
          </a:p>
        </p:txBody>
      </p:sp>
      <p:sp>
        <p:nvSpPr>
          <p:cNvPr id="9" name="Slide Number Placeholder 5">
            <a:extLst>
              <a:ext uri="{FF2B5EF4-FFF2-40B4-BE49-F238E27FC236}">
                <a16:creationId xmlns:a16="http://schemas.microsoft.com/office/drawing/2014/main" id="{3FE7BAE8-D273-3C4B-A19B-8897B8518592}"/>
              </a:ext>
            </a:extLst>
          </p:cNvPr>
          <p:cNvSpPr>
            <a:spLocks noGrp="1"/>
          </p:cNvSpPr>
          <p:nvPr>
            <p:ph type="sldNum" sz="quarter" idx="12"/>
          </p:nvPr>
        </p:nvSpPr>
        <p:spPr/>
        <p:txBody>
          <a:bodyPr/>
          <a:lstStyle/>
          <a:p>
            <a:fld id="{F5E867DA-AC41-6E46-A0E6-3DCD6BC1BBF1}" type="slidenum">
              <a:rPr lang="en-US" altLang="en-US"/>
              <a:pPr/>
              <a:t>58</a:t>
            </a:fld>
            <a:endParaRPr lang="en-US" altLang="en-US"/>
          </a:p>
        </p:txBody>
      </p:sp>
      <p:graphicFrame>
        <p:nvGraphicFramePr>
          <p:cNvPr id="174088" name="Object 8">
            <a:extLst>
              <a:ext uri="{FF2B5EF4-FFF2-40B4-BE49-F238E27FC236}">
                <a16:creationId xmlns:a16="http://schemas.microsoft.com/office/drawing/2014/main" id="{2AA6BD5B-096C-024C-B7A1-E2C5811E41C0}"/>
              </a:ext>
            </a:extLst>
          </p:cNvPr>
          <p:cNvGraphicFramePr>
            <a:graphicFrameLocks/>
          </p:cNvGraphicFramePr>
          <p:nvPr/>
        </p:nvGraphicFramePr>
        <p:xfrm>
          <a:off x="2343535" y="2346066"/>
          <a:ext cx="3161374" cy="576495"/>
        </p:xfrm>
        <a:graphic>
          <a:graphicData uri="http://schemas.openxmlformats.org/presentationml/2006/ole">
            <mc:AlternateContent xmlns:mc="http://schemas.openxmlformats.org/markup-compatibility/2006">
              <mc:Choice xmlns:v="urn:schemas-microsoft-com:vml" Requires="v">
                <p:oleObj name="Equation" r:id="rId3" imgW="21653500" imgH="6146800" progId="Equation.3">
                  <p:embed/>
                </p:oleObj>
              </mc:Choice>
              <mc:Fallback>
                <p:oleObj name="Equation" r:id="rId3" imgW="21653500" imgH="6146800" progId="Equation.3">
                  <p:embed/>
                  <p:pic>
                    <p:nvPicPr>
                      <p:cNvPr id="174088" name="Object 8">
                        <a:extLst>
                          <a:ext uri="{FF2B5EF4-FFF2-40B4-BE49-F238E27FC236}">
                            <a16:creationId xmlns:a16="http://schemas.microsoft.com/office/drawing/2014/main" id="{2AA6BD5B-096C-024C-B7A1-E2C5811E41C0}"/>
                          </a:ext>
                        </a:extLst>
                      </p:cNvPr>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3535" y="2346066"/>
                        <a:ext cx="3161374" cy="576495"/>
                      </a:xfrm>
                      <a:prstGeom prst="rect">
                        <a:avLst/>
                      </a:prstGeom>
                      <a:noFill/>
                      <a:ln>
                        <a:noFill/>
                      </a:ln>
                      <a:effectLst/>
                    </p:spPr>
                  </p:pic>
                </p:oleObj>
              </mc:Fallback>
            </mc:AlternateContent>
          </a:graphicData>
        </a:graphic>
      </p:graphicFrame>
      <p:sp>
        <p:nvSpPr>
          <p:cNvPr id="174091" name="Text Box 11">
            <a:extLst>
              <a:ext uri="{FF2B5EF4-FFF2-40B4-BE49-F238E27FC236}">
                <a16:creationId xmlns:a16="http://schemas.microsoft.com/office/drawing/2014/main" id="{FB790131-253B-C64A-833D-DC17C6BD60B9}"/>
              </a:ext>
            </a:extLst>
          </p:cNvPr>
          <p:cNvSpPr txBox="1">
            <a:spLocks noChangeArrowheads="1"/>
          </p:cNvSpPr>
          <p:nvPr/>
        </p:nvSpPr>
        <p:spPr bwMode="auto">
          <a:xfrm>
            <a:off x="3060700" y="6015038"/>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p>
        </p:txBody>
      </p:sp>
      <p:graphicFrame>
        <p:nvGraphicFramePr>
          <p:cNvPr id="174096" name="Object 16">
            <a:extLst>
              <a:ext uri="{FF2B5EF4-FFF2-40B4-BE49-F238E27FC236}">
                <a16:creationId xmlns:a16="http://schemas.microsoft.com/office/drawing/2014/main" id="{5151D0A4-F58E-874F-963E-9FCF6080A441}"/>
              </a:ext>
            </a:extLst>
          </p:cNvPr>
          <p:cNvGraphicFramePr>
            <a:graphicFrameLocks/>
          </p:cNvGraphicFramePr>
          <p:nvPr/>
        </p:nvGraphicFramePr>
        <p:xfrm>
          <a:off x="7295012" y="2452938"/>
          <a:ext cx="1942394" cy="939245"/>
        </p:xfrm>
        <a:graphic>
          <a:graphicData uri="http://schemas.openxmlformats.org/presentationml/2006/ole">
            <mc:AlternateContent xmlns:mc="http://schemas.openxmlformats.org/markup-compatibility/2006">
              <mc:Choice xmlns:v="urn:schemas-microsoft-com:vml" Requires="v">
                <p:oleObj name="Equation" r:id="rId5" imgW="15214600" imgH="9652000" progId="Equation.3">
                  <p:embed/>
                </p:oleObj>
              </mc:Choice>
              <mc:Fallback>
                <p:oleObj name="Equation" r:id="rId5" imgW="15214600" imgH="9652000" progId="Equation.3">
                  <p:embed/>
                  <p:pic>
                    <p:nvPicPr>
                      <p:cNvPr id="174096" name="Object 16">
                        <a:extLst>
                          <a:ext uri="{FF2B5EF4-FFF2-40B4-BE49-F238E27FC236}">
                            <a16:creationId xmlns:a16="http://schemas.microsoft.com/office/drawing/2014/main" id="{5151D0A4-F58E-874F-963E-9FCF6080A441}"/>
                          </a:ext>
                        </a:extLst>
                      </p:cNvPr>
                      <p:cNvPicPr preferRelativeResize="0">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95012" y="2452938"/>
                        <a:ext cx="1942394" cy="939245"/>
                      </a:xfrm>
                      <a:prstGeom prst="rect">
                        <a:avLst/>
                      </a:prstGeom>
                      <a:noFill/>
                      <a:ln>
                        <a:noFill/>
                      </a:ln>
                      <a:effectLst/>
                    </p:spPr>
                  </p:pic>
                </p:oleObj>
              </mc:Fallback>
            </mc:AlternateContent>
          </a:graphicData>
        </a:graphic>
      </p:graphicFrame>
      <p:sp>
        <p:nvSpPr>
          <p:cNvPr id="174097" name="Text Box 17">
            <a:extLst>
              <a:ext uri="{FF2B5EF4-FFF2-40B4-BE49-F238E27FC236}">
                <a16:creationId xmlns:a16="http://schemas.microsoft.com/office/drawing/2014/main" id="{D29A1038-0E83-5B40-AC86-154689074869}"/>
              </a:ext>
            </a:extLst>
          </p:cNvPr>
          <p:cNvSpPr txBox="1">
            <a:spLocks noChangeArrowheads="1"/>
          </p:cNvSpPr>
          <p:nvPr/>
        </p:nvSpPr>
        <p:spPr bwMode="auto">
          <a:xfrm>
            <a:off x="4198818" y="2742583"/>
            <a:ext cx="8418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where</a:t>
            </a:r>
          </a:p>
        </p:txBody>
      </p:sp>
      <p:cxnSp>
        <p:nvCxnSpPr>
          <p:cNvPr id="5" name="Straight Arrow Connector 4">
            <a:extLst>
              <a:ext uri="{FF2B5EF4-FFF2-40B4-BE49-F238E27FC236}">
                <a16:creationId xmlns:a16="http://schemas.microsoft.com/office/drawing/2014/main" id="{61A6CB66-7D64-A21F-82F8-D8654ED9284A}"/>
              </a:ext>
            </a:extLst>
          </p:cNvPr>
          <p:cNvCxnSpPr/>
          <p:nvPr/>
        </p:nvCxnSpPr>
        <p:spPr>
          <a:xfrm flipV="1">
            <a:off x="3300660" y="3050715"/>
            <a:ext cx="0" cy="1035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D759576-79A7-3B85-F1E9-D2ECB692421E}"/>
              </a:ext>
            </a:extLst>
          </p:cNvPr>
          <p:cNvSpPr txBox="1"/>
          <p:nvPr/>
        </p:nvSpPr>
        <p:spPr>
          <a:xfrm>
            <a:off x="2846489" y="3990516"/>
            <a:ext cx="1171667" cy="369332"/>
          </a:xfrm>
          <a:prstGeom prst="rect">
            <a:avLst/>
          </a:prstGeom>
          <a:noFill/>
        </p:spPr>
        <p:txBody>
          <a:bodyPr wrap="none" rtlCol="0">
            <a:spAutoFit/>
          </a:bodyPr>
          <a:lstStyle/>
          <a:p>
            <a:r>
              <a:rPr lang="en-IN" dirty="0"/>
              <a:t>From table</a:t>
            </a:r>
          </a:p>
        </p:txBody>
      </p:sp>
    </p:spTree>
    <p:extLst>
      <p:ext uri="{BB962C8B-B14F-4D97-AF65-F5344CB8AC3E}">
        <p14:creationId xmlns:p14="http://schemas.microsoft.com/office/powerpoint/2010/main" val="2522509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4096"/>
                                        </p:tgtEl>
                                        <p:attrNameLst>
                                          <p:attrName>style.visibility</p:attrName>
                                        </p:attrNameLst>
                                      </p:cBhvr>
                                      <p:to>
                                        <p:strVal val="visible"/>
                                      </p:to>
                                    </p:set>
                                    <p:animEffect transition="in" filter="blinds(horizontal)">
                                      <p:cBhvr>
                                        <p:cTn id="7" dur="500"/>
                                        <p:tgtEl>
                                          <p:spTgt spid="1740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a:extLst>
              <a:ext uri="{FF2B5EF4-FFF2-40B4-BE49-F238E27FC236}">
                <a16:creationId xmlns:a16="http://schemas.microsoft.com/office/drawing/2014/main" id="{C9DFB548-5FB1-1D44-AC75-50F1B069CB9B}"/>
              </a:ext>
            </a:extLst>
          </p:cNvPr>
          <p:cNvSpPr>
            <a:spLocks noGrp="1" noChangeArrowheads="1"/>
          </p:cNvSpPr>
          <p:nvPr>
            <p:ph type="title"/>
          </p:nvPr>
        </p:nvSpPr>
        <p:spPr>
          <a:xfrm>
            <a:off x="1981200" y="374650"/>
            <a:ext cx="8229600" cy="1143000"/>
          </a:xfrm>
        </p:spPr>
        <p:txBody>
          <a:bodyPr/>
          <a:lstStyle/>
          <a:p>
            <a:r>
              <a:rPr lang="en-US" altLang="en-US">
                <a:solidFill>
                  <a:schemeClr val="tx1"/>
                </a:solidFill>
              </a:rPr>
              <a:t>Same Data</a:t>
            </a:r>
          </a:p>
        </p:txBody>
      </p:sp>
      <p:sp>
        <p:nvSpPr>
          <p:cNvPr id="11" name="Date Placeholder 3">
            <a:extLst>
              <a:ext uri="{FF2B5EF4-FFF2-40B4-BE49-F238E27FC236}">
                <a16:creationId xmlns:a16="http://schemas.microsoft.com/office/drawing/2014/main" id="{A36779F1-D080-A044-A09F-115C1B760F66}"/>
              </a:ext>
            </a:extLst>
          </p:cNvPr>
          <p:cNvSpPr>
            <a:spLocks noGrp="1"/>
          </p:cNvSpPr>
          <p:nvPr>
            <p:ph type="dt" sz="half" idx="10"/>
          </p:nvPr>
        </p:nvSpPr>
        <p:spPr/>
        <p:txBody>
          <a:bodyPr/>
          <a:lstStyle/>
          <a:p>
            <a:fld id="{6AF3714F-0A35-C149-975A-9413DDD7E295}" type="datetime1">
              <a:rPr lang="en-US" altLang="en-US"/>
              <a:pPr/>
              <a:t>7/6/2026</a:t>
            </a:fld>
            <a:endParaRPr lang="en-US" altLang="en-US"/>
          </a:p>
        </p:txBody>
      </p:sp>
      <p:sp>
        <p:nvSpPr>
          <p:cNvPr id="12" name="Slide Number Placeholder 5">
            <a:extLst>
              <a:ext uri="{FF2B5EF4-FFF2-40B4-BE49-F238E27FC236}">
                <a16:creationId xmlns:a16="http://schemas.microsoft.com/office/drawing/2014/main" id="{620D760E-15C2-5548-B169-81769A1CDC2F}"/>
              </a:ext>
            </a:extLst>
          </p:cNvPr>
          <p:cNvSpPr>
            <a:spLocks noGrp="1"/>
          </p:cNvSpPr>
          <p:nvPr>
            <p:ph type="sldNum" sz="quarter" idx="12"/>
          </p:nvPr>
        </p:nvSpPr>
        <p:spPr/>
        <p:txBody>
          <a:bodyPr/>
          <a:lstStyle/>
          <a:p>
            <a:fld id="{E76E7075-44E7-004A-B22B-E2F5F871CB9E}" type="slidenum">
              <a:rPr lang="en-US" altLang="en-US"/>
              <a:pPr/>
              <a:t>59</a:t>
            </a:fld>
            <a:endParaRPr lang="en-US" altLang="en-US"/>
          </a:p>
        </p:txBody>
      </p:sp>
      <p:graphicFrame>
        <p:nvGraphicFramePr>
          <p:cNvPr id="224260" name="Object 4">
            <a:extLst>
              <a:ext uri="{FF2B5EF4-FFF2-40B4-BE49-F238E27FC236}">
                <a16:creationId xmlns:a16="http://schemas.microsoft.com/office/drawing/2014/main" id="{3371CBC0-8E50-9D43-A28C-2537763F1FA0}"/>
              </a:ext>
            </a:extLst>
          </p:cNvPr>
          <p:cNvGraphicFramePr>
            <a:graphicFrameLocks noChangeAspect="1"/>
          </p:cNvGraphicFramePr>
          <p:nvPr/>
        </p:nvGraphicFramePr>
        <p:xfrm>
          <a:off x="2043113" y="3875088"/>
          <a:ext cx="3905250" cy="546100"/>
        </p:xfrm>
        <a:graphic>
          <a:graphicData uri="http://schemas.openxmlformats.org/presentationml/2006/ole">
            <mc:AlternateContent xmlns:mc="http://schemas.openxmlformats.org/markup-compatibility/2006">
              <mc:Choice xmlns:v="urn:schemas-microsoft-com:vml" Requires="v">
                <p:oleObj name="Equation" r:id="rId2" imgW="41249600" imgH="5562600" progId="Equation.3">
                  <p:embed/>
                </p:oleObj>
              </mc:Choice>
              <mc:Fallback>
                <p:oleObj name="Equation" r:id="rId2" imgW="41249600" imgH="5562600" progId="Equation.3">
                  <p:embed/>
                  <p:pic>
                    <p:nvPicPr>
                      <p:cNvPr id="224260" name="Object 4">
                        <a:extLst>
                          <a:ext uri="{FF2B5EF4-FFF2-40B4-BE49-F238E27FC236}">
                            <a16:creationId xmlns:a16="http://schemas.microsoft.com/office/drawing/2014/main" id="{3371CBC0-8E50-9D43-A28C-2537763F1F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113" y="3875088"/>
                        <a:ext cx="390525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3" name="Object 7">
            <a:extLst>
              <a:ext uri="{FF2B5EF4-FFF2-40B4-BE49-F238E27FC236}">
                <a16:creationId xmlns:a16="http://schemas.microsoft.com/office/drawing/2014/main" id="{FC2A5347-61AA-594D-AA45-50D962601AD7}"/>
              </a:ext>
            </a:extLst>
          </p:cNvPr>
          <p:cNvGraphicFramePr>
            <a:graphicFrameLocks noChangeAspect="1"/>
          </p:cNvGraphicFramePr>
          <p:nvPr/>
        </p:nvGraphicFramePr>
        <p:xfrm>
          <a:off x="2773363" y="1385888"/>
          <a:ext cx="5948362" cy="571500"/>
        </p:xfrm>
        <a:graphic>
          <a:graphicData uri="http://schemas.openxmlformats.org/presentationml/2006/ole">
            <mc:AlternateContent xmlns:mc="http://schemas.openxmlformats.org/markup-compatibility/2006">
              <mc:Choice xmlns:v="urn:schemas-microsoft-com:vml" Requires="v">
                <p:oleObj name="Equation" r:id="rId4" imgW="44183300" imgH="4102100" progId="Equation.3">
                  <p:embed/>
                </p:oleObj>
              </mc:Choice>
              <mc:Fallback>
                <p:oleObj name="Equation" r:id="rId4" imgW="44183300" imgH="4102100" progId="Equation.3">
                  <p:embed/>
                  <p:pic>
                    <p:nvPicPr>
                      <p:cNvPr id="224263" name="Object 7">
                        <a:extLst>
                          <a:ext uri="{FF2B5EF4-FFF2-40B4-BE49-F238E27FC236}">
                            <a16:creationId xmlns:a16="http://schemas.microsoft.com/office/drawing/2014/main" id="{FC2A5347-61AA-594D-AA45-50D962601A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3363" y="1385888"/>
                        <a:ext cx="5948362"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4" name="Object 8">
            <a:extLst>
              <a:ext uri="{FF2B5EF4-FFF2-40B4-BE49-F238E27FC236}">
                <a16:creationId xmlns:a16="http://schemas.microsoft.com/office/drawing/2014/main" id="{B81134BD-E02D-6241-AFC4-87F2629096B5}"/>
              </a:ext>
            </a:extLst>
          </p:cNvPr>
          <p:cNvGraphicFramePr>
            <a:graphicFrameLocks noChangeAspect="1"/>
          </p:cNvGraphicFramePr>
          <p:nvPr/>
        </p:nvGraphicFramePr>
        <p:xfrm>
          <a:off x="6523039" y="2460625"/>
          <a:ext cx="3146425" cy="990600"/>
        </p:xfrm>
        <a:graphic>
          <a:graphicData uri="http://schemas.openxmlformats.org/presentationml/2006/ole">
            <mc:AlternateContent xmlns:mc="http://schemas.openxmlformats.org/markup-compatibility/2006">
              <mc:Choice xmlns:v="urn:schemas-microsoft-com:vml" Requires="v">
                <p:oleObj name="Equation" r:id="rId6" imgW="36576000" imgH="11112500" progId="Equation.3">
                  <p:embed/>
                </p:oleObj>
              </mc:Choice>
              <mc:Fallback>
                <p:oleObj name="Equation" r:id="rId6" imgW="36576000" imgH="11112500" progId="Equation.3">
                  <p:embed/>
                  <p:pic>
                    <p:nvPicPr>
                      <p:cNvPr id="224264" name="Object 8">
                        <a:extLst>
                          <a:ext uri="{FF2B5EF4-FFF2-40B4-BE49-F238E27FC236}">
                            <a16:creationId xmlns:a16="http://schemas.microsoft.com/office/drawing/2014/main" id="{B81134BD-E02D-6241-AFC4-87F2629096B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23039" y="2460625"/>
                        <a:ext cx="3146425"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5" name="Object 9">
            <a:extLst>
              <a:ext uri="{FF2B5EF4-FFF2-40B4-BE49-F238E27FC236}">
                <a16:creationId xmlns:a16="http://schemas.microsoft.com/office/drawing/2014/main" id="{76232C82-EB9A-7544-9895-1B6581D76FA1}"/>
              </a:ext>
            </a:extLst>
          </p:cNvPr>
          <p:cNvGraphicFramePr>
            <a:graphicFrameLocks noChangeAspect="1"/>
          </p:cNvGraphicFramePr>
          <p:nvPr/>
        </p:nvGraphicFramePr>
        <p:xfrm>
          <a:off x="1992314" y="2305050"/>
          <a:ext cx="3627437" cy="947738"/>
        </p:xfrm>
        <a:graphic>
          <a:graphicData uri="http://schemas.openxmlformats.org/presentationml/2006/ole">
            <mc:AlternateContent xmlns:mc="http://schemas.openxmlformats.org/markup-compatibility/2006">
              <mc:Choice xmlns:v="urn:schemas-microsoft-com:vml" Requires="v">
                <p:oleObj name="Equation" r:id="rId8" imgW="38328600" imgH="9652000" progId="Equation.3">
                  <p:embed/>
                </p:oleObj>
              </mc:Choice>
              <mc:Fallback>
                <p:oleObj name="Equation" r:id="rId8" imgW="38328600" imgH="9652000" progId="Equation.3">
                  <p:embed/>
                  <p:pic>
                    <p:nvPicPr>
                      <p:cNvPr id="224265" name="Object 9">
                        <a:extLst>
                          <a:ext uri="{FF2B5EF4-FFF2-40B4-BE49-F238E27FC236}">
                            <a16:creationId xmlns:a16="http://schemas.microsoft.com/office/drawing/2014/main" id="{76232C82-EB9A-7544-9895-1B6581D76FA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92314" y="2305050"/>
                        <a:ext cx="3627437" cy="947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6" name="Object 10">
            <a:extLst>
              <a:ext uri="{FF2B5EF4-FFF2-40B4-BE49-F238E27FC236}">
                <a16:creationId xmlns:a16="http://schemas.microsoft.com/office/drawing/2014/main" id="{362B2A93-E324-4044-95CE-D4F14EA97518}"/>
              </a:ext>
            </a:extLst>
          </p:cNvPr>
          <p:cNvGraphicFramePr>
            <a:graphicFrameLocks noChangeAspect="1"/>
          </p:cNvGraphicFramePr>
          <p:nvPr/>
        </p:nvGraphicFramePr>
        <p:xfrm>
          <a:off x="5899151" y="4814889"/>
          <a:ext cx="3406775" cy="460375"/>
        </p:xfrm>
        <a:graphic>
          <a:graphicData uri="http://schemas.openxmlformats.org/presentationml/2006/ole">
            <mc:AlternateContent xmlns:mc="http://schemas.openxmlformats.org/markup-compatibility/2006">
              <mc:Choice xmlns:v="urn:schemas-microsoft-com:vml" Requires="v">
                <p:oleObj name="Equation" r:id="rId10" imgW="35991800" imgH="4686300" progId="Equation.3">
                  <p:embed/>
                </p:oleObj>
              </mc:Choice>
              <mc:Fallback>
                <p:oleObj name="Equation" r:id="rId10" imgW="35991800" imgH="4686300" progId="Equation.3">
                  <p:embed/>
                  <p:pic>
                    <p:nvPicPr>
                      <p:cNvPr id="224266" name="Object 10">
                        <a:extLst>
                          <a:ext uri="{FF2B5EF4-FFF2-40B4-BE49-F238E27FC236}">
                            <a16:creationId xmlns:a16="http://schemas.microsoft.com/office/drawing/2014/main" id="{362B2A93-E324-4044-95CE-D4F14EA9751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99151" y="4814889"/>
                        <a:ext cx="340677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7" name="Object 11">
            <a:extLst>
              <a:ext uri="{FF2B5EF4-FFF2-40B4-BE49-F238E27FC236}">
                <a16:creationId xmlns:a16="http://schemas.microsoft.com/office/drawing/2014/main" id="{E5A6E22F-5B5B-5945-94E9-B7C15A93D7CB}"/>
              </a:ext>
            </a:extLst>
          </p:cNvPr>
          <p:cNvGraphicFramePr>
            <a:graphicFrameLocks noChangeAspect="1"/>
          </p:cNvGraphicFramePr>
          <p:nvPr/>
        </p:nvGraphicFramePr>
        <p:xfrm>
          <a:off x="5965825" y="4325939"/>
          <a:ext cx="2382838" cy="403225"/>
        </p:xfrm>
        <a:graphic>
          <a:graphicData uri="http://schemas.openxmlformats.org/presentationml/2006/ole">
            <mc:AlternateContent xmlns:mc="http://schemas.openxmlformats.org/markup-compatibility/2006">
              <mc:Choice xmlns:v="urn:schemas-microsoft-com:vml" Requires="v">
                <p:oleObj name="Equation" r:id="rId12" imgW="25158700" imgH="4102100" progId="Equation.3">
                  <p:embed/>
                </p:oleObj>
              </mc:Choice>
              <mc:Fallback>
                <p:oleObj name="Equation" r:id="rId12" imgW="25158700" imgH="4102100" progId="Equation.3">
                  <p:embed/>
                  <p:pic>
                    <p:nvPicPr>
                      <p:cNvPr id="224267" name="Object 11">
                        <a:extLst>
                          <a:ext uri="{FF2B5EF4-FFF2-40B4-BE49-F238E27FC236}">
                            <a16:creationId xmlns:a16="http://schemas.microsoft.com/office/drawing/2014/main" id="{E5A6E22F-5B5B-5945-94E9-B7C15A93D7C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65825" y="4325939"/>
                        <a:ext cx="2382838" cy="40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4273" name="Text Box 17">
            <a:extLst>
              <a:ext uri="{FF2B5EF4-FFF2-40B4-BE49-F238E27FC236}">
                <a16:creationId xmlns:a16="http://schemas.microsoft.com/office/drawing/2014/main" id="{C56049C7-24CF-5F4A-9898-F566318A5062}"/>
              </a:ext>
            </a:extLst>
          </p:cNvPr>
          <p:cNvSpPr txBox="1">
            <a:spLocks noChangeArrowheads="1"/>
          </p:cNvSpPr>
          <p:nvPr/>
        </p:nvSpPr>
        <p:spPr bwMode="auto">
          <a:xfrm>
            <a:off x="2206626" y="5327651"/>
            <a:ext cx="7675563" cy="6463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Interpretation: Population mean µ is between 2375 and 3406 grams with 95% confidence</a:t>
            </a:r>
            <a:endParaRPr lang="en-US" altLang="en-US" i="1" baseline="-25000"/>
          </a:p>
        </p:txBody>
      </p:sp>
      <p:graphicFrame>
        <p:nvGraphicFramePr>
          <p:cNvPr id="224274" name="Object 18">
            <a:extLst>
              <a:ext uri="{FF2B5EF4-FFF2-40B4-BE49-F238E27FC236}">
                <a16:creationId xmlns:a16="http://schemas.microsoft.com/office/drawing/2014/main" id="{8B371198-F702-1045-A75C-93220F5B4B1E}"/>
              </a:ext>
            </a:extLst>
          </p:cNvPr>
          <p:cNvGraphicFramePr>
            <a:graphicFrameLocks noChangeAspect="1"/>
          </p:cNvGraphicFramePr>
          <p:nvPr/>
        </p:nvGraphicFramePr>
        <p:xfrm>
          <a:off x="5943600" y="3898901"/>
          <a:ext cx="3683000" cy="460375"/>
        </p:xfrm>
        <a:graphic>
          <a:graphicData uri="http://schemas.openxmlformats.org/presentationml/2006/ole">
            <mc:AlternateContent xmlns:mc="http://schemas.openxmlformats.org/markup-compatibility/2006">
              <mc:Choice xmlns:v="urn:schemas-microsoft-com:vml" Requires="v">
                <p:oleObj name="Equation" r:id="rId14" imgW="38912800" imgH="4686300" progId="Equation.3">
                  <p:embed/>
                </p:oleObj>
              </mc:Choice>
              <mc:Fallback>
                <p:oleObj name="Equation" r:id="rId14" imgW="38912800" imgH="4686300" progId="Equation.3">
                  <p:embed/>
                  <p:pic>
                    <p:nvPicPr>
                      <p:cNvPr id="224274" name="Object 18">
                        <a:extLst>
                          <a:ext uri="{FF2B5EF4-FFF2-40B4-BE49-F238E27FC236}">
                            <a16:creationId xmlns:a16="http://schemas.microsoft.com/office/drawing/2014/main" id="{8B371198-F702-1045-A75C-93220F5B4B1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943600" y="3898901"/>
                        <a:ext cx="36830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509806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4265"/>
                                        </p:tgtEl>
                                        <p:attrNameLst>
                                          <p:attrName>style.visibility</p:attrName>
                                        </p:attrNameLst>
                                      </p:cBhvr>
                                      <p:to>
                                        <p:strVal val="visible"/>
                                      </p:to>
                                    </p:set>
                                    <p:animEffect transition="in" filter="blinds(horizontal)">
                                      <p:cBhvr>
                                        <p:cTn id="7" dur="500"/>
                                        <p:tgtEl>
                                          <p:spTgt spid="2242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24264"/>
                                        </p:tgtEl>
                                        <p:attrNameLst>
                                          <p:attrName>style.visibility</p:attrName>
                                        </p:attrNameLst>
                                      </p:cBhvr>
                                      <p:to>
                                        <p:strVal val="visible"/>
                                      </p:to>
                                    </p:set>
                                    <p:animEffect transition="in" filter="blinds(horizontal)">
                                      <p:cBhvr>
                                        <p:cTn id="12" dur="500"/>
                                        <p:tgtEl>
                                          <p:spTgt spid="2242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24260"/>
                                        </p:tgtEl>
                                        <p:attrNameLst>
                                          <p:attrName>style.visibility</p:attrName>
                                        </p:attrNameLst>
                                      </p:cBhvr>
                                      <p:to>
                                        <p:strVal val="visible"/>
                                      </p:to>
                                    </p:set>
                                    <p:animEffect transition="in" filter="blinds(horizontal)">
                                      <p:cBhvr>
                                        <p:cTn id="17" dur="500"/>
                                        <p:tgtEl>
                                          <p:spTgt spid="2242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24274"/>
                                        </p:tgtEl>
                                        <p:attrNameLst>
                                          <p:attrName>style.visibility</p:attrName>
                                        </p:attrNameLst>
                                      </p:cBhvr>
                                      <p:to>
                                        <p:strVal val="visible"/>
                                      </p:to>
                                    </p:set>
                                    <p:animEffect transition="in" filter="blinds(horizontal)">
                                      <p:cBhvr>
                                        <p:cTn id="22" dur="500"/>
                                        <p:tgtEl>
                                          <p:spTgt spid="22427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24267"/>
                                        </p:tgtEl>
                                        <p:attrNameLst>
                                          <p:attrName>style.visibility</p:attrName>
                                        </p:attrNameLst>
                                      </p:cBhvr>
                                      <p:to>
                                        <p:strVal val="visible"/>
                                      </p:to>
                                    </p:set>
                                    <p:animEffect transition="in" filter="blinds(horizontal)">
                                      <p:cBhvr>
                                        <p:cTn id="27" dur="500"/>
                                        <p:tgtEl>
                                          <p:spTgt spid="22426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nodeType="clickEffect">
                                  <p:stCondLst>
                                    <p:cond delay="0"/>
                                  </p:stCondLst>
                                  <p:childTnLst>
                                    <p:set>
                                      <p:cBhvr>
                                        <p:cTn id="31" dur="1" fill="hold">
                                          <p:stCondLst>
                                            <p:cond delay="0"/>
                                          </p:stCondLst>
                                        </p:cTn>
                                        <p:tgtEl>
                                          <p:spTgt spid="224266"/>
                                        </p:tgtEl>
                                        <p:attrNameLst>
                                          <p:attrName>style.visibility</p:attrName>
                                        </p:attrNameLst>
                                      </p:cBhvr>
                                      <p:to>
                                        <p:strVal val="visible"/>
                                      </p:to>
                                    </p:set>
                                    <p:anim calcmode="lin" valueType="num">
                                      <p:cBhvr additive="base">
                                        <p:cTn id="32" dur="500" fill="hold"/>
                                        <p:tgtEl>
                                          <p:spTgt spid="224266"/>
                                        </p:tgtEl>
                                        <p:attrNameLst>
                                          <p:attrName>ppt_x</p:attrName>
                                        </p:attrNameLst>
                                      </p:cBhvr>
                                      <p:tavLst>
                                        <p:tav tm="0">
                                          <p:val>
                                            <p:strVal val="#ppt_x"/>
                                          </p:val>
                                        </p:tav>
                                        <p:tav tm="100000">
                                          <p:val>
                                            <p:strVal val="#ppt_x"/>
                                          </p:val>
                                        </p:tav>
                                      </p:tavLst>
                                    </p:anim>
                                    <p:anim calcmode="lin" valueType="num">
                                      <p:cBhvr additive="base">
                                        <p:cTn id="33" dur="500" fill="hold"/>
                                        <p:tgtEl>
                                          <p:spTgt spid="224266"/>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224273"/>
                                        </p:tgtEl>
                                        <p:attrNameLst>
                                          <p:attrName>style.visibility</p:attrName>
                                        </p:attrNameLst>
                                      </p:cBhvr>
                                      <p:to>
                                        <p:strVal val="visible"/>
                                      </p:to>
                                    </p:set>
                                    <p:anim calcmode="lin" valueType="num">
                                      <p:cBhvr additive="base">
                                        <p:cTn id="38" dur="500" fill="hold"/>
                                        <p:tgtEl>
                                          <p:spTgt spid="224273"/>
                                        </p:tgtEl>
                                        <p:attrNameLst>
                                          <p:attrName>ppt_x</p:attrName>
                                        </p:attrNameLst>
                                      </p:cBhvr>
                                      <p:tavLst>
                                        <p:tav tm="0">
                                          <p:val>
                                            <p:strVal val="#ppt_x"/>
                                          </p:val>
                                        </p:tav>
                                        <p:tav tm="100000">
                                          <p:val>
                                            <p:strVal val="#ppt_x"/>
                                          </p:val>
                                        </p:tav>
                                      </p:tavLst>
                                    </p:anim>
                                    <p:anim calcmode="lin" valueType="num">
                                      <p:cBhvr additive="base">
                                        <p:cTn id="39" dur="500" fill="hold"/>
                                        <p:tgtEl>
                                          <p:spTgt spid="2242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7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0609-BE1E-194B-8CF9-8881EA1F2AD1}"/>
              </a:ext>
            </a:extLst>
          </p:cNvPr>
          <p:cNvSpPr>
            <a:spLocks noGrp="1"/>
          </p:cNvSpPr>
          <p:nvPr>
            <p:ph type="title"/>
          </p:nvPr>
        </p:nvSpPr>
        <p:spPr/>
        <p:txBody>
          <a:bodyPr/>
          <a:lstStyle/>
          <a:p>
            <a:r>
              <a:rPr lang="en-US" dirty="0"/>
              <a:t>Two sample t test (Group difference)</a:t>
            </a:r>
          </a:p>
        </p:txBody>
      </p:sp>
      <p:pic>
        <p:nvPicPr>
          <p:cNvPr id="125958" name="Picture 6" descr="Comparison of Two Means">
            <a:extLst>
              <a:ext uri="{FF2B5EF4-FFF2-40B4-BE49-F238E27FC236}">
                <a16:creationId xmlns:a16="http://schemas.microsoft.com/office/drawing/2014/main" id="{D1BA7710-0BA2-3C42-97B6-C9187D8F62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 y="2093976"/>
            <a:ext cx="3987800" cy="1854200"/>
          </a:xfrm>
          <a:prstGeom prst="rect">
            <a:avLst/>
          </a:prstGeom>
          <a:noFill/>
          <a:extLst>
            <a:ext uri="{909E8E84-426E-40DD-AFC4-6F175D3DCCD1}">
              <a14:hiddenFill xmlns:a14="http://schemas.microsoft.com/office/drawing/2010/main">
                <a:solidFill>
                  <a:srgbClr val="FFFFFF"/>
                </a:solidFill>
              </a14:hiddenFill>
            </a:ext>
          </a:extLst>
        </p:spPr>
      </p:pic>
      <p:pic>
        <p:nvPicPr>
          <p:cNvPr id="125962" name="Picture 10" descr="YaRrr! The Pirate's Guide to R">
            <a:extLst>
              <a:ext uri="{FF2B5EF4-FFF2-40B4-BE49-F238E27FC236}">
                <a16:creationId xmlns:a16="http://schemas.microsoft.com/office/drawing/2014/main" id="{D306E2E6-3211-0249-A48F-6335407562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121"/>
          <a:stretch/>
        </p:blipFill>
        <p:spPr bwMode="auto">
          <a:xfrm>
            <a:off x="4886447" y="1919294"/>
            <a:ext cx="6235705" cy="41814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4835C83-A952-9E4E-B173-7230A27DDEFA}"/>
              </a:ext>
            </a:extLst>
          </p:cNvPr>
          <p:cNvSpPr txBox="1"/>
          <p:nvPr/>
        </p:nvSpPr>
        <p:spPr>
          <a:xfrm>
            <a:off x="1257300" y="4943475"/>
            <a:ext cx="2045303" cy="369332"/>
          </a:xfrm>
          <a:prstGeom prst="rect">
            <a:avLst/>
          </a:prstGeom>
          <a:noFill/>
        </p:spPr>
        <p:txBody>
          <a:bodyPr wrap="none" rtlCol="0">
            <a:spAutoFit/>
          </a:bodyPr>
          <a:lstStyle/>
          <a:p>
            <a:r>
              <a:rPr lang="en-US" dirty="0"/>
              <a:t>Unequal variance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7A98612-8FBD-835D-7FD9-A489887D7A32}"/>
                  </a:ext>
                </a:extLst>
              </p:cNvPr>
              <p:cNvSpPr txBox="1"/>
              <p:nvPr/>
            </p:nvSpPr>
            <p:spPr>
              <a:xfrm>
                <a:off x="1413983" y="5722570"/>
                <a:ext cx="184973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1" i="1" smtClean="0">
                          <a:latin typeface="Cambria Math" panose="02040503050406030204" pitchFamily="18" charset="0"/>
                        </a:rPr>
                        <m:t>𝒅𝒇</m:t>
                      </m:r>
                      <m:r>
                        <a:rPr lang="en-IN" b="1" i="1" smtClean="0">
                          <a:latin typeface="Cambria Math" panose="02040503050406030204" pitchFamily="18" charset="0"/>
                        </a:rPr>
                        <m:t>=</m:t>
                      </m:r>
                      <m:sSub>
                        <m:sSubPr>
                          <m:ctrlPr>
                            <a:rPr lang="en-IN" b="1" i="1" smtClean="0">
                              <a:latin typeface="Cambria Math" panose="02040503050406030204" pitchFamily="18" charset="0"/>
                            </a:rPr>
                          </m:ctrlPr>
                        </m:sSubPr>
                        <m:e>
                          <m:r>
                            <a:rPr lang="en-IN" b="1" i="1" smtClean="0">
                              <a:latin typeface="Cambria Math" panose="02040503050406030204" pitchFamily="18" charset="0"/>
                            </a:rPr>
                            <m:t>𝒏</m:t>
                          </m:r>
                        </m:e>
                        <m:sub>
                          <m:r>
                            <a:rPr lang="en-IN" b="1" i="1" smtClean="0">
                              <a:latin typeface="Cambria Math" panose="02040503050406030204" pitchFamily="18" charset="0"/>
                            </a:rPr>
                            <m:t>𝟏</m:t>
                          </m:r>
                        </m:sub>
                      </m:sSub>
                      <m:r>
                        <a:rPr lang="en-IN" b="1" i="1" smtClean="0">
                          <a:latin typeface="Cambria Math" panose="02040503050406030204" pitchFamily="18" charset="0"/>
                        </a:rPr>
                        <m:t>+</m:t>
                      </m:r>
                      <m:sSub>
                        <m:sSubPr>
                          <m:ctrlPr>
                            <a:rPr lang="en-IN" b="1" i="1" smtClean="0">
                              <a:latin typeface="Cambria Math" panose="02040503050406030204" pitchFamily="18" charset="0"/>
                            </a:rPr>
                          </m:ctrlPr>
                        </m:sSubPr>
                        <m:e>
                          <m:r>
                            <a:rPr lang="en-IN" b="1" i="1" smtClean="0">
                              <a:latin typeface="Cambria Math" panose="02040503050406030204" pitchFamily="18" charset="0"/>
                            </a:rPr>
                            <m:t>𝒏</m:t>
                          </m:r>
                        </m:e>
                        <m:sub>
                          <m:r>
                            <a:rPr lang="en-IN" b="1" i="1" smtClean="0">
                              <a:latin typeface="Cambria Math" panose="02040503050406030204" pitchFamily="18" charset="0"/>
                            </a:rPr>
                            <m:t>𝟐</m:t>
                          </m:r>
                        </m:sub>
                      </m:sSub>
                      <m:r>
                        <a:rPr lang="en-IN" b="1" i="1" smtClean="0">
                          <a:latin typeface="Cambria Math" panose="02040503050406030204" pitchFamily="18" charset="0"/>
                        </a:rPr>
                        <m:t>−</m:t>
                      </m:r>
                      <m:r>
                        <a:rPr lang="en-IN" b="1" i="1" smtClean="0">
                          <a:latin typeface="Cambria Math" panose="02040503050406030204" pitchFamily="18" charset="0"/>
                        </a:rPr>
                        <m:t>𝟐</m:t>
                      </m:r>
                    </m:oMath>
                  </m:oMathPara>
                </a14:m>
                <a:endParaRPr lang="en-IN" b="1" dirty="0"/>
              </a:p>
            </p:txBody>
          </p:sp>
        </mc:Choice>
        <mc:Fallback xmlns="">
          <p:sp>
            <p:nvSpPr>
              <p:cNvPr id="3" name="TextBox 2">
                <a:extLst>
                  <a:ext uri="{FF2B5EF4-FFF2-40B4-BE49-F238E27FC236}">
                    <a16:creationId xmlns:a16="http://schemas.microsoft.com/office/drawing/2014/main" id="{B7A98612-8FBD-835D-7FD9-A489887D7A32}"/>
                  </a:ext>
                </a:extLst>
              </p:cNvPr>
              <p:cNvSpPr txBox="1">
                <a:spLocks noRot="1" noChangeAspect="1" noMove="1" noResize="1" noEditPoints="1" noAdjustHandles="1" noChangeArrowheads="1" noChangeShapeType="1" noTextEdit="1"/>
              </p:cNvSpPr>
              <p:nvPr/>
            </p:nvSpPr>
            <p:spPr>
              <a:xfrm>
                <a:off x="1413983" y="5722570"/>
                <a:ext cx="1849737" cy="276999"/>
              </a:xfrm>
              <a:prstGeom prst="rect">
                <a:avLst/>
              </a:prstGeom>
              <a:blipFill>
                <a:blip r:embed="rId4"/>
                <a:stretch>
                  <a:fillRect l="-4290" t="-6667" r="-2640" b="-35556"/>
                </a:stretch>
              </a:blipFill>
            </p:spPr>
            <p:txBody>
              <a:bodyPr/>
              <a:lstStyle/>
              <a:p>
                <a:r>
                  <a:rPr lang="en-IN">
                    <a:noFill/>
                  </a:rPr>
                  <a:t> </a:t>
                </a:r>
              </a:p>
            </p:txBody>
          </p:sp>
        </mc:Fallback>
      </mc:AlternateContent>
    </p:spTree>
    <p:extLst>
      <p:ext uri="{BB962C8B-B14F-4D97-AF65-F5344CB8AC3E}">
        <p14:creationId xmlns:p14="http://schemas.microsoft.com/office/powerpoint/2010/main" val="32507167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2" descr="Two-sample t test for difference of means (video) | Khan Academy">
            <a:extLst>
              <a:ext uri="{FF2B5EF4-FFF2-40B4-BE49-F238E27FC236}">
                <a16:creationId xmlns:a16="http://schemas.microsoft.com/office/drawing/2014/main" id="{B4F8336D-54D1-6E4B-ABA2-2EF6C04FED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6E8E550-6C5C-7E4B-9926-61BB7F82DA30}"/>
              </a:ext>
            </a:extLst>
          </p:cNvPr>
          <p:cNvSpPr/>
          <p:nvPr/>
        </p:nvSpPr>
        <p:spPr>
          <a:xfrm>
            <a:off x="5962224" y="4777977"/>
            <a:ext cx="5620898" cy="369332"/>
          </a:xfrm>
          <a:prstGeom prst="rect">
            <a:avLst/>
          </a:prstGeom>
        </p:spPr>
        <p:txBody>
          <a:bodyPr wrap="none">
            <a:spAutoFit/>
          </a:bodyPr>
          <a:lstStyle/>
          <a:p>
            <a:r>
              <a:rPr lang="en-US" dirty="0"/>
              <a:t>https://</a:t>
            </a:r>
            <a:r>
              <a:rPr lang="en-US" dirty="0" err="1"/>
              <a:t>www.youtube.com</a:t>
            </a:r>
            <a:r>
              <a:rPr lang="en-US" dirty="0"/>
              <a:t>/</a:t>
            </a:r>
            <a:r>
              <a:rPr lang="en-US" dirty="0" err="1"/>
              <a:t>watch?v</a:t>
            </a:r>
            <a:r>
              <a:rPr lang="en-US" dirty="0"/>
              <a:t>=NkGvw18zlGQ</a:t>
            </a:r>
          </a:p>
        </p:txBody>
      </p:sp>
    </p:spTree>
    <p:extLst>
      <p:ext uri="{BB962C8B-B14F-4D97-AF65-F5344CB8AC3E}">
        <p14:creationId xmlns:p14="http://schemas.microsoft.com/office/powerpoint/2010/main" val="18105405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00B4B4F-89F0-BC87-8DD5-EEF4AB2D83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386" y="863978"/>
            <a:ext cx="5771015" cy="3872165"/>
          </a:xfrm>
          <a:prstGeom prst="rect">
            <a:avLst/>
          </a:prstGeom>
        </p:spPr>
      </p:pic>
      <p:pic>
        <p:nvPicPr>
          <p:cNvPr id="12" name="Picture 11">
            <a:extLst>
              <a:ext uri="{FF2B5EF4-FFF2-40B4-BE49-F238E27FC236}">
                <a16:creationId xmlns:a16="http://schemas.microsoft.com/office/drawing/2014/main" id="{AD8D4CF8-84E3-D945-E748-7BDBBC2687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9687" y="962554"/>
            <a:ext cx="5845197" cy="3573112"/>
          </a:xfrm>
          <a:prstGeom prst="rect">
            <a:avLst/>
          </a:prstGeom>
        </p:spPr>
      </p:pic>
      <p:pic>
        <p:nvPicPr>
          <p:cNvPr id="14" name="Picture 13">
            <a:extLst>
              <a:ext uri="{FF2B5EF4-FFF2-40B4-BE49-F238E27FC236}">
                <a16:creationId xmlns:a16="http://schemas.microsoft.com/office/drawing/2014/main" id="{95759F96-E070-F615-AD19-A14F37FDED7B}"/>
              </a:ext>
            </a:extLst>
          </p:cNvPr>
          <p:cNvPicPr>
            <a:picLocks noChangeAspect="1"/>
          </p:cNvPicPr>
          <p:nvPr/>
        </p:nvPicPr>
        <p:blipFill>
          <a:blip r:embed="rId4"/>
          <a:stretch>
            <a:fillRect/>
          </a:stretch>
        </p:blipFill>
        <p:spPr>
          <a:xfrm>
            <a:off x="2835136" y="4791622"/>
            <a:ext cx="5274267" cy="1562141"/>
          </a:xfrm>
          <a:prstGeom prst="rect">
            <a:avLst/>
          </a:prstGeom>
        </p:spPr>
      </p:pic>
    </p:spTree>
    <p:extLst>
      <p:ext uri="{BB962C8B-B14F-4D97-AF65-F5344CB8AC3E}">
        <p14:creationId xmlns:p14="http://schemas.microsoft.com/office/powerpoint/2010/main" val="14748628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84E859-9BAB-34AC-2B77-AF1C9B1B72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7791" y="3310240"/>
            <a:ext cx="6263538" cy="3242896"/>
          </a:xfrm>
          <a:prstGeom prst="rect">
            <a:avLst/>
          </a:prstGeom>
        </p:spPr>
      </p:pic>
      <p:pic>
        <p:nvPicPr>
          <p:cNvPr id="4" name="Picture 3">
            <a:extLst>
              <a:ext uri="{FF2B5EF4-FFF2-40B4-BE49-F238E27FC236}">
                <a16:creationId xmlns:a16="http://schemas.microsoft.com/office/drawing/2014/main" id="{0CC0FD72-D777-4ADB-28EA-6EDFFD8F55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891" y="0"/>
            <a:ext cx="6207020" cy="3323759"/>
          </a:xfrm>
          <a:prstGeom prst="rect">
            <a:avLst/>
          </a:prstGeom>
        </p:spPr>
      </p:pic>
    </p:spTree>
    <p:extLst>
      <p:ext uri="{BB962C8B-B14F-4D97-AF65-F5344CB8AC3E}">
        <p14:creationId xmlns:p14="http://schemas.microsoft.com/office/powerpoint/2010/main" val="29195374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01C295-6AAA-316E-1E77-07F8313C36C5}"/>
              </a:ext>
            </a:extLst>
          </p:cNvPr>
          <p:cNvPicPr>
            <a:picLocks noChangeAspect="1"/>
          </p:cNvPicPr>
          <p:nvPr/>
        </p:nvPicPr>
        <p:blipFill>
          <a:blip r:embed="rId2"/>
          <a:stretch>
            <a:fillRect/>
          </a:stretch>
        </p:blipFill>
        <p:spPr>
          <a:xfrm>
            <a:off x="185621" y="1176647"/>
            <a:ext cx="10904067" cy="3994861"/>
          </a:xfrm>
          <a:prstGeom prst="rect">
            <a:avLst/>
          </a:prstGeom>
        </p:spPr>
      </p:pic>
    </p:spTree>
    <p:extLst>
      <p:ext uri="{BB962C8B-B14F-4D97-AF65-F5344CB8AC3E}">
        <p14:creationId xmlns:p14="http://schemas.microsoft.com/office/powerpoint/2010/main" val="4450390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35277</TotalTime>
  <Words>2745</Words>
  <Application>Microsoft Office PowerPoint</Application>
  <PresentationFormat>Widescreen</PresentationFormat>
  <Paragraphs>370</Paragraphs>
  <Slides>64</Slides>
  <Notes>8</Notes>
  <HiddenSlides>0</HiddenSlides>
  <MMClips>7</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64</vt:i4>
      </vt:variant>
    </vt:vector>
  </HeadingPairs>
  <TitlesOfParts>
    <vt:vector size="77" baseType="lpstr">
      <vt:lpstr>Arial</vt:lpstr>
      <vt:lpstr>Calibri</vt:lpstr>
      <vt:lpstr>Cambria Math</vt:lpstr>
      <vt:lpstr>Courier New</vt:lpstr>
      <vt:lpstr>Symbol</vt:lpstr>
      <vt:lpstr>Tahoma</vt:lpstr>
      <vt:lpstr>Times New Roman</vt:lpstr>
      <vt:lpstr>Tw Cen MT</vt:lpstr>
      <vt:lpstr>Tw Cen MT Condensed</vt:lpstr>
      <vt:lpstr>Wingdings</vt:lpstr>
      <vt:lpstr>Wingdings 3</vt:lpstr>
      <vt:lpstr>Integral</vt:lpstr>
      <vt:lpstr>Equation</vt:lpstr>
      <vt:lpstr>STAT 221-FUNdamentals of STATISTICAL DATA ANALYSIS </vt:lpstr>
      <vt:lpstr>Hypothesis testing</vt:lpstr>
      <vt:lpstr>Distinctions Between Parameters and Statistics (Chapter 8 review)</vt:lpstr>
      <vt:lpstr>PowerPoint Presentation</vt:lpstr>
      <vt:lpstr>Sampling Distributions of a Mean (last Class)</vt:lpstr>
      <vt:lpstr>Watch the videos</vt:lpstr>
      <vt:lpstr>PowerPoint Presentation</vt:lpstr>
      <vt:lpstr>P-value</vt:lpstr>
      <vt:lpstr>PowerPoint Presentation</vt:lpstr>
      <vt:lpstr>PowerPoint Presentation</vt:lpstr>
      <vt:lpstr>Hypothesis Testing</vt:lpstr>
      <vt:lpstr>Null and Alternative Hypotheses</vt:lpstr>
      <vt:lpstr>Illustrative Example: “Body Weight”</vt:lpstr>
      <vt:lpstr>Test Statistic</vt:lpstr>
      <vt:lpstr>Illustrative Example: z  statistic</vt:lpstr>
      <vt:lpstr>Illustrative Example: z statistic</vt:lpstr>
      <vt:lpstr>Reasoning BehinD zstat</vt:lpstr>
      <vt:lpstr>P-value</vt:lpstr>
      <vt:lpstr>One-sided P-value for zstat of 0.6</vt:lpstr>
      <vt:lpstr>One-sided P-value for zstat of 3.0</vt:lpstr>
      <vt:lpstr>Two-Sided P-Value</vt:lpstr>
      <vt:lpstr>Interpretation </vt:lpstr>
      <vt:lpstr>Interpretation </vt:lpstr>
      <vt:lpstr>α-Level (Used in some situations)</vt:lpstr>
      <vt:lpstr>(Summary) One-Sample z Test</vt:lpstr>
      <vt:lpstr>Conditions for z test</vt:lpstr>
      <vt:lpstr>The Lake Wobegon Example “where all the children are above average”</vt:lpstr>
      <vt:lpstr>Example: “Lake Wobegon”</vt:lpstr>
      <vt:lpstr>PowerPoint Presentation</vt:lpstr>
      <vt:lpstr>Two-Sided P-value: Lake Wobegon</vt:lpstr>
      <vt:lpstr>Power and Sample Size</vt:lpstr>
      <vt:lpstr>PowerPoint Presentation</vt:lpstr>
      <vt:lpstr>Power</vt:lpstr>
      <vt:lpstr>Power of a z test</vt:lpstr>
      <vt:lpstr>Calculating Power: Example</vt:lpstr>
      <vt:lpstr>Reasoning Behind Power </vt:lpstr>
      <vt:lpstr>PowerPoint Presentation</vt:lpstr>
      <vt:lpstr>Sample Size Requirements</vt:lpstr>
      <vt:lpstr>Example: Sample Size Requirement</vt:lpstr>
      <vt:lpstr>PowerPoint Presentation</vt:lpstr>
      <vt:lpstr>Additional Resources</vt:lpstr>
      <vt:lpstr>PowerPoint Presentation</vt:lpstr>
      <vt:lpstr>Inference about mean:</vt:lpstr>
      <vt:lpstr>sigma not known</vt:lpstr>
      <vt:lpstr>Additional Uncertainty</vt:lpstr>
      <vt:lpstr>Student’s t distributions </vt:lpstr>
      <vt:lpstr>PowerPoint Presentation</vt:lpstr>
      <vt:lpstr>Table C (t table)</vt:lpstr>
      <vt:lpstr>One-Sample t Test</vt:lpstr>
      <vt:lpstr>Hypothesis Statements</vt:lpstr>
      <vt:lpstr>Example</vt:lpstr>
      <vt:lpstr>One-Sample t Test Statistic</vt:lpstr>
      <vt:lpstr>Example (Data)</vt:lpstr>
      <vt:lpstr>Example</vt:lpstr>
      <vt:lpstr>P-value via Table C</vt:lpstr>
      <vt:lpstr>For a more precise P-value use a computer utility</vt:lpstr>
      <vt:lpstr>Interpretation</vt:lpstr>
      <vt:lpstr>(1-α)∗100-Confidence Interval</vt:lpstr>
      <vt:lpstr>Same Data</vt:lpstr>
      <vt:lpstr>Two sample t test (Group difference)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 221-STATISTICAL DATA ANALYSIS</dc:title>
  <dc:creator>Shivakumar Jolad</dc:creator>
  <cp:lastModifiedBy>Shivakumar Jolad</cp:lastModifiedBy>
  <cp:revision>58</cp:revision>
  <dcterms:created xsi:type="dcterms:W3CDTF">2022-10-01T08:44:02Z</dcterms:created>
  <dcterms:modified xsi:type="dcterms:W3CDTF">2026-07-06T11:11:47Z</dcterms:modified>
</cp:coreProperties>
</file>