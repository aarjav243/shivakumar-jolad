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7"/>
  </p:notesMasterIdLst>
  <p:sldIdLst>
    <p:sldId id="257" r:id="rId2"/>
    <p:sldId id="434" r:id="rId3"/>
    <p:sldId id="435" r:id="rId4"/>
    <p:sldId id="280" r:id="rId5"/>
    <p:sldId id="258" r:id="rId6"/>
    <p:sldId id="305" r:id="rId7"/>
    <p:sldId id="259" r:id="rId8"/>
    <p:sldId id="260" r:id="rId9"/>
    <p:sldId id="282" r:id="rId10"/>
    <p:sldId id="262" r:id="rId11"/>
    <p:sldId id="261" r:id="rId12"/>
    <p:sldId id="283" r:id="rId13"/>
    <p:sldId id="296" r:id="rId14"/>
    <p:sldId id="297" r:id="rId15"/>
    <p:sldId id="299" r:id="rId16"/>
    <p:sldId id="307" r:id="rId17"/>
    <p:sldId id="284" r:id="rId18"/>
    <p:sldId id="263" r:id="rId19"/>
    <p:sldId id="264" r:id="rId20"/>
    <p:sldId id="286" r:id="rId21"/>
    <p:sldId id="266" r:id="rId22"/>
    <p:sldId id="298" r:id="rId23"/>
    <p:sldId id="300" r:id="rId24"/>
    <p:sldId id="267" r:id="rId25"/>
    <p:sldId id="287" r:id="rId26"/>
    <p:sldId id="269" r:id="rId27"/>
    <p:sldId id="301" r:id="rId28"/>
    <p:sldId id="268" r:id="rId29"/>
    <p:sldId id="291" r:id="rId30"/>
    <p:sldId id="304" r:id="rId31"/>
    <p:sldId id="308" r:id="rId32"/>
    <p:sldId id="272" r:id="rId33"/>
    <p:sldId id="302" r:id="rId34"/>
    <p:sldId id="273" r:id="rId35"/>
    <p:sldId id="303" r:id="rId36"/>
    <p:sldId id="275" r:id="rId37"/>
    <p:sldId id="293" r:id="rId38"/>
    <p:sldId id="276" r:id="rId39"/>
    <p:sldId id="274" r:id="rId40"/>
    <p:sldId id="277" r:id="rId41"/>
    <p:sldId id="295" r:id="rId42"/>
    <p:sldId id="306" r:id="rId43"/>
    <p:sldId id="278" r:id="rId44"/>
    <p:sldId id="289" r:id="rId45"/>
    <p:sldId id="29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AE708-83AD-4BAC-8A4F-3B3039F1586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9E9CF-B346-4BA3-A3F6-1C3163B4E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548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2841B1A-BB62-4401-851F-7FCD5F59B44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13D14-5C77-4A1B-ACC2-6AB244B31B3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724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1B1A-BB62-4401-851F-7FCD5F59B44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13D14-5C77-4A1B-ACC2-6AB244B3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0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1B1A-BB62-4401-851F-7FCD5F59B44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13D14-5C77-4A1B-ACC2-6AB244B31B3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08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1B1A-BB62-4401-851F-7FCD5F59B44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13D14-5C77-4A1B-ACC2-6AB244B3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73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1B1A-BB62-4401-851F-7FCD5F59B44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13D14-5C77-4A1B-ACC2-6AB244B3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787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1B1A-BB62-4401-851F-7FCD5F59B44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13D14-5C77-4A1B-ACC2-6AB244B3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37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1B1A-BB62-4401-851F-7FCD5F59B44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13D14-5C77-4A1B-ACC2-6AB244B3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856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1B1A-BB62-4401-851F-7FCD5F59B44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13D14-5C77-4A1B-ACC2-6AB244B3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275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1B1A-BB62-4401-851F-7FCD5F59B44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13D14-5C77-4A1B-ACC2-6AB244B31B3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0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1B1A-BB62-4401-851F-7FCD5F59B44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13D14-5C77-4A1B-ACC2-6AB244B31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80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1B1A-BB62-4401-851F-7FCD5F59B44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13D14-5C77-4A1B-ACC2-6AB244B31B3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820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0D946D-ADB8-D42A-90E8-A7975C7BE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358E0B-55C1-44F4-9AAD-D7FE3EA41C1A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BA9099-2D25-8721-C980-0CF0F4CEB6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E9A9B5-C7A0-55AA-BB41-FA47C2419D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3E4BE0-DCC6-4BF3-8B2E-690E010246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4411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7A9347-159B-EC3A-867D-630F3B3994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0C778B-0F75-453F-84F4-36F94616874C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92547-C92D-5A6C-405F-B777AAF59F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DBCB41-B66A-F844-29F1-ADF0099BE4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5C8918-35C3-4069-B44D-3C7A189347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4253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8D723D-4A36-F570-2F89-0E598C2E94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41F5C4-A31F-453E-A924-0A881E9BE90B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23F7DE-9AD0-45AE-5282-C34A87A52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C2AC7F-C36C-58E4-B8BD-116AEA39A9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1D4DC7-87F8-4BA0-B65D-0A1F439445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9189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C93314-95CD-6EC1-1BD1-523935FDCE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0C8FC3-B49C-4E89-987A-1CA53A40092B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C3F3F99-ABB8-C2A0-0D53-BEE93E21AC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A02981A-B994-9853-0726-F856BFB9F8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1A0C41-2EC6-456D-BC78-C64E3A833A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4065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D8C9925-EA3E-3ADF-E453-E961A367ED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49D840-3C63-46C2-957D-B29796BDDE4D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D9F5692-1A97-4E2C-C241-B1F5D21B00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F31FB3B-DA43-15C4-BA69-761678F11C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6C0022-9A0B-4022-B075-10721CACAB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503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2841B1A-BB62-4401-851F-7FCD5F59B44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FA13D14-5C77-4A1B-ACC2-6AB244B31B3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94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6.wmf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9B0-43DD-35BD-EB8A-B372A00F7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5790" y="1793137"/>
            <a:ext cx="7650617" cy="2278485"/>
          </a:xfrm>
        </p:spPr>
        <p:txBody>
          <a:bodyPr>
            <a:norm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STAT </a:t>
            </a:r>
            <a:r>
              <a:rPr lang="en-IN">
                <a:highlight>
                  <a:srgbClr val="FFFF00"/>
                </a:highlight>
              </a:rPr>
              <a:t>221-fundamentals of STATISTICAL </a:t>
            </a:r>
            <a:r>
              <a:rPr lang="en-IN" dirty="0">
                <a:highlight>
                  <a:srgbClr val="FFFF00"/>
                </a:highlight>
              </a:rPr>
              <a:t>DATA ANALYSIS</a:t>
            </a:r>
            <a:br>
              <a:rPr lang="en-IN" dirty="0">
                <a:highlight>
                  <a:srgbClr val="FFFF00"/>
                </a:highlight>
              </a:rPr>
            </a:br>
            <a:endParaRPr lang="en-IN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CD515-2431-B084-4B1B-3B5938342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787" y="5064745"/>
            <a:ext cx="7099678" cy="1320802"/>
          </a:xfrm>
        </p:spPr>
        <p:txBody>
          <a:bodyPr>
            <a:no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Week-14: Correlation and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CC985-F26E-10E0-3AB3-D1293D9322C3}"/>
              </a:ext>
            </a:extLst>
          </p:cNvPr>
          <p:cNvSpPr txBox="1"/>
          <p:nvPr/>
        </p:nvSpPr>
        <p:spPr>
          <a:xfrm>
            <a:off x="8804885" y="5540480"/>
            <a:ext cx="2650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0070C0"/>
                </a:solidFill>
              </a:rPr>
              <a:t>Shivakumar Jolad</a:t>
            </a:r>
          </a:p>
        </p:txBody>
      </p:sp>
    </p:spTree>
    <p:extLst>
      <p:ext uri="{BB962C8B-B14F-4D97-AF65-F5344CB8AC3E}">
        <p14:creationId xmlns:p14="http://schemas.microsoft.com/office/powerpoint/2010/main" val="304545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76E309-48FA-2FBA-0B01-EE3BF281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and regression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107BD-A2DA-DF24-B100-B7D194F74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587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0D1C8CD-12B0-E46B-C390-15EF3409A4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FB920969-2DB4-453D-B3D6-0705DC2AF71B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B67B4BE8-2117-6B31-D421-D8F8A46E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9DF053-AE1D-411A-A901-C96A19FB541D}" type="slidenum">
              <a:rPr lang="en-US" altLang="en-US" sz="1400"/>
              <a:pPr eaLnBrk="1" hangingPunct="1"/>
              <a:t>3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AB52335-AFC9-8672-2B21-A5B8F66F7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6000" dirty="0"/>
              <a:t>Data</a:t>
            </a:r>
          </a:p>
        </p:txBody>
      </p:sp>
      <p:sp>
        <p:nvSpPr>
          <p:cNvPr id="489475" name="Rectangle 3">
            <a:extLst>
              <a:ext uri="{FF2B5EF4-FFF2-40B4-BE49-F238E27FC236}">
                <a16:creationId xmlns:a16="http://schemas.microsoft.com/office/drawing/2014/main" id="{62C73EC2-DADE-1A43-B52A-0090D2C1D8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589088"/>
            <a:ext cx="8229600" cy="1808162"/>
          </a:xfrm>
        </p:spPr>
        <p:txBody>
          <a:bodyPr>
            <a:normAutofit/>
          </a:bodyPr>
          <a:lstStyle/>
          <a:p>
            <a:pPr marL="609600" indent="-609600"/>
            <a:r>
              <a:rPr lang="en-US" altLang="en-US" sz="2400" dirty="0"/>
              <a:t>Quantitative explanatory variable </a:t>
            </a:r>
            <a:r>
              <a:rPr lang="en-US" altLang="en-US" sz="2400" i="1" dirty="0"/>
              <a:t>X</a:t>
            </a:r>
          </a:p>
          <a:p>
            <a:pPr marL="609600" indent="-609600"/>
            <a:r>
              <a:rPr lang="en-US" altLang="en-US" sz="2400" dirty="0"/>
              <a:t>Quantitative response variable </a:t>
            </a:r>
            <a:r>
              <a:rPr lang="en-US" altLang="en-US" sz="2400" i="1" dirty="0"/>
              <a:t>Y</a:t>
            </a:r>
          </a:p>
          <a:p>
            <a:pPr marL="609600" indent="-609600"/>
            <a:r>
              <a:rPr lang="en-US" altLang="en-US" sz="2400" dirty="0"/>
              <a:t>Objective: To quantify the </a:t>
            </a:r>
            <a:r>
              <a:rPr lang="en-US" altLang="en-US" sz="2400" i="1" dirty="0"/>
              <a:t>linear </a:t>
            </a:r>
            <a:r>
              <a:rPr lang="en-US" altLang="en-US" sz="2400" dirty="0"/>
              <a:t>relationship between X and Y</a:t>
            </a:r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D3309395-1385-19B7-0940-2EA6ED5A0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437" y="3343901"/>
            <a:ext cx="5758955" cy="2783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9EF45D0-3DE7-9E7E-E94B-268FBB8B50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3373FF4F-F97E-49D2-A315-3B425D51AC79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9F6285A6-C6B5-00D5-2F2F-822A82C1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CC561AC-B3D1-422F-B04B-C145ECD38885}" type="slidenum">
              <a:rPr lang="en-US" altLang="en-US" sz="1400"/>
              <a:pPr eaLnBrk="1" hangingPunct="1"/>
              <a:t>4</a:t>
            </a:fld>
            <a:endParaRPr lang="en-US" altLang="en-US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6A8F80AD-3196-C725-5268-E15ACA55A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9" y="457201"/>
            <a:ext cx="8239125" cy="454025"/>
          </a:xfrm>
        </p:spPr>
        <p:txBody>
          <a:bodyPr>
            <a:normAutofit fontScale="90000"/>
          </a:bodyPr>
          <a:lstStyle/>
          <a:p>
            <a:pPr marL="838200" indent="-838200"/>
            <a:r>
              <a:rPr lang="en-US" altLang="en-US" sz="5400"/>
              <a:t>Illustrative Data </a:t>
            </a:r>
            <a:r>
              <a:rPr lang="en-US" altLang="en-US" sz="3600"/>
              <a:t>(Doll, 1955)</a:t>
            </a:r>
          </a:p>
        </p:txBody>
      </p:sp>
      <p:pic>
        <p:nvPicPr>
          <p:cNvPr id="10244" name="Picture 6">
            <a:extLst>
              <a:ext uri="{FF2B5EF4-FFF2-40B4-BE49-F238E27FC236}">
                <a16:creationId xmlns:a16="http://schemas.microsoft.com/office/drawing/2014/main" id="{5DE6BBE5-EE62-F034-4442-90FB4F027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1" y="2362200"/>
            <a:ext cx="5419725" cy="328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ctangle 6">
            <a:extLst>
              <a:ext uri="{FF2B5EF4-FFF2-40B4-BE49-F238E27FC236}">
                <a16:creationId xmlns:a16="http://schemas.microsoft.com/office/drawing/2014/main" id="{A93B53F3-35DD-2265-73E2-40420CE95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0591" y="1239839"/>
            <a:ext cx="288893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/>
              <a:t>per capita cigarette </a:t>
            </a:r>
          </a:p>
          <a:p>
            <a:pPr algn="ctr" eaLnBrk="1" hangingPunct="1">
              <a:buFontTx/>
              <a:buNone/>
            </a:pPr>
            <a:r>
              <a:rPr lang="en-US" altLang="en-US"/>
              <a:t>consumption (X)</a:t>
            </a:r>
          </a:p>
        </p:txBody>
      </p:sp>
      <p:sp>
        <p:nvSpPr>
          <p:cNvPr id="10247" name="Text Box 7">
            <a:extLst>
              <a:ext uri="{FF2B5EF4-FFF2-40B4-BE49-F238E27FC236}">
                <a16:creationId xmlns:a16="http://schemas.microsoft.com/office/drawing/2014/main" id="{550D367C-AAA8-82A5-C0CF-F685A205E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660" y="1176339"/>
            <a:ext cx="36423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/>
              <a:t>lung cancer mortality per </a:t>
            </a:r>
          </a:p>
          <a:p>
            <a:pPr algn="ctr" eaLnBrk="1" hangingPunct="1">
              <a:buFontTx/>
              <a:buNone/>
            </a:pPr>
            <a:r>
              <a:rPr lang="en-US" altLang="en-US"/>
              <a:t>100,000 in 1950 (Y) </a:t>
            </a:r>
          </a:p>
        </p:txBody>
      </p:sp>
      <p:sp>
        <p:nvSpPr>
          <p:cNvPr id="10248" name="Line 8">
            <a:extLst>
              <a:ext uri="{FF2B5EF4-FFF2-40B4-BE49-F238E27FC236}">
                <a16:creationId xmlns:a16="http://schemas.microsoft.com/office/drawing/2014/main" id="{07443603-7FD7-3823-1980-F6393F2E3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1838326"/>
            <a:ext cx="1065212" cy="447675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9" name="Line 9">
            <a:extLst>
              <a:ext uri="{FF2B5EF4-FFF2-40B4-BE49-F238E27FC236}">
                <a16:creationId xmlns:a16="http://schemas.microsoft.com/office/drawing/2014/main" id="{0B9F605C-A505-ED01-BDF9-9BA162BE28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70863" y="1873251"/>
            <a:ext cx="360362" cy="43021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2E29FE29-1A9F-6F3C-5456-27E541BB0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0591" y="1239839"/>
            <a:ext cx="288893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/>
              <a:t>per capita cigarette </a:t>
            </a:r>
          </a:p>
          <a:p>
            <a:pPr algn="ctr" eaLnBrk="1" hangingPunct="1">
              <a:buFontTx/>
              <a:buNone/>
            </a:pPr>
            <a:r>
              <a:rPr lang="en-US" altLang="en-US"/>
              <a:t>consumption (X)</a:t>
            </a:r>
          </a:p>
        </p:txBody>
      </p:sp>
      <p:sp>
        <p:nvSpPr>
          <p:cNvPr id="10252" name="Text Box 12">
            <a:extLst>
              <a:ext uri="{FF2B5EF4-FFF2-40B4-BE49-F238E27FC236}">
                <a16:creationId xmlns:a16="http://schemas.microsoft.com/office/drawing/2014/main" id="{79933A7B-F369-DAFA-20E5-D42AD4221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650" y="5959476"/>
            <a:ext cx="10258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i="1"/>
              <a:t>n </a:t>
            </a:r>
            <a:r>
              <a:rPr lang="en-US" altLang="en-US"/>
              <a:t>=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0FA782A-61CE-184F-B20B-A743E0D279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FBB3B3E3-33A4-4358-BA55-3F076F8B7FD1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7654D062-5CB2-27E3-8671-1DAE7674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9328705-04A8-40C9-ABDF-61386B6D60FD}" type="slidenum">
              <a:rPr lang="en-US" altLang="en-US" sz="1400"/>
              <a:pPr eaLnBrk="1" hangingPunct="1"/>
              <a:t>5</a:t>
            </a:fld>
            <a:endParaRPr lang="en-US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C75E0B30-964F-133A-5C2A-62007E1EFC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5400"/>
              <a:t>Scatterplot</a:t>
            </a:r>
          </a:p>
        </p:txBody>
      </p:sp>
      <p:pic>
        <p:nvPicPr>
          <p:cNvPr id="11269" name="Picture 16">
            <a:extLst>
              <a:ext uri="{FF2B5EF4-FFF2-40B4-BE49-F238E27FC236}">
                <a16:creationId xmlns:a16="http://schemas.microsoft.com/office/drawing/2014/main" id="{23398726-D232-15B8-C398-0FD20BF5E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88" y="1739901"/>
            <a:ext cx="4824412" cy="382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7845" name="Rectangle 5">
            <a:extLst>
              <a:ext uri="{FF2B5EF4-FFF2-40B4-BE49-F238E27FC236}">
                <a16:creationId xmlns:a16="http://schemas.microsoft.com/office/drawing/2014/main" id="{3C23C0EC-3F6A-2F0F-9C83-BFC0D8D48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464" y="1652589"/>
            <a:ext cx="2879725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82700" indent="-533400" eaLnBrk="0" hangingPunct="0"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8542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349500" indent="-381000" eaLnBrk="0" hangingPunct="0"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844800" indent="-381000" eaLnBrk="0" hangingPunct="0"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302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759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216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673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en-US" sz="2800"/>
              <a:t>Assess: 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800"/>
              <a:t>Form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800"/>
              <a:t>Direction of association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800"/>
              <a:t>Outliers 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800"/>
              <a:t>Strength of relation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7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7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7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7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7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7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7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7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7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7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4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94E446A-A086-86A5-3FFA-487405E580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B1814E7A-09F2-4B06-ADCD-2EC28210943C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EFA2326F-CED6-6359-C8E0-234A1C9E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56F40D-7C07-46D7-B59C-408A2D0EF6C0}" type="slidenum">
              <a:rPr lang="en-US" altLang="en-US" sz="1400"/>
              <a:pPr eaLnBrk="1" hangingPunct="1"/>
              <a:t>6</a:t>
            </a:fld>
            <a:endParaRPr lang="en-US" alt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BD5E306F-CB6A-3280-7907-85018A839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en-US" sz="6000"/>
              <a:t>Doll, 1955 </a:t>
            </a:r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4387AF62-67F7-1C9B-C617-8996032FB57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172200" y="1600201"/>
            <a:ext cx="4038600" cy="4525963"/>
          </a:xfrm>
        </p:spPr>
        <p:txBody>
          <a:bodyPr/>
          <a:lstStyle/>
          <a:p>
            <a:r>
              <a:rPr lang="en-US" altLang="en-US" sz="2800" dirty="0"/>
              <a:t>Form: linear</a:t>
            </a:r>
          </a:p>
          <a:p>
            <a:r>
              <a:rPr lang="en-US" altLang="en-US" sz="2800" dirty="0"/>
              <a:t>Direction: positive association</a:t>
            </a:r>
          </a:p>
          <a:p>
            <a:r>
              <a:rPr lang="en-US" altLang="en-US" sz="2800"/>
              <a:t>Outlier?</a:t>
            </a:r>
            <a:endParaRPr lang="en-US" altLang="en-US" sz="2800" dirty="0"/>
          </a:p>
          <a:p>
            <a:r>
              <a:rPr lang="en-US" altLang="en-US" sz="2800" dirty="0"/>
              <a:t>Strength: difficult to determine by eye</a:t>
            </a:r>
          </a:p>
        </p:txBody>
      </p:sp>
      <p:pic>
        <p:nvPicPr>
          <p:cNvPr id="13322" name="Picture 4">
            <a:extLst>
              <a:ext uri="{FF2B5EF4-FFF2-40B4-BE49-F238E27FC236}">
                <a16:creationId xmlns:a16="http://schemas.microsoft.com/office/drawing/2014/main" id="{2216FDF9-842A-D8D4-5A54-7668D2DB1743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2262189"/>
            <a:ext cx="4038600" cy="3201987"/>
          </a:xfrm>
          <a:noFill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3" name="Line 11">
            <a:extLst>
              <a:ext uri="{FF2B5EF4-FFF2-40B4-BE49-F238E27FC236}">
                <a16:creationId xmlns:a16="http://schemas.microsoft.com/office/drawing/2014/main" id="{5151DF6A-8843-0571-B3AD-35AD1531B1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9563" y="2682876"/>
            <a:ext cx="2468562" cy="201771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3546816-513C-3A09-7FEC-CEA91379B8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FADEEA9F-31C6-4A5D-9506-8800D0ABDAFD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14338" name="Slide Number Placeholder 6">
            <a:extLst>
              <a:ext uri="{FF2B5EF4-FFF2-40B4-BE49-F238E27FC236}">
                <a16:creationId xmlns:a16="http://schemas.microsoft.com/office/drawing/2014/main" id="{D1B7C2D0-7B9E-6E64-0AAF-C4A64FFB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368F9DE-405E-4C4A-BBFB-C17B23E86791}" type="slidenum">
              <a:rPr lang="en-US" altLang="en-US" sz="1400"/>
              <a:pPr eaLnBrk="1" hangingPunct="1"/>
              <a:t>7</a:t>
            </a:fld>
            <a:endParaRPr lang="en-US" altLang="en-US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5129B0AE-A81C-8500-F5FA-AA36227940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3600"/>
              <a:t>The </a:t>
            </a:r>
            <a:r>
              <a:rPr lang="en-US" altLang="en-US" sz="3600" b="1"/>
              <a:t>eye</a:t>
            </a:r>
            <a:r>
              <a:rPr lang="en-US" altLang="en-US" sz="3600"/>
              <a:t> is </a:t>
            </a:r>
            <a:r>
              <a:rPr lang="en-US" altLang="en-US" sz="3600" i="1"/>
              <a:t>not</a:t>
            </a:r>
            <a:r>
              <a:rPr lang="en-US" altLang="en-US" sz="3600"/>
              <a:t> a good judge of strength</a:t>
            </a:r>
          </a:p>
        </p:txBody>
      </p:sp>
      <p:pic>
        <p:nvPicPr>
          <p:cNvPr id="14342" name="Picture 6">
            <a:extLst>
              <a:ext uri="{FF2B5EF4-FFF2-40B4-BE49-F238E27FC236}">
                <a16:creationId xmlns:a16="http://schemas.microsoft.com/office/drawing/2014/main" id="{F29715FA-C8D4-A6D9-4A54-839E1175C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738" y="2001838"/>
            <a:ext cx="3257550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3" name="Picture 7">
            <a:extLst>
              <a:ext uri="{FF2B5EF4-FFF2-40B4-BE49-F238E27FC236}">
                <a16:creationId xmlns:a16="http://schemas.microsoft.com/office/drawing/2014/main" id="{EEF6CA2D-45ED-67A6-B21F-674A2BFA0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9" y="2017713"/>
            <a:ext cx="3286125" cy="260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4" name="Text Box 8">
            <a:extLst>
              <a:ext uri="{FF2B5EF4-FFF2-40B4-BE49-F238E27FC236}">
                <a16:creationId xmlns:a16="http://schemas.microsoft.com/office/drawing/2014/main" id="{2B8F48A0-590E-67C5-BA9E-C2F572D9A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626" y="1265238"/>
            <a:ext cx="80422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61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i="1"/>
              <a:t>Identical data sets</a:t>
            </a:r>
            <a:r>
              <a:rPr lang="en-US" altLang="en-US" sz="2800"/>
              <a:t> on differently scaled axes</a:t>
            </a:r>
          </a:p>
        </p:txBody>
      </p:sp>
      <p:sp>
        <p:nvSpPr>
          <p:cNvPr id="14345" name="Text Box 9">
            <a:extLst>
              <a:ext uri="{FF2B5EF4-FFF2-40B4-BE49-F238E27FC236}">
                <a16:creationId xmlns:a16="http://schemas.microsoft.com/office/drawing/2014/main" id="{25F35E92-0C81-5AAB-EFCF-9D26A5F77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813" y="4719638"/>
            <a:ext cx="32575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61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This relation appears strong</a:t>
            </a:r>
          </a:p>
        </p:txBody>
      </p:sp>
      <p:sp>
        <p:nvSpPr>
          <p:cNvPr id="14346" name="Text Box 10">
            <a:extLst>
              <a:ext uri="{FF2B5EF4-FFF2-40B4-BE49-F238E27FC236}">
                <a16:creationId xmlns:a16="http://schemas.microsoft.com/office/drawing/2014/main" id="{AA62D182-9D00-06B3-B830-693C13BA1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0" y="4729163"/>
            <a:ext cx="37226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61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This relation appears to be weak</a:t>
            </a:r>
          </a:p>
        </p:txBody>
      </p:sp>
      <p:sp>
        <p:nvSpPr>
          <p:cNvPr id="14351" name="Text Box 15">
            <a:extLst>
              <a:ext uri="{FF2B5EF4-FFF2-40B4-BE49-F238E27FC236}">
                <a16:creationId xmlns:a16="http://schemas.microsoft.com/office/drawing/2014/main" id="{5F57C94F-F557-E0A9-6FCF-3F49F4C33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164" y="5235576"/>
            <a:ext cx="65627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/>
              <a:t>The different appearances in strength is an artifact of the axis scaling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5" grpId="0"/>
      <p:bldP spid="143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28596F2-2405-496F-F372-E19AFE5522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503EE986-B6D0-4856-99D8-CB6271A35692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8225F33F-B0B7-F3A8-9926-F9B3BF96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32767FF-009D-4291-BF98-2EA546AB35B2}" type="slidenum">
              <a:rPr lang="en-US" altLang="en-US" sz="1400"/>
              <a:pPr eaLnBrk="1" hangingPunct="1"/>
              <a:t>8</a:t>
            </a:fld>
            <a:endParaRPr lang="en-US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18B3383-9782-EA26-00A6-508317318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5400"/>
              <a:t>Correlation Coefficient </a:t>
            </a:r>
            <a:r>
              <a:rPr lang="en-US" altLang="en-US" sz="5400" i="1"/>
              <a:t>r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1FA7A91-A3E5-37C7-9469-74CC7651B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30326"/>
            <a:ext cx="5816600" cy="5006975"/>
          </a:xfrm>
        </p:spPr>
        <p:txBody>
          <a:bodyPr/>
          <a:lstStyle/>
          <a:p>
            <a:pPr marL="609600" indent="-609600"/>
            <a:r>
              <a:rPr lang="en-US" altLang="en-US" sz="2800" i="1"/>
              <a:t>r </a:t>
            </a:r>
            <a:r>
              <a:rPr lang="en-US" altLang="en-US" sz="2800" i="1">
                <a:cs typeface="Arial" panose="020B0604020202020204" pitchFamily="34" charset="0"/>
              </a:rPr>
              <a:t>≡ Pearson’s product-moment correlation coefficient</a:t>
            </a:r>
          </a:p>
          <a:p>
            <a:pPr marL="609600" indent="-609600"/>
            <a:r>
              <a:rPr lang="en-US" altLang="en-US" sz="2800"/>
              <a:t>Measures degree to which </a:t>
            </a:r>
            <a:r>
              <a:rPr lang="en-US" altLang="en-US" sz="2800" i="1"/>
              <a:t>X</a:t>
            </a:r>
            <a:r>
              <a:rPr lang="en-US" altLang="en-US" sz="2800"/>
              <a:t> and </a:t>
            </a:r>
            <a:r>
              <a:rPr lang="en-US" altLang="en-US" sz="2800" i="1"/>
              <a:t>Y</a:t>
            </a:r>
            <a:r>
              <a:rPr lang="en-US" altLang="en-US" sz="2800"/>
              <a:t> “go together”</a:t>
            </a:r>
          </a:p>
          <a:p>
            <a:pPr marL="609600" indent="-609600"/>
            <a:r>
              <a:rPr lang="en-US" altLang="en-US" sz="2800"/>
              <a:t>Always between </a:t>
            </a:r>
            <a:r>
              <a:rPr lang="en-US" altLang="en-US" sz="2800">
                <a:cs typeface="Arial" panose="020B0604020202020204" pitchFamily="34" charset="0"/>
              </a:rPr>
              <a:t>−1 and 1</a:t>
            </a:r>
          </a:p>
          <a:p>
            <a:pPr marL="609600" indent="-609600"/>
            <a:r>
              <a:rPr lang="en-US" altLang="en-US" sz="2800">
                <a:cs typeface="Arial" panose="020B0604020202020204" pitchFamily="34" charset="0"/>
              </a:rPr>
              <a:t>r ≈ 0 </a:t>
            </a:r>
            <a:r>
              <a:rPr lang="en-US" altLang="en-US" sz="2800">
                <a:sym typeface="Symbol" panose="05050102010706020507" pitchFamily="18" charset="2"/>
              </a:rPr>
              <a:t> no correlation</a:t>
            </a:r>
            <a:endParaRPr lang="en-US" altLang="en-US" sz="2800">
              <a:cs typeface="Arial" panose="020B0604020202020204" pitchFamily="34" charset="0"/>
            </a:endParaRPr>
          </a:p>
          <a:p>
            <a:pPr marL="609600" indent="-609600"/>
            <a:r>
              <a:rPr lang="en-US" altLang="en-US" sz="2800" i="1">
                <a:cs typeface="Arial" panose="020B0604020202020204" pitchFamily="34" charset="0"/>
              </a:rPr>
              <a:t>r</a:t>
            </a:r>
            <a:r>
              <a:rPr lang="en-US" altLang="en-US" sz="2800">
                <a:cs typeface="Arial" panose="020B0604020202020204" pitchFamily="34" charset="0"/>
              </a:rPr>
              <a:t> &gt; 0 </a:t>
            </a:r>
            <a:r>
              <a:rPr lang="en-US" altLang="en-US" sz="2800">
                <a:sym typeface="Symbol" panose="05050102010706020507" pitchFamily="18" charset="2"/>
              </a:rPr>
              <a:t> positive correlation</a:t>
            </a:r>
          </a:p>
          <a:p>
            <a:pPr marL="609600" indent="-609600"/>
            <a:r>
              <a:rPr lang="en-US" altLang="en-US" sz="2800" i="1">
                <a:cs typeface="Arial" panose="020B0604020202020204" pitchFamily="34" charset="0"/>
              </a:rPr>
              <a:t>r</a:t>
            </a:r>
            <a:r>
              <a:rPr lang="en-US" altLang="en-US" sz="2800">
                <a:cs typeface="Arial" panose="020B0604020202020204" pitchFamily="34" charset="0"/>
              </a:rPr>
              <a:t> &lt; 0 </a:t>
            </a:r>
            <a:r>
              <a:rPr lang="en-US" altLang="en-US" sz="2800">
                <a:sym typeface="Symbol" panose="05050102010706020507" pitchFamily="18" charset="2"/>
              </a:rPr>
              <a:t> negative correlation</a:t>
            </a:r>
            <a:endParaRPr lang="en-US" altLang="en-US" sz="2800"/>
          </a:p>
          <a:p>
            <a:pPr marL="609600" indent="-609600"/>
            <a:r>
              <a:rPr lang="en-US" altLang="en-US" sz="2800">
                <a:cs typeface="Arial" panose="020B0604020202020204" pitchFamily="34" charset="0"/>
              </a:rPr>
              <a:t>Closer </a:t>
            </a:r>
            <a:r>
              <a:rPr lang="en-US" altLang="en-US" sz="2800" i="1">
                <a:cs typeface="Arial" panose="020B0604020202020204" pitchFamily="34" charset="0"/>
              </a:rPr>
              <a:t>r</a:t>
            </a:r>
            <a:r>
              <a:rPr lang="en-US" altLang="en-US" sz="2800">
                <a:cs typeface="Arial" panose="020B0604020202020204" pitchFamily="34" charset="0"/>
              </a:rPr>
              <a:t> is to 1 or −1, the </a:t>
            </a:r>
            <a:r>
              <a:rPr lang="en-US" altLang="en-US" sz="2800" b="1">
                <a:cs typeface="Arial" panose="020B0604020202020204" pitchFamily="34" charset="0"/>
              </a:rPr>
              <a:t>stronger</a:t>
            </a:r>
            <a:r>
              <a:rPr lang="en-US" altLang="en-US" sz="2800">
                <a:cs typeface="Arial" panose="020B0604020202020204" pitchFamily="34" charset="0"/>
              </a:rPr>
              <a:t> the correlation </a:t>
            </a:r>
          </a:p>
        </p:txBody>
      </p:sp>
      <p:pic>
        <p:nvPicPr>
          <p:cNvPr id="15365" name="Picture 5">
            <a:extLst>
              <a:ext uri="{FF2B5EF4-FFF2-40B4-BE49-F238E27FC236}">
                <a16:creationId xmlns:a16="http://schemas.microsoft.com/office/drawing/2014/main" id="{15ADFC7A-D5CC-DE22-6696-DA47359B7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675" y="1670050"/>
            <a:ext cx="2343150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6" name="Text Box 6">
            <a:extLst>
              <a:ext uri="{FF2B5EF4-FFF2-40B4-BE49-F238E27FC236}">
                <a16:creationId xmlns:a16="http://schemas.microsoft.com/office/drawing/2014/main" id="{385BA24A-FEC4-DC37-0BA5-B4094C510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8800" y="5053013"/>
            <a:ext cx="21971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61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Karl Pearson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1857 - 1936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BC0143D-A9F0-72C4-F6F0-5850F73CA8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64099268-31A4-4AAD-96D4-247D9FCCE78C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B73BFEAA-D949-6BD7-63CD-CA8F89BD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5B9810F-F0EA-4E2D-A9A5-04EE36903699}" type="slidenum">
              <a:rPr lang="en-US" altLang="en-US" sz="1400"/>
              <a:pPr eaLnBrk="1" hangingPunct="1"/>
              <a:t>9</a:t>
            </a:fld>
            <a:endParaRPr lang="en-US" altLang="en-US" sz="14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F8A4B38-A1E8-C70A-FA27-3ED730AD3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7363" y="274638"/>
            <a:ext cx="8210550" cy="1071562"/>
          </a:xfrm>
        </p:spPr>
        <p:txBody>
          <a:bodyPr/>
          <a:lstStyle/>
          <a:p>
            <a:pPr eaLnBrk="1" hangingPunct="1"/>
            <a:r>
              <a:rPr lang="en-US" altLang="en-US" sz="3600"/>
              <a:t>Correlational Direction and Strength</a:t>
            </a:r>
          </a:p>
        </p:txBody>
      </p:sp>
      <p:pic>
        <p:nvPicPr>
          <p:cNvPr id="16389" name="Picture 5">
            <a:extLst>
              <a:ext uri="{FF2B5EF4-FFF2-40B4-BE49-F238E27FC236}">
                <a16:creationId xmlns:a16="http://schemas.microsoft.com/office/drawing/2014/main" id="{7F0D69B8-2B3A-E530-766D-44DCDA4AB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58989"/>
            <a:ext cx="2133600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0" name="Picture 6">
            <a:extLst>
              <a:ext uri="{FF2B5EF4-FFF2-40B4-BE49-F238E27FC236}">
                <a16:creationId xmlns:a16="http://schemas.microsoft.com/office/drawing/2014/main" id="{460249DB-11FF-792F-CBAD-B1C82888E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4284664"/>
            <a:ext cx="2228850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1" name="Picture 7">
            <a:extLst>
              <a:ext uri="{FF2B5EF4-FFF2-40B4-BE49-F238E27FC236}">
                <a16:creationId xmlns:a16="http://schemas.microsoft.com/office/drawing/2014/main" id="{F048DE97-0586-CCED-6D67-BAA70AB64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6" y="2097089"/>
            <a:ext cx="2066925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2" name="Picture 8">
            <a:extLst>
              <a:ext uri="{FF2B5EF4-FFF2-40B4-BE49-F238E27FC236}">
                <a16:creationId xmlns:a16="http://schemas.microsoft.com/office/drawing/2014/main" id="{BA62ED72-712B-0F14-BEF8-988F6B483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313" y="2057401"/>
            <a:ext cx="2266950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4" name="Picture 10">
            <a:extLst>
              <a:ext uri="{FF2B5EF4-FFF2-40B4-BE49-F238E27FC236}">
                <a16:creationId xmlns:a16="http://schemas.microsoft.com/office/drawing/2014/main" id="{1EEF7CC6-C053-3EC6-E777-CD71DC4BC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4181476"/>
            <a:ext cx="24193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5" name="Picture 11">
            <a:extLst>
              <a:ext uri="{FF2B5EF4-FFF2-40B4-BE49-F238E27FC236}">
                <a16:creationId xmlns:a16="http://schemas.microsoft.com/office/drawing/2014/main" id="{12141A73-17F0-B9B7-3814-956962FBA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63" y="4217989"/>
            <a:ext cx="24955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4AE84A6-71D7-1E8A-0C8C-35AB274070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7626191B-B85A-4D14-A536-0D5A25652E69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831BFCEC-6D54-6328-AB0C-2194138D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7B1D766-44FA-403B-B7FF-DA43A0D96E1B}" type="slidenum">
              <a:rPr lang="en-US" altLang="en-US" sz="1400"/>
              <a:pPr eaLnBrk="1" hangingPunct="1"/>
              <a:t>10</a:t>
            </a:fld>
            <a:endParaRPr lang="en-US" altLang="en-US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F561EFDA-8C8F-09BA-0200-362DED6500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5400"/>
              <a:t>Interpretation of </a:t>
            </a:r>
            <a:r>
              <a:rPr lang="en-US" altLang="en-US" sz="5400" i="1"/>
              <a:t>r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734D9347-65D8-D000-E155-0113971FEA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057276"/>
            <a:ext cx="8229600" cy="5476875"/>
          </a:xfrm>
        </p:spPr>
        <p:txBody>
          <a:bodyPr/>
          <a:lstStyle/>
          <a:p>
            <a:pPr marL="609600" indent="-609600"/>
            <a:r>
              <a:rPr lang="en-US" altLang="en-US" b="1"/>
              <a:t>Direction of association: </a:t>
            </a:r>
            <a:r>
              <a:rPr lang="en-US" altLang="en-US"/>
              <a:t>positive, negative, ~0</a:t>
            </a:r>
            <a:endParaRPr lang="en-US" altLang="en-US">
              <a:cs typeface="Arial" panose="020B0604020202020204" pitchFamily="34" charset="0"/>
            </a:endParaRPr>
          </a:p>
          <a:p>
            <a:pPr marL="609600" indent="-609600"/>
            <a:r>
              <a:rPr lang="en-US" altLang="en-US" b="1">
                <a:cs typeface="Arial" panose="020B0604020202020204" pitchFamily="34" charset="0"/>
              </a:rPr>
              <a:t>Strength of association</a:t>
            </a:r>
          </a:p>
          <a:p>
            <a:pPr marL="1220788" lvl="1" indent="-533400"/>
            <a:r>
              <a:rPr lang="en-US" altLang="en-US">
                <a:cs typeface="Arial" panose="020B0604020202020204" pitchFamily="34" charset="0"/>
              </a:rPr>
              <a:t>close to 1 or –1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 “strong”</a:t>
            </a:r>
          </a:p>
          <a:p>
            <a:pPr marL="1220788" lvl="1" indent="-533400"/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close to 0  “weak”</a:t>
            </a:r>
            <a:endParaRPr lang="en-US" altLang="en-US" b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1220788" lvl="1" indent="-533400"/>
            <a:r>
              <a:rPr lang="en-US" altLang="en-US">
                <a:cs typeface="Arial" panose="020B0604020202020204" pitchFamily="34" charset="0"/>
              </a:rPr>
              <a:t>guidelines </a:t>
            </a:r>
          </a:p>
          <a:p>
            <a:pPr marL="1371600" lvl="2" indent="-457200"/>
            <a:r>
              <a:rPr lang="en-US" altLang="en-US">
                <a:cs typeface="Arial" panose="020B0604020202020204" pitchFamily="34" charset="0"/>
              </a:rPr>
              <a:t>if |</a:t>
            </a:r>
            <a:r>
              <a:rPr lang="en-US" altLang="en-US" i="1">
                <a:cs typeface="Arial" panose="020B0604020202020204" pitchFamily="34" charset="0"/>
              </a:rPr>
              <a:t>r</a:t>
            </a:r>
            <a:r>
              <a:rPr lang="en-US" altLang="en-US">
                <a:cs typeface="Arial" panose="020B0604020202020204" pitchFamily="34" charset="0"/>
              </a:rPr>
              <a:t>| ≥ .7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 say “strong” </a:t>
            </a:r>
          </a:p>
          <a:p>
            <a:pPr marL="1371600" lvl="2" indent="-457200"/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if </a:t>
            </a:r>
            <a:r>
              <a:rPr lang="en-US" altLang="en-US">
                <a:cs typeface="Arial" panose="020B0604020202020204" pitchFamily="34" charset="0"/>
              </a:rPr>
              <a:t>|</a:t>
            </a:r>
            <a:r>
              <a:rPr lang="en-US" altLang="en-US" i="1">
                <a:cs typeface="Arial" panose="020B0604020202020204" pitchFamily="34" charset="0"/>
              </a:rPr>
              <a:t>r</a:t>
            </a:r>
            <a:r>
              <a:rPr lang="en-US" altLang="en-US">
                <a:cs typeface="Arial" panose="020B0604020202020204" pitchFamily="34" charset="0"/>
              </a:rPr>
              <a:t>|  ≤ .3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 say “weak”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BA8A0E1-B282-1106-9A31-6C7094A95D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542951C1-AC87-454D-8DBF-5672DD53C2E4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E6AB37CA-EDD5-2915-F283-B0D3C2929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458E456-3165-4F7D-B3E8-AEF3EB22E58F}" type="slidenum">
              <a:rPr lang="en-US" altLang="en-US" sz="1400"/>
              <a:pPr eaLnBrk="1" hangingPunct="1"/>
              <a:t>11</a:t>
            </a:fld>
            <a:endParaRPr lang="en-US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77BC0C1-AA5A-04F8-FC3D-16DB1A64C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06450"/>
          </a:xfrm>
        </p:spPr>
        <p:txBody>
          <a:bodyPr/>
          <a:lstStyle/>
          <a:p>
            <a:pPr eaLnBrk="1" hangingPunct="1"/>
            <a:r>
              <a:rPr lang="en-US" altLang="en-US" sz="5400" i="1"/>
              <a:t>r </a:t>
            </a:r>
            <a:r>
              <a:rPr lang="en-US" altLang="en-US" sz="5400"/>
              <a:t>by hand</a:t>
            </a:r>
          </a:p>
        </p:txBody>
      </p:sp>
      <p:sp>
        <p:nvSpPr>
          <p:cNvPr id="17412" name="Rectangle 7">
            <a:extLst>
              <a:ext uri="{FF2B5EF4-FFF2-40B4-BE49-F238E27FC236}">
                <a16:creationId xmlns:a16="http://schemas.microsoft.com/office/drawing/2014/main" id="{CEAE17F4-89A5-BFBC-D6F4-15D4D3034E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8350" y="3595688"/>
            <a:ext cx="8229600" cy="24765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z quantify distance above or below mean in standard deviations units.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When z scores track in same directions </a:t>
            </a:r>
            <a:r>
              <a:rPr lang="en-US" altLang="en-US" sz="2800">
                <a:sym typeface="Symbol" panose="05050102010706020507" pitchFamily="18" charset="2"/>
              </a:rPr>
              <a:t> </a:t>
            </a:r>
            <a:r>
              <a:rPr lang="en-US" altLang="en-US" sz="2800" i="1"/>
              <a:t>products </a:t>
            </a:r>
            <a:r>
              <a:rPr lang="en-US" altLang="en-US" sz="2800"/>
              <a:t>are positive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When z scores track in opposite directions </a:t>
            </a:r>
            <a:r>
              <a:rPr lang="en-US" altLang="en-US" sz="2800">
                <a:sym typeface="Symbol" panose="05050102010706020507" pitchFamily="18" charset="2"/>
              </a:rPr>
              <a:t> </a:t>
            </a:r>
            <a:r>
              <a:rPr lang="en-US" altLang="en-US" sz="2800" i="1"/>
              <a:t>products </a:t>
            </a:r>
            <a:r>
              <a:rPr lang="en-US" altLang="en-US" sz="2800"/>
              <a:t>are negative</a:t>
            </a:r>
          </a:p>
        </p:txBody>
      </p:sp>
      <p:pic>
        <p:nvPicPr>
          <p:cNvPr id="17413" name="Picture 13">
            <a:extLst>
              <a:ext uri="{FF2B5EF4-FFF2-40B4-BE49-F238E27FC236}">
                <a16:creationId xmlns:a16="http://schemas.microsoft.com/office/drawing/2014/main" id="{826AAE01-0EFE-FFB4-9ABF-7255EFCE4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8" t="11458" r="8244" b="17317"/>
          <a:stretch>
            <a:fillRect/>
          </a:stretch>
        </p:blipFill>
        <p:spPr bwMode="auto">
          <a:xfrm>
            <a:off x="4375150" y="1136651"/>
            <a:ext cx="311785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14">
            <a:extLst>
              <a:ext uri="{FF2B5EF4-FFF2-40B4-BE49-F238E27FC236}">
                <a16:creationId xmlns:a16="http://schemas.microsoft.com/office/drawing/2014/main" id="{7F9BB4DE-C92E-AE91-CFFF-A96DBA7F8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2093914"/>
            <a:ext cx="61722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0373B8-2F2C-FBAC-224C-8FD8040CD8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F3236F4F-001D-4F0D-AA67-568CD25B17F1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0B2F0F82-ECD9-F106-16F8-917B133A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565879-6D1D-4EFB-B20C-F11F3F0937C6}" type="slidenum">
              <a:rPr lang="en-US" altLang="en-US" sz="1400"/>
              <a:pPr eaLnBrk="1" hangingPunct="1"/>
              <a:t>12</a:t>
            </a:fld>
            <a:endParaRPr lang="en-US" altLang="en-US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92D05FE-61F4-0938-F2D1-6CA965B00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4800" i="1"/>
              <a:t>r </a:t>
            </a:r>
            <a:r>
              <a:rPr lang="en-US" altLang="en-US" sz="4800"/>
              <a:t>by hand</a:t>
            </a:r>
            <a:r>
              <a:rPr lang="en-US" altLang="en-US" sz="4800" i="1"/>
              <a:t>, </a:t>
            </a:r>
            <a:r>
              <a:rPr lang="en-US" altLang="en-US" sz="4800"/>
              <a:t>Example </a:t>
            </a:r>
            <a:r>
              <a:rPr lang="en-US" altLang="en-US" sz="4800" i="1"/>
              <a:t> </a:t>
            </a:r>
          </a:p>
        </p:txBody>
      </p:sp>
      <p:pic>
        <p:nvPicPr>
          <p:cNvPr id="18436" name="Picture 6">
            <a:extLst>
              <a:ext uri="{FF2B5EF4-FFF2-40B4-BE49-F238E27FC236}">
                <a16:creationId xmlns:a16="http://schemas.microsoft.com/office/drawing/2014/main" id="{D335578E-204F-729B-55D9-6828A3764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1" y="941389"/>
            <a:ext cx="7572375" cy="58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C516661-89CE-A25B-A9F7-61FA620041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E587F6AA-0FD1-42ED-94EB-156BEC85E895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0E5E663A-C7AD-5201-5F46-BD5C8114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CA8F2B1-F674-416E-922F-E585059D54D1}" type="slidenum">
              <a:rPr lang="en-US" altLang="en-US" sz="1400"/>
              <a:pPr eaLnBrk="1" hangingPunct="1"/>
              <a:t>13</a:t>
            </a:fld>
            <a:endParaRPr lang="en-US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0A22675A-ABD7-587D-FCDF-03927B91F4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5400"/>
              <a:t>Calculating </a:t>
            </a:r>
            <a:r>
              <a:rPr lang="en-US" altLang="en-US" sz="5400" i="1"/>
              <a:t>r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BB36F82E-1FB7-7D61-0AD2-D95B3B6FD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725" y="1279525"/>
            <a:ext cx="837088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3200"/>
              <a:t>By hand, calculator or computer program</a:t>
            </a:r>
          </a:p>
          <a:p>
            <a:pPr algn="ctr" eaLnBrk="1" hangingPunct="1">
              <a:buFontTx/>
              <a:buNone/>
            </a:pPr>
            <a:r>
              <a:rPr lang="en-US" altLang="en-US" sz="3200"/>
              <a:t>We opt for latter </a:t>
            </a:r>
          </a:p>
        </p:txBody>
      </p:sp>
      <p:pic>
        <p:nvPicPr>
          <p:cNvPr id="19461" name="Picture 5" descr="30xiisbig">
            <a:extLst>
              <a:ext uri="{FF2B5EF4-FFF2-40B4-BE49-F238E27FC236}">
                <a16:creationId xmlns:a16="http://schemas.microsoft.com/office/drawing/2014/main" id="{28D0BEB0-460F-904E-EF6D-811E696FC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2359026"/>
            <a:ext cx="2360612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6" descr="1-Install-SPSS">
            <a:extLst>
              <a:ext uri="{FF2B5EF4-FFF2-40B4-BE49-F238E27FC236}">
                <a16:creationId xmlns:a16="http://schemas.microsoft.com/office/drawing/2014/main" id="{2C3D6153-F9A8-C546-6125-47A5D81C8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764" y="2511425"/>
            <a:ext cx="5038725" cy="356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D17BA65-A1F5-769E-2760-9D44E25A9A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700F8AA9-1FC3-4CC8-A581-BFD347B8334F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F2098451-6FC9-CF5E-B6C7-2DF7B910D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85E925A-09C5-4E58-9052-BDA0EFF16E40}" type="slidenum">
              <a:rPr lang="en-US" altLang="en-US" sz="1400"/>
              <a:pPr eaLnBrk="1" hangingPunct="1"/>
              <a:t>14</a:t>
            </a:fld>
            <a:endParaRPr lang="en-US" altLang="en-US" sz="14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0EA1C2A5-DF90-23F4-BC84-FB577BD8C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5400"/>
              <a:t>SPSS output</a:t>
            </a:r>
            <a:endParaRPr lang="en-US" altLang="en-US" sz="5400" i="1"/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88C71DDE-5F98-B54A-67D2-F67225FFA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5" y="1308101"/>
            <a:ext cx="83708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3200"/>
              <a:t>SPSS &gt; Analyze &gt; Correlate &gt; Bivariate</a:t>
            </a:r>
          </a:p>
        </p:txBody>
      </p:sp>
      <p:pic>
        <p:nvPicPr>
          <p:cNvPr id="20485" name="Picture 6">
            <a:extLst>
              <a:ext uri="{FF2B5EF4-FFF2-40B4-BE49-F238E27FC236}">
                <a16:creationId xmlns:a16="http://schemas.microsoft.com/office/drawing/2014/main" id="{5F9229A9-54D1-22DD-FDED-85DDABC15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150" y="2298700"/>
            <a:ext cx="6388100" cy="321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 Box 6">
            <a:extLst>
              <a:ext uri="{FF2B5EF4-FFF2-40B4-BE49-F238E27FC236}">
                <a16:creationId xmlns:a16="http://schemas.microsoft.com/office/drawing/2014/main" id="{3F2FA0E3-094E-6D55-53D8-9B9AB1A57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0825" y="3143251"/>
            <a:ext cx="32092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200" i="1"/>
              <a:t>r</a:t>
            </a:r>
          </a:p>
        </p:txBody>
      </p:sp>
      <p:sp>
        <p:nvSpPr>
          <p:cNvPr id="20487" name="Line 7">
            <a:extLst>
              <a:ext uri="{FF2B5EF4-FFF2-40B4-BE49-F238E27FC236}">
                <a16:creationId xmlns:a16="http://schemas.microsoft.com/office/drawing/2014/main" id="{851AA300-BFBC-6462-775F-8E6413EEB5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09014" y="3443288"/>
            <a:ext cx="409575" cy="2397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88" name="Text Box 8">
            <a:extLst>
              <a:ext uri="{FF2B5EF4-FFF2-40B4-BE49-F238E27FC236}">
                <a16:creationId xmlns:a16="http://schemas.microsoft.com/office/drawing/2014/main" id="{BEB0E9B8-C3B0-E695-0DA9-0F7C92C78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963" y="5556250"/>
            <a:ext cx="6515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en-US" i="1"/>
              <a:t>r</a:t>
            </a:r>
            <a:r>
              <a:rPr lang="en-US" altLang="en-US"/>
              <a:t> = 0.74 indicates a strong, positive association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/>
      <p:bldP spid="2048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6D57AEF-F59E-64CA-DA96-162ABF9D0C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CA7C16EC-38F0-4BFB-82D7-07A87048400B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C4577A1A-1E40-FEDE-6B39-F56FC9EE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F5B027-80AC-4DB5-AE6A-BD27D9C3C858}" type="slidenum">
              <a:rPr lang="en-US" altLang="en-US" sz="1400"/>
              <a:pPr eaLnBrk="1" hangingPunct="1"/>
              <a:t>15</a:t>
            </a:fld>
            <a:endParaRPr lang="en-US" altLang="en-US" sz="14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0EADB76-76E8-5D71-B955-4A72CD969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0725" y="488950"/>
            <a:ext cx="8229600" cy="1085850"/>
          </a:xfrm>
        </p:spPr>
        <p:txBody>
          <a:bodyPr/>
          <a:lstStyle/>
          <a:p>
            <a:pPr marL="762000" indent="-762000"/>
            <a:r>
              <a:rPr lang="en-US" altLang="en-US" sz="5400">
                <a:cs typeface="Arial" panose="020B0604020202020204" pitchFamily="34" charset="0"/>
              </a:rPr>
              <a:t>Coefficient of determination (</a:t>
            </a:r>
            <a:r>
              <a:rPr lang="en-US" altLang="en-US" sz="5400" i="1">
                <a:cs typeface="Arial" panose="020B0604020202020204" pitchFamily="34" charset="0"/>
              </a:rPr>
              <a:t>r</a:t>
            </a:r>
            <a:r>
              <a:rPr lang="en-US" altLang="en-US" sz="5400" baseline="30000">
                <a:cs typeface="Arial" panose="020B0604020202020204" pitchFamily="34" charset="0"/>
              </a:rPr>
              <a:t>2</a:t>
            </a:r>
            <a:r>
              <a:rPr lang="en-US" altLang="en-US" sz="54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586755" name="Rectangle 3">
            <a:extLst>
              <a:ext uri="{FF2B5EF4-FFF2-40B4-BE49-F238E27FC236}">
                <a16:creationId xmlns:a16="http://schemas.microsoft.com/office/drawing/2014/main" id="{E05FF7B5-FD5D-4589-EE2A-1741B9583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1" y="2020889"/>
            <a:ext cx="6143625" cy="4078287"/>
          </a:xfrm>
        </p:spPr>
        <p:txBody>
          <a:bodyPr/>
          <a:lstStyle/>
          <a:p>
            <a:pPr marL="609600" indent="-609600"/>
            <a:r>
              <a:rPr lang="en-US" altLang="en-US" sz="2800">
                <a:cs typeface="Arial" panose="020B0604020202020204" pitchFamily="34" charset="0"/>
              </a:rPr>
              <a:t>Square the correlation coefficient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800" i="1"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n-US" altLang="en-US" sz="2800">
                <a:cs typeface="Arial" panose="020B0604020202020204" pitchFamily="34" charset="0"/>
              </a:rPr>
              <a:t>proportion of variance in Y mathematically explained by X </a:t>
            </a:r>
          </a:p>
          <a:p>
            <a:pPr marL="609600" indent="-609600"/>
            <a:r>
              <a:rPr lang="en-US" altLang="en-US" sz="2800">
                <a:cs typeface="Arial" panose="020B0604020202020204" pitchFamily="34" charset="0"/>
              </a:rPr>
              <a:t>Illustrative data: </a:t>
            </a:r>
            <a:r>
              <a:rPr lang="en-US" altLang="en-US" sz="2800" i="1">
                <a:cs typeface="Arial" panose="020B0604020202020204" pitchFamily="34" charset="0"/>
              </a:rPr>
              <a:t>r</a:t>
            </a:r>
            <a:r>
              <a:rPr lang="en-US" altLang="en-US" sz="2800" baseline="30000">
                <a:cs typeface="Arial" panose="020B0604020202020204" pitchFamily="34" charset="0"/>
              </a:rPr>
              <a:t>2</a:t>
            </a:r>
            <a:r>
              <a:rPr lang="en-US" altLang="en-US" sz="2800">
                <a:cs typeface="Arial" panose="020B0604020202020204" pitchFamily="34" charset="0"/>
              </a:rPr>
              <a:t> = 0.737</a:t>
            </a:r>
            <a:r>
              <a:rPr lang="en-US" altLang="en-US" sz="2800" baseline="30000">
                <a:cs typeface="Arial" panose="020B0604020202020204" pitchFamily="34" charset="0"/>
              </a:rPr>
              <a:t>2</a:t>
            </a:r>
            <a:r>
              <a:rPr lang="en-US" altLang="en-US" sz="2800">
                <a:cs typeface="Arial" panose="020B0604020202020204" pitchFamily="34" charset="0"/>
              </a:rPr>
              <a:t> = 0.54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800">
                <a:cs typeface="Arial" panose="020B0604020202020204" pitchFamily="34" charset="0"/>
              </a:rPr>
              <a:t>54% of variance in lung cancer mortality is mathematically explained per capita smoking rates</a:t>
            </a:r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C75EB84E-27D3-28C6-3881-7176BED2D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713" y="4119564"/>
            <a:ext cx="1973262" cy="157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86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86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86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3E7C0A6-1045-95E2-1298-DBF45A07A5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54975D68-C2AF-498C-871D-838491F885C4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73730" name="Slide Number Placeholder 5">
            <a:extLst>
              <a:ext uri="{FF2B5EF4-FFF2-40B4-BE49-F238E27FC236}">
                <a16:creationId xmlns:a16="http://schemas.microsoft.com/office/drawing/2014/main" id="{29EBEAC8-AEEF-2A29-E450-77341C74214B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EDEE1CFD-2E55-47EA-9BC2-B270396C4CD0}" type="slidenum">
              <a:rPr lang="en-US" altLang="en-US" sz="1400"/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A3C7A87-376A-5B42-22DC-67D6219D12B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90725" y="488950"/>
            <a:ext cx="8229600" cy="1085850"/>
          </a:xfrm>
        </p:spPr>
        <p:txBody>
          <a:bodyPr/>
          <a:lstStyle/>
          <a:p>
            <a:pPr marL="762000" indent="-762000"/>
            <a:r>
              <a:rPr lang="en-US" altLang="en-US" sz="6000">
                <a:cs typeface="Arial" panose="020B0604020202020204" pitchFamily="34" charset="0"/>
              </a:rPr>
              <a:t>Cautions</a:t>
            </a:r>
          </a:p>
        </p:txBody>
      </p:sp>
      <p:sp>
        <p:nvSpPr>
          <p:cNvPr id="586755" name="Rectangle 3">
            <a:extLst>
              <a:ext uri="{FF2B5EF4-FFF2-40B4-BE49-F238E27FC236}">
                <a16:creationId xmlns:a16="http://schemas.microsoft.com/office/drawing/2014/main" id="{BFE71C79-7434-B02F-7C28-899711AE2EA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78051" y="2139950"/>
            <a:ext cx="4835525" cy="3924300"/>
          </a:xfrm>
        </p:spPr>
        <p:txBody>
          <a:bodyPr/>
          <a:lstStyle/>
          <a:p>
            <a:pPr marL="533400" indent="-533400"/>
            <a:r>
              <a:rPr lang="en-US" altLang="en-US">
                <a:cs typeface="Arial" panose="020B0604020202020204" pitchFamily="34" charset="0"/>
              </a:rPr>
              <a:t>Outliers</a:t>
            </a:r>
          </a:p>
          <a:p>
            <a:pPr marL="533400" indent="-533400"/>
            <a:r>
              <a:rPr lang="en-US" altLang="en-US">
                <a:cs typeface="Arial" panose="020B0604020202020204" pitchFamily="34" charset="0"/>
              </a:rPr>
              <a:t>Non-linear relations</a:t>
            </a:r>
          </a:p>
          <a:p>
            <a:pPr marL="533400" indent="-533400"/>
            <a:r>
              <a:rPr lang="en-US" altLang="en-US">
                <a:cs typeface="Arial" panose="020B0604020202020204" pitchFamily="34" charset="0"/>
              </a:rPr>
              <a:t>Confounding (correlation is NOT causation)</a:t>
            </a:r>
          </a:p>
          <a:p>
            <a:pPr marL="533400" indent="-533400"/>
            <a:r>
              <a:rPr lang="en-US" altLang="en-US">
                <a:cs typeface="Arial" panose="020B0604020202020204" pitchFamily="34" charset="0"/>
              </a:rPr>
              <a:t>Randomness</a:t>
            </a:r>
          </a:p>
        </p:txBody>
      </p:sp>
      <p:pic>
        <p:nvPicPr>
          <p:cNvPr id="73733" name="Picture 5">
            <a:extLst>
              <a:ext uri="{FF2B5EF4-FFF2-40B4-BE49-F238E27FC236}">
                <a16:creationId xmlns:a16="http://schemas.microsoft.com/office/drawing/2014/main" id="{B1B13571-D1A6-53A2-0C36-623729C56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50" y="1827214"/>
            <a:ext cx="3627438" cy="362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8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8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86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86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86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86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86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86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86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86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86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86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6C3418D-5DDF-D98B-3DDE-0B2570B433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261863A4-EC49-466B-AA51-4B17C8A11781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166C4E80-7F71-56E6-10DE-3C348FA3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A290A47-0C48-4E43-ACB5-F7A78D28FDE1}" type="slidenum">
              <a:rPr lang="en-US" altLang="en-US" sz="1400"/>
              <a:pPr eaLnBrk="1" hangingPunct="1"/>
              <a:t>17</a:t>
            </a:fld>
            <a:endParaRPr lang="en-US" altLang="en-US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2F15B091-DC6D-CCF5-6469-E1F32E64B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919162"/>
          </a:xfrm>
        </p:spPr>
        <p:txBody>
          <a:bodyPr/>
          <a:lstStyle/>
          <a:p>
            <a:pPr eaLnBrk="1" hangingPunct="1"/>
            <a:r>
              <a:rPr lang="en-US" altLang="en-US" sz="5400"/>
              <a:t>Outliers </a:t>
            </a:r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C7BD705E-B9CC-ADF6-789B-17C43A8D7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2001839"/>
            <a:ext cx="5478462" cy="421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ext Box 5">
            <a:extLst>
              <a:ext uri="{FF2B5EF4-FFF2-40B4-BE49-F238E27FC236}">
                <a16:creationId xmlns:a16="http://schemas.microsoft.com/office/drawing/2014/main" id="{74E2C293-B77A-842F-6102-75EBB89A4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813" y="6002338"/>
            <a:ext cx="79676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/>
              <a:t> 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FE68FD07-47A3-3B23-5CCB-A3DFC71EC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8488" y="1130301"/>
            <a:ext cx="81978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800"/>
              <a:t>Outliers can have profound influence on </a:t>
            </a:r>
            <a:r>
              <a:rPr lang="en-US" altLang="en-US" sz="3200" i="1"/>
              <a:t>r</a:t>
            </a:r>
            <a:endParaRPr lang="en-US" altLang="en-US" sz="3200"/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1352C36A-32E8-C457-1646-48DC984FA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0350" y="3290889"/>
            <a:ext cx="3581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/>
              <a:t>These data have </a:t>
            </a:r>
            <a:r>
              <a:rPr lang="en-US" altLang="en-US" i="1"/>
              <a:t>r</a:t>
            </a:r>
            <a:r>
              <a:rPr lang="en-US" altLang="en-US"/>
              <a:t> = 0.82</a:t>
            </a:r>
          </a:p>
          <a:p>
            <a:pPr eaLnBrk="1" hangingPunct="1">
              <a:buFontTx/>
              <a:buNone/>
            </a:pPr>
            <a:r>
              <a:rPr lang="en-US" altLang="en-US"/>
              <a:t>all because of this guy</a:t>
            </a:r>
          </a:p>
        </p:txBody>
      </p:sp>
      <p:sp>
        <p:nvSpPr>
          <p:cNvPr id="23561" name="Line 9">
            <a:extLst>
              <a:ext uri="{FF2B5EF4-FFF2-40B4-BE49-F238E27FC236}">
                <a16:creationId xmlns:a16="http://schemas.microsoft.com/office/drawing/2014/main" id="{22159151-D6F2-E59A-C605-4EB27BAE3E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12163" y="2760663"/>
            <a:ext cx="0" cy="4953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6D36467-2685-B0D1-F11E-068C603AD8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BE7CA682-9AFF-459C-97C7-7F2BC7ADD3DA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3012C36F-06C1-981B-2FEB-77165C673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24F89D-30C9-4C3B-B646-63EEDF7FADC5}" type="slidenum">
              <a:rPr lang="en-US" altLang="en-US" sz="1400"/>
              <a:pPr eaLnBrk="1" hangingPunct="1"/>
              <a:t>18</a:t>
            </a:fld>
            <a:endParaRPr lang="en-US" altLang="en-US" sz="1400"/>
          </a:p>
        </p:txBody>
      </p:sp>
      <p:sp>
        <p:nvSpPr>
          <p:cNvPr id="509954" name="Rectangle 2">
            <a:extLst>
              <a:ext uri="{FF2B5EF4-FFF2-40B4-BE49-F238E27FC236}">
                <a16:creationId xmlns:a16="http://schemas.microsoft.com/office/drawing/2014/main" id="{B25AB84A-3E30-0432-8C8D-323B6E97C9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77862"/>
          </a:xfrm>
        </p:spPr>
        <p:txBody>
          <a:bodyPr>
            <a:normAutofit fontScale="90000"/>
          </a:bodyPr>
          <a:lstStyle/>
          <a:p>
            <a:pPr marL="762000" indent="-762000"/>
            <a:r>
              <a:rPr lang="en-US" altLang="en-US" sz="5400">
                <a:cs typeface="Arial" panose="020B0604020202020204" pitchFamily="34" charset="0"/>
              </a:rPr>
              <a:t>Linear Relations Only</a:t>
            </a:r>
          </a:p>
        </p:txBody>
      </p:sp>
      <p:pic>
        <p:nvPicPr>
          <p:cNvPr id="24580" name="Picture 11">
            <a:extLst>
              <a:ext uri="{FF2B5EF4-FFF2-40B4-BE49-F238E27FC236}">
                <a16:creationId xmlns:a16="http://schemas.microsoft.com/office/drawing/2014/main" id="{4923D3D5-A7A4-1C18-A367-43199FC8912A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08363" y="1547813"/>
            <a:ext cx="5262562" cy="4094162"/>
          </a:xfrm>
          <a:noFill/>
        </p:spPr>
      </p:pic>
      <p:sp>
        <p:nvSpPr>
          <p:cNvPr id="24582" name="Text Box 6">
            <a:extLst>
              <a:ext uri="{FF2B5EF4-FFF2-40B4-BE49-F238E27FC236}">
                <a16:creationId xmlns:a16="http://schemas.microsoft.com/office/drawing/2014/main" id="{FBC0F4F8-1597-09E0-C52F-AEC1E89CE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0888" y="2608263"/>
            <a:ext cx="2811462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03325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44638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116138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687638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144838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602038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059238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516438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i="1"/>
              <a:t>r</a:t>
            </a:r>
            <a:r>
              <a:rPr lang="en-US" altLang="en-US"/>
              <a:t> = 0.00</a:t>
            </a:r>
            <a:endParaRPr lang="en-US" altLang="en-US" sz="2800"/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This strong relationship is missed by </a:t>
            </a:r>
            <a:r>
              <a:rPr lang="en-US" altLang="en-US" sz="2800" i="1"/>
              <a:t>r</a:t>
            </a:r>
            <a:r>
              <a:rPr lang="en-US" altLang="en-US" sz="2800"/>
              <a:t> because it is not linear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F3DECAB-2630-3686-29EA-B84E542BEE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6A9067A4-7F75-4234-9F57-B868F2255544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B7087F7D-C138-C4EE-6084-B1650766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6E7709B-5B00-450A-A40F-FBDCE94163E9}" type="slidenum">
              <a:rPr lang="en-US" altLang="en-US" sz="1400"/>
              <a:pPr eaLnBrk="1" hangingPunct="1"/>
              <a:t>19</a:t>
            </a:fld>
            <a:endParaRPr lang="en-US" altLang="en-US" sz="1400"/>
          </a:p>
        </p:txBody>
      </p:sp>
      <p:sp>
        <p:nvSpPr>
          <p:cNvPr id="25603" name="Rectangle 8">
            <a:extLst>
              <a:ext uri="{FF2B5EF4-FFF2-40B4-BE49-F238E27FC236}">
                <a16:creationId xmlns:a16="http://schemas.microsoft.com/office/drawing/2014/main" id="{30BC24EF-4C7E-9A68-CDEB-F5BB1682C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1675" y="330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5400"/>
              <a:t>Confounding</a:t>
            </a:r>
            <a:br>
              <a:rPr lang="en-US" altLang="en-US" sz="4800"/>
            </a:br>
            <a:r>
              <a:rPr lang="en-US" altLang="en-US"/>
              <a:t>Correlation </a:t>
            </a:r>
            <a:r>
              <a:rPr lang="en-US" altLang="en-US">
                <a:cs typeface="Arial" panose="020B0604020202020204" pitchFamily="34" charset="0"/>
              </a:rPr>
              <a:t>≠ Causation</a:t>
            </a:r>
          </a:p>
        </p:txBody>
      </p:sp>
      <p:sp>
        <p:nvSpPr>
          <p:cNvPr id="25604" name="Rectangle 13">
            <a:extLst>
              <a:ext uri="{FF2B5EF4-FFF2-40B4-BE49-F238E27FC236}">
                <a16:creationId xmlns:a16="http://schemas.microsoft.com/office/drawing/2014/main" id="{50D0C6BF-0867-7EE4-303A-8CF26554E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92326" y="1917700"/>
            <a:ext cx="3063875" cy="226695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400"/>
              <a:t>William Farr showed this strong negative correlation between cholera mortality and elevation above sea level in defense of miasma theory</a:t>
            </a:r>
          </a:p>
        </p:txBody>
      </p:sp>
      <p:pic>
        <p:nvPicPr>
          <p:cNvPr id="25605" name="Picture 15">
            <a:extLst>
              <a:ext uri="{FF2B5EF4-FFF2-40B4-BE49-F238E27FC236}">
                <a16:creationId xmlns:a16="http://schemas.microsoft.com/office/drawing/2014/main" id="{05E5A02A-0583-14F3-E000-CE67E6F6B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613" y="1806575"/>
            <a:ext cx="3740150" cy="298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Text Box 8">
            <a:extLst>
              <a:ext uri="{FF2B5EF4-FFF2-40B4-BE49-F238E27FC236}">
                <a16:creationId xmlns:a16="http://schemas.microsoft.com/office/drawing/2014/main" id="{856CAB1C-6CAD-E8CF-C134-F1067F1C7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50" y="5110164"/>
            <a:ext cx="76581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73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/>
              <a:t>However, he failed to account for the fact that people who lived at low elevations were more likely to drink from contaminated water sources (</a:t>
            </a:r>
            <a:r>
              <a:rPr lang="en-US" altLang="en-US">
                <a:sym typeface="Symbol" panose="05050102010706020507" pitchFamily="18" charset="2"/>
              </a:rPr>
              <a:t> confounding</a:t>
            </a:r>
            <a:r>
              <a:rPr lang="en-US" altLang="en-US"/>
              <a:t>)</a:t>
            </a:r>
          </a:p>
        </p:txBody>
      </p:sp>
      <p:sp>
        <p:nvSpPr>
          <p:cNvPr id="25609" name="Line 9">
            <a:extLst>
              <a:ext uri="{FF2B5EF4-FFF2-40B4-BE49-F238E27FC236}">
                <a16:creationId xmlns:a16="http://schemas.microsoft.com/office/drawing/2014/main" id="{5E2471B5-B88C-A5DA-24FD-72FBF4ACA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9188" y="2170113"/>
            <a:ext cx="2990850" cy="1778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560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/>
      <p:bldP spid="2560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629139C-77DF-6E49-0834-9DC22D07A3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C97B130E-CFAE-4E85-8FC2-008E40EDD90E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8004DF31-A96C-94F4-CB0A-E2E0DFF39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A2180F-DEA6-48C5-AD48-8761FF95B5D5}" type="slidenum">
              <a:rPr lang="en-US" altLang="en-US" sz="1400"/>
              <a:pPr eaLnBrk="1" hangingPunct="1"/>
              <a:t>20</a:t>
            </a:fld>
            <a:endParaRPr lang="en-US" altLang="en-US" sz="1400"/>
          </a:p>
        </p:txBody>
      </p:sp>
      <p:pic>
        <p:nvPicPr>
          <p:cNvPr id="26627" name="Picture 16">
            <a:extLst>
              <a:ext uri="{FF2B5EF4-FFF2-40B4-BE49-F238E27FC236}">
                <a16:creationId xmlns:a16="http://schemas.microsoft.com/office/drawing/2014/main" id="{FE1A0974-2159-13E1-4CAB-D2F87B808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8" y="2701926"/>
            <a:ext cx="3649662" cy="229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2">
            <a:extLst>
              <a:ext uri="{FF2B5EF4-FFF2-40B4-BE49-F238E27FC236}">
                <a16:creationId xmlns:a16="http://schemas.microsoft.com/office/drawing/2014/main" id="{0B00F595-0BD5-B87F-16A9-CE1E6FBF9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946150"/>
          </a:xfrm>
        </p:spPr>
        <p:txBody>
          <a:bodyPr/>
          <a:lstStyle/>
          <a:p>
            <a:pPr marL="838200" indent="-838200"/>
            <a:r>
              <a:rPr lang="en-US" altLang="en-US"/>
              <a:t>Don’t be fooled by randomness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3D1130E0-2AC1-DEDF-7689-EC1D7B747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3401" y="1390651"/>
            <a:ext cx="8385175" cy="893763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800"/>
              <a:t>Selection of specific data points would result in a false correlation</a:t>
            </a:r>
          </a:p>
        </p:txBody>
      </p:sp>
      <p:sp>
        <p:nvSpPr>
          <p:cNvPr id="558089" name="Oval 9">
            <a:extLst>
              <a:ext uri="{FF2B5EF4-FFF2-40B4-BE49-F238E27FC236}">
                <a16:creationId xmlns:a16="http://schemas.microsoft.com/office/drawing/2014/main" id="{2097089F-172C-AAC5-DDE3-93C8AAE93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2551" y="4641851"/>
            <a:ext cx="314325" cy="314325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8092" name="Oval 12">
            <a:extLst>
              <a:ext uri="{FF2B5EF4-FFF2-40B4-BE49-F238E27FC236}">
                <a16:creationId xmlns:a16="http://schemas.microsoft.com/office/drawing/2014/main" id="{791134F6-0165-9F48-5FC2-6B7093F4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089" y="3890964"/>
            <a:ext cx="314325" cy="314325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8093" name="Oval 13">
            <a:extLst>
              <a:ext uri="{FF2B5EF4-FFF2-40B4-BE49-F238E27FC236}">
                <a16:creationId xmlns:a16="http://schemas.microsoft.com/office/drawing/2014/main" id="{72CE56E9-C0B5-A708-5455-4896716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9" y="3411539"/>
            <a:ext cx="314325" cy="314325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8094" name="Oval 14">
            <a:extLst>
              <a:ext uri="{FF2B5EF4-FFF2-40B4-BE49-F238E27FC236}">
                <a16:creationId xmlns:a16="http://schemas.microsoft.com/office/drawing/2014/main" id="{36A51E38-1486-7341-5190-1C7C2537C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26" y="2660651"/>
            <a:ext cx="314325" cy="314325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5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5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5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5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9" grpId="0" animBg="1"/>
      <p:bldP spid="558092" grpId="0" animBg="1"/>
      <p:bldP spid="558093" grpId="0" animBg="1"/>
      <p:bldP spid="55809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A6C2645-3384-5FC1-2F93-A8E2D932E0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8CEDE446-A1A0-4E28-BA1C-5ED7B68632EE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1028" name="Slide Number Placeholder 4">
            <a:extLst>
              <a:ext uri="{FF2B5EF4-FFF2-40B4-BE49-F238E27FC236}">
                <a16:creationId xmlns:a16="http://schemas.microsoft.com/office/drawing/2014/main" id="{9ED9105F-1869-1D13-DECB-37D9A990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FAC3C47-3935-484C-8C86-738A9EEB8B88}" type="slidenum">
              <a:rPr lang="en-US" altLang="en-US" sz="1400"/>
              <a:pPr eaLnBrk="1" hangingPunct="1"/>
              <a:t>21</a:t>
            </a:fld>
            <a:endParaRPr lang="en-US" altLang="en-US" sz="1400"/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D2CEE07A-4B5A-300D-5DCF-0D05B33B4B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04862"/>
          </a:xfrm>
        </p:spPr>
        <p:txBody>
          <a:bodyPr/>
          <a:lstStyle/>
          <a:p>
            <a:pPr eaLnBrk="1" hangingPunct="1"/>
            <a:r>
              <a:rPr lang="en-US" altLang="en-US" sz="5400"/>
              <a:t>Hypothesis Test, Steps</a:t>
            </a:r>
          </a:p>
        </p:txBody>
      </p:sp>
      <p:sp>
        <p:nvSpPr>
          <p:cNvPr id="1030" name="Rectangle 3">
            <a:extLst>
              <a:ext uri="{FF2B5EF4-FFF2-40B4-BE49-F238E27FC236}">
                <a16:creationId xmlns:a16="http://schemas.microsoft.com/office/drawing/2014/main" id="{5470A7DD-383A-59F7-24C5-C82C5813E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0" y="1181101"/>
            <a:ext cx="8280400" cy="538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lphaUcPeriod"/>
            </a:pPr>
            <a:r>
              <a:rPr lang="en-US" altLang="en-US" sz="2800" b="1"/>
              <a:t>Hypotheses. </a:t>
            </a:r>
            <a:br>
              <a:rPr lang="en-US" altLang="en-US" sz="2800" b="1"/>
            </a:br>
            <a:r>
              <a:rPr lang="en-US" altLang="en-US" sz="2800" i="1"/>
              <a:t>H</a:t>
            </a:r>
            <a:r>
              <a:rPr lang="en-US" altLang="en-US" sz="2800" baseline="-25000"/>
              <a:t>0</a:t>
            </a:r>
            <a:r>
              <a:rPr lang="en-US" altLang="en-US" sz="2800"/>
              <a:t>: </a:t>
            </a:r>
            <a:r>
              <a:rPr lang="el-GR" altLang="en-US" sz="2800">
                <a:cs typeface="Arial" panose="020B0604020202020204" pitchFamily="34" charset="0"/>
              </a:rPr>
              <a:t>ρ</a:t>
            </a:r>
            <a:r>
              <a:rPr lang="en-US" altLang="en-US" sz="2800">
                <a:cs typeface="Arial" panose="020B0604020202020204" pitchFamily="34" charset="0"/>
              </a:rPr>
              <a:t> = 0 vs. </a:t>
            </a:r>
            <a:r>
              <a:rPr lang="en-US" altLang="en-US" sz="2800" i="1"/>
              <a:t>H</a:t>
            </a:r>
            <a:r>
              <a:rPr lang="en-US" altLang="en-US" sz="2800" baseline="-25000"/>
              <a:t>a</a:t>
            </a:r>
            <a:r>
              <a:rPr lang="en-US" altLang="en-US" sz="2800"/>
              <a:t>: </a:t>
            </a:r>
            <a:r>
              <a:rPr lang="el-GR" altLang="en-US" sz="2800">
                <a:cs typeface="Arial" panose="020B0604020202020204" pitchFamily="34" charset="0"/>
              </a:rPr>
              <a:t>ρ</a:t>
            </a:r>
            <a:r>
              <a:rPr lang="en-US" altLang="en-US" sz="2800">
                <a:cs typeface="Arial" panose="020B0604020202020204" pitchFamily="34" charset="0"/>
              </a:rPr>
              <a:t> ≠ 0 (two-sided) where</a:t>
            </a:r>
            <a:br>
              <a:rPr lang="en-US" altLang="en-US" sz="2800">
                <a:cs typeface="Arial" panose="020B0604020202020204" pitchFamily="34" charset="0"/>
              </a:rPr>
            </a:b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l-GR" altLang="en-US" sz="2800">
                <a:cs typeface="Arial" panose="020B0604020202020204" pitchFamily="34" charset="0"/>
              </a:rPr>
              <a:t>ρ</a:t>
            </a:r>
            <a:r>
              <a:rPr lang="en-US" altLang="en-US" sz="2800">
                <a:cs typeface="Arial" panose="020B0604020202020204" pitchFamily="34" charset="0"/>
              </a:rPr>
              <a:t> ≡ population correlation coefficient</a:t>
            </a:r>
            <a:br>
              <a:rPr lang="en-US" altLang="en-US" sz="2800">
                <a:cs typeface="Arial" panose="020B0604020202020204" pitchFamily="34" charset="0"/>
              </a:rPr>
            </a:br>
            <a:endParaRPr lang="en-US" altLang="en-US" sz="2800"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en-US" sz="2800" b="1"/>
              <a:t>B.	Test statistic </a:t>
            </a:r>
            <a:br>
              <a:rPr lang="en-US" altLang="en-US" sz="2800"/>
            </a:br>
            <a:br>
              <a:rPr lang="en-US" altLang="en-US" sz="2800"/>
            </a:br>
            <a:br>
              <a:rPr lang="en-US" altLang="en-US" sz="2800"/>
            </a:br>
            <a:br>
              <a:rPr lang="en-US" altLang="en-US" sz="2800"/>
            </a:br>
            <a:br>
              <a:rPr lang="en-US" altLang="en-US" sz="2800"/>
            </a:br>
            <a:br>
              <a:rPr lang="en-US" altLang="en-US" sz="2800"/>
            </a:br>
            <a:endParaRPr lang="en-US" altLang="en-US" sz="2800"/>
          </a:p>
          <a:p>
            <a:pPr eaLnBrk="1" hangingPunct="1">
              <a:buFontTx/>
              <a:buNone/>
            </a:pPr>
            <a:r>
              <a:rPr lang="en-US" altLang="en-US" sz="2800" b="1"/>
              <a:t>C.</a:t>
            </a:r>
            <a:r>
              <a:rPr lang="en-US" altLang="en-US" sz="2800" b="1" i="1"/>
              <a:t>	P</a:t>
            </a:r>
            <a:r>
              <a:rPr lang="en-US" altLang="en-US" sz="2800" b="1"/>
              <a:t>-value.</a:t>
            </a:r>
            <a:r>
              <a:rPr lang="en-US" altLang="en-US" sz="2800"/>
              <a:t> </a:t>
            </a:r>
            <a:br>
              <a:rPr lang="en-US" altLang="en-US" sz="2800"/>
            </a:br>
            <a:r>
              <a:rPr lang="en-US" altLang="en-US" sz="2800"/>
              <a:t>Convert </a:t>
            </a:r>
            <a:r>
              <a:rPr lang="en-US" altLang="en-US" sz="2800" i="1"/>
              <a:t>t</a:t>
            </a:r>
            <a:r>
              <a:rPr lang="en-US" altLang="en-US" sz="2800" baseline="-25000"/>
              <a:t>stat </a:t>
            </a:r>
            <a:r>
              <a:rPr lang="en-US" altLang="en-US" sz="2800"/>
              <a:t>to </a:t>
            </a:r>
            <a:r>
              <a:rPr lang="en-US" altLang="en-US" sz="2800" i="1"/>
              <a:t>P</a:t>
            </a:r>
            <a:r>
              <a:rPr lang="en-US" altLang="en-US" sz="2800"/>
              <a:t>-value </a:t>
            </a:r>
            <a:br>
              <a:rPr lang="en-US" altLang="en-US" sz="2800"/>
            </a:br>
            <a:r>
              <a:rPr lang="en-US" altLang="en-US" sz="2800"/>
              <a:t>Small </a:t>
            </a:r>
            <a:r>
              <a:rPr lang="en-US" altLang="en-US" sz="2800" i="1"/>
              <a:t>P</a:t>
            </a:r>
            <a:r>
              <a:rPr lang="en-US" altLang="en-US" sz="2800"/>
              <a:t> </a:t>
            </a:r>
            <a:r>
              <a:rPr lang="en-US" altLang="en-US" sz="2800">
                <a:sym typeface="Symbol" panose="05050102010706020507" pitchFamily="18" charset="2"/>
              </a:rPr>
              <a:t> </a:t>
            </a:r>
            <a:r>
              <a:rPr lang="en-US" altLang="en-US" sz="2800"/>
              <a:t>evidence against </a:t>
            </a:r>
            <a:r>
              <a:rPr lang="en-US" altLang="en-US" sz="2800" i="1"/>
              <a:t>H</a:t>
            </a:r>
            <a:r>
              <a:rPr lang="en-US" altLang="en-US" sz="2800" baseline="-25000"/>
              <a:t>0</a:t>
            </a:r>
          </a:p>
        </p:txBody>
      </p:sp>
      <p:graphicFrame>
        <p:nvGraphicFramePr>
          <p:cNvPr id="1026" name="Object 4">
            <a:extLst>
              <a:ext uri="{FF2B5EF4-FFF2-40B4-BE49-F238E27FC236}">
                <a16:creationId xmlns:a16="http://schemas.microsoft.com/office/drawing/2014/main" id="{E5799380-E722-23FB-07E6-62D56A7038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4563" y="3443289"/>
          <a:ext cx="5059362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622080" progId="Equation.3">
                  <p:embed/>
                </p:oleObj>
              </mc:Choice>
              <mc:Fallback>
                <p:oleObj name="Equation" r:id="rId2" imgW="1739880" imgH="622080" progId="Equation.3">
                  <p:embed/>
                  <p:pic>
                    <p:nvPicPr>
                      <p:cNvPr id="1026" name="Object 4">
                        <a:extLst>
                          <a:ext uri="{FF2B5EF4-FFF2-40B4-BE49-F238E27FC236}">
                            <a16:creationId xmlns:a16="http://schemas.microsoft.com/office/drawing/2014/main" id="{E5799380-E722-23FB-07E6-62D56A7038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563" y="3443289"/>
                        <a:ext cx="5059362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505F644-D95F-9262-719E-149E95E12B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F243C3E9-6DC2-48B2-AF6B-0AB144A5496D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2052" name="Slide Number Placeholder 4">
            <a:extLst>
              <a:ext uri="{FF2B5EF4-FFF2-40B4-BE49-F238E27FC236}">
                <a16:creationId xmlns:a16="http://schemas.microsoft.com/office/drawing/2014/main" id="{06E0DA5C-309B-F5EC-2932-A045DFE6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E23AF22-3EF0-4FFA-BF37-3DFAE57A25A1}" type="slidenum">
              <a:rPr lang="en-US" altLang="en-US" sz="1400"/>
              <a:pPr eaLnBrk="1" hangingPunct="1"/>
              <a:t>22</a:t>
            </a:fld>
            <a:endParaRPr lang="en-US" altLang="en-US" sz="1400"/>
          </a:p>
        </p:txBody>
      </p:sp>
      <p:sp>
        <p:nvSpPr>
          <p:cNvPr id="2053" name="Rectangle 2">
            <a:extLst>
              <a:ext uri="{FF2B5EF4-FFF2-40B4-BE49-F238E27FC236}">
                <a16:creationId xmlns:a16="http://schemas.microsoft.com/office/drawing/2014/main" id="{804F39F5-1F6A-56A6-7869-A0ACEC1B93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04862"/>
          </a:xfrm>
        </p:spPr>
        <p:txBody>
          <a:bodyPr/>
          <a:lstStyle/>
          <a:p>
            <a:pPr eaLnBrk="1" hangingPunct="1"/>
            <a:r>
              <a:rPr lang="en-US" altLang="en-US" sz="5400"/>
              <a:t>Test, By Hand</a:t>
            </a:r>
          </a:p>
        </p:txBody>
      </p:sp>
      <p:sp>
        <p:nvSpPr>
          <p:cNvPr id="2054" name="Text Box 5">
            <a:extLst>
              <a:ext uri="{FF2B5EF4-FFF2-40B4-BE49-F238E27FC236}">
                <a16:creationId xmlns:a16="http://schemas.microsoft.com/office/drawing/2014/main" id="{C9A585B2-E2B2-C0DA-82FE-FE7A7FA8A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028700"/>
            <a:ext cx="66167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2E2AD4F1-4F5D-8963-12EB-2F0C68836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0" y="1462089"/>
            <a:ext cx="8280400" cy="510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lphaUcPeriod"/>
            </a:pPr>
            <a:r>
              <a:rPr lang="en-US" altLang="en-US" sz="2800" i="1"/>
              <a:t>H</a:t>
            </a:r>
            <a:r>
              <a:rPr lang="en-US" altLang="en-US" sz="2800" baseline="-25000"/>
              <a:t>0</a:t>
            </a:r>
            <a:r>
              <a:rPr lang="en-US" altLang="en-US" sz="2800"/>
              <a:t>: </a:t>
            </a:r>
            <a:r>
              <a:rPr lang="el-GR" altLang="en-US" sz="2800">
                <a:cs typeface="Arial" panose="020B0604020202020204" pitchFamily="34" charset="0"/>
              </a:rPr>
              <a:t>ρ</a:t>
            </a:r>
            <a:r>
              <a:rPr lang="en-US" altLang="en-US" sz="2800">
                <a:cs typeface="Arial" panose="020B0604020202020204" pitchFamily="34" charset="0"/>
              </a:rPr>
              <a:t> = 0 vs. </a:t>
            </a:r>
            <a:r>
              <a:rPr lang="en-US" altLang="en-US" sz="2800" i="1"/>
              <a:t>H</a:t>
            </a:r>
            <a:r>
              <a:rPr lang="en-US" altLang="en-US" sz="2800" baseline="-25000"/>
              <a:t>a</a:t>
            </a:r>
            <a:r>
              <a:rPr lang="en-US" altLang="en-US" sz="2800"/>
              <a:t>: </a:t>
            </a:r>
            <a:r>
              <a:rPr lang="el-GR" altLang="en-US" sz="2800">
                <a:cs typeface="Arial" panose="020B0604020202020204" pitchFamily="34" charset="0"/>
              </a:rPr>
              <a:t>ρ</a:t>
            </a:r>
            <a:r>
              <a:rPr lang="en-US" altLang="en-US" sz="2800">
                <a:cs typeface="Arial" panose="020B0604020202020204" pitchFamily="34" charset="0"/>
              </a:rPr>
              <a:t> ≠ 0 (two-sided)</a:t>
            </a:r>
            <a:br>
              <a:rPr lang="en-US" altLang="en-US" sz="2800">
                <a:cs typeface="Arial" panose="020B0604020202020204" pitchFamily="34" charset="0"/>
              </a:rPr>
            </a:br>
            <a:endParaRPr lang="en-US" altLang="en-US" sz="2800">
              <a:cs typeface="Arial" panose="020B0604020202020204" pitchFamily="34" charset="0"/>
            </a:endParaRPr>
          </a:p>
          <a:p>
            <a:pPr eaLnBrk="1" hangingPunct="1">
              <a:buFontTx/>
              <a:buAutoNum type="alphaUcPeriod" startAt="2"/>
            </a:pPr>
            <a:r>
              <a:rPr lang="en-US" altLang="en-US" sz="2800"/>
              <a:t>Test stat </a:t>
            </a:r>
            <a:br>
              <a:rPr lang="en-US" altLang="en-US" sz="2800"/>
            </a:br>
            <a:br>
              <a:rPr lang="en-US" altLang="en-US" sz="2800"/>
            </a:br>
            <a:br>
              <a:rPr lang="en-US" altLang="en-US" sz="2800"/>
            </a:br>
            <a:br>
              <a:rPr lang="en-US" altLang="en-US" sz="2800"/>
            </a:br>
            <a:br>
              <a:rPr lang="en-US" altLang="en-US" sz="2800"/>
            </a:br>
            <a:br>
              <a:rPr lang="en-US" altLang="en-US" sz="2800"/>
            </a:br>
            <a:br>
              <a:rPr lang="en-US" altLang="en-US" sz="2800"/>
            </a:br>
            <a:endParaRPr lang="en-US" altLang="en-US" sz="2800"/>
          </a:p>
          <a:p>
            <a:pPr eaLnBrk="1" hangingPunct="1">
              <a:buFontTx/>
              <a:buNone/>
            </a:pPr>
            <a:endParaRPr lang="en-US" altLang="en-US" sz="2800"/>
          </a:p>
          <a:p>
            <a:pPr eaLnBrk="1" hangingPunct="1">
              <a:buFontTx/>
              <a:buNone/>
            </a:pPr>
            <a:r>
              <a:rPr lang="en-US" altLang="en-US" sz="2800" b="1"/>
              <a:t>C.</a:t>
            </a:r>
            <a:r>
              <a:rPr lang="en-US" altLang="en-US" sz="2800" b="1" i="1"/>
              <a:t>	t </a:t>
            </a:r>
            <a:r>
              <a:rPr lang="en-US" altLang="en-US" sz="2800" b="1"/>
              <a:t>table: </a:t>
            </a:r>
            <a:r>
              <a:rPr lang="en-US" altLang="en-US" sz="2800" i="1"/>
              <a:t>P </a:t>
            </a:r>
            <a:r>
              <a:rPr lang="en-US" altLang="en-US" sz="2800"/>
              <a:t>&lt; .01 </a:t>
            </a:r>
            <a:r>
              <a:rPr lang="en-US" altLang="en-US" sz="2800">
                <a:sym typeface="Symbol" panose="05050102010706020507" pitchFamily="18" charset="2"/>
              </a:rPr>
              <a:t> </a:t>
            </a:r>
            <a:r>
              <a:rPr lang="en-US" altLang="en-US" sz="2800"/>
              <a:t>strong evidence against </a:t>
            </a:r>
            <a:r>
              <a:rPr lang="en-US" altLang="en-US" sz="2800" i="1"/>
              <a:t>H</a:t>
            </a:r>
            <a:r>
              <a:rPr lang="en-US" altLang="en-US" sz="2800" baseline="-25000"/>
              <a:t>0</a:t>
            </a:r>
            <a:endParaRPr lang="en-US" altLang="en-US" sz="2800"/>
          </a:p>
        </p:txBody>
      </p:sp>
      <p:graphicFrame>
        <p:nvGraphicFramePr>
          <p:cNvPr id="2050" name="Object 8">
            <a:extLst>
              <a:ext uri="{FF2B5EF4-FFF2-40B4-BE49-F238E27FC236}">
                <a16:creationId xmlns:a16="http://schemas.microsoft.com/office/drawing/2014/main" id="{A3481353-196A-B159-762A-BED0583EA9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0026" y="2827339"/>
          <a:ext cx="3497263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939600" progId="Equation.3">
                  <p:embed/>
                </p:oleObj>
              </mc:Choice>
              <mc:Fallback>
                <p:oleObj name="Equation" r:id="rId2" imgW="1549080" imgH="939600" progId="Equation.3">
                  <p:embed/>
                  <p:pic>
                    <p:nvPicPr>
                      <p:cNvPr id="2050" name="Object 8">
                        <a:extLst>
                          <a:ext uri="{FF2B5EF4-FFF2-40B4-BE49-F238E27FC236}">
                            <a16:creationId xmlns:a16="http://schemas.microsoft.com/office/drawing/2014/main" id="{A3481353-196A-B159-762A-BED0583EA9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6" y="2827339"/>
                        <a:ext cx="3497263" cy="211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36FB921-A268-A58A-9389-008E92497E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216DC08A-CE09-4839-8832-8E5A74C59A97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27650" name="Slide Number Placeholder 4">
            <a:extLst>
              <a:ext uri="{FF2B5EF4-FFF2-40B4-BE49-F238E27FC236}">
                <a16:creationId xmlns:a16="http://schemas.microsoft.com/office/drawing/2014/main" id="{F3A523BE-7D49-BECD-65FC-2BE5AA28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3A29D40-9C43-4CF4-AD11-5DD63048C1AA}" type="slidenum">
              <a:rPr lang="en-US" altLang="en-US" sz="1400"/>
              <a:pPr eaLnBrk="1" hangingPunct="1"/>
              <a:t>23</a:t>
            </a:fld>
            <a:endParaRPr lang="en-US" altLang="en-US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B4C0E5EE-6385-D8EF-E85E-BF1CEF2FC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04862"/>
          </a:xfrm>
        </p:spPr>
        <p:txBody>
          <a:bodyPr/>
          <a:lstStyle/>
          <a:p>
            <a:pPr eaLnBrk="1" hangingPunct="1"/>
            <a:r>
              <a:rPr lang="en-US" altLang="en-US" sz="5400"/>
              <a:t>Hypothesis Test</a:t>
            </a:r>
          </a:p>
        </p:txBody>
      </p:sp>
      <p:sp>
        <p:nvSpPr>
          <p:cNvPr id="27652" name="Text Box 3">
            <a:extLst>
              <a:ext uri="{FF2B5EF4-FFF2-40B4-BE49-F238E27FC236}">
                <a16:creationId xmlns:a16="http://schemas.microsoft.com/office/drawing/2014/main" id="{8E673627-F5E2-FB4A-87A2-343BA296B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028700"/>
            <a:ext cx="66167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E7294037-C12A-4FC6-8610-FAD30D7C2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0" y="1303339"/>
            <a:ext cx="828040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47763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719263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290763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862263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319463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776663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233863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691063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200"/>
              <a:t>Test the claim </a:t>
            </a:r>
            <a:r>
              <a:rPr lang="en-US" altLang="en-US" sz="3200" i="1"/>
              <a:t>H</a:t>
            </a:r>
            <a:r>
              <a:rPr lang="en-US" altLang="en-US" sz="3200" baseline="-25000"/>
              <a:t>0</a:t>
            </a:r>
            <a:r>
              <a:rPr lang="en-US" altLang="en-US" sz="3200"/>
              <a:t>: </a:t>
            </a:r>
            <a:r>
              <a:rPr lang="el-GR" altLang="en-US" sz="3200">
                <a:cs typeface="Arial" panose="020B0604020202020204" pitchFamily="34" charset="0"/>
              </a:rPr>
              <a:t>ρ</a:t>
            </a:r>
            <a:r>
              <a:rPr lang="en-US" altLang="en-US" sz="3200">
                <a:cs typeface="Arial" panose="020B0604020202020204" pitchFamily="34" charset="0"/>
              </a:rPr>
              <a:t> = 0</a:t>
            </a:r>
            <a:br>
              <a:rPr lang="en-US" altLang="en-US" sz="3200">
                <a:cs typeface="Arial" panose="020B0604020202020204" pitchFamily="34" charset="0"/>
              </a:rPr>
            </a:br>
            <a:r>
              <a:rPr lang="en-US" altLang="en-US" sz="2800">
                <a:cs typeface="Arial" panose="020B0604020202020204" pitchFamily="34" charset="0"/>
              </a:rPr>
              <a:t>where </a:t>
            </a:r>
            <a:r>
              <a:rPr lang="el-GR" altLang="en-US" sz="2800">
                <a:cs typeface="Arial" panose="020B0604020202020204" pitchFamily="34" charset="0"/>
              </a:rPr>
              <a:t>ρ</a:t>
            </a:r>
            <a:r>
              <a:rPr lang="en-US" altLang="en-US" sz="2800">
                <a:cs typeface="Arial" panose="020B0604020202020204" pitchFamily="34" charset="0"/>
              </a:rPr>
              <a:t> ≡ correlation coefficient parameter</a:t>
            </a:r>
            <a:endParaRPr lang="en-US" altLang="en-US">
              <a:sym typeface="Symbol" panose="05050102010706020507" pitchFamily="18" charset="2"/>
            </a:endParaRPr>
          </a:p>
        </p:txBody>
      </p:sp>
      <p:pic>
        <p:nvPicPr>
          <p:cNvPr id="27654" name="Picture 6">
            <a:extLst>
              <a:ext uri="{FF2B5EF4-FFF2-40B4-BE49-F238E27FC236}">
                <a16:creationId xmlns:a16="http://schemas.microsoft.com/office/drawing/2014/main" id="{0DA99C7E-5122-5849-1694-00D66633C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451" y="2805114"/>
            <a:ext cx="5489575" cy="276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Rectangle 8">
            <a:extLst>
              <a:ext uri="{FF2B5EF4-FFF2-40B4-BE49-F238E27FC236}">
                <a16:creationId xmlns:a16="http://schemas.microsoft.com/office/drawing/2014/main" id="{201D7FD3-4B9A-528E-5B3E-DA34B4ECF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4760914"/>
            <a:ext cx="2444750" cy="257175"/>
          </a:xfrm>
          <a:prstGeom prst="rect">
            <a:avLst/>
          </a:prstGeom>
          <a:noFill/>
          <a:ln w="317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50000"/>
                  </a:srgbClr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6" name="Text Box 8">
            <a:extLst>
              <a:ext uri="{FF2B5EF4-FFF2-40B4-BE49-F238E27FC236}">
                <a16:creationId xmlns:a16="http://schemas.microsoft.com/office/drawing/2014/main" id="{B9F66248-E649-1DCB-821C-2EDCFF7A5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5594351"/>
            <a:ext cx="82851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 </a:t>
            </a:r>
            <a:r>
              <a:rPr lang="en-US" altLang="en-US" i="1">
                <a:sym typeface="Symbol" panose="05050102010706020507" pitchFamily="18" charset="2"/>
              </a:rPr>
              <a:t>P</a:t>
            </a:r>
            <a:r>
              <a:rPr lang="en-US" altLang="en-US">
                <a:sym typeface="Symbol" panose="05050102010706020507" pitchFamily="18" charset="2"/>
              </a:rPr>
              <a:t> = .010 (two-sided)  reliable evidence against </a:t>
            </a:r>
            <a:r>
              <a:rPr lang="en-US" altLang="en-US" i="1"/>
              <a:t>H</a:t>
            </a:r>
            <a:r>
              <a:rPr lang="en-US" altLang="en-US" baseline="-25000"/>
              <a:t>0</a:t>
            </a:r>
            <a:r>
              <a:rPr lang="en-US" altLang="en-US"/>
              <a:t> </a:t>
            </a:r>
            <a:br>
              <a:rPr lang="en-US" altLang="en-US"/>
            </a:br>
            <a:r>
              <a:rPr lang="en-US" altLang="en-US">
                <a:sym typeface="Symbol" panose="05050102010706020507" pitchFamily="18" charset="2"/>
              </a:rPr>
              <a:t> the correlation is statistically significant</a:t>
            </a:r>
          </a:p>
        </p:txBody>
      </p:sp>
      <p:sp>
        <p:nvSpPr>
          <p:cNvPr id="27657" name="Text Box 9">
            <a:extLst>
              <a:ext uri="{FF2B5EF4-FFF2-40B4-BE49-F238E27FC236}">
                <a16:creationId xmlns:a16="http://schemas.microsoft.com/office/drawing/2014/main" id="{63A0E0FD-DCDB-E294-369A-EEDEC3CF3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1" y="2220914"/>
            <a:ext cx="66261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/>
              <a:t>SPSS &gt; Analyze &gt; Correlate &gt; Bivariate output: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 animBg="1"/>
      <p:bldP spid="27656" grpId="0"/>
      <p:bldP spid="2765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A90CBC0-CADE-4D6E-79B0-F76E22F061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E558C96F-EF96-4D9D-94BA-9112AFD010E6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28674" name="Slide Number Placeholder 6">
            <a:extLst>
              <a:ext uri="{FF2B5EF4-FFF2-40B4-BE49-F238E27FC236}">
                <a16:creationId xmlns:a16="http://schemas.microsoft.com/office/drawing/2014/main" id="{63D62384-E117-647B-F389-907D239A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653F50-6041-400A-ABC5-444B76D01F41}" type="slidenum">
              <a:rPr lang="en-US" altLang="en-US" sz="1400"/>
              <a:pPr eaLnBrk="1" hangingPunct="1"/>
              <a:t>24</a:t>
            </a:fld>
            <a:endParaRPr lang="en-US" altLang="en-US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822955EB-0DBF-B822-B60C-BFB4F3CEC0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5400"/>
              <a:t>Confidence Interval for </a:t>
            </a:r>
            <a:r>
              <a:rPr lang="el-GR" altLang="en-US" sz="5400">
                <a:cs typeface="Arial" panose="020B0604020202020204" pitchFamily="34" charset="0"/>
              </a:rPr>
              <a:t>ρ</a:t>
            </a:r>
          </a:p>
        </p:txBody>
      </p:sp>
      <p:pic>
        <p:nvPicPr>
          <p:cNvPr id="28676" name="Picture 15">
            <a:extLst>
              <a:ext uri="{FF2B5EF4-FFF2-40B4-BE49-F238E27FC236}">
                <a16:creationId xmlns:a16="http://schemas.microsoft.com/office/drawing/2014/main" id="{EB82A029-5797-C43A-1620-0828C8D1D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68" r="-4599" b="29234"/>
          <a:stretch>
            <a:fillRect/>
          </a:stretch>
        </p:blipFill>
        <p:spPr bwMode="auto">
          <a:xfrm>
            <a:off x="4530726" y="1223963"/>
            <a:ext cx="3368675" cy="2832100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7" name="Picture 16">
            <a:extLst>
              <a:ext uri="{FF2B5EF4-FFF2-40B4-BE49-F238E27FC236}">
                <a16:creationId xmlns:a16="http://schemas.microsoft.com/office/drawing/2014/main" id="{9AA8C451-5398-5767-F3B6-E56DF0B83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961"/>
          <a:stretch>
            <a:fillRect/>
          </a:stretch>
        </p:blipFill>
        <p:spPr bwMode="auto">
          <a:xfrm>
            <a:off x="2138364" y="4064000"/>
            <a:ext cx="8250237" cy="172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Rectangle 17">
            <a:extLst>
              <a:ext uri="{FF2B5EF4-FFF2-40B4-BE49-F238E27FC236}">
                <a16:creationId xmlns:a16="http://schemas.microsoft.com/office/drawing/2014/main" id="{B7DF8588-DECB-D27C-6FF8-503B9B31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1051" y="4595813"/>
            <a:ext cx="282575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9" name="Rectangle 18">
            <a:extLst>
              <a:ext uri="{FF2B5EF4-FFF2-40B4-BE49-F238E27FC236}">
                <a16:creationId xmlns:a16="http://schemas.microsoft.com/office/drawing/2014/main" id="{CBA93D26-89D6-90E1-9A2D-C85258BF3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4863" y="4606925"/>
            <a:ext cx="222250" cy="293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0BA2D6A-BD43-D775-BC44-7AF40FE58E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85B31DB5-4BDC-4F18-AD4B-A612C22D8138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21EF7AF3-D230-29E4-F815-CE62B45D6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B7ECF2E-D661-4978-93DD-F3C5B9B2FB49}" type="slidenum">
              <a:rPr lang="en-US" altLang="en-US" sz="1400"/>
              <a:pPr eaLnBrk="1" hangingPunct="1"/>
              <a:t>25</a:t>
            </a:fld>
            <a:endParaRPr lang="en-US" altLang="en-US" sz="14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F080F719-2DA4-9C1B-9018-AF68C27F2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604837"/>
          </a:xfrm>
        </p:spPr>
        <p:txBody>
          <a:bodyPr>
            <a:normAutofit fontScale="90000"/>
          </a:bodyPr>
          <a:lstStyle/>
          <a:p>
            <a:pPr marL="838200" indent="-838200"/>
            <a:r>
              <a:rPr lang="en-US" altLang="en-US" sz="5400"/>
              <a:t>Confidence Interval for </a:t>
            </a:r>
            <a:r>
              <a:rPr lang="el-GR" altLang="en-US" sz="5400">
                <a:cs typeface="Arial" panose="020B0604020202020204" pitchFamily="34" charset="0"/>
              </a:rPr>
              <a:t>ρ</a:t>
            </a:r>
            <a:endParaRPr lang="en-US" altLang="en-US" sz="5400">
              <a:cs typeface="Arial" panose="020B0604020202020204" pitchFamily="34" charset="0"/>
            </a:endParaRPr>
          </a:p>
        </p:txBody>
      </p:sp>
      <p:pic>
        <p:nvPicPr>
          <p:cNvPr id="29700" name="Picture 4">
            <a:extLst>
              <a:ext uri="{FF2B5EF4-FFF2-40B4-BE49-F238E27FC236}">
                <a16:creationId xmlns:a16="http://schemas.microsoft.com/office/drawing/2014/main" id="{A5B0DC5B-1135-E116-A813-E3FC87DEC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50900"/>
            <a:ext cx="9144000" cy="589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8F37A9E-D7E3-6BFE-B870-88FEE81E88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F872D004-C5C8-4219-A32D-9433F9C6F3C5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30722" name="Slide Number Placeholder 6">
            <a:extLst>
              <a:ext uri="{FF2B5EF4-FFF2-40B4-BE49-F238E27FC236}">
                <a16:creationId xmlns:a16="http://schemas.microsoft.com/office/drawing/2014/main" id="{868632BF-716F-DAC8-FFE5-3848ACAD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5478D3D-45B2-48B8-A006-1C2911F80655}" type="slidenum">
              <a:rPr lang="en-US" altLang="en-US" sz="1400"/>
              <a:pPr eaLnBrk="1" hangingPunct="1"/>
              <a:t>26</a:t>
            </a:fld>
            <a:endParaRPr lang="en-US" altLang="en-US" sz="14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E81227-200E-E6FB-DC6C-2D2DA3A04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5400"/>
              <a:t>Bivariate Normality</a:t>
            </a:r>
            <a:endParaRPr lang="en-US" altLang="en-US" sz="5400" i="1"/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6A020ED3-B920-5A2A-2998-4DA62AAA491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4913314"/>
            <a:ext cx="8096250" cy="1042987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cs typeface="Arial" panose="020B0604020202020204" pitchFamily="34" charset="0"/>
              </a:rPr>
              <a:t>Strictly speaking: </a:t>
            </a:r>
            <a:r>
              <a:rPr lang="en-US" altLang="en-US" sz="2400" i="1">
                <a:cs typeface="Arial" panose="020B0604020202020204" pitchFamily="34" charset="0"/>
              </a:rPr>
              <a:t>P</a:t>
            </a:r>
            <a:r>
              <a:rPr lang="en-US" altLang="en-US" sz="2400">
                <a:cs typeface="Arial" panose="020B0604020202020204" pitchFamily="34" charset="0"/>
              </a:rPr>
              <a:t>-value requires Normality of the joint distribution of X and Y (“bivariate Normality”)</a:t>
            </a:r>
          </a:p>
        </p:txBody>
      </p:sp>
      <p:pic>
        <p:nvPicPr>
          <p:cNvPr id="30725" name="Picture 9">
            <a:extLst>
              <a:ext uri="{FF2B5EF4-FFF2-40B4-BE49-F238E27FC236}">
                <a16:creationId xmlns:a16="http://schemas.microsoft.com/office/drawing/2014/main" id="{AD60FF27-D06B-DA6F-EC8C-23EB1DDB079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27489" y="1717675"/>
            <a:ext cx="4200525" cy="2808288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C3905B1-E990-BBC5-5EBC-980C3CB8A9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DF66561C-A2AF-453C-95C6-5CCABF256E8E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31746" name="Slide Number Placeholder 6">
            <a:extLst>
              <a:ext uri="{FF2B5EF4-FFF2-40B4-BE49-F238E27FC236}">
                <a16:creationId xmlns:a16="http://schemas.microsoft.com/office/drawing/2014/main" id="{0B8ED337-48FA-2FB0-A3DA-A31B3A64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584A42-3E5D-48D8-B0F4-974DBA9CFECA}" type="slidenum">
              <a:rPr lang="en-US" altLang="en-US" sz="1400"/>
              <a:pPr eaLnBrk="1" hangingPunct="1"/>
              <a:t>27</a:t>
            </a:fld>
            <a:endParaRPr lang="en-US" altLang="en-US" sz="14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7F985F4-8EE7-B382-D58C-91499C927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6000">
                <a:cs typeface="Arial" panose="020B0604020202020204" pitchFamily="34" charset="0"/>
              </a:rPr>
              <a:t>§</a:t>
            </a:r>
            <a:r>
              <a:rPr lang="en-US" altLang="en-US" sz="6000"/>
              <a:t>14.4. Regression</a:t>
            </a:r>
          </a:p>
        </p:txBody>
      </p:sp>
      <p:sp>
        <p:nvSpPr>
          <p:cNvPr id="601095" name="Rectangle 7">
            <a:extLst>
              <a:ext uri="{FF2B5EF4-FFF2-40B4-BE49-F238E27FC236}">
                <a16:creationId xmlns:a16="http://schemas.microsoft.com/office/drawing/2014/main" id="{CCE88681-AE43-9CD7-6855-EE9D14D21D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60551" y="2760663"/>
            <a:ext cx="4010025" cy="3059112"/>
          </a:xfrm>
        </p:spPr>
        <p:txBody>
          <a:bodyPr vert="horz" lIns="92075" tIns="46038" rIns="92075" bIns="46038" rtlCol="0">
            <a:normAutofit/>
          </a:bodyPr>
          <a:lstStyle/>
          <a:p>
            <a:pPr marL="1219200" lvl="1" indent="-760413">
              <a:buNone/>
            </a:pPr>
            <a:r>
              <a:rPr lang="en-US" altLang="en-US"/>
              <a:t>where</a:t>
            </a:r>
          </a:p>
          <a:p>
            <a:pPr marL="1219200" lvl="1" indent="-760413">
              <a:buNone/>
            </a:pPr>
            <a:r>
              <a:rPr lang="en-US" altLang="en-US" i="1"/>
              <a:t>ŷ</a:t>
            </a:r>
            <a:r>
              <a:rPr lang="en-US" altLang="en-US" i="1" baseline="-25000"/>
              <a:t>i</a:t>
            </a:r>
            <a:r>
              <a:rPr lang="en-US" altLang="en-US" i="1"/>
              <a:t> </a:t>
            </a:r>
            <a:r>
              <a:rPr lang="en-US" altLang="en-US">
                <a:sym typeface="Symbol" panose="05050102010706020507" pitchFamily="18" charset="2"/>
              </a:rPr>
              <a:t>≡ predicted value of </a:t>
            </a:r>
            <a:r>
              <a:rPr lang="en-US" altLang="en-US" i="1">
                <a:sym typeface="Symbol" panose="05050102010706020507" pitchFamily="18" charset="2"/>
              </a:rPr>
              <a:t>Y </a:t>
            </a:r>
            <a:r>
              <a:rPr lang="en-US" altLang="en-US">
                <a:sym typeface="Symbol" panose="05050102010706020507" pitchFamily="18" charset="2"/>
              </a:rPr>
              <a:t>at 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 i="1" baseline="-25000">
                <a:sym typeface="Symbol" panose="05050102010706020507" pitchFamily="18" charset="2"/>
              </a:rPr>
              <a:t>i</a:t>
            </a:r>
          </a:p>
          <a:p>
            <a:pPr marL="1219200" lvl="1" indent="-760413">
              <a:buNone/>
            </a:pPr>
            <a:r>
              <a:rPr lang="en-US" altLang="en-US" i="1"/>
              <a:t>a </a:t>
            </a:r>
            <a:r>
              <a:rPr lang="en-US" altLang="en-US">
                <a:sym typeface="Symbol" panose="05050102010706020507" pitchFamily="18" charset="2"/>
              </a:rPr>
              <a:t>≡ </a:t>
            </a:r>
            <a:r>
              <a:rPr lang="en-US" altLang="en-US"/>
              <a:t>intercept coefficient</a:t>
            </a:r>
          </a:p>
          <a:p>
            <a:pPr marL="1219200" lvl="1" indent="-760413">
              <a:buNone/>
            </a:pPr>
            <a:r>
              <a:rPr lang="en-US" altLang="en-US" i="1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 = slope coefficient</a:t>
            </a:r>
          </a:p>
        </p:txBody>
      </p:sp>
      <p:sp>
        <p:nvSpPr>
          <p:cNvPr id="31749" name="Text Box 5">
            <a:extLst>
              <a:ext uri="{FF2B5EF4-FFF2-40B4-BE49-F238E27FC236}">
                <a16:creationId xmlns:a16="http://schemas.microsoft.com/office/drawing/2014/main" id="{01FCF5E8-E4F6-B8B5-C10C-415A63322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1" y="1905001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lphaUcPeriod"/>
            </a:pPr>
            <a:endParaRPr lang="en-US" altLang="en-US"/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F72219E2-A2F4-C987-69BB-757DBADDE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3" y="1514476"/>
            <a:ext cx="7232650" cy="1200329"/>
          </a:xfrm>
          <a:prstGeom prst="rect">
            <a:avLst/>
          </a:prstGeom>
          <a:noFill/>
          <a:ln w="317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3200"/>
              <a:t>Regression model (equation for line):</a:t>
            </a:r>
          </a:p>
          <a:p>
            <a:pPr algn="ctr" eaLnBrk="1" hangingPunct="1">
              <a:buFontTx/>
              <a:buNone/>
            </a:pPr>
            <a:r>
              <a:rPr lang="en-US" altLang="en-US" sz="4000" i="1"/>
              <a:t>ŷ</a:t>
            </a:r>
            <a:r>
              <a:rPr lang="en-US" altLang="en-US" sz="4000" i="1" baseline="-25000"/>
              <a:t>i</a:t>
            </a:r>
            <a:r>
              <a:rPr lang="en-US" altLang="en-US" sz="4000" i="1"/>
              <a:t> </a:t>
            </a:r>
            <a:r>
              <a:rPr lang="en-US" altLang="en-US" sz="4000"/>
              <a:t>= </a:t>
            </a:r>
            <a:r>
              <a:rPr lang="en-US" altLang="en-US" sz="4000" i="1"/>
              <a:t>a</a:t>
            </a:r>
            <a:r>
              <a:rPr lang="en-US" altLang="en-US" sz="4000"/>
              <a:t> + </a:t>
            </a:r>
            <a:r>
              <a:rPr lang="en-US" altLang="en-US" sz="4000" i="1"/>
              <a:t>b</a:t>
            </a:r>
            <a:r>
              <a:rPr lang="en-US" altLang="en-US" sz="4000"/>
              <a:t>∙</a:t>
            </a:r>
            <a:r>
              <a:rPr lang="en-US" altLang="en-US" sz="4000" i="1"/>
              <a:t>X</a:t>
            </a:r>
            <a:r>
              <a:rPr lang="en-US" altLang="en-US" sz="4000" i="1" baseline="-25000"/>
              <a:t>i</a:t>
            </a:r>
            <a:r>
              <a:rPr lang="en-US" altLang="en-US" sz="4000"/>
              <a:t> </a:t>
            </a:r>
          </a:p>
        </p:txBody>
      </p:sp>
      <p:pic>
        <p:nvPicPr>
          <p:cNvPr id="31751" name="Picture 5">
            <a:extLst>
              <a:ext uri="{FF2B5EF4-FFF2-40B4-BE49-F238E27FC236}">
                <a16:creationId xmlns:a16="http://schemas.microsoft.com/office/drawing/2014/main" id="{6469F712-9C6E-C44E-2F35-C8F0AC5C7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389" y="3098800"/>
            <a:ext cx="4746625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09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094F99E-EDD7-E609-A651-6900BB9F86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891091E4-E8F9-41EE-A20F-30D7DD164B25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32770" name="Slide Number Placeholder 6">
            <a:extLst>
              <a:ext uri="{FF2B5EF4-FFF2-40B4-BE49-F238E27FC236}">
                <a16:creationId xmlns:a16="http://schemas.microsoft.com/office/drawing/2014/main" id="{67400A4B-B12F-8609-7A01-2F82F857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390475-1D6A-4E35-B3C3-20A6C0400F3B}" type="slidenum">
              <a:rPr lang="en-US" altLang="en-US" sz="1400"/>
              <a:pPr eaLnBrk="1" hangingPunct="1"/>
              <a:t>28</a:t>
            </a:fld>
            <a:endParaRPr lang="en-US" altLang="en-US" sz="1400"/>
          </a:p>
        </p:txBody>
      </p:sp>
      <p:pic>
        <p:nvPicPr>
          <p:cNvPr id="522249" name="Picture 9">
            <a:extLst>
              <a:ext uri="{FF2B5EF4-FFF2-40B4-BE49-F238E27FC236}">
                <a16:creationId xmlns:a16="http://schemas.microsoft.com/office/drawing/2014/main" id="{5591731F-A0D2-608A-F0E8-FE142722783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3451" y="1868489"/>
            <a:ext cx="5440363" cy="4313237"/>
          </a:xfrm>
          <a:noFill/>
        </p:spPr>
      </p:pic>
      <p:sp>
        <p:nvSpPr>
          <p:cNvPr id="32772" name="Rectangle 4">
            <a:extLst>
              <a:ext uri="{FF2B5EF4-FFF2-40B4-BE49-F238E27FC236}">
                <a16:creationId xmlns:a16="http://schemas.microsoft.com/office/drawing/2014/main" id="{35A52C4E-8ABD-9882-624F-46939B2D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6000">
                <a:cs typeface="Arial" panose="020B0604020202020204" pitchFamily="34" charset="0"/>
              </a:rPr>
              <a:t>Least Squares Line</a:t>
            </a:r>
            <a:endParaRPr lang="en-US" altLang="en-US" sz="6000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DBC2522B-6761-BD5D-895C-3BD79F03B6B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38326" y="1317626"/>
            <a:ext cx="8518525" cy="3984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400"/>
              <a:t>Residual </a:t>
            </a:r>
            <a:r>
              <a:rPr lang="en-US" altLang="en-US" sz="2400">
                <a:cs typeface="Arial" panose="020B0604020202020204" pitchFamily="34" charset="0"/>
              </a:rPr>
              <a:t>≡</a:t>
            </a:r>
            <a:r>
              <a:rPr lang="en-US" altLang="en-US" sz="2400"/>
              <a:t> distance of data point from regression line (dotted)</a:t>
            </a:r>
          </a:p>
        </p:txBody>
      </p:sp>
      <p:sp>
        <p:nvSpPr>
          <p:cNvPr id="32774" name="Text Box 6">
            <a:extLst>
              <a:ext uri="{FF2B5EF4-FFF2-40B4-BE49-F238E27FC236}">
                <a16:creationId xmlns:a16="http://schemas.microsoft.com/office/drawing/2014/main" id="{25797CD0-5E90-3BFF-4058-087DAA3E6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0488" y="2162175"/>
            <a:ext cx="2538412" cy="3231654"/>
          </a:xfrm>
          <a:prstGeom prst="rect">
            <a:avLst/>
          </a:prstGeom>
          <a:noFill/>
          <a:ln w="317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2301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9300" eaLnBrk="0" hangingPunct="0">
              <a:tabLst>
                <a:tab pos="2301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2301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2301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2301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tabLst>
                <a:tab pos="2301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tabLst>
                <a:tab pos="2301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tabLst>
                <a:tab pos="2301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tabLst>
                <a:tab pos="2301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/>
              <a:t>The best fitting line minimizes the residuals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/>
              <a:t>Determine a and b of best fitting line via formula, calculator, or </a:t>
            </a:r>
            <a:br>
              <a:rPr lang="en-US" altLang="en-US"/>
            </a:br>
            <a:r>
              <a:rPr lang="en-US" altLang="en-US"/>
              <a:t>computer.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8EA887B-8BB5-C7DB-8CA7-1F7220A61F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3761C151-9A7E-49FB-946C-220651BD44D5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D44BF3AB-6E28-10D1-8AC2-E1AA76AD7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1965A4-A96F-4BAD-8AF0-8C5B69B8C139}" type="slidenum">
              <a:rPr lang="en-US" altLang="en-US" sz="1400"/>
              <a:pPr eaLnBrk="1" hangingPunct="1"/>
              <a:t>29</a:t>
            </a:fld>
            <a:endParaRPr lang="en-US" altLang="en-US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FBDA6C4-1863-DA80-7607-D614C13B35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35012"/>
          </a:xfrm>
        </p:spPr>
        <p:txBody>
          <a:bodyPr/>
          <a:lstStyle/>
          <a:p>
            <a:pPr marL="838200" indent="-838200"/>
            <a:r>
              <a:rPr lang="en-US" altLang="en-US" u="sng"/>
              <a:t>Regression coefficients by hand</a:t>
            </a:r>
            <a:endParaRPr lang="en-US" altLang="en-US"/>
          </a:p>
        </p:txBody>
      </p:sp>
      <p:pic>
        <p:nvPicPr>
          <p:cNvPr id="34820" name="Picture 10">
            <a:extLst>
              <a:ext uri="{FF2B5EF4-FFF2-40B4-BE49-F238E27FC236}">
                <a16:creationId xmlns:a16="http://schemas.microsoft.com/office/drawing/2014/main" id="{2DAE94B4-B61F-8516-ADEE-E1E8E1357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9" b="9749"/>
          <a:stretch>
            <a:fillRect/>
          </a:stretch>
        </p:blipFill>
        <p:spPr bwMode="auto">
          <a:xfrm>
            <a:off x="2260601" y="1481138"/>
            <a:ext cx="2289175" cy="1230312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1" name="Picture 11">
            <a:extLst>
              <a:ext uri="{FF2B5EF4-FFF2-40B4-BE49-F238E27FC236}">
                <a16:creationId xmlns:a16="http://schemas.microsoft.com/office/drawing/2014/main" id="{0ABD2A5E-AF29-7645-D20D-F87C1F1B8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814" y="1689100"/>
            <a:ext cx="3317875" cy="795338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2" name="Picture 13">
            <a:extLst>
              <a:ext uri="{FF2B5EF4-FFF2-40B4-BE49-F238E27FC236}">
                <a16:creationId xmlns:a16="http://schemas.microsoft.com/office/drawing/2014/main" id="{428E583C-A2F0-EA3C-156A-9E3241F6C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1" y="3038475"/>
            <a:ext cx="8475663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AF3F3DC-29ED-F9CC-2130-E4ACA900EE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7E052A9E-EAF1-4F7F-9566-44B227B16245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35842" name="Slide Number Placeholder 6">
            <a:extLst>
              <a:ext uri="{FF2B5EF4-FFF2-40B4-BE49-F238E27FC236}">
                <a16:creationId xmlns:a16="http://schemas.microsoft.com/office/drawing/2014/main" id="{4B71BCA5-9FE9-7FD1-E847-C2CBB613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610EACD-C00D-4A27-943F-54EB4943AF3E}" type="slidenum">
              <a:rPr lang="en-US" altLang="en-US" sz="1400"/>
              <a:pPr eaLnBrk="1" hangingPunct="1"/>
              <a:t>30</a:t>
            </a:fld>
            <a:endParaRPr lang="en-US" altLang="en-US" sz="1400"/>
          </a:p>
        </p:txBody>
      </p:sp>
      <p:pic>
        <p:nvPicPr>
          <p:cNvPr id="35843" name="Picture 2">
            <a:extLst>
              <a:ext uri="{FF2B5EF4-FFF2-40B4-BE49-F238E27FC236}">
                <a16:creationId xmlns:a16="http://schemas.microsoft.com/office/drawing/2014/main" id="{79792208-BF9B-B50B-BCD8-E6CA804A3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2917825"/>
            <a:ext cx="8555038" cy="2222500"/>
          </a:xfrm>
          <a:prstGeom prst="rect">
            <a:avLst/>
          </a:prstGeom>
          <a:solidFill>
            <a:srgbClr val="FFFF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3">
            <a:extLst>
              <a:ext uri="{FF2B5EF4-FFF2-40B4-BE49-F238E27FC236}">
                <a16:creationId xmlns:a16="http://schemas.microsoft.com/office/drawing/2014/main" id="{A7BE91DD-3F8E-CA69-392A-BC65B88C6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12926" y="298451"/>
            <a:ext cx="8609013" cy="1355725"/>
          </a:xfrm>
        </p:spPr>
        <p:txBody>
          <a:bodyPr/>
          <a:lstStyle/>
          <a:p>
            <a:pPr marL="838200" indent="-838200"/>
            <a:r>
              <a:rPr lang="en-US" altLang="en-US" sz="4800"/>
              <a:t>Coefficient by SPSS </a:t>
            </a:r>
            <a:br>
              <a:rPr lang="en-US" altLang="en-US" sz="4800"/>
            </a:br>
            <a:r>
              <a:rPr lang="en-US" altLang="en-US" sz="4000">
                <a:solidFill>
                  <a:schemeClr val="tx1"/>
                </a:solidFill>
              </a:rPr>
              <a:t>Analyze &gt; Regression &gt; Linear</a:t>
            </a:r>
          </a:p>
        </p:txBody>
      </p:sp>
      <p:sp>
        <p:nvSpPr>
          <p:cNvPr id="35846" name="Rectangle 5">
            <a:extLst>
              <a:ext uri="{FF2B5EF4-FFF2-40B4-BE49-F238E27FC236}">
                <a16:creationId xmlns:a16="http://schemas.microsoft.com/office/drawing/2014/main" id="{B89B8F8F-A430-7135-8419-01B9B3413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0200" y="4286250"/>
            <a:ext cx="2262188" cy="293688"/>
          </a:xfrm>
          <a:prstGeom prst="rect">
            <a:avLst/>
          </a:prstGeom>
          <a:solidFill>
            <a:srgbClr val="FFFF00">
              <a:alpha val="30196"/>
            </a:srgb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47" name="Text Box 6">
            <a:extLst>
              <a:ext uri="{FF2B5EF4-FFF2-40B4-BE49-F238E27FC236}">
                <a16:creationId xmlns:a16="http://schemas.microsoft.com/office/drawing/2014/main" id="{A550FAED-9EBB-EA6A-1979-961FC98FB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313" y="2654300"/>
            <a:ext cx="3583032" cy="523220"/>
          </a:xfrm>
          <a:prstGeom prst="rect">
            <a:avLst/>
          </a:prstGeom>
          <a:solidFill>
            <a:srgbClr val="FFFF00">
              <a:alpha val="50195"/>
            </a:srgb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/>
              <a:t>Intercept estimate (</a:t>
            </a:r>
            <a:r>
              <a:rPr lang="en-US" altLang="en-US" sz="2800" i="1"/>
              <a:t>a</a:t>
            </a:r>
            <a:r>
              <a:rPr lang="en-US" altLang="en-US" sz="2800"/>
              <a:t>)</a:t>
            </a:r>
          </a:p>
        </p:txBody>
      </p:sp>
      <p:sp>
        <p:nvSpPr>
          <p:cNvPr id="35848" name="Rectangle 7">
            <a:extLst>
              <a:ext uri="{FF2B5EF4-FFF2-40B4-BE49-F238E27FC236}">
                <a16:creationId xmlns:a16="http://schemas.microsoft.com/office/drawing/2014/main" id="{68923D9A-F378-F1A1-79D4-224080365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9" y="4578351"/>
            <a:ext cx="2262187" cy="257175"/>
          </a:xfrm>
          <a:prstGeom prst="rect">
            <a:avLst/>
          </a:prstGeom>
          <a:solidFill>
            <a:srgbClr val="FF9900">
              <a:alpha val="50195"/>
            </a:srgb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49" name="Text Box 8">
            <a:extLst>
              <a:ext uri="{FF2B5EF4-FFF2-40B4-BE49-F238E27FC236}">
                <a16:creationId xmlns:a16="http://schemas.microsoft.com/office/drawing/2014/main" id="{23EB7A04-B083-D51B-1A1E-B1B6E0D76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9" y="2159000"/>
            <a:ext cx="3103735" cy="523220"/>
          </a:xfrm>
          <a:prstGeom prst="rect">
            <a:avLst/>
          </a:prstGeom>
          <a:solidFill>
            <a:srgbClr val="FF9900">
              <a:alpha val="50195"/>
            </a:srgb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/>
              <a:t>Slope estimate (</a:t>
            </a:r>
            <a:r>
              <a:rPr lang="en-US" altLang="en-US" sz="2800" i="1"/>
              <a:t>b</a:t>
            </a:r>
            <a:r>
              <a:rPr lang="en-US" altLang="en-US" sz="2800"/>
              <a:t>)</a:t>
            </a:r>
          </a:p>
        </p:txBody>
      </p:sp>
      <p:cxnSp>
        <p:nvCxnSpPr>
          <p:cNvPr id="35850" name="AutoShape 9">
            <a:extLst>
              <a:ext uri="{FF2B5EF4-FFF2-40B4-BE49-F238E27FC236}">
                <a16:creationId xmlns:a16="http://schemas.microsoft.com/office/drawing/2014/main" id="{602B7476-D41E-76CC-3F4D-56702DB496F1}"/>
              </a:ext>
            </a:extLst>
          </p:cNvPr>
          <p:cNvCxnSpPr>
            <a:cxnSpLocks noChangeShapeType="1"/>
            <a:stCxn id="35847" idx="2"/>
            <a:endCxn id="35846" idx="0"/>
          </p:cNvCxnSpPr>
          <p:nvPr/>
        </p:nvCxnSpPr>
        <p:spPr bwMode="auto">
          <a:xfrm rot="16200000" flipH="1">
            <a:off x="3274696" y="3559653"/>
            <a:ext cx="1108730" cy="344465"/>
          </a:xfrm>
          <a:prstGeom prst="bentConnector3">
            <a:avLst>
              <a:gd name="adj1" fmla="val 50000"/>
            </a:avLst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1" name="AutoShape 10">
            <a:extLst>
              <a:ext uri="{FF2B5EF4-FFF2-40B4-BE49-F238E27FC236}">
                <a16:creationId xmlns:a16="http://schemas.microsoft.com/office/drawing/2014/main" id="{7E076852-0ACD-C67C-A9F7-1E18F3702F3B}"/>
              </a:ext>
            </a:extLst>
          </p:cNvPr>
          <p:cNvCxnSpPr>
            <a:cxnSpLocks noChangeShapeType="1"/>
            <a:stCxn id="35849" idx="2"/>
            <a:endCxn id="35848" idx="3"/>
          </p:cNvCxnSpPr>
          <p:nvPr/>
        </p:nvCxnSpPr>
        <p:spPr bwMode="auto">
          <a:xfrm rot="5400000">
            <a:off x="5649232" y="2147915"/>
            <a:ext cx="2024718" cy="3093331"/>
          </a:xfrm>
          <a:prstGeom prst="bentConnector2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2" name="Rectangle 11">
            <a:extLst>
              <a:ext uri="{FF2B5EF4-FFF2-40B4-BE49-F238E27FC236}">
                <a16:creationId xmlns:a16="http://schemas.microsoft.com/office/drawing/2014/main" id="{0C41D2B0-3684-B0BC-3377-82AB4A272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777" y="5257800"/>
            <a:ext cx="4445448" cy="1077218"/>
          </a:xfrm>
          <a:prstGeom prst="rect">
            <a:avLst/>
          </a:prstGeom>
          <a:noFill/>
          <a:ln w="317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3200" i="1"/>
              <a:t>Regression line:</a:t>
            </a:r>
          </a:p>
          <a:p>
            <a:pPr algn="ctr" eaLnBrk="1" hangingPunct="1">
              <a:buFontTx/>
              <a:buNone/>
            </a:pPr>
            <a:r>
              <a:rPr lang="en-US" altLang="en-US" sz="3200" i="1"/>
              <a:t>ŷ </a:t>
            </a:r>
            <a:r>
              <a:rPr lang="en-US" altLang="en-US" sz="3200"/>
              <a:t>= 6.756 </a:t>
            </a:r>
            <a:r>
              <a:rPr lang="en-US" altLang="en-US" sz="3200" i="1"/>
              <a:t>+ </a:t>
            </a:r>
            <a:r>
              <a:rPr lang="en-US" altLang="en-US" sz="3200"/>
              <a:t>0.02284 ∙ </a:t>
            </a:r>
            <a:r>
              <a:rPr lang="en-US" altLang="en-US" sz="3200" i="1"/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 animBg="1"/>
      <p:bldP spid="35847" grpId="0" animBg="1"/>
      <p:bldP spid="35848" grpId="0" animBg="1"/>
      <p:bldP spid="35849" grpId="0" animBg="1"/>
      <p:bldP spid="3585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ADE994C-8046-6BB3-9664-2AE1C5AF24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7376A43C-40DA-4773-9EA2-1EFB1C982E32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75778" name="Slide Number Placeholder 6">
            <a:extLst>
              <a:ext uri="{FF2B5EF4-FFF2-40B4-BE49-F238E27FC236}">
                <a16:creationId xmlns:a16="http://schemas.microsoft.com/office/drawing/2014/main" id="{EF17B843-F5DA-CD60-F5BE-00A0447023FC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D0A7E324-8374-4F09-9CD5-5C1651AFF709}" type="slidenum">
              <a:rPr lang="en-US" altLang="en-US" sz="1400"/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/>
          </a:p>
        </p:txBody>
      </p:sp>
      <p:pic>
        <p:nvPicPr>
          <p:cNvPr id="522249" name="Picture 9">
            <a:extLst>
              <a:ext uri="{FF2B5EF4-FFF2-40B4-BE49-F238E27FC236}">
                <a16:creationId xmlns:a16="http://schemas.microsoft.com/office/drawing/2014/main" id="{1CB08706-615B-8841-D63C-8F6F3DE86A2C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38513" y="1698625"/>
            <a:ext cx="5440362" cy="4313238"/>
          </a:xfrm>
          <a:noFill/>
        </p:spPr>
      </p:pic>
      <p:sp>
        <p:nvSpPr>
          <p:cNvPr id="75780" name="Rectangle 4">
            <a:extLst>
              <a:ext uri="{FF2B5EF4-FFF2-40B4-BE49-F238E27FC236}">
                <a16:creationId xmlns:a16="http://schemas.microsoft.com/office/drawing/2014/main" id="{FA3EA67B-BC8F-4D92-A1FF-276AB40766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54213" y="2825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i="1">
                <a:solidFill>
                  <a:schemeClr val="tx1"/>
                </a:solidFill>
              </a:rPr>
              <a:t>ŷ </a:t>
            </a:r>
            <a:r>
              <a:rPr lang="en-US" altLang="en-US">
                <a:solidFill>
                  <a:schemeClr val="tx1"/>
                </a:solidFill>
              </a:rPr>
              <a:t>= 6.756 </a:t>
            </a:r>
            <a:r>
              <a:rPr lang="en-US" altLang="en-US" i="1">
                <a:solidFill>
                  <a:schemeClr val="tx1"/>
                </a:solidFill>
              </a:rPr>
              <a:t>+ </a:t>
            </a:r>
            <a:r>
              <a:rPr lang="en-US" altLang="en-US">
                <a:solidFill>
                  <a:schemeClr val="tx1"/>
                </a:solidFill>
              </a:rPr>
              <a:t>0.0284 ∙ </a:t>
            </a:r>
            <a:r>
              <a:rPr lang="en-US" altLang="en-US" i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5783" name="Line 7">
            <a:extLst>
              <a:ext uri="{FF2B5EF4-FFF2-40B4-BE49-F238E27FC236}">
                <a16:creationId xmlns:a16="http://schemas.microsoft.com/office/drawing/2014/main" id="{96ED46EE-B63E-B0D6-6A86-41A25B2CBD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6364" y="4529138"/>
            <a:ext cx="676275" cy="290512"/>
          </a:xfrm>
          <a:prstGeom prst="line">
            <a:avLst/>
          </a:prstGeom>
          <a:noFill/>
          <a:ln w="3175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5787" name="Line 11">
            <a:extLst>
              <a:ext uri="{FF2B5EF4-FFF2-40B4-BE49-F238E27FC236}">
                <a16:creationId xmlns:a16="http://schemas.microsoft.com/office/drawing/2014/main" id="{9E150893-9C5F-157C-35C1-38171DB86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4775" y="3665538"/>
            <a:ext cx="8636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5788" name="Line 12">
            <a:extLst>
              <a:ext uri="{FF2B5EF4-FFF2-40B4-BE49-F238E27FC236}">
                <a16:creationId xmlns:a16="http://schemas.microsoft.com/office/drawing/2014/main" id="{15D1BC50-1182-0917-C737-4116C6A574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6313" y="3273426"/>
            <a:ext cx="0" cy="384175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5789" name="Text Box 13">
            <a:extLst>
              <a:ext uri="{FF2B5EF4-FFF2-40B4-BE49-F238E27FC236}">
                <a16:creationId xmlns:a16="http://schemas.microsoft.com/office/drawing/2014/main" id="{A8E46EB7-F7CC-B30C-10F3-3C43AD3E7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4656139"/>
            <a:ext cx="15712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/>
              <a:t>6.756</a:t>
            </a:r>
          </a:p>
          <a:p>
            <a:pPr eaLnBrk="1" hangingPunct="1">
              <a:buFontTx/>
              <a:buNone/>
            </a:pPr>
            <a:r>
              <a:rPr lang="en-US" altLang="en-US"/>
              <a:t>(intercept)</a:t>
            </a:r>
          </a:p>
        </p:txBody>
      </p:sp>
      <p:sp>
        <p:nvSpPr>
          <p:cNvPr id="75790" name="Line 14">
            <a:extLst>
              <a:ext uri="{FF2B5EF4-FFF2-40B4-BE49-F238E27FC236}">
                <a16:creationId xmlns:a16="http://schemas.microsoft.com/office/drawing/2014/main" id="{D485372C-454C-3D97-6EDF-61413E10FA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4" y="4816475"/>
            <a:ext cx="89852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5791" name="Text Box 15">
            <a:extLst>
              <a:ext uri="{FF2B5EF4-FFF2-40B4-BE49-F238E27FC236}">
                <a16:creationId xmlns:a16="http://schemas.microsoft.com/office/drawing/2014/main" id="{61F3CDE3-F582-0FF0-648D-62B21A7D9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1889" y="3152776"/>
            <a:ext cx="305593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/>
              <a:t>“Rise” over 200 units</a:t>
            </a:r>
          </a:p>
          <a:p>
            <a:pPr eaLnBrk="1" hangingPunct="1">
              <a:buFontTx/>
              <a:buNone/>
            </a:pPr>
            <a:r>
              <a:rPr lang="en-US" altLang="en-US"/>
              <a:t>= 200 </a:t>
            </a:r>
            <a:r>
              <a:rPr lang="en-US" altLang="en-US">
                <a:cs typeface="Arial" panose="020B0604020202020204" pitchFamily="34" charset="0"/>
              </a:rPr>
              <a:t>∙ .0228</a:t>
            </a:r>
          </a:p>
          <a:p>
            <a:pPr eaLnBrk="1" hangingPunct="1"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= 5.68</a:t>
            </a:r>
          </a:p>
        </p:txBody>
      </p:sp>
      <p:sp>
        <p:nvSpPr>
          <p:cNvPr id="75792" name="Text Box 16">
            <a:extLst>
              <a:ext uri="{FF2B5EF4-FFF2-40B4-BE49-F238E27FC236}">
                <a16:creationId xmlns:a16="http://schemas.microsoft.com/office/drawing/2014/main" id="{F2E74B6B-CCF3-8AA0-C67D-920BCFE2D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0400" y="1616076"/>
            <a:ext cx="3608680" cy="830997"/>
          </a:xfrm>
          <a:prstGeom prst="rect">
            <a:avLst/>
          </a:prstGeom>
          <a:noFill/>
          <a:ln w="317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/>
              <a:t>Slope = “rise over run”</a:t>
            </a:r>
          </a:p>
          <a:p>
            <a:pPr eaLnBrk="1" hangingPunct="1">
              <a:buFontTx/>
              <a:buNone/>
            </a:pPr>
            <a:r>
              <a:rPr lang="en-US" altLang="en-US"/>
              <a:t>.0228 increase per unit X</a:t>
            </a:r>
          </a:p>
        </p:txBody>
      </p:sp>
      <p:sp>
        <p:nvSpPr>
          <p:cNvPr id="75793" name="Text Box 17">
            <a:extLst>
              <a:ext uri="{FF2B5EF4-FFF2-40B4-BE49-F238E27FC236}">
                <a16:creationId xmlns:a16="http://schemas.microsoft.com/office/drawing/2014/main" id="{09AEF598-A7C5-9FF2-1AC5-402D48D8A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0926" y="4656139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lphaUcPeriod"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/>
      <p:bldP spid="75791" grpId="0"/>
      <p:bldP spid="7579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0173F82-BB8E-2BD0-2755-86D6821C35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E886BFB8-B3DD-4281-B7C9-657BF27696F5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BBB1519E-DFE8-092D-AF30-049A1336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2DF8EE-A223-4E73-9BEE-8A4BF7C107C2}" type="slidenum">
              <a:rPr lang="en-US" altLang="en-US" sz="1400"/>
              <a:pPr eaLnBrk="1" hangingPunct="1"/>
              <a:t>32</a:t>
            </a:fld>
            <a:endParaRPr lang="en-US" altLang="en-US" sz="140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BB867E4-2D65-E631-0C32-C8989BDA1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0450" y="2476501"/>
            <a:ext cx="7372350" cy="2303463"/>
          </a:xfrm>
        </p:spPr>
        <p:txBody>
          <a:bodyPr/>
          <a:lstStyle/>
          <a:p>
            <a:pPr marL="533400" indent="-533400">
              <a:buNone/>
            </a:pPr>
            <a:r>
              <a:rPr lang="en-US" altLang="en-US">
                <a:cs typeface="Arial" panose="020B0604020202020204" pitchFamily="34" charset="0"/>
              </a:rPr>
              <a:t>where </a:t>
            </a:r>
          </a:p>
          <a:p>
            <a:pPr marL="533400" indent="-533400"/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</a:rPr>
              <a:t> ≡ intercept parameter</a:t>
            </a:r>
          </a:p>
          <a:p>
            <a:pPr marL="533400" indent="-533400"/>
            <a:r>
              <a:rPr lang="el-GR" altLang="en-US">
                <a:cs typeface="Arial" panose="020B0604020202020204" pitchFamily="34" charset="0"/>
              </a:rPr>
              <a:t>β</a:t>
            </a:r>
            <a:r>
              <a:rPr lang="en-US" altLang="en-US">
                <a:cs typeface="Arial" panose="020B0604020202020204" pitchFamily="34" charset="0"/>
              </a:rPr>
              <a:t> ≡ slope parameter</a:t>
            </a:r>
          </a:p>
          <a:p>
            <a:pPr marL="533400" indent="-533400"/>
            <a:r>
              <a:rPr lang="el-GR" altLang="en-US">
                <a:cs typeface="Arial" panose="020B0604020202020204" pitchFamily="34" charset="0"/>
              </a:rPr>
              <a:t>ε</a:t>
            </a:r>
            <a:r>
              <a:rPr lang="en-US" altLang="en-US" i="1" baseline="-25000">
                <a:cs typeface="Arial" panose="020B0604020202020204" pitchFamily="34" charset="0"/>
              </a:rPr>
              <a:t>i</a:t>
            </a:r>
            <a:r>
              <a:rPr lang="en-US" altLang="en-US">
                <a:cs typeface="Arial" panose="020B0604020202020204" pitchFamily="34" charset="0"/>
              </a:rPr>
              <a:t> ≡ residual error, observation </a:t>
            </a:r>
            <a:r>
              <a:rPr lang="en-US" altLang="en-US" i="1">
                <a:cs typeface="Arial" panose="020B0604020202020204" pitchFamily="34" charset="0"/>
              </a:rPr>
              <a:t>i</a:t>
            </a:r>
            <a:endParaRPr lang="en-US" altLang="en-US"/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FCDE7F93-E36D-FBB3-56AC-9617202A6C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92114"/>
            <a:ext cx="8229600" cy="5937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800"/>
              <a:t>Population Regression Model</a:t>
            </a:r>
          </a:p>
        </p:txBody>
      </p:sp>
      <p:pic>
        <p:nvPicPr>
          <p:cNvPr id="37893" name="Picture 7">
            <a:extLst>
              <a:ext uri="{FF2B5EF4-FFF2-40B4-BE49-F238E27FC236}">
                <a16:creationId xmlns:a16="http://schemas.microsoft.com/office/drawing/2014/main" id="{EDDDDBFA-E3CF-AC44-3A88-D19C34B3B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5" r="17639" b="92122"/>
          <a:stretch>
            <a:fillRect/>
          </a:stretch>
        </p:blipFill>
        <p:spPr bwMode="auto">
          <a:xfrm>
            <a:off x="3508375" y="1336675"/>
            <a:ext cx="5022850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Text Box 6">
            <a:extLst>
              <a:ext uri="{FF2B5EF4-FFF2-40B4-BE49-F238E27FC236}">
                <a16:creationId xmlns:a16="http://schemas.microsoft.com/office/drawing/2014/main" id="{A3CC413E-7F35-1BD2-FD84-18F9CFEF8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4830764"/>
            <a:ext cx="7969250" cy="954107"/>
          </a:xfrm>
          <a:prstGeom prst="rect">
            <a:avLst/>
          </a:prstGeom>
          <a:noFill/>
          <a:ln w="317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03325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774825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346325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917825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375025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832225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289425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746625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800"/>
              <a:t>Objective: </a:t>
            </a:r>
          </a:p>
          <a:p>
            <a:pPr algn="ctr" eaLnBrk="1" hangingPunct="1">
              <a:buFontTx/>
              <a:buNone/>
            </a:pPr>
            <a:r>
              <a:rPr lang="en-US" altLang="en-US" sz="2800"/>
              <a:t>To estimate </a:t>
            </a:r>
            <a:r>
              <a:rPr lang="el-GR" altLang="en-US" sz="2800"/>
              <a:t>β</a:t>
            </a:r>
            <a:r>
              <a:rPr lang="en-US" altLang="en-US" sz="2800"/>
              <a:t> with (1 – 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n-US" altLang="en-US" sz="2800">
                <a:cs typeface="Arial" panose="020B0604020202020204" pitchFamily="34" charset="0"/>
              </a:rPr>
              <a:t>)100% </a:t>
            </a:r>
            <a:r>
              <a:rPr lang="en-US" altLang="en-US" sz="2800"/>
              <a:t>confidence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  <p:bldP spid="3789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2687691-2D83-AFFD-2C58-6BCA2D10DF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D8C08F0A-CDE5-4952-8E98-9B5FFA02DFAF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3076" name="Slide Number Placeholder 5">
            <a:extLst>
              <a:ext uri="{FF2B5EF4-FFF2-40B4-BE49-F238E27FC236}">
                <a16:creationId xmlns:a16="http://schemas.microsoft.com/office/drawing/2014/main" id="{DCD80DE9-7176-6589-5A84-06E1A15C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AC57800-EA79-4C89-B72D-3A2EC35B756C}" type="slidenum">
              <a:rPr lang="en-US" altLang="en-US" sz="1400"/>
              <a:pPr eaLnBrk="1" hangingPunct="1"/>
              <a:t>33</a:t>
            </a:fld>
            <a:endParaRPr lang="en-US" altLang="en-US" sz="1400"/>
          </a:p>
        </p:txBody>
      </p:sp>
      <p:sp>
        <p:nvSpPr>
          <p:cNvPr id="3077" name="Rectangle 2">
            <a:extLst>
              <a:ext uri="{FF2B5EF4-FFF2-40B4-BE49-F238E27FC236}">
                <a16:creationId xmlns:a16="http://schemas.microsoft.com/office/drawing/2014/main" id="{CC38063F-37F3-395C-1E20-5A3A65ABFA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84350" y="1295401"/>
            <a:ext cx="8637588" cy="5324475"/>
          </a:xfrm>
        </p:spPr>
        <p:txBody>
          <a:bodyPr/>
          <a:lstStyle/>
          <a:p>
            <a:pPr marL="533400" indent="-533400">
              <a:buNone/>
            </a:pPr>
            <a:r>
              <a:rPr lang="en-US" altLang="en-US"/>
              <a:t>Estimated standard error of the regression 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pPr marL="533400" indent="-533400">
              <a:buNone/>
            </a:pPr>
            <a:r>
              <a:rPr lang="en-US" altLang="en-US"/>
              <a:t>(1</a:t>
            </a:r>
            <a:r>
              <a:rPr lang="en-US" altLang="en-US">
                <a:cs typeface="Arial" panose="020B0604020202020204" pitchFamily="34" charset="0"/>
              </a:rPr>
              <a:t>−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</a:rPr>
              <a:t>)100% CI </a:t>
            </a:r>
            <a:r>
              <a:rPr lang="en-US" altLang="en-US"/>
              <a:t>for </a:t>
            </a:r>
            <a:r>
              <a:rPr lang="el-GR" altLang="en-US">
                <a:cs typeface="Arial" panose="020B0604020202020204" pitchFamily="34" charset="0"/>
              </a:rPr>
              <a:t>β</a:t>
            </a:r>
            <a:r>
              <a:rPr lang="en-US" altLang="en-US">
                <a:cs typeface="Arial" panose="020B0604020202020204" pitchFamily="34" charset="0"/>
              </a:rPr>
              <a:t> </a:t>
            </a:r>
            <a:br>
              <a:rPr lang="en-US" altLang="en-US">
                <a:cs typeface="Arial" panose="020B0604020202020204" pitchFamily="34" charset="0"/>
              </a:rPr>
            </a:br>
            <a:br>
              <a:rPr lang="en-US" altLang="en-US">
                <a:cs typeface="Arial" panose="020B0604020202020204" pitchFamily="34" charset="0"/>
              </a:rPr>
            </a:br>
            <a:endParaRPr lang="el-GR" altLang="en-US">
              <a:cs typeface="Arial" panose="020B0604020202020204" pitchFamily="34" charset="0"/>
            </a:endParaRPr>
          </a:p>
          <a:p>
            <a:pPr marL="533400" indent="-533400"/>
            <a:endParaRPr lang="en-US" altLang="en-US"/>
          </a:p>
        </p:txBody>
      </p:sp>
      <p:sp>
        <p:nvSpPr>
          <p:cNvPr id="3078" name="Rectangle 3">
            <a:extLst>
              <a:ext uri="{FF2B5EF4-FFF2-40B4-BE49-F238E27FC236}">
                <a16:creationId xmlns:a16="http://schemas.microsoft.com/office/drawing/2014/main" id="{600EC193-480F-22DB-9807-C2BA6D8954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92114"/>
            <a:ext cx="8229600" cy="5937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6000"/>
              <a:t>CI for </a:t>
            </a:r>
            <a:r>
              <a:rPr lang="el-GR" altLang="en-US" sz="6000">
                <a:cs typeface="Arial" panose="020B0604020202020204" pitchFamily="34" charset="0"/>
              </a:rPr>
              <a:t>β</a:t>
            </a:r>
            <a:r>
              <a:rPr lang="en-US" altLang="en-US" sz="6000">
                <a:cs typeface="Arial" panose="020B0604020202020204" pitchFamily="34" charset="0"/>
              </a:rPr>
              <a:t>,</a:t>
            </a:r>
            <a:r>
              <a:rPr lang="en-US" altLang="en-US" sz="6000"/>
              <a:t> by hand</a:t>
            </a:r>
          </a:p>
        </p:txBody>
      </p:sp>
      <p:graphicFrame>
        <p:nvGraphicFramePr>
          <p:cNvPr id="3074" name="Object 4">
            <a:extLst>
              <a:ext uri="{FF2B5EF4-FFF2-40B4-BE49-F238E27FC236}">
                <a16:creationId xmlns:a16="http://schemas.microsoft.com/office/drawing/2014/main" id="{32B07AB9-9DED-FCB6-264B-F22AB3FBCB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7350" y="4219576"/>
          <a:ext cx="3752850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200" imgH="583920" progId="Equation.3">
                  <p:embed/>
                </p:oleObj>
              </mc:Choice>
              <mc:Fallback>
                <p:oleObj name="Equation" r:id="rId2" imgW="1168200" imgH="583920" progId="Equation.3">
                  <p:embed/>
                  <p:pic>
                    <p:nvPicPr>
                      <p:cNvPr id="3074" name="Object 4">
                        <a:extLst>
                          <a:ext uri="{FF2B5EF4-FFF2-40B4-BE49-F238E27FC236}">
                            <a16:creationId xmlns:a16="http://schemas.microsoft.com/office/drawing/2014/main" id="{32B07AB9-9DED-FCB6-264B-F22AB3FBCB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4219576"/>
                        <a:ext cx="3752850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9" name="Picture 6">
            <a:extLst>
              <a:ext uri="{FF2B5EF4-FFF2-40B4-BE49-F238E27FC236}">
                <a16:creationId xmlns:a16="http://schemas.microsoft.com/office/drawing/2014/main" id="{075BC860-7180-DCFD-3E95-1DBCC7322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62"/>
          <a:stretch>
            <a:fillRect/>
          </a:stretch>
        </p:blipFill>
        <p:spPr bwMode="auto">
          <a:xfrm>
            <a:off x="3995739" y="2028825"/>
            <a:ext cx="3506787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71F5DA0-0219-D396-D851-B4E1B038F6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F060882F-DCB9-4E5E-A6C8-A2438082FD4D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38914" name="Slide Number Placeholder 6">
            <a:extLst>
              <a:ext uri="{FF2B5EF4-FFF2-40B4-BE49-F238E27FC236}">
                <a16:creationId xmlns:a16="http://schemas.microsoft.com/office/drawing/2014/main" id="{32F79ABA-FD5F-351F-9285-29278AD3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1B81FFC-6E78-45EF-BD97-8EE19E860EFB}" type="slidenum">
              <a:rPr lang="en-US" altLang="en-US" sz="1400"/>
              <a:pPr eaLnBrk="1" hangingPunct="1"/>
              <a:t>34</a:t>
            </a:fld>
            <a:endParaRPr lang="en-US" altLang="en-US" sz="14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D10C432C-E55D-2BC2-9735-F8C65F683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6000"/>
              <a:t>CI for </a:t>
            </a:r>
            <a:r>
              <a:rPr lang="el-GR" altLang="en-US" sz="6000">
                <a:cs typeface="Arial" panose="020B0604020202020204" pitchFamily="34" charset="0"/>
              </a:rPr>
              <a:t>β</a:t>
            </a:r>
            <a:r>
              <a:rPr lang="en-US" altLang="en-US" sz="6000">
                <a:cs typeface="Arial" panose="020B0604020202020204" pitchFamily="34" charset="0"/>
              </a:rPr>
              <a:t>, by hand</a:t>
            </a:r>
            <a:endParaRPr lang="en-US" altLang="en-US" sz="6000"/>
          </a:p>
        </p:txBody>
      </p:sp>
      <p:pic>
        <p:nvPicPr>
          <p:cNvPr id="38916" name="Picture 6">
            <a:extLst>
              <a:ext uri="{FF2B5EF4-FFF2-40B4-BE49-F238E27FC236}">
                <a16:creationId xmlns:a16="http://schemas.microsoft.com/office/drawing/2014/main" id="{17B98D77-3DED-C1EE-F4E8-4D07BFFE23E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82764" y="1887539"/>
            <a:ext cx="8593137" cy="3990975"/>
          </a:xfrm>
          <a:noFill/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CEC234-703A-3E2D-6525-02DBBFE88E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52EC5C2E-0DCC-426B-937E-DF1DA380A3B5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39938" name="Slide Number Placeholder 6">
            <a:extLst>
              <a:ext uri="{FF2B5EF4-FFF2-40B4-BE49-F238E27FC236}">
                <a16:creationId xmlns:a16="http://schemas.microsoft.com/office/drawing/2014/main" id="{0BA205BA-9608-09BA-78F8-3AAC5B80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23D1A3-86B0-41A3-B2F7-ADD651349E1C}" type="slidenum">
              <a:rPr lang="en-US" altLang="en-US" sz="1400"/>
              <a:pPr eaLnBrk="1" hangingPunct="1"/>
              <a:t>35</a:t>
            </a:fld>
            <a:endParaRPr lang="en-US" altLang="en-US" sz="14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0B54AF95-51CC-290F-2D7A-9BF231AE0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62000" indent="-762000"/>
            <a:r>
              <a:rPr lang="en-US" altLang="en-US" sz="4800"/>
              <a:t>CI for </a:t>
            </a:r>
            <a:r>
              <a:rPr lang="el-GR" altLang="en-US" sz="4800">
                <a:cs typeface="Arial" panose="020B0604020202020204" pitchFamily="34" charset="0"/>
              </a:rPr>
              <a:t>β</a:t>
            </a:r>
            <a:br>
              <a:rPr lang="en-US" altLang="en-US" sz="4800">
                <a:cs typeface="Arial" panose="020B0604020202020204" pitchFamily="34" charset="0"/>
              </a:rPr>
            </a:br>
            <a:r>
              <a:rPr lang="en-US" altLang="en-US" sz="2800">
                <a:solidFill>
                  <a:schemeClr val="tx1"/>
                </a:solidFill>
              </a:rPr>
              <a:t>Analyze &gt; Regression &gt; Linear &gt; Statistics</a:t>
            </a:r>
          </a:p>
        </p:txBody>
      </p:sp>
      <p:sp>
        <p:nvSpPr>
          <p:cNvPr id="39940" name="Oval 5">
            <a:extLst>
              <a:ext uri="{FF2B5EF4-FFF2-40B4-BE49-F238E27FC236}">
                <a16:creationId xmlns:a16="http://schemas.microsoft.com/office/drawing/2014/main" id="{E0D7B032-6006-35E2-9180-7A75AAE2D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439" y="6142038"/>
            <a:ext cx="4994275" cy="493712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9942" name="Picture 12">
            <a:extLst>
              <a:ext uri="{FF2B5EF4-FFF2-40B4-BE49-F238E27FC236}">
                <a16:creationId xmlns:a16="http://schemas.microsoft.com/office/drawing/2014/main" id="{126CB6AB-8C04-694F-54A8-70A45263F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4" y="1806576"/>
            <a:ext cx="1690687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Text Box 13">
            <a:extLst>
              <a:ext uri="{FF2B5EF4-FFF2-40B4-BE49-F238E27FC236}">
                <a16:creationId xmlns:a16="http://schemas.microsoft.com/office/drawing/2014/main" id="{6FCCFA7B-6792-04F1-5A19-33311F00F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1992314"/>
            <a:ext cx="387638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/>
              <a:t>SPSS statistics options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Dialogue box</a:t>
            </a:r>
          </a:p>
        </p:txBody>
      </p:sp>
      <p:pic>
        <p:nvPicPr>
          <p:cNvPr id="39946" name="Picture 4">
            <a:extLst>
              <a:ext uri="{FF2B5EF4-FFF2-40B4-BE49-F238E27FC236}">
                <a16:creationId xmlns:a16="http://schemas.microsoft.com/office/drawing/2014/main" id="{4FE4373F-2EA8-7C1C-5F71-D9ECC7127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363" y="3665539"/>
            <a:ext cx="6005512" cy="1684337"/>
          </a:xfrm>
          <a:prstGeom prst="rect">
            <a:avLst/>
          </a:prstGeom>
          <a:solidFill>
            <a:srgbClr val="FF99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7" name="Text Box 14">
            <a:extLst>
              <a:ext uri="{FF2B5EF4-FFF2-40B4-BE49-F238E27FC236}">
                <a16:creationId xmlns:a16="http://schemas.microsoft.com/office/drawing/2014/main" id="{90093B5E-BB2D-9B08-7BD7-625E2AA90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5" y="4130675"/>
            <a:ext cx="2188420" cy="523220"/>
          </a:xfrm>
          <a:prstGeom prst="rect">
            <a:avLst/>
          </a:prstGeom>
          <a:solidFill>
            <a:srgbClr val="FFCC00">
              <a:alpha val="50195"/>
            </a:srgbClr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/>
              <a:t>95% CI for </a:t>
            </a:r>
            <a:r>
              <a:rPr lang="el-GR" altLang="en-US" sz="2800">
                <a:cs typeface="Arial" panose="020B0604020202020204" pitchFamily="34" charset="0"/>
              </a:rPr>
              <a:t>β</a:t>
            </a:r>
          </a:p>
        </p:txBody>
      </p:sp>
      <p:sp>
        <p:nvSpPr>
          <p:cNvPr id="39948" name="Rectangle 15">
            <a:extLst>
              <a:ext uri="{FF2B5EF4-FFF2-40B4-BE49-F238E27FC236}">
                <a16:creationId xmlns:a16="http://schemas.microsoft.com/office/drawing/2014/main" id="{A4FD4B8A-3406-064C-DF8C-5EDB8C0FC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476" y="4826001"/>
            <a:ext cx="4678363" cy="352425"/>
          </a:xfrm>
          <a:prstGeom prst="rect">
            <a:avLst/>
          </a:prstGeom>
          <a:solidFill>
            <a:srgbClr val="FF9900">
              <a:alpha val="50195"/>
            </a:srgbClr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39949" name="AutoShape 17">
            <a:extLst>
              <a:ext uri="{FF2B5EF4-FFF2-40B4-BE49-F238E27FC236}">
                <a16:creationId xmlns:a16="http://schemas.microsoft.com/office/drawing/2014/main" id="{5E72CF6D-BA36-CA31-6D33-D1BFD426B201}"/>
              </a:ext>
            </a:extLst>
          </p:cNvPr>
          <p:cNvCxnSpPr>
            <a:cxnSpLocks noChangeShapeType="1"/>
            <a:stCxn id="39947" idx="2"/>
            <a:endCxn id="39948" idx="1"/>
          </p:cNvCxnSpPr>
          <p:nvPr/>
        </p:nvCxnSpPr>
        <p:spPr bwMode="auto">
          <a:xfrm rot="16200000" flipH="1">
            <a:off x="3900371" y="3705109"/>
            <a:ext cx="348318" cy="2245890"/>
          </a:xfrm>
          <a:prstGeom prst="bentConnector2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5" name="Text Box 18">
            <a:extLst>
              <a:ext uri="{FF2B5EF4-FFF2-40B4-BE49-F238E27FC236}">
                <a16:creationId xmlns:a16="http://schemas.microsoft.com/office/drawing/2014/main" id="{916AE994-267E-9699-3094-C7B162816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9913" y="5375275"/>
            <a:ext cx="84820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800"/>
              <a:t>95% CI for </a:t>
            </a:r>
            <a:r>
              <a:rPr lang="el-GR" altLang="en-US" sz="2800">
                <a:cs typeface="Arial" panose="020B0604020202020204" pitchFamily="34" charset="0"/>
              </a:rPr>
              <a:t>β</a:t>
            </a:r>
            <a:r>
              <a:rPr lang="en-US" altLang="en-US" sz="2800">
                <a:cs typeface="Arial" panose="020B0604020202020204" pitchFamily="34" charset="0"/>
              </a:rPr>
              <a:t> (.007 to.039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l-GR" altLang="en-US" sz="280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/>
      <p:bldP spid="39947" grpId="0" animBg="1"/>
      <p:bldP spid="39948" grpId="0" animBg="1"/>
      <p:bldP spid="3994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451FE4B-6970-7B7C-C110-0660B44AB8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10352C80-5B50-41E1-AE45-05F746BF6F59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4100" name="Slide Number Placeholder 4">
            <a:extLst>
              <a:ext uri="{FF2B5EF4-FFF2-40B4-BE49-F238E27FC236}">
                <a16:creationId xmlns:a16="http://schemas.microsoft.com/office/drawing/2014/main" id="{1FC73216-1833-8790-19D0-60DF735E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B55E717-37BF-48CA-B301-472931249E07}" type="slidenum">
              <a:rPr lang="en-US" altLang="en-US" sz="1400"/>
              <a:pPr eaLnBrk="1" hangingPunct="1"/>
              <a:t>36</a:t>
            </a:fld>
            <a:endParaRPr lang="en-US" altLang="en-US" sz="1400"/>
          </a:p>
        </p:txBody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id="{7753518E-6A53-B850-4260-1CC4F75BB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en-US" sz="4800" i="1"/>
              <a:t>t</a:t>
            </a:r>
            <a:r>
              <a:rPr lang="en-US" altLang="en-US" sz="4800"/>
              <a:t> Test of Slope, by hand</a:t>
            </a:r>
          </a:p>
        </p:txBody>
      </p:sp>
      <p:sp>
        <p:nvSpPr>
          <p:cNvPr id="4102" name="Rectangle 3">
            <a:extLst>
              <a:ext uri="{FF2B5EF4-FFF2-40B4-BE49-F238E27FC236}">
                <a16:creationId xmlns:a16="http://schemas.microsoft.com/office/drawing/2014/main" id="{16BC6C4B-75FA-4471-EFBC-CB0269138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064" y="1658939"/>
            <a:ext cx="7913687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lphaUcPeriod"/>
            </a:pPr>
            <a:r>
              <a:rPr lang="en-US" altLang="en-US" sz="2800" b="1"/>
              <a:t>Hypotheses. </a:t>
            </a:r>
            <a:r>
              <a:rPr lang="en-US" altLang="en-US" sz="2800" i="1"/>
              <a:t>H</a:t>
            </a:r>
            <a:r>
              <a:rPr lang="en-US" altLang="en-US" sz="2800" baseline="-25000"/>
              <a:t>0</a:t>
            </a:r>
            <a:r>
              <a:rPr lang="en-US" altLang="en-US" sz="2800"/>
              <a:t>: </a:t>
            </a:r>
            <a:r>
              <a:rPr lang="el-GR" altLang="en-US" sz="2800">
                <a:cs typeface="Arial" panose="020B0604020202020204" pitchFamily="34" charset="0"/>
              </a:rPr>
              <a:t>β</a:t>
            </a:r>
            <a:r>
              <a:rPr lang="en-US" altLang="en-US" sz="2800">
                <a:cs typeface="Arial" panose="020B0604020202020204" pitchFamily="34" charset="0"/>
              </a:rPr>
              <a:t> = 0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B.	Test statistic</a:t>
            </a:r>
            <a:r>
              <a:rPr lang="en-US" altLang="en-US" sz="2800"/>
              <a:t>. </a:t>
            </a:r>
          </a:p>
          <a:p>
            <a:pPr eaLnBrk="1" hangingPunct="1">
              <a:buFontTx/>
              <a:buNone/>
            </a:pPr>
            <a:br>
              <a:rPr lang="en-US" altLang="en-US" sz="2800"/>
            </a:br>
            <a:br>
              <a:rPr lang="en-US" altLang="en-US" sz="2800"/>
            </a:br>
            <a:br>
              <a:rPr lang="en-US" altLang="en-US" sz="2800"/>
            </a:br>
            <a:br>
              <a:rPr lang="en-US" altLang="en-US" sz="2800"/>
            </a:br>
            <a:endParaRPr lang="en-US" altLang="en-US" sz="2800"/>
          </a:p>
          <a:p>
            <a:pPr eaLnBrk="1" hangingPunct="1">
              <a:buFontTx/>
              <a:buNone/>
            </a:pPr>
            <a:br>
              <a:rPr lang="en-US" altLang="en-US" sz="2800"/>
            </a:br>
            <a:endParaRPr lang="en-US" altLang="en-US" sz="2800"/>
          </a:p>
          <a:p>
            <a:pPr eaLnBrk="1" hangingPunct="1">
              <a:buFontTx/>
              <a:buNone/>
            </a:pPr>
            <a:r>
              <a:rPr lang="en-US" altLang="en-US" sz="2800" b="1"/>
              <a:t>C. </a:t>
            </a:r>
            <a:r>
              <a:rPr lang="en-US" altLang="en-US" sz="2800" b="1" i="1"/>
              <a:t>P</a:t>
            </a:r>
            <a:r>
              <a:rPr lang="en-US" altLang="en-US" sz="2800" b="1"/>
              <a:t>-value.</a:t>
            </a:r>
            <a:r>
              <a:rPr lang="en-US" altLang="en-US" sz="2800"/>
              <a:t> Interpret in usual manner</a:t>
            </a:r>
            <a:endParaRPr lang="en-US" altLang="en-US" sz="2800" b="1"/>
          </a:p>
        </p:txBody>
      </p:sp>
      <p:graphicFrame>
        <p:nvGraphicFramePr>
          <p:cNvPr id="4098" name="Object 6">
            <a:extLst>
              <a:ext uri="{FF2B5EF4-FFF2-40B4-BE49-F238E27FC236}">
                <a16:creationId xmlns:a16="http://schemas.microsoft.com/office/drawing/2014/main" id="{85A9CFB8-9AD0-1CE4-87F1-70C721D38B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7013" y="3027363"/>
          <a:ext cx="6248400" cy="196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596880" progId="Equation.3">
                  <p:embed/>
                </p:oleObj>
              </mc:Choice>
              <mc:Fallback>
                <p:oleObj name="Equation" r:id="rId2" imgW="1892160" imgH="596880" progId="Equation.3">
                  <p:embed/>
                  <p:pic>
                    <p:nvPicPr>
                      <p:cNvPr id="4098" name="Object 6">
                        <a:extLst>
                          <a:ext uri="{FF2B5EF4-FFF2-40B4-BE49-F238E27FC236}">
                            <a16:creationId xmlns:a16="http://schemas.microsoft.com/office/drawing/2014/main" id="{85A9CFB8-9AD0-1CE4-87F1-70C721D38B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3027363"/>
                        <a:ext cx="6248400" cy="196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4D96A8DC-EE2D-C2E1-72D6-D15D3C5CD0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B35FF8BD-0653-4B27-ACE6-78D45D676369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5125" name="Slide Number Placeholder 5">
            <a:extLst>
              <a:ext uri="{FF2B5EF4-FFF2-40B4-BE49-F238E27FC236}">
                <a16:creationId xmlns:a16="http://schemas.microsoft.com/office/drawing/2014/main" id="{1E1D7ACC-2303-37B5-1C64-D87ED443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4CF7C73-3515-4C51-B89A-0FFC96895A7C}" type="slidenum">
              <a:rPr lang="en-US" altLang="en-US" sz="1400"/>
              <a:pPr eaLnBrk="1" hangingPunct="1"/>
              <a:t>37</a:t>
            </a:fld>
            <a:endParaRPr lang="en-US" altLang="en-US" sz="1400"/>
          </a:p>
        </p:txBody>
      </p:sp>
      <p:sp>
        <p:nvSpPr>
          <p:cNvPr id="5126" name="Rectangle 2">
            <a:extLst>
              <a:ext uri="{FF2B5EF4-FFF2-40B4-BE49-F238E27FC236}">
                <a16:creationId xmlns:a16="http://schemas.microsoft.com/office/drawing/2014/main" id="{759C809C-A440-2BA0-D0D4-9BF3E088F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en-US">
                <a:solidFill>
                  <a:schemeClr val="tx1"/>
                </a:solidFill>
              </a:rPr>
              <a:t>Testing </a:t>
            </a:r>
            <a:r>
              <a:rPr lang="en-US" altLang="en-US" i="1">
                <a:solidFill>
                  <a:schemeClr val="tx1"/>
                </a:solidFill>
              </a:rPr>
              <a:t>H</a:t>
            </a:r>
            <a:r>
              <a:rPr lang="en-US" altLang="en-US" baseline="-25000">
                <a:solidFill>
                  <a:schemeClr val="tx1"/>
                </a:solidFill>
              </a:rPr>
              <a:t>0</a:t>
            </a:r>
            <a:r>
              <a:rPr lang="en-US" altLang="en-US">
                <a:solidFill>
                  <a:schemeClr val="tx1"/>
                </a:solidFill>
              </a:rPr>
              <a:t>: </a:t>
            </a:r>
            <a:r>
              <a:rPr lang="el-GR" altLang="en-US">
                <a:solidFill>
                  <a:schemeClr val="tx1"/>
                </a:solidFill>
              </a:rPr>
              <a:t>β</a:t>
            </a:r>
            <a:r>
              <a:rPr lang="en-US" altLang="en-US">
                <a:solidFill>
                  <a:schemeClr val="tx1"/>
                </a:solidFill>
              </a:rPr>
              <a:t> = 0</a:t>
            </a:r>
          </a:p>
        </p:txBody>
      </p:sp>
      <p:pic>
        <p:nvPicPr>
          <p:cNvPr id="5128" name="Picture 6">
            <a:extLst>
              <a:ext uri="{FF2B5EF4-FFF2-40B4-BE49-F238E27FC236}">
                <a16:creationId xmlns:a16="http://schemas.microsoft.com/office/drawing/2014/main" id="{001DA5B3-C5B0-626A-708E-5B237E841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6" y="3124201"/>
            <a:ext cx="8367713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6">
            <a:extLst>
              <a:ext uri="{FF2B5EF4-FFF2-40B4-BE49-F238E27FC236}">
                <a16:creationId xmlns:a16="http://schemas.microsoft.com/office/drawing/2014/main" id="{956A7BC2-6281-6CA4-75D8-E82F8943E0B5}"/>
              </a:ext>
            </a:extLst>
          </p:cNvPr>
          <p:cNvGrpSpPr>
            <a:grpSpLocks/>
          </p:cNvGrpSpPr>
          <p:nvPr/>
        </p:nvGrpSpPr>
        <p:grpSpPr bwMode="auto">
          <a:xfrm>
            <a:off x="6596063" y="1662113"/>
            <a:ext cx="2252662" cy="3035300"/>
            <a:chOff x="3237" y="2214"/>
            <a:chExt cx="1419" cy="1912"/>
          </a:xfrm>
        </p:grpSpPr>
        <p:sp>
          <p:nvSpPr>
            <p:cNvPr id="5134" name="Oval 11">
              <a:extLst>
                <a:ext uri="{FF2B5EF4-FFF2-40B4-BE49-F238E27FC236}">
                  <a16:creationId xmlns:a16="http://schemas.microsoft.com/office/drawing/2014/main" id="{DC2665EE-ACD6-BC8B-6C2F-3DF256979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7" y="2214"/>
              <a:ext cx="517" cy="221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31750" cap="rnd" algn="ctr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/>
                <a:t>t</a:t>
              </a:r>
              <a:r>
                <a:rPr lang="en-US" altLang="en-US" baseline="-25000"/>
                <a:t>stat</a:t>
              </a:r>
            </a:p>
          </p:txBody>
        </p:sp>
        <p:sp>
          <p:nvSpPr>
            <p:cNvPr id="5135" name="Oval 12">
              <a:extLst>
                <a:ext uri="{FF2B5EF4-FFF2-40B4-BE49-F238E27FC236}">
                  <a16:creationId xmlns:a16="http://schemas.microsoft.com/office/drawing/2014/main" id="{71C32F4C-5EA2-F421-89CF-71680261A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9" y="3905"/>
              <a:ext cx="517" cy="221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31750" cap="rnd" algn="ctr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5136" name="AutoShape 13">
              <a:extLst>
                <a:ext uri="{FF2B5EF4-FFF2-40B4-BE49-F238E27FC236}">
                  <a16:creationId xmlns:a16="http://schemas.microsoft.com/office/drawing/2014/main" id="{C2CAF0FA-7C0F-AD8A-6622-B0BEA7D3B52C}"/>
                </a:ext>
              </a:extLst>
            </p:cNvPr>
            <p:cNvCxnSpPr>
              <a:cxnSpLocks noChangeShapeType="1"/>
              <a:stCxn id="5134" idx="4"/>
              <a:endCxn id="5135" idx="0"/>
            </p:cNvCxnSpPr>
            <p:nvPr/>
          </p:nvCxnSpPr>
          <p:spPr bwMode="auto">
            <a:xfrm rot="16200000" flipH="1">
              <a:off x="3222" y="2719"/>
              <a:ext cx="1450" cy="902"/>
            </a:xfrm>
            <a:prstGeom prst="curvedConnector3">
              <a:avLst>
                <a:gd name="adj1" fmla="val 49931"/>
              </a:avLst>
            </a:prstGeom>
            <a:noFill/>
            <a:ln w="31750" cap="rnd">
              <a:solidFill>
                <a:schemeClr val="tx1"/>
              </a:solidFill>
              <a:prstDash val="sysDot"/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17">
            <a:extLst>
              <a:ext uri="{FF2B5EF4-FFF2-40B4-BE49-F238E27FC236}">
                <a16:creationId xmlns:a16="http://schemas.microsoft.com/office/drawing/2014/main" id="{D8FD46C0-6B35-6907-E94A-10D29D6A5AA7}"/>
              </a:ext>
            </a:extLst>
          </p:cNvPr>
          <p:cNvGrpSpPr>
            <a:grpSpLocks/>
          </p:cNvGrpSpPr>
          <p:nvPr/>
        </p:nvGrpSpPr>
        <p:grpSpPr bwMode="auto">
          <a:xfrm>
            <a:off x="3405188" y="2205038"/>
            <a:ext cx="6761162" cy="2519362"/>
            <a:chOff x="1174" y="2547"/>
            <a:chExt cx="4259" cy="1587"/>
          </a:xfrm>
        </p:grpSpPr>
        <p:sp>
          <p:nvSpPr>
            <p:cNvPr id="5131" name="Oval 8">
              <a:extLst>
                <a:ext uri="{FF2B5EF4-FFF2-40B4-BE49-F238E27FC236}">
                  <a16:creationId xmlns:a16="http://schemas.microsoft.com/office/drawing/2014/main" id="{A257EB91-DF06-8153-56D3-25B6744F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6" y="3913"/>
              <a:ext cx="517" cy="221"/>
            </a:xfrm>
            <a:prstGeom prst="ellipse">
              <a:avLst/>
            </a:prstGeom>
            <a:solidFill>
              <a:srgbClr val="FFFF00">
                <a:alpha val="20000"/>
              </a:srgbClr>
            </a:solidFill>
            <a:ln w="317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132" name="Oval 9">
              <a:extLst>
                <a:ext uri="{FF2B5EF4-FFF2-40B4-BE49-F238E27FC236}">
                  <a16:creationId xmlns:a16="http://schemas.microsoft.com/office/drawing/2014/main" id="{5D78C96D-2DB0-9787-6075-59B070984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" y="2547"/>
              <a:ext cx="967" cy="385"/>
            </a:xfrm>
            <a:prstGeom prst="ellipse">
              <a:avLst/>
            </a:prstGeom>
            <a:solidFill>
              <a:srgbClr val="FFFF00">
                <a:alpha val="20000"/>
              </a:srgbClr>
            </a:solidFill>
            <a:ln w="317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i="1"/>
                <a:t>P</a:t>
              </a:r>
              <a:r>
                <a:rPr lang="en-US" altLang="en-US"/>
                <a:t> value</a:t>
              </a:r>
            </a:p>
          </p:txBody>
        </p:sp>
        <p:cxnSp>
          <p:nvCxnSpPr>
            <p:cNvPr id="5133" name="AutoShape 14">
              <a:extLst>
                <a:ext uri="{FF2B5EF4-FFF2-40B4-BE49-F238E27FC236}">
                  <a16:creationId xmlns:a16="http://schemas.microsoft.com/office/drawing/2014/main" id="{E17A84BC-1C48-C264-6D2F-62EB0A5AC030}"/>
                </a:ext>
              </a:extLst>
            </p:cNvPr>
            <p:cNvCxnSpPr>
              <a:cxnSpLocks noChangeShapeType="1"/>
              <a:stCxn id="5132" idx="4"/>
              <a:endCxn id="5131" idx="6"/>
            </p:cNvCxnSpPr>
            <p:nvPr/>
          </p:nvCxnSpPr>
          <p:spPr bwMode="auto">
            <a:xfrm rot="16200000" flipH="1">
              <a:off x="3005" y="1595"/>
              <a:ext cx="1082" cy="3775"/>
            </a:xfrm>
            <a:prstGeom prst="curvedConnector4">
              <a:avLst>
                <a:gd name="adj1" fmla="val 44361"/>
                <a:gd name="adj2" fmla="val 103523"/>
              </a:avLst>
            </a:prstGeom>
            <a:noFill/>
            <a:ln w="317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137" name="Text Box 17">
            <a:extLst>
              <a:ext uri="{FF2B5EF4-FFF2-40B4-BE49-F238E27FC236}">
                <a16:creationId xmlns:a16="http://schemas.microsoft.com/office/drawing/2014/main" id="{1575B034-C7DF-9F3E-91AA-FF676EF29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4878389"/>
            <a:ext cx="3263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i="1"/>
              <a:t>df</a:t>
            </a:r>
            <a:r>
              <a:rPr lang="en-US" altLang="en-US"/>
              <a:t>  = </a:t>
            </a:r>
            <a:r>
              <a:rPr lang="en-US" altLang="en-US" i="1"/>
              <a:t>n</a:t>
            </a:r>
            <a:r>
              <a:rPr lang="en-US" altLang="en-US"/>
              <a:t> – 2 = 11 – 2 = 9</a:t>
            </a:r>
          </a:p>
        </p:txBody>
      </p:sp>
      <p:sp>
        <p:nvSpPr>
          <p:cNvPr id="5138" name="Text Box 18">
            <a:extLst>
              <a:ext uri="{FF2B5EF4-FFF2-40B4-BE49-F238E27FC236}">
                <a16:creationId xmlns:a16="http://schemas.microsoft.com/office/drawing/2014/main" id="{5C40278E-9CF2-4D02-3E8D-EC14850BF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9908" y="5314951"/>
            <a:ext cx="691407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</a:t>
            </a:r>
            <a:r>
              <a:rPr lang="en-US" altLang="en-US" sz="2800" i="1">
                <a:sym typeface="Symbol" panose="05050102010706020507" pitchFamily="18" charset="2"/>
              </a:rPr>
              <a:t>P</a:t>
            </a:r>
            <a:r>
              <a:rPr lang="en-US" altLang="en-US" sz="2800">
                <a:sym typeface="Symbol" panose="05050102010706020507" pitchFamily="18" charset="2"/>
              </a:rPr>
              <a:t> = .010  evidence against </a:t>
            </a:r>
            <a:r>
              <a:rPr lang="en-US" altLang="en-US" sz="2800" i="1"/>
              <a:t>H</a:t>
            </a:r>
            <a:r>
              <a:rPr lang="en-US" altLang="en-US" sz="2800" baseline="-25000"/>
              <a:t>0 </a:t>
            </a:r>
            <a:r>
              <a:rPr lang="en-US" altLang="en-US" sz="2800"/>
              <a:t>is good </a:t>
            </a:r>
          </a:p>
          <a:p>
            <a:pPr algn="ctr" eaLnBrk="1" hangingPunct="1"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 the </a:t>
            </a:r>
            <a:r>
              <a:rPr lang="en-US" altLang="en-US" sz="2800"/>
              <a:t>slope is statistically significant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C66D9C7-5E31-939F-5911-93B1076355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A54A5A89-73B9-409E-9F43-E6E62AC8A292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40962" name="Slide Number Placeholder 5">
            <a:extLst>
              <a:ext uri="{FF2B5EF4-FFF2-40B4-BE49-F238E27FC236}">
                <a16:creationId xmlns:a16="http://schemas.microsoft.com/office/drawing/2014/main" id="{2D14BBA4-E212-57CC-4FC9-B89214E0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59A23AF-802D-4FA7-9B10-93A245EAEAE6}" type="slidenum">
              <a:rPr lang="en-US" altLang="en-US" sz="1400"/>
              <a:pPr eaLnBrk="1" hangingPunct="1"/>
              <a:t>38</a:t>
            </a:fld>
            <a:endParaRPr lang="en-US" altLang="en-US" sz="1400"/>
          </a:p>
        </p:txBody>
      </p:sp>
      <p:sp>
        <p:nvSpPr>
          <p:cNvPr id="40963" name="Rectangle 4">
            <a:extLst>
              <a:ext uri="{FF2B5EF4-FFF2-40B4-BE49-F238E27FC236}">
                <a16:creationId xmlns:a16="http://schemas.microsoft.com/office/drawing/2014/main" id="{BAF7B8D9-1453-04D8-6013-BF3FF4345AA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22513" y="668339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en-US"/>
              <a:t>Analysis of Variance of the Regression Model</a:t>
            </a:r>
          </a:p>
        </p:txBody>
      </p:sp>
      <p:sp>
        <p:nvSpPr>
          <p:cNvPr id="40964" name="Rectangle 5">
            <a:extLst>
              <a:ext uri="{FF2B5EF4-FFF2-40B4-BE49-F238E27FC236}">
                <a16:creationId xmlns:a16="http://schemas.microsoft.com/office/drawing/2014/main" id="{7FF3EA63-AAC5-42B5-DC20-F3E629E5E7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39963" y="2792414"/>
            <a:ext cx="7835900" cy="2960687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en-US" altLang="en-US"/>
              <a:t>An ANOVA technique equivalent to the </a:t>
            </a:r>
            <a:r>
              <a:rPr lang="en-US" altLang="en-US" i="1"/>
              <a:t>t </a:t>
            </a:r>
            <a:r>
              <a:rPr lang="en-US" altLang="en-US"/>
              <a:t>test can also be used to test </a:t>
            </a:r>
            <a:r>
              <a:rPr lang="en-US" altLang="en-US" i="1"/>
              <a:t>H</a:t>
            </a:r>
            <a:r>
              <a:rPr lang="en-US" altLang="en-US" baseline="-25000"/>
              <a:t>0</a:t>
            </a:r>
            <a:r>
              <a:rPr lang="en-US" altLang="en-US"/>
              <a:t>: </a:t>
            </a:r>
            <a:r>
              <a:rPr lang="el-GR" altLang="en-US">
                <a:cs typeface="Arial" panose="020B0604020202020204" pitchFamily="34" charset="0"/>
              </a:rPr>
              <a:t>β</a:t>
            </a:r>
            <a:r>
              <a:rPr lang="en-US" altLang="en-US">
                <a:cs typeface="Arial" panose="020B0604020202020204" pitchFamily="34" charset="0"/>
              </a:rPr>
              <a:t> = 0.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en-US"/>
              <a:t>This technique is covered on pp. 321 – 324 in the text but is not included in this presentation.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3D90422-0529-E18D-E1A0-2A40D6C0E9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84F0C9ED-4204-4CF9-B313-F6349E401706}" type="datetime1">
              <a:rPr lang="en-US" altLang="en-US"/>
              <a:pPr/>
              <a:t>7/6/2026</a:t>
            </a:fld>
            <a:endParaRPr lang="en-US" altLang="en-US"/>
          </a:p>
        </p:txBody>
      </p:sp>
      <p:pic>
        <p:nvPicPr>
          <p:cNvPr id="41989" name="Picture 5">
            <a:extLst>
              <a:ext uri="{FF2B5EF4-FFF2-40B4-BE49-F238E27FC236}">
                <a16:creationId xmlns:a16="http://schemas.microsoft.com/office/drawing/2014/main" id="{27FC52C4-6A25-879E-FC1E-9A7FB3F43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325" y="1773239"/>
            <a:ext cx="5086350" cy="391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E2CAB35E-AC12-E7E5-865F-A68F5A24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D3022EB-A449-4E1C-A4C3-A68C1F62576E}" type="slidenum">
              <a:rPr lang="en-US" altLang="en-US" sz="1400"/>
              <a:pPr eaLnBrk="1" hangingPunct="1"/>
              <a:t>39</a:t>
            </a:fld>
            <a:endParaRPr lang="en-US" altLang="en-US" sz="14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C279D042-A8C5-4C68-847B-C6002B193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Conditions for Regression Inference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FFEA1AED-0502-A714-709C-C1D451DE0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1" y="1600201"/>
            <a:ext cx="3540125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u="sng"/>
              <a:t>L</a:t>
            </a:r>
            <a:r>
              <a:rPr lang="en-US" altLang="en-US" sz="2800"/>
              <a:t>inearity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u="sng"/>
              <a:t>I</a:t>
            </a:r>
            <a:r>
              <a:rPr lang="en-US" altLang="en-US" sz="2800"/>
              <a:t>ndependent observations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u="sng"/>
              <a:t>N</a:t>
            </a:r>
            <a:r>
              <a:rPr lang="en-US" altLang="en-US" sz="2800"/>
              <a:t>ormality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u="sng"/>
              <a:t>E</a:t>
            </a:r>
            <a:r>
              <a:rPr lang="en-US" altLang="en-US" sz="2800"/>
              <a:t>qual variance (homoscedasticity)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70FAE4C-1DD1-EA77-8E94-14AAF8BD71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A8B1D4AD-6FDA-417F-87CA-05538B2804C3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44034" name="Slide Number Placeholder 7">
            <a:extLst>
              <a:ext uri="{FF2B5EF4-FFF2-40B4-BE49-F238E27FC236}">
                <a16:creationId xmlns:a16="http://schemas.microsoft.com/office/drawing/2014/main" id="{B0E3E497-0D74-D2F0-C655-528C6C00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6361F05-5F79-42A1-BE9A-DA6E12F84CB2}" type="slidenum">
              <a:rPr lang="en-US" altLang="en-US" sz="1400"/>
              <a:pPr eaLnBrk="1" hangingPunct="1"/>
              <a:t>40</a:t>
            </a:fld>
            <a:endParaRPr lang="en-US" altLang="en-US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0AA8AF77-CBE1-2994-9085-370E01BAD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/>
              <a:t>Assessing L.I.N.E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CEC4D7F-D8D2-85C4-8BD1-D6D369C3D4D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Inspect scatterplot for linearity</a:t>
            </a:r>
          </a:p>
          <a:p>
            <a:pPr eaLnBrk="1" hangingPunct="1"/>
            <a:r>
              <a:rPr lang="en-US" altLang="en-US"/>
              <a:t>Inspect residuals for</a:t>
            </a:r>
          </a:p>
          <a:p>
            <a:pPr lvl="1" eaLnBrk="1" hangingPunct="1"/>
            <a:r>
              <a:rPr lang="en-US" altLang="en-US"/>
              <a:t>linearity</a:t>
            </a:r>
          </a:p>
          <a:p>
            <a:pPr lvl="1" eaLnBrk="1" hangingPunct="1"/>
            <a:r>
              <a:rPr lang="en-US" altLang="en-US"/>
              <a:t>Normality</a:t>
            </a:r>
          </a:p>
          <a:p>
            <a:pPr lvl="1" eaLnBrk="1" hangingPunct="1"/>
            <a:r>
              <a:rPr lang="en-US" altLang="en-US"/>
              <a:t>equal variance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  <p:pic>
        <p:nvPicPr>
          <p:cNvPr id="44037" name="Picture 6">
            <a:extLst>
              <a:ext uri="{FF2B5EF4-FFF2-40B4-BE49-F238E27FC236}">
                <a16:creationId xmlns:a16="http://schemas.microsoft.com/office/drawing/2014/main" id="{649294DD-B3B6-1A07-4D0E-D4FF30C63C30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43601" y="4113214"/>
            <a:ext cx="3192463" cy="2185987"/>
          </a:xfrm>
          <a:noFill/>
        </p:spPr>
      </p:pic>
      <p:pic>
        <p:nvPicPr>
          <p:cNvPr id="539658" name="Picture 10">
            <a:extLst>
              <a:ext uri="{FF2B5EF4-FFF2-40B4-BE49-F238E27FC236}">
                <a16:creationId xmlns:a16="http://schemas.microsoft.com/office/drawing/2014/main" id="{D9EC0A1C-3D52-482D-E03B-FA226E516586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75439" y="1263651"/>
            <a:ext cx="2759075" cy="2187575"/>
          </a:xfrm>
          <a:noFill/>
        </p:spPr>
      </p:pic>
      <p:sp>
        <p:nvSpPr>
          <p:cNvPr id="44039" name="Rectangle 11">
            <a:extLst>
              <a:ext uri="{FF2B5EF4-FFF2-40B4-BE49-F238E27FC236}">
                <a16:creationId xmlns:a16="http://schemas.microsoft.com/office/drawing/2014/main" id="{77568B11-CAF0-B594-94F4-3B0163187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4875" y="4019550"/>
            <a:ext cx="666750" cy="2355850"/>
          </a:xfrm>
          <a:prstGeom prst="rect">
            <a:avLst/>
          </a:prstGeom>
          <a:noFill/>
          <a:ln w="317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83C5F5-4F31-D538-D116-35F9644AE5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BE4ED650-84A4-4975-B2A5-4B93FA9FE3B7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AD2FE4AA-A69B-97C1-F566-58F6D957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F45CBC-7B41-4F49-9FDB-8BAD73F47799}" type="slidenum">
              <a:rPr lang="en-US" altLang="en-US" sz="1400"/>
              <a:pPr eaLnBrk="1" hangingPunct="1"/>
              <a:t>41</a:t>
            </a:fld>
            <a:endParaRPr lang="en-US" altLang="en-US" sz="14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B8716D04-49F9-CBCF-0285-33BFA764A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en-US" sz="6000"/>
              <a:t>Assessing Conditions</a:t>
            </a:r>
          </a:p>
        </p:txBody>
      </p:sp>
      <p:sp>
        <p:nvSpPr>
          <p:cNvPr id="45060" name="Text Box 6">
            <a:extLst>
              <a:ext uri="{FF2B5EF4-FFF2-40B4-BE49-F238E27FC236}">
                <a16:creationId xmlns:a16="http://schemas.microsoft.com/office/drawing/2014/main" id="{4E1861D4-B2FF-05AD-C23E-0B960363F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2509839"/>
            <a:ext cx="2159566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200">
                <a:latin typeface="Courier New" panose="02070309020205020404" pitchFamily="49" charset="0"/>
              </a:rPr>
              <a:t>-1|6</a:t>
            </a:r>
            <a:br>
              <a:rPr lang="en-US" altLang="en-US" sz="3200">
                <a:latin typeface="Courier New" panose="02070309020205020404" pitchFamily="49" charset="0"/>
              </a:rPr>
            </a:br>
            <a:r>
              <a:rPr lang="en-US" altLang="en-US" sz="3200">
                <a:latin typeface="Courier New" panose="02070309020205020404" pitchFamily="49" charset="0"/>
              </a:rPr>
              <a:t>-0|2336</a:t>
            </a:r>
            <a:br>
              <a:rPr lang="en-US" altLang="en-US" sz="3200">
                <a:latin typeface="Courier New" panose="02070309020205020404" pitchFamily="49" charset="0"/>
              </a:rPr>
            </a:br>
            <a:r>
              <a:rPr lang="en-US" altLang="en-US" sz="3200">
                <a:latin typeface="Courier New" panose="02070309020205020404" pitchFamily="49" charset="0"/>
              </a:rPr>
              <a:t> 0|01366</a:t>
            </a:r>
            <a:br>
              <a:rPr lang="en-US" altLang="en-US" sz="3200">
                <a:latin typeface="Courier New" panose="02070309020205020404" pitchFamily="49" charset="0"/>
              </a:rPr>
            </a:br>
            <a:r>
              <a:rPr lang="en-US" altLang="en-US" sz="3200">
                <a:latin typeface="Courier New" panose="02070309020205020404" pitchFamily="49" charset="0"/>
              </a:rPr>
              <a:t> 1|4</a:t>
            </a:r>
            <a:br>
              <a:rPr lang="en-US" altLang="en-US" sz="3200">
                <a:latin typeface="Courier New" panose="02070309020205020404" pitchFamily="49" charset="0"/>
              </a:rPr>
            </a:br>
            <a:r>
              <a:rPr lang="en-US" altLang="en-US" sz="3200">
                <a:latin typeface="Courier New" panose="02070309020205020404" pitchFamily="49" charset="0"/>
              </a:rPr>
              <a:t>x10</a:t>
            </a:r>
          </a:p>
        </p:txBody>
      </p:sp>
      <p:pic>
        <p:nvPicPr>
          <p:cNvPr id="45062" name="Picture 10">
            <a:extLst>
              <a:ext uri="{FF2B5EF4-FFF2-40B4-BE49-F238E27FC236}">
                <a16:creationId xmlns:a16="http://schemas.microsoft.com/office/drawing/2014/main" id="{99AD103A-8259-3B6E-13B1-999CE10E7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1" y="1387475"/>
            <a:ext cx="1228725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4" name="Text Box 8">
            <a:extLst>
              <a:ext uri="{FF2B5EF4-FFF2-40B4-BE49-F238E27FC236}">
                <a16:creationId xmlns:a16="http://schemas.microsoft.com/office/drawing/2014/main" id="{CA650524-2DF5-B7B8-232D-8C5C4267C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463" y="3119439"/>
            <a:ext cx="74090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4400"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45065" name="Text Box 9">
            <a:extLst>
              <a:ext uri="{FF2B5EF4-FFF2-40B4-BE49-F238E27FC236}">
                <a16:creationId xmlns:a16="http://schemas.microsoft.com/office/drawing/2014/main" id="{B6E1D043-1435-F2A1-1A7B-A5D3CECA6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488" y="3205164"/>
            <a:ext cx="74090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4400"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45066" name="Text Box 10">
            <a:extLst>
              <a:ext uri="{FF2B5EF4-FFF2-40B4-BE49-F238E27FC236}">
                <a16:creationId xmlns:a16="http://schemas.microsoft.com/office/drawing/2014/main" id="{264A6F06-A28D-922F-FCE6-205175048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5788" y="2674939"/>
            <a:ext cx="1922462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61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no major departures from Normality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/>
      <p:bldP spid="45064" grpId="0"/>
      <p:bldP spid="45065" grpId="0"/>
      <p:bldP spid="4506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6E98D09-6925-C41C-5F38-90F58D17E3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0C2CCB71-CCF7-4B93-9C97-EF7C3C03A96A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28DEB960-FC09-FFA9-D0D7-531D4E52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9FB4C0-2D97-4D8A-AADE-B5F39EA8A2D5}" type="slidenum">
              <a:rPr lang="en-US" altLang="en-US" sz="1400"/>
              <a:pPr eaLnBrk="1" hangingPunct="1"/>
              <a:t>42</a:t>
            </a:fld>
            <a:endParaRPr lang="en-US" altLang="en-US" sz="14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D8E233E9-7F52-1A9A-4344-3CAB2B44F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en-US" sz="4000">
                <a:solidFill>
                  <a:schemeClr val="tx1"/>
                </a:solidFill>
              </a:rPr>
              <a:t>Residual plotted against X values </a:t>
            </a:r>
          </a:p>
        </p:txBody>
      </p:sp>
      <p:pic>
        <p:nvPicPr>
          <p:cNvPr id="46084" name="Picture 5">
            <a:extLst>
              <a:ext uri="{FF2B5EF4-FFF2-40B4-BE49-F238E27FC236}">
                <a16:creationId xmlns:a16="http://schemas.microsoft.com/office/drawing/2014/main" id="{A34B1BE5-2939-2070-FCCC-860319F77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614" y="1382713"/>
            <a:ext cx="5026025" cy="399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Text Box 6">
            <a:extLst>
              <a:ext uri="{FF2B5EF4-FFF2-40B4-BE49-F238E27FC236}">
                <a16:creationId xmlns:a16="http://schemas.microsoft.com/office/drawing/2014/main" id="{E1540DDC-234D-2090-DC7C-D54C04742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5926" y="5589588"/>
            <a:ext cx="43412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/>
              <a:t>Data too sparse to assess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0171846-627A-695E-4047-2144CFE21F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A40B1A4B-83E1-4EC7-A713-04224AEAF2AC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47106" name="Slide Number Placeholder 8">
            <a:extLst>
              <a:ext uri="{FF2B5EF4-FFF2-40B4-BE49-F238E27FC236}">
                <a16:creationId xmlns:a16="http://schemas.microsoft.com/office/drawing/2014/main" id="{7ADA86FB-3D22-1268-9F52-3E4F64A6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7361FA1-B329-4106-A2EB-9FB1BB49702A}" type="slidenum">
              <a:rPr lang="en-US" altLang="en-US" sz="1400"/>
              <a:pPr eaLnBrk="1" hangingPunct="1"/>
              <a:t>43</a:t>
            </a:fld>
            <a:endParaRPr lang="en-US" altLang="en-US" sz="1400"/>
          </a:p>
        </p:txBody>
      </p:sp>
      <p:sp>
        <p:nvSpPr>
          <p:cNvPr id="47107" name="Rectangle 4">
            <a:extLst>
              <a:ext uri="{FF2B5EF4-FFF2-40B4-BE49-F238E27FC236}">
                <a16:creationId xmlns:a16="http://schemas.microsoft.com/office/drawing/2014/main" id="{B40E7F36-AAB3-1C7F-F7F9-9E06F2156283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n-US" altLang="en-US" sz="5400"/>
              <a:t>Residual Plot</a:t>
            </a:r>
          </a:p>
        </p:txBody>
      </p:sp>
      <p:sp>
        <p:nvSpPr>
          <p:cNvPr id="47108" name="Text Box 13">
            <a:extLst>
              <a:ext uri="{FF2B5EF4-FFF2-40B4-BE49-F238E27FC236}">
                <a16:creationId xmlns:a16="http://schemas.microsoft.com/office/drawing/2014/main" id="{44CBA01B-486A-371B-C71B-C440A5A64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326" y="1323976"/>
            <a:ext cx="8435975" cy="5847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3200"/>
              <a:t>Example of linearity with equal variance</a:t>
            </a:r>
          </a:p>
        </p:txBody>
      </p:sp>
      <p:pic>
        <p:nvPicPr>
          <p:cNvPr id="47109" name="Picture 30">
            <a:extLst>
              <a:ext uri="{FF2B5EF4-FFF2-40B4-BE49-F238E27FC236}">
                <a16:creationId xmlns:a16="http://schemas.microsoft.com/office/drawing/2014/main" id="{143D61C5-B39F-C76D-AB51-8ACF21D68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639" y="2179638"/>
            <a:ext cx="5127625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02CEEFE-C477-008E-0F2E-9C24166DDD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FD69837B-2E38-4B5D-889D-56705FCD3800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48130" name="Slide Number Placeholder 5">
            <a:extLst>
              <a:ext uri="{FF2B5EF4-FFF2-40B4-BE49-F238E27FC236}">
                <a16:creationId xmlns:a16="http://schemas.microsoft.com/office/drawing/2014/main" id="{0F90E274-8B7F-C963-F9C6-CE9E8E79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26CD663-F1EE-4F9B-A509-E60875C550B9}" type="slidenum">
              <a:rPr lang="en-US" altLang="en-US" sz="1400"/>
              <a:pPr eaLnBrk="1" hangingPunct="1"/>
              <a:t>44</a:t>
            </a:fld>
            <a:endParaRPr lang="en-US" altLang="en-US" sz="14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785F614D-3548-00AB-4614-213AFBA84E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en-US" sz="5400"/>
              <a:t>Residual Plot</a:t>
            </a: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364EF12D-6BD3-BD7D-D966-503DFB749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400" y="1330326"/>
            <a:ext cx="7886700" cy="5847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200"/>
              <a:t>Example of linearity with unequal variance</a:t>
            </a:r>
          </a:p>
        </p:txBody>
      </p:sp>
      <p:pic>
        <p:nvPicPr>
          <p:cNvPr id="48133" name="Picture 7">
            <a:extLst>
              <a:ext uri="{FF2B5EF4-FFF2-40B4-BE49-F238E27FC236}">
                <a16:creationId xmlns:a16="http://schemas.microsoft.com/office/drawing/2014/main" id="{71583C19-76FB-59B1-464A-4F248696C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25" y="2181225"/>
            <a:ext cx="5276850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C3F4466-C981-7DBC-1626-5C52DC08B3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fld id="{E789CB7C-8F57-45C5-8B68-79458585B6E1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3F653993-E465-1688-774C-3E7AA5FE1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8C0ED30-DDC0-4848-90C5-09F36A7A4888}" type="slidenum">
              <a:rPr lang="en-US" altLang="en-US" sz="1400"/>
              <a:pPr eaLnBrk="1" hangingPunct="1"/>
              <a:t>45</a:t>
            </a:fld>
            <a:endParaRPr lang="en-US" altLang="en-US" sz="14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4D9EC8DE-EFBB-0998-7272-3F8B9C058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en-US" sz="5400"/>
              <a:t>Residual Plot</a:t>
            </a:r>
          </a:p>
        </p:txBody>
      </p:sp>
      <p:sp>
        <p:nvSpPr>
          <p:cNvPr id="49156" name="Text Box 5">
            <a:extLst>
              <a:ext uri="{FF2B5EF4-FFF2-40B4-BE49-F238E27FC236}">
                <a16:creationId xmlns:a16="http://schemas.microsoft.com/office/drawing/2014/main" id="{598B8766-6CDB-3ED7-527E-80ED8517A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813" y="1479551"/>
            <a:ext cx="8201284" cy="5847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200"/>
              <a:t>Example of non-linearity with equal variance</a:t>
            </a:r>
          </a:p>
        </p:txBody>
      </p:sp>
      <p:pic>
        <p:nvPicPr>
          <p:cNvPr id="49157" name="Picture 7">
            <a:extLst>
              <a:ext uri="{FF2B5EF4-FFF2-40B4-BE49-F238E27FC236}">
                <a16:creationId xmlns:a16="http://schemas.microsoft.com/office/drawing/2014/main" id="{E2CE837B-53E1-CD51-F58B-9B2618F5D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9" y="2251076"/>
            <a:ext cx="5570537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</TotalTime>
  <Words>1215</Words>
  <Application>Microsoft Office PowerPoint</Application>
  <PresentationFormat>Widescreen</PresentationFormat>
  <Paragraphs>267</Paragraphs>
  <Slides>45</Slides>
  <Notes>0</Notes>
  <HiddenSlides>12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Calibri</vt:lpstr>
      <vt:lpstr>Courier New</vt:lpstr>
      <vt:lpstr>Symbol</vt:lpstr>
      <vt:lpstr>Tw Cen MT</vt:lpstr>
      <vt:lpstr>Tw Cen MT Condensed</vt:lpstr>
      <vt:lpstr>Wingdings 3</vt:lpstr>
      <vt:lpstr>Integral</vt:lpstr>
      <vt:lpstr>Equation</vt:lpstr>
      <vt:lpstr>STAT 221-fundamentals of STATISTICAL DATA ANALYSIS </vt:lpstr>
      <vt:lpstr>Correlation and regression</vt:lpstr>
      <vt:lpstr>Data</vt:lpstr>
      <vt:lpstr>Illustrative Data (Doll, 1955)</vt:lpstr>
      <vt:lpstr>Scatterplot</vt:lpstr>
      <vt:lpstr>Doll, 1955 </vt:lpstr>
      <vt:lpstr>The eye is not a good judge of strength</vt:lpstr>
      <vt:lpstr>Correlation Coefficient r</vt:lpstr>
      <vt:lpstr>Correlational Direction and Strength</vt:lpstr>
      <vt:lpstr>Interpretation of r</vt:lpstr>
      <vt:lpstr>r by hand</vt:lpstr>
      <vt:lpstr>r by hand, Example  </vt:lpstr>
      <vt:lpstr>Calculating r</vt:lpstr>
      <vt:lpstr>SPSS output</vt:lpstr>
      <vt:lpstr>Coefficient of determination (r2)</vt:lpstr>
      <vt:lpstr>Cautions</vt:lpstr>
      <vt:lpstr>Outliers </vt:lpstr>
      <vt:lpstr>Linear Relations Only</vt:lpstr>
      <vt:lpstr>Confounding Correlation ≠ Causation</vt:lpstr>
      <vt:lpstr>Don’t be fooled by randomness</vt:lpstr>
      <vt:lpstr>Hypothesis Test, Steps</vt:lpstr>
      <vt:lpstr>Test, By Hand</vt:lpstr>
      <vt:lpstr>Hypothesis Test</vt:lpstr>
      <vt:lpstr>Confidence Interval for ρ</vt:lpstr>
      <vt:lpstr>Confidence Interval for ρ</vt:lpstr>
      <vt:lpstr>Bivariate Normality</vt:lpstr>
      <vt:lpstr>§14.4. Regression</vt:lpstr>
      <vt:lpstr>Least Squares Line</vt:lpstr>
      <vt:lpstr>Regression coefficients by hand</vt:lpstr>
      <vt:lpstr>Coefficient by SPSS  Analyze &gt; Regression &gt; Linear</vt:lpstr>
      <vt:lpstr>ŷ = 6.756 + 0.0284 ∙ X</vt:lpstr>
      <vt:lpstr>Population Regression Model</vt:lpstr>
      <vt:lpstr>CI for β, by hand</vt:lpstr>
      <vt:lpstr>CI for β, by hand</vt:lpstr>
      <vt:lpstr>CI for β Analyze &gt; Regression &gt; Linear &gt; Statistics</vt:lpstr>
      <vt:lpstr>t Test of Slope, by hand</vt:lpstr>
      <vt:lpstr>Testing H0: β = 0</vt:lpstr>
      <vt:lpstr>Analysis of Variance of the Regression Model</vt:lpstr>
      <vt:lpstr>Conditions for Regression Inference</vt:lpstr>
      <vt:lpstr>Assessing L.I.N.E</vt:lpstr>
      <vt:lpstr>Assessing Conditions</vt:lpstr>
      <vt:lpstr>Residual plotted against X values </vt:lpstr>
      <vt:lpstr>Residual Plot</vt:lpstr>
      <vt:lpstr>Residual Plot</vt:lpstr>
      <vt:lpstr>Residual 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221-STATISTICAL DATA ANALYSIS </dc:title>
  <dc:creator>Shivakumar Jolad</dc:creator>
  <cp:lastModifiedBy>Shivakumar Jolad</cp:lastModifiedBy>
  <cp:revision>9</cp:revision>
  <dcterms:created xsi:type="dcterms:W3CDTF">2022-12-06T09:00:02Z</dcterms:created>
  <dcterms:modified xsi:type="dcterms:W3CDTF">2026-07-06T11:16:44Z</dcterms:modified>
</cp:coreProperties>
</file>