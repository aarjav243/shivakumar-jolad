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notesMasterIdLst>
    <p:notesMasterId r:id="rId23"/>
  </p:notesMasterIdLst>
  <p:sldIdLst>
    <p:sldId id="257" r:id="rId2"/>
    <p:sldId id="406" r:id="rId3"/>
    <p:sldId id="410" r:id="rId4"/>
    <p:sldId id="411" r:id="rId5"/>
    <p:sldId id="412" r:id="rId6"/>
    <p:sldId id="413" r:id="rId7"/>
    <p:sldId id="414" r:id="rId8"/>
    <p:sldId id="415" r:id="rId9"/>
    <p:sldId id="416" r:id="rId10"/>
    <p:sldId id="417" r:id="rId11"/>
    <p:sldId id="399" r:id="rId12"/>
    <p:sldId id="284" r:id="rId13"/>
    <p:sldId id="287" r:id="rId14"/>
    <p:sldId id="285" r:id="rId15"/>
    <p:sldId id="286" r:id="rId16"/>
    <p:sldId id="289" r:id="rId17"/>
    <p:sldId id="288" r:id="rId18"/>
    <p:sldId id="400" r:id="rId19"/>
    <p:sldId id="401" r:id="rId20"/>
    <p:sldId id="402" r:id="rId21"/>
    <p:sldId id="40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15"/>
  </p:normalViewPr>
  <p:slideViewPr>
    <p:cSldViewPr snapToGrid="0" snapToObjects="1">
      <p:cViewPr varScale="1">
        <p:scale>
          <a:sx n="85" d="100"/>
          <a:sy n="85" d="100"/>
        </p:scale>
        <p:origin x="39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AC6742-F414-194E-9593-20A04E1F9536}" type="datetimeFigureOut">
              <a:rPr lang="en-US" smtClean="0"/>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077D1-E096-524A-B8D7-578390A74934}" type="slidenum">
              <a:rPr lang="en-US" smtClean="0"/>
              <a:t>‹#›</a:t>
            </a:fld>
            <a:endParaRPr lang="en-US"/>
          </a:p>
        </p:txBody>
      </p:sp>
    </p:spTree>
    <p:extLst>
      <p:ext uri="{BB962C8B-B14F-4D97-AF65-F5344CB8AC3E}">
        <p14:creationId xmlns:p14="http://schemas.microsoft.com/office/powerpoint/2010/main" val="2623208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schermann.github.io/data_viz_reader/introduction.html#ref-Data_Exploration_1"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3077D1-E096-524A-B8D7-578390A74934}" type="slidenum">
              <a:rPr lang="en-US" smtClean="0"/>
              <a:t>1</a:t>
            </a:fld>
            <a:endParaRPr lang="en-US"/>
          </a:p>
        </p:txBody>
      </p:sp>
    </p:spTree>
    <p:extLst>
      <p:ext uri="{BB962C8B-B14F-4D97-AF65-F5344CB8AC3E}">
        <p14:creationId xmlns:p14="http://schemas.microsoft.com/office/powerpoint/2010/main" val="3865567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3077D1-E096-524A-B8D7-578390A74934}" type="slidenum">
              <a:rPr lang="en-US" smtClean="0"/>
              <a:t>11</a:t>
            </a:fld>
            <a:endParaRPr lang="en-US"/>
          </a:p>
        </p:txBody>
      </p:sp>
    </p:spTree>
    <p:extLst>
      <p:ext uri="{BB962C8B-B14F-4D97-AF65-F5344CB8AC3E}">
        <p14:creationId xmlns:p14="http://schemas.microsoft.com/office/powerpoint/2010/main" val="1025190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3077D1-E096-524A-B8D7-578390A74934}" type="slidenum">
              <a:rPr lang="en-US" smtClean="0"/>
              <a:t>15</a:t>
            </a:fld>
            <a:endParaRPr lang="en-US"/>
          </a:p>
        </p:txBody>
      </p:sp>
    </p:spTree>
    <p:extLst>
      <p:ext uri="{BB962C8B-B14F-4D97-AF65-F5344CB8AC3E}">
        <p14:creationId xmlns:p14="http://schemas.microsoft.com/office/powerpoint/2010/main" val="2106102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“Data exploration tasks are those of examining data without having an a priori understanding of what patterns, information, or knowledge it might contain.” (Jeff Baker </a:t>
            </a:r>
            <a:r>
              <a:rPr lang="en-IN" sz="1200" b="0" i="0" u="none" strike="noStrike" kern="1200" dirty="0">
                <a:solidFill>
                  <a:schemeClr val="tx1"/>
                </a:solidFill>
                <a:effectLst/>
                <a:latin typeface="+mn-lt"/>
                <a:ea typeface="+mn-ea"/>
                <a:cs typeface="+mn-cs"/>
                <a:hlinkClick r:id="rId3"/>
              </a:rPr>
              <a:t>2009</a:t>
            </a:r>
            <a:r>
              <a:rPr lang="en-IN" sz="1200" b="0" i="0" kern="1200" dirty="0">
                <a:solidFill>
                  <a:schemeClr val="tx1"/>
                </a:solidFill>
                <a:effectLst/>
                <a:latin typeface="+mn-lt"/>
                <a:ea typeface="+mn-ea"/>
                <a:cs typeface="+mn-cs"/>
              </a:rPr>
              <a:t>) While the majority of research has been on the output of and creation of visualizations, but the important aspect of these tasks is to first understand the data that is being presented. </a:t>
            </a:r>
          </a:p>
          <a:p>
            <a:endParaRPr lang="en-IN"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8EF53B2-1631-FD41-81E7-888EA1BFBAC1}" type="slidenum">
              <a:rPr lang="en-US" smtClean="0"/>
              <a:t>17</a:t>
            </a:fld>
            <a:endParaRPr lang="en-US"/>
          </a:p>
        </p:txBody>
      </p:sp>
    </p:spTree>
    <p:extLst>
      <p:ext uri="{BB962C8B-B14F-4D97-AF65-F5344CB8AC3E}">
        <p14:creationId xmlns:p14="http://schemas.microsoft.com/office/powerpoint/2010/main" val="55230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43DC105-CC6F-2247-AC54-83A069714E90}"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F8FB0-ABFE-5346-8B98-0E119382251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735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DC105-CC6F-2247-AC54-83A069714E90}"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3277521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DC105-CC6F-2247-AC54-83A069714E90}"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F8FB0-ABFE-5346-8B98-0E119382251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148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3DC105-CC6F-2247-AC54-83A069714E90}"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566345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3DC105-CC6F-2247-AC54-83A069714E90}"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193292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3DC105-CC6F-2247-AC54-83A069714E90}"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161576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DC105-CC6F-2247-AC54-83A069714E90}"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559121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3DC105-CC6F-2247-AC54-83A069714E90}"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437375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3DC105-CC6F-2247-AC54-83A069714E90}"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4F8FB0-ABFE-5346-8B98-0E119382251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465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DC105-CC6F-2247-AC54-83A069714E90}"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F8FB0-ABFE-5346-8B98-0E1193822512}" type="slidenum">
              <a:rPr lang="en-US" smtClean="0"/>
              <a:t>‹#›</a:t>
            </a:fld>
            <a:endParaRPr lang="en-US"/>
          </a:p>
        </p:txBody>
      </p:sp>
    </p:spTree>
    <p:extLst>
      <p:ext uri="{BB962C8B-B14F-4D97-AF65-F5344CB8AC3E}">
        <p14:creationId xmlns:p14="http://schemas.microsoft.com/office/powerpoint/2010/main" val="206088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DC105-CC6F-2247-AC54-83A069714E90}"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F8FB0-ABFE-5346-8B98-0E1193822512}"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282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3DC105-CC6F-2247-AC54-83A069714E90}" type="datetimeFigureOut">
              <a:rPr lang="en-US" smtClean="0"/>
              <a:t>7/6/2026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04F8FB0-ABFE-5346-8B98-0E1193822512}"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880206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hyperlink" Target="https://mschermann.github.io/data_viz_reader/introduction.html#ref-viz"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data-visualization.cioreview.com/cxoinsight/what-is-data-visualization-and-why-is-it-important-nid-11806-cid-163.html"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9B0-43DD-35BD-EB8A-B372A00F78F9}"/>
              </a:ext>
            </a:extLst>
          </p:cNvPr>
          <p:cNvSpPr>
            <a:spLocks noGrp="1"/>
          </p:cNvSpPr>
          <p:nvPr>
            <p:ph type="ctrTitle"/>
          </p:nvPr>
        </p:nvSpPr>
        <p:spPr>
          <a:xfrm>
            <a:off x="1845790" y="1793137"/>
            <a:ext cx="7650617" cy="2278485"/>
          </a:xfrm>
        </p:spPr>
        <p:txBody>
          <a:bodyPr>
            <a:normAutofit/>
          </a:bodyPr>
          <a:lstStyle/>
          <a:p>
            <a:r>
              <a:rPr lang="en-IN" dirty="0">
                <a:highlight>
                  <a:srgbClr val="FFFF00"/>
                </a:highlight>
              </a:rPr>
              <a:t>STAT 221-FUNDAMENTALS OF STATISTICAL DATA ANALYSIS</a:t>
            </a:r>
            <a:br>
              <a:rPr lang="en-IN" dirty="0">
                <a:highlight>
                  <a:srgbClr val="FFFF00"/>
                </a:highlight>
              </a:rPr>
            </a:br>
            <a:endParaRPr lang="en-IN" sz="1800" dirty="0">
              <a:highlight>
                <a:srgbClr val="FFFF00"/>
              </a:highlight>
            </a:endParaRPr>
          </a:p>
        </p:txBody>
      </p:sp>
      <p:sp>
        <p:nvSpPr>
          <p:cNvPr id="3" name="Subtitle 2">
            <a:extLst>
              <a:ext uri="{FF2B5EF4-FFF2-40B4-BE49-F238E27FC236}">
                <a16:creationId xmlns:a16="http://schemas.microsoft.com/office/drawing/2014/main" id="{00ACD515-2431-B084-4B1B-3B5938342A14}"/>
              </a:ext>
            </a:extLst>
          </p:cNvPr>
          <p:cNvSpPr>
            <a:spLocks noGrp="1"/>
          </p:cNvSpPr>
          <p:nvPr>
            <p:ph type="subTitle" idx="1"/>
          </p:nvPr>
        </p:nvSpPr>
        <p:spPr>
          <a:xfrm>
            <a:off x="1542046" y="5064745"/>
            <a:ext cx="6815669" cy="1320802"/>
          </a:xfrm>
        </p:spPr>
        <p:txBody>
          <a:bodyPr>
            <a:normAutofit/>
          </a:bodyPr>
          <a:lstStyle/>
          <a:p>
            <a:pPr algn="ctr"/>
            <a:r>
              <a:rPr lang="en-IN" sz="2000" dirty="0">
                <a:solidFill>
                  <a:srgbClr val="FF0000"/>
                </a:solidFill>
              </a:rPr>
              <a:t>Week-4: Frequency Distributions, Cross Tabulation, Data Visualization</a:t>
            </a:r>
          </a:p>
        </p:txBody>
      </p:sp>
      <p:sp>
        <p:nvSpPr>
          <p:cNvPr id="5" name="TextBox 4">
            <a:extLst>
              <a:ext uri="{FF2B5EF4-FFF2-40B4-BE49-F238E27FC236}">
                <a16:creationId xmlns:a16="http://schemas.microsoft.com/office/drawing/2014/main" id="{04732E00-7D6B-6428-E7BC-EF678D19D830}"/>
              </a:ext>
            </a:extLst>
          </p:cNvPr>
          <p:cNvSpPr txBox="1"/>
          <p:nvPr/>
        </p:nvSpPr>
        <p:spPr>
          <a:xfrm>
            <a:off x="8657771" y="5251299"/>
            <a:ext cx="2300515" cy="923330"/>
          </a:xfrm>
          <a:prstGeom prst="rect">
            <a:avLst/>
          </a:prstGeom>
          <a:noFill/>
        </p:spPr>
        <p:txBody>
          <a:bodyPr wrap="square">
            <a:spAutoFit/>
          </a:bodyPr>
          <a:lstStyle/>
          <a:p>
            <a:r>
              <a:rPr lang="en-IN" sz="1800" dirty="0">
                <a:solidFill>
                  <a:srgbClr val="FF0000"/>
                </a:solidFill>
              </a:rPr>
              <a:t>Shivakumar Jolad</a:t>
            </a:r>
          </a:p>
          <a:p>
            <a:r>
              <a:rPr lang="en-IN" dirty="0">
                <a:solidFill>
                  <a:srgbClr val="FF0000"/>
                </a:solidFill>
              </a:rPr>
              <a:t>Associate Professor, FLAME University, Pune</a:t>
            </a:r>
            <a:endParaRPr lang="en-IN" sz="1800" dirty="0">
              <a:solidFill>
                <a:srgbClr val="FF0000"/>
              </a:solidFill>
            </a:endParaRPr>
          </a:p>
        </p:txBody>
      </p:sp>
    </p:spTree>
    <p:extLst>
      <p:ext uri="{BB962C8B-B14F-4D97-AF65-F5344CB8AC3E}">
        <p14:creationId xmlns:p14="http://schemas.microsoft.com/office/powerpoint/2010/main" val="3045451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F52D33-BDC5-5E49-BDFE-E0523324A47A}"/>
              </a:ext>
            </a:extLst>
          </p:cNvPr>
          <p:cNvSpPr>
            <a:spLocks noGrp="1"/>
          </p:cNvSpPr>
          <p:nvPr>
            <p:ph type="title"/>
          </p:nvPr>
        </p:nvSpPr>
        <p:spPr/>
        <p:txBody>
          <a:bodyPr/>
          <a:lstStyle/>
          <a:p>
            <a:r>
              <a:rPr lang="en-IN" dirty="0"/>
              <a:t>Frequency distributions</a:t>
            </a:r>
          </a:p>
        </p:txBody>
      </p:sp>
      <p:sp>
        <p:nvSpPr>
          <p:cNvPr id="4" name="Text Placeholder 3">
            <a:extLst>
              <a:ext uri="{FF2B5EF4-FFF2-40B4-BE49-F238E27FC236}">
                <a16:creationId xmlns:a16="http://schemas.microsoft.com/office/drawing/2014/main" id="{3C033907-0B6E-9ADE-8409-CF1B49EA2FD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846886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61C5DF-A2D2-87A7-FEDE-B42D7FEF5619}"/>
              </a:ext>
            </a:extLst>
          </p:cNvPr>
          <p:cNvSpPr>
            <a:spLocks noGrp="1"/>
          </p:cNvSpPr>
          <p:nvPr>
            <p:ph type="title"/>
          </p:nvPr>
        </p:nvSpPr>
        <p:spPr>
          <a:xfrm>
            <a:off x="1024128" y="585216"/>
            <a:ext cx="9720072" cy="753078"/>
          </a:xfrm>
        </p:spPr>
        <p:txBody>
          <a:bodyPr>
            <a:normAutofit/>
          </a:bodyPr>
          <a:lstStyle/>
          <a:p>
            <a:r>
              <a:rPr lang="en-IN" dirty="0"/>
              <a:t>Proportions, Percentages, and Ratios</a:t>
            </a:r>
          </a:p>
        </p:txBody>
      </p:sp>
      <p:pic>
        <p:nvPicPr>
          <p:cNvPr id="6" name="Picture 5">
            <a:extLst>
              <a:ext uri="{FF2B5EF4-FFF2-40B4-BE49-F238E27FC236}">
                <a16:creationId xmlns:a16="http://schemas.microsoft.com/office/drawing/2014/main" id="{5F914884-AD46-2D71-7E36-2602C6AEE19E}"/>
              </a:ext>
            </a:extLst>
          </p:cNvPr>
          <p:cNvPicPr>
            <a:picLocks noChangeAspect="1"/>
          </p:cNvPicPr>
          <p:nvPr/>
        </p:nvPicPr>
        <p:blipFill rotWithShape="1">
          <a:blip r:embed="rId2"/>
          <a:srcRect r="15277" b="25551"/>
          <a:stretch/>
        </p:blipFill>
        <p:spPr>
          <a:xfrm>
            <a:off x="854656" y="1471671"/>
            <a:ext cx="4777461" cy="3517373"/>
          </a:xfrm>
          <a:prstGeom prst="rect">
            <a:avLst/>
          </a:prstGeom>
        </p:spPr>
      </p:pic>
      <p:sp>
        <p:nvSpPr>
          <p:cNvPr id="8" name="TextBox 7">
            <a:extLst>
              <a:ext uri="{FF2B5EF4-FFF2-40B4-BE49-F238E27FC236}">
                <a16:creationId xmlns:a16="http://schemas.microsoft.com/office/drawing/2014/main" id="{DE029508-11BB-634F-EF59-8A63DBE28609}"/>
              </a:ext>
            </a:extLst>
          </p:cNvPr>
          <p:cNvSpPr txBox="1"/>
          <p:nvPr/>
        </p:nvSpPr>
        <p:spPr>
          <a:xfrm>
            <a:off x="5774546" y="1471671"/>
            <a:ext cx="6700049" cy="646331"/>
          </a:xfrm>
          <a:prstGeom prst="rect">
            <a:avLst/>
          </a:prstGeom>
          <a:noFill/>
        </p:spPr>
        <p:txBody>
          <a:bodyPr wrap="square">
            <a:spAutoFit/>
          </a:bodyPr>
          <a:lstStyle/>
          <a:p>
            <a:r>
              <a:rPr lang="en-IN" dirty="0"/>
              <a:t>Proportion: A way to standardize the frequency of cases so that comparisons can be made across populations.</a:t>
            </a:r>
          </a:p>
        </p:txBody>
      </p:sp>
      <p:pic>
        <p:nvPicPr>
          <p:cNvPr id="10" name="Picture 9">
            <a:extLst>
              <a:ext uri="{FF2B5EF4-FFF2-40B4-BE49-F238E27FC236}">
                <a16:creationId xmlns:a16="http://schemas.microsoft.com/office/drawing/2014/main" id="{C4A392BA-9EFD-6C8A-B6E7-BC1EC8DB4757}"/>
              </a:ext>
            </a:extLst>
          </p:cNvPr>
          <p:cNvPicPr>
            <a:picLocks noChangeAspect="1"/>
          </p:cNvPicPr>
          <p:nvPr/>
        </p:nvPicPr>
        <p:blipFill>
          <a:blip r:embed="rId3"/>
          <a:stretch>
            <a:fillRect/>
          </a:stretch>
        </p:blipFill>
        <p:spPr>
          <a:xfrm>
            <a:off x="5609292" y="2699219"/>
            <a:ext cx="549743" cy="446326"/>
          </a:xfrm>
          <a:prstGeom prst="rect">
            <a:avLst/>
          </a:prstGeom>
        </p:spPr>
      </p:pic>
      <p:pic>
        <p:nvPicPr>
          <p:cNvPr id="12" name="Picture 11">
            <a:extLst>
              <a:ext uri="{FF2B5EF4-FFF2-40B4-BE49-F238E27FC236}">
                <a16:creationId xmlns:a16="http://schemas.microsoft.com/office/drawing/2014/main" id="{89D1EF21-7394-A5BB-6C85-B44CD437B52F}"/>
              </a:ext>
            </a:extLst>
          </p:cNvPr>
          <p:cNvPicPr>
            <a:picLocks noChangeAspect="1"/>
          </p:cNvPicPr>
          <p:nvPr/>
        </p:nvPicPr>
        <p:blipFill>
          <a:blip r:embed="rId4"/>
          <a:stretch>
            <a:fillRect/>
          </a:stretch>
        </p:blipFill>
        <p:spPr>
          <a:xfrm>
            <a:off x="6443892" y="2307742"/>
            <a:ext cx="5361355" cy="1121258"/>
          </a:xfrm>
          <a:prstGeom prst="rect">
            <a:avLst/>
          </a:prstGeom>
        </p:spPr>
      </p:pic>
      <p:pic>
        <p:nvPicPr>
          <p:cNvPr id="14" name="Picture 13">
            <a:extLst>
              <a:ext uri="{FF2B5EF4-FFF2-40B4-BE49-F238E27FC236}">
                <a16:creationId xmlns:a16="http://schemas.microsoft.com/office/drawing/2014/main" id="{C9AB7467-D59E-F1C5-E2A9-FEA0C82A8724}"/>
              </a:ext>
            </a:extLst>
          </p:cNvPr>
          <p:cNvPicPr>
            <a:picLocks noChangeAspect="1"/>
          </p:cNvPicPr>
          <p:nvPr/>
        </p:nvPicPr>
        <p:blipFill>
          <a:blip r:embed="rId5"/>
          <a:stretch>
            <a:fillRect/>
          </a:stretch>
        </p:blipFill>
        <p:spPr>
          <a:xfrm>
            <a:off x="6024976" y="3607997"/>
            <a:ext cx="5312368" cy="1311763"/>
          </a:xfrm>
          <a:prstGeom prst="rect">
            <a:avLst/>
          </a:prstGeom>
        </p:spPr>
      </p:pic>
      <p:sp>
        <p:nvSpPr>
          <p:cNvPr id="16" name="TextBox 15">
            <a:extLst>
              <a:ext uri="{FF2B5EF4-FFF2-40B4-BE49-F238E27FC236}">
                <a16:creationId xmlns:a16="http://schemas.microsoft.com/office/drawing/2014/main" id="{FCC28533-140D-338C-8556-D638999B425D}"/>
              </a:ext>
            </a:extLst>
          </p:cNvPr>
          <p:cNvSpPr txBox="1"/>
          <p:nvPr/>
        </p:nvSpPr>
        <p:spPr>
          <a:xfrm>
            <a:off x="442060" y="5178784"/>
            <a:ext cx="7454479" cy="369332"/>
          </a:xfrm>
          <a:prstGeom prst="rect">
            <a:avLst/>
          </a:prstGeom>
          <a:noFill/>
        </p:spPr>
        <p:txBody>
          <a:bodyPr wrap="square">
            <a:spAutoFit/>
          </a:bodyPr>
          <a:lstStyle/>
          <a:p>
            <a:r>
              <a:rPr lang="en-IN" b="1" dirty="0"/>
              <a:t>Ratio</a:t>
            </a:r>
            <a:r>
              <a:rPr lang="en-IN" dirty="0"/>
              <a:t>: A way to compare the relative frequency of cases across populations.</a:t>
            </a:r>
          </a:p>
        </p:txBody>
      </p:sp>
      <p:pic>
        <p:nvPicPr>
          <p:cNvPr id="18" name="Picture 17">
            <a:extLst>
              <a:ext uri="{FF2B5EF4-FFF2-40B4-BE49-F238E27FC236}">
                <a16:creationId xmlns:a16="http://schemas.microsoft.com/office/drawing/2014/main" id="{34F16DE7-97A2-7EB4-865B-CACBB00A22F9}"/>
              </a:ext>
            </a:extLst>
          </p:cNvPr>
          <p:cNvPicPr>
            <a:picLocks noChangeAspect="1"/>
          </p:cNvPicPr>
          <p:nvPr/>
        </p:nvPicPr>
        <p:blipFill>
          <a:blip r:embed="rId6"/>
          <a:stretch>
            <a:fillRect/>
          </a:stretch>
        </p:blipFill>
        <p:spPr>
          <a:xfrm>
            <a:off x="8267486" y="5058642"/>
            <a:ext cx="1239852" cy="857182"/>
          </a:xfrm>
          <a:prstGeom prst="rect">
            <a:avLst/>
          </a:prstGeom>
        </p:spPr>
      </p:pic>
    </p:spTree>
    <p:extLst>
      <p:ext uri="{BB962C8B-B14F-4D97-AF65-F5344CB8AC3E}">
        <p14:creationId xmlns:p14="http://schemas.microsoft.com/office/powerpoint/2010/main" val="2738306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7CE04F-E140-6452-BE44-AE24CE2CE777}"/>
              </a:ext>
            </a:extLst>
          </p:cNvPr>
          <p:cNvSpPr txBox="1"/>
          <p:nvPr/>
        </p:nvSpPr>
        <p:spPr>
          <a:xfrm>
            <a:off x="492018" y="1109360"/>
            <a:ext cx="10244611" cy="3139321"/>
          </a:xfrm>
          <a:prstGeom prst="rect">
            <a:avLst/>
          </a:prstGeom>
          <a:noFill/>
        </p:spPr>
        <p:txBody>
          <a:bodyPr wrap="square">
            <a:spAutoFit/>
          </a:bodyPr>
          <a:lstStyle/>
          <a:p>
            <a:r>
              <a:rPr lang="en-IN" dirty="0"/>
              <a:t>Suppose we want to know about students’ attitudes toward a ban on tobacco use on campus. We decide to survey </a:t>
            </a:r>
            <a:r>
              <a:rPr lang="en-IN" b="1" dirty="0"/>
              <a:t>500</a:t>
            </a:r>
            <a:r>
              <a:rPr lang="en-IN" dirty="0"/>
              <a:t> students, </a:t>
            </a:r>
            <a:r>
              <a:rPr lang="en-IN" b="1" dirty="0"/>
              <a:t>355 of whom live on-campus and 145 of whom live off-campus</a:t>
            </a:r>
            <a:r>
              <a:rPr lang="en-IN" dirty="0"/>
              <a:t>. Of those who live on-campus, 276 indicate that they approve of a tobacco ban and of those who live off-campus, 92 approve of a tobacco ban.</a:t>
            </a:r>
          </a:p>
          <a:p>
            <a:endParaRPr lang="en-IN" dirty="0"/>
          </a:p>
          <a:p>
            <a:r>
              <a:rPr lang="en-IN" dirty="0"/>
              <a:t>     Use this information to answer the following questions.</a:t>
            </a:r>
          </a:p>
          <a:p>
            <a:endParaRPr lang="en-IN" dirty="0"/>
          </a:p>
          <a:p>
            <a:pPr marL="342900" indent="-342900">
              <a:buFont typeface="+mj-lt"/>
              <a:buAutoNum type="arabicPeriod"/>
            </a:pPr>
            <a:r>
              <a:rPr lang="en-IN" dirty="0"/>
              <a:t>What proportion of all students approve of a tobacco ban?</a:t>
            </a:r>
          </a:p>
          <a:p>
            <a:pPr marL="342900" indent="-342900">
              <a:buFont typeface="+mj-lt"/>
              <a:buAutoNum type="arabicPeriod"/>
            </a:pPr>
            <a:r>
              <a:rPr lang="en-IN" dirty="0"/>
              <a:t>What percent of on-campus students approve of a tobacco ban?</a:t>
            </a:r>
          </a:p>
          <a:p>
            <a:pPr marL="342900" indent="-342900">
              <a:buFont typeface="+mj-lt"/>
              <a:buAutoNum type="arabicPeriod"/>
            </a:pPr>
            <a:r>
              <a:rPr lang="en-IN" dirty="0"/>
              <a:t>What percent of off-campus students approve of a tobacco ban? </a:t>
            </a:r>
          </a:p>
          <a:p>
            <a:pPr marL="342900" indent="-342900">
              <a:buFont typeface="+mj-lt"/>
              <a:buAutoNum type="arabicPeriod"/>
            </a:pPr>
            <a:r>
              <a:rPr lang="en-IN" dirty="0"/>
              <a:t>What is the ratio of on-campus to off-campus students?</a:t>
            </a:r>
          </a:p>
        </p:txBody>
      </p:sp>
      <p:sp>
        <p:nvSpPr>
          <p:cNvPr id="5" name="TextBox 4">
            <a:extLst>
              <a:ext uri="{FF2B5EF4-FFF2-40B4-BE49-F238E27FC236}">
                <a16:creationId xmlns:a16="http://schemas.microsoft.com/office/drawing/2014/main" id="{EBDB9BF2-A811-F5A9-66E8-F9FA98A0462A}"/>
              </a:ext>
            </a:extLst>
          </p:cNvPr>
          <p:cNvSpPr txBox="1"/>
          <p:nvPr/>
        </p:nvSpPr>
        <p:spPr>
          <a:xfrm>
            <a:off x="395128" y="520784"/>
            <a:ext cx="3607643" cy="400110"/>
          </a:xfrm>
          <a:prstGeom prst="rect">
            <a:avLst/>
          </a:prstGeom>
          <a:noFill/>
        </p:spPr>
        <p:txBody>
          <a:bodyPr wrap="square" rtlCol="0">
            <a:spAutoFit/>
          </a:bodyPr>
          <a:lstStyle/>
          <a:p>
            <a:r>
              <a:rPr lang="en-IN" sz="2000" b="1" dirty="0"/>
              <a:t>EXERCISE</a:t>
            </a:r>
          </a:p>
        </p:txBody>
      </p:sp>
      <p:graphicFrame>
        <p:nvGraphicFramePr>
          <p:cNvPr id="7" name="Table 7">
            <a:extLst>
              <a:ext uri="{FF2B5EF4-FFF2-40B4-BE49-F238E27FC236}">
                <a16:creationId xmlns:a16="http://schemas.microsoft.com/office/drawing/2014/main" id="{703E5A13-E50A-29FC-2F7C-057A749B8028}"/>
              </a:ext>
            </a:extLst>
          </p:cNvPr>
          <p:cNvGraphicFramePr>
            <a:graphicFrameLocks noGrp="1"/>
          </p:cNvGraphicFramePr>
          <p:nvPr>
            <p:extLst>
              <p:ext uri="{D42A27DB-BD31-4B8C-83A1-F6EECF244321}">
                <p14:modId xmlns:p14="http://schemas.microsoft.com/office/powerpoint/2010/main" val="657258014"/>
              </p:ext>
            </p:extLst>
          </p:nvPr>
        </p:nvGraphicFramePr>
        <p:xfrm>
          <a:off x="2032000" y="4497271"/>
          <a:ext cx="8128000" cy="1752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2555547"/>
                    </a:ext>
                  </a:extLst>
                </a:gridCol>
                <a:gridCol w="2032000">
                  <a:extLst>
                    <a:ext uri="{9D8B030D-6E8A-4147-A177-3AD203B41FA5}">
                      <a16:colId xmlns:a16="http://schemas.microsoft.com/office/drawing/2014/main" val="989363912"/>
                    </a:ext>
                  </a:extLst>
                </a:gridCol>
                <a:gridCol w="2032000">
                  <a:extLst>
                    <a:ext uri="{9D8B030D-6E8A-4147-A177-3AD203B41FA5}">
                      <a16:colId xmlns:a16="http://schemas.microsoft.com/office/drawing/2014/main" val="3817014925"/>
                    </a:ext>
                  </a:extLst>
                </a:gridCol>
                <a:gridCol w="2032000">
                  <a:extLst>
                    <a:ext uri="{9D8B030D-6E8A-4147-A177-3AD203B41FA5}">
                      <a16:colId xmlns:a16="http://schemas.microsoft.com/office/drawing/2014/main" val="2585413350"/>
                    </a:ext>
                  </a:extLst>
                </a:gridCol>
              </a:tblGrid>
              <a:tr h="0">
                <a:tc>
                  <a:txBody>
                    <a:bodyPr/>
                    <a:lstStyle/>
                    <a:p>
                      <a:r>
                        <a:rPr lang="en-IN" dirty="0">
                          <a:solidFill>
                            <a:srgbClr val="FF0000"/>
                          </a:solidFill>
                        </a:rPr>
                        <a:t>Cross tabulation</a:t>
                      </a:r>
                    </a:p>
                  </a:txBody>
                  <a:tcPr>
                    <a:solidFill>
                      <a:schemeClr val="bg2"/>
                    </a:solidFill>
                  </a:tcPr>
                </a:tc>
                <a:tc>
                  <a:txBody>
                    <a:bodyPr/>
                    <a:lstStyle/>
                    <a:p>
                      <a:r>
                        <a:rPr lang="en-IN" dirty="0"/>
                        <a:t>Approve tobacco ban</a:t>
                      </a:r>
                    </a:p>
                  </a:txBody>
                  <a:tcPr/>
                </a:tc>
                <a:tc>
                  <a:txBody>
                    <a:bodyPr/>
                    <a:lstStyle/>
                    <a:p>
                      <a:r>
                        <a:rPr lang="en-IN" dirty="0"/>
                        <a:t>Not approve tobacco ban</a:t>
                      </a:r>
                    </a:p>
                  </a:txBody>
                  <a:tcPr/>
                </a:tc>
                <a:tc>
                  <a:txBody>
                    <a:bodyPr/>
                    <a:lstStyle/>
                    <a:p>
                      <a:r>
                        <a:rPr lang="en-IN" dirty="0"/>
                        <a:t>Row sum</a:t>
                      </a:r>
                    </a:p>
                  </a:txBody>
                  <a:tcPr>
                    <a:solidFill>
                      <a:schemeClr val="accent4">
                        <a:lumMod val="60000"/>
                        <a:lumOff val="40000"/>
                      </a:schemeClr>
                    </a:solidFill>
                  </a:tcPr>
                </a:tc>
                <a:extLst>
                  <a:ext uri="{0D108BD9-81ED-4DB2-BD59-A6C34878D82A}">
                    <a16:rowId xmlns:a16="http://schemas.microsoft.com/office/drawing/2014/main" val="2526517676"/>
                  </a:ext>
                </a:extLst>
              </a:tr>
              <a:tr h="370840">
                <a:tc>
                  <a:txBody>
                    <a:bodyPr/>
                    <a:lstStyle/>
                    <a:p>
                      <a:r>
                        <a:rPr lang="en-IN" dirty="0"/>
                        <a:t>On Campus</a:t>
                      </a:r>
                    </a:p>
                  </a:txBody>
                  <a:tcPr/>
                </a:tc>
                <a:tc>
                  <a:txBody>
                    <a:bodyPr/>
                    <a:lstStyle/>
                    <a:p>
                      <a:r>
                        <a:rPr lang="en-IN" dirty="0"/>
                        <a:t>276</a:t>
                      </a:r>
                    </a:p>
                  </a:txBody>
                  <a:tcPr/>
                </a:tc>
                <a:tc>
                  <a:txBody>
                    <a:bodyPr/>
                    <a:lstStyle/>
                    <a:p>
                      <a:r>
                        <a:rPr lang="en-IN" dirty="0"/>
                        <a:t>?</a:t>
                      </a:r>
                    </a:p>
                  </a:txBody>
                  <a:tcPr/>
                </a:tc>
                <a:tc>
                  <a:txBody>
                    <a:bodyPr/>
                    <a:lstStyle/>
                    <a:p>
                      <a:r>
                        <a:rPr lang="en-IN" dirty="0"/>
                        <a:t>355</a:t>
                      </a:r>
                    </a:p>
                  </a:txBody>
                  <a:tcPr>
                    <a:solidFill>
                      <a:schemeClr val="bg2">
                        <a:lumMod val="90000"/>
                      </a:schemeClr>
                    </a:solidFill>
                  </a:tcPr>
                </a:tc>
                <a:extLst>
                  <a:ext uri="{0D108BD9-81ED-4DB2-BD59-A6C34878D82A}">
                    <a16:rowId xmlns:a16="http://schemas.microsoft.com/office/drawing/2014/main" val="2628195113"/>
                  </a:ext>
                </a:extLst>
              </a:tr>
              <a:tr h="370840">
                <a:tc>
                  <a:txBody>
                    <a:bodyPr/>
                    <a:lstStyle/>
                    <a:p>
                      <a:r>
                        <a:rPr lang="en-IN" dirty="0"/>
                        <a:t>Off campus</a:t>
                      </a:r>
                    </a:p>
                  </a:txBody>
                  <a:tcPr/>
                </a:tc>
                <a:tc>
                  <a:txBody>
                    <a:bodyPr/>
                    <a:lstStyle/>
                    <a:p>
                      <a:r>
                        <a:rPr lang="en-IN" dirty="0"/>
                        <a:t>92</a:t>
                      </a:r>
                    </a:p>
                  </a:txBody>
                  <a:tcPr/>
                </a:tc>
                <a:tc>
                  <a:txBody>
                    <a:bodyPr/>
                    <a:lstStyle/>
                    <a:p>
                      <a:r>
                        <a:rPr lang="en-IN" dirty="0"/>
                        <a:t>?</a:t>
                      </a:r>
                    </a:p>
                  </a:txBody>
                  <a:tcPr/>
                </a:tc>
                <a:tc>
                  <a:txBody>
                    <a:bodyPr/>
                    <a:lstStyle/>
                    <a:p>
                      <a:r>
                        <a:rPr lang="en-IN" dirty="0"/>
                        <a:t>145</a:t>
                      </a:r>
                    </a:p>
                  </a:txBody>
                  <a:tcPr>
                    <a:solidFill>
                      <a:schemeClr val="bg2">
                        <a:lumMod val="90000"/>
                      </a:schemeClr>
                    </a:solidFill>
                  </a:tcPr>
                </a:tc>
                <a:extLst>
                  <a:ext uri="{0D108BD9-81ED-4DB2-BD59-A6C34878D82A}">
                    <a16:rowId xmlns:a16="http://schemas.microsoft.com/office/drawing/2014/main" val="1590722295"/>
                  </a:ext>
                </a:extLst>
              </a:tr>
              <a:tr h="370840">
                <a:tc>
                  <a:txBody>
                    <a:bodyPr/>
                    <a:lstStyle/>
                    <a:p>
                      <a:r>
                        <a:rPr lang="en-IN" dirty="0"/>
                        <a:t>Column sum</a:t>
                      </a:r>
                    </a:p>
                  </a:txBody>
                  <a:tcPr>
                    <a:solidFill>
                      <a:schemeClr val="accent4">
                        <a:lumMod val="60000"/>
                        <a:lumOff val="40000"/>
                      </a:schemeClr>
                    </a:solidFill>
                  </a:tcPr>
                </a:tc>
                <a:tc>
                  <a:txBody>
                    <a:bodyPr/>
                    <a:lstStyle/>
                    <a:p>
                      <a:r>
                        <a:rPr lang="en-IN" dirty="0"/>
                        <a:t>?</a:t>
                      </a:r>
                    </a:p>
                  </a:txBody>
                  <a:tcPr>
                    <a:solidFill>
                      <a:schemeClr val="bg2">
                        <a:lumMod val="90000"/>
                      </a:schemeClr>
                    </a:solidFill>
                  </a:tcPr>
                </a:tc>
                <a:tc>
                  <a:txBody>
                    <a:bodyPr/>
                    <a:lstStyle/>
                    <a:p>
                      <a:r>
                        <a:rPr lang="en-IN" dirty="0"/>
                        <a:t>?</a:t>
                      </a:r>
                    </a:p>
                  </a:txBody>
                  <a:tcPr>
                    <a:solidFill>
                      <a:schemeClr val="bg2">
                        <a:lumMod val="90000"/>
                      </a:schemeClr>
                    </a:solidFill>
                  </a:tcPr>
                </a:tc>
                <a:tc>
                  <a:txBody>
                    <a:bodyPr/>
                    <a:lstStyle/>
                    <a:p>
                      <a:r>
                        <a:rPr lang="en-IN" dirty="0"/>
                        <a:t>500</a:t>
                      </a:r>
                    </a:p>
                  </a:txBody>
                  <a:tcPr/>
                </a:tc>
                <a:extLst>
                  <a:ext uri="{0D108BD9-81ED-4DB2-BD59-A6C34878D82A}">
                    <a16:rowId xmlns:a16="http://schemas.microsoft.com/office/drawing/2014/main" val="2206123060"/>
                  </a:ext>
                </a:extLst>
              </a:tr>
            </a:tbl>
          </a:graphicData>
        </a:graphic>
      </p:graphicFrame>
    </p:spTree>
    <p:extLst>
      <p:ext uri="{BB962C8B-B14F-4D97-AF65-F5344CB8AC3E}">
        <p14:creationId xmlns:p14="http://schemas.microsoft.com/office/powerpoint/2010/main" val="1370192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7">
            <a:extLst>
              <a:ext uri="{FF2B5EF4-FFF2-40B4-BE49-F238E27FC236}">
                <a16:creationId xmlns:a16="http://schemas.microsoft.com/office/drawing/2014/main" id="{26C2E145-B352-4656-3E9D-C25CC73E4066}"/>
              </a:ext>
            </a:extLst>
          </p:cNvPr>
          <p:cNvGraphicFramePr>
            <a:graphicFrameLocks noGrp="1"/>
          </p:cNvGraphicFramePr>
          <p:nvPr>
            <p:extLst>
              <p:ext uri="{D42A27DB-BD31-4B8C-83A1-F6EECF244321}">
                <p14:modId xmlns:p14="http://schemas.microsoft.com/office/powerpoint/2010/main" val="4006391862"/>
              </p:ext>
            </p:extLst>
          </p:nvPr>
        </p:nvGraphicFramePr>
        <p:xfrm>
          <a:off x="995251" y="524139"/>
          <a:ext cx="8128000" cy="1752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2555547"/>
                    </a:ext>
                  </a:extLst>
                </a:gridCol>
                <a:gridCol w="2032000">
                  <a:extLst>
                    <a:ext uri="{9D8B030D-6E8A-4147-A177-3AD203B41FA5}">
                      <a16:colId xmlns:a16="http://schemas.microsoft.com/office/drawing/2014/main" val="989363912"/>
                    </a:ext>
                  </a:extLst>
                </a:gridCol>
                <a:gridCol w="2032000">
                  <a:extLst>
                    <a:ext uri="{9D8B030D-6E8A-4147-A177-3AD203B41FA5}">
                      <a16:colId xmlns:a16="http://schemas.microsoft.com/office/drawing/2014/main" val="3817014925"/>
                    </a:ext>
                  </a:extLst>
                </a:gridCol>
                <a:gridCol w="2032000">
                  <a:extLst>
                    <a:ext uri="{9D8B030D-6E8A-4147-A177-3AD203B41FA5}">
                      <a16:colId xmlns:a16="http://schemas.microsoft.com/office/drawing/2014/main" val="2585413350"/>
                    </a:ext>
                  </a:extLst>
                </a:gridCol>
              </a:tblGrid>
              <a:tr h="0">
                <a:tc>
                  <a:txBody>
                    <a:bodyPr/>
                    <a:lstStyle/>
                    <a:p>
                      <a:r>
                        <a:rPr lang="en-IN" dirty="0">
                          <a:solidFill>
                            <a:srgbClr val="FF0000"/>
                          </a:solidFill>
                        </a:rPr>
                        <a:t>Cross tabulation</a:t>
                      </a:r>
                    </a:p>
                  </a:txBody>
                  <a:tcPr>
                    <a:solidFill>
                      <a:schemeClr val="bg2"/>
                    </a:solidFill>
                  </a:tcPr>
                </a:tc>
                <a:tc>
                  <a:txBody>
                    <a:bodyPr/>
                    <a:lstStyle/>
                    <a:p>
                      <a:r>
                        <a:rPr lang="en-IN" dirty="0"/>
                        <a:t>Approve tobacco ban</a:t>
                      </a:r>
                    </a:p>
                  </a:txBody>
                  <a:tcPr/>
                </a:tc>
                <a:tc>
                  <a:txBody>
                    <a:bodyPr/>
                    <a:lstStyle/>
                    <a:p>
                      <a:r>
                        <a:rPr lang="en-IN" dirty="0"/>
                        <a:t>Not approve tobacco ban</a:t>
                      </a:r>
                    </a:p>
                  </a:txBody>
                  <a:tcPr/>
                </a:tc>
                <a:tc>
                  <a:txBody>
                    <a:bodyPr/>
                    <a:lstStyle/>
                    <a:p>
                      <a:r>
                        <a:rPr lang="en-IN" dirty="0"/>
                        <a:t>Row sum</a:t>
                      </a:r>
                    </a:p>
                  </a:txBody>
                  <a:tcPr>
                    <a:solidFill>
                      <a:schemeClr val="accent4">
                        <a:lumMod val="60000"/>
                        <a:lumOff val="40000"/>
                      </a:schemeClr>
                    </a:solidFill>
                  </a:tcPr>
                </a:tc>
                <a:extLst>
                  <a:ext uri="{0D108BD9-81ED-4DB2-BD59-A6C34878D82A}">
                    <a16:rowId xmlns:a16="http://schemas.microsoft.com/office/drawing/2014/main" val="2526517676"/>
                  </a:ext>
                </a:extLst>
              </a:tr>
              <a:tr h="370840">
                <a:tc>
                  <a:txBody>
                    <a:bodyPr/>
                    <a:lstStyle/>
                    <a:p>
                      <a:r>
                        <a:rPr lang="en-IN" dirty="0"/>
                        <a:t>On Campus</a:t>
                      </a:r>
                    </a:p>
                  </a:txBody>
                  <a:tcPr/>
                </a:tc>
                <a:tc>
                  <a:txBody>
                    <a:bodyPr/>
                    <a:lstStyle/>
                    <a:p>
                      <a:r>
                        <a:rPr lang="en-IN" dirty="0"/>
                        <a:t>276</a:t>
                      </a:r>
                    </a:p>
                  </a:txBody>
                  <a:tcPr/>
                </a:tc>
                <a:tc>
                  <a:txBody>
                    <a:bodyPr/>
                    <a:lstStyle/>
                    <a:p>
                      <a:r>
                        <a:rPr lang="en-IN" dirty="0"/>
                        <a:t>79</a:t>
                      </a:r>
                    </a:p>
                  </a:txBody>
                  <a:tcPr/>
                </a:tc>
                <a:tc>
                  <a:txBody>
                    <a:bodyPr/>
                    <a:lstStyle/>
                    <a:p>
                      <a:r>
                        <a:rPr lang="en-IN" dirty="0"/>
                        <a:t>355</a:t>
                      </a:r>
                    </a:p>
                  </a:txBody>
                  <a:tcPr>
                    <a:solidFill>
                      <a:schemeClr val="bg2">
                        <a:lumMod val="90000"/>
                      </a:schemeClr>
                    </a:solidFill>
                  </a:tcPr>
                </a:tc>
                <a:extLst>
                  <a:ext uri="{0D108BD9-81ED-4DB2-BD59-A6C34878D82A}">
                    <a16:rowId xmlns:a16="http://schemas.microsoft.com/office/drawing/2014/main" val="2628195113"/>
                  </a:ext>
                </a:extLst>
              </a:tr>
              <a:tr h="370840">
                <a:tc>
                  <a:txBody>
                    <a:bodyPr/>
                    <a:lstStyle/>
                    <a:p>
                      <a:r>
                        <a:rPr lang="en-IN" dirty="0"/>
                        <a:t>Off campus</a:t>
                      </a:r>
                    </a:p>
                  </a:txBody>
                  <a:tcPr/>
                </a:tc>
                <a:tc>
                  <a:txBody>
                    <a:bodyPr/>
                    <a:lstStyle/>
                    <a:p>
                      <a:r>
                        <a:rPr lang="en-IN" dirty="0"/>
                        <a:t>92</a:t>
                      </a:r>
                    </a:p>
                  </a:txBody>
                  <a:tcPr/>
                </a:tc>
                <a:tc>
                  <a:txBody>
                    <a:bodyPr/>
                    <a:lstStyle/>
                    <a:p>
                      <a:r>
                        <a:rPr lang="en-IN" dirty="0"/>
                        <a:t>53</a:t>
                      </a:r>
                    </a:p>
                  </a:txBody>
                  <a:tcPr/>
                </a:tc>
                <a:tc>
                  <a:txBody>
                    <a:bodyPr/>
                    <a:lstStyle/>
                    <a:p>
                      <a:r>
                        <a:rPr lang="en-IN" dirty="0"/>
                        <a:t>145</a:t>
                      </a:r>
                    </a:p>
                  </a:txBody>
                  <a:tcPr>
                    <a:solidFill>
                      <a:schemeClr val="bg2">
                        <a:lumMod val="90000"/>
                      </a:schemeClr>
                    </a:solidFill>
                  </a:tcPr>
                </a:tc>
                <a:extLst>
                  <a:ext uri="{0D108BD9-81ED-4DB2-BD59-A6C34878D82A}">
                    <a16:rowId xmlns:a16="http://schemas.microsoft.com/office/drawing/2014/main" val="1590722295"/>
                  </a:ext>
                </a:extLst>
              </a:tr>
              <a:tr h="370840">
                <a:tc>
                  <a:txBody>
                    <a:bodyPr/>
                    <a:lstStyle/>
                    <a:p>
                      <a:r>
                        <a:rPr lang="en-IN" dirty="0"/>
                        <a:t>Column sum</a:t>
                      </a:r>
                    </a:p>
                  </a:txBody>
                  <a:tcPr>
                    <a:solidFill>
                      <a:schemeClr val="accent4">
                        <a:lumMod val="60000"/>
                        <a:lumOff val="40000"/>
                      </a:schemeClr>
                    </a:solidFill>
                  </a:tcPr>
                </a:tc>
                <a:tc>
                  <a:txBody>
                    <a:bodyPr/>
                    <a:lstStyle/>
                    <a:p>
                      <a:r>
                        <a:rPr lang="en-IN" dirty="0"/>
                        <a:t>368</a:t>
                      </a:r>
                    </a:p>
                  </a:txBody>
                  <a:tcPr>
                    <a:solidFill>
                      <a:schemeClr val="bg2">
                        <a:lumMod val="90000"/>
                      </a:schemeClr>
                    </a:solidFill>
                  </a:tcPr>
                </a:tc>
                <a:tc>
                  <a:txBody>
                    <a:bodyPr/>
                    <a:lstStyle/>
                    <a:p>
                      <a:r>
                        <a:rPr lang="en-IN" dirty="0"/>
                        <a:t>132</a:t>
                      </a:r>
                    </a:p>
                  </a:txBody>
                  <a:tcPr>
                    <a:solidFill>
                      <a:schemeClr val="bg2">
                        <a:lumMod val="90000"/>
                      </a:schemeClr>
                    </a:solidFill>
                  </a:tcPr>
                </a:tc>
                <a:tc>
                  <a:txBody>
                    <a:bodyPr/>
                    <a:lstStyle/>
                    <a:p>
                      <a:r>
                        <a:rPr lang="en-IN" dirty="0"/>
                        <a:t>500</a:t>
                      </a:r>
                    </a:p>
                  </a:txBody>
                  <a:tcPr/>
                </a:tc>
                <a:extLst>
                  <a:ext uri="{0D108BD9-81ED-4DB2-BD59-A6C34878D82A}">
                    <a16:rowId xmlns:a16="http://schemas.microsoft.com/office/drawing/2014/main" val="2206123060"/>
                  </a:ext>
                </a:extLst>
              </a:tr>
            </a:tbl>
          </a:graphicData>
        </a:graphic>
      </p:graphicFrame>
      <p:cxnSp>
        <p:nvCxnSpPr>
          <p:cNvPr id="5" name="Straight Connector 4">
            <a:extLst>
              <a:ext uri="{FF2B5EF4-FFF2-40B4-BE49-F238E27FC236}">
                <a16:creationId xmlns:a16="http://schemas.microsoft.com/office/drawing/2014/main" id="{F092CFDC-8343-9A66-12AC-9D751900F347}"/>
              </a:ext>
            </a:extLst>
          </p:cNvPr>
          <p:cNvCxnSpPr/>
          <p:nvPr/>
        </p:nvCxnSpPr>
        <p:spPr>
          <a:xfrm>
            <a:off x="560232" y="2543578"/>
            <a:ext cx="10206507"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7" name="Table 7">
            <a:extLst>
              <a:ext uri="{FF2B5EF4-FFF2-40B4-BE49-F238E27FC236}">
                <a16:creationId xmlns:a16="http://schemas.microsoft.com/office/drawing/2014/main" id="{50482858-C69A-5228-BFF5-B913785DDEEF}"/>
              </a:ext>
            </a:extLst>
          </p:cNvPr>
          <p:cNvGraphicFramePr>
            <a:graphicFrameLocks noGrp="1"/>
          </p:cNvGraphicFramePr>
          <p:nvPr>
            <p:extLst>
              <p:ext uri="{D42A27DB-BD31-4B8C-83A1-F6EECF244321}">
                <p14:modId xmlns:p14="http://schemas.microsoft.com/office/powerpoint/2010/main" val="3773844875"/>
              </p:ext>
            </p:extLst>
          </p:nvPr>
        </p:nvGraphicFramePr>
        <p:xfrm>
          <a:off x="995251" y="2749102"/>
          <a:ext cx="8128000" cy="1752600"/>
        </p:xfrm>
        <a:graphic>
          <a:graphicData uri="http://schemas.openxmlformats.org/drawingml/2006/table">
            <a:tbl>
              <a:tblPr firstRow="1" bandRow="1">
                <a:tableStyleId>{5C22544A-7EE6-4342-B048-85BDC9FD1C3A}</a:tableStyleId>
              </a:tblPr>
              <a:tblGrid>
                <a:gridCol w="2243786">
                  <a:extLst>
                    <a:ext uri="{9D8B030D-6E8A-4147-A177-3AD203B41FA5}">
                      <a16:colId xmlns:a16="http://schemas.microsoft.com/office/drawing/2014/main" val="362555547"/>
                    </a:ext>
                  </a:extLst>
                </a:gridCol>
                <a:gridCol w="1820214">
                  <a:extLst>
                    <a:ext uri="{9D8B030D-6E8A-4147-A177-3AD203B41FA5}">
                      <a16:colId xmlns:a16="http://schemas.microsoft.com/office/drawing/2014/main" val="989363912"/>
                    </a:ext>
                  </a:extLst>
                </a:gridCol>
                <a:gridCol w="2032000">
                  <a:extLst>
                    <a:ext uri="{9D8B030D-6E8A-4147-A177-3AD203B41FA5}">
                      <a16:colId xmlns:a16="http://schemas.microsoft.com/office/drawing/2014/main" val="3817014925"/>
                    </a:ext>
                  </a:extLst>
                </a:gridCol>
                <a:gridCol w="2032000">
                  <a:extLst>
                    <a:ext uri="{9D8B030D-6E8A-4147-A177-3AD203B41FA5}">
                      <a16:colId xmlns:a16="http://schemas.microsoft.com/office/drawing/2014/main" val="2585413350"/>
                    </a:ext>
                  </a:extLst>
                </a:gridCol>
              </a:tblGrid>
              <a:tr h="0">
                <a:tc>
                  <a:txBody>
                    <a:bodyPr/>
                    <a:lstStyle/>
                    <a:p>
                      <a:r>
                        <a:rPr lang="en-IN" dirty="0">
                          <a:solidFill>
                            <a:srgbClr val="FF0000"/>
                          </a:solidFill>
                        </a:rPr>
                        <a:t>Cross tabulation (%)</a:t>
                      </a:r>
                    </a:p>
                    <a:p>
                      <a:r>
                        <a:rPr lang="en-IN" dirty="0">
                          <a:solidFill>
                            <a:srgbClr val="FF0000"/>
                          </a:solidFill>
                        </a:rPr>
                        <a:t>ROW PERCENTAGE</a:t>
                      </a:r>
                    </a:p>
                  </a:txBody>
                  <a:tcPr>
                    <a:solidFill>
                      <a:schemeClr val="bg2"/>
                    </a:solidFill>
                  </a:tcPr>
                </a:tc>
                <a:tc>
                  <a:txBody>
                    <a:bodyPr/>
                    <a:lstStyle/>
                    <a:p>
                      <a:r>
                        <a:rPr lang="en-IN" dirty="0"/>
                        <a:t>Approve tobacco ban</a:t>
                      </a:r>
                    </a:p>
                  </a:txBody>
                  <a:tcPr/>
                </a:tc>
                <a:tc>
                  <a:txBody>
                    <a:bodyPr/>
                    <a:lstStyle/>
                    <a:p>
                      <a:r>
                        <a:rPr lang="en-IN" dirty="0"/>
                        <a:t>Not approve tobacco ban</a:t>
                      </a:r>
                    </a:p>
                  </a:txBody>
                  <a:tcPr/>
                </a:tc>
                <a:tc>
                  <a:txBody>
                    <a:bodyPr/>
                    <a:lstStyle/>
                    <a:p>
                      <a:r>
                        <a:rPr lang="en-IN" dirty="0"/>
                        <a:t>Row sum</a:t>
                      </a:r>
                    </a:p>
                  </a:txBody>
                  <a:tcPr>
                    <a:solidFill>
                      <a:schemeClr val="accent4">
                        <a:lumMod val="60000"/>
                        <a:lumOff val="40000"/>
                      </a:schemeClr>
                    </a:solidFill>
                  </a:tcPr>
                </a:tc>
                <a:extLst>
                  <a:ext uri="{0D108BD9-81ED-4DB2-BD59-A6C34878D82A}">
                    <a16:rowId xmlns:a16="http://schemas.microsoft.com/office/drawing/2014/main" val="2526517676"/>
                  </a:ext>
                </a:extLst>
              </a:tr>
              <a:tr h="370840">
                <a:tc>
                  <a:txBody>
                    <a:bodyPr/>
                    <a:lstStyle/>
                    <a:p>
                      <a:r>
                        <a:rPr lang="en-IN" dirty="0"/>
                        <a:t>On Campus</a:t>
                      </a:r>
                    </a:p>
                  </a:txBody>
                  <a:tcPr/>
                </a:tc>
                <a:tc>
                  <a:txBody>
                    <a:bodyPr/>
                    <a:lstStyle/>
                    <a:p>
                      <a:r>
                        <a:rPr lang="en-IN" dirty="0"/>
                        <a:t>77.75%</a:t>
                      </a:r>
                    </a:p>
                  </a:txBody>
                  <a:tcPr/>
                </a:tc>
                <a:tc>
                  <a:txBody>
                    <a:bodyPr/>
                    <a:lstStyle/>
                    <a:p>
                      <a:r>
                        <a:rPr lang="en-IN" dirty="0"/>
                        <a:t>22.25%</a:t>
                      </a:r>
                    </a:p>
                  </a:txBody>
                  <a:tcPr/>
                </a:tc>
                <a:tc>
                  <a:txBody>
                    <a:bodyPr/>
                    <a:lstStyle/>
                    <a:p>
                      <a:r>
                        <a:rPr lang="en-IN" dirty="0"/>
                        <a:t>100</a:t>
                      </a:r>
                    </a:p>
                  </a:txBody>
                  <a:tcPr>
                    <a:solidFill>
                      <a:schemeClr val="bg2">
                        <a:lumMod val="90000"/>
                      </a:schemeClr>
                    </a:solidFill>
                  </a:tcPr>
                </a:tc>
                <a:extLst>
                  <a:ext uri="{0D108BD9-81ED-4DB2-BD59-A6C34878D82A}">
                    <a16:rowId xmlns:a16="http://schemas.microsoft.com/office/drawing/2014/main" val="2628195113"/>
                  </a:ext>
                </a:extLst>
              </a:tr>
              <a:tr h="370840">
                <a:tc>
                  <a:txBody>
                    <a:bodyPr/>
                    <a:lstStyle/>
                    <a:p>
                      <a:r>
                        <a:rPr lang="en-IN" dirty="0"/>
                        <a:t>Off campus</a:t>
                      </a:r>
                    </a:p>
                  </a:txBody>
                  <a:tcPr/>
                </a:tc>
                <a:tc>
                  <a:txBody>
                    <a:bodyPr/>
                    <a:lstStyle/>
                    <a:p>
                      <a:r>
                        <a:rPr lang="en-IN" dirty="0"/>
                        <a:t>63.44%</a:t>
                      </a:r>
                    </a:p>
                  </a:txBody>
                  <a:tcPr/>
                </a:tc>
                <a:tc>
                  <a:txBody>
                    <a:bodyPr/>
                    <a:lstStyle/>
                    <a:p>
                      <a:r>
                        <a:rPr lang="en-IN" dirty="0"/>
                        <a:t>36.55%</a:t>
                      </a:r>
                    </a:p>
                  </a:txBody>
                  <a:tcPr/>
                </a:tc>
                <a:tc>
                  <a:txBody>
                    <a:bodyPr/>
                    <a:lstStyle/>
                    <a:p>
                      <a:r>
                        <a:rPr lang="en-IN" dirty="0"/>
                        <a:t>100</a:t>
                      </a:r>
                    </a:p>
                  </a:txBody>
                  <a:tcPr>
                    <a:solidFill>
                      <a:schemeClr val="bg2">
                        <a:lumMod val="90000"/>
                      </a:schemeClr>
                    </a:solidFill>
                  </a:tcPr>
                </a:tc>
                <a:extLst>
                  <a:ext uri="{0D108BD9-81ED-4DB2-BD59-A6C34878D82A}">
                    <a16:rowId xmlns:a16="http://schemas.microsoft.com/office/drawing/2014/main" val="1590722295"/>
                  </a:ext>
                </a:extLst>
              </a:tr>
              <a:tr h="370840">
                <a:tc>
                  <a:txBody>
                    <a:bodyPr/>
                    <a:lstStyle/>
                    <a:p>
                      <a:r>
                        <a:rPr lang="en-IN" dirty="0"/>
                        <a:t>Column sum</a:t>
                      </a:r>
                    </a:p>
                  </a:txBody>
                  <a:tcPr>
                    <a:solidFill>
                      <a:schemeClr val="accent4">
                        <a:lumMod val="60000"/>
                        <a:lumOff val="40000"/>
                      </a:schemeClr>
                    </a:solidFill>
                  </a:tcPr>
                </a:tc>
                <a:tc>
                  <a:txBody>
                    <a:bodyPr/>
                    <a:lstStyle/>
                    <a:p>
                      <a:r>
                        <a:rPr lang="en-IN" dirty="0"/>
                        <a:t>73.6%</a:t>
                      </a:r>
                    </a:p>
                  </a:txBody>
                  <a:tcPr>
                    <a:solidFill>
                      <a:schemeClr val="bg2">
                        <a:lumMod val="90000"/>
                      </a:schemeClr>
                    </a:solidFill>
                  </a:tcPr>
                </a:tc>
                <a:tc>
                  <a:txBody>
                    <a:bodyPr/>
                    <a:lstStyle/>
                    <a:p>
                      <a:r>
                        <a:rPr lang="en-IN" dirty="0"/>
                        <a:t>26.4%</a:t>
                      </a:r>
                    </a:p>
                  </a:txBody>
                  <a:tcPr>
                    <a:solidFill>
                      <a:schemeClr val="bg2">
                        <a:lumMod val="90000"/>
                      </a:schemeClr>
                    </a:solidFill>
                  </a:tcPr>
                </a:tc>
                <a:tc>
                  <a:txBody>
                    <a:bodyPr/>
                    <a:lstStyle/>
                    <a:p>
                      <a:endParaRPr lang="en-IN" dirty="0"/>
                    </a:p>
                  </a:txBody>
                  <a:tcPr/>
                </a:tc>
                <a:extLst>
                  <a:ext uri="{0D108BD9-81ED-4DB2-BD59-A6C34878D82A}">
                    <a16:rowId xmlns:a16="http://schemas.microsoft.com/office/drawing/2014/main" val="2206123060"/>
                  </a:ext>
                </a:extLst>
              </a:tr>
            </a:tbl>
          </a:graphicData>
        </a:graphic>
      </p:graphicFrame>
      <p:cxnSp>
        <p:nvCxnSpPr>
          <p:cNvPr id="8" name="Straight Connector 7">
            <a:extLst>
              <a:ext uri="{FF2B5EF4-FFF2-40B4-BE49-F238E27FC236}">
                <a16:creationId xmlns:a16="http://schemas.microsoft.com/office/drawing/2014/main" id="{DE04D3B9-7E50-3AD5-06D7-DB97F510B231}"/>
              </a:ext>
            </a:extLst>
          </p:cNvPr>
          <p:cNvCxnSpPr/>
          <p:nvPr/>
        </p:nvCxnSpPr>
        <p:spPr>
          <a:xfrm>
            <a:off x="409979" y="4769477"/>
            <a:ext cx="10206507"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E8E315D-5C09-B478-AA7F-14C72CC6EAE0}"/>
              </a:ext>
            </a:extLst>
          </p:cNvPr>
          <p:cNvSpPr txBox="1"/>
          <p:nvPr/>
        </p:nvSpPr>
        <p:spPr>
          <a:xfrm>
            <a:off x="9599056" y="2813638"/>
            <a:ext cx="2365417" cy="369332"/>
          </a:xfrm>
          <a:prstGeom prst="rect">
            <a:avLst/>
          </a:prstGeom>
          <a:noFill/>
        </p:spPr>
        <p:txBody>
          <a:bodyPr wrap="square" rtlCol="0">
            <a:spAutoFit/>
          </a:bodyPr>
          <a:lstStyle/>
          <a:p>
            <a:r>
              <a:rPr lang="en-IN" b="1" dirty="0"/>
              <a:t>Interpretation?</a:t>
            </a:r>
          </a:p>
        </p:txBody>
      </p:sp>
      <p:graphicFrame>
        <p:nvGraphicFramePr>
          <p:cNvPr id="12" name="Table 7">
            <a:extLst>
              <a:ext uri="{FF2B5EF4-FFF2-40B4-BE49-F238E27FC236}">
                <a16:creationId xmlns:a16="http://schemas.microsoft.com/office/drawing/2014/main" id="{B19494B8-5D25-49CA-808A-C21E6491D1AA}"/>
              </a:ext>
            </a:extLst>
          </p:cNvPr>
          <p:cNvGraphicFramePr>
            <a:graphicFrameLocks noGrp="1"/>
          </p:cNvGraphicFramePr>
          <p:nvPr>
            <p:extLst>
              <p:ext uri="{D42A27DB-BD31-4B8C-83A1-F6EECF244321}">
                <p14:modId xmlns:p14="http://schemas.microsoft.com/office/powerpoint/2010/main" val="2226402029"/>
              </p:ext>
            </p:extLst>
          </p:nvPr>
        </p:nvGraphicFramePr>
        <p:xfrm>
          <a:off x="995251" y="4910607"/>
          <a:ext cx="8128000" cy="1752600"/>
        </p:xfrm>
        <a:graphic>
          <a:graphicData uri="http://schemas.openxmlformats.org/drawingml/2006/table">
            <a:tbl>
              <a:tblPr firstRow="1" bandRow="1">
                <a:tableStyleId>{5C22544A-7EE6-4342-B048-85BDC9FD1C3A}</a:tableStyleId>
              </a:tblPr>
              <a:tblGrid>
                <a:gridCol w="2243786">
                  <a:extLst>
                    <a:ext uri="{9D8B030D-6E8A-4147-A177-3AD203B41FA5}">
                      <a16:colId xmlns:a16="http://schemas.microsoft.com/office/drawing/2014/main" val="362555547"/>
                    </a:ext>
                  </a:extLst>
                </a:gridCol>
                <a:gridCol w="1820214">
                  <a:extLst>
                    <a:ext uri="{9D8B030D-6E8A-4147-A177-3AD203B41FA5}">
                      <a16:colId xmlns:a16="http://schemas.microsoft.com/office/drawing/2014/main" val="989363912"/>
                    </a:ext>
                  </a:extLst>
                </a:gridCol>
                <a:gridCol w="2032000">
                  <a:extLst>
                    <a:ext uri="{9D8B030D-6E8A-4147-A177-3AD203B41FA5}">
                      <a16:colId xmlns:a16="http://schemas.microsoft.com/office/drawing/2014/main" val="3817014925"/>
                    </a:ext>
                  </a:extLst>
                </a:gridCol>
                <a:gridCol w="2032000">
                  <a:extLst>
                    <a:ext uri="{9D8B030D-6E8A-4147-A177-3AD203B41FA5}">
                      <a16:colId xmlns:a16="http://schemas.microsoft.com/office/drawing/2014/main" val="2585413350"/>
                    </a:ext>
                  </a:extLst>
                </a:gridCol>
              </a:tblGrid>
              <a:tr h="0">
                <a:tc>
                  <a:txBody>
                    <a:bodyPr/>
                    <a:lstStyle/>
                    <a:p>
                      <a:r>
                        <a:rPr lang="en-IN" dirty="0">
                          <a:solidFill>
                            <a:srgbClr val="FF0000"/>
                          </a:solidFill>
                        </a:rPr>
                        <a:t>Cross tabulation (%)</a:t>
                      </a:r>
                    </a:p>
                    <a:p>
                      <a:r>
                        <a:rPr lang="en-IN" sz="1600" dirty="0">
                          <a:solidFill>
                            <a:srgbClr val="FF0000"/>
                          </a:solidFill>
                        </a:rPr>
                        <a:t>COLUMN PERCENTAGE</a:t>
                      </a:r>
                    </a:p>
                  </a:txBody>
                  <a:tcPr>
                    <a:solidFill>
                      <a:schemeClr val="bg2"/>
                    </a:solidFill>
                  </a:tcPr>
                </a:tc>
                <a:tc>
                  <a:txBody>
                    <a:bodyPr/>
                    <a:lstStyle/>
                    <a:p>
                      <a:r>
                        <a:rPr lang="en-IN" dirty="0"/>
                        <a:t>Approve tobacco ban</a:t>
                      </a:r>
                    </a:p>
                  </a:txBody>
                  <a:tcPr/>
                </a:tc>
                <a:tc>
                  <a:txBody>
                    <a:bodyPr/>
                    <a:lstStyle/>
                    <a:p>
                      <a:r>
                        <a:rPr lang="en-IN" dirty="0"/>
                        <a:t>Not approve tobacco ban</a:t>
                      </a:r>
                    </a:p>
                  </a:txBody>
                  <a:tcPr/>
                </a:tc>
                <a:tc>
                  <a:txBody>
                    <a:bodyPr/>
                    <a:lstStyle/>
                    <a:p>
                      <a:r>
                        <a:rPr lang="en-IN" dirty="0"/>
                        <a:t>Row sum</a:t>
                      </a:r>
                    </a:p>
                  </a:txBody>
                  <a:tcPr>
                    <a:solidFill>
                      <a:schemeClr val="accent4">
                        <a:lumMod val="60000"/>
                        <a:lumOff val="40000"/>
                      </a:schemeClr>
                    </a:solidFill>
                  </a:tcPr>
                </a:tc>
                <a:extLst>
                  <a:ext uri="{0D108BD9-81ED-4DB2-BD59-A6C34878D82A}">
                    <a16:rowId xmlns:a16="http://schemas.microsoft.com/office/drawing/2014/main" val="2526517676"/>
                  </a:ext>
                </a:extLst>
              </a:tr>
              <a:tr h="370840">
                <a:tc>
                  <a:txBody>
                    <a:bodyPr/>
                    <a:lstStyle/>
                    <a:p>
                      <a:r>
                        <a:rPr lang="en-IN" dirty="0"/>
                        <a:t>On Campus</a:t>
                      </a:r>
                    </a:p>
                  </a:txBody>
                  <a:tcPr/>
                </a:tc>
                <a:tc>
                  <a:txBody>
                    <a:bodyPr/>
                    <a:lstStyle/>
                    <a:p>
                      <a:pPr algn="l" rtl="0" fontAlgn="ctr"/>
                      <a:r>
                        <a:rPr lang="en-IN" sz="1800" b="0" i="0" u="none" strike="noStrike" dirty="0">
                          <a:solidFill>
                            <a:srgbClr val="000000"/>
                          </a:solidFill>
                          <a:effectLst/>
                          <a:latin typeface="Tw Cen MT" panose="020B0602020104020603" pitchFamily="34" charset="0"/>
                        </a:rPr>
                        <a:t>75.00</a:t>
                      </a:r>
                    </a:p>
                  </a:txBody>
                  <a:tcPr marL="5443" marR="5443" marT="5443" marB="0" anchor="ctr"/>
                </a:tc>
                <a:tc>
                  <a:txBody>
                    <a:bodyPr/>
                    <a:lstStyle/>
                    <a:p>
                      <a:pPr algn="l" rtl="0" fontAlgn="ctr"/>
                      <a:r>
                        <a:rPr lang="en-IN" sz="1800" b="0" i="0" u="none" strike="noStrike" dirty="0">
                          <a:solidFill>
                            <a:srgbClr val="000000"/>
                          </a:solidFill>
                          <a:effectLst/>
                          <a:latin typeface="Tw Cen MT" panose="020B0602020104020603" pitchFamily="34" charset="0"/>
                        </a:rPr>
                        <a:t>59.85</a:t>
                      </a:r>
                    </a:p>
                  </a:txBody>
                  <a:tcPr marL="5443" marR="5443" marT="5443" marB="0" anchor="ctr"/>
                </a:tc>
                <a:tc>
                  <a:txBody>
                    <a:bodyPr/>
                    <a:lstStyle/>
                    <a:p>
                      <a:pPr algn="l" rtl="0" fontAlgn="ctr"/>
                      <a:r>
                        <a:rPr lang="en-IN" sz="1800" b="0" i="0" u="none" strike="noStrike" dirty="0">
                          <a:solidFill>
                            <a:srgbClr val="000000"/>
                          </a:solidFill>
                          <a:effectLst/>
                          <a:latin typeface="Tw Cen MT" panose="020B0602020104020603" pitchFamily="34" charset="0"/>
                        </a:rPr>
                        <a:t>71.00</a:t>
                      </a:r>
                    </a:p>
                  </a:txBody>
                  <a:tcPr marL="5443" marR="5443" marT="5443" marB="0" anchor="ctr">
                    <a:solidFill>
                      <a:schemeClr val="bg2">
                        <a:lumMod val="90000"/>
                      </a:schemeClr>
                    </a:solidFill>
                  </a:tcPr>
                </a:tc>
                <a:extLst>
                  <a:ext uri="{0D108BD9-81ED-4DB2-BD59-A6C34878D82A}">
                    <a16:rowId xmlns:a16="http://schemas.microsoft.com/office/drawing/2014/main" val="2628195113"/>
                  </a:ext>
                </a:extLst>
              </a:tr>
              <a:tr h="370840">
                <a:tc>
                  <a:txBody>
                    <a:bodyPr/>
                    <a:lstStyle/>
                    <a:p>
                      <a:r>
                        <a:rPr lang="en-IN" dirty="0"/>
                        <a:t>Off campus</a:t>
                      </a:r>
                    </a:p>
                  </a:txBody>
                  <a:tcPr/>
                </a:tc>
                <a:tc>
                  <a:txBody>
                    <a:bodyPr/>
                    <a:lstStyle/>
                    <a:p>
                      <a:pPr algn="l" rtl="0" fontAlgn="ctr"/>
                      <a:r>
                        <a:rPr lang="en-IN" sz="1800" b="0" i="0" u="none" strike="noStrike">
                          <a:solidFill>
                            <a:srgbClr val="000000"/>
                          </a:solidFill>
                          <a:effectLst/>
                          <a:latin typeface="Tw Cen MT" panose="020B0602020104020603" pitchFamily="34" charset="0"/>
                        </a:rPr>
                        <a:t>25.00</a:t>
                      </a:r>
                    </a:p>
                  </a:txBody>
                  <a:tcPr marL="5443" marR="5443" marT="5443" marB="0" anchor="ctr"/>
                </a:tc>
                <a:tc>
                  <a:txBody>
                    <a:bodyPr/>
                    <a:lstStyle/>
                    <a:p>
                      <a:pPr algn="l" rtl="0" fontAlgn="ctr"/>
                      <a:r>
                        <a:rPr lang="en-IN" sz="1800" b="0" i="0" u="none" strike="noStrike">
                          <a:solidFill>
                            <a:srgbClr val="000000"/>
                          </a:solidFill>
                          <a:effectLst/>
                          <a:latin typeface="Tw Cen MT" panose="020B0602020104020603" pitchFamily="34" charset="0"/>
                        </a:rPr>
                        <a:t>40.15</a:t>
                      </a:r>
                    </a:p>
                  </a:txBody>
                  <a:tcPr marL="5443" marR="5443" marT="5443" marB="0" anchor="ctr"/>
                </a:tc>
                <a:tc>
                  <a:txBody>
                    <a:bodyPr/>
                    <a:lstStyle/>
                    <a:p>
                      <a:pPr algn="l" rtl="0" fontAlgn="ctr"/>
                      <a:r>
                        <a:rPr lang="en-IN" sz="1800" b="0" i="0" u="none" strike="noStrike" dirty="0">
                          <a:solidFill>
                            <a:srgbClr val="000000"/>
                          </a:solidFill>
                          <a:effectLst/>
                          <a:latin typeface="Tw Cen MT" panose="020B0602020104020603" pitchFamily="34" charset="0"/>
                        </a:rPr>
                        <a:t>29.00</a:t>
                      </a:r>
                    </a:p>
                  </a:txBody>
                  <a:tcPr marL="5443" marR="5443" marT="5443" marB="0" anchor="ctr">
                    <a:solidFill>
                      <a:schemeClr val="bg2">
                        <a:lumMod val="90000"/>
                      </a:schemeClr>
                    </a:solidFill>
                  </a:tcPr>
                </a:tc>
                <a:extLst>
                  <a:ext uri="{0D108BD9-81ED-4DB2-BD59-A6C34878D82A}">
                    <a16:rowId xmlns:a16="http://schemas.microsoft.com/office/drawing/2014/main" val="1590722295"/>
                  </a:ext>
                </a:extLst>
              </a:tr>
              <a:tr h="370840">
                <a:tc>
                  <a:txBody>
                    <a:bodyPr/>
                    <a:lstStyle/>
                    <a:p>
                      <a:r>
                        <a:rPr lang="en-IN" dirty="0"/>
                        <a:t>Column sum</a:t>
                      </a:r>
                    </a:p>
                  </a:txBody>
                  <a:tcPr>
                    <a:solidFill>
                      <a:schemeClr val="accent4">
                        <a:lumMod val="60000"/>
                        <a:lumOff val="40000"/>
                      </a:schemeClr>
                    </a:solidFill>
                  </a:tcPr>
                </a:tc>
                <a:tc>
                  <a:txBody>
                    <a:bodyPr/>
                    <a:lstStyle/>
                    <a:p>
                      <a:pPr algn="l" rtl="0" fontAlgn="ctr"/>
                      <a:r>
                        <a:rPr lang="en-IN" sz="1800" b="0" i="0" u="none" strike="noStrike">
                          <a:solidFill>
                            <a:srgbClr val="000000"/>
                          </a:solidFill>
                          <a:effectLst/>
                          <a:latin typeface="Tw Cen MT" panose="020B0602020104020603" pitchFamily="34" charset="0"/>
                        </a:rPr>
                        <a:t>100.00</a:t>
                      </a:r>
                    </a:p>
                  </a:txBody>
                  <a:tcPr marL="5443" marR="5443" marT="5443" marB="0" anchor="ctr">
                    <a:solidFill>
                      <a:schemeClr val="bg2">
                        <a:lumMod val="90000"/>
                      </a:schemeClr>
                    </a:solidFill>
                  </a:tcPr>
                </a:tc>
                <a:tc>
                  <a:txBody>
                    <a:bodyPr/>
                    <a:lstStyle/>
                    <a:p>
                      <a:pPr algn="l" rtl="0" fontAlgn="ctr"/>
                      <a:r>
                        <a:rPr lang="en-IN" sz="1800" b="0" i="0" u="none" strike="noStrike">
                          <a:solidFill>
                            <a:srgbClr val="000000"/>
                          </a:solidFill>
                          <a:effectLst/>
                          <a:latin typeface="Tw Cen MT" panose="020B0602020104020603" pitchFamily="34" charset="0"/>
                        </a:rPr>
                        <a:t>100.00</a:t>
                      </a:r>
                    </a:p>
                  </a:txBody>
                  <a:tcPr marL="5443" marR="5443" marT="5443" marB="0" anchor="ctr">
                    <a:solidFill>
                      <a:schemeClr val="bg2">
                        <a:lumMod val="90000"/>
                      </a:schemeClr>
                    </a:solidFill>
                  </a:tcPr>
                </a:tc>
                <a:tc>
                  <a:txBody>
                    <a:bodyPr/>
                    <a:lstStyle/>
                    <a:p>
                      <a:pPr algn="l" rtl="0" fontAlgn="ctr"/>
                      <a:r>
                        <a:rPr lang="en-IN" sz="1800" b="0" i="0" u="none" strike="noStrike" dirty="0">
                          <a:solidFill>
                            <a:srgbClr val="000000"/>
                          </a:solidFill>
                          <a:effectLst/>
                          <a:latin typeface="Tw Cen MT" panose="020B0602020104020603" pitchFamily="34" charset="0"/>
                        </a:rPr>
                        <a:t>100.00</a:t>
                      </a:r>
                    </a:p>
                  </a:txBody>
                  <a:tcPr marL="5443" marR="5443" marT="5443" marB="0" anchor="ctr"/>
                </a:tc>
                <a:extLst>
                  <a:ext uri="{0D108BD9-81ED-4DB2-BD59-A6C34878D82A}">
                    <a16:rowId xmlns:a16="http://schemas.microsoft.com/office/drawing/2014/main" val="2206123060"/>
                  </a:ext>
                </a:extLst>
              </a:tr>
            </a:tbl>
          </a:graphicData>
        </a:graphic>
      </p:graphicFrame>
      <p:sp>
        <p:nvSpPr>
          <p:cNvPr id="14" name="TextBox 13">
            <a:extLst>
              <a:ext uri="{FF2B5EF4-FFF2-40B4-BE49-F238E27FC236}">
                <a16:creationId xmlns:a16="http://schemas.microsoft.com/office/drawing/2014/main" id="{3CF12BDB-F52B-6526-CE9C-C3AC4DB40B58}"/>
              </a:ext>
            </a:extLst>
          </p:cNvPr>
          <p:cNvSpPr txBox="1"/>
          <p:nvPr/>
        </p:nvSpPr>
        <p:spPr>
          <a:xfrm>
            <a:off x="9493976" y="5224202"/>
            <a:ext cx="2365417" cy="369332"/>
          </a:xfrm>
          <a:prstGeom prst="rect">
            <a:avLst/>
          </a:prstGeom>
          <a:noFill/>
        </p:spPr>
        <p:txBody>
          <a:bodyPr wrap="square" rtlCol="0">
            <a:spAutoFit/>
          </a:bodyPr>
          <a:lstStyle/>
          <a:p>
            <a:r>
              <a:rPr lang="en-IN" b="1" dirty="0"/>
              <a:t>Interpretation?</a:t>
            </a:r>
          </a:p>
        </p:txBody>
      </p:sp>
    </p:spTree>
    <p:extLst>
      <p:ext uri="{BB962C8B-B14F-4D97-AF65-F5344CB8AC3E}">
        <p14:creationId xmlns:p14="http://schemas.microsoft.com/office/powerpoint/2010/main" val="277520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DD82-93A0-8756-9EE3-9CC503BE033B}"/>
              </a:ext>
            </a:extLst>
          </p:cNvPr>
          <p:cNvSpPr>
            <a:spLocks noGrp="1"/>
          </p:cNvSpPr>
          <p:nvPr>
            <p:ph type="title"/>
          </p:nvPr>
        </p:nvSpPr>
        <p:spPr>
          <a:xfrm>
            <a:off x="810492" y="574687"/>
            <a:ext cx="9720072" cy="1499616"/>
          </a:xfrm>
        </p:spPr>
        <p:txBody>
          <a:bodyPr>
            <a:normAutofit/>
          </a:bodyPr>
          <a:lstStyle/>
          <a:p>
            <a:r>
              <a:rPr lang="en-IN" sz="4200" dirty="0"/>
              <a:t>Cross tabulation on excel</a:t>
            </a:r>
            <a:br>
              <a:rPr lang="en-IN" sz="4200" dirty="0"/>
            </a:br>
            <a:r>
              <a:rPr lang="en-IN" sz="4200" dirty="0"/>
              <a:t>/Google DOCs</a:t>
            </a:r>
          </a:p>
        </p:txBody>
      </p:sp>
      <p:sp>
        <p:nvSpPr>
          <p:cNvPr id="3" name="TextBox 2">
            <a:extLst>
              <a:ext uri="{FF2B5EF4-FFF2-40B4-BE49-F238E27FC236}">
                <a16:creationId xmlns:a16="http://schemas.microsoft.com/office/drawing/2014/main" id="{8ECF1D0C-7675-2126-86C8-0A8B4427DB85}"/>
              </a:ext>
            </a:extLst>
          </p:cNvPr>
          <p:cNvSpPr txBox="1"/>
          <p:nvPr/>
        </p:nvSpPr>
        <p:spPr>
          <a:xfrm>
            <a:off x="810492" y="2084832"/>
            <a:ext cx="1539652" cy="369332"/>
          </a:xfrm>
          <a:prstGeom prst="rect">
            <a:avLst/>
          </a:prstGeom>
          <a:noFill/>
        </p:spPr>
        <p:txBody>
          <a:bodyPr wrap="none" rtlCol="0">
            <a:spAutoFit/>
          </a:bodyPr>
          <a:lstStyle/>
          <a:p>
            <a:r>
              <a:rPr lang="en-IN" b="1" dirty="0"/>
              <a:t>PIVOT TABLES</a:t>
            </a:r>
          </a:p>
        </p:txBody>
      </p:sp>
      <p:pic>
        <p:nvPicPr>
          <p:cNvPr id="5" name="Picture 4">
            <a:extLst>
              <a:ext uri="{FF2B5EF4-FFF2-40B4-BE49-F238E27FC236}">
                <a16:creationId xmlns:a16="http://schemas.microsoft.com/office/drawing/2014/main" id="{CF4F640C-18EB-8B16-3EDF-F222C107FC2B}"/>
              </a:ext>
            </a:extLst>
          </p:cNvPr>
          <p:cNvPicPr>
            <a:picLocks noChangeAspect="1"/>
          </p:cNvPicPr>
          <p:nvPr/>
        </p:nvPicPr>
        <p:blipFill>
          <a:blip r:embed="rId2"/>
          <a:stretch>
            <a:fillRect/>
          </a:stretch>
        </p:blipFill>
        <p:spPr>
          <a:xfrm>
            <a:off x="912857" y="2651191"/>
            <a:ext cx="4642815" cy="1845662"/>
          </a:xfrm>
          <a:prstGeom prst="rect">
            <a:avLst/>
          </a:prstGeom>
        </p:spPr>
      </p:pic>
      <p:pic>
        <p:nvPicPr>
          <p:cNvPr id="7" name="Picture 6">
            <a:extLst>
              <a:ext uri="{FF2B5EF4-FFF2-40B4-BE49-F238E27FC236}">
                <a16:creationId xmlns:a16="http://schemas.microsoft.com/office/drawing/2014/main" id="{31B60DA1-87F2-872E-6A11-6F74DE49C412}"/>
              </a:ext>
            </a:extLst>
          </p:cNvPr>
          <p:cNvPicPr>
            <a:picLocks noChangeAspect="1"/>
          </p:cNvPicPr>
          <p:nvPr/>
        </p:nvPicPr>
        <p:blipFill>
          <a:blip r:embed="rId3"/>
          <a:stretch>
            <a:fillRect/>
          </a:stretch>
        </p:blipFill>
        <p:spPr>
          <a:xfrm>
            <a:off x="7162993" y="154549"/>
            <a:ext cx="4551025" cy="6464727"/>
          </a:xfrm>
          <a:prstGeom prst="rect">
            <a:avLst/>
          </a:prstGeom>
        </p:spPr>
      </p:pic>
      <p:graphicFrame>
        <p:nvGraphicFramePr>
          <p:cNvPr id="8" name="Table 7">
            <a:extLst>
              <a:ext uri="{FF2B5EF4-FFF2-40B4-BE49-F238E27FC236}">
                <a16:creationId xmlns:a16="http://schemas.microsoft.com/office/drawing/2014/main" id="{86597804-48DB-E172-2FB2-6721D7DB6C32}"/>
              </a:ext>
            </a:extLst>
          </p:cNvPr>
          <p:cNvGraphicFramePr>
            <a:graphicFrameLocks noGrp="1"/>
          </p:cNvGraphicFramePr>
          <p:nvPr>
            <p:extLst>
              <p:ext uri="{D42A27DB-BD31-4B8C-83A1-F6EECF244321}">
                <p14:modId xmlns:p14="http://schemas.microsoft.com/office/powerpoint/2010/main" val="3832651333"/>
              </p:ext>
            </p:extLst>
          </p:nvPr>
        </p:nvGraphicFramePr>
        <p:xfrm>
          <a:off x="968012" y="4627417"/>
          <a:ext cx="5758372" cy="1551543"/>
        </p:xfrm>
        <a:graphic>
          <a:graphicData uri="http://schemas.openxmlformats.org/drawingml/2006/table">
            <a:tbl>
              <a:tblPr firstRow="1" firstCol="1" lastRow="1">
                <a:tableStyleId>{69C7853C-536D-4A76-A0AE-DD22124D55A5}</a:tableStyleId>
              </a:tblPr>
              <a:tblGrid>
                <a:gridCol w="1830606">
                  <a:extLst>
                    <a:ext uri="{9D8B030D-6E8A-4147-A177-3AD203B41FA5}">
                      <a16:colId xmlns:a16="http://schemas.microsoft.com/office/drawing/2014/main" val="4256648656"/>
                    </a:ext>
                  </a:extLst>
                </a:gridCol>
                <a:gridCol w="1048580">
                  <a:extLst>
                    <a:ext uri="{9D8B030D-6E8A-4147-A177-3AD203B41FA5}">
                      <a16:colId xmlns:a16="http://schemas.microsoft.com/office/drawing/2014/main" val="2259709207"/>
                    </a:ext>
                  </a:extLst>
                </a:gridCol>
                <a:gridCol w="1439593">
                  <a:extLst>
                    <a:ext uri="{9D8B030D-6E8A-4147-A177-3AD203B41FA5}">
                      <a16:colId xmlns:a16="http://schemas.microsoft.com/office/drawing/2014/main" val="2839446661"/>
                    </a:ext>
                  </a:extLst>
                </a:gridCol>
                <a:gridCol w="1439593">
                  <a:extLst>
                    <a:ext uri="{9D8B030D-6E8A-4147-A177-3AD203B41FA5}">
                      <a16:colId xmlns:a16="http://schemas.microsoft.com/office/drawing/2014/main" val="150234335"/>
                    </a:ext>
                  </a:extLst>
                </a:gridCol>
              </a:tblGrid>
              <a:tr h="696345">
                <a:tc>
                  <a:txBody>
                    <a:bodyPr/>
                    <a:lstStyle/>
                    <a:p>
                      <a:pPr rtl="0" fontAlgn="b"/>
                      <a:r>
                        <a:rPr lang="en-GB" sz="1700" b="1" dirty="0">
                          <a:effectLst/>
                        </a:rPr>
                        <a:t>Do you own a pet?</a:t>
                      </a:r>
                    </a:p>
                  </a:txBody>
                  <a:tcPr marL="15552" marR="15552" marT="10368" marB="10368" anchor="b"/>
                </a:tc>
                <a:tc>
                  <a:txBody>
                    <a:bodyPr/>
                    <a:lstStyle/>
                    <a:p>
                      <a:pPr rtl="0" fontAlgn="b"/>
                      <a:r>
                        <a:rPr lang="en-IN" sz="1700" b="1">
                          <a:effectLst/>
                        </a:rPr>
                        <a:t>Female</a:t>
                      </a:r>
                    </a:p>
                  </a:txBody>
                  <a:tcPr marL="15552" marR="15552" marT="10368" marB="10368" anchor="b"/>
                </a:tc>
                <a:tc>
                  <a:txBody>
                    <a:bodyPr/>
                    <a:lstStyle/>
                    <a:p>
                      <a:pPr rtl="0" fontAlgn="b"/>
                      <a:r>
                        <a:rPr lang="en-IN" sz="1700" b="1">
                          <a:effectLst/>
                        </a:rPr>
                        <a:t>Male</a:t>
                      </a:r>
                    </a:p>
                  </a:txBody>
                  <a:tcPr marL="15552" marR="15552" marT="10368" marB="10368" anchor="b"/>
                </a:tc>
                <a:tc>
                  <a:txBody>
                    <a:bodyPr/>
                    <a:lstStyle/>
                    <a:p>
                      <a:pPr rtl="0" fontAlgn="b"/>
                      <a:r>
                        <a:rPr lang="en-IN" sz="1700" b="1" dirty="0">
                          <a:effectLst/>
                        </a:rPr>
                        <a:t>Overall</a:t>
                      </a:r>
                    </a:p>
                  </a:txBody>
                  <a:tcPr marL="0" marR="0" marT="10368" marB="10368" anchor="b"/>
                </a:tc>
                <a:extLst>
                  <a:ext uri="{0D108BD9-81ED-4DB2-BD59-A6C34878D82A}">
                    <a16:rowId xmlns:a16="http://schemas.microsoft.com/office/drawing/2014/main" val="562884724"/>
                  </a:ext>
                </a:extLst>
              </a:tr>
              <a:tr h="285066">
                <a:tc>
                  <a:txBody>
                    <a:bodyPr/>
                    <a:lstStyle/>
                    <a:p>
                      <a:pPr rtl="0" fontAlgn="b"/>
                      <a:r>
                        <a:rPr lang="en-IN" sz="1700" b="1">
                          <a:effectLst/>
                        </a:rPr>
                        <a:t>No</a:t>
                      </a:r>
                    </a:p>
                  </a:txBody>
                  <a:tcPr marL="15552" marR="15552" marT="10368" marB="10368" anchor="b"/>
                </a:tc>
                <a:tc>
                  <a:txBody>
                    <a:bodyPr/>
                    <a:lstStyle/>
                    <a:p>
                      <a:pPr algn="r" rtl="0" fontAlgn="b"/>
                      <a:r>
                        <a:rPr lang="en-IN" sz="1700">
                          <a:effectLst/>
                        </a:rPr>
                        <a:t>73.53</a:t>
                      </a:r>
                    </a:p>
                  </a:txBody>
                  <a:tcPr marL="15552" marR="15552" marT="10368" marB="10368" anchor="b"/>
                </a:tc>
                <a:tc>
                  <a:txBody>
                    <a:bodyPr/>
                    <a:lstStyle/>
                    <a:p>
                      <a:pPr algn="r" rtl="0" fontAlgn="b"/>
                      <a:r>
                        <a:rPr lang="en-IN" sz="1700">
                          <a:effectLst/>
                        </a:rPr>
                        <a:t>63.64</a:t>
                      </a:r>
                    </a:p>
                  </a:txBody>
                  <a:tcPr marL="15552" marR="15552" marT="10368" marB="10368" anchor="b"/>
                </a:tc>
                <a:tc>
                  <a:txBody>
                    <a:bodyPr/>
                    <a:lstStyle/>
                    <a:p>
                      <a:pPr algn="r" rtl="0" fontAlgn="b"/>
                      <a:r>
                        <a:rPr lang="en-IN" sz="1700">
                          <a:effectLst/>
                        </a:rPr>
                        <a:t>71.11</a:t>
                      </a:r>
                    </a:p>
                  </a:txBody>
                  <a:tcPr marL="15552" marR="15552" marT="10368" marB="10368" anchor="b"/>
                </a:tc>
                <a:extLst>
                  <a:ext uri="{0D108BD9-81ED-4DB2-BD59-A6C34878D82A}">
                    <a16:rowId xmlns:a16="http://schemas.microsoft.com/office/drawing/2014/main" val="3088801975"/>
                  </a:ext>
                </a:extLst>
              </a:tr>
              <a:tr h="285066">
                <a:tc>
                  <a:txBody>
                    <a:bodyPr/>
                    <a:lstStyle/>
                    <a:p>
                      <a:pPr rtl="0" fontAlgn="b"/>
                      <a:r>
                        <a:rPr lang="en-IN" sz="1700" b="1">
                          <a:effectLst/>
                        </a:rPr>
                        <a:t>Yes</a:t>
                      </a:r>
                    </a:p>
                  </a:txBody>
                  <a:tcPr marL="15552" marR="15552" marT="10368" marB="10368" anchor="b"/>
                </a:tc>
                <a:tc>
                  <a:txBody>
                    <a:bodyPr/>
                    <a:lstStyle/>
                    <a:p>
                      <a:pPr algn="r" rtl="0" fontAlgn="b"/>
                      <a:r>
                        <a:rPr lang="en-IN" sz="1700">
                          <a:effectLst/>
                        </a:rPr>
                        <a:t>26.47</a:t>
                      </a:r>
                    </a:p>
                  </a:txBody>
                  <a:tcPr marL="15552" marR="15552" marT="10368" marB="10368" anchor="b"/>
                </a:tc>
                <a:tc>
                  <a:txBody>
                    <a:bodyPr/>
                    <a:lstStyle/>
                    <a:p>
                      <a:pPr algn="r" rtl="0" fontAlgn="b"/>
                      <a:r>
                        <a:rPr lang="en-IN" sz="1700">
                          <a:effectLst/>
                        </a:rPr>
                        <a:t>36.36</a:t>
                      </a:r>
                    </a:p>
                  </a:txBody>
                  <a:tcPr marL="15552" marR="15552" marT="10368" marB="10368" anchor="b"/>
                </a:tc>
                <a:tc>
                  <a:txBody>
                    <a:bodyPr/>
                    <a:lstStyle/>
                    <a:p>
                      <a:pPr algn="r" rtl="0" fontAlgn="b"/>
                      <a:r>
                        <a:rPr lang="en-IN" sz="1700">
                          <a:effectLst/>
                        </a:rPr>
                        <a:t>28.89</a:t>
                      </a:r>
                    </a:p>
                  </a:txBody>
                  <a:tcPr marL="15552" marR="15552" marT="10368" marB="10368" anchor="b"/>
                </a:tc>
                <a:extLst>
                  <a:ext uri="{0D108BD9-81ED-4DB2-BD59-A6C34878D82A}">
                    <a16:rowId xmlns:a16="http://schemas.microsoft.com/office/drawing/2014/main" val="2103257107"/>
                  </a:ext>
                </a:extLst>
              </a:tr>
              <a:tr h="285066">
                <a:tc>
                  <a:txBody>
                    <a:bodyPr/>
                    <a:lstStyle/>
                    <a:p>
                      <a:pPr rtl="0" fontAlgn="b"/>
                      <a:r>
                        <a:rPr lang="en-IN" sz="1700" b="1">
                          <a:effectLst/>
                        </a:rPr>
                        <a:t>Total</a:t>
                      </a:r>
                    </a:p>
                  </a:txBody>
                  <a:tcPr marL="0" marR="0" marT="10368" marB="10368" anchor="b"/>
                </a:tc>
                <a:tc>
                  <a:txBody>
                    <a:bodyPr/>
                    <a:lstStyle/>
                    <a:p>
                      <a:pPr algn="r" rtl="0" fontAlgn="b"/>
                      <a:r>
                        <a:rPr lang="en-IN" sz="1700">
                          <a:effectLst/>
                        </a:rPr>
                        <a:t>100.00</a:t>
                      </a:r>
                    </a:p>
                  </a:txBody>
                  <a:tcPr marL="15552" marR="15552" marT="10368" marB="10368" anchor="b"/>
                </a:tc>
                <a:tc>
                  <a:txBody>
                    <a:bodyPr/>
                    <a:lstStyle/>
                    <a:p>
                      <a:pPr algn="r" rtl="0" fontAlgn="b"/>
                      <a:r>
                        <a:rPr lang="en-IN" sz="1700">
                          <a:effectLst/>
                        </a:rPr>
                        <a:t>100.00</a:t>
                      </a:r>
                    </a:p>
                  </a:txBody>
                  <a:tcPr marL="15552" marR="15552" marT="10368" marB="10368" anchor="b"/>
                </a:tc>
                <a:tc>
                  <a:txBody>
                    <a:bodyPr/>
                    <a:lstStyle/>
                    <a:p>
                      <a:pPr algn="r" rtl="0" fontAlgn="b"/>
                      <a:r>
                        <a:rPr lang="en-IN" sz="1700" dirty="0">
                          <a:effectLst/>
                        </a:rPr>
                        <a:t>100.00</a:t>
                      </a:r>
                    </a:p>
                  </a:txBody>
                  <a:tcPr marL="15552" marR="15552" marT="10368" marB="10368" anchor="b"/>
                </a:tc>
                <a:extLst>
                  <a:ext uri="{0D108BD9-81ED-4DB2-BD59-A6C34878D82A}">
                    <a16:rowId xmlns:a16="http://schemas.microsoft.com/office/drawing/2014/main" val="1964464673"/>
                  </a:ext>
                </a:extLst>
              </a:tr>
            </a:tbl>
          </a:graphicData>
        </a:graphic>
      </p:graphicFrame>
    </p:spTree>
    <p:extLst>
      <p:ext uri="{BB962C8B-B14F-4D97-AF65-F5344CB8AC3E}">
        <p14:creationId xmlns:p14="http://schemas.microsoft.com/office/powerpoint/2010/main" val="2461211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7A825-52C0-9FFE-622C-EF031470F4A2}"/>
              </a:ext>
            </a:extLst>
          </p:cNvPr>
          <p:cNvSpPr>
            <a:spLocks noGrp="1"/>
          </p:cNvSpPr>
          <p:nvPr>
            <p:ph type="title"/>
          </p:nvPr>
        </p:nvSpPr>
        <p:spPr/>
        <p:txBody>
          <a:bodyPr/>
          <a:lstStyle/>
          <a:p>
            <a:r>
              <a:rPr lang="en-IN" dirty="0"/>
              <a:t>Percentage , valid percentage and cumulative percentage</a:t>
            </a:r>
          </a:p>
        </p:txBody>
      </p:sp>
      <p:sp>
        <p:nvSpPr>
          <p:cNvPr id="4" name="TextBox 3">
            <a:extLst>
              <a:ext uri="{FF2B5EF4-FFF2-40B4-BE49-F238E27FC236}">
                <a16:creationId xmlns:a16="http://schemas.microsoft.com/office/drawing/2014/main" id="{18B4AE4B-B564-A6B3-7B85-644A27CDAE5A}"/>
              </a:ext>
            </a:extLst>
          </p:cNvPr>
          <p:cNvSpPr txBox="1"/>
          <p:nvPr/>
        </p:nvSpPr>
        <p:spPr>
          <a:xfrm>
            <a:off x="471055" y="5811119"/>
            <a:ext cx="8513618" cy="923330"/>
          </a:xfrm>
          <a:prstGeom prst="rect">
            <a:avLst/>
          </a:prstGeom>
          <a:noFill/>
        </p:spPr>
        <p:txBody>
          <a:bodyPr wrap="square" rtlCol="0">
            <a:spAutoFit/>
          </a:bodyPr>
          <a:lstStyle/>
          <a:p>
            <a:r>
              <a:rPr lang="en-GB" b="1" dirty="0"/>
              <a:t>Missing values</a:t>
            </a:r>
            <a:r>
              <a:rPr lang="en-GB" dirty="0"/>
              <a:t>: Either the question did not apply to them (NAP) or they did</a:t>
            </a:r>
          </a:p>
          <a:p>
            <a:r>
              <a:rPr lang="en-GB" dirty="0"/>
              <a:t>not provide an answer to the question (DK)</a:t>
            </a:r>
          </a:p>
          <a:p>
            <a:endParaRPr lang="en-IN" dirty="0"/>
          </a:p>
        </p:txBody>
      </p:sp>
      <p:pic>
        <p:nvPicPr>
          <p:cNvPr id="6" name="Picture 5">
            <a:extLst>
              <a:ext uri="{FF2B5EF4-FFF2-40B4-BE49-F238E27FC236}">
                <a16:creationId xmlns:a16="http://schemas.microsoft.com/office/drawing/2014/main" id="{E823DC48-3A8A-D2F3-5BF8-510F34CF57E5}"/>
              </a:ext>
            </a:extLst>
          </p:cNvPr>
          <p:cNvPicPr>
            <a:picLocks noChangeAspect="1"/>
          </p:cNvPicPr>
          <p:nvPr/>
        </p:nvPicPr>
        <p:blipFill>
          <a:blip r:embed="rId2"/>
          <a:stretch>
            <a:fillRect/>
          </a:stretch>
        </p:blipFill>
        <p:spPr>
          <a:xfrm>
            <a:off x="421007" y="2286706"/>
            <a:ext cx="6059027" cy="2957239"/>
          </a:xfrm>
          <a:prstGeom prst="rect">
            <a:avLst/>
          </a:prstGeom>
        </p:spPr>
      </p:pic>
      <p:sp>
        <p:nvSpPr>
          <p:cNvPr id="7" name="Rectangle 6">
            <a:extLst>
              <a:ext uri="{FF2B5EF4-FFF2-40B4-BE49-F238E27FC236}">
                <a16:creationId xmlns:a16="http://schemas.microsoft.com/office/drawing/2014/main" id="{3B37DECF-04C6-D0C7-4E37-D5F2ED442218}"/>
              </a:ext>
            </a:extLst>
          </p:cNvPr>
          <p:cNvSpPr/>
          <p:nvPr/>
        </p:nvSpPr>
        <p:spPr>
          <a:xfrm>
            <a:off x="10647218" y="4294909"/>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9FD2D14D-BAD2-692A-3598-6C04A2ABB993}"/>
              </a:ext>
            </a:extLst>
          </p:cNvPr>
          <p:cNvPicPr>
            <a:picLocks noChangeAspect="1"/>
          </p:cNvPicPr>
          <p:nvPr/>
        </p:nvPicPr>
        <p:blipFill>
          <a:blip r:embed="rId3"/>
          <a:stretch>
            <a:fillRect/>
          </a:stretch>
        </p:blipFill>
        <p:spPr>
          <a:xfrm>
            <a:off x="9137073" y="424495"/>
            <a:ext cx="2704379" cy="5741335"/>
          </a:xfrm>
          <a:prstGeom prst="rect">
            <a:avLst/>
          </a:prstGeom>
        </p:spPr>
      </p:pic>
    </p:spTree>
    <p:extLst>
      <p:ext uri="{BB962C8B-B14F-4D97-AF65-F5344CB8AC3E}">
        <p14:creationId xmlns:p14="http://schemas.microsoft.com/office/powerpoint/2010/main" val="809534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3C232-9EB1-3076-ACB4-9DE530DA2080}"/>
              </a:ext>
            </a:extLst>
          </p:cNvPr>
          <p:cNvSpPr>
            <a:spLocks noGrp="1"/>
          </p:cNvSpPr>
          <p:nvPr>
            <p:ph type="title"/>
          </p:nvPr>
        </p:nvSpPr>
        <p:spPr/>
        <p:txBody>
          <a:bodyPr/>
          <a:lstStyle/>
          <a:p>
            <a:r>
              <a:rPr lang="en-IN" dirty="0"/>
              <a:t>exercise</a:t>
            </a:r>
          </a:p>
        </p:txBody>
      </p:sp>
      <p:graphicFrame>
        <p:nvGraphicFramePr>
          <p:cNvPr id="3" name="Table 2">
            <a:extLst>
              <a:ext uri="{FF2B5EF4-FFF2-40B4-BE49-F238E27FC236}">
                <a16:creationId xmlns:a16="http://schemas.microsoft.com/office/drawing/2014/main" id="{E6DF3C51-39BD-FDA0-C3AB-943574F20079}"/>
              </a:ext>
            </a:extLst>
          </p:cNvPr>
          <p:cNvGraphicFramePr>
            <a:graphicFrameLocks noGrp="1"/>
          </p:cNvGraphicFramePr>
          <p:nvPr>
            <p:extLst>
              <p:ext uri="{D42A27DB-BD31-4B8C-83A1-F6EECF244321}">
                <p14:modId xmlns:p14="http://schemas.microsoft.com/office/powerpoint/2010/main" val="1801839952"/>
              </p:ext>
            </p:extLst>
          </p:nvPr>
        </p:nvGraphicFramePr>
        <p:xfrm>
          <a:off x="7093527" y="1087581"/>
          <a:ext cx="4274128" cy="4172222"/>
        </p:xfrm>
        <a:graphic>
          <a:graphicData uri="http://schemas.openxmlformats.org/drawingml/2006/table">
            <a:tbl>
              <a:tblPr firstRow="1" bandRow="1">
                <a:tableStyleId>{5C22544A-7EE6-4342-B048-85BDC9FD1C3A}</a:tableStyleId>
              </a:tblPr>
              <a:tblGrid>
                <a:gridCol w="1068532">
                  <a:extLst>
                    <a:ext uri="{9D8B030D-6E8A-4147-A177-3AD203B41FA5}">
                      <a16:colId xmlns:a16="http://schemas.microsoft.com/office/drawing/2014/main" val="4043906185"/>
                    </a:ext>
                  </a:extLst>
                </a:gridCol>
                <a:gridCol w="1068532">
                  <a:extLst>
                    <a:ext uri="{9D8B030D-6E8A-4147-A177-3AD203B41FA5}">
                      <a16:colId xmlns:a16="http://schemas.microsoft.com/office/drawing/2014/main" val="1615183914"/>
                    </a:ext>
                  </a:extLst>
                </a:gridCol>
                <a:gridCol w="1068532">
                  <a:extLst>
                    <a:ext uri="{9D8B030D-6E8A-4147-A177-3AD203B41FA5}">
                      <a16:colId xmlns:a16="http://schemas.microsoft.com/office/drawing/2014/main" val="675180689"/>
                    </a:ext>
                  </a:extLst>
                </a:gridCol>
                <a:gridCol w="1068532">
                  <a:extLst>
                    <a:ext uri="{9D8B030D-6E8A-4147-A177-3AD203B41FA5}">
                      <a16:colId xmlns:a16="http://schemas.microsoft.com/office/drawing/2014/main" val="1386735190"/>
                    </a:ext>
                  </a:extLst>
                </a:gridCol>
              </a:tblGrid>
              <a:tr h="842221">
                <a:tc>
                  <a:txBody>
                    <a:bodyPr/>
                    <a:lstStyle/>
                    <a:p>
                      <a:pPr algn="l" fontAlgn="b"/>
                      <a:r>
                        <a:rPr lang="en-IN" sz="1600" u="none" strike="noStrike">
                          <a:effectLst/>
                        </a:rPr>
                        <a:t>#</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SEX</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CLASS STANDING</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TIME ON CAMPUS</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972096583"/>
                  </a:ext>
                </a:extLst>
              </a:tr>
              <a:tr h="314661">
                <a:tc>
                  <a:txBody>
                    <a:bodyPr/>
                    <a:lstStyle/>
                    <a:p>
                      <a:pPr algn="r" fontAlgn="b"/>
                      <a:r>
                        <a:rPr lang="en-IN" sz="1600" u="none" strike="noStrike">
                          <a:effectLst/>
                        </a:rPr>
                        <a:t>1</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Freshman</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90</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220924627"/>
                  </a:ext>
                </a:extLst>
              </a:tr>
              <a:tr h="314661">
                <a:tc>
                  <a:txBody>
                    <a:bodyPr/>
                    <a:lstStyle/>
                    <a:p>
                      <a:pPr algn="r" fontAlgn="b"/>
                      <a:r>
                        <a:rPr lang="en-IN" sz="1600" u="none" strike="noStrike">
                          <a:effectLst/>
                        </a:rPr>
                        <a:t>2</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Junior</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75</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2422634428"/>
                  </a:ext>
                </a:extLst>
              </a:tr>
              <a:tr h="306939">
                <a:tc>
                  <a:txBody>
                    <a:bodyPr/>
                    <a:lstStyle/>
                    <a:p>
                      <a:pPr algn="r" fontAlgn="b"/>
                      <a:r>
                        <a:rPr lang="en-IN" sz="1600" u="none" strike="noStrike">
                          <a:effectLst/>
                        </a:rPr>
                        <a:t>3</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Female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Junior</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60</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2293837106"/>
                  </a:ext>
                </a:extLst>
              </a:tr>
              <a:tr h="314661">
                <a:tc>
                  <a:txBody>
                    <a:bodyPr/>
                    <a:lstStyle/>
                    <a:p>
                      <a:pPr algn="r" fontAlgn="b"/>
                      <a:r>
                        <a:rPr lang="en-IN" sz="1600" u="none" strike="noStrike">
                          <a:effectLst/>
                        </a:rPr>
                        <a:t>4</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Female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Sophomore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85</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845828107"/>
                  </a:ext>
                </a:extLst>
              </a:tr>
              <a:tr h="504809">
                <a:tc>
                  <a:txBody>
                    <a:bodyPr/>
                    <a:lstStyle/>
                    <a:p>
                      <a:pPr algn="r" fontAlgn="b"/>
                      <a:r>
                        <a:rPr lang="en-IN" sz="1600" u="none" strike="noStrike" dirty="0">
                          <a:effectLst/>
                        </a:rPr>
                        <a:t>5</a:t>
                      </a:r>
                      <a:endParaRPr lang="en-IN" sz="1600" b="0" i="0" u="none" strike="noStrike" dirty="0">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Female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Freshman</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95</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959830723"/>
                  </a:ext>
                </a:extLst>
              </a:tr>
              <a:tr h="323348">
                <a:tc>
                  <a:txBody>
                    <a:bodyPr/>
                    <a:lstStyle/>
                    <a:p>
                      <a:pPr algn="r" fontAlgn="b"/>
                      <a:r>
                        <a:rPr lang="en-IN" sz="1600" u="none" strike="noStrike">
                          <a:effectLst/>
                        </a:rPr>
                        <a:t>6</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Senior</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50</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236217529"/>
                  </a:ext>
                </a:extLst>
              </a:tr>
              <a:tr h="314661">
                <a:tc>
                  <a:txBody>
                    <a:bodyPr/>
                    <a:lstStyle/>
                    <a:p>
                      <a:pPr algn="r" fontAlgn="b"/>
                      <a:r>
                        <a:rPr lang="en-IN" sz="1600" u="none" strike="noStrike">
                          <a:effectLst/>
                        </a:rPr>
                        <a:t>7</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Female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Junior</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70</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28417698"/>
                  </a:ext>
                </a:extLst>
              </a:tr>
              <a:tr h="314661">
                <a:tc>
                  <a:txBody>
                    <a:bodyPr/>
                    <a:lstStyle/>
                    <a:p>
                      <a:pPr algn="r" fontAlgn="b"/>
                      <a:r>
                        <a:rPr lang="en-IN" sz="1600" u="none" strike="noStrike">
                          <a:effectLst/>
                        </a:rPr>
                        <a:t>8</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Female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Senior</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60</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1937902570"/>
                  </a:ext>
                </a:extLst>
              </a:tr>
              <a:tr h="306939">
                <a:tc>
                  <a:txBody>
                    <a:bodyPr/>
                    <a:lstStyle/>
                    <a:p>
                      <a:pPr algn="r" fontAlgn="b"/>
                      <a:r>
                        <a:rPr lang="en-IN" sz="1600" u="none" strike="noStrike">
                          <a:effectLst/>
                        </a:rPr>
                        <a:t>9</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Sophomore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a:effectLst/>
                        </a:rPr>
                        <a:t>90</a:t>
                      </a:r>
                      <a:endParaRPr lang="en-IN" sz="1600" b="0" i="0" u="none" strike="noStrike">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3344419634"/>
                  </a:ext>
                </a:extLst>
              </a:tr>
              <a:tr h="314661">
                <a:tc>
                  <a:txBody>
                    <a:bodyPr/>
                    <a:lstStyle/>
                    <a:p>
                      <a:pPr algn="r" fontAlgn="b"/>
                      <a:r>
                        <a:rPr lang="en-IN" sz="1600" u="none" strike="noStrike">
                          <a:effectLst/>
                        </a:rPr>
                        <a:t>10</a:t>
                      </a:r>
                      <a:endParaRPr lang="en-IN" sz="1600" b="0" i="0" u="none" strike="noStrike">
                        <a:solidFill>
                          <a:srgbClr val="242021"/>
                        </a:solidFill>
                        <a:effectLst/>
                        <a:latin typeface="OceanSansMM_403_475_"/>
                      </a:endParaRPr>
                    </a:p>
                  </a:txBody>
                  <a:tcPr marL="5443" marR="5443" marT="5443" marB="0" anchor="b"/>
                </a:tc>
                <a:tc>
                  <a:txBody>
                    <a:bodyPr/>
                    <a:lstStyle/>
                    <a:p>
                      <a:pPr algn="l" fontAlgn="b"/>
                      <a:r>
                        <a:rPr lang="en-IN" sz="1600" u="none" strike="noStrike">
                          <a:effectLst/>
                        </a:rPr>
                        <a:t>Female</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l" fontAlgn="b"/>
                      <a:r>
                        <a:rPr lang="en-IN" sz="1600" u="none" strike="noStrike">
                          <a:effectLst/>
                        </a:rPr>
                        <a:t>Junior</a:t>
                      </a:r>
                      <a:endParaRPr lang="en-IN" sz="1600" b="0" i="0" u="none" strike="noStrike">
                        <a:solidFill>
                          <a:srgbClr val="000000"/>
                        </a:solidFill>
                        <a:effectLst/>
                        <a:latin typeface="Calibri" panose="020F0502020204030204" pitchFamily="34" charset="0"/>
                      </a:endParaRPr>
                    </a:p>
                  </a:txBody>
                  <a:tcPr marL="5443" marR="5443" marT="5443" marB="0" anchor="b"/>
                </a:tc>
                <a:tc>
                  <a:txBody>
                    <a:bodyPr/>
                    <a:lstStyle/>
                    <a:p>
                      <a:pPr algn="r" fontAlgn="b"/>
                      <a:r>
                        <a:rPr lang="en-IN" sz="1600" u="none" strike="noStrike" dirty="0">
                          <a:effectLst/>
                        </a:rPr>
                        <a:t>70</a:t>
                      </a:r>
                      <a:endParaRPr lang="en-IN" sz="1600" b="0" i="0" u="none" strike="noStrike" dirty="0">
                        <a:solidFill>
                          <a:srgbClr val="000000"/>
                        </a:solidFill>
                        <a:effectLst/>
                        <a:latin typeface="Calibri" panose="020F0502020204030204" pitchFamily="34" charset="0"/>
                      </a:endParaRPr>
                    </a:p>
                  </a:txBody>
                  <a:tcPr marL="5443" marR="5443" marT="5443" marB="0" anchor="b"/>
                </a:tc>
                <a:extLst>
                  <a:ext uri="{0D108BD9-81ED-4DB2-BD59-A6C34878D82A}">
                    <a16:rowId xmlns:a16="http://schemas.microsoft.com/office/drawing/2014/main" val="70588031"/>
                  </a:ext>
                </a:extLst>
              </a:tr>
            </a:tbl>
          </a:graphicData>
        </a:graphic>
      </p:graphicFrame>
      <p:sp>
        <p:nvSpPr>
          <p:cNvPr id="4" name="TextBox 3">
            <a:extLst>
              <a:ext uri="{FF2B5EF4-FFF2-40B4-BE49-F238E27FC236}">
                <a16:creationId xmlns:a16="http://schemas.microsoft.com/office/drawing/2014/main" id="{B23C21A4-9ACE-5C83-3ED3-1A144171F7D4}"/>
              </a:ext>
            </a:extLst>
          </p:cNvPr>
          <p:cNvSpPr txBox="1"/>
          <p:nvPr/>
        </p:nvSpPr>
        <p:spPr>
          <a:xfrm>
            <a:off x="623455" y="1960418"/>
            <a:ext cx="6470072" cy="2031325"/>
          </a:xfrm>
          <a:prstGeom prst="rect">
            <a:avLst/>
          </a:prstGeom>
          <a:noFill/>
        </p:spPr>
        <p:txBody>
          <a:bodyPr wrap="square" rtlCol="0">
            <a:spAutoFit/>
          </a:bodyPr>
          <a:lstStyle/>
          <a:p>
            <a:r>
              <a:rPr lang="en-GB" dirty="0"/>
              <a:t>Suppose you are doing a study of student integration into social life on campus and want to find out what percent of students live on campus. Using a survey research method, you ask students about their sex, class standing, and </a:t>
            </a:r>
            <a:r>
              <a:rPr lang="en-GB" b="1" dirty="0"/>
              <a:t>what percent of their time they spend on campus</a:t>
            </a:r>
            <a:r>
              <a:rPr lang="en-GB" dirty="0"/>
              <a:t>. You then test out your questionnaire on a group of </a:t>
            </a:r>
            <a:r>
              <a:rPr lang="en-GB" dirty="0" err="1"/>
              <a:t>stu</a:t>
            </a:r>
            <a:r>
              <a:rPr lang="en-GB" dirty="0"/>
              <a:t>-</a:t>
            </a:r>
          </a:p>
          <a:p>
            <a:r>
              <a:rPr lang="en-GB" dirty="0"/>
              <a:t>dents in a dining hall and find the following:</a:t>
            </a:r>
          </a:p>
          <a:p>
            <a:endParaRPr lang="en-IN" dirty="0"/>
          </a:p>
        </p:txBody>
      </p:sp>
      <p:sp>
        <p:nvSpPr>
          <p:cNvPr id="6" name="TextBox 5">
            <a:extLst>
              <a:ext uri="{FF2B5EF4-FFF2-40B4-BE49-F238E27FC236}">
                <a16:creationId xmlns:a16="http://schemas.microsoft.com/office/drawing/2014/main" id="{BD94E06F-E409-A23A-5533-8A1DF6DFDCBD}"/>
              </a:ext>
            </a:extLst>
          </p:cNvPr>
          <p:cNvSpPr txBox="1"/>
          <p:nvPr/>
        </p:nvSpPr>
        <p:spPr>
          <a:xfrm>
            <a:off x="623455" y="5259803"/>
            <a:ext cx="9670473" cy="923330"/>
          </a:xfrm>
          <a:prstGeom prst="rect">
            <a:avLst/>
          </a:prstGeom>
          <a:noFill/>
        </p:spPr>
        <p:txBody>
          <a:bodyPr wrap="square">
            <a:spAutoFit/>
          </a:bodyPr>
          <a:lstStyle/>
          <a:p>
            <a:r>
              <a:rPr lang="en-IN" dirty="0"/>
              <a:t>Using the data from the test of your questionnaire, construct a frequency table for</a:t>
            </a:r>
          </a:p>
          <a:p>
            <a:r>
              <a:rPr lang="en-IN" dirty="0"/>
              <a:t>the variable Sex. Be sure to include </a:t>
            </a:r>
            <a:r>
              <a:rPr lang="en-IN" b="1" dirty="0"/>
              <a:t>value labels, frequencies, </a:t>
            </a:r>
            <a:r>
              <a:rPr lang="en-IN" b="1" dirty="0" err="1"/>
              <a:t>percents</a:t>
            </a:r>
            <a:r>
              <a:rPr lang="en-IN" b="1" dirty="0"/>
              <a:t>, valid </a:t>
            </a:r>
            <a:r>
              <a:rPr lang="en-IN" b="1" dirty="0" err="1"/>
              <a:t>percents</a:t>
            </a:r>
            <a:r>
              <a:rPr lang="en-IN" b="1" dirty="0"/>
              <a:t>,</a:t>
            </a:r>
          </a:p>
          <a:p>
            <a:r>
              <a:rPr lang="en-IN" b="1" dirty="0"/>
              <a:t>and cumulative </a:t>
            </a:r>
            <a:r>
              <a:rPr lang="en-IN" b="1" dirty="0" err="1"/>
              <a:t>percents</a:t>
            </a:r>
            <a:r>
              <a:rPr lang="en-IN" b="1" dirty="0"/>
              <a:t>.</a:t>
            </a:r>
            <a:r>
              <a:rPr lang="en-IN" dirty="0"/>
              <a:t> </a:t>
            </a:r>
          </a:p>
        </p:txBody>
      </p:sp>
    </p:spTree>
    <p:extLst>
      <p:ext uri="{BB962C8B-B14F-4D97-AF65-F5344CB8AC3E}">
        <p14:creationId xmlns:p14="http://schemas.microsoft.com/office/powerpoint/2010/main" val="2305667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EE5C-B29E-ABAC-7526-76EA94CB62D8}"/>
              </a:ext>
            </a:extLst>
          </p:cNvPr>
          <p:cNvSpPr>
            <a:spLocks noGrp="1"/>
          </p:cNvSpPr>
          <p:nvPr>
            <p:ph type="title"/>
          </p:nvPr>
        </p:nvSpPr>
        <p:spPr/>
        <p:txBody>
          <a:bodyPr/>
          <a:lstStyle/>
          <a:p>
            <a:r>
              <a:rPr lang="en-IN" dirty="0"/>
              <a:t>Ordinal variable</a:t>
            </a:r>
          </a:p>
        </p:txBody>
      </p:sp>
      <p:pic>
        <p:nvPicPr>
          <p:cNvPr id="6" name="Picture 5">
            <a:extLst>
              <a:ext uri="{FF2B5EF4-FFF2-40B4-BE49-F238E27FC236}">
                <a16:creationId xmlns:a16="http://schemas.microsoft.com/office/drawing/2014/main" id="{A253AD18-857E-2AE1-9E3F-2BEA42708574}"/>
              </a:ext>
            </a:extLst>
          </p:cNvPr>
          <p:cNvPicPr>
            <a:picLocks noChangeAspect="1"/>
          </p:cNvPicPr>
          <p:nvPr/>
        </p:nvPicPr>
        <p:blipFill>
          <a:blip r:embed="rId2"/>
          <a:stretch>
            <a:fillRect/>
          </a:stretch>
        </p:blipFill>
        <p:spPr>
          <a:xfrm>
            <a:off x="619175" y="2438400"/>
            <a:ext cx="5377684" cy="2122770"/>
          </a:xfrm>
          <a:prstGeom prst="rect">
            <a:avLst/>
          </a:prstGeom>
        </p:spPr>
      </p:pic>
      <p:pic>
        <p:nvPicPr>
          <p:cNvPr id="8" name="Picture 7">
            <a:extLst>
              <a:ext uri="{FF2B5EF4-FFF2-40B4-BE49-F238E27FC236}">
                <a16:creationId xmlns:a16="http://schemas.microsoft.com/office/drawing/2014/main" id="{ADF06BE6-B734-77D1-0948-95A7D1E3CDD1}"/>
              </a:ext>
            </a:extLst>
          </p:cNvPr>
          <p:cNvPicPr>
            <a:picLocks noChangeAspect="1"/>
          </p:cNvPicPr>
          <p:nvPr/>
        </p:nvPicPr>
        <p:blipFill>
          <a:blip r:embed="rId3"/>
          <a:stretch>
            <a:fillRect/>
          </a:stretch>
        </p:blipFill>
        <p:spPr>
          <a:xfrm>
            <a:off x="6830984" y="1387901"/>
            <a:ext cx="3739341" cy="2100998"/>
          </a:xfrm>
          <a:prstGeom prst="rect">
            <a:avLst/>
          </a:prstGeom>
        </p:spPr>
      </p:pic>
    </p:spTree>
    <p:extLst>
      <p:ext uri="{BB962C8B-B14F-4D97-AF65-F5344CB8AC3E}">
        <p14:creationId xmlns:p14="http://schemas.microsoft.com/office/powerpoint/2010/main" val="1898496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6CF3A-D53F-2064-4F2B-94071DD6F824}"/>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2FBB3C10-00FC-1D82-CC49-7EC40747A6DD}"/>
              </a:ext>
            </a:extLst>
          </p:cNvPr>
          <p:cNvPicPr>
            <a:picLocks noChangeAspect="1"/>
          </p:cNvPicPr>
          <p:nvPr/>
        </p:nvPicPr>
        <p:blipFill>
          <a:blip r:embed="rId2"/>
          <a:stretch>
            <a:fillRect/>
          </a:stretch>
        </p:blipFill>
        <p:spPr>
          <a:xfrm>
            <a:off x="904681" y="1798071"/>
            <a:ext cx="5339583" cy="3940732"/>
          </a:xfrm>
          <a:prstGeom prst="rect">
            <a:avLst/>
          </a:prstGeom>
        </p:spPr>
      </p:pic>
      <p:pic>
        <p:nvPicPr>
          <p:cNvPr id="6" name="Picture 5">
            <a:extLst>
              <a:ext uri="{FF2B5EF4-FFF2-40B4-BE49-F238E27FC236}">
                <a16:creationId xmlns:a16="http://schemas.microsoft.com/office/drawing/2014/main" id="{BC8F4AA2-153D-C201-5D5B-837CB1A2A5E1}"/>
              </a:ext>
            </a:extLst>
          </p:cNvPr>
          <p:cNvPicPr>
            <a:picLocks noChangeAspect="1"/>
          </p:cNvPicPr>
          <p:nvPr/>
        </p:nvPicPr>
        <p:blipFill>
          <a:blip r:embed="rId3"/>
          <a:stretch>
            <a:fillRect/>
          </a:stretch>
        </p:blipFill>
        <p:spPr>
          <a:xfrm>
            <a:off x="6752472" y="1938367"/>
            <a:ext cx="3483520" cy="2454793"/>
          </a:xfrm>
          <a:prstGeom prst="rect">
            <a:avLst/>
          </a:prstGeom>
        </p:spPr>
      </p:pic>
    </p:spTree>
    <p:extLst>
      <p:ext uri="{BB962C8B-B14F-4D97-AF65-F5344CB8AC3E}">
        <p14:creationId xmlns:p14="http://schemas.microsoft.com/office/powerpoint/2010/main" val="2428455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F3E38D5D-CE59-4558-DB68-4CB8CB0528DE}"/>
              </a:ext>
            </a:extLst>
          </p:cNvPr>
          <p:cNvPicPr>
            <a:picLocks noGrp="1" noChangeAspect="1"/>
          </p:cNvPicPr>
          <p:nvPr>
            <p:ph type="pic" idx="1"/>
          </p:nvPr>
        </p:nvPicPr>
        <p:blipFill rotWithShape="1">
          <a:blip r:embed="rId3"/>
          <a:srcRect t="3822" b="-696"/>
          <a:stretch/>
        </p:blipFill>
        <p:spPr>
          <a:xfrm>
            <a:off x="148902" y="-1"/>
            <a:ext cx="11777359" cy="6845445"/>
          </a:xfrm>
        </p:spPr>
      </p:pic>
      <p:sp>
        <p:nvSpPr>
          <p:cNvPr id="5" name="Text Placeholder 4">
            <a:extLst>
              <a:ext uri="{FF2B5EF4-FFF2-40B4-BE49-F238E27FC236}">
                <a16:creationId xmlns:a16="http://schemas.microsoft.com/office/drawing/2014/main" id="{E0459975-5387-3E9F-E160-24AFF1181F4B}"/>
              </a:ext>
            </a:extLst>
          </p:cNvPr>
          <p:cNvSpPr>
            <a:spLocks noGrp="1"/>
          </p:cNvSpPr>
          <p:nvPr>
            <p:ph type="body" sz="half" idx="2"/>
          </p:nvPr>
        </p:nvSpPr>
        <p:spPr/>
        <p:txBody>
          <a:bodyPr/>
          <a:lstStyle/>
          <a:p>
            <a:endParaRPr lang="en-IN"/>
          </a:p>
        </p:txBody>
      </p:sp>
      <p:sp>
        <p:nvSpPr>
          <p:cNvPr id="3" name="Title 2">
            <a:extLst>
              <a:ext uri="{FF2B5EF4-FFF2-40B4-BE49-F238E27FC236}">
                <a16:creationId xmlns:a16="http://schemas.microsoft.com/office/drawing/2014/main" id="{30CB5193-766B-2CAD-3E37-78BB7156238F}"/>
              </a:ext>
            </a:extLst>
          </p:cNvPr>
          <p:cNvSpPr>
            <a:spLocks noGrp="1"/>
          </p:cNvSpPr>
          <p:nvPr>
            <p:ph type="title"/>
          </p:nvPr>
        </p:nvSpPr>
        <p:spPr>
          <a:xfrm>
            <a:off x="1801901" y="4049487"/>
            <a:ext cx="7772400" cy="837562"/>
          </a:xfrm>
        </p:spPr>
        <p:txBody>
          <a:bodyPr>
            <a:noAutofit/>
          </a:bodyPr>
          <a:lstStyle/>
          <a:p>
            <a:r>
              <a:rPr lang="en-IN" sz="4000" dirty="0">
                <a:highlight>
                  <a:srgbClr val="FFFF00"/>
                </a:highlight>
              </a:rPr>
              <a:t>Visual representation of variables</a:t>
            </a:r>
          </a:p>
        </p:txBody>
      </p:sp>
    </p:spTree>
    <p:extLst>
      <p:ext uri="{BB962C8B-B14F-4D97-AF65-F5344CB8AC3E}">
        <p14:creationId xmlns:p14="http://schemas.microsoft.com/office/powerpoint/2010/main" val="1253025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4EB762-32DF-2E4C-89EF-AD5568A4B511}"/>
              </a:ext>
            </a:extLst>
          </p:cNvPr>
          <p:cNvSpPr>
            <a:spLocks noGrp="1"/>
          </p:cNvSpPr>
          <p:nvPr>
            <p:ph type="sldNum" sz="quarter" idx="12"/>
          </p:nvPr>
        </p:nvSpPr>
        <p:spPr/>
        <p:txBody>
          <a:bodyPr/>
          <a:lstStyle/>
          <a:p>
            <a:fld id="{312CC964-A50B-4C29-B4E4-2C30BB34CCF3}" type="slidenum">
              <a:rPr lang="en-US" smtClean="0"/>
              <a:t>12</a:t>
            </a:fld>
            <a:endParaRPr lang="en-US"/>
          </a:p>
        </p:txBody>
      </p:sp>
      <p:sp>
        <p:nvSpPr>
          <p:cNvPr id="5" name="Title 4">
            <a:extLst>
              <a:ext uri="{FF2B5EF4-FFF2-40B4-BE49-F238E27FC236}">
                <a16:creationId xmlns:a16="http://schemas.microsoft.com/office/drawing/2014/main" id="{703BE700-EBEA-B244-BCF5-0B51EF83E910}"/>
              </a:ext>
            </a:extLst>
          </p:cNvPr>
          <p:cNvSpPr>
            <a:spLocks noGrp="1"/>
          </p:cNvSpPr>
          <p:nvPr>
            <p:ph type="title"/>
          </p:nvPr>
        </p:nvSpPr>
        <p:spPr>
          <a:xfrm>
            <a:off x="954972" y="200323"/>
            <a:ext cx="9720072" cy="1499616"/>
          </a:xfrm>
        </p:spPr>
        <p:txBody>
          <a:bodyPr/>
          <a:lstStyle/>
          <a:p>
            <a:r>
              <a:rPr lang="en-US" dirty="0"/>
              <a:t>Data deception</a:t>
            </a:r>
          </a:p>
        </p:txBody>
      </p:sp>
      <p:pic>
        <p:nvPicPr>
          <p:cNvPr id="1026" name="Picture 2" descr="An Example of a deceptive visualization">
            <a:extLst>
              <a:ext uri="{FF2B5EF4-FFF2-40B4-BE49-F238E27FC236}">
                <a16:creationId xmlns:a16="http://schemas.microsoft.com/office/drawing/2014/main" id="{D5924C47-F113-1349-82B5-375C1A203D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9100" y="1234440"/>
            <a:ext cx="7428774" cy="5394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588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4" name="Straight Connector 13">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411DB08-1669-426B-BBEB-FAD285EF8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29E4219-121F-4CD1-AA58-24746CD29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4830BA0B-E37E-8F3D-18B7-CCECD5E16878}"/>
              </a:ext>
            </a:extLst>
          </p:cNvPr>
          <p:cNvSpPr>
            <a:spLocks noGrp="1"/>
          </p:cNvSpPr>
          <p:nvPr>
            <p:ph type="title"/>
          </p:nvPr>
        </p:nvSpPr>
        <p:spPr>
          <a:xfrm>
            <a:off x="634276" y="640080"/>
            <a:ext cx="4208656" cy="3034857"/>
          </a:xfrm>
        </p:spPr>
        <p:txBody>
          <a:bodyPr vert="horz" lIns="91440" tIns="45720" rIns="91440" bIns="45720" rtlCol="0" anchor="b">
            <a:normAutofit/>
          </a:bodyPr>
          <a:lstStyle/>
          <a:p>
            <a:pPr algn="r"/>
            <a:r>
              <a:rPr lang="en-GB" sz="4400" kern="1200" cap="all" spc="200" baseline="0" dirty="0">
                <a:solidFill>
                  <a:srgbClr val="FFFFFF"/>
                </a:solidFill>
                <a:latin typeface="+mj-lt"/>
                <a:ea typeface="+mj-ea"/>
                <a:cs typeface="+mj-cs"/>
              </a:rPr>
              <a:t>Differentiating : Data , Information, Knowledge, Insight and Wisdom, and... </a:t>
            </a:r>
            <a:r>
              <a:rPr lang="en-GB" sz="4400" kern="1200" cap="all" spc="200" baseline="0" dirty="0" err="1">
                <a:solidFill>
                  <a:srgbClr val="FFFFFF"/>
                </a:solidFill>
                <a:latin typeface="+mj-lt"/>
                <a:ea typeface="+mj-ea"/>
                <a:cs typeface="+mj-cs"/>
              </a:rPr>
              <a:t>consipracy</a:t>
            </a:r>
            <a:endParaRPr lang="en-US" sz="4400" kern="1200" cap="all" spc="200" baseline="0" dirty="0">
              <a:solidFill>
                <a:srgbClr val="FFFFFF"/>
              </a:solidFill>
              <a:latin typeface="+mj-lt"/>
              <a:ea typeface="+mj-ea"/>
              <a:cs typeface="+mj-cs"/>
            </a:endParaRPr>
          </a:p>
        </p:txBody>
      </p:sp>
      <p:cxnSp>
        <p:nvCxnSpPr>
          <p:cNvPr id="20" name="Straight Connector 19">
            <a:extLst>
              <a:ext uri="{FF2B5EF4-FFF2-40B4-BE49-F238E27FC236}">
                <a16:creationId xmlns:a16="http://schemas.microsoft.com/office/drawing/2014/main" id="{52F50912-06FD-4216-BAD3-21050F5956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4" name="Picture 2" descr="EcoLabs on Twitter: &quot;data-information-knowledge-insight-wisdom...  conspiracy theory… &quot;">
            <a:extLst>
              <a:ext uri="{FF2B5EF4-FFF2-40B4-BE49-F238E27FC236}">
                <a16:creationId xmlns:a16="http://schemas.microsoft.com/office/drawing/2014/main" id="{138C6629-7202-B441-9269-2463C3F023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399"/>
          <a:stretch/>
        </p:blipFill>
        <p:spPr bwMode="auto">
          <a:xfrm>
            <a:off x="6096000" y="681524"/>
            <a:ext cx="5459470" cy="549592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3CC8EAE-1534-0B4F-9A1A-7CE102F92811}"/>
              </a:ext>
            </a:extLst>
          </p:cNvPr>
          <p:cNvSpPr>
            <a:spLocks noGrp="1"/>
          </p:cNvSpPr>
          <p:nvPr>
            <p:ph type="sldNum" sz="quarter" idx="12"/>
          </p:nvPr>
        </p:nvSpPr>
        <p:spPr>
          <a:xfrm>
            <a:off x="10837333" y="6470704"/>
            <a:ext cx="973667" cy="274320"/>
          </a:xfrm>
        </p:spPr>
        <p:txBody>
          <a:bodyPr vert="horz" lIns="91440" tIns="45720" rIns="91440" bIns="45720" rtlCol="0" anchor="ctr">
            <a:normAutofit/>
          </a:bodyPr>
          <a:lstStyle/>
          <a:p>
            <a:pPr defTabSz="914400">
              <a:spcAft>
                <a:spcPts val="600"/>
              </a:spcAft>
            </a:pPr>
            <a:fld id="{312CC964-A50B-4C29-B4E4-2C30BB34CCF3}" type="slidenum">
              <a:rPr lang="en-US" smtClean="0"/>
              <a:pPr defTabSz="914400">
                <a:spcAft>
                  <a:spcPts val="600"/>
                </a:spcAft>
              </a:pPr>
              <a:t>13</a:t>
            </a:fld>
            <a:endParaRPr lang="en-US"/>
          </a:p>
        </p:txBody>
      </p:sp>
    </p:spTree>
    <p:extLst>
      <p:ext uri="{BB962C8B-B14F-4D97-AF65-F5344CB8AC3E}">
        <p14:creationId xmlns:p14="http://schemas.microsoft.com/office/powerpoint/2010/main" val="3893876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6787EB-7982-AC43-A4D4-4DF554AC0356}"/>
              </a:ext>
            </a:extLst>
          </p:cNvPr>
          <p:cNvSpPr>
            <a:spLocks noGrp="1"/>
          </p:cNvSpPr>
          <p:nvPr>
            <p:ph type="sldNum" sz="quarter" idx="12"/>
          </p:nvPr>
        </p:nvSpPr>
        <p:spPr/>
        <p:txBody>
          <a:bodyPr/>
          <a:lstStyle/>
          <a:p>
            <a:fld id="{312CC964-A50B-4C29-B4E4-2C30BB34CCF3}" type="slidenum">
              <a:rPr lang="en-US" smtClean="0"/>
              <a:t>14</a:t>
            </a:fld>
            <a:endParaRPr lang="en-US"/>
          </a:p>
        </p:txBody>
      </p:sp>
      <p:sp>
        <p:nvSpPr>
          <p:cNvPr id="3" name="Title 2">
            <a:extLst>
              <a:ext uri="{FF2B5EF4-FFF2-40B4-BE49-F238E27FC236}">
                <a16:creationId xmlns:a16="http://schemas.microsoft.com/office/drawing/2014/main" id="{607D1819-0DBA-F547-AD7B-C98466ED7526}"/>
              </a:ext>
            </a:extLst>
          </p:cNvPr>
          <p:cNvSpPr>
            <a:spLocks noGrp="1"/>
          </p:cNvSpPr>
          <p:nvPr>
            <p:ph type="title"/>
          </p:nvPr>
        </p:nvSpPr>
        <p:spPr/>
        <p:txBody>
          <a:bodyPr/>
          <a:lstStyle/>
          <a:p>
            <a:r>
              <a:rPr lang="en-US" dirty="0"/>
              <a:t>Data visualization</a:t>
            </a:r>
          </a:p>
        </p:txBody>
      </p:sp>
      <p:sp>
        <p:nvSpPr>
          <p:cNvPr id="4" name="Rectangle 3">
            <a:extLst>
              <a:ext uri="{FF2B5EF4-FFF2-40B4-BE49-F238E27FC236}">
                <a16:creationId xmlns:a16="http://schemas.microsoft.com/office/drawing/2014/main" id="{ACCEF5CE-CA71-4346-8704-9E3940480E1D}"/>
              </a:ext>
            </a:extLst>
          </p:cNvPr>
          <p:cNvSpPr/>
          <p:nvPr/>
        </p:nvSpPr>
        <p:spPr>
          <a:xfrm>
            <a:off x="1447800" y="2010820"/>
            <a:ext cx="9281160" cy="1200329"/>
          </a:xfrm>
          <a:prstGeom prst="rect">
            <a:avLst/>
          </a:prstGeom>
        </p:spPr>
        <p:txBody>
          <a:bodyPr wrap="square">
            <a:spAutoFit/>
          </a:bodyPr>
          <a:lstStyle/>
          <a:p>
            <a:r>
              <a:rPr lang="en-IN" b="1" dirty="0">
                <a:solidFill>
                  <a:srgbClr val="333333"/>
                </a:solidFill>
                <a:latin typeface="Helvetica Neue" panose="02000503000000020004" pitchFamily="2" charset="0"/>
              </a:rPr>
              <a:t>Data visualization</a:t>
            </a:r>
            <a:r>
              <a:rPr lang="en-IN" dirty="0">
                <a:solidFill>
                  <a:srgbClr val="333333"/>
                </a:solidFill>
                <a:latin typeface="Helvetica Neue" panose="02000503000000020004" pitchFamily="2" charset="0"/>
              </a:rPr>
              <a:t> is a graphic representation that expresses the significance of data. It reveals </a:t>
            </a:r>
            <a:r>
              <a:rPr lang="en-IN" b="1" dirty="0">
                <a:solidFill>
                  <a:srgbClr val="333333"/>
                </a:solidFill>
                <a:latin typeface="Helvetica Neue" panose="02000503000000020004" pitchFamily="2" charset="0"/>
              </a:rPr>
              <a:t>insights and patterns that are not immediately visible in the raw data</a:t>
            </a:r>
            <a:r>
              <a:rPr lang="en-IN" dirty="0">
                <a:solidFill>
                  <a:srgbClr val="333333"/>
                </a:solidFill>
                <a:latin typeface="Helvetica Neue" panose="02000503000000020004" pitchFamily="2" charset="0"/>
              </a:rPr>
              <a:t>. It is an art through which information, numbers, and measurements can be made more understandable. According to (Friedman </a:t>
            </a:r>
            <a:r>
              <a:rPr lang="en-IN" dirty="0">
                <a:solidFill>
                  <a:srgbClr val="4183C4"/>
                </a:solidFill>
                <a:latin typeface="Helvetica Neue" panose="02000503000000020004" pitchFamily="2" charset="0"/>
                <a:hlinkClick r:id="rId2"/>
              </a:rPr>
              <a:t>2008</a:t>
            </a:r>
            <a:r>
              <a:rPr lang="en-IN" dirty="0">
                <a:solidFill>
                  <a:srgbClr val="333333"/>
                </a:solidFill>
                <a:latin typeface="Helvetica Neue" panose="02000503000000020004" pitchFamily="2" charset="0"/>
              </a:rPr>
              <a:t>):</a:t>
            </a:r>
          </a:p>
        </p:txBody>
      </p:sp>
      <p:sp>
        <p:nvSpPr>
          <p:cNvPr id="5" name="Rectangle 4">
            <a:extLst>
              <a:ext uri="{FF2B5EF4-FFF2-40B4-BE49-F238E27FC236}">
                <a16:creationId xmlns:a16="http://schemas.microsoft.com/office/drawing/2014/main" id="{468A6050-F146-4D47-B809-22BD60F98CF9}"/>
              </a:ext>
            </a:extLst>
          </p:cNvPr>
          <p:cNvSpPr/>
          <p:nvPr/>
        </p:nvSpPr>
        <p:spPr>
          <a:xfrm>
            <a:off x="1295400" y="3865157"/>
            <a:ext cx="8488680" cy="1754326"/>
          </a:xfrm>
          <a:prstGeom prst="rect">
            <a:avLst/>
          </a:prstGeom>
        </p:spPr>
        <p:txBody>
          <a:bodyPr wrap="square">
            <a:spAutoFit/>
          </a:bodyPr>
          <a:lstStyle/>
          <a:p>
            <a:r>
              <a:rPr lang="en-IN" b="1" dirty="0">
                <a:solidFill>
                  <a:srgbClr val="333333"/>
                </a:solidFill>
                <a:latin typeface="Helvetica Neue" panose="02000503000000020004" pitchFamily="2" charset="0"/>
              </a:rPr>
              <a:t>The primary goal of data visualization is to communicate information clearly and effectively through graphical means. </a:t>
            </a:r>
            <a:r>
              <a:rPr lang="en-IN" dirty="0">
                <a:solidFill>
                  <a:srgbClr val="333333"/>
                </a:solidFill>
                <a:latin typeface="Helvetica Neue" panose="02000503000000020004" pitchFamily="2" charset="0"/>
              </a:rPr>
              <a:t>It does not mean that data visualization needs to look boring to be functional or extremely sophisticated to look beautiful. To convey ideas effectively, both aesthetic form and functionality need to go hand in hand, providing insights into a rather sparse and complex data set by communicating its key-aspects more intuitively.</a:t>
            </a:r>
            <a:endParaRPr lang="en-US" dirty="0"/>
          </a:p>
        </p:txBody>
      </p:sp>
      <p:sp>
        <p:nvSpPr>
          <p:cNvPr id="6" name="Rectangle 5">
            <a:extLst>
              <a:ext uri="{FF2B5EF4-FFF2-40B4-BE49-F238E27FC236}">
                <a16:creationId xmlns:a16="http://schemas.microsoft.com/office/drawing/2014/main" id="{7D5C9615-3FCC-B74C-A025-8D26EE8406E0}"/>
              </a:ext>
            </a:extLst>
          </p:cNvPr>
          <p:cNvSpPr/>
          <p:nvPr/>
        </p:nvSpPr>
        <p:spPr>
          <a:xfrm>
            <a:off x="670560" y="6145636"/>
            <a:ext cx="10850880" cy="369332"/>
          </a:xfrm>
          <a:prstGeom prst="rect">
            <a:avLst/>
          </a:prstGeom>
        </p:spPr>
        <p:txBody>
          <a:bodyPr wrap="square">
            <a:spAutoFit/>
          </a:bodyPr>
          <a:lstStyle/>
          <a:p>
            <a:r>
              <a:rPr lang="en-US" dirty="0"/>
              <a:t>https://</a:t>
            </a:r>
            <a:r>
              <a:rPr lang="en-US" dirty="0" err="1"/>
              <a:t>mschermann.github.io</a:t>
            </a:r>
            <a:r>
              <a:rPr lang="en-US" dirty="0"/>
              <a:t>/</a:t>
            </a:r>
            <a:r>
              <a:rPr lang="en-US" dirty="0" err="1"/>
              <a:t>data_viz_reader</a:t>
            </a:r>
            <a:r>
              <a:rPr lang="en-US" dirty="0"/>
              <a:t>/</a:t>
            </a:r>
            <a:r>
              <a:rPr lang="en-US" dirty="0" err="1"/>
              <a:t>introduction.html#what-is-data-visualization</a:t>
            </a:r>
            <a:endParaRPr lang="en-US" dirty="0"/>
          </a:p>
        </p:txBody>
      </p:sp>
    </p:spTree>
    <p:extLst>
      <p:ext uri="{BB962C8B-B14F-4D97-AF65-F5344CB8AC3E}">
        <p14:creationId xmlns:p14="http://schemas.microsoft.com/office/powerpoint/2010/main" val="234709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F675A4-F859-0A48-9781-9FABA67EEA3B}"/>
              </a:ext>
            </a:extLst>
          </p:cNvPr>
          <p:cNvSpPr>
            <a:spLocks noGrp="1"/>
          </p:cNvSpPr>
          <p:nvPr>
            <p:ph type="title"/>
          </p:nvPr>
        </p:nvSpPr>
        <p:spPr>
          <a:xfrm>
            <a:off x="959419" y="720436"/>
            <a:ext cx="10992164" cy="1056133"/>
          </a:xfrm>
        </p:spPr>
        <p:txBody>
          <a:bodyPr>
            <a:noAutofit/>
          </a:bodyPr>
          <a:lstStyle/>
          <a:p>
            <a:r>
              <a:rPr lang="en-IN" sz="4000" b="1" dirty="0"/>
              <a:t>Why good data visualization is such a powerful tool?</a:t>
            </a:r>
            <a:endParaRPr lang="en-US" sz="4000" dirty="0"/>
          </a:p>
        </p:txBody>
      </p:sp>
      <p:sp>
        <p:nvSpPr>
          <p:cNvPr id="5" name="Content Placeholder 4">
            <a:extLst>
              <a:ext uri="{FF2B5EF4-FFF2-40B4-BE49-F238E27FC236}">
                <a16:creationId xmlns:a16="http://schemas.microsoft.com/office/drawing/2014/main" id="{78F5EC31-16AB-5848-99FE-C8CAA5914968}"/>
              </a:ext>
            </a:extLst>
          </p:cNvPr>
          <p:cNvSpPr>
            <a:spLocks noGrp="1"/>
          </p:cNvSpPr>
          <p:nvPr>
            <p:ph idx="1"/>
          </p:nvPr>
        </p:nvSpPr>
        <p:spPr>
          <a:xfrm>
            <a:off x="959419" y="2234529"/>
            <a:ext cx="10723223" cy="3438430"/>
          </a:xfrm>
        </p:spPr>
        <p:txBody>
          <a:bodyPr/>
          <a:lstStyle/>
          <a:p>
            <a:r>
              <a:rPr lang="en-IN" b="1" dirty="0"/>
              <a:t>Intuitive</a:t>
            </a:r>
            <a:r>
              <a:rPr lang="en-IN" dirty="0"/>
              <a:t>: Presenting a graph as a node-link structure instantly makes sense, even to people who have never worked with graphs before.</a:t>
            </a:r>
          </a:p>
          <a:p>
            <a:r>
              <a:rPr lang="en-IN" b="1" dirty="0"/>
              <a:t>Fast</a:t>
            </a:r>
            <a:r>
              <a:rPr lang="en-IN" dirty="0"/>
              <a:t>: It is fast because our brains are great at identifying patterns, but only when data is presented in a tangible format. Armed with visualization, we can spot trends and outliers very effectively.</a:t>
            </a:r>
          </a:p>
          <a:p>
            <a:r>
              <a:rPr lang="en-IN" b="1" dirty="0"/>
              <a:t>Flexible</a:t>
            </a:r>
            <a:r>
              <a:rPr lang="en-IN" dirty="0"/>
              <a:t>: The world is densely connected, so as long as there is an interesting relationship in your data somewhere, you will find value in graph visualization.</a:t>
            </a:r>
          </a:p>
          <a:p>
            <a:r>
              <a:rPr lang="en-IN" b="1" dirty="0"/>
              <a:t>Insightful</a:t>
            </a:r>
            <a:r>
              <a:rPr lang="en-IN" dirty="0"/>
              <a:t>: Exploring graph data interactively allows users to gain more in-depth knowledge, understand the context and ask more questions, compared to static visualization or raw data</a:t>
            </a:r>
          </a:p>
        </p:txBody>
      </p:sp>
      <p:sp>
        <p:nvSpPr>
          <p:cNvPr id="2" name="Slide Number Placeholder 1">
            <a:extLst>
              <a:ext uri="{FF2B5EF4-FFF2-40B4-BE49-F238E27FC236}">
                <a16:creationId xmlns:a16="http://schemas.microsoft.com/office/drawing/2014/main" id="{41637AD7-1B04-7440-A44D-070C86CD4A5A}"/>
              </a:ext>
            </a:extLst>
          </p:cNvPr>
          <p:cNvSpPr>
            <a:spLocks noGrp="1"/>
          </p:cNvSpPr>
          <p:nvPr>
            <p:ph type="sldNum" sz="quarter" idx="12"/>
          </p:nvPr>
        </p:nvSpPr>
        <p:spPr/>
        <p:txBody>
          <a:bodyPr/>
          <a:lstStyle/>
          <a:p>
            <a:fld id="{312CC964-A50B-4C29-B4E4-2C30BB34CCF3}" type="slidenum">
              <a:rPr lang="en-US" smtClean="0"/>
              <a:t>15</a:t>
            </a:fld>
            <a:endParaRPr lang="en-US"/>
          </a:p>
        </p:txBody>
      </p:sp>
    </p:spTree>
    <p:extLst>
      <p:ext uri="{BB962C8B-B14F-4D97-AF65-F5344CB8AC3E}">
        <p14:creationId xmlns:p14="http://schemas.microsoft.com/office/powerpoint/2010/main" val="2571012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3221BF-0BC6-CE40-89EF-50B93C288D27}"/>
              </a:ext>
            </a:extLst>
          </p:cNvPr>
          <p:cNvSpPr>
            <a:spLocks noGrp="1"/>
          </p:cNvSpPr>
          <p:nvPr>
            <p:ph type="sldNum" sz="quarter" idx="12"/>
          </p:nvPr>
        </p:nvSpPr>
        <p:spPr/>
        <p:txBody>
          <a:bodyPr/>
          <a:lstStyle/>
          <a:p>
            <a:fld id="{312CC964-A50B-4C29-B4E4-2C30BB34CCF3}" type="slidenum">
              <a:rPr lang="en-US" smtClean="0"/>
              <a:t>16</a:t>
            </a:fld>
            <a:endParaRPr lang="en-US"/>
          </a:p>
        </p:txBody>
      </p:sp>
      <p:sp>
        <p:nvSpPr>
          <p:cNvPr id="6" name="Title 5">
            <a:extLst>
              <a:ext uri="{FF2B5EF4-FFF2-40B4-BE49-F238E27FC236}">
                <a16:creationId xmlns:a16="http://schemas.microsoft.com/office/drawing/2014/main" id="{2C1ED352-34AA-314C-B67F-67247D9516E8}"/>
              </a:ext>
            </a:extLst>
          </p:cNvPr>
          <p:cNvSpPr>
            <a:spLocks noGrp="1"/>
          </p:cNvSpPr>
          <p:nvPr>
            <p:ph type="title"/>
          </p:nvPr>
        </p:nvSpPr>
        <p:spPr>
          <a:xfrm>
            <a:off x="953295" y="154975"/>
            <a:ext cx="9720072" cy="1499616"/>
          </a:xfrm>
        </p:spPr>
        <p:txBody>
          <a:bodyPr>
            <a:noAutofit/>
          </a:bodyPr>
          <a:lstStyle/>
          <a:p>
            <a:r>
              <a:rPr lang="en-IN" sz="4000" dirty="0"/>
              <a:t>basic criteria that a data visualization should satisfy to be effective</a:t>
            </a:r>
            <a:endParaRPr lang="en-US" sz="4000" dirty="0"/>
          </a:p>
        </p:txBody>
      </p:sp>
      <p:graphicFrame>
        <p:nvGraphicFramePr>
          <p:cNvPr id="5" name="Table 4">
            <a:extLst>
              <a:ext uri="{FF2B5EF4-FFF2-40B4-BE49-F238E27FC236}">
                <a16:creationId xmlns:a16="http://schemas.microsoft.com/office/drawing/2014/main" id="{440F46A9-C652-F049-A339-AF24D8DA62F5}"/>
              </a:ext>
            </a:extLst>
          </p:cNvPr>
          <p:cNvGraphicFramePr>
            <a:graphicFrameLocks noGrp="1"/>
          </p:cNvGraphicFramePr>
          <p:nvPr/>
        </p:nvGraphicFramePr>
        <p:xfrm>
          <a:off x="822665" y="1399757"/>
          <a:ext cx="9311936" cy="4058486"/>
        </p:xfrm>
        <a:graphic>
          <a:graphicData uri="http://schemas.openxmlformats.org/drawingml/2006/table">
            <a:tbl>
              <a:tblPr/>
              <a:tblGrid>
                <a:gridCol w="4655968">
                  <a:extLst>
                    <a:ext uri="{9D8B030D-6E8A-4147-A177-3AD203B41FA5}">
                      <a16:colId xmlns:a16="http://schemas.microsoft.com/office/drawing/2014/main" val="4128609607"/>
                    </a:ext>
                  </a:extLst>
                </a:gridCol>
                <a:gridCol w="4655968">
                  <a:extLst>
                    <a:ext uri="{9D8B030D-6E8A-4147-A177-3AD203B41FA5}">
                      <a16:colId xmlns:a16="http://schemas.microsoft.com/office/drawing/2014/main" val="179809574"/>
                    </a:ext>
                  </a:extLst>
                </a:gridCol>
              </a:tblGrid>
              <a:tr h="356850">
                <a:tc>
                  <a:txBody>
                    <a:bodyPr/>
                    <a:lstStyle/>
                    <a:p>
                      <a:r>
                        <a:rPr lang="en-IN" sz="1700" b="1">
                          <a:effectLst/>
                        </a:rPr>
                        <a:t>Criteria</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r>
                        <a:rPr lang="en-IN" sz="1700" b="1">
                          <a:effectLst/>
                        </a:rPr>
                        <a:t>Description</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90907179"/>
                  </a:ext>
                </a:extLst>
              </a:tr>
              <a:tr h="1112533">
                <a:tc>
                  <a:txBody>
                    <a:bodyPr/>
                    <a:lstStyle/>
                    <a:p>
                      <a:r>
                        <a:rPr lang="en-IN" sz="1700" b="1" dirty="0">
                          <a:effectLst/>
                        </a:rPr>
                        <a:t>Informative</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r>
                        <a:rPr lang="en-IN" sz="1700">
                          <a:effectLst/>
                        </a:rPr>
                        <a:t>The visualization should be able to convey the desired information from the data to the reader.</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18081419"/>
                  </a:ext>
                </a:extLst>
              </a:tr>
              <a:tr h="608745">
                <a:tc>
                  <a:txBody>
                    <a:bodyPr/>
                    <a:lstStyle/>
                    <a:p>
                      <a:r>
                        <a:rPr lang="en-IN" sz="1700" b="1" dirty="0">
                          <a:effectLst/>
                        </a:rPr>
                        <a:t>Efficient</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tc>
                  <a:txBody>
                    <a:bodyPr/>
                    <a:lstStyle/>
                    <a:p>
                      <a:r>
                        <a:rPr lang="en-IN" sz="1700">
                          <a:effectLst/>
                        </a:rPr>
                        <a:t>The visualization should not be ambiguous.</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8F8F8"/>
                    </a:solidFill>
                  </a:tcPr>
                </a:tc>
                <a:extLst>
                  <a:ext uri="{0D108BD9-81ED-4DB2-BD59-A6C34878D82A}">
                    <a16:rowId xmlns:a16="http://schemas.microsoft.com/office/drawing/2014/main" val="390934506"/>
                  </a:ext>
                </a:extLst>
              </a:tr>
              <a:tr h="860639">
                <a:tc>
                  <a:txBody>
                    <a:bodyPr/>
                    <a:lstStyle/>
                    <a:p>
                      <a:r>
                        <a:rPr lang="en-IN" sz="1700" b="1" dirty="0">
                          <a:effectLst/>
                        </a:rPr>
                        <a:t>Appealing</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r>
                        <a:rPr lang="en-IN" sz="1700">
                          <a:effectLst/>
                        </a:rPr>
                        <a:t>The visualization should be captivating and visually pleasing.</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035091823"/>
                  </a:ext>
                </a:extLst>
              </a:tr>
              <a:tr h="1112533">
                <a:tc>
                  <a:txBody>
                    <a:bodyPr/>
                    <a:lstStyle/>
                    <a:p>
                      <a:r>
                        <a:rPr lang="en-IN" sz="1700" b="1" dirty="0">
                          <a:effectLst/>
                        </a:rPr>
                        <a:t>Interactive and Predictive (Optional)</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19050" cap="flat" cmpd="sng" algn="ctr">
                      <a:solidFill>
                        <a:srgbClr val="DDDDDD"/>
                      </a:solidFill>
                      <a:prstDash val="solid"/>
                      <a:round/>
                      <a:headEnd type="none" w="med" len="med"/>
                      <a:tailEnd type="none" w="med" len="med"/>
                    </a:lnB>
                    <a:solidFill>
                      <a:srgbClr val="F8F8F8"/>
                    </a:solidFill>
                  </a:tcPr>
                </a:tc>
                <a:tc>
                  <a:txBody>
                    <a:bodyPr/>
                    <a:lstStyle/>
                    <a:p>
                      <a:r>
                        <a:rPr lang="en-IN" sz="1700" dirty="0">
                          <a:effectLst/>
                        </a:rPr>
                        <a:t>The visualizations can contain variables and filters with which the users may interact to predict results of different scenarios.</a:t>
                      </a:r>
                    </a:p>
                  </a:txBody>
                  <a:tcPr marL="113702" marR="113702" marT="52478" marB="52478" anchor="ctr">
                    <a:lnL>
                      <a:noFill/>
                    </a:lnL>
                    <a:lnR>
                      <a:noFill/>
                    </a:lnR>
                    <a:lnT w="9525" cap="flat" cmpd="sng" algn="ctr">
                      <a:solidFill>
                        <a:srgbClr val="DDDDDD"/>
                      </a:solidFill>
                      <a:prstDash val="solid"/>
                      <a:round/>
                      <a:headEnd type="none" w="med" len="med"/>
                      <a:tailEnd type="none" w="med" len="med"/>
                    </a:lnT>
                    <a:lnB w="19050" cap="flat" cmpd="sng" algn="ctr">
                      <a:solidFill>
                        <a:srgbClr val="DDDDDD"/>
                      </a:solidFill>
                      <a:prstDash val="solid"/>
                      <a:round/>
                      <a:headEnd type="none" w="med" len="med"/>
                      <a:tailEnd type="none" w="med" len="med"/>
                    </a:lnB>
                    <a:solidFill>
                      <a:srgbClr val="F8F8F8"/>
                    </a:solidFill>
                  </a:tcPr>
                </a:tc>
                <a:extLst>
                  <a:ext uri="{0D108BD9-81ED-4DB2-BD59-A6C34878D82A}">
                    <a16:rowId xmlns:a16="http://schemas.microsoft.com/office/drawing/2014/main" val="1983483327"/>
                  </a:ext>
                </a:extLst>
              </a:tr>
            </a:tbl>
          </a:graphicData>
        </a:graphic>
      </p:graphicFrame>
      <p:sp>
        <p:nvSpPr>
          <p:cNvPr id="7" name="Rectangle 6">
            <a:extLst>
              <a:ext uri="{FF2B5EF4-FFF2-40B4-BE49-F238E27FC236}">
                <a16:creationId xmlns:a16="http://schemas.microsoft.com/office/drawing/2014/main" id="{4CAD993B-A33F-244D-8F52-1FE301BEAA86}"/>
              </a:ext>
            </a:extLst>
          </p:cNvPr>
          <p:cNvSpPr/>
          <p:nvPr/>
        </p:nvSpPr>
        <p:spPr>
          <a:xfrm>
            <a:off x="822665" y="5811119"/>
            <a:ext cx="9714706" cy="923330"/>
          </a:xfrm>
          <a:prstGeom prst="rect">
            <a:avLst/>
          </a:prstGeom>
        </p:spPr>
        <p:txBody>
          <a:bodyPr wrap="square">
            <a:spAutoFit/>
          </a:bodyPr>
          <a:lstStyle/>
          <a:p>
            <a:r>
              <a:rPr lang="en-IN" dirty="0" err="1">
                <a:solidFill>
                  <a:srgbClr val="333333"/>
                </a:solidFill>
                <a:latin typeface="Helvetica Neue" panose="02000503000000020004" pitchFamily="2" charset="0"/>
              </a:rPr>
              <a:t>Pittenturf</a:t>
            </a:r>
            <a:r>
              <a:rPr lang="en-IN" dirty="0">
                <a:solidFill>
                  <a:srgbClr val="333333"/>
                </a:solidFill>
                <a:latin typeface="Helvetica Neue" panose="02000503000000020004" pitchFamily="2" charset="0"/>
              </a:rPr>
              <a:t>, Chris. 2018. “What Is Data Visualization and Why Is It Important?” </a:t>
            </a:r>
            <a:r>
              <a:rPr lang="en-IN" dirty="0">
                <a:solidFill>
                  <a:srgbClr val="4183C4"/>
                </a:solidFill>
                <a:latin typeface="Helvetica Neue" panose="02000503000000020004" pitchFamily="2" charset="0"/>
                <a:hlinkClick r:id="rId2"/>
              </a:rPr>
              <a:t>https://data-visualization.cioreview.com/cxoinsight/what-is-data-visualization-and-why-is-it-important-nid-11806-cid-163.html</a:t>
            </a:r>
            <a:r>
              <a:rPr lang="en-IN" dirty="0">
                <a:solidFill>
                  <a:srgbClr val="333333"/>
                </a:solidFill>
                <a:latin typeface="Helvetica Neue" panose="02000503000000020004" pitchFamily="2" charset="0"/>
              </a:rPr>
              <a:t>.</a:t>
            </a:r>
            <a:endParaRPr lang="en-US" dirty="0"/>
          </a:p>
        </p:txBody>
      </p:sp>
    </p:spTree>
    <p:extLst>
      <p:ext uri="{BB962C8B-B14F-4D97-AF65-F5344CB8AC3E}">
        <p14:creationId xmlns:p14="http://schemas.microsoft.com/office/powerpoint/2010/main" val="2742947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A67DFE-D36D-DD4F-A586-71CD94E45C9C}"/>
              </a:ext>
            </a:extLst>
          </p:cNvPr>
          <p:cNvSpPr>
            <a:spLocks noGrp="1"/>
          </p:cNvSpPr>
          <p:nvPr>
            <p:ph type="sldNum" sz="quarter" idx="12"/>
          </p:nvPr>
        </p:nvSpPr>
        <p:spPr/>
        <p:txBody>
          <a:bodyPr/>
          <a:lstStyle/>
          <a:p>
            <a:fld id="{312CC964-A50B-4C29-B4E4-2C30BB34CCF3}" type="slidenum">
              <a:rPr lang="en-US" smtClean="0"/>
              <a:t>17</a:t>
            </a:fld>
            <a:endParaRPr lang="en-US"/>
          </a:p>
        </p:txBody>
      </p:sp>
      <p:sp>
        <p:nvSpPr>
          <p:cNvPr id="5" name="Title 4">
            <a:extLst>
              <a:ext uri="{FF2B5EF4-FFF2-40B4-BE49-F238E27FC236}">
                <a16:creationId xmlns:a16="http://schemas.microsoft.com/office/drawing/2014/main" id="{B57EAD7C-A87E-2D42-B465-AC9A410037EF}"/>
              </a:ext>
            </a:extLst>
          </p:cNvPr>
          <p:cNvSpPr>
            <a:spLocks noGrp="1"/>
          </p:cNvSpPr>
          <p:nvPr>
            <p:ph type="title"/>
          </p:nvPr>
        </p:nvSpPr>
        <p:spPr>
          <a:xfrm>
            <a:off x="931164" y="37864"/>
            <a:ext cx="9720072" cy="1499616"/>
          </a:xfrm>
        </p:spPr>
        <p:txBody>
          <a:bodyPr/>
          <a:lstStyle/>
          <a:p>
            <a:r>
              <a:rPr lang="en-IN" b="1" dirty="0"/>
              <a:t>Data Exploration</a:t>
            </a:r>
            <a:endParaRPr lang="en-US" dirty="0"/>
          </a:p>
        </p:txBody>
      </p:sp>
      <p:pic>
        <p:nvPicPr>
          <p:cNvPr id="2050" name="Picture 2">
            <a:extLst>
              <a:ext uri="{FF2B5EF4-FFF2-40B4-BE49-F238E27FC236}">
                <a16:creationId xmlns:a16="http://schemas.microsoft.com/office/drawing/2014/main" id="{F299D84A-5078-1B42-B6AD-D8C7E9EFC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00163"/>
            <a:ext cx="12192000" cy="42576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BDE2DEB-AD36-3742-8AB3-282453359709}"/>
              </a:ext>
            </a:extLst>
          </p:cNvPr>
          <p:cNvSpPr/>
          <p:nvPr/>
        </p:nvSpPr>
        <p:spPr>
          <a:xfrm>
            <a:off x="1463040" y="5657671"/>
            <a:ext cx="8656320" cy="923330"/>
          </a:xfrm>
          <a:prstGeom prst="rect">
            <a:avLst/>
          </a:prstGeom>
        </p:spPr>
        <p:txBody>
          <a:bodyPr wrap="square">
            <a:spAutoFit/>
          </a:bodyPr>
          <a:lstStyle/>
          <a:p>
            <a:r>
              <a:rPr lang="en-IN" dirty="0">
                <a:solidFill>
                  <a:srgbClr val="333333"/>
                </a:solidFill>
                <a:latin typeface="Helvetica Neue" panose="02000503000000020004" pitchFamily="2" charset="0"/>
              </a:rPr>
              <a:t>for example, through scatter plots, density plots or bar charts – users can see if two or more variables correlate and determine if they are good candidates for further analysis, which may include:</a:t>
            </a:r>
            <a:endParaRPr lang="en-US" dirty="0"/>
          </a:p>
        </p:txBody>
      </p:sp>
    </p:spTree>
    <p:extLst>
      <p:ext uri="{BB962C8B-B14F-4D97-AF65-F5344CB8AC3E}">
        <p14:creationId xmlns:p14="http://schemas.microsoft.com/office/powerpoint/2010/main" val="1341044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9E84ED2-C7D3-284D-A313-8A2205E54D64}"/>
              </a:ext>
            </a:extLst>
          </p:cNvPr>
          <p:cNvSpPr>
            <a:spLocks noGrp="1"/>
          </p:cNvSpPr>
          <p:nvPr>
            <p:ph type="title"/>
          </p:nvPr>
        </p:nvSpPr>
        <p:spPr/>
        <p:txBody>
          <a:bodyPr/>
          <a:lstStyle/>
          <a:p>
            <a:r>
              <a:rPr lang="en-IN" dirty="0"/>
              <a:t>Nominal variable</a:t>
            </a:r>
          </a:p>
        </p:txBody>
      </p:sp>
      <p:pic>
        <p:nvPicPr>
          <p:cNvPr id="6146" name="Picture 2" descr="Favorite Chart Types">
            <a:extLst>
              <a:ext uri="{FF2B5EF4-FFF2-40B4-BE49-F238E27FC236}">
                <a16:creationId xmlns:a16="http://schemas.microsoft.com/office/drawing/2014/main" id="{AB262AE8-77AD-FE2A-75E3-AF3ED1B35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474" y="2151529"/>
            <a:ext cx="3922699" cy="392269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15AD1EA-6B43-D5DD-8218-B27A861B7B0C}"/>
              </a:ext>
            </a:extLst>
          </p:cNvPr>
          <p:cNvPicPr>
            <a:picLocks noChangeAspect="1"/>
          </p:cNvPicPr>
          <p:nvPr/>
        </p:nvPicPr>
        <p:blipFill>
          <a:blip r:embed="rId3"/>
          <a:stretch>
            <a:fillRect/>
          </a:stretch>
        </p:blipFill>
        <p:spPr>
          <a:xfrm>
            <a:off x="5371827" y="653585"/>
            <a:ext cx="6530679" cy="2862494"/>
          </a:xfrm>
          <a:prstGeom prst="rect">
            <a:avLst/>
          </a:prstGeom>
        </p:spPr>
      </p:pic>
      <p:pic>
        <p:nvPicPr>
          <p:cNvPr id="15" name="Picture 14">
            <a:extLst>
              <a:ext uri="{FF2B5EF4-FFF2-40B4-BE49-F238E27FC236}">
                <a16:creationId xmlns:a16="http://schemas.microsoft.com/office/drawing/2014/main" id="{E164D5FC-BD91-CB8F-9EB4-F7DDF7F52DCE}"/>
              </a:ext>
            </a:extLst>
          </p:cNvPr>
          <p:cNvPicPr>
            <a:picLocks noChangeAspect="1"/>
          </p:cNvPicPr>
          <p:nvPr/>
        </p:nvPicPr>
        <p:blipFill>
          <a:blip r:embed="rId4"/>
          <a:stretch>
            <a:fillRect/>
          </a:stretch>
        </p:blipFill>
        <p:spPr>
          <a:xfrm>
            <a:off x="5685156" y="3692152"/>
            <a:ext cx="6083259" cy="2382076"/>
          </a:xfrm>
          <a:prstGeom prst="rect">
            <a:avLst/>
          </a:prstGeom>
        </p:spPr>
      </p:pic>
    </p:spTree>
    <p:extLst>
      <p:ext uri="{BB962C8B-B14F-4D97-AF65-F5344CB8AC3E}">
        <p14:creationId xmlns:p14="http://schemas.microsoft.com/office/powerpoint/2010/main" val="2800188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8BA8B-4467-0F46-ACE7-B29F44401A28}"/>
              </a:ext>
            </a:extLst>
          </p:cNvPr>
          <p:cNvSpPr>
            <a:spLocks noGrp="1"/>
          </p:cNvSpPr>
          <p:nvPr>
            <p:ph type="title"/>
          </p:nvPr>
        </p:nvSpPr>
        <p:spPr/>
        <p:txBody>
          <a:bodyPr/>
          <a:lstStyle/>
          <a:p>
            <a:r>
              <a:rPr lang="en-IN" dirty="0"/>
              <a:t>Ranking (both Nominal and ordinal)</a:t>
            </a:r>
          </a:p>
        </p:txBody>
      </p:sp>
      <p:pic>
        <p:nvPicPr>
          <p:cNvPr id="4" name="Picture 3">
            <a:extLst>
              <a:ext uri="{FF2B5EF4-FFF2-40B4-BE49-F238E27FC236}">
                <a16:creationId xmlns:a16="http://schemas.microsoft.com/office/drawing/2014/main" id="{75BBBB37-678C-F996-EFA9-F74C685CA57B}"/>
              </a:ext>
            </a:extLst>
          </p:cNvPr>
          <p:cNvPicPr>
            <a:picLocks noChangeAspect="1"/>
          </p:cNvPicPr>
          <p:nvPr/>
        </p:nvPicPr>
        <p:blipFill>
          <a:blip r:embed="rId2"/>
          <a:stretch>
            <a:fillRect/>
          </a:stretch>
        </p:blipFill>
        <p:spPr>
          <a:xfrm>
            <a:off x="784044" y="2084831"/>
            <a:ext cx="4817146" cy="2976565"/>
          </a:xfrm>
          <a:prstGeom prst="rect">
            <a:avLst/>
          </a:prstGeom>
        </p:spPr>
      </p:pic>
      <p:pic>
        <p:nvPicPr>
          <p:cNvPr id="6" name="Picture 5">
            <a:extLst>
              <a:ext uri="{FF2B5EF4-FFF2-40B4-BE49-F238E27FC236}">
                <a16:creationId xmlns:a16="http://schemas.microsoft.com/office/drawing/2014/main" id="{59C8A837-8BD9-51DD-98AD-BA338EDDDBB3}"/>
              </a:ext>
            </a:extLst>
          </p:cNvPr>
          <p:cNvPicPr>
            <a:picLocks noChangeAspect="1"/>
          </p:cNvPicPr>
          <p:nvPr/>
        </p:nvPicPr>
        <p:blipFill>
          <a:blip r:embed="rId3"/>
          <a:stretch>
            <a:fillRect/>
          </a:stretch>
        </p:blipFill>
        <p:spPr>
          <a:xfrm>
            <a:off x="6000337" y="2488432"/>
            <a:ext cx="4562492" cy="2637360"/>
          </a:xfrm>
          <a:prstGeom prst="rect">
            <a:avLst/>
          </a:prstGeom>
        </p:spPr>
      </p:pic>
    </p:spTree>
    <p:extLst>
      <p:ext uri="{BB962C8B-B14F-4D97-AF65-F5344CB8AC3E}">
        <p14:creationId xmlns:p14="http://schemas.microsoft.com/office/powerpoint/2010/main" val="1181890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1BEA4-5DE5-6C11-FD9E-11978EFEF4CD}"/>
              </a:ext>
            </a:extLst>
          </p:cNvPr>
          <p:cNvSpPr>
            <a:spLocks noGrp="1"/>
          </p:cNvSpPr>
          <p:nvPr>
            <p:ph type="title"/>
          </p:nvPr>
        </p:nvSpPr>
        <p:spPr/>
        <p:txBody>
          <a:bodyPr/>
          <a:lstStyle/>
          <a:p>
            <a:r>
              <a:rPr lang="en-IN" dirty="0"/>
              <a:t>Interval/Ratio- univariate</a:t>
            </a:r>
          </a:p>
        </p:txBody>
      </p:sp>
      <p:pic>
        <p:nvPicPr>
          <p:cNvPr id="4" name="Picture 3">
            <a:extLst>
              <a:ext uri="{FF2B5EF4-FFF2-40B4-BE49-F238E27FC236}">
                <a16:creationId xmlns:a16="http://schemas.microsoft.com/office/drawing/2014/main" id="{A5453500-6595-F107-EBD4-25585ECA371F}"/>
              </a:ext>
            </a:extLst>
          </p:cNvPr>
          <p:cNvPicPr>
            <a:picLocks noChangeAspect="1"/>
          </p:cNvPicPr>
          <p:nvPr/>
        </p:nvPicPr>
        <p:blipFill>
          <a:blip r:embed="rId2"/>
          <a:stretch>
            <a:fillRect/>
          </a:stretch>
        </p:blipFill>
        <p:spPr>
          <a:xfrm>
            <a:off x="1148766" y="2226096"/>
            <a:ext cx="8536892" cy="2860733"/>
          </a:xfrm>
          <a:prstGeom prst="rect">
            <a:avLst/>
          </a:prstGeom>
        </p:spPr>
      </p:pic>
    </p:spTree>
    <p:extLst>
      <p:ext uri="{BB962C8B-B14F-4D97-AF65-F5344CB8AC3E}">
        <p14:creationId xmlns:p14="http://schemas.microsoft.com/office/powerpoint/2010/main" val="753245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5CF8-B047-0B80-B60D-342E9A6D1D66}"/>
              </a:ext>
            </a:extLst>
          </p:cNvPr>
          <p:cNvSpPr>
            <a:spLocks noGrp="1"/>
          </p:cNvSpPr>
          <p:nvPr>
            <p:ph type="title"/>
          </p:nvPr>
        </p:nvSpPr>
        <p:spPr/>
        <p:txBody>
          <a:bodyPr/>
          <a:lstStyle/>
          <a:p>
            <a:r>
              <a:rPr lang="en-IN" dirty="0"/>
              <a:t>Ratio- bivariate</a:t>
            </a:r>
          </a:p>
        </p:txBody>
      </p:sp>
      <p:pic>
        <p:nvPicPr>
          <p:cNvPr id="4" name="Picture 3">
            <a:extLst>
              <a:ext uri="{FF2B5EF4-FFF2-40B4-BE49-F238E27FC236}">
                <a16:creationId xmlns:a16="http://schemas.microsoft.com/office/drawing/2014/main" id="{7BD02CE3-B55C-0B69-3CEC-9662DCFA889E}"/>
              </a:ext>
            </a:extLst>
          </p:cNvPr>
          <p:cNvPicPr>
            <a:picLocks noChangeAspect="1"/>
          </p:cNvPicPr>
          <p:nvPr/>
        </p:nvPicPr>
        <p:blipFill>
          <a:blip r:embed="rId2"/>
          <a:stretch>
            <a:fillRect/>
          </a:stretch>
        </p:blipFill>
        <p:spPr>
          <a:xfrm>
            <a:off x="1447800" y="1534534"/>
            <a:ext cx="8207761" cy="2784214"/>
          </a:xfrm>
          <a:prstGeom prst="rect">
            <a:avLst/>
          </a:prstGeom>
        </p:spPr>
      </p:pic>
      <p:pic>
        <p:nvPicPr>
          <p:cNvPr id="6" name="Picture 5">
            <a:extLst>
              <a:ext uri="{FF2B5EF4-FFF2-40B4-BE49-F238E27FC236}">
                <a16:creationId xmlns:a16="http://schemas.microsoft.com/office/drawing/2014/main" id="{92F1EBB6-6DF3-BD6B-0D1F-2AD2F3B2712F}"/>
              </a:ext>
            </a:extLst>
          </p:cNvPr>
          <p:cNvPicPr>
            <a:picLocks noChangeAspect="1"/>
          </p:cNvPicPr>
          <p:nvPr/>
        </p:nvPicPr>
        <p:blipFill rotWithShape="1">
          <a:blip r:embed="rId3"/>
          <a:srcRect t="9357" b="8068"/>
          <a:stretch/>
        </p:blipFill>
        <p:spPr>
          <a:xfrm>
            <a:off x="2902761" y="4410635"/>
            <a:ext cx="4253706" cy="2166898"/>
          </a:xfrm>
          <a:prstGeom prst="rect">
            <a:avLst/>
          </a:prstGeom>
        </p:spPr>
      </p:pic>
    </p:spTree>
    <p:extLst>
      <p:ext uri="{BB962C8B-B14F-4D97-AF65-F5344CB8AC3E}">
        <p14:creationId xmlns:p14="http://schemas.microsoft.com/office/powerpoint/2010/main" val="3349350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10820</TotalTime>
  <Words>1066</Words>
  <Application>Microsoft Office PowerPoint</Application>
  <PresentationFormat>Widescreen</PresentationFormat>
  <Paragraphs>197</Paragraphs>
  <Slides>21</Slides>
  <Notes>4</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Helvetica Neue</vt:lpstr>
      <vt:lpstr>OceanSansMM_403_475_</vt:lpstr>
      <vt:lpstr>Tw Cen MT</vt:lpstr>
      <vt:lpstr>Tw Cen MT Condensed</vt:lpstr>
      <vt:lpstr>Wingdings 3</vt:lpstr>
      <vt:lpstr>Integral</vt:lpstr>
      <vt:lpstr>STAT 221-FUNDAMENTALS OF STATISTICAL DATA ANALYSIS </vt:lpstr>
      <vt:lpstr>Frequency distributions</vt:lpstr>
      <vt:lpstr>Proportions, Percentages, and Ratios</vt:lpstr>
      <vt:lpstr>PowerPoint Presentation</vt:lpstr>
      <vt:lpstr>PowerPoint Presentation</vt:lpstr>
      <vt:lpstr>Cross tabulation on excel /Google DOCs</vt:lpstr>
      <vt:lpstr>Percentage , valid percentage and cumulative percentage</vt:lpstr>
      <vt:lpstr>exercise</vt:lpstr>
      <vt:lpstr>Ordinal variable</vt:lpstr>
      <vt:lpstr>PowerPoint Presentation</vt:lpstr>
      <vt:lpstr>Visual representation of variables</vt:lpstr>
      <vt:lpstr>Data deception</vt:lpstr>
      <vt:lpstr>Differentiating : Data , Information, Knowledge, Insight and Wisdom, and... consipracy</vt:lpstr>
      <vt:lpstr>Data visualization</vt:lpstr>
      <vt:lpstr>Why good data visualization is such a powerful tool?</vt:lpstr>
      <vt:lpstr>basic criteria that a data visualization should satisfy to be effective</vt:lpstr>
      <vt:lpstr>Data Exploration</vt:lpstr>
      <vt:lpstr>Nominal variable</vt:lpstr>
      <vt:lpstr>Ranking (both Nominal and ordinal)</vt:lpstr>
      <vt:lpstr>Interval/Ratio- univariate</vt:lpstr>
      <vt:lpstr>Ratio- bivariate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221-STATISTICAL DATA ANALYSIS</dc:title>
  <dc:creator>9188</dc:creator>
  <cp:lastModifiedBy>Shivakumar Jolad</cp:lastModifiedBy>
  <cp:revision>32</cp:revision>
  <dcterms:created xsi:type="dcterms:W3CDTF">2022-08-28T12:14:03Z</dcterms:created>
  <dcterms:modified xsi:type="dcterms:W3CDTF">2026-07-06T10:09:05Z</dcterms:modified>
</cp:coreProperties>
</file>