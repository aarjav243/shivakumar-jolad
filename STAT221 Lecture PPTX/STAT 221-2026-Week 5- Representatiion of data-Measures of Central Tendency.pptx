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18"/>
  </p:notesMasterIdLst>
  <p:sldIdLst>
    <p:sldId id="257" r:id="rId2"/>
    <p:sldId id="406" r:id="rId3"/>
    <p:sldId id="407" r:id="rId4"/>
    <p:sldId id="412" r:id="rId5"/>
    <p:sldId id="408" r:id="rId6"/>
    <p:sldId id="409" r:id="rId7"/>
    <p:sldId id="410" r:id="rId8"/>
    <p:sldId id="415" r:id="rId9"/>
    <p:sldId id="416" r:id="rId10"/>
    <p:sldId id="418" r:id="rId11"/>
    <p:sldId id="419" r:id="rId12"/>
    <p:sldId id="411" r:id="rId13"/>
    <p:sldId id="413" r:id="rId14"/>
    <p:sldId id="414" r:id="rId15"/>
    <p:sldId id="438" r:id="rId16"/>
    <p:sldId id="43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345" autoAdjust="0"/>
  </p:normalViewPr>
  <p:slideViewPr>
    <p:cSldViewPr snapToGrid="0" snapToObjects="1">
      <p:cViewPr varScale="1">
        <p:scale>
          <a:sx n="90" d="100"/>
          <a:sy n="90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ions\Dropbox\FLAME\Courses\STAT221-Statistical%20Data%20Analysis\Measures%20of%20Central%20tendency%20-%20Distribution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ions\Dropbox\FLAME\Courses\STAT221-Statistical%20Data%20Analysis\Measures%20of%20Central%20tendency%20-%20Distribution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ions\Dropbox\FLAME\Courses\STAT221-Statistical%20Data%20Analysis\Measures%20of%20Central%20tendency%20-%20Distribution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ions\Dropbox\FLAME\Courses\STAT221-Statistical%20Data%20Analysis\Measures%20of%20Central%20tendency%20-%20Distribution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Mothers</a:t>
            </a:r>
            <a:r>
              <a:rPr lang="en-IN" baseline="0"/>
              <a:t> educational level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6.0828958880139984E-2"/>
          <c:y val="0.23261592300962383"/>
          <c:w val="0.90305993000874896"/>
          <c:h val="0.471466535433070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Sheet2!$F$23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Sheet2!$E$24:$E$30</c:f>
              <c:strCache>
                <c:ptCount val="7"/>
                <c:pt idx="0">
                  <c:v>No schooling</c:v>
                </c:pt>
                <c:pt idx="1">
                  <c:v>Primary (1-5)</c:v>
                </c:pt>
                <c:pt idx="2">
                  <c:v>Upper Primary(6-8)</c:v>
                </c:pt>
                <c:pt idx="3">
                  <c:v>Secondary (9-10)</c:v>
                </c:pt>
                <c:pt idx="4">
                  <c:v>Higher secondary/Diploma/Vocational</c:v>
                </c:pt>
                <c:pt idx="5">
                  <c:v>College</c:v>
                </c:pt>
                <c:pt idx="6">
                  <c:v>Post Graduate (PG and above)</c:v>
                </c:pt>
              </c:strCache>
            </c:strRef>
          </c:cat>
          <c:val>
            <c:numRef>
              <c:f>Sheet2!$F$24:$F$30</c:f>
              <c:numCache>
                <c:formatCode>General</c:formatCode>
                <c:ptCount val="7"/>
                <c:pt idx="0">
                  <c:v>4</c:v>
                </c:pt>
                <c:pt idx="1">
                  <c:v>12</c:v>
                </c:pt>
                <c:pt idx="2">
                  <c:v>15</c:v>
                </c:pt>
                <c:pt idx="3">
                  <c:v>26</c:v>
                </c:pt>
                <c:pt idx="4">
                  <c:v>20</c:v>
                </c:pt>
                <c:pt idx="5">
                  <c:v>14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82-481B-8CDE-062BDBEBF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98380239"/>
        <c:axId val="1598385647"/>
      </c:barChart>
      <c:catAx>
        <c:axId val="1598380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85647"/>
        <c:crosses val="autoZero"/>
        <c:auto val="1"/>
        <c:lblAlgn val="ctr"/>
        <c:lblOffset val="100"/>
        <c:noMultiLvlLbl val="0"/>
      </c:catAx>
      <c:valAx>
        <c:axId val="1598385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80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Frequency distribution highest year</a:t>
            </a:r>
            <a:r>
              <a:rPr lang="en-US" baseline="0"/>
              <a:t> of school complted</a:t>
            </a:r>
            <a:endParaRPr lang="en-US"/>
          </a:p>
        </c:rich>
      </c:tx>
      <c:layout>
        <c:manualLayout>
          <c:xMode val="edge"/>
          <c:yMode val="edge"/>
          <c:x val="0.12801377952755905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Worksheet!$AN$1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Worksheet!$AM$2:$AM$22</c:f>
              <c:numCache>
                <c:formatCode>@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Worksheet!$AN$2:$AN$22</c:f>
              <c:numCache>
                <c:formatCode>0</c:formatCode>
                <c:ptCount val="21"/>
                <c:pt idx="0">
                  <c:v>22</c:v>
                </c:pt>
                <c:pt idx="1">
                  <c:v>4</c:v>
                </c:pt>
                <c:pt idx="2">
                  <c:v>28</c:v>
                </c:pt>
                <c:pt idx="3">
                  <c:v>13</c:v>
                </c:pt>
                <c:pt idx="4">
                  <c:v>11</c:v>
                </c:pt>
                <c:pt idx="5">
                  <c:v>23</c:v>
                </c:pt>
                <c:pt idx="6">
                  <c:v>69</c:v>
                </c:pt>
                <c:pt idx="7">
                  <c:v>32</c:v>
                </c:pt>
                <c:pt idx="8">
                  <c:v>85</c:v>
                </c:pt>
                <c:pt idx="9">
                  <c:v>127</c:v>
                </c:pt>
                <c:pt idx="10">
                  <c:v>152</c:v>
                </c:pt>
                <c:pt idx="11">
                  <c:v>215</c:v>
                </c:pt>
                <c:pt idx="12">
                  <c:v>1204</c:v>
                </c:pt>
                <c:pt idx="13">
                  <c:v>422</c:v>
                </c:pt>
                <c:pt idx="14">
                  <c:v>628</c:v>
                </c:pt>
                <c:pt idx="15">
                  <c:v>212</c:v>
                </c:pt>
                <c:pt idx="16">
                  <c:v>687</c:v>
                </c:pt>
                <c:pt idx="17">
                  <c:v>167</c:v>
                </c:pt>
                <c:pt idx="18">
                  <c:v>208</c:v>
                </c:pt>
                <c:pt idx="19">
                  <c:v>78</c:v>
                </c:pt>
                <c:pt idx="20">
                  <c:v>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0-4536-B12C-25CA03910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6839583"/>
        <c:axId val="2016837087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Worksheet!$AM$1</c15:sqref>
                        </c15:formulaRef>
                      </c:ext>
                    </c:extLst>
                    <c:strCache>
                      <c:ptCount val="1"/>
                      <c:pt idx="0">
                        <c:v>Highest year of school completed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Worksheet!$AM$2:$AM$22</c15:sqref>
                        </c15:formulaRef>
                      </c:ext>
                    </c:extLst>
                    <c:numCache>
                      <c:formatCode>@</c:formatCode>
                      <c:ptCount val="2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Worksheet!$AM$2:$AM$22</c15:sqref>
                        </c15:formulaRef>
                      </c:ext>
                    </c:extLst>
                    <c:numCache>
                      <c:formatCode>@</c:formatCode>
                      <c:ptCount val="2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BF0-4536-B12C-25CA03910B0E}"/>
                  </c:ext>
                </c:extLst>
              </c15:ser>
            </c15:filteredBarSeries>
          </c:ext>
        </c:extLst>
      </c:barChart>
      <c:catAx>
        <c:axId val="2016839583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6837087"/>
        <c:crosses val="autoZero"/>
        <c:auto val="1"/>
        <c:lblAlgn val="ctr"/>
        <c:lblOffset val="100"/>
        <c:noMultiLvlLbl val="0"/>
      </c:catAx>
      <c:valAx>
        <c:axId val="201683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6839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Worksheet!$AQ$1</c:f>
              <c:strCache>
                <c:ptCount val="1"/>
                <c:pt idx="0">
                  <c:v>CUMULATIVE PERCENT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Worksheet!$AM$2:$AM$22</c:f>
              <c:numCache>
                <c:formatCode>@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Worksheet!$AQ$2:$AQ$22</c:f>
              <c:numCache>
                <c:formatCode>0.0</c:formatCode>
                <c:ptCount val="21"/>
                <c:pt idx="0">
                  <c:v>0.5</c:v>
                </c:pt>
                <c:pt idx="1">
                  <c:v>0.6</c:v>
                </c:pt>
                <c:pt idx="2">
                  <c:v>1.2</c:v>
                </c:pt>
                <c:pt idx="3">
                  <c:v>1.5</c:v>
                </c:pt>
                <c:pt idx="4">
                  <c:v>1.7</c:v>
                </c:pt>
                <c:pt idx="5">
                  <c:v>2.2000000000000002</c:v>
                </c:pt>
                <c:pt idx="6">
                  <c:v>3.8</c:v>
                </c:pt>
                <c:pt idx="7">
                  <c:v>4.5</c:v>
                </c:pt>
                <c:pt idx="8">
                  <c:v>6.4</c:v>
                </c:pt>
                <c:pt idx="9">
                  <c:v>9.1999999999999993</c:v>
                </c:pt>
                <c:pt idx="10">
                  <c:v>12.6</c:v>
                </c:pt>
                <c:pt idx="11">
                  <c:v>17.399999999999999</c:v>
                </c:pt>
                <c:pt idx="12">
                  <c:v>44.1</c:v>
                </c:pt>
                <c:pt idx="13">
                  <c:v>53.5</c:v>
                </c:pt>
                <c:pt idx="14">
                  <c:v>67.5</c:v>
                </c:pt>
                <c:pt idx="15">
                  <c:v>72.2</c:v>
                </c:pt>
                <c:pt idx="16">
                  <c:v>87.4</c:v>
                </c:pt>
                <c:pt idx="17">
                  <c:v>91.2</c:v>
                </c:pt>
                <c:pt idx="18">
                  <c:v>95.8</c:v>
                </c:pt>
                <c:pt idx="19">
                  <c:v>97.5</c:v>
                </c:pt>
                <c:pt idx="2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2-4CA3-8097-519BB2D84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6828079"/>
        <c:axId val="201683223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Worksheet!$AM$1</c15:sqref>
                        </c15:formulaRef>
                      </c:ext>
                    </c:extLst>
                    <c:strCache>
                      <c:ptCount val="1"/>
                      <c:pt idx="0">
                        <c:v>Highest year of school completed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Worksheet!$AM$2:$AM$22</c15:sqref>
                        </c15:formulaRef>
                      </c:ext>
                    </c:extLst>
                    <c:numCache>
                      <c:formatCode>@</c:formatCode>
                      <c:ptCount val="2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Worksheet!$AM$2:$AM$22</c15:sqref>
                        </c15:formulaRef>
                      </c:ext>
                    </c:extLst>
                    <c:numCache>
                      <c:formatCode>@</c:formatCode>
                      <c:ptCount val="21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74C2-4CA3-8097-519BB2D8425A}"/>
                  </c:ext>
                </c:extLst>
              </c15:ser>
            </c15:filteredBarSeries>
          </c:ext>
        </c:extLst>
      </c:barChart>
      <c:catAx>
        <c:axId val="2016828079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6832239"/>
        <c:crosses val="autoZero"/>
        <c:auto val="1"/>
        <c:lblAlgn val="ctr"/>
        <c:lblOffset val="100"/>
        <c:noMultiLvlLbl val="0"/>
      </c:catAx>
      <c:valAx>
        <c:axId val="2016832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6828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/>
              <a:t>Height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Worksheet!$AD$1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CC8-40D3-B5DF-4D4824C3D9AC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CC8-40D3-B5DF-4D4824C3D9A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Worksheet!$AC$2:$AC$25</c:f>
              <c:strCache>
                <c:ptCount val="24"/>
                <c:pt idx="0">
                  <c:v>[117-122)</c:v>
                </c:pt>
                <c:pt idx="1">
                  <c:v>[122-127)</c:v>
                </c:pt>
                <c:pt idx="2">
                  <c:v>[127-133)</c:v>
                </c:pt>
                <c:pt idx="3">
                  <c:v>[133-138)</c:v>
                </c:pt>
                <c:pt idx="4">
                  <c:v>[138-143)</c:v>
                </c:pt>
                <c:pt idx="5">
                  <c:v>[143-148)</c:v>
                </c:pt>
                <c:pt idx="6">
                  <c:v>[148-153)</c:v>
                </c:pt>
                <c:pt idx="7">
                  <c:v>[153-158)</c:v>
                </c:pt>
                <c:pt idx="8">
                  <c:v>[158-163)</c:v>
                </c:pt>
                <c:pt idx="9">
                  <c:v>[163-168)</c:v>
                </c:pt>
                <c:pt idx="10">
                  <c:v>[168-173)</c:v>
                </c:pt>
                <c:pt idx="11">
                  <c:v>[173-178)</c:v>
                </c:pt>
                <c:pt idx="12">
                  <c:v>[178-183)</c:v>
                </c:pt>
                <c:pt idx="13">
                  <c:v>[183-188)</c:v>
                </c:pt>
                <c:pt idx="14">
                  <c:v>[188-194)</c:v>
                </c:pt>
                <c:pt idx="15">
                  <c:v>[194-199)</c:v>
                </c:pt>
                <c:pt idx="16">
                  <c:v>[199-204)</c:v>
                </c:pt>
                <c:pt idx="17">
                  <c:v>[204-209)</c:v>
                </c:pt>
                <c:pt idx="18">
                  <c:v>[209-214)</c:v>
                </c:pt>
                <c:pt idx="19">
                  <c:v>[214-219)</c:v>
                </c:pt>
                <c:pt idx="20">
                  <c:v>[219-224)</c:v>
                </c:pt>
                <c:pt idx="21">
                  <c:v>[224-229)</c:v>
                </c:pt>
                <c:pt idx="22">
                  <c:v>[229-234)</c:v>
                </c:pt>
                <c:pt idx="23">
                  <c:v>[234-239)</c:v>
                </c:pt>
              </c:strCache>
            </c:strRef>
          </c:cat>
          <c:val>
            <c:numRef>
              <c:f>Worksheet!$AD$2:$AD$25</c:f>
              <c:numCache>
                <c:formatCode>General</c:formatCode>
                <c:ptCount val="24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25</c:v>
                </c:pt>
                <c:pt idx="4">
                  <c:v>60</c:v>
                </c:pt>
                <c:pt idx="5">
                  <c:v>130</c:v>
                </c:pt>
                <c:pt idx="6">
                  <c:v>250</c:v>
                </c:pt>
                <c:pt idx="7">
                  <c:v>434</c:v>
                </c:pt>
                <c:pt idx="8">
                  <c:v>675</c:v>
                </c:pt>
                <c:pt idx="9">
                  <c:v>938</c:v>
                </c:pt>
                <c:pt idx="10">
                  <c:v>1169</c:v>
                </c:pt>
                <c:pt idx="11">
                  <c:v>1350</c:v>
                </c:pt>
                <c:pt idx="12">
                  <c:v>1420</c:v>
                </c:pt>
                <c:pt idx="13">
                  <c:v>1169</c:v>
                </c:pt>
                <c:pt idx="14">
                  <c:v>838</c:v>
                </c:pt>
                <c:pt idx="15">
                  <c:v>675</c:v>
                </c:pt>
                <c:pt idx="16">
                  <c:v>376</c:v>
                </c:pt>
                <c:pt idx="17">
                  <c:v>250</c:v>
                </c:pt>
                <c:pt idx="18">
                  <c:v>130</c:v>
                </c:pt>
                <c:pt idx="19">
                  <c:v>60</c:v>
                </c:pt>
                <c:pt idx="20">
                  <c:v>25</c:v>
                </c:pt>
                <c:pt idx="21">
                  <c:v>9</c:v>
                </c:pt>
                <c:pt idx="22">
                  <c:v>3</c:v>
                </c:pt>
                <c:pt idx="2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C8-40D3-B5DF-4D4824C3D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3429151"/>
        <c:axId val="1883429567"/>
      </c:barChart>
      <c:catAx>
        <c:axId val="1883429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3429567"/>
        <c:crosses val="autoZero"/>
        <c:auto val="1"/>
        <c:lblAlgn val="ctr"/>
        <c:lblOffset val="100"/>
        <c:noMultiLvlLbl val="0"/>
      </c:catAx>
      <c:valAx>
        <c:axId val="1883429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3429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 b="1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C6742-F414-194E-9593-20A04E1F953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077D1-E096-524A-B8D7-578390A74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0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077D1-E096-524A-B8D7-578390A74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Mean</a:t>
            </a:r>
            <a:r>
              <a:rPr lang="en-IN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5.4</a:t>
            </a:r>
            <a:r>
              <a:rPr lang="en-IN" dirty="0"/>
              <a:t> </a:t>
            </a:r>
          </a:p>
          <a:p>
            <a:r>
              <a:rPr lang="en-IN" b="1" dirty="0"/>
              <a:t>Mode 5</a:t>
            </a:r>
          </a:p>
          <a:p>
            <a:r>
              <a:rPr lang="en-IN" b="1" dirty="0"/>
              <a:t>Median 5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077D1-E096-524A-B8D7-578390A74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26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Religious affiliation:</a:t>
            </a:r>
          </a:p>
          <a:p>
            <a:r>
              <a:rPr lang="en-IN" dirty="0"/>
              <a:t>Mode=“Hindu”</a:t>
            </a:r>
          </a:p>
          <a:p>
            <a:r>
              <a:rPr lang="en-IN" dirty="0"/>
              <a:t>Median=?</a:t>
            </a:r>
          </a:p>
          <a:p>
            <a:r>
              <a:rPr lang="en-IN" dirty="0"/>
              <a:t>Mean=?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077D1-E096-524A-B8D7-578390A74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0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077D1-E096-524A-B8D7-578390A749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2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1: C, 2: B, 3: C, 4: C, 5: C, 6: B, 7: C, 8: A, 9: C, 10: A, 11: C, 12: C, 13: 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077D1-E096-524A-B8D7-578390A749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0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7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2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4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4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2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6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2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7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46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28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43DC105-CC6F-2247-AC54-83A069714E9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04F8FB0-ABFE-5346-8B98-0E119382251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80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9B0-43DD-35BD-EB8A-B372A00F7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5790" y="1793137"/>
            <a:ext cx="7650617" cy="2278485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highlight>
                  <a:srgbClr val="FFFF00"/>
                </a:highlight>
              </a:rPr>
              <a:t>STAT 221-FUNDAMENTALS OF STATISTICAL DATA ANALYSIS</a:t>
            </a:r>
            <a:br>
              <a:rPr lang="en-IN" dirty="0">
                <a:highlight>
                  <a:srgbClr val="FFFF00"/>
                </a:highlight>
              </a:rPr>
            </a:br>
            <a:endParaRPr lang="en-IN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CD515-2431-B084-4B1B-3B5938342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787" y="5064745"/>
            <a:ext cx="7099678" cy="1320802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Week-5: Measures of Central Tendency, Dispersion and Distributions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EE3F89-2E54-F348-5D13-CBDE2C37D7AE}"/>
              </a:ext>
            </a:extLst>
          </p:cNvPr>
          <p:cNvSpPr txBox="1"/>
          <p:nvPr/>
        </p:nvSpPr>
        <p:spPr>
          <a:xfrm>
            <a:off x="8657771" y="5251299"/>
            <a:ext cx="2300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</a:rPr>
              <a:t>Shivakumar Jolad</a:t>
            </a:r>
          </a:p>
          <a:p>
            <a:r>
              <a:rPr lang="en-IN" dirty="0">
                <a:solidFill>
                  <a:srgbClr val="FF0000"/>
                </a:solidFill>
              </a:rPr>
              <a:t>Associate Professor, FLAME University, Pune</a:t>
            </a:r>
            <a:endParaRPr lang="en-IN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45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F52D33-BDC5-5E49-BDFE-E0523324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Measures of central tendency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3907-0B6E-9ADE-8409-CF1B49EA2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0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7A3173-2A07-9C4B-BE6E-5C2625A0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29" y="44303"/>
            <a:ext cx="9720072" cy="1499616"/>
          </a:xfrm>
        </p:spPr>
        <p:txBody>
          <a:bodyPr/>
          <a:lstStyle/>
          <a:p>
            <a:r>
              <a:rPr lang="en-IN" dirty="0"/>
              <a:t>Measures of central tendency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6185E-5E5E-BC57-7363-D889B7A35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11" y="1680443"/>
            <a:ext cx="6324992" cy="4798270"/>
          </a:xfrm>
          <a:prstGeom prst="rect">
            <a:avLst/>
          </a:prstGeom>
        </p:spPr>
      </p:pic>
      <p:pic>
        <p:nvPicPr>
          <p:cNvPr id="1026" name="Picture 2" descr="Central Tendency - Definition, Measures of Central Tendency">
            <a:extLst>
              <a:ext uri="{FF2B5EF4-FFF2-40B4-BE49-F238E27FC236}">
                <a16:creationId xmlns:a16="http://schemas.microsoft.com/office/drawing/2014/main" id="{D9309062-4575-B9DF-CA14-C59F23CBB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394" y="1698222"/>
            <a:ext cx="4565762" cy="165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998534-1EB5-61DD-51E1-EDE7DACAD041}"/>
              </a:ext>
            </a:extLst>
          </p:cNvPr>
          <p:cNvSpPr txBox="1"/>
          <p:nvPr/>
        </p:nvSpPr>
        <p:spPr>
          <a:xfrm>
            <a:off x="6922394" y="4079578"/>
            <a:ext cx="5269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baseline="0" dirty="0">
                <a:latin typeface="OceanSansMM_648_475_"/>
              </a:rPr>
              <a:t>Median </a:t>
            </a:r>
            <a:r>
              <a:rPr lang="en-GB" sz="1800" b="0" i="0" u="none" strike="noStrike" baseline="0" dirty="0">
                <a:latin typeface="OceanSansMM_403_475_"/>
              </a:rPr>
              <a:t>The value of the middle case in a rank-ordered </a:t>
            </a:r>
            <a:r>
              <a:rPr lang="en-IN" sz="1800" b="0" i="0" u="none" strike="noStrike" baseline="0" dirty="0">
                <a:latin typeface="OceanSansMM_403_475_"/>
              </a:rPr>
              <a:t>distribution.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D5B1BC-80D1-018C-3F45-BF139D50F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555" y="4761367"/>
            <a:ext cx="2541881" cy="5606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FEC020-B62E-4696-E76E-1356236FC03E}"/>
                  </a:ext>
                </a:extLst>
              </p:cNvPr>
              <p:cNvSpPr txBox="1"/>
              <p:nvPr/>
            </p:nvSpPr>
            <p:spPr>
              <a:xfrm>
                <a:off x="8319014" y="5552860"/>
                <a:ext cx="1319661" cy="524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FEC020-B62E-4696-E76E-1356236FC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014" y="5552860"/>
                <a:ext cx="1319661" cy="524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748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E6F1-8CD9-5D8F-5C95-E8534F00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0560"/>
            <a:ext cx="9720072" cy="1499616"/>
          </a:xfrm>
        </p:spPr>
        <p:txBody>
          <a:bodyPr/>
          <a:lstStyle/>
          <a:p>
            <a:r>
              <a:rPr lang="en-IN" dirty="0"/>
              <a:t>Mean, median, mode of individual data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EA8D6E-B559-FF12-086B-0210A75EC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70983"/>
              </p:ext>
            </p:extLst>
          </p:nvPr>
        </p:nvGraphicFramePr>
        <p:xfrm>
          <a:off x="1024128" y="1185523"/>
          <a:ext cx="1768416" cy="51777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4208">
                  <a:extLst>
                    <a:ext uri="{9D8B030D-6E8A-4147-A177-3AD203B41FA5}">
                      <a16:colId xmlns:a16="http://schemas.microsoft.com/office/drawing/2014/main" val="3759993126"/>
                    </a:ext>
                  </a:extLst>
                </a:gridCol>
                <a:gridCol w="884208">
                  <a:extLst>
                    <a:ext uri="{9D8B030D-6E8A-4147-A177-3AD203B41FA5}">
                      <a16:colId xmlns:a16="http://schemas.microsoft.com/office/drawing/2014/main" val="2284871611"/>
                    </a:ext>
                  </a:extLst>
                </a:gridCol>
              </a:tblGrid>
              <a:tr h="691398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>
                          <a:effectLst/>
                        </a:rPr>
                        <a:t>RIDER #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293914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 dirty="0">
                          <a:effectLst/>
                        </a:rPr>
                        <a:t># BUS TRIPS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95943" marR="0" marT="0" marB="0"/>
                </a:tc>
                <a:extLst>
                  <a:ext uri="{0D108BD9-81ED-4DB2-BD59-A6C34878D82A}">
                    <a16:rowId xmlns:a16="http://schemas.microsoft.com/office/drawing/2014/main" val="3172744878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83009717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03355021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5437163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5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03184088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72898135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45480043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7171791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54785168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9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89238669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10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32797240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1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14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86179173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15430631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04642208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60909602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57281945"/>
                  </a:ext>
                </a:extLst>
              </a:tr>
              <a:tr h="28040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N=15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81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46467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BD9F35E-CE30-6E25-D3E6-E2C8011C9517}"/>
              </a:ext>
            </a:extLst>
          </p:cNvPr>
          <p:cNvSpPr txBox="1"/>
          <p:nvPr/>
        </p:nvSpPr>
        <p:spPr>
          <a:xfrm>
            <a:off x="2962265" y="2237924"/>
            <a:ext cx="173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Mode=?</a:t>
            </a:r>
          </a:p>
          <a:p>
            <a:r>
              <a:rPr lang="en-IN" b="1" dirty="0"/>
              <a:t>Median=?</a:t>
            </a:r>
          </a:p>
          <a:p>
            <a:r>
              <a:rPr lang="en-IN" b="1" dirty="0"/>
              <a:t>Mean=?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A28E14-71B7-C064-559E-6C7AB1419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778150"/>
              </p:ext>
            </p:extLst>
          </p:nvPr>
        </p:nvGraphicFramePr>
        <p:xfrm>
          <a:off x="4199798" y="1174673"/>
          <a:ext cx="2972997" cy="482889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0999">
                  <a:extLst>
                    <a:ext uri="{9D8B030D-6E8A-4147-A177-3AD203B41FA5}">
                      <a16:colId xmlns:a16="http://schemas.microsoft.com/office/drawing/2014/main" val="1293349259"/>
                    </a:ext>
                  </a:extLst>
                </a:gridCol>
                <a:gridCol w="990999">
                  <a:extLst>
                    <a:ext uri="{9D8B030D-6E8A-4147-A177-3AD203B41FA5}">
                      <a16:colId xmlns:a16="http://schemas.microsoft.com/office/drawing/2014/main" val="3010231445"/>
                    </a:ext>
                  </a:extLst>
                </a:gridCol>
                <a:gridCol w="990999">
                  <a:extLst>
                    <a:ext uri="{9D8B030D-6E8A-4147-A177-3AD203B41FA5}">
                      <a16:colId xmlns:a16="http://schemas.microsoft.com/office/drawing/2014/main" val="2755313138"/>
                    </a:ext>
                  </a:extLst>
                </a:gridCol>
              </a:tblGrid>
              <a:tr h="581794">
                <a:tc>
                  <a:txBody>
                    <a:bodyPr/>
                    <a:lstStyle/>
                    <a:p>
                      <a:pPr algn="l" fontAlgn="t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293914" marR="5443" marT="54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 dirty="0">
                          <a:effectLst/>
                        </a:rPr>
                        <a:t># BUS TRIPS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95943" marR="5443" marT="544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 dirty="0">
                          <a:effectLst/>
                        </a:rPr>
                        <a:t>Cases no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95943" marR="5443" marT="5443" marB="0"/>
                </a:tc>
                <a:extLst>
                  <a:ext uri="{0D108BD9-81ED-4DB2-BD59-A6C34878D82A}">
                    <a16:rowId xmlns:a16="http://schemas.microsoft.com/office/drawing/2014/main" val="1738799554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1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063456987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99268414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3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3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3999366779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3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4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48269747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4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5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1939989291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4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6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270350173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7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949574659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</a:rPr>
                        <a:t>5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</a:rPr>
                        <a:t>8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3716704927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5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9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994426379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10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240440634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430363100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551757974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454018566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3394474809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ctr" fontAlgn="t"/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1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1408272348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815552728"/>
                  </a:ext>
                </a:extLst>
              </a:tr>
              <a:tr h="23595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Median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(N+1)/2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099112046"/>
                  </a:ext>
                </a:extLst>
              </a:tr>
              <a:tr h="2359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Median no of rides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5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487904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13707D-093B-A67C-2CC8-1BE974026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014134"/>
              </p:ext>
            </p:extLst>
          </p:nvPr>
        </p:nvGraphicFramePr>
        <p:xfrm>
          <a:off x="7452506" y="1163807"/>
          <a:ext cx="4074931" cy="495062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9324">
                  <a:extLst>
                    <a:ext uri="{9D8B030D-6E8A-4147-A177-3AD203B41FA5}">
                      <a16:colId xmlns:a16="http://schemas.microsoft.com/office/drawing/2014/main" val="4232533777"/>
                    </a:ext>
                  </a:extLst>
                </a:gridCol>
                <a:gridCol w="1003828">
                  <a:extLst>
                    <a:ext uri="{9D8B030D-6E8A-4147-A177-3AD203B41FA5}">
                      <a16:colId xmlns:a16="http://schemas.microsoft.com/office/drawing/2014/main" val="1990250100"/>
                    </a:ext>
                  </a:extLst>
                </a:gridCol>
                <a:gridCol w="1191342">
                  <a:extLst>
                    <a:ext uri="{9D8B030D-6E8A-4147-A177-3AD203B41FA5}">
                      <a16:colId xmlns:a16="http://schemas.microsoft.com/office/drawing/2014/main" val="1865250934"/>
                    </a:ext>
                  </a:extLst>
                </a:gridCol>
                <a:gridCol w="690437">
                  <a:extLst>
                    <a:ext uri="{9D8B030D-6E8A-4147-A177-3AD203B41FA5}">
                      <a16:colId xmlns:a16="http://schemas.microsoft.com/office/drawing/2014/main" val="2588788971"/>
                    </a:ext>
                  </a:extLst>
                </a:gridCol>
              </a:tblGrid>
              <a:tr h="88849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No of rides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FREQUENCY (no of people)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PERCENT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>
                          <a:effectLst/>
                        </a:rPr>
                        <a:t>CUMULATIVE PERCENT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7971" marR="0" marT="0" marB="0"/>
                </a:tc>
                <a:extLst>
                  <a:ext uri="{0D108BD9-81ED-4DB2-BD59-A6C34878D82A}">
                    <a16:rowId xmlns:a16="http://schemas.microsoft.com/office/drawing/2014/main" val="1962385839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3693671241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13.3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764584081"/>
                  </a:ext>
                </a:extLst>
              </a:tr>
              <a:tr h="569427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13.3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26.7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3910543547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  <a:highlight>
                            <a:srgbClr val="FFFF00"/>
                          </a:highlight>
                        </a:rPr>
                        <a:t>13.3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  <a:highlight>
                            <a:srgbClr val="FFFF00"/>
                          </a:highlight>
                        </a:rPr>
                        <a:t>40.0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1450909445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5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4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26.7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66.7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3244708098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73.3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4045736325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80.0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1038688172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86.7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3870606313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93.3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3553964743"/>
                  </a:ext>
                </a:extLst>
              </a:tr>
              <a:tr h="3179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100.0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293914" marT="0" marB="0"/>
                </a:tc>
                <a:extLst>
                  <a:ext uri="{0D108BD9-81ED-4DB2-BD59-A6C34878D82A}">
                    <a16:rowId xmlns:a16="http://schemas.microsoft.com/office/drawing/2014/main" val="3744253217"/>
                  </a:ext>
                </a:extLst>
              </a:tr>
              <a:tr h="5226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>
                          <a:effectLst/>
                        </a:rPr>
                        <a:t>Total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100.0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988850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18C2D90-9571-6C88-60DA-CD08672BB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118" y="2979933"/>
            <a:ext cx="3608709" cy="259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7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1AC1-758A-5081-ACAF-419DC612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mean, median, and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8C680-3707-336D-A9D5-C843C2E4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17" y="5045122"/>
            <a:ext cx="5600847" cy="170365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55C3E3-16D8-43EA-63F2-A5F829F2F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539390"/>
              </p:ext>
            </p:extLst>
          </p:nvPr>
        </p:nvGraphicFramePr>
        <p:xfrm>
          <a:off x="1301733" y="1930535"/>
          <a:ext cx="3399104" cy="28597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4522">
                  <a:extLst>
                    <a:ext uri="{9D8B030D-6E8A-4147-A177-3AD203B41FA5}">
                      <a16:colId xmlns:a16="http://schemas.microsoft.com/office/drawing/2014/main" val="1242306158"/>
                    </a:ext>
                  </a:extLst>
                </a:gridCol>
                <a:gridCol w="947291">
                  <a:extLst>
                    <a:ext uri="{9D8B030D-6E8A-4147-A177-3AD203B41FA5}">
                      <a16:colId xmlns:a16="http://schemas.microsoft.com/office/drawing/2014/main" val="664360196"/>
                    </a:ext>
                  </a:extLst>
                </a:gridCol>
                <a:gridCol w="947291">
                  <a:extLst>
                    <a:ext uri="{9D8B030D-6E8A-4147-A177-3AD203B41FA5}">
                      <a16:colId xmlns:a16="http://schemas.microsoft.com/office/drawing/2014/main" val="2194042649"/>
                    </a:ext>
                  </a:extLst>
                </a:gridCol>
              </a:tblGrid>
              <a:tr h="53417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Religious affiliation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Frequency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Percentage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853549899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Hindu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57.33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18521644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Muslim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14.67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59001319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Sikhs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8.00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13900513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Jain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7.33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7010580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Christian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63496481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Atheist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6.67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45122168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Others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041810338"/>
                  </a:ext>
                </a:extLst>
              </a:tr>
              <a:tr h="2906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1" u="none" strike="noStrike" dirty="0">
                          <a:effectLst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1" u="none" strike="noStrike" dirty="0">
                          <a:effectLst/>
                        </a:rPr>
                        <a:t>150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1" u="none" strike="noStrike" dirty="0">
                          <a:effectLst/>
                        </a:rPr>
                        <a:t>100.00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4247769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E2C90A-A4CB-90F2-98F5-701D7FA0D7C8}"/>
              </a:ext>
            </a:extLst>
          </p:cNvPr>
          <p:cNvSpPr txBox="1"/>
          <p:nvPr/>
        </p:nvSpPr>
        <p:spPr>
          <a:xfrm>
            <a:off x="4978442" y="2627669"/>
            <a:ext cx="173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Mode=?</a:t>
            </a:r>
          </a:p>
          <a:p>
            <a:r>
              <a:rPr lang="en-IN" b="1" dirty="0"/>
              <a:t>Median=?</a:t>
            </a:r>
          </a:p>
          <a:p>
            <a:r>
              <a:rPr lang="en-IN" b="1" dirty="0"/>
              <a:t>Mean=?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8231AF-1BD5-EC71-6780-3DDE66545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98450"/>
              </p:ext>
            </p:extLst>
          </p:nvPr>
        </p:nvGraphicFramePr>
        <p:xfrm>
          <a:off x="7809966" y="1551181"/>
          <a:ext cx="2544581" cy="17340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1447">
                  <a:extLst>
                    <a:ext uri="{9D8B030D-6E8A-4147-A177-3AD203B41FA5}">
                      <a16:colId xmlns:a16="http://schemas.microsoft.com/office/drawing/2014/main" val="3023527514"/>
                    </a:ext>
                  </a:extLst>
                </a:gridCol>
                <a:gridCol w="983134">
                  <a:extLst>
                    <a:ext uri="{9D8B030D-6E8A-4147-A177-3AD203B41FA5}">
                      <a16:colId xmlns:a16="http://schemas.microsoft.com/office/drawing/2014/main" val="666096206"/>
                    </a:ext>
                  </a:extLst>
                </a:gridCol>
              </a:tblGrid>
              <a:tr h="665144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How much do you like mess food?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Frequency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93990139"/>
                  </a:ext>
                </a:extLst>
              </a:tr>
              <a:tr h="2249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Not all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8651116"/>
                  </a:ext>
                </a:extLst>
              </a:tr>
              <a:tr h="2249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Somewhat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20285034"/>
                  </a:ext>
                </a:extLst>
              </a:tr>
              <a:tr h="2249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Very much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507296628"/>
                  </a:ext>
                </a:extLst>
              </a:tr>
              <a:tr h="2249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u="none" strike="noStrike" dirty="0">
                          <a:effectLst/>
                        </a:rPr>
                        <a:t>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b="1" u="none" strike="noStrike" dirty="0">
                          <a:effectLst/>
                        </a:rPr>
                        <a:t>50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04722677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6EE31DA-384D-A4B2-CFB6-A932B0A0DA31}"/>
              </a:ext>
            </a:extLst>
          </p:cNvPr>
          <p:cNvSpPr txBox="1"/>
          <p:nvPr/>
        </p:nvSpPr>
        <p:spPr>
          <a:xfrm>
            <a:off x="10165196" y="3367056"/>
            <a:ext cx="173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Mode=?</a:t>
            </a:r>
          </a:p>
          <a:p>
            <a:r>
              <a:rPr lang="en-IN" b="1" dirty="0"/>
              <a:t>Median=?</a:t>
            </a:r>
          </a:p>
          <a:p>
            <a:r>
              <a:rPr lang="en-IN" b="1" dirty="0"/>
              <a:t>Mean=?</a:t>
            </a:r>
          </a:p>
        </p:txBody>
      </p:sp>
    </p:spTree>
    <p:extLst>
      <p:ext uri="{BB962C8B-B14F-4D97-AF65-F5344CB8AC3E}">
        <p14:creationId xmlns:p14="http://schemas.microsoft.com/office/powerpoint/2010/main" val="87988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B12C-9932-2A1A-9DCE-B6E67D86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Ordinal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78AAD-864B-1EE1-CA8B-B87B9B9A881D}"/>
              </a:ext>
            </a:extLst>
          </p:cNvPr>
          <p:cNvSpPr txBox="1"/>
          <p:nvPr/>
        </p:nvSpPr>
        <p:spPr>
          <a:xfrm>
            <a:off x="1303510" y="5279916"/>
            <a:ext cx="173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Mode=</a:t>
            </a:r>
          </a:p>
          <a:p>
            <a:r>
              <a:rPr lang="en-IN" b="1" dirty="0"/>
              <a:t>Median=</a:t>
            </a:r>
          </a:p>
          <a:p>
            <a:r>
              <a:rPr lang="en-IN" b="1" dirty="0"/>
              <a:t>Mean=?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7E022A0-A945-FA7C-80DC-2E1E7705A6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138018"/>
              </p:ext>
            </p:extLst>
          </p:nvPr>
        </p:nvGraphicFramePr>
        <p:xfrm>
          <a:off x="3816278" y="199591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5FAAD78-2DE1-F831-3846-19F87CC27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424210"/>
              </p:ext>
            </p:extLst>
          </p:nvPr>
        </p:nvGraphicFramePr>
        <p:xfrm>
          <a:off x="357066" y="1995915"/>
          <a:ext cx="3459212" cy="2773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0004">
                  <a:extLst>
                    <a:ext uri="{9D8B030D-6E8A-4147-A177-3AD203B41FA5}">
                      <a16:colId xmlns:a16="http://schemas.microsoft.com/office/drawing/2014/main" val="1962497737"/>
                    </a:ext>
                  </a:extLst>
                </a:gridCol>
                <a:gridCol w="1269208">
                  <a:extLst>
                    <a:ext uri="{9D8B030D-6E8A-4147-A177-3AD203B41FA5}">
                      <a16:colId xmlns:a16="http://schemas.microsoft.com/office/drawing/2014/main" val="275575858"/>
                    </a:ext>
                  </a:extLst>
                </a:gridCol>
              </a:tblGrid>
              <a:tr h="35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Mothers education level (attended)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Frequency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53149813"/>
                  </a:ext>
                </a:extLst>
              </a:tr>
              <a:tr h="19542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No schooling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4507697"/>
                  </a:ext>
                </a:extLst>
              </a:tr>
              <a:tr h="19542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Primary (1-5)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44196940"/>
                  </a:ext>
                </a:extLst>
              </a:tr>
              <a:tr h="19542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Upper Primary(6-8)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5150734"/>
                  </a:ext>
                </a:extLst>
              </a:tr>
              <a:tr h="19542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Secondary (9-10)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1749212"/>
                  </a:ext>
                </a:extLst>
              </a:tr>
              <a:tr h="53004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Higher secondary/Diploma/Vocational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0194506"/>
                  </a:ext>
                </a:extLst>
              </a:tr>
              <a:tr h="19542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College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31650601"/>
                  </a:ext>
                </a:extLst>
              </a:tr>
              <a:tr h="353364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Post Graduate (PG and above)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62391010"/>
                  </a:ext>
                </a:extLst>
              </a:tr>
              <a:tr h="19542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Total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100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206843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441DA8-2C1A-E2F3-60AC-B1F3B4077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186894"/>
              </p:ext>
            </p:extLst>
          </p:nvPr>
        </p:nvGraphicFramePr>
        <p:xfrm>
          <a:off x="8368229" y="1821305"/>
          <a:ext cx="3459210" cy="3312824"/>
        </p:xfrm>
        <a:graphic>
          <a:graphicData uri="http://schemas.openxmlformats.org/drawingml/2006/table">
            <a:tbl>
              <a:tblPr firstRow="1" lastCol="1">
                <a:tableStyleId>{5C22544A-7EE6-4342-B048-85BDC9FD1C3A}</a:tableStyleId>
              </a:tblPr>
              <a:tblGrid>
                <a:gridCol w="1602160">
                  <a:extLst>
                    <a:ext uri="{9D8B030D-6E8A-4147-A177-3AD203B41FA5}">
                      <a16:colId xmlns:a16="http://schemas.microsoft.com/office/drawing/2014/main" val="1925400763"/>
                    </a:ext>
                  </a:extLst>
                </a:gridCol>
                <a:gridCol w="928525">
                  <a:extLst>
                    <a:ext uri="{9D8B030D-6E8A-4147-A177-3AD203B41FA5}">
                      <a16:colId xmlns:a16="http://schemas.microsoft.com/office/drawing/2014/main" val="300311841"/>
                    </a:ext>
                  </a:extLst>
                </a:gridCol>
                <a:gridCol w="928525">
                  <a:extLst>
                    <a:ext uri="{9D8B030D-6E8A-4147-A177-3AD203B41FA5}">
                      <a16:colId xmlns:a16="http://schemas.microsoft.com/office/drawing/2014/main" val="3481411851"/>
                    </a:ext>
                  </a:extLst>
                </a:gridCol>
              </a:tblGrid>
              <a:tr h="6790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Mothers education level (attended)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Frequency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Cumulative Frequency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67070138"/>
                  </a:ext>
                </a:extLst>
              </a:tr>
              <a:tr h="25034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No schooling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55286307"/>
                  </a:ext>
                </a:extLst>
              </a:tr>
              <a:tr h="25034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Primary (1-5)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13870893"/>
                  </a:ext>
                </a:extLst>
              </a:tr>
              <a:tr h="25034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Upper Primary(6-8)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31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87009710"/>
                  </a:ext>
                </a:extLst>
              </a:tr>
              <a:tr h="25034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Secondary (9-10)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26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57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5334653"/>
                  </a:ext>
                </a:extLst>
              </a:tr>
              <a:tr h="6790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Higher secondary/Diploma/Vocational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77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00949619"/>
                  </a:ext>
                </a:extLst>
              </a:tr>
              <a:tr h="25034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College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91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7413127"/>
                  </a:ext>
                </a:extLst>
              </a:tr>
              <a:tr h="452684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Post Graduate (PG and above)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36443422"/>
                  </a:ext>
                </a:extLst>
              </a:tr>
              <a:tr h="25034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Total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1817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334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Graphic spid="11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8AAD-139C-6017-8DB5-BC3A06855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3335"/>
            <a:ext cx="6096000" cy="725345"/>
          </a:xfrm>
        </p:spPr>
        <p:txBody>
          <a:bodyPr>
            <a:normAutofit/>
          </a:bodyPr>
          <a:lstStyle/>
          <a:p>
            <a:r>
              <a:rPr lang="en-IN" sz="4400" dirty="0"/>
              <a:t>Interval/Ratio- GROUPED DATA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F15648-521F-7201-A309-CAF864F22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31644"/>
              </p:ext>
            </p:extLst>
          </p:nvPr>
        </p:nvGraphicFramePr>
        <p:xfrm>
          <a:off x="217149" y="203296"/>
          <a:ext cx="5621521" cy="635752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81671">
                  <a:extLst>
                    <a:ext uri="{9D8B030D-6E8A-4147-A177-3AD203B41FA5}">
                      <a16:colId xmlns:a16="http://schemas.microsoft.com/office/drawing/2014/main" val="2877586292"/>
                    </a:ext>
                  </a:extLst>
                </a:gridCol>
                <a:gridCol w="1172873">
                  <a:extLst>
                    <a:ext uri="{9D8B030D-6E8A-4147-A177-3AD203B41FA5}">
                      <a16:colId xmlns:a16="http://schemas.microsoft.com/office/drawing/2014/main" val="2542507373"/>
                    </a:ext>
                  </a:extLst>
                </a:gridCol>
                <a:gridCol w="955659">
                  <a:extLst>
                    <a:ext uri="{9D8B030D-6E8A-4147-A177-3AD203B41FA5}">
                      <a16:colId xmlns:a16="http://schemas.microsoft.com/office/drawing/2014/main" val="2705021589"/>
                    </a:ext>
                  </a:extLst>
                </a:gridCol>
                <a:gridCol w="955659">
                  <a:extLst>
                    <a:ext uri="{9D8B030D-6E8A-4147-A177-3AD203B41FA5}">
                      <a16:colId xmlns:a16="http://schemas.microsoft.com/office/drawing/2014/main" val="3633144505"/>
                    </a:ext>
                  </a:extLst>
                </a:gridCol>
                <a:gridCol w="955659">
                  <a:extLst>
                    <a:ext uri="{9D8B030D-6E8A-4147-A177-3AD203B41FA5}">
                      <a16:colId xmlns:a16="http://schemas.microsoft.com/office/drawing/2014/main" val="1524960909"/>
                    </a:ext>
                  </a:extLst>
                </a:gridCol>
              </a:tblGrid>
              <a:tr h="89370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 dirty="0">
                          <a:effectLst/>
                        </a:rPr>
                        <a:t>Highest year of school completed</a:t>
                      </a:r>
                      <a:endParaRPr lang="en-GB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827" marR="4827" marT="482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FREQUENCY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73754" marR="4827" marT="482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PERCENT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73754" marR="4827" marT="4827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</a:rPr>
                        <a:t>VALID PERCENT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86877" marR="4827" marT="48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u="none" strike="noStrike" dirty="0">
                          <a:effectLst/>
                        </a:rPr>
                        <a:t>CUMULATIVE PERCENT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86877" marR="4827" marT="4827" marB="0"/>
                </a:tc>
                <a:extLst>
                  <a:ext uri="{0D108BD9-81ED-4DB2-BD59-A6C34878D82A}">
                    <a16:rowId xmlns:a16="http://schemas.microsoft.com/office/drawing/2014/main" val="94739741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067188078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0.1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 dirty="0">
                          <a:effectLst/>
                        </a:rPr>
                        <a:t>0.6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76613683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</a:rPr>
                        <a:t>0.6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915423897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3054107366"/>
                  </a:ext>
                </a:extLst>
              </a:tr>
              <a:tr h="366298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621916851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2.2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36353602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3.8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65437699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0.7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0.7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 dirty="0">
                          <a:effectLst/>
                        </a:rPr>
                        <a:t>4.5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325955890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85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1.9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1.9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6.4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330360649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127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2.8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9.2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979811717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152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3.4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3.4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12.6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743779099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215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4.8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17.4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981443057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12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1204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26.7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26.8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44.1</a:t>
                      </a:r>
                      <a:endParaRPr lang="en-IN" sz="1400" b="1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00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488958139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13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422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9.4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9.4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53.5</a:t>
                      </a:r>
                      <a:endParaRPr lang="en-IN" sz="1400" b="0" i="0" u="none" strike="noStrike" dirty="0">
                        <a:solidFill>
                          <a:srgbClr val="231F20"/>
                        </a:solidFill>
                        <a:effectLst/>
                        <a:highlight>
                          <a:srgbClr val="FFFF00"/>
                        </a:highlight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424474565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628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13.9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14.0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67.5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299273667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212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4.7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72.2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742544643"/>
                  </a:ext>
                </a:extLst>
              </a:tr>
              <a:tr h="384404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687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15.2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15.3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87.4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869440280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167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3.7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3.7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91.2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1523463043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208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4.6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4.6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95.8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886852643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78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1.7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97.5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927055698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112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2.5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2.5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100.0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extLst>
                  <a:ext uri="{0D108BD9-81ED-4DB2-BD59-A6C34878D82A}">
                    <a16:rowId xmlns:a16="http://schemas.microsoft.com/office/drawing/2014/main" val="2723059969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 dirty="0">
                          <a:effectLst/>
                        </a:rPr>
                        <a:t>Total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73754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4499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>
                          <a:effectLst/>
                        </a:rPr>
                        <a:t>99.8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4827" marT="4827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400" u="none" strike="noStrike">
                          <a:effectLst/>
                        </a:rPr>
                        <a:t>100.0</a:t>
                      </a:r>
                      <a:endParaRPr lang="en-IN" sz="1400" b="0" i="0" u="none" strike="noStrike">
                        <a:solidFill>
                          <a:srgbClr val="231F2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827" marR="260631" marT="48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27" marR="4827" marT="4827" marB="0"/>
                </a:tc>
                <a:extLst>
                  <a:ext uri="{0D108BD9-81ED-4DB2-BD59-A6C34878D82A}">
                    <a16:rowId xmlns:a16="http://schemas.microsoft.com/office/drawing/2014/main" val="3966514921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7E591B-78A0-6F07-665E-476D3B89F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9269068"/>
              </p:ext>
            </p:extLst>
          </p:nvPr>
        </p:nvGraphicFramePr>
        <p:xfrm>
          <a:off x="6096000" y="868680"/>
          <a:ext cx="5861958" cy="3448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53B2815-F339-C4DD-2EE2-0240E9D94E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599915"/>
              </p:ext>
            </p:extLst>
          </p:nvPr>
        </p:nvGraphicFramePr>
        <p:xfrm>
          <a:off x="6353332" y="4114800"/>
          <a:ext cx="5526248" cy="2811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5198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728E-E04A-AF97-00AE-F0444081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</a:t>
            </a:r>
          </a:p>
        </p:txBody>
      </p:sp>
      <p:pic>
        <p:nvPicPr>
          <p:cNvPr id="8194" name="Picture 2" descr="Histogram showing mode as highest bar in the middle of the continuous distribution as the mode">
            <a:extLst>
              <a:ext uri="{FF2B5EF4-FFF2-40B4-BE49-F238E27FC236}">
                <a16:creationId xmlns:a16="http://schemas.microsoft.com/office/drawing/2014/main" id="{12232D65-4307-3EE0-CD8B-77D1DF7C6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722" y="1639835"/>
            <a:ext cx="3925236" cy="38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Bar chart showing highest bar as the mode">
            <a:extLst>
              <a:ext uri="{FF2B5EF4-FFF2-40B4-BE49-F238E27FC236}">
                <a16:creationId xmlns:a16="http://schemas.microsoft.com/office/drawing/2014/main" id="{769E619C-D8D4-A455-AE88-7729B2521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1" y="1936178"/>
            <a:ext cx="4006941" cy="319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istogram of a continuous distribution showing two modes, both somewhat centrally located">
            <a:extLst>
              <a:ext uri="{FF2B5EF4-FFF2-40B4-BE49-F238E27FC236}">
                <a16:creationId xmlns:a16="http://schemas.microsoft.com/office/drawing/2014/main" id="{897776A7-4081-A439-A6F3-948D37099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251" y="1531809"/>
            <a:ext cx="415290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3A394B-E621-5C8C-E185-903A8ABCB5F2}"/>
              </a:ext>
            </a:extLst>
          </p:cNvPr>
          <p:cNvSpPr txBox="1"/>
          <p:nvPr/>
        </p:nvSpPr>
        <p:spPr>
          <a:xfrm>
            <a:off x="620219" y="6402969"/>
            <a:ext cx="10015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https://statistics.laerd.com/statistical-guides/measures-central-tendency-mean-mode-median.php</a:t>
            </a:r>
          </a:p>
        </p:txBody>
      </p:sp>
    </p:spTree>
    <p:extLst>
      <p:ext uri="{BB962C8B-B14F-4D97-AF65-F5344CB8AC3E}">
        <p14:creationId xmlns:p14="http://schemas.microsoft.com/office/powerpoint/2010/main" val="53123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0C46-E901-2213-595A-BFBDD72A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solidFill>
                  <a:srgbClr val="005595"/>
                </a:solidFill>
                <a:effectLst/>
                <a:latin typeface="myriad-pro"/>
              </a:rPr>
              <a:t>Skewed Distributions and the Mean and Median</a:t>
            </a:r>
            <a:endParaRPr lang="en-IN" dirty="0"/>
          </a:p>
        </p:txBody>
      </p:sp>
      <p:pic>
        <p:nvPicPr>
          <p:cNvPr id="9218" name="Picture 2" descr="A histogram showing a normally distributed continuous data set">
            <a:extLst>
              <a:ext uri="{FF2B5EF4-FFF2-40B4-BE49-F238E27FC236}">
                <a16:creationId xmlns:a16="http://schemas.microsoft.com/office/drawing/2014/main" id="{F6109D03-DFD8-D636-9E9C-071AFA29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18" y="2226743"/>
            <a:ext cx="437197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istogram of a skewed distribution showing a noticable difference between the median and mean values">
            <a:extLst>
              <a:ext uri="{FF2B5EF4-FFF2-40B4-BE49-F238E27FC236}">
                <a16:creationId xmlns:a16="http://schemas.microsoft.com/office/drawing/2014/main" id="{697FF375-8209-DDD8-D576-D51C7B579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670" y="2255317"/>
            <a:ext cx="43815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427D2B-7B56-59CE-3A39-41AE333F352C}"/>
              </a:ext>
            </a:extLst>
          </p:cNvPr>
          <p:cNvSpPr txBox="1"/>
          <p:nvPr/>
        </p:nvSpPr>
        <p:spPr>
          <a:xfrm>
            <a:off x="620219" y="6402969"/>
            <a:ext cx="10015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https://statistics.laerd.com/statistical-guides/measures-central-tendency-mean-mode-median.php</a:t>
            </a:r>
          </a:p>
        </p:txBody>
      </p:sp>
    </p:spTree>
    <p:extLst>
      <p:ext uri="{BB962C8B-B14F-4D97-AF65-F5344CB8AC3E}">
        <p14:creationId xmlns:p14="http://schemas.microsoft.com/office/powerpoint/2010/main" val="327221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492F-A4F3-0AF5-2771-FC319992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A63D6-AA33-8E98-82E9-F77C6BD38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807" y="1725043"/>
            <a:ext cx="6121928" cy="4793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A8F725-668D-3F19-98BB-1D56B625B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212" y="303624"/>
            <a:ext cx="6977925" cy="268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0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BD49-D935-F73A-2430-F1BF2C51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7073E-89B4-11EF-F44A-26C9CB03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43" y="703659"/>
            <a:ext cx="6292107" cy="578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40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7987-A391-704A-A4A2-C6A3DD1A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DE8DB7-12A2-2707-BA26-3F136021F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63124"/>
              </p:ext>
            </p:extLst>
          </p:nvPr>
        </p:nvGraphicFramePr>
        <p:xfrm>
          <a:off x="484889" y="2105703"/>
          <a:ext cx="4409398" cy="28281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1445">
                  <a:extLst>
                    <a:ext uri="{9D8B030D-6E8A-4147-A177-3AD203B41FA5}">
                      <a16:colId xmlns:a16="http://schemas.microsoft.com/office/drawing/2014/main" val="3511868313"/>
                    </a:ext>
                  </a:extLst>
                </a:gridCol>
                <a:gridCol w="931781">
                  <a:extLst>
                    <a:ext uri="{9D8B030D-6E8A-4147-A177-3AD203B41FA5}">
                      <a16:colId xmlns:a16="http://schemas.microsoft.com/office/drawing/2014/main" val="1460197650"/>
                    </a:ext>
                  </a:extLst>
                </a:gridCol>
                <a:gridCol w="1241301">
                  <a:extLst>
                    <a:ext uri="{9D8B030D-6E8A-4147-A177-3AD203B41FA5}">
                      <a16:colId xmlns:a16="http://schemas.microsoft.com/office/drawing/2014/main" val="1291862140"/>
                    </a:ext>
                  </a:extLst>
                </a:gridCol>
                <a:gridCol w="944871">
                  <a:extLst>
                    <a:ext uri="{9D8B030D-6E8A-4147-A177-3AD203B41FA5}">
                      <a16:colId xmlns:a16="http://schemas.microsoft.com/office/drawing/2014/main" val="3247316984"/>
                    </a:ext>
                  </a:extLst>
                </a:gridCol>
              </a:tblGrid>
              <a:tr h="77177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No of books read last one year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Frequency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Cumulative Frequency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Percentile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35208717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None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4426001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1-2 books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65154363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3-5 books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09221321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6-10 books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67790976"/>
                  </a:ext>
                </a:extLst>
              </a:tr>
              <a:tr h="34948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11 or more books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33987958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Total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27899474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1292309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Mode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?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56305298"/>
                  </a:ext>
                </a:extLst>
              </a:tr>
              <a:tr h="193275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Median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?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608655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8EF276-18C4-1412-F8F4-96B8AEBEE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414900"/>
              </p:ext>
            </p:extLst>
          </p:nvPr>
        </p:nvGraphicFramePr>
        <p:xfrm>
          <a:off x="6384665" y="2038350"/>
          <a:ext cx="3949700" cy="314724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170604449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422017333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21087719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0265914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499900982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No of brothers/sisters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Frequency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Percent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Cumulative percent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Siblings-x-frequency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9541757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45344657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136234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0053191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4597062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3112203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8575633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Total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>
                          <a:effectLst/>
                        </a:rPr>
                        <a:t>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46836378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8371539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Median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6850694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Mode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8785106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Mean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23084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119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3DBF5B-2068-CD01-8C7E-63C8D3251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03167"/>
              </p:ext>
            </p:extLst>
          </p:nvPr>
        </p:nvGraphicFramePr>
        <p:xfrm>
          <a:off x="367259" y="180950"/>
          <a:ext cx="7480093" cy="6189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4392">
                  <a:extLst>
                    <a:ext uri="{9D8B030D-6E8A-4147-A177-3AD203B41FA5}">
                      <a16:colId xmlns:a16="http://schemas.microsoft.com/office/drawing/2014/main" val="1416506117"/>
                    </a:ext>
                  </a:extLst>
                </a:gridCol>
                <a:gridCol w="927890">
                  <a:extLst>
                    <a:ext uri="{9D8B030D-6E8A-4147-A177-3AD203B41FA5}">
                      <a16:colId xmlns:a16="http://schemas.microsoft.com/office/drawing/2014/main" val="2953455015"/>
                    </a:ext>
                  </a:extLst>
                </a:gridCol>
                <a:gridCol w="1051068">
                  <a:extLst>
                    <a:ext uri="{9D8B030D-6E8A-4147-A177-3AD203B41FA5}">
                      <a16:colId xmlns:a16="http://schemas.microsoft.com/office/drawing/2014/main" val="1183619328"/>
                    </a:ext>
                  </a:extLst>
                </a:gridCol>
                <a:gridCol w="928187">
                  <a:extLst>
                    <a:ext uri="{9D8B030D-6E8A-4147-A177-3AD203B41FA5}">
                      <a16:colId xmlns:a16="http://schemas.microsoft.com/office/drawing/2014/main" val="1961056280"/>
                    </a:ext>
                  </a:extLst>
                </a:gridCol>
                <a:gridCol w="928187">
                  <a:extLst>
                    <a:ext uri="{9D8B030D-6E8A-4147-A177-3AD203B41FA5}">
                      <a16:colId xmlns:a16="http://schemas.microsoft.com/office/drawing/2014/main" val="90475903"/>
                    </a:ext>
                  </a:extLst>
                </a:gridCol>
                <a:gridCol w="928187">
                  <a:extLst>
                    <a:ext uri="{9D8B030D-6E8A-4147-A177-3AD203B41FA5}">
                      <a16:colId xmlns:a16="http://schemas.microsoft.com/office/drawing/2014/main" val="280973061"/>
                    </a:ext>
                  </a:extLst>
                </a:gridCol>
                <a:gridCol w="1292182">
                  <a:extLst>
                    <a:ext uri="{9D8B030D-6E8A-4147-A177-3AD203B41FA5}">
                      <a16:colId xmlns:a16="http://schemas.microsoft.com/office/drawing/2014/main" val="3364793066"/>
                    </a:ext>
                  </a:extLst>
                </a:gridCol>
              </a:tblGrid>
              <a:tr h="52090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Height Interval (cm)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Frequency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Cumulative frequency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Percentile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Height-middle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Height times frequency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384352211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[117-122)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4020910515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[122-127)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3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645672623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[127-133)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889922032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[133-138)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25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134550211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[138-143)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60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910470508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[143-148)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130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3968545002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[148-153)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250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711171825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[153-158)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434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3641965342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[158-163)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675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3341858192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[163-168)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938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469018937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[168-173)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1169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062950575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[173-178)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1350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562030999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[178-183)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1420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824987838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[183-188)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1169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3133222827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[188-194)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838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730965668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[194-199)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675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618617707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[199-204)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376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372802090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[204-209)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250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4279539595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[209-214)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130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3960396677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[214-219)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60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644598438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[219-224)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25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973866996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[224-229)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139766643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[229-234)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3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602761011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[234-239)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558194751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Total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>
                          <a:effectLst/>
                        </a:rPr>
                        <a:t>10000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926852641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SUM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?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3796470478"/>
                  </a:ext>
                </a:extLst>
              </a:tr>
              <a:tr h="349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Median Height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?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MEAN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?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862514572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1941284537"/>
                  </a:ext>
                </a:extLst>
              </a:tr>
              <a:tr h="1899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Mode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effectLst/>
                        </a:rPr>
                        <a:t>?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25" marR="3625" marT="3625" marB="0" anchor="b"/>
                </a:tc>
                <a:extLst>
                  <a:ext uri="{0D108BD9-81ED-4DB2-BD59-A6C34878D82A}">
                    <a16:rowId xmlns:a16="http://schemas.microsoft.com/office/drawing/2014/main" val="280715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395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F26858-6CBA-0C29-23F0-D3B3DAB4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13" y="-95474"/>
            <a:ext cx="5376918" cy="6845672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5C00F9-F51F-EC95-CF87-D30FB1567B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0110532"/>
              </p:ext>
            </p:extLst>
          </p:nvPr>
        </p:nvGraphicFramePr>
        <p:xfrm>
          <a:off x="5703288" y="612054"/>
          <a:ext cx="6198901" cy="436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4905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474175-05C6-3FE4-2A1D-649E0B1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 err="1"/>
              <a:t>Factfulness</a:t>
            </a:r>
            <a:br>
              <a:rPr lang="en-IN" sz="3600" b="1" dirty="0"/>
            </a:br>
            <a:r>
              <a:rPr lang="en-IN" sz="3600" dirty="0"/>
              <a:t>control dramatic instincts in numbers</a:t>
            </a:r>
            <a:r>
              <a:rPr lang="en-IN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A65FC-7A84-3A37-74F1-B3BEC581B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529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EF657E-460A-45DE-735D-611CBBB1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4" y="43772"/>
            <a:ext cx="9720072" cy="735717"/>
          </a:xfrm>
        </p:spPr>
        <p:txBody>
          <a:bodyPr/>
          <a:lstStyle/>
          <a:p>
            <a:r>
              <a:rPr lang="en-IN" dirty="0"/>
              <a:t>Class questions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070E5A-975E-8AEE-B1A5-4D9C9B558B66}"/>
              </a:ext>
            </a:extLst>
          </p:cNvPr>
          <p:cNvGrpSpPr/>
          <p:nvPr/>
        </p:nvGrpSpPr>
        <p:grpSpPr>
          <a:xfrm>
            <a:off x="958636" y="1001139"/>
            <a:ext cx="10810138" cy="4729397"/>
            <a:chOff x="433980" y="1878063"/>
            <a:chExt cx="10810138" cy="47293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85DD00-487C-7499-C879-83744A53F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980" y="1878063"/>
              <a:ext cx="5433612" cy="28951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6F50FB-4D7F-CBC4-377F-092FB71D7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3980" y="4773169"/>
              <a:ext cx="5018446" cy="183429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556A32-8737-01E5-80BD-844095478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9470" y="1878063"/>
              <a:ext cx="5094648" cy="9906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C55DA01-0C38-1C43-D82F-C0ED940D1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42531" y="2868689"/>
              <a:ext cx="5132749" cy="3548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59658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24222</TotalTime>
  <Words>818</Words>
  <Application>Microsoft Office PowerPoint</Application>
  <PresentationFormat>Widescreen</PresentationFormat>
  <Paragraphs>469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Calibri</vt:lpstr>
      <vt:lpstr>Cambria Math</vt:lpstr>
      <vt:lpstr>myriad-pro</vt:lpstr>
      <vt:lpstr>OceanSansMM_403_475_</vt:lpstr>
      <vt:lpstr>OceanSansMM_648_475_</vt:lpstr>
      <vt:lpstr>Times New Roman</vt:lpstr>
      <vt:lpstr>Trebuchet MS</vt:lpstr>
      <vt:lpstr>Tw Cen MT</vt:lpstr>
      <vt:lpstr>Tw Cen MT Condensed</vt:lpstr>
      <vt:lpstr>Wingdings 3</vt:lpstr>
      <vt:lpstr>Integral</vt:lpstr>
      <vt:lpstr>STAT 221-FUNDAMENTALS OF STATISTICAL DATA ANALYSIS </vt:lpstr>
      <vt:lpstr>Measures of central tendency</vt:lpstr>
      <vt:lpstr>Measures of central tendency</vt:lpstr>
      <vt:lpstr>Mean, median, mode of individual data</vt:lpstr>
      <vt:lpstr>When to use mean, median, and mode</vt:lpstr>
      <vt:lpstr>Ordinal variables</vt:lpstr>
      <vt:lpstr>Interval/Ratio- GROUPED DATA</vt:lpstr>
      <vt:lpstr>mode</vt:lpstr>
      <vt:lpstr>Skewed Distributions and the Mean and Median</vt:lpstr>
      <vt:lpstr>PowerPoint Presentation</vt:lpstr>
      <vt:lpstr>PowerPoint Presentation</vt:lpstr>
      <vt:lpstr>exercise</vt:lpstr>
      <vt:lpstr>PowerPoint Presentation</vt:lpstr>
      <vt:lpstr>PowerPoint Presentation</vt:lpstr>
      <vt:lpstr>Factfulness control dramatic instincts in numbers </vt:lpstr>
      <vt:lpstr>Class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221-STATISTICAL DATA ANALYSIS</dc:title>
  <dc:creator>9188</dc:creator>
  <cp:lastModifiedBy>Shivakumar Jolad</cp:lastModifiedBy>
  <cp:revision>48</cp:revision>
  <dcterms:created xsi:type="dcterms:W3CDTF">2022-08-28T12:14:03Z</dcterms:created>
  <dcterms:modified xsi:type="dcterms:W3CDTF">2026-07-06T10:50:50Z</dcterms:modified>
</cp:coreProperties>
</file>