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30" d="100"/>
          <a:sy n="30" d="100"/>
        </p:scale>
        <p:origin x="14" y="10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97937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PUBP309, Education Policy. Week 1: introduction, course logistics and the framing question — what do we mean by education?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First, the housekeeping: what the course is, how it runs, and what is expected of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numbers to anchor on: course code PUBP309, three credits, offered at the undergraduate level.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policy, a foundation: what is education, and what shapes whether learning happens? We'll read the system from the learner outward.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Put a K-12 child at the centre. Home, peers, teachers, community and the surrounding social structure all act on whether and how they learn.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same logic for higher education: an adult learner of 18-24 surrounded by colleges, universities, institutions, programs, regulation, accreditation and funding.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Zoom out and the school system is a multi-layered socio-institutional whole: governance, finance, social structure and community all nest together. No single reform operates in isolation.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Higher education is its own regulatory assemblage — institutions, programs, funding and a thicket of regulatory bodies and councils around quality, access and enrolment.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actually happens between a policy and a learning outcome? The reform black box — government, parents, community, school, teachers and students, all linked by access, motivation and feedback.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open the substantive discussion with a question: what does education mean? Listen to ColabCast S1E1, minutes 3:00 to 7:30 — Dr Vimala Ramachandran on meaningful and quality education.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the scope: what the course aims to do, the topics we cover across four parts, the questions we examine, and what to read.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objectives — historical understanding, critical examination of school-level challenges, the higher-education story, and the skill of evaluating a policy in context.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1, twenty hours, is the education system itself: the school system over ten hours and higher education over eight, plus a two-hour framing introduction.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2, ten hours, is bureaucracy and finance: where education sits in the Constitution, and how school and higher education are governed.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Parts 3 and 4 turn to the classroom and to reform: curriculum, pedagogy and the learning crisis; then the interventions that try to fix access, learning and governance.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policy questions the course keeps returning to — access, equity, gender, learning outcomes, spending, privatization and the higher-education frontier — read comparatively and evaluated as proposals.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Core readings. We'll lean on Sarangapani and Pappu's handbook, the histories by Naik and Nurullah and by Ghosh, the Kothari report, Mangla on bureaucracy and Muralidharan's roadmap — alongside reports, articles and policy briefs through the term.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AD4A1-16BC-3CE0-329A-1C817C1B5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720C2B-AD7E-2E43-A8C3-44BCC838D9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68A787-B091-FE8C-C55D-BC9A0440D9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Core readings. We'll lean on Sarangapani and Pappu's handbook, the histories by Naik and Nurullah and by Ghosh, the Kothari report, Mangla on bureaucracy and Muralidharan's roadmap — alongside reports, articles and policy briefs through the term.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B9F9A0-32BE-D3F1-E953-BA9DC7C712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2866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838200"/>
            <a:ext cx="549189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kern="0" spc="432" dirty="0">
                <a:solidFill>
                  <a:srgbClr val="B548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PUBP309 · FLAME UNIVERSITY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15868651" y="742950"/>
            <a:ext cx="1428750" cy="1428750"/>
          </a:xfrm>
          <a:prstGeom prst="ellipse">
            <a:avLst/>
          </a:prstGeom>
          <a:ln w="16329">
            <a:solidFill>
              <a:srgbClr val="B548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066800" y="6602186"/>
            <a:ext cx="17057371" cy="13226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600" kern="0" spc="-192" dirty="0">
                <a:solidFill>
                  <a:srgbClr val="22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Education </a:t>
            </a:r>
            <a:r>
              <a:rPr lang="en-US" sz="9600" i="1" kern="0" spc="-192" dirty="0">
                <a:solidFill>
                  <a:srgbClr val="B548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Policy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1066800" y="8246779"/>
            <a:ext cx="16638271" cy="459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550" i="1" dirty="0">
                <a:solidFill>
                  <a:srgbClr val="3F3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1 — Introduction &amp; policies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1066800" y="8772866"/>
            <a:ext cx="16154401" cy="9525"/>
          </a:xfrm>
          <a:prstGeom prst="rect">
            <a:avLst/>
          </a:prstGeom>
          <a:solidFill>
            <a:srgbClr val="221F1A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066800" y="9025958"/>
            <a:ext cx="4094925" cy="3847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100" dirty="0">
                <a:solidFill>
                  <a:srgbClr val="22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Undergraduate · 3 credits · 2026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4660847" y="9084979"/>
            <a:ext cx="281639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kern="0" spc="180" dirty="0">
                <a:solidFill>
                  <a:srgbClr val="857D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SHIVAKUMAR JOLAD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CE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3371255"/>
            <a:ext cx="1776984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kern="0" spc="432" dirty="0">
                <a:solidFill>
                  <a:srgbClr val="B548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ONE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66800" y="3828455"/>
            <a:ext cx="16639033" cy="217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100" kern="0" spc="-122" dirty="0">
                <a:solidFill>
                  <a:srgbClr val="22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Course info &amp; policies</a:t>
            </a:r>
            <a:endParaRPr lang="en-US" sz="8100" dirty="0"/>
          </a:p>
        </p:txBody>
      </p:sp>
      <p:sp>
        <p:nvSpPr>
          <p:cNvPr id="4" name="Shape 2"/>
          <p:cNvSpPr/>
          <p:nvPr/>
        </p:nvSpPr>
        <p:spPr>
          <a:xfrm>
            <a:off x="1066800" y="6215658"/>
            <a:ext cx="838200" cy="19050"/>
          </a:xfrm>
          <a:prstGeom prst="rect">
            <a:avLst/>
          </a:prstGeom>
          <a:solidFill>
            <a:srgbClr val="B548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66800" y="6501408"/>
            <a:ext cx="8591551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i="1" dirty="0">
                <a:solidFill>
                  <a:srgbClr val="3F3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course is and how it runs.</a:t>
            </a:r>
            <a:endParaRPr lang="en-US" sz="2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990600"/>
            <a:ext cx="1776984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kern="0" spc="432" dirty="0">
                <a:solidFill>
                  <a:srgbClr val="B548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BASICS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66800" y="1390650"/>
            <a:ext cx="17769841" cy="764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5400" kern="0" spc="-54" dirty="0">
                <a:solidFill>
                  <a:srgbClr val="22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Course at a glance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066800" y="2955727"/>
            <a:ext cx="5029200" cy="16329"/>
          </a:xfrm>
          <a:prstGeom prst="rect">
            <a:avLst/>
          </a:prstGeom>
          <a:solidFill>
            <a:srgbClr val="221F1A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66800" y="3219705"/>
            <a:ext cx="553212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kern="0" spc="252" dirty="0">
                <a:solidFill>
                  <a:srgbClr val="857D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COURSE CODE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66800" y="3695955"/>
            <a:ext cx="5532120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800" dirty="0">
                <a:solidFill>
                  <a:srgbClr val="B548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PUBP309</a:t>
            </a:r>
            <a:endParaRPr lang="en-US" sz="7800" dirty="0"/>
          </a:p>
        </p:txBody>
      </p:sp>
      <p:sp>
        <p:nvSpPr>
          <p:cNvPr id="7" name="Shape 5"/>
          <p:cNvSpPr/>
          <p:nvPr/>
        </p:nvSpPr>
        <p:spPr>
          <a:xfrm>
            <a:off x="6629401" y="2955727"/>
            <a:ext cx="5029200" cy="16329"/>
          </a:xfrm>
          <a:prstGeom prst="rect">
            <a:avLst/>
          </a:prstGeom>
          <a:solidFill>
            <a:srgbClr val="221F1A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629401" y="3219705"/>
            <a:ext cx="553212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kern="0" spc="252" dirty="0">
                <a:solidFill>
                  <a:srgbClr val="857D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CREDITS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629401" y="3695955"/>
            <a:ext cx="5532120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800" dirty="0">
                <a:solidFill>
                  <a:srgbClr val="22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7800" dirty="0"/>
          </a:p>
        </p:txBody>
      </p:sp>
      <p:sp>
        <p:nvSpPr>
          <p:cNvPr id="10" name="Shape 8"/>
          <p:cNvSpPr/>
          <p:nvPr/>
        </p:nvSpPr>
        <p:spPr>
          <a:xfrm>
            <a:off x="12192000" y="2955727"/>
            <a:ext cx="5029200" cy="16329"/>
          </a:xfrm>
          <a:prstGeom prst="rect">
            <a:avLst/>
          </a:prstGeom>
          <a:solidFill>
            <a:srgbClr val="221F1A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2192000" y="3219705"/>
            <a:ext cx="553212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kern="0" spc="252" dirty="0">
                <a:solidFill>
                  <a:srgbClr val="857D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192000" y="3695955"/>
            <a:ext cx="5532120" cy="7512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400" dirty="0">
                <a:solidFill>
                  <a:srgbClr val="22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Undergraduate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1066800" y="8867776"/>
            <a:ext cx="9429751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i="1" dirty="0">
                <a:solidFill>
                  <a:srgbClr val="3F3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one-semester introduction to education policy in India.</a:t>
            </a:r>
            <a:endParaRPr lang="en-US" sz="2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CE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3164086"/>
            <a:ext cx="1776984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kern="0" spc="432" dirty="0">
                <a:solidFill>
                  <a:srgbClr val="B548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TWO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66800" y="3621286"/>
            <a:ext cx="16639033" cy="217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100" kern="0" spc="-122" dirty="0">
                <a:solidFill>
                  <a:srgbClr val="22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Understanding education</a:t>
            </a:r>
            <a:endParaRPr lang="en-US" sz="8100" dirty="0"/>
          </a:p>
        </p:txBody>
      </p:sp>
      <p:sp>
        <p:nvSpPr>
          <p:cNvPr id="4" name="Shape 2"/>
          <p:cNvSpPr/>
          <p:nvPr/>
        </p:nvSpPr>
        <p:spPr>
          <a:xfrm>
            <a:off x="1066800" y="6008489"/>
            <a:ext cx="838200" cy="19050"/>
          </a:xfrm>
          <a:prstGeom prst="rect">
            <a:avLst/>
          </a:prstGeom>
          <a:solidFill>
            <a:srgbClr val="B548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66800" y="6294239"/>
            <a:ext cx="8241031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i="1" dirty="0">
                <a:solidFill>
                  <a:srgbClr val="3F3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the learner outward — reading the system from micro to macro.</a:t>
            </a:r>
            <a:endParaRPr lang="en-US" sz="2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81050"/>
            <a:ext cx="612718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kern="0" spc="360" dirty="0">
                <a:solidFill>
                  <a:srgbClr val="B548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DETERMINANTS OF LEARNING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181100"/>
            <a:ext cx="5737274" cy="12823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4500" kern="0" spc="-45" dirty="0">
                <a:solidFill>
                  <a:srgbClr val="22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shapes a school </a:t>
            </a:r>
            <a:r>
              <a:rPr lang="en-US" sz="4500" i="1" kern="0" spc="-45" dirty="0">
                <a:solidFill>
                  <a:srgbClr val="B548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learner?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52500" y="2672953"/>
            <a:ext cx="609600" cy="19050"/>
          </a:xfrm>
          <a:prstGeom prst="rect">
            <a:avLst/>
          </a:prstGeom>
          <a:solidFill>
            <a:srgbClr val="B548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52500" y="2920603"/>
            <a:ext cx="5737274" cy="158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25" dirty="0">
                <a:solidFill>
                  <a:srgbClr val="3F3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K–12 child sits inside widening circles — home and siblings, peers, teachers, community, and the social structure of caste, gender and religion.</a:t>
            </a:r>
            <a:endParaRPr lang="en-US" sz="2025" dirty="0"/>
          </a:p>
        </p:txBody>
      </p:sp>
      <p:sp>
        <p:nvSpPr>
          <p:cNvPr id="6" name="Text 4"/>
          <p:cNvSpPr/>
          <p:nvPr/>
        </p:nvSpPr>
        <p:spPr>
          <a:xfrm>
            <a:off x="952500" y="9185928"/>
            <a:ext cx="6127186" cy="358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i="1" dirty="0">
                <a:solidFill>
                  <a:srgbClr val="857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Proximate → distant determinants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132269" y="781050"/>
            <a:ext cx="10203232" cy="8724901"/>
          </a:xfrm>
          <a:prstGeom prst="rect">
            <a:avLst/>
          </a:prstGeom>
          <a:solidFill>
            <a:srgbClr val="FBF9F4"/>
          </a:solidFill>
          <a:ln w="5443">
            <a:solidFill>
              <a:srgbClr val="221F1A">
                <a:alpha val="20000"/>
              </a:srgbClr>
            </a:solidFill>
            <a:prstDash val="solid"/>
          </a:ln>
          <a:effectLst>
            <a:outerShdw blurRad="476250" dist="228600" dir="5400000" algn="bl" rotWithShape="0">
              <a:srgbClr val="221F1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t="-21777" b="-21777"/>
          <a:stretch/>
        </p:blipFill>
        <p:spPr>
          <a:xfrm>
            <a:off x="7366312" y="1015093"/>
            <a:ext cx="9735146" cy="825681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81050"/>
            <a:ext cx="612718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kern="0" spc="360" dirty="0">
                <a:solidFill>
                  <a:srgbClr val="B548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DETERMINANTS OF LEARNING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181100"/>
            <a:ext cx="5737274" cy="12823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4500" kern="0" spc="-45" dirty="0">
                <a:solidFill>
                  <a:srgbClr val="22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shapes an adult </a:t>
            </a:r>
            <a:r>
              <a:rPr lang="en-US" sz="4500" i="1" kern="0" spc="-45" dirty="0">
                <a:solidFill>
                  <a:srgbClr val="B548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learner?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52500" y="2672953"/>
            <a:ext cx="609600" cy="19050"/>
          </a:xfrm>
          <a:prstGeom prst="rect">
            <a:avLst/>
          </a:prstGeom>
          <a:solidFill>
            <a:srgbClr val="B548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52500" y="2920603"/>
            <a:ext cx="5737274" cy="158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25" dirty="0">
                <a:solidFill>
                  <a:srgbClr val="3F3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higher education the circles change — colleges and universities, programs and curricula, funding from union, state and private sources, all under regulation and accreditation.</a:t>
            </a:r>
            <a:endParaRPr lang="en-US" sz="2025" dirty="0"/>
          </a:p>
        </p:txBody>
      </p:sp>
      <p:sp>
        <p:nvSpPr>
          <p:cNvPr id="6" name="Text 4"/>
          <p:cNvSpPr/>
          <p:nvPr/>
        </p:nvSpPr>
        <p:spPr>
          <a:xfrm>
            <a:off x="952500" y="9185928"/>
            <a:ext cx="6127186" cy="358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i="1" dirty="0">
                <a:solidFill>
                  <a:srgbClr val="857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Learner, 18–24 years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132269" y="781050"/>
            <a:ext cx="10203232" cy="8724901"/>
          </a:xfrm>
          <a:prstGeom prst="rect">
            <a:avLst/>
          </a:prstGeom>
          <a:solidFill>
            <a:srgbClr val="FBF9F4"/>
          </a:solidFill>
          <a:ln w="5443">
            <a:solidFill>
              <a:srgbClr val="221F1A">
                <a:alpha val="20000"/>
              </a:srgbClr>
            </a:solidFill>
            <a:prstDash val="solid"/>
          </a:ln>
          <a:effectLst>
            <a:outerShdw blurRad="476250" dist="228600" dir="5400000" algn="bl" rotWithShape="0">
              <a:srgbClr val="221F1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l="-3425" r="-3425"/>
          <a:stretch/>
        </p:blipFill>
        <p:spPr>
          <a:xfrm>
            <a:off x="7366312" y="1015093"/>
            <a:ext cx="9735146" cy="825681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924592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kern="0" spc="360" dirty="0">
                <a:solidFill>
                  <a:srgbClr val="B548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MULTI-LAYERED SYSTEM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028700"/>
            <a:ext cx="9245926" cy="612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350" kern="0" spc="-43" dirty="0">
                <a:solidFill>
                  <a:srgbClr val="22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complexity of school education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11879580" y="909893"/>
            <a:ext cx="5494020" cy="7313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950" i="1" dirty="0">
                <a:solidFill>
                  <a:srgbClr val="3F3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Non-linear, multi-scalar, deeply social &amp; political — no single reform works alone.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914400" y="1888927"/>
            <a:ext cx="16459201" cy="7788474"/>
          </a:xfrm>
          <a:prstGeom prst="rect">
            <a:avLst/>
          </a:prstGeom>
          <a:solidFill>
            <a:srgbClr val="FBF9F4"/>
          </a:solidFill>
          <a:ln w="5443">
            <a:solidFill>
              <a:srgbClr val="221F1A">
                <a:alpha val="20000"/>
              </a:srgbClr>
            </a:solidFill>
            <a:prstDash val="solid"/>
          </a:ln>
          <a:effectLst>
            <a:outerShdw blurRad="476250" dist="228600" dir="5400000" algn="bl" rotWithShape="0">
              <a:srgbClr val="221F1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9457" r="-9457"/>
          <a:stretch/>
        </p:blipFill>
        <p:spPr>
          <a:xfrm>
            <a:off x="1129393" y="2103920"/>
            <a:ext cx="16029215" cy="735848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81050"/>
            <a:ext cx="576674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kern="0" spc="360" dirty="0">
                <a:solidFill>
                  <a:srgbClr val="B548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REGULATORY ASSEMBLAGE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181100"/>
            <a:ext cx="5399767" cy="1196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4200" kern="0" spc="-42" dirty="0">
                <a:solidFill>
                  <a:srgbClr val="22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complexity of higher </a:t>
            </a:r>
            <a:r>
              <a:rPr lang="en-US" sz="4200" i="1" kern="0" spc="-42" dirty="0">
                <a:solidFill>
                  <a:srgbClr val="B548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education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52500" y="2586718"/>
            <a:ext cx="609600" cy="19050"/>
          </a:xfrm>
          <a:prstGeom prst="rect">
            <a:avLst/>
          </a:prstGeom>
          <a:solidFill>
            <a:srgbClr val="B548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52500" y="2834368"/>
            <a:ext cx="5399767" cy="158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25" dirty="0">
                <a:solidFill>
                  <a:srgbClr val="3F3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Quantity, quality and enrolment pull against a fragmented field of regulators, councils, funders and owners — public, aided and private.</a:t>
            </a:r>
            <a:endParaRPr lang="en-US" sz="2025" dirty="0"/>
          </a:p>
        </p:txBody>
      </p:sp>
      <p:sp>
        <p:nvSpPr>
          <p:cNvPr id="6" name="Text 4"/>
          <p:cNvSpPr/>
          <p:nvPr/>
        </p:nvSpPr>
        <p:spPr>
          <a:xfrm>
            <a:off x="952500" y="9185928"/>
            <a:ext cx="5766741" cy="358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i="1" dirty="0">
                <a:solidFill>
                  <a:srgbClr val="857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Regulation is the core concern.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804592" y="781050"/>
            <a:ext cx="10530908" cy="8724901"/>
          </a:xfrm>
          <a:prstGeom prst="rect">
            <a:avLst/>
          </a:prstGeom>
          <a:solidFill>
            <a:srgbClr val="FBF9F4"/>
          </a:solidFill>
          <a:ln w="5443">
            <a:solidFill>
              <a:srgbClr val="221F1A">
                <a:alpha val="20000"/>
              </a:srgbClr>
            </a:solidFill>
            <a:prstDash val="solid"/>
          </a:ln>
          <a:effectLst>
            <a:outerShdw blurRad="476250" dist="228600" dir="5400000" algn="bl" rotWithShape="0">
              <a:srgbClr val="221F1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l="-3141" r="-3141"/>
          <a:stretch/>
        </p:blipFill>
        <p:spPr>
          <a:xfrm>
            <a:off x="7038635" y="1015093"/>
            <a:ext cx="10062823" cy="825681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81050"/>
            <a:ext cx="756887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kern="0" spc="360" dirty="0">
                <a:solidFill>
                  <a:srgbClr val="B548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POLICY → OUTCOME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181100"/>
            <a:ext cx="7568871" cy="6794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650" kern="0" spc="-46" dirty="0">
                <a:solidFill>
                  <a:srgbClr val="22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black box of </a:t>
            </a:r>
            <a:r>
              <a:rPr lang="en-US" sz="4650" i="1" kern="0" spc="-46" dirty="0">
                <a:solidFill>
                  <a:srgbClr val="B548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reform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952500" y="2070072"/>
            <a:ext cx="609600" cy="19050"/>
          </a:xfrm>
          <a:prstGeom prst="rect">
            <a:avLst/>
          </a:prstGeom>
          <a:solidFill>
            <a:srgbClr val="B548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52500" y="2317722"/>
            <a:ext cx="7087216" cy="158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25" dirty="0">
                <a:solidFill>
                  <a:srgbClr val="3F3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Between a policy and a result sits a long chain — government, parents, community, school, teachers and students, tied together by access, motivation, support and feedback. Reform succeeds or fails inside this box.</a:t>
            </a:r>
            <a:endParaRPr lang="en-US" sz="2025" dirty="0"/>
          </a:p>
        </p:txBody>
      </p:sp>
      <p:sp>
        <p:nvSpPr>
          <p:cNvPr id="6" name="Text 4"/>
          <p:cNvSpPr/>
          <p:nvPr/>
        </p:nvSpPr>
        <p:spPr>
          <a:xfrm>
            <a:off x="952500" y="9185928"/>
            <a:ext cx="7568871" cy="358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i="1" dirty="0">
                <a:solidFill>
                  <a:srgbClr val="857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“UnpackED” — Karthik Dinne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442892" y="781050"/>
            <a:ext cx="8892608" cy="8724901"/>
          </a:xfrm>
          <a:prstGeom prst="rect">
            <a:avLst/>
          </a:prstGeom>
          <a:solidFill>
            <a:srgbClr val="FBF9F4"/>
          </a:solidFill>
          <a:ln w="5443">
            <a:solidFill>
              <a:srgbClr val="221F1A">
                <a:alpha val="20000"/>
              </a:srgbClr>
            </a:solidFill>
            <a:prstDash val="solid"/>
          </a:ln>
          <a:effectLst>
            <a:outerShdw blurRad="476250" dist="228600" dir="5400000" algn="bl" rotWithShape="0">
              <a:srgbClr val="221F1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l="-21136" r="-21136"/>
          <a:stretch/>
        </p:blipFill>
        <p:spPr>
          <a:xfrm>
            <a:off x="8676935" y="1015093"/>
            <a:ext cx="8424523" cy="825681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CE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2962870"/>
            <a:ext cx="1223772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kern="0" spc="360" dirty="0">
                <a:solidFill>
                  <a:srgbClr val="B548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LISTEN &amp; DISCUSS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3343871"/>
            <a:ext cx="12237720" cy="7641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250" kern="0" spc="-52" dirty="0">
                <a:solidFill>
                  <a:srgbClr val="22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does </a:t>
            </a:r>
            <a:r>
              <a:rPr lang="en-US" sz="5250" i="1" kern="0" spc="-52" dirty="0">
                <a:solidFill>
                  <a:srgbClr val="B548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education </a:t>
            </a:r>
            <a:r>
              <a:rPr lang="en-US" sz="5250" kern="0" spc="-52" dirty="0">
                <a:solidFill>
                  <a:srgbClr val="22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mean?</a:t>
            </a:r>
            <a:endParaRPr lang="en-US" sz="5250" dirty="0"/>
          </a:p>
        </p:txBody>
      </p:sp>
      <p:sp>
        <p:nvSpPr>
          <p:cNvPr id="4" name="Text 2"/>
          <p:cNvSpPr/>
          <p:nvPr/>
        </p:nvSpPr>
        <p:spPr>
          <a:xfrm>
            <a:off x="952500" y="4431847"/>
            <a:ext cx="8044816" cy="1104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3000" i="1" dirty="0">
                <a:solidFill>
                  <a:srgbClr val="22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“Quality has to do a lot with the meaning of education.”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52500" y="5689147"/>
            <a:ext cx="1223772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kern="0" spc="180" dirty="0">
                <a:solidFill>
                  <a:srgbClr val="857D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DR. VIMALA RAMACHANDRAN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52500" y="6298747"/>
            <a:ext cx="1238250" cy="19050"/>
          </a:xfrm>
          <a:prstGeom prst="rect">
            <a:avLst/>
          </a:prstGeom>
          <a:solidFill>
            <a:srgbClr val="B548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952500" y="6565447"/>
            <a:ext cx="12237720" cy="4347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25" dirty="0">
                <a:solidFill>
                  <a:srgbClr val="3F3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ColabCast · Season 1, Episode 1 — </a:t>
            </a:r>
            <a:r>
              <a:rPr lang="en-US" sz="2025" i="1" dirty="0">
                <a:solidFill>
                  <a:srgbClr val="B548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play 3:00–7:30</a:t>
            </a:r>
            <a:endParaRPr lang="en-US" sz="2025" dirty="0"/>
          </a:p>
        </p:txBody>
      </p:sp>
      <p:sp>
        <p:nvSpPr>
          <p:cNvPr id="8" name="Text 6"/>
          <p:cNvSpPr/>
          <p:nvPr/>
        </p:nvSpPr>
        <p:spPr>
          <a:xfrm>
            <a:off x="952500" y="7095445"/>
            <a:ext cx="1223772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857D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open.spotify.com/episode/2BxsryLSsSkIO9jDYPFAFQ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2763500" y="2857500"/>
            <a:ext cx="4572000" cy="4572000"/>
          </a:xfrm>
          <a:prstGeom prst="rect">
            <a:avLst/>
          </a:prstGeom>
          <a:solidFill>
            <a:srgbClr val="FBF9F4"/>
          </a:solidFill>
          <a:ln w="5443">
            <a:solidFill>
              <a:srgbClr val="221F1A">
                <a:alpha val="20000"/>
              </a:srgbClr>
            </a:solidFill>
            <a:prstDash val="solid"/>
          </a:ln>
          <a:effectLst>
            <a:outerShdw blurRad="476250" dist="228600" dir="5400000" algn="bl" rotWithShape="0">
              <a:srgbClr val="221F1A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9444" y="3053443"/>
            <a:ext cx="4180115" cy="418011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CE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3371255"/>
            <a:ext cx="1776984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kern="0" spc="432" dirty="0">
                <a:solidFill>
                  <a:srgbClr val="B548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THREE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66800" y="3828455"/>
            <a:ext cx="16639033" cy="217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100" kern="0" spc="-122" dirty="0">
                <a:solidFill>
                  <a:srgbClr val="22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Scope, topics &amp; readings</a:t>
            </a:r>
            <a:endParaRPr lang="en-US" sz="8100" dirty="0"/>
          </a:p>
        </p:txBody>
      </p:sp>
      <p:sp>
        <p:nvSpPr>
          <p:cNvPr id="4" name="Shape 2"/>
          <p:cNvSpPr/>
          <p:nvPr/>
        </p:nvSpPr>
        <p:spPr>
          <a:xfrm>
            <a:off x="1066800" y="6215658"/>
            <a:ext cx="838200" cy="19050"/>
          </a:xfrm>
          <a:prstGeom prst="rect">
            <a:avLst/>
          </a:prstGeom>
          <a:solidFill>
            <a:srgbClr val="B548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66800" y="6501408"/>
            <a:ext cx="8591551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i="1" dirty="0">
                <a:solidFill>
                  <a:srgbClr val="3F3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 semester goes.</a:t>
            </a:r>
            <a:endParaRPr lang="en-US" sz="2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838200"/>
            <a:ext cx="1793748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kern="0" spc="432" dirty="0">
                <a:solidFill>
                  <a:srgbClr val="B548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OBJECTIVES OF THE COURSE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219200"/>
            <a:ext cx="17937481" cy="704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4950" kern="0" spc="-49" dirty="0">
                <a:solidFill>
                  <a:srgbClr val="22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will be able to do</a:t>
            </a:r>
            <a:endParaRPr lang="en-US" sz="4950" dirty="0"/>
          </a:p>
        </p:txBody>
      </p:sp>
      <p:sp>
        <p:nvSpPr>
          <p:cNvPr id="4" name="Shape 2"/>
          <p:cNvSpPr/>
          <p:nvPr/>
        </p:nvSpPr>
        <p:spPr>
          <a:xfrm>
            <a:off x="990600" y="2495125"/>
            <a:ext cx="7848601" cy="16329"/>
          </a:xfrm>
          <a:prstGeom prst="rect">
            <a:avLst/>
          </a:prstGeom>
          <a:solidFill>
            <a:srgbClr val="221F1A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90600" y="2721003"/>
            <a:ext cx="632817" cy="5180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200" dirty="0">
                <a:solidFill>
                  <a:srgbClr val="B548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794867" y="2759103"/>
            <a:ext cx="7255663" cy="8167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6000"/>
              </a:lnSpc>
              <a:buNone/>
            </a:pPr>
            <a:r>
              <a:rPr lang="en-US" sz="2100" dirty="0">
                <a:solidFill>
                  <a:srgbClr val="3F3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Trace how India's education system and policies evolved across colonial and post-colonial India.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448801" y="2495125"/>
            <a:ext cx="7848601" cy="16329"/>
          </a:xfrm>
          <a:prstGeom prst="rect">
            <a:avLst/>
          </a:prstGeom>
          <a:solidFill>
            <a:srgbClr val="221F1A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448801" y="2721003"/>
            <a:ext cx="701618" cy="5180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200" dirty="0">
                <a:solidFill>
                  <a:srgbClr val="B548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10321869" y="2759103"/>
            <a:ext cx="7184798" cy="1206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6000"/>
              </a:lnSpc>
              <a:buNone/>
            </a:pPr>
            <a:r>
              <a:rPr lang="en-US" sz="2100" dirty="0">
                <a:solidFill>
                  <a:srgbClr val="3F3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Critically examine challenges in elementary and secondary education — and the policy instruments used to address them.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990600" y="4308107"/>
            <a:ext cx="7848601" cy="16329"/>
          </a:xfrm>
          <a:prstGeom prst="rect">
            <a:avLst/>
          </a:prstGeom>
          <a:solidFill>
            <a:srgbClr val="221F1A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990600" y="4533985"/>
            <a:ext cx="697961" cy="5180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200" dirty="0">
                <a:solidFill>
                  <a:srgbClr val="B548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1860011" y="4572085"/>
            <a:ext cx="7188565" cy="8167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6000"/>
              </a:lnSpc>
              <a:buNone/>
            </a:pPr>
            <a:r>
              <a:rPr lang="en-US" sz="2100" dirty="0">
                <a:solidFill>
                  <a:srgbClr val="3F3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Understand the growth and challenges of higher education in India.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9448801" y="4308107"/>
            <a:ext cx="7848601" cy="16329"/>
          </a:xfrm>
          <a:prstGeom prst="rect">
            <a:avLst/>
          </a:prstGeom>
          <a:solidFill>
            <a:srgbClr val="221F1A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9448801" y="4533985"/>
            <a:ext cx="704935" cy="5180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200" dirty="0">
                <a:solidFill>
                  <a:srgbClr val="B548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10325186" y="4572085"/>
            <a:ext cx="7181382" cy="8167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6000"/>
              </a:lnSpc>
              <a:buNone/>
            </a:pPr>
            <a:r>
              <a:rPr lang="en-US" sz="2100" dirty="0">
                <a:solidFill>
                  <a:srgbClr val="3F3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Evaluate an education-policy proposal or instrument in its appropriate context.</a:t>
            </a:r>
            <a:endParaRPr lang="en-US" sz="2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42950"/>
            <a:ext cx="122838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kern="0" spc="432" dirty="0">
                <a:solidFill>
                  <a:srgbClr val="B548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276135" y="742950"/>
            <a:ext cx="117353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857D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HOURS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085850"/>
            <a:ext cx="18105121" cy="643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4500" kern="0" spc="-45" dirty="0">
                <a:solidFill>
                  <a:srgbClr val="22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Indian Education System and History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914400" y="2186923"/>
            <a:ext cx="7962901" cy="16329"/>
          </a:xfrm>
          <a:prstGeom prst="rect">
            <a:avLst/>
          </a:prstGeom>
          <a:solidFill>
            <a:srgbClr val="B548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2431852"/>
            <a:ext cx="4097077" cy="394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550" dirty="0">
                <a:solidFill>
                  <a:srgbClr val="22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1.1 School system in India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8054323" y="2508052"/>
            <a:ext cx="89917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857D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HRS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47713" y="3016619"/>
            <a:ext cx="8205788" cy="2185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875" dirty="0">
                <a:solidFill>
                  <a:srgbClr val="3F3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Current structure &amp; comparative schooling — India, China, USA, Japan</a:t>
            </a:r>
            <a:endParaRPr lang="en-US" sz="1875" dirty="0"/>
          </a:p>
          <a:p>
            <a:pPr marL="0" indent="0" algn="l">
              <a:lnSpc>
                <a:spcPct val="142000"/>
              </a:lnSpc>
              <a:buNone/>
            </a:pPr>
            <a:r>
              <a:rPr lang="en-US" sz="1875" dirty="0">
                <a:solidFill>
                  <a:srgbClr val="3F3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History: indigenous, colonial &amp; missionary schools; thinkers of modern education</a:t>
            </a:r>
            <a:endParaRPr lang="en-US" sz="1875" dirty="0"/>
          </a:p>
          <a:p>
            <a:pPr marL="0" indent="0" algn="l">
              <a:lnSpc>
                <a:spcPct val="142000"/>
              </a:lnSpc>
              <a:buNone/>
            </a:pPr>
            <a:r>
              <a:rPr lang="en-US" sz="1875" dirty="0">
                <a:solidFill>
                  <a:srgbClr val="3F3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Modern India: UEE, Right to Education, Kothari Commission &amp; NPE</a:t>
            </a:r>
            <a:endParaRPr lang="en-US" sz="1875" dirty="0"/>
          </a:p>
          <a:p>
            <a:pPr marL="0" indent="0" algn="l">
              <a:lnSpc>
                <a:spcPct val="142000"/>
              </a:lnSpc>
              <a:buNone/>
            </a:pPr>
            <a:r>
              <a:rPr lang="en-US" sz="1875" dirty="0">
                <a:solidFill>
                  <a:srgbClr val="3F3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Growth of private schools &amp; school management</a:t>
            </a:r>
          </a:p>
          <a:p>
            <a:pPr marL="0" indent="0" algn="l">
              <a:lnSpc>
                <a:spcPct val="142000"/>
              </a:lnSpc>
              <a:buNone/>
            </a:pPr>
            <a:endParaRPr lang="en-US" sz="1875" dirty="0">
              <a:solidFill>
                <a:srgbClr val="3F3A32"/>
              </a:solidFill>
              <a:latin typeface="Georgia" pitchFamily="34" charset="0"/>
            </a:endParaRPr>
          </a:p>
          <a:p>
            <a:pPr marL="0" indent="0" algn="l">
              <a:lnSpc>
                <a:spcPct val="142000"/>
              </a:lnSpc>
              <a:buNone/>
            </a:pPr>
            <a:endParaRPr lang="en-US" sz="1875" dirty="0">
              <a:solidFill>
                <a:srgbClr val="3F3A32"/>
              </a:solidFill>
              <a:latin typeface="Georgia" pitchFamily="34" charset="0"/>
            </a:endParaRPr>
          </a:p>
          <a:p>
            <a:pPr marL="0" indent="0" algn="l">
              <a:lnSpc>
                <a:spcPct val="142000"/>
              </a:lnSpc>
              <a:buNone/>
            </a:pP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9410701" y="2186923"/>
            <a:ext cx="7962901" cy="16329"/>
          </a:xfrm>
          <a:prstGeom prst="rect">
            <a:avLst/>
          </a:prstGeom>
          <a:solidFill>
            <a:srgbClr val="B548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410701" y="2431852"/>
            <a:ext cx="4458364" cy="394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550" dirty="0">
                <a:solidFill>
                  <a:srgbClr val="22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1.3 Higher education system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16687801" y="2508052"/>
            <a:ext cx="7620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857D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HRS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244013" y="3016619"/>
            <a:ext cx="8205788" cy="1847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875" dirty="0">
                <a:solidFill>
                  <a:srgbClr val="3F3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Current structure &amp; comparative analysis across the world</a:t>
            </a:r>
            <a:endParaRPr lang="en-US" sz="1875" dirty="0"/>
          </a:p>
          <a:p>
            <a:pPr marL="0" indent="0" algn="l">
              <a:lnSpc>
                <a:spcPct val="142000"/>
              </a:lnSpc>
              <a:buNone/>
            </a:pPr>
            <a:r>
              <a:rPr lang="en-US" sz="1875" dirty="0">
                <a:solidFill>
                  <a:srgbClr val="3F3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Colonial roots: Wood's Dispatch, the 1858 universities, University Acts</a:t>
            </a:r>
            <a:endParaRPr lang="en-US" sz="1875" dirty="0"/>
          </a:p>
          <a:p>
            <a:pPr marL="0" indent="0" algn="l">
              <a:lnSpc>
                <a:spcPct val="142000"/>
              </a:lnSpc>
              <a:buNone/>
            </a:pPr>
            <a:r>
              <a:rPr lang="en-US" sz="1875" dirty="0">
                <a:solidFill>
                  <a:srgbClr val="3F3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UGC and the expansion of colleges &amp; universities</a:t>
            </a:r>
            <a:endParaRPr lang="en-US" sz="1875" dirty="0"/>
          </a:p>
          <a:p>
            <a:pPr marL="0" indent="0" algn="l">
              <a:lnSpc>
                <a:spcPct val="142000"/>
              </a:lnSpc>
              <a:buNone/>
            </a:pPr>
            <a:r>
              <a:rPr lang="en-US" sz="1875" dirty="0">
                <a:solidFill>
                  <a:srgbClr val="3F3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Private universities &amp; institutions of national importance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914400" y="9224028"/>
            <a:ext cx="18105121" cy="358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i="1" dirty="0">
                <a:solidFill>
                  <a:srgbClr val="857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Preceded by a 2-hour introduction — layers, levels and determinants of learning.</a:t>
            </a:r>
            <a:endParaRPr lang="en-US" sz="18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DCD9400-9561-1400-D850-055510D79DAC}"/>
              </a:ext>
            </a:extLst>
          </p:cNvPr>
          <p:cNvSpPr txBox="1"/>
          <p:nvPr/>
        </p:nvSpPr>
        <p:spPr>
          <a:xfrm>
            <a:off x="914400" y="5751144"/>
            <a:ext cx="11704320" cy="2703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07000"/>
              </a:lnSpc>
            </a:pPr>
            <a:r>
              <a:rPr lang="en-IN" sz="2000" b="1" kern="100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Mangal" panose="02040503050203030202" pitchFamily="18" charset="0"/>
              </a:rPr>
              <a:t>1.2 History of Schooling in India</a:t>
            </a:r>
          </a:p>
          <a:p>
            <a:pPr lvl="1">
              <a:lnSpc>
                <a:spcPct val="107000"/>
              </a:lnSpc>
            </a:pPr>
            <a:endParaRPr lang="en-IN" sz="2000" kern="100" dirty="0">
              <a:effectLst/>
              <a:latin typeface="Georgia" panose="02040502050405020303" pitchFamily="18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1143000" lvl="2" indent="-228600">
              <a:lnSpc>
                <a:spcPct val="107000"/>
              </a:lnSpc>
              <a:buFont typeface="+mj-lt"/>
              <a:buAutoNum type="romanLcParenR"/>
            </a:pPr>
            <a:r>
              <a:rPr lang="en-IN" sz="2000" kern="100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Mangal" panose="02040503050203030202" pitchFamily="18" charset="0"/>
              </a:rPr>
              <a:t>Indigenous Education and Schools </a:t>
            </a:r>
          </a:p>
          <a:p>
            <a:pPr marL="1143000" lvl="2" indent="-228600">
              <a:lnSpc>
                <a:spcPct val="107000"/>
              </a:lnSpc>
              <a:buFont typeface="+mj-lt"/>
              <a:buAutoNum type="romanLcParenR"/>
            </a:pPr>
            <a:r>
              <a:rPr lang="en-IN" sz="2000" kern="100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Mangal" panose="02040503050203030202" pitchFamily="18" charset="0"/>
              </a:rPr>
              <a:t>Education in Colonial India: Missionary Schools, British Schools, and Grant in Aid Schools; Thinkers of Modern Education</a:t>
            </a:r>
          </a:p>
          <a:p>
            <a:pPr marL="1143000" lvl="2" indent="-228600">
              <a:lnSpc>
                <a:spcPct val="107000"/>
              </a:lnSpc>
              <a:buFont typeface="+mj-lt"/>
              <a:buAutoNum type="romanLcParenR"/>
            </a:pPr>
            <a:r>
              <a:rPr lang="en-IN" sz="2000" kern="100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Mangal" panose="02040503050203030202" pitchFamily="18" charset="0"/>
              </a:rPr>
              <a:t>Major Education Policies in Colonial India; Schools and School Management in Colonial India</a:t>
            </a:r>
          </a:p>
          <a:p>
            <a:pPr marL="1143000" lvl="2" indent="-228600">
              <a:lnSpc>
                <a:spcPct val="107000"/>
              </a:lnSpc>
              <a:buFont typeface="+mj-lt"/>
              <a:buAutoNum type="romanLcParenR"/>
            </a:pPr>
            <a:r>
              <a:rPr lang="en-IN" sz="2000" kern="100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Mangal" panose="02040503050203030202" pitchFamily="18" charset="0"/>
              </a:rPr>
              <a:t>National Education System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42950"/>
            <a:ext cx="122838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kern="0" spc="432" dirty="0">
                <a:solidFill>
                  <a:srgbClr val="B548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276135" y="742950"/>
            <a:ext cx="117353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857D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HOURS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085850"/>
            <a:ext cx="18105121" cy="643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4500" kern="0" spc="-45" dirty="0">
                <a:solidFill>
                  <a:srgbClr val="22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Education bureaucracy &amp; finance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914400" y="2186923"/>
            <a:ext cx="5206944" cy="16329"/>
          </a:xfrm>
          <a:prstGeom prst="rect">
            <a:avLst/>
          </a:prstGeom>
          <a:solidFill>
            <a:srgbClr val="221F1A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2431852"/>
            <a:ext cx="572763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250" dirty="0">
                <a:solidFill>
                  <a:srgbClr val="22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Education in the Constitution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754380" y="2955727"/>
            <a:ext cx="5443164" cy="12783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800" dirty="0">
                <a:solidFill>
                  <a:srgbClr val="3F3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Constituent Assembly debates</a:t>
            </a:r>
            <a:endParaRPr lang="en-US" sz="1800" dirty="0"/>
          </a:p>
          <a:p>
            <a:pPr marL="0" indent="0" algn="l">
              <a:lnSpc>
                <a:spcPct val="142000"/>
              </a:lnSpc>
              <a:buNone/>
            </a:pPr>
            <a:r>
              <a:rPr lang="en-US" sz="1800" dirty="0">
                <a:solidFill>
                  <a:srgbClr val="3F3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Union, State &amp; Concurrent lists</a:t>
            </a:r>
            <a:endParaRPr lang="en-US" sz="1800" dirty="0"/>
          </a:p>
          <a:p>
            <a:pPr marL="0" indent="0" algn="l">
              <a:lnSpc>
                <a:spcPct val="142000"/>
              </a:lnSpc>
              <a:buNone/>
            </a:pPr>
            <a:r>
              <a:rPr lang="en-US" sz="1800" dirty="0">
                <a:solidFill>
                  <a:srgbClr val="3F3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RTE, child labour, language &amp; minority institutions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540444" y="2186923"/>
            <a:ext cx="5207029" cy="16329"/>
          </a:xfrm>
          <a:prstGeom prst="rect">
            <a:avLst/>
          </a:prstGeom>
          <a:solidFill>
            <a:srgbClr val="221F1A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540444" y="2431852"/>
            <a:ext cx="572773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250" dirty="0">
                <a:solidFill>
                  <a:srgbClr val="22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School education governance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6380424" y="2955727"/>
            <a:ext cx="5443249" cy="12783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800" dirty="0">
                <a:solidFill>
                  <a:srgbClr val="3F3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Bureaucracy at national, state &amp; local level</a:t>
            </a:r>
            <a:endParaRPr lang="en-US" sz="1800" dirty="0"/>
          </a:p>
          <a:p>
            <a:pPr marL="0" indent="0" algn="l">
              <a:lnSpc>
                <a:spcPct val="142000"/>
              </a:lnSpc>
              <a:buNone/>
            </a:pPr>
            <a:r>
              <a:rPr lang="en-US" sz="1800" dirty="0">
                <a:solidFill>
                  <a:srgbClr val="3F3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Decentralisation &amp; RTE</a:t>
            </a:r>
            <a:endParaRPr lang="en-US" sz="1800" dirty="0"/>
          </a:p>
          <a:p>
            <a:pPr marL="0" indent="0" algn="l">
              <a:lnSpc>
                <a:spcPct val="142000"/>
              </a:lnSpc>
              <a:buNone/>
            </a:pPr>
            <a:r>
              <a:rPr lang="en-US" sz="1800" dirty="0">
                <a:solidFill>
                  <a:srgbClr val="3F3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education &amp; state capacity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2166572" y="2186923"/>
            <a:ext cx="5207029" cy="16329"/>
          </a:xfrm>
          <a:prstGeom prst="rect">
            <a:avLst/>
          </a:prstGeom>
          <a:solidFill>
            <a:srgbClr val="221F1A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2166572" y="2431852"/>
            <a:ext cx="572773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250" dirty="0">
                <a:solidFill>
                  <a:srgbClr val="22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Higher education governance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2006552" y="2955727"/>
            <a:ext cx="5443249" cy="12783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800" dirty="0">
                <a:solidFill>
                  <a:srgbClr val="3F3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UGC, regulatory bodies &amp; councils</a:t>
            </a:r>
            <a:endParaRPr lang="en-US" sz="1800" dirty="0"/>
          </a:p>
          <a:p>
            <a:pPr marL="0" indent="0" algn="l">
              <a:lnSpc>
                <a:spcPct val="142000"/>
              </a:lnSpc>
              <a:buNone/>
            </a:pPr>
            <a:r>
              <a:rPr lang="en-US" sz="1800" dirty="0">
                <a:solidFill>
                  <a:srgbClr val="3F3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 &amp; private university acts</a:t>
            </a:r>
            <a:endParaRPr lang="en-US" sz="1800" dirty="0"/>
          </a:p>
          <a:p>
            <a:pPr marL="0" indent="0" algn="l">
              <a:lnSpc>
                <a:spcPct val="142000"/>
              </a:lnSpc>
              <a:buNone/>
            </a:pPr>
            <a:r>
              <a:rPr lang="en-US" sz="1800" dirty="0">
                <a:solidFill>
                  <a:srgbClr val="3F3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Commissions &amp; NEP in higher education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42950"/>
            <a:ext cx="122838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kern="0" spc="432" dirty="0">
                <a:solidFill>
                  <a:srgbClr val="B548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238035" y="742950"/>
            <a:ext cx="7620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857D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HRS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085850"/>
            <a:ext cx="8460582" cy="5025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3450" kern="0" spc="-34" dirty="0">
                <a:solidFill>
                  <a:srgbClr val="22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Curriculum, pedagogy &amp; learning</a:t>
            </a:r>
            <a:endParaRPr lang="en-US" sz="3450" dirty="0"/>
          </a:p>
        </p:txBody>
      </p:sp>
      <p:sp>
        <p:nvSpPr>
          <p:cNvPr id="5" name="Text 3"/>
          <p:cNvSpPr/>
          <p:nvPr/>
        </p:nvSpPr>
        <p:spPr>
          <a:xfrm>
            <a:off x="741045" y="1836029"/>
            <a:ext cx="7940993" cy="14359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950" dirty="0">
                <a:solidFill>
                  <a:srgbClr val="3F3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Language &amp; medium of instruction — the mother-tongue debate</a:t>
            </a:r>
            <a:endParaRPr lang="en-US" sz="1950" dirty="0"/>
          </a:p>
          <a:p>
            <a:pPr marL="0" indent="0" algn="l">
              <a:lnSpc>
                <a:spcPct val="142000"/>
              </a:lnSpc>
              <a:buNone/>
            </a:pPr>
            <a:r>
              <a:rPr lang="en-US" sz="1950" dirty="0">
                <a:solidFill>
                  <a:srgbClr val="3F3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crisis of learning — foundational literacy &amp; numeracy</a:t>
            </a:r>
            <a:endParaRPr lang="en-US" sz="1950" dirty="0"/>
          </a:p>
          <a:p>
            <a:pPr marL="0" indent="0" algn="l">
              <a:lnSpc>
                <a:spcPct val="142000"/>
              </a:lnSpc>
              <a:buNone/>
            </a:pPr>
            <a:r>
              <a:rPr lang="en-US" sz="1950" dirty="0">
                <a:solidFill>
                  <a:srgbClr val="3F3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Social barriers — caste, class, gender &amp; disability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9139238" y="742950"/>
            <a:ext cx="9525" cy="8801101"/>
          </a:xfrm>
          <a:prstGeom prst="rect">
            <a:avLst/>
          </a:prstGeom>
          <a:solidFill>
            <a:srgbClr val="221F1A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9682163" y="742950"/>
            <a:ext cx="122838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kern="0" spc="432" dirty="0">
                <a:solidFill>
                  <a:srgbClr val="B548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4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005798" y="742950"/>
            <a:ext cx="7620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857D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HRS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82163" y="1085850"/>
            <a:ext cx="8460582" cy="5025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3450" kern="0" spc="-34" dirty="0">
                <a:solidFill>
                  <a:srgbClr val="22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Interventions &amp; reforms</a:t>
            </a:r>
            <a:endParaRPr lang="en-US" sz="3450" dirty="0"/>
          </a:p>
        </p:txBody>
      </p:sp>
      <p:sp>
        <p:nvSpPr>
          <p:cNvPr id="10" name="Text 8"/>
          <p:cNvSpPr/>
          <p:nvPr/>
        </p:nvSpPr>
        <p:spPr>
          <a:xfrm>
            <a:off x="9508808" y="1836029"/>
            <a:ext cx="7940993" cy="17876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950" dirty="0">
                <a:solidFill>
                  <a:srgbClr val="3F3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Access &amp; retention — midday meals, cycles, cash transfers</a:t>
            </a:r>
            <a:endParaRPr lang="en-US" sz="1950" dirty="0"/>
          </a:p>
          <a:p>
            <a:pPr marL="0" indent="0" algn="l">
              <a:lnSpc>
                <a:spcPct val="142000"/>
              </a:lnSpc>
              <a:buNone/>
            </a:pPr>
            <a:r>
              <a:rPr lang="en-US" sz="1950" dirty="0">
                <a:solidFill>
                  <a:srgbClr val="3F3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— Teaching at the Right Level, activity-based &amp; adaptive learning</a:t>
            </a:r>
            <a:endParaRPr lang="en-US" sz="1950" dirty="0"/>
          </a:p>
          <a:p>
            <a:pPr marL="0" indent="0" algn="l">
              <a:lnSpc>
                <a:spcPct val="142000"/>
              </a:lnSpc>
              <a:buNone/>
            </a:pPr>
            <a:r>
              <a:rPr lang="en-US" sz="1950" dirty="0">
                <a:solidFill>
                  <a:srgbClr val="3F3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 &amp; choice — school complexes, vouchers, RTE 12(1)(c)</a:t>
            </a:r>
            <a:endParaRPr lang="en-US" sz="1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838200"/>
            <a:ext cx="1793748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kern="0" spc="432" dirty="0">
                <a:solidFill>
                  <a:srgbClr val="B548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THROUGH-LINE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200150"/>
            <a:ext cx="17937481" cy="664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4650" kern="0" spc="-46" dirty="0">
                <a:solidFill>
                  <a:srgbClr val="22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Policy questions we will examine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990600" y="2999525"/>
            <a:ext cx="7848601" cy="9525"/>
          </a:xfrm>
          <a:prstGeom prst="rect">
            <a:avLst/>
          </a:prstGeom>
          <a:solidFill>
            <a:srgbClr val="221F1A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90600" y="2454729"/>
            <a:ext cx="8084059" cy="4114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00" dirty="0">
                <a:solidFill>
                  <a:srgbClr val="22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Access &amp; equity in elementary education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9448801" y="2999525"/>
            <a:ext cx="7848601" cy="9525"/>
          </a:xfrm>
          <a:prstGeom prst="rect">
            <a:avLst/>
          </a:prstGeom>
          <a:solidFill>
            <a:srgbClr val="221F1A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9448801" y="2454729"/>
            <a:ext cx="8084059" cy="4114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00" dirty="0">
                <a:solidFill>
                  <a:srgbClr val="22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Education outcomes &amp; the learning-level crisis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90600" y="3721213"/>
            <a:ext cx="7848601" cy="9525"/>
          </a:xfrm>
          <a:prstGeom prst="rect">
            <a:avLst/>
          </a:prstGeom>
          <a:solidFill>
            <a:srgbClr val="221F1A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990600" y="3176417"/>
            <a:ext cx="8084059" cy="4114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00" dirty="0">
                <a:solidFill>
                  <a:srgbClr val="22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Gender &amp; education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9448801" y="3721213"/>
            <a:ext cx="7848601" cy="9525"/>
          </a:xfrm>
          <a:prstGeom prst="rect">
            <a:avLst/>
          </a:prstGeom>
          <a:solidFill>
            <a:srgbClr val="221F1A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9448801" y="3176417"/>
            <a:ext cx="8084059" cy="4114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00" dirty="0">
                <a:solidFill>
                  <a:srgbClr val="22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Public spending on education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90600" y="4442903"/>
            <a:ext cx="7848601" cy="9525"/>
          </a:xfrm>
          <a:prstGeom prst="rect">
            <a:avLst/>
          </a:prstGeom>
          <a:solidFill>
            <a:srgbClr val="221F1A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990600" y="3898107"/>
            <a:ext cx="8084059" cy="4114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00" dirty="0">
                <a:solidFill>
                  <a:srgbClr val="22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Universalization of elementary education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9448801" y="4442903"/>
            <a:ext cx="7848601" cy="9525"/>
          </a:xfrm>
          <a:prstGeom prst="rect">
            <a:avLst/>
          </a:prstGeom>
          <a:solidFill>
            <a:srgbClr val="221F1A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9448801" y="3898107"/>
            <a:ext cx="8084059" cy="4114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00" dirty="0">
                <a:solidFill>
                  <a:srgbClr val="22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Privatization of education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990600" y="9102158"/>
            <a:ext cx="7111697" cy="3847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i="1" dirty="0">
                <a:solidFill>
                  <a:srgbClr val="3F3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Higher education — expansion, access, quality &amp; regulation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2340828" y="9102158"/>
            <a:ext cx="5452229" cy="3847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i="1" dirty="0">
                <a:solidFill>
                  <a:srgbClr val="B548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…read comparatively, evaluated as proposals.</a:t>
            </a:r>
            <a:endParaRPr lang="en-US" sz="1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CE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42950"/>
            <a:ext cx="1810512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kern="0" spc="432" dirty="0">
                <a:solidFill>
                  <a:srgbClr val="B548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 READINGS &amp; RESOURCES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8105121" cy="664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4650" kern="0" spc="-46" dirty="0">
                <a:solidFill>
                  <a:srgbClr val="22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to read</a:t>
            </a:r>
            <a:endParaRPr lang="en-US" sz="4650" dirty="0"/>
          </a:p>
        </p:txBody>
      </p:sp>
      <p:sp>
        <p:nvSpPr>
          <p:cNvPr id="22" name="Text 20"/>
          <p:cNvSpPr/>
          <p:nvPr/>
        </p:nvSpPr>
        <p:spPr>
          <a:xfrm>
            <a:off x="914400" y="9224028"/>
            <a:ext cx="18105121" cy="358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i="1" dirty="0">
                <a:solidFill>
                  <a:srgbClr val="857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Plus NPE 1986, NEP drafts, and selected reports, research articles &amp; policy briefs.</a:t>
            </a:r>
            <a:endParaRPr lang="en-US" sz="1800" dirty="0"/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584CE6AA-B57F-6F2F-29A7-E4F7E1F4E963}"/>
              </a:ext>
            </a:extLst>
          </p:cNvPr>
          <p:cNvSpPr txBox="1">
            <a:spLocks/>
          </p:cNvSpPr>
          <p:nvPr/>
        </p:nvSpPr>
        <p:spPr>
          <a:xfrm>
            <a:off x="425720" y="2309884"/>
            <a:ext cx="15356823" cy="707186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>
                <a:latin typeface="Georgia" panose="02040502050405020303" pitchFamily="18" charset="0"/>
              </a:rPr>
              <a:t>Sarangapani, P. M., &amp; Pappu, R. (Eds.). (2021). </a:t>
            </a:r>
            <a:r>
              <a:rPr lang="en-IN" sz="2400" b="1" i="1">
                <a:solidFill>
                  <a:srgbClr val="00B0F0"/>
                </a:solidFill>
                <a:latin typeface="Georgia" panose="02040502050405020303" pitchFamily="18" charset="0"/>
              </a:rPr>
              <a:t>Handbook of Education Systems in South Asia</a:t>
            </a:r>
            <a:r>
              <a:rPr lang="en-IN" sz="2400">
                <a:latin typeface="Georgia" panose="02040502050405020303" pitchFamily="18" charset="0"/>
              </a:rPr>
              <a:t> (Selected chapters). Springer.</a:t>
            </a:r>
          </a:p>
          <a:p>
            <a:r>
              <a:rPr lang="en-IN" sz="2400">
                <a:latin typeface="Georgia" panose="02040502050405020303" pitchFamily="18" charset="0"/>
              </a:rPr>
              <a:t>Naik, J. P., &amp; Nurullah, S. (1974). </a:t>
            </a:r>
            <a:r>
              <a:rPr lang="en-IN" sz="2400" b="1" i="1">
                <a:solidFill>
                  <a:srgbClr val="00B0F0"/>
                </a:solidFill>
                <a:latin typeface="Georgia" panose="02040502050405020303" pitchFamily="18" charset="0"/>
              </a:rPr>
              <a:t>Students’ History of Education in India, 1800–1973</a:t>
            </a:r>
            <a:r>
              <a:rPr lang="en-IN" sz="2400">
                <a:latin typeface="Georgia" panose="02040502050405020303" pitchFamily="18" charset="0"/>
              </a:rPr>
              <a:t>. Macmillan.</a:t>
            </a:r>
          </a:p>
          <a:p>
            <a:r>
              <a:rPr lang="en-IN" sz="2400">
                <a:latin typeface="Georgia" panose="02040502050405020303" pitchFamily="18" charset="0"/>
              </a:rPr>
              <a:t>Ghosh, S. C. (2009). </a:t>
            </a:r>
            <a:r>
              <a:rPr lang="en-IN" sz="2400" b="1" i="1">
                <a:solidFill>
                  <a:srgbClr val="00B0F0"/>
                </a:solidFill>
                <a:latin typeface="Georgia" panose="02040502050405020303" pitchFamily="18" charset="0"/>
              </a:rPr>
              <a:t>The History of Education in Modern India, 1757–2007</a:t>
            </a:r>
            <a:r>
              <a:rPr lang="en-IN" sz="2400">
                <a:latin typeface="Georgia" panose="02040502050405020303" pitchFamily="18" charset="0"/>
              </a:rPr>
              <a:t>. Orient BlackSwan.</a:t>
            </a:r>
          </a:p>
          <a:p>
            <a:r>
              <a:rPr lang="en-IN" sz="2400">
                <a:latin typeface="Georgia" panose="02040502050405020303" pitchFamily="18" charset="0"/>
              </a:rPr>
              <a:t>Indian Education Commission (Kothari Commission report) (1964–1966). </a:t>
            </a:r>
            <a:r>
              <a:rPr lang="en-IN" sz="2400" b="1" i="1">
                <a:solidFill>
                  <a:srgbClr val="00B0F0"/>
                </a:solidFill>
                <a:latin typeface="Georgia" panose="02040502050405020303" pitchFamily="18" charset="0"/>
              </a:rPr>
              <a:t>Education and National Development (Kothari Commission Report)</a:t>
            </a:r>
            <a:r>
              <a:rPr lang="en-IN" sz="2400">
                <a:latin typeface="Georgia" panose="02040502050405020303" pitchFamily="18" charset="0"/>
              </a:rPr>
              <a:t>. Government of India.</a:t>
            </a:r>
          </a:p>
          <a:p>
            <a:r>
              <a:rPr lang="en-IN" sz="2400">
                <a:latin typeface="Georgia" panose="02040502050405020303" pitchFamily="18" charset="0"/>
              </a:rPr>
              <a:t>Mangla, A. (2022). </a:t>
            </a:r>
            <a:r>
              <a:rPr lang="en-IN" sz="2400" b="1" i="1">
                <a:solidFill>
                  <a:srgbClr val="00B0F0"/>
                </a:solidFill>
                <a:latin typeface="Georgia" panose="02040502050405020303" pitchFamily="18" charset="0"/>
              </a:rPr>
              <a:t>Making Bureaucracy Work: Norms, Education, and Public Service Delivery in Rural India</a:t>
            </a:r>
            <a:r>
              <a:rPr lang="en-IN" sz="2400">
                <a:latin typeface="Georgia" panose="02040502050405020303" pitchFamily="18" charset="0"/>
              </a:rPr>
              <a:t>. Cambridge University Press.</a:t>
            </a:r>
          </a:p>
          <a:p>
            <a:r>
              <a:rPr lang="en-IN" sz="2400">
                <a:latin typeface="Georgia" panose="02040502050405020303" pitchFamily="18" charset="0"/>
              </a:rPr>
              <a:t>Government of India. (1986). </a:t>
            </a:r>
            <a:r>
              <a:rPr lang="en-IN" sz="2400" b="1" i="1">
                <a:solidFill>
                  <a:srgbClr val="00B0F0"/>
                </a:solidFill>
                <a:latin typeface="Georgia" panose="02040502050405020303" pitchFamily="18" charset="0"/>
              </a:rPr>
              <a:t>National Policy on Education 1986</a:t>
            </a:r>
            <a:r>
              <a:rPr lang="en-IN" sz="2400">
                <a:latin typeface="Georgia" panose="02040502050405020303" pitchFamily="18" charset="0"/>
              </a:rPr>
              <a:t>. Ministry of Human Resource Development, Government of India.</a:t>
            </a:r>
          </a:p>
          <a:p>
            <a:r>
              <a:rPr lang="en-IN" sz="2400">
                <a:latin typeface="Georgia" panose="02040502050405020303" pitchFamily="18" charset="0"/>
              </a:rPr>
              <a:t>Government of India. (1992</a:t>
            </a:r>
            <a:r>
              <a:rPr lang="en-IN" sz="2400" b="1">
                <a:latin typeface="Georgia" panose="02040502050405020303" pitchFamily="18" charset="0"/>
              </a:rPr>
              <a:t>). </a:t>
            </a:r>
            <a:r>
              <a:rPr lang="en-IN" sz="2400" b="1" i="1">
                <a:solidFill>
                  <a:srgbClr val="00B0F0"/>
                </a:solidFill>
                <a:latin typeface="Georgia" panose="02040502050405020303" pitchFamily="18" charset="0"/>
              </a:rPr>
              <a:t>Programme of Action 1992 (to the National Policy on Education, 1986)</a:t>
            </a:r>
            <a:r>
              <a:rPr lang="en-IN" sz="2400">
                <a:latin typeface="Georgia" panose="02040502050405020303" pitchFamily="18" charset="0"/>
              </a:rPr>
              <a:t>. Ministry of Human Resource Development, Government of India.</a:t>
            </a:r>
          </a:p>
          <a:p>
            <a:r>
              <a:rPr lang="en-IN" sz="2400">
                <a:latin typeface="Georgia" panose="02040502050405020303" pitchFamily="18" charset="0"/>
              </a:rPr>
              <a:t>Government of India</a:t>
            </a:r>
            <a:r>
              <a:rPr lang="en-IN" sz="2400" b="1">
                <a:latin typeface="Georgia" panose="02040502050405020303" pitchFamily="18" charset="0"/>
              </a:rPr>
              <a:t> </a:t>
            </a:r>
            <a:r>
              <a:rPr lang="en-IN" sz="2400">
                <a:latin typeface="Georgia" panose="02040502050405020303" pitchFamily="18" charset="0"/>
              </a:rPr>
              <a:t>(2019), </a:t>
            </a:r>
            <a:r>
              <a:rPr lang="en-IN" sz="2400" b="1" i="1">
                <a:solidFill>
                  <a:srgbClr val="00B0F0"/>
                </a:solidFill>
                <a:latin typeface="Georgia" panose="02040502050405020303" pitchFamily="18" charset="0"/>
              </a:rPr>
              <a:t>Draft National Education Policy (2019)</a:t>
            </a:r>
            <a:r>
              <a:rPr lang="en-IN" sz="2400" b="1">
                <a:solidFill>
                  <a:srgbClr val="00B0F0"/>
                </a:solidFill>
                <a:latin typeface="Georgia" panose="02040502050405020303" pitchFamily="18" charset="0"/>
              </a:rPr>
              <a:t>.</a:t>
            </a:r>
            <a:r>
              <a:rPr lang="en-IN" sz="2400">
                <a:latin typeface="Georgia" panose="02040502050405020303" pitchFamily="18" charset="0"/>
              </a:rPr>
              <a:t> Government of India.</a:t>
            </a:r>
          </a:p>
          <a:p>
            <a:r>
              <a:rPr lang="en-IN" sz="2400">
                <a:latin typeface="Georgia" panose="02040502050405020303" pitchFamily="18" charset="0"/>
              </a:rPr>
              <a:t>Muralidharan, K. (2024). </a:t>
            </a:r>
            <a:r>
              <a:rPr lang="en-IN" sz="2400" b="1" i="1">
                <a:solidFill>
                  <a:srgbClr val="00B0F0"/>
                </a:solidFill>
                <a:latin typeface="Georgia" panose="02040502050405020303" pitchFamily="18" charset="0"/>
              </a:rPr>
              <a:t>Accelerating India’s development: A state-led roadmap for effective governance</a:t>
            </a:r>
            <a:r>
              <a:rPr lang="en-IN" sz="2400">
                <a:latin typeface="Georgia" panose="02040502050405020303" pitchFamily="18" charset="0"/>
              </a:rPr>
              <a:t>. Penguin Random House India. ISBN 978-0670095940.</a:t>
            </a:r>
          </a:p>
          <a:p>
            <a:r>
              <a:rPr lang="en-GB" sz="2400">
                <a:latin typeface="Georgia" panose="02040502050405020303" pitchFamily="18" charset="0"/>
              </a:rPr>
              <a:t>Ayyar, R.V. Vaidyanatha,</a:t>
            </a:r>
            <a:r>
              <a:rPr lang="en-GB" sz="2400">
                <a:solidFill>
                  <a:srgbClr val="00B0F0"/>
                </a:solidFill>
                <a:latin typeface="Georgia" panose="02040502050405020303" pitchFamily="18" charset="0"/>
              </a:rPr>
              <a:t> </a:t>
            </a:r>
            <a:r>
              <a:rPr lang="en-GB" sz="2400" b="1" i="1">
                <a:solidFill>
                  <a:srgbClr val="00B0F0"/>
                </a:solidFill>
                <a:latin typeface="Georgia" panose="02040502050405020303" pitchFamily="18" charset="0"/>
              </a:rPr>
              <a:t>History of Education Policymaking in India, 1947 2016</a:t>
            </a:r>
            <a:r>
              <a:rPr lang="en-GB" sz="2400" b="1">
                <a:latin typeface="Georgia" panose="02040502050405020303" pitchFamily="18" charset="0"/>
              </a:rPr>
              <a:t> </a:t>
            </a:r>
            <a:r>
              <a:rPr lang="en-GB" sz="2400">
                <a:latin typeface="Georgia" panose="02040502050405020303" pitchFamily="18" charset="0"/>
              </a:rPr>
              <a:t>  (Delhi, 2017; online edn, Oxford Academic, 19 Apr. 2018,  </a:t>
            </a:r>
            <a:endParaRPr lang="en-IN" sz="2400">
              <a:latin typeface="Georgia" panose="02040502050405020303" pitchFamily="18" charset="0"/>
            </a:endParaRPr>
          </a:p>
          <a:p>
            <a:r>
              <a:rPr lang="en-US" sz="2400">
                <a:latin typeface="Georgia" panose="02040502050405020303" pitchFamily="18" charset="0"/>
              </a:rPr>
              <a:t>…… </a:t>
            </a:r>
            <a:r>
              <a:rPr lang="en-US" sz="2400">
                <a:solidFill>
                  <a:srgbClr val="FF0000"/>
                </a:solidFill>
                <a:latin typeface="Georgia" panose="02040502050405020303" pitchFamily="18" charset="0"/>
              </a:rPr>
              <a:t>Reports, Research Articles, Policy briefs… </a:t>
            </a:r>
            <a:endParaRPr lang="en-IN" sz="2400" dirty="0">
              <a:solidFill>
                <a:srgbClr val="FF0000"/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7D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4548A0-83E2-9356-B639-E65230FFE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9A6A8CE-522B-883E-1900-B95416501961}"/>
              </a:ext>
            </a:extLst>
          </p:cNvPr>
          <p:cNvSpPr/>
          <p:nvPr/>
        </p:nvSpPr>
        <p:spPr>
          <a:xfrm>
            <a:off x="914400" y="742950"/>
            <a:ext cx="1810512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kern="0" spc="432" dirty="0">
                <a:solidFill>
                  <a:srgbClr val="B548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 READINGS &amp; RESOURCES</a:t>
            </a:r>
            <a:endParaRPr lang="en-US" sz="1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D156267-1E90-AAA0-8997-F67EDEE0B237}"/>
              </a:ext>
            </a:extLst>
          </p:cNvPr>
          <p:cNvSpPr/>
          <p:nvPr/>
        </p:nvSpPr>
        <p:spPr>
          <a:xfrm>
            <a:off x="914400" y="1104900"/>
            <a:ext cx="18105121" cy="664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4650" kern="0" spc="-46" dirty="0">
                <a:solidFill>
                  <a:srgbClr val="22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to read</a:t>
            </a:r>
            <a:endParaRPr lang="en-US" sz="465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9EB4EED5-7746-89E4-BDA6-385EA301508F}"/>
              </a:ext>
            </a:extLst>
          </p:cNvPr>
          <p:cNvSpPr/>
          <p:nvPr/>
        </p:nvSpPr>
        <p:spPr>
          <a:xfrm>
            <a:off x="914400" y="9224028"/>
            <a:ext cx="18105121" cy="358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i="1" dirty="0">
                <a:solidFill>
                  <a:srgbClr val="857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Plus NPE 1986, NEP drafts, and selected reports, research articles &amp; policy briefs.</a:t>
            </a:r>
            <a:endParaRPr lang="en-US" sz="1800" dirty="0"/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02517E30-CECC-60DD-76ED-1F6FF9D1AAEF}"/>
              </a:ext>
            </a:extLst>
          </p:cNvPr>
          <p:cNvSpPr txBox="1">
            <a:spLocks/>
          </p:cNvSpPr>
          <p:nvPr/>
        </p:nvSpPr>
        <p:spPr>
          <a:xfrm>
            <a:off x="1266968" y="2876812"/>
            <a:ext cx="15356823" cy="707186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IN" sz="2400" b="1" dirty="0">
                <a:solidFill>
                  <a:srgbClr val="0070C0"/>
                </a:solidFill>
                <a:latin typeface="Georgia" panose="02040502050405020303" pitchFamily="18" charset="0"/>
              </a:rPr>
              <a:t>Indian Education Commission </a:t>
            </a:r>
            <a:r>
              <a:rPr lang="en-IN" sz="2400" dirty="0">
                <a:solidFill>
                  <a:srgbClr val="0070C0"/>
                </a:solidFill>
                <a:latin typeface="Georgia" panose="02040502050405020303" pitchFamily="18" charset="0"/>
              </a:rPr>
              <a:t>(1964-1966) Report </a:t>
            </a:r>
          </a:p>
          <a:p>
            <a:pPr lvl="0"/>
            <a:r>
              <a:rPr lang="en-IN" sz="2400" dirty="0">
                <a:latin typeface="Georgia" panose="02040502050405020303" pitchFamily="18" charset="0"/>
              </a:rPr>
              <a:t>Kingdon, G. G. (2007). </a:t>
            </a:r>
            <a:r>
              <a:rPr lang="en-IN" sz="2400" b="1" dirty="0">
                <a:solidFill>
                  <a:srgbClr val="0070C0"/>
                </a:solidFill>
                <a:latin typeface="Georgia" panose="02040502050405020303" pitchFamily="18" charset="0"/>
              </a:rPr>
              <a:t>The progress of school education in India</a:t>
            </a:r>
            <a:r>
              <a:rPr lang="en-IN" sz="2400" dirty="0">
                <a:latin typeface="Georgia" panose="02040502050405020303" pitchFamily="18" charset="0"/>
              </a:rPr>
              <a:t>. Oxford Review of Economic Policy, 23(2), 168-195.</a:t>
            </a:r>
          </a:p>
          <a:p>
            <a:pPr lvl="0"/>
            <a:r>
              <a:rPr lang="en-IN" sz="2400" dirty="0">
                <a:latin typeface="Georgia" panose="02040502050405020303" pitchFamily="18" charset="0"/>
              </a:rPr>
              <a:t>(selected chapters) Mondal, Arijit (2015), </a:t>
            </a:r>
            <a:r>
              <a:rPr lang="en-IN" sz="2400" b="1" dirty="0">
                <a:solidFill>
                  <a:srgbClr val="0070C0"/>
                </a:solidFill>
                <a:latin typeface="Georgia" panose="02040502050405020303" pitchFamily="18" charset="0"/>
              </a:rPr>
              <a:t>The Universalization of elementary education in India : A historical analysis.</a:t>
            </a:r>
          </a:p>
          <a:p>
            <a:pPr lvl="0"/>
            <a:r>
              <a:rPr lang="en-IN" sz="2400" dirty="0">
                <a:latin typeface="Georgia" panose="02040502050405020303" pitchFamily="18" charset="0"/>
              </a:rPr>
              <a:t>(Articles on Education )Drèze, J. (2017). </a:t>
            </a:r>
            <a:r>
              <a:rPr lang="en-IN" sz="2400" b="1" dirty="0">
                <a:solidFill>
                  <a:srgbClr val="0070C0"/>
                </a:solidFill>
                <a:latin typeface="Georgia" panose="02040502050405020303" pitchFamily="18" charset="0"/>
              </a:rPr>
              <a:t>Sense and Solidarity: </a:t>
            </a:r>
            <a:r>
              <a:rPr lang="en-IN" sz="2400" b="1" dirty="0" err="1">
                <a:solidFill>
                  <a:srgbClr val="0070C0"/>
                </a:solidFill>
                <a:latin typeface="Georgia" panose="02040502050405020303" pitchFamily="18" charset="0"/>
              </a:rPr>
              <a:t>Jholawala</a:t>
            </a:r>
            <a:r>
              <a:rPr lang="en-IN" sz="2400" b="1" dirty="0">
                <a:solidFill>
                  <a:srgbClr val="0070C0"/>
                </a:solidFill>
                <a:latin typeface="Georgia" panose="02040502050405020303" pitchFamily="18" charset="0"/>
              </a:rPr>
              <a:t> Economics for Everyone. </a:t>
            </a:r>
            <a:r>
              <a:rPr lang="en-IN" sz="2400" dirty="0">
                <a:latin typeface="Georgia" panose="02040502050405020303" pitchFamily="18" charset="0"/>
              </a:rPr>
              <a:t>Permanent Black.</a:t>
            </a:r>
          </a:p>
          <a:p>
            <a:pPr lvl="0"/>
            <a:r>
              <a:rPr lang="en-IN" sz="2400" dirty="0">
                <a:latin typeface="Georgia" panose="02040502050405020303" pitchFamily="18" charset="0"/>
              </a:rPr>
              <a:t>(Chapter 4) Banerjee, A. V., Banerjee, A., &amp; Duflo, E. (2011</a:t>
            </a:r>
            <a:r>
              <a:rPr lang="en-IN" sz="2400" b="1" dirty="0">
                <a:latin typeface="Georgia" panose="02040502050405020303" pitchFamily="18" charset="0"/>
              </a:rPr>
              <a:t>). </a:t>
            </a:r>
            <a:r>
              <a:rPr lang="en-IN" sz="2400" b="1" dirty="0">
                <a:solidFill>
                  <a:srgbClr val="0070C0"/>
                </a:solidFill>
                <a:latin typeface="Georgia" panose="02040502050405020303" pitchFamily="18" charset="0"/>
              </a:rPr>
              <a:t>Poor economics: A radical rethinking of the way to fight global poverty. </a:t>
            </a:r>
            <a:r>
              <a:rPr lang="en-IN" sz="2400" dirty="0">
                <a:latin typeface="Georgia" panose="02040502050405020303" pitchFamily="18" charset="0"/>
              </a:rPr>
              <a:t>Public Affairs.</a:t>
            </a:r>
            <a:endParaRPr lang="en-US" sz="2400" dirty="0">
              <a:latin typeface="Georgia" panose="02040502050405020303" pitchFamily="18" charset="0"/>
            </a:endParaRPr>
          </a:p>
          <a:p>
            <a:r>
              <a:rPr lang="en-US" sz="2400" dirty="0">
                <a:latin typeface="Georgia" panose="02040502050405020303" pitchFamily="18" charset="0"/>
              </a:rPr>
              <a:t>…… </a:t>
            </a:r>
            <a:r>
              <a:rPr lang="en-US" sz="2400" dirty="0">
                <a:solidFill>
                  <a:srgbClr val="FF0000"/>
                </a:solidFill>
                <a:latin typeface="Georgia" panose="02040502050405020303" pitchFamily="18" charset="0"/>
              </a:rPr>
              <a:t>Reports, Research Articles, Policy briefs… </a:t>
            </a:r>
            <a:endParaRPr lang="en-IN" sz="2400" dirty="0">
              <a:solidFill>
                <a:srgbClr val="FF0000"/>
              </a:solidFill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88457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1776</Words>
  <Application>Microsoft Office PowerPoint</Application>
  <PresentationFormat>Custom</PresentationFormat>
  <Paragraphs>177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Courier New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Shivakumar Jolad</cp:lastModifiedBy>
  <cp:revision>2</cp:revision>
  <dcterms:created xsi:type="dcterms:W3CDTF">2026-07-02T11:37:43Z</dcterms:created>
  <dcterms:modified xsi:type="dcterms:W3CDTF">2026-07-03T02:21:42Z</dcterms:modified>
</cp:coreProperties>
</file>