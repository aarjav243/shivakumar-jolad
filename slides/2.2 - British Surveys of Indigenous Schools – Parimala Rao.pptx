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9"/>
  </p:notesMasterIdLst>
  <p:sldIdLst>
    <p:sldId id="378" r:id="rId2"/>
    <p:sldId id="256" r:id="rId3"/>
    <p:sldId id="344" r:id="rId4"/>
    <p:sldId id="346" r:id="rId5"/>
    <p:sldId id="339" r:id="rId6"/>
    <p:sldId id="347" r:id="rId7"/>
    <p:sldId id="348" r:id="rId8"/>
    <p:sldId id="349" r:id="rId9"/>
    <p:sldId id="350" r:id="rId10"/>
    <p:sldId id="351" r:id="rId11"/>
    <p:sldId id="352" r:id="rId12"/>
    <p:sldId id="353" r:id="rId13"/>
    <p:sldId id="354" r:id="rId14"/>
    <p:sldId id="355" r:id="rId15"/>
    <p:sldId id="356" r:id="rId16"/>
    <p:sldId id="357" r:id="rId17"/>
    <p:sldId id="358" r:id="rId18"/>
    <p:sldId id="359" r:id="rId19"/>
    <p:sldId id="360" r:id="rId20"/>
    <p:sldId id="361" r:id="rId21"/>
    <p:sldId id="362" r:id="rId22"/>
    <p:sldId id="363" r:id="rId23"/>
    <p:sldId id="364" r:id="rId24"/>
    <p:sldId id="336" r:id="rId25"/>
    <p:sldId id="337" r:id="rId26"/>
    <p:sldId id="338" r:id="rId27"/>
    <p:sldId id="365"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6555" autoAdjust="0"/>
  </p:normalViewPr>
  <p:slideViewPr>
    <p:cSldViewPr>
      <p:cViewPr varScale="1">
        <p:scale>
          <a:sx n="78" d="100"/>
          <a:sy n="78" d="100"/>
        </p:scale>
        <p:origin x="648" y="3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22642F-21B6-A4AC-7227-5FB0B442D2CF}"/>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cs typeface="Arial" charset="0"/>
              </a:defRPr>
            </a:lvl1pPr>
          </a:lstStyle>
          <a:p>
            <a:pPr>
              <a:defRPr/>
            </a:pPr>
            <a:endParaRPr lang="en-US"/>
          </a:p>
        </p:txBody>
      </p:sp>
      <p:sp>
        <p:nvSpPr>
          <p:cNvPr id="3" name="Date Placeholder 2">
            <a:extLst>
              <a:ext uri="{FF2B5EF4-FFF2-40B4-BE49-F238E27FC236}">
                <a16:creationId xmlns:a16="http://schemas.microsoft.com/office/drawing/2014/main" id="{14FD0056-7C6A-A6D4-9FAC-2F57A4911B2E}"/>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cs typeface="Arial" charset="0"/>
              </a:defRPr>
            </a:lvl1pPr>
          </a:lstStyle>
          <a:p>
            <a:pPr>
              <a:defRPr/>
            </a:pPr>
            <a:fld id="{1BB8F3CC-DFEE-475F-ACC0-E0A1C9DEBB9A}" type="datetimeFigureOut">
              <a:rPr lang="en-US"/>
              <a:pPr>
                <a:defRPr/>
              </a:pPr>
              <a:t>7/3/2026</a:t>
            </a:fld>
            <a:endParaRPr lang="en-US"/>
          </a:p>
        </p:txBody>
      </p:sp>
      <p:sp>
        <p:nvSpPr>
          <p:cNvPr id="4" name="Slide Image Placeholder 3">
            <a:extLst>
              <a:ext uri="{FF2B5EF4-FFF2-40B4-BE49-F238E27FC236}">
                <a16:creationId xmlns:a16="http://schemas.microsoft.com/office/drawing/2014/main" id="{A5454F8A-3DB0-3ECC-B3D5-C46F64804D7E}"/>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C6416BE-EA71-5E5C-ABAB-CFC84342F4B0}"/>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79C8F48A-1293-A644-571D-9ACBA37ADECB}"/>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81490030-886E-143B-24D9-06D1936A91D0}"/>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3218B6B9-18B7-4D7C-8DA4-9DDA3741227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a:extLst>
              <a:ext uri="{FF2B5EF4-FFF2-40B4-BE49-F238E27FC236}">
                <a16:creationId xmlns:a16="http://schemas.microsoft.com/office/drawing/2014/main" id="{B0506266-E598-723C-7857-B0E8F7EB5367}"/>
              </a:ext>
            </a:extLst>
          </p:cNvPr>
          <p:cNvSpPr>
            <a:spLocks noGrp="1" noRot="1" noChangeAspect="1" noTextEdit="1"/>
          </p:cNvSpPr>
          <p:nvPr>
            <p:ph type="sldImg"/>
          </p:nvPr>
        </p:nvSpPr>
        <p:spPr bwMode="auto">
          <a:xfrm>
            <a:off x="381000" y="685800"/>
            <a:ext cx="6096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a:extLst>
              <a:ext uri="{FF2B5EF4-FFF2-40B4-BE49-F238E27FC236}">
                <a16:creationId xmlns:a16="http://schemas.microsoft.com/office/drawing/2014/main" id="{62977E77-D86C-1505-B783-39A6A50B2B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3252" name="Slide Number Placeholder 3">
            <a:extLst>
              <a:ext uri="{FF2B5EF4-FFF2-40B4-BE49-F238E27FC236}">
                <a16:creationId xmlns:a16="http://schemas.microsoft.com/office/drawing/2014/main" id="{276035BC-D545-1C1B-D4A0-55FF59FD495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5937078-01E8-426C-A3D0-61919BFCCCDB}" type="slidenum">
              <a:rPr lang="en-US" altLang="en-US"/>
              <a:pPr eaLnBrk="1" hangingPunct="1"/>
              <a:t>3</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pPr>
              <a:defRPr/>
            </a:pPr>
            <a:fld id="{4FFA429C-B53B-49BA-BA90-EF8988ED8233}" type="datetimeFigureOut">
              <a:rPr lang="en-US" smtClean="0"/>
              <a:pPr>
                <a:defRPr/>
              </a:pPr>
              <a:t>7/3/2026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FE7CEA34-C6A9-4679-8965-FC52D8C6D044}" type="slidenum">
              <a:rPr lang="en-US" altLang="en-US" smtClean="0"/>
              <a:pPr/>
              <a:t>‹#›</a:t>
            </a:fld>
            <a:endParaRPr lang="en-US"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749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FCB2C870-1517-4929-B0CC-847C3120977F}" type="datetimeFigureOut">
              <a:rPr lang="en-US" smtClean="0"/>
              <a:pPr>
                <a:defRPr/>
              </a:pPr>
              <a:t>7/3/2026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6FED09AF-7FAE-470A-A267-EF7A25E852B7}" type="slidenum">
              <a:rPr lang="en-US" altLang="en-US" smtClean="0"/>
              <a:pPr/>
              <a:t>‹#›</a:t>
            </a:fld>
            <a:endParaRPr lang="en-US" altLang="en-US"/>
          </a:p>
        </p:txBody>
      </p:sp>
    </p:spTree>
    <p:extLst>
      <p:ext uri="{BB962C8B-B14F-4D97-AF65-F5344CB8AC3E}">
        <p14:creationId xmlns:p14="http://schemas.microsoft.com/office/powerpoint/2010/main" val="2647991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GB"/>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pPr>
              <a:defRPr/>
            </a:pPr>
            <a:fld id="{583AC654-7F38-473D-BEF9-0BFFF87A4658}" type="datetimeFigureOut">
              <a:rPr lang="en-US" smtClean="0"/>
              <a:pPr>
                <a:defRPr/>
              </a:pPr>
              <a:t>7/3/2026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B22009D0-C8BE-4F72-8628-8EAF90721AD5}" type="slidenum">
              <a:rPr lang="en-US" altLang="en-US" smtClean="0"/>
              <a:pPr/>
              <a:t>‹#›</a:t>
            </a:fld>
            <a:endParaRPr lang="en-US" alt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37811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pPr>
              <a:defRPr/>
            </a:pPr>
            <a:fld id="{B8605A77-FDEA-4ECE-9026-6238D4DBAAB6}" type="datetimeFigureOut">
              <a:rPr lang="en-US" smtClean="0"/>
              <a:pPr>
                <a:defRPr/>
              </a:pPr>
              <a:t>7/3/2026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72705057-E9D9-4EB2-8D80-3B65F910205C}" type="slidenum">
              <a:rPr lang="en-US" altLang="en-US" smtClean="0"/>
              <a:pPr/>
              <a:t>‹#›</a:t>
            </a:fld>
            <a:endParaRPr lang="en-US" altLang="en-US"/>
          </a:p>
        </p:txBody>
      </p:sp>
    </p:spTree>
    <p:extLst>
      <p:ext uri="{BB962C8B-B14F-4D97-AF65-F5344CB8AC3E}">
        <p14:creationId xmlns:p14="http://schemas.microsoft.com/office/powerpoint/2010/main" val="3213062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GB"/>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pPr>
              <a:defRPr/>
            </a:pPr>
            <a:fld id="{006F2220-9FA0-4EEE-87B4-EC27DAF63849}" type="datetimeFigureOut">
              <a:rPr lang="en-US" smtClean="0"/>
              <a:pPr>
                <a:defRPr/>
              </a:pPr>
              <a:t>7/3/2026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fld id="{AF420A75-D218-4371-9D2F-A59C4863E514}" type="slidenum">
              <a:rPr lang="en-US" altLang="en-US" smtClean="0"/>
              <a:pPr/>
              <a:t>‹#›</a:t>
            </a:fld>
            <a:endParaRPr lang="en-US" altLang="en-US"/>
          </a:p>
        </p:txBody>
      </p:sp>
    </p:spTree>
    <p:extLst>
      <p:ext uri="{BB962C8B-B14F-4D97-AF65-F5344CB8AC3E}">
        <p14:creationId xmlns:p14="http://schemas.microsoft.com/office/powerpoint/2010/main" val="565289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pPr>
              <a:defRPr/>
            </a:pPr>
            <a:fld id="{258E8DF7-B1B9-4258-B9C7-767A09E4A66D}" type="datetimeFigureOut">
              <a:rPr lang="en-US" smtClean="0"/>
              <a:pPr>
                <a:defRPr/>
              </a:pPr>
              <a:t>7/3/2026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fld id="{4339862F-BBF0-4FC7-B5BB-458ED6852130}" type="slidenum">
              <a:rPr lang="en-US" altLang="en-US" smtClean="0"/>
              <a:pPr/>
              <a:t>‹#›</a:t>
            </a:fld>
            <a:endParaRPr lang="en-US" altLang="en-US"/>
          </a:p>
        </p:txBody>
      </p:sp>
    </p:spTree>
    <p:extLst>
      <p:ext uri="{BB962C8B-B14F-4D97-AF65-F5344CB8AC3E}">
        <p14:creationId xmlns:p14="http://schemas.microsoft.com/office/powerpoint/2010/main" val="2426290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0E0B6C2-69CA-4DE0-A1C1-5BE3F5320027}" type="datetimeFigureOut">
              <a:rPr lang="en-US" smtClean="0"/>
              <a:pPr>
                <a:defRPr/>
              </a:pPr>
              <a:t>7/3/2026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fld id="{14EED0F7-DFD8-40F5-9DC8-64498F33208C}" type="slidenum">
              <a:rPr lang="en-US" altLang="en-US" smtClean="0"/>
              <a:pPr/>
              <a:t>‹#›</a:t>
            </a:fld>
            <a:endParaRPr lang="en-US" altLang="en-US"/>
          </a:p>
        </p:txBody>
      </p:sp>
    </p:spTree>
    <p:extLst>
      <p:ext uri="{BB962C8B-B14F-4D97-AF65-F5344CB8AC3E}">
        <p14:creationId xmlns:p14="http://schemas.microsoft.com/office/powerpoint/2010/main" val="1963557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GB"/>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10650237-04A0-4F11-8047-6D7680F29360}" type="datetimeFigureOut">
              <a:rPr lang="en-US" smtClean="0"/>
              <a:pPr>
                <a:defRPr/>
              </a:pPr>
              <a:t>7/3/2026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46AD6FA0-AF1D-499A-9751-9EAF3E2621CB}" type="slidenum">
              <a:rPr lang="en-US" altLang="en-US" smtClean="0"/>
              <a:pPr/>
              <a:t>‹#›</a:t>
            </a:fld>
            <a:endParaRPr lang="en-US" altLang="en-US"/>
          </a:p>
        </p:txBody>
      </p:sp>
    </p:spTree>
    <p:extLst>
      <p:ext uri="{BB962C8B-B14F-4D97-AF65-F5344CB8AC3E}">
        <p14:creationId xmlns:p14="http://schemas.microsoft.com/office/powerpoint/2010/main" val="27204426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pPr>
              <a:defRPr/>
            </a:pPr>
            <a:fld id="{19246DFB-9CB1-41F4-801B-B9CAAF450E11}" type="datetimeFigureOut">
              <a:rPr lang="en-US" smtClean="0"/>
              <a:pPr>
                <a:defRPr/>
              </a:pPr>
              <a:t>7/3/2026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fld id="{C4B206AA-3F35-45EA-B809-EFAC8BD849A9}" type="slidenum">
              <a:rPr lang="en-US" altLang="en-US" smtClean="0"/>
              <a:pPr/>
              <a:t>‹#›</a:t>
            </a:fld>
            <a:endParaRPr lang="en-US" alt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3916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6BC5A305-3805-40C4-A8AA-C5455A085B2B}" type="datetimeFigureOut">
              <a:rPr lang="en-US" smtClean="0"/>
              <a:pPr>
                <a:defRPr/>
              </a:pPr>
              <a:t>7/3/2026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7D0904EE-B283-41B7-AB93-3E11316E8F16}" type="slidenum">
              <a:rPr lang="en-US" altLang="en-US" smtClean="0"/>
              <a:pPr/>
              <a:t>‹#›</a:t>
            </a:fld>
            <a:endParaRPr lang="en-US" altLang="en-US"/>
          </a:p>
        </p:txBody>
      </p:sp>
    </p:spTree>
    <p:extLst>
      <p:ext uri="{BB962C8B-B14F-4D97-AF65-F5344CB8AC3E}">
        <p14:creationId xmlns:p14="http://schemas.microsoft.com/office/powerpoint/2010/main" val="981833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GB"/>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pPr>
              <a:defRPr/>
            </a:pPr>
            <a:fld id="{7B093D55-D0C2-4098-A329-E49A2A967123}" type="datetimeFigureOut">
              <a:rPr lang="en-US" smtClean="0"/>
              <a:pPr>
                <a:defRPr/>
              </a:pPr>
              <a:t>7/3/2026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fld id="{08B074F7-485D-4A4D-AD67-34DDD4296BAC}" type="slidenum">
              <a:rPr lang="en-US" altLang="en-US" smtClean="0"/>
              <a:pPr/>
              <a:t>‹#›</a:t>
            </a:fld>
            <a:endParaRPr lang="en-US" alt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398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fld id="{3085FCE0-2924-4C02-909A-55FBA82D68C9}" type="datetimeFigureOut">
              <a:rPr lang="en-US" smtClean="0"/>
              <a:pPr>
                <a:defRPr/>
              </a:pPr>
              <a:t>7/3/2026</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defRPr/>
            </a:pPr>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0FE674F-287C-4AF5-993B-207E565B1BC8}" type="slidenum">
              <a:rPr lang="en-US" altLang="en-US" smtClean="0"/>
              <a:pPr/>
              <a:t>‹#›</a:t>
            </a:fld>
            <a:endParaRPr lang="en-US" alt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680275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4327" y="4876800"/>
            <a:ext cx="7475220" cy="802386"/>
          </a:xfrm>
        </p:spPr>
        <p:txBody>
          <a:bodyPr>
            <a:normAutofit/>
          </a:bodyPr>
          <a:lstStyle/>
          <a:p>
            <a:pPr algn="ctr"/>
            <a:r>
              <a:rPr lang="en-US" sz="3300" dirty="0"/>
              <a:t>PUBP309: EDUCATION POLICY</a:t>
            </a:r>
          </a:p>
        </p:txBody>
      </p:sp>
      <p:sp>
        <p:nvSpPr>
          <p:cNvPr id="3" name="Subtitle 2"/>
          <p:cNvSpPr>
            <a:spLocks noGrp="1"/>
          </p:cNvSpPr>
          <p:nvPr>
            <p:ph type="subTitle" idx="1"/>
          </p:nvPr>
        </p:nvSpPr>
        <p:spPr>
          <a:xfrm>
            <a:off x="7950609" y="4899665"/>
            <a:ext cx="2831586" cy="802386"/>
          </a:xfrm>
        </p:spPr>
        <p:txBody>
          <a:bodyPr/>
          <a:lstStyle/>
          <a:p>
            <a:pPr algn="ctr"/>
            <a:r>
              <a:rPr lang="en-US" dirty="0"/>
              <a:t>Shivakumar Jolad</a:t>
            </a:r>
          </a:p>
          <a:p>
            <a:pPr algn="ctr"/>
            <a:r>
              <a:rPr lang="en-US" dirty="0"/>
              <a:t>FLAME University</a:t>
            </a:r>
          </a:p>
        </p:txBody>
      </p:sp>
      <p:sp>
        <p:nvSpPr>
          <p:cNvPr id="5" name="TextBox 4"/>
          <p:cNvSpPr txBox="1"/>
          <p:nvPr/>
        </p:nvSpPr>
        <p:spPr>
          <a:xfrm>
            <a:off x="3200400" y="5943600"/>
            <a:ext cx="4183133" cy="646331"/>
          </a:xfrm>
          <a:prstGeom prst="rect">
            <a:avLst/>
          </a:prstGeom>
          <a:noFill/>
        </p:spPr>
        <p:txBody>
          <a:bodyPr wrap="none" rtlCol="0">
            <a:spAutoFit/>
          </a:bodyPr>
          <a:lstStyle/>
          <a:p>
            <a:r>
              <a:rPr lang="en-US" dirty="0">
                <a:solidFill>
                  <a:srgbClr val="0070C0"/>
                </a:solidFill>
              </a:rPr>
              <a:t>Indigenous Education in 19</a:t>
            </a:r>
            <a:r>
              <a:rPr lang="en-US" baseline="30000" dirty="0">
                <a:solidFill>
                  <a:srgbClr val="0070C0"/>
                </a:solidFill>
              </a:rPr>
              <a:t>th</a:t>
            </a:r>
            <a:r>
              <a:rPr lang="en-US" dirty="0">
                <a:solidFill>
                  <a:srgbClr val="0070C0"/>
                </a:solidFill>
              </a:rPr>
              <a:t> Century- Part II</a:t>
            </a:r>
            <a:br>
              <a:rPr lang="en-US" dirty="0">
                <a:solidFill>
                  <a:srgbClr val="0070C0"/>
                </a:solidFill>
              </a:rPr>
            </a:br>
            <a:r>
              <a:rPr lang="en-US" dirty="0">
                <a:solidFill>
                  <a:srgbClr val="0070C0"/>
                </a:solidFill>
              </a:rPr>
              <a:t>Prof. Parimala Rao</a:t>
            </a:r>
          </a:p>
        </p:txBody>
      </p:sp>
    </p:spTree>
    <p:extLst>
      <p:ext uri="{BB962C8B-B14F-4D97-AF65-F5344CB8AC3E}">
        <p14:creationId xmlns:p14="http://schemas.microsoft.com/office/powerpoint/2010/main" val="1218674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18C81-EF9A-1553-04AB-40E63ED43B58}"/>
              </a:ext>
            </a:extLst>
          </p:cNvPr>
          <p:cNvSpPr>
            <a:spLocks noGrp="1"/>
          </p:cNvSpPr>
          <p:nvPr>
            <p:ph type="ctrTitle"/>
          </p:nvPr>
        </p:nvSpPr>
        <p:spPr/>
        <p:txBody>
          <a:bodyPr rtlCol="0">
            <a:normAutofit fontScale="90000"/>
          </a:bodyPr>
          <a:lstStyle/>
          <a:p>
            <a:pPr>
              <a:defRPr/>
            </a:pPr>
            <a:r>
              <a:rPr lang="en-US" b="1" dirty="0">
                <a:solidFill>
                  <a:srgbClr val="0070C0"/>
                </a:solidFill>
              </a:rPr>
              <a:t>The Indigenous Education in India:</a:t>
            </a:r>
            <a:br>
              <a:rPr lang="en-US" dirty="0">
                <a:solidFill>
                  <a:srgbClr val="0070C0"/>
                </a:solidFill>
              </a:rPr>
            </a:br>
            <a:endParaRPr lang="en-US" dirty="0">
              <a:solidFill>
                <a:srgbClr val="0070C0"/>
              </a:solidFill>
            </a:endParaRPr>
          </a:p>
        </p:txBody>
      </p:sp>
      <p:sp>
        <p:nvSpPr>
          <p:cNvPr id="2051" name="Subtitle 2">
            <a:extLst>
              <a:ext uri="{FF2B5EF4-FFF2-40B4-BE49-F238E27FC236}">
                <a16:creationId xmlns:a16="http://schemas.microsoft.com/office/drawing/2014/main" id="{01204DAE-8DCB-8C01-0067-829D41CFCC21}"/>
              </a:ext>
            </a:extLst>
          </p:cNvPr>
          <p:cNvSpPr>
            <a:spLocks noGrp="1"/>
          </p:cNvSpPr>
          <p:nvPr>
            <p:ph type="subTitle" idx="1"/>
          </p:nvPr>
        </p:nvSpPr>
        <p:spPr/>
        <p:txBody>
          <a:bodyPr/>
          <a:lstStyle/>
          <a:p>
            <a:pPr eaLnBrk="1" hangingPunct="1"/>
            <a:r>
              <a:rPr lang="en-US" altLang="en-US" b="1">
                <a:solidFill>
                  <a:srgbClr val="0070C0"/>
                </a:solidFill>
              </a:rPr>
              <a:t>Access, Equity, Curriculum, and the British policies towards them</a:t>
            </a:r>
          </a:p>
        </p:txBody>
      </p:sp>
      <p:sp>
        <p:nvSpPr>
          <p:cNvPr id="3" name="TextBox 2">
            <a:extLst>
              <a:ext uri="{FF2B5EF4-FFF2-40B4-BE49-F238E27FC236}">
                <a16:creationId xmlns:a16="http://schemas.microsoft.com/office/drawing/2014/main" id="{94D63531-9C6D-DD76-7E36-3ACC73DDE22D}"/>
              </a:ext>
            </a:extLst>
          </p:cNvPr>
          <p:cNvSpPr txBox="1"/>
          <p:nvPr/>
        </p:nvSpPr>
        <p:spPr>
          <a:xfrm>
            <a:off x="1219200" y="6019800"/>
            <a:ext cx="3581400" cy="369332"/>
          </a:xfrm>
          <a:prstGeom prst="rect">
            <a:avLst/>
          </a:prstGeom>
          <a:noFill/>
        </p:spPr>
        <p:txBody>
          <a:bodyPr wrap="square" rtlCol="0">
            <a:spAutoFit/>
          </a:bodyPr>
          <a:lstStyle/>
          <a:p>
            <a:r>
              <a:rPr lang="en-IN" b="1" dirty="0"/>
              <a:t>PROF. PARIMALA RAO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9A49D955-6A4D-2316-FB99-0B4FCAC494EE}"/>
              </a:ext>
            </a:extLst>
          </p:cNvPr>
          <p:cNvSpPr>
            <a:spLocks noGrp="1"/>
          </p:cNvSpPr>
          <p:nvPr>
            <p:ph type="title"/>
          </p:nvPr>
        </p:nvSpPr>
        <p:spPr>
          <a:xfrm>
            <a:off x="1066800" y="245469"/>
            <a:ext cx="9720072" cy="1499616"/>
          </a:xfrm>
        </p:spPr>
        <p:txBody>
          <a:bodyPr/>
          <a:lstStyle/>
          <a:p>
            <a:r>
              <a:rPr lang="en-US" altLang="en-US" sz="3600" b="1" dirty="0">
                <a:solidFill>
                  <a:srgbClr val="0070C0"/>
                </a:solidFill>
              </a:rPr>
              <a:t>British 60% , 565 Princely States 40%</a:t>
            </a:r>
          </a:p>
        </p:txBody>
      </p:sp>
      <p:pic>
        <p:nvPicPr>
          <p:cNvPr id="3075" name="Picture 2">
            <a:extLst>
              <a:ext uri="{FF2B5EF4-FFF2-40B4-BE49-F238E27FC236}">
                <a16:creationId xmlns:a16="http://schemas.microsoft.com/office/drawing/2014/main" id="{64BC0E3A-A875-2634-B1A7-04BD9251B62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895600" y="1447800"/>
            <a:ext cx="6172200" cy="5181600"/>
          </a:xfr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9478B226-19A8-852B-1D3A-288FDD8FC22C}"/>
              </a:ext>
            </a:extLst>
          </p:cNvPr>
          <p:cNvSpPr>
            <a:spLocks noGrp="1"/>
          </p:cNvSpPr>
          <p:nvPr>
            <p:ph type="title"/>
          </p:nvPr>
        </p:nvSpPr>
        <p:spPr/>
        <p:txBody>
          <a:bodyPr/>
          <a:lstStyle/>
          <a:p>
            <a:pPr eaLnBrk="1" hangingPunct="1"/>
            <a:r>
              <a:rPr lang="en-US" altLang="en-US" b="1">
                <a:solidFill>
                  <a:srgbClr val="0070C0"/>
                </a:solidFill>
              </a:rPr>
              <a:t>What do we know so far?</a:t>
            </a:r>
          </a:p>
        </p:txBody>
      </p:sp>
      <p:sp>
        <p:nvSpPr>
          <p:cNvPr id="4099" name="Content Placeholder 2">
            <a:extLst>
              <a:ext uri="{FF2B5EF4-FFF2-40B4-BE49-F238E27FC236}">
                <a16:creationId xmlns:a16="http://schemas.microsoft.com/office/drawing/2014/main" id="{2F3445D0-9596-A87B-16D9-26838263BC9B}"/>
              </a:ext>
            </a:extLst>
          </p:cNvPr>
          <p:cNvSpPr>
            <a:spLocks noGrp="1"/>
          </p:cNvSpPr>
          <p:nvPr>
            <p:ph idx="1"/>
          </p:nvPr>
        </p:nvSpPr>
        <p:spPr/>
        <p:txBody>
          <a:bodyPr>
            <a:normAutofit lnSpcReduction="10000"/>
          </a:bodyPr>
          <a:lstStyle/>
          <a:p>
            <a:pPr eaLnBrk="1" hangingPunct="1"/>
            <a:r>
              <a:rPr lang="en-IN" altLang="en-US" sz="2800"/>
              <a:t>There are a number of myths surrounding Pre –colonial Indigenous education in India</a:t>
            </a:r>
          </a:p>
          <a:p>
            <a:pPr eaLnBrk="1" hangingPunct="1"/>
            <a:r>
              <a:rPr lang="en-IN" altLang="en-US" sz="2800"/>
              <a:t>1. Teaching and learning was oral</a:t>
            </a:r>
          </a:p>
          <a:p>
            <a:pPr eaLnBrk="1" hangingPunct="1"/>
            <a:r>
              <a:rPr lang="en-IN" altLang="en-US" sz="2800"/>
              <a:t>2. All teachers/Gurus were Brahmins</a:t>
            </a:r>
          </a:p>
          <a:p>
            <a:pPr eaLnBrk="1" hangingPunct="1"/>
            <a:r>
              <a:rPr lang="en-IN" altLang="en-US" sz="2800"/>
              <a:t>3. Informal, Conducted under trees</a:t>
            </a:r>
          </a:p>
          <a:p>
            <a:pPr eaLnBrk="1" hangingPunct="1"/>
            <a:r>
              <a:rPr lang="en-IN" altLang="en-US" sz="2800"/>
              <a:t>4. Teachers were members of the village community and received remuneration in kind like potters or iron smiths</a:t>
            </a:r>
          </a:p>
          <a:p>
            <a:pPr eaLnBrk="1" hangingPunct="1"/>
            <a:r>
              <a:rPr lang="en-IN" altLang="en-US" sz="2800"/>
              <a:t>5. It was destroyed by the British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Content Placeholder 2">
            <a:extLst>
              <a:ext uri="{FF2B5EF4-FFF2-40B4-BE49-F238E27FC236}">
                <a16:creationId xmlns:a16="http://schemas.microsoft.com/office/drawing/2014/main" id="{18436F9C-B5D0-0F43-26AE-E604958AC115}"/>
              </a:ext>
            </a:extLst>
          </p:cNvPr>
          <p:cNvSpPr>
            <a:spLocks noGrp="1"/>
          </p:cNvSpPr>
          <p:nvPr>
            <p:ph idx="1"/>
          </p:nvPr>
        </p:nvSpPr>
        <p:spPr/>
        <p:txBody>
          <a:bodyPr>
            <a:normAutofit lnSpcReduction="10000"/>
          </a:bodyPr>
          <a:lstStyle/>
          <a:p>
            <a:pPr eaLnBrk="1" hangingPunct="1"/>
            <a:r>
              <a:rPr lang="en-IN" altLang="en-US" sz="2600" dirty="0"/>
              <a:t>India has produced 500 core texts, 1 lakh inscriptions, 12 widely used script </a:t>
            </a:r>
          </a:p>
          <a:p>
            <a:pPr eaLnBrk="1" hangingPunct="1"/>
            <a:r>
              <a:rPr lang="en-IN" altLang="en-US" sz="2600" dirty="0"/>
              <a:t>How can an oral tradition create this?</a:t>
            </a:r>
          </a:p>
          <a:p>
            <a:pPr eaLnBrk="1" hangingPunct="1"/>
            <a:r>
              <a:rPr lang="en-IN" altLang="en-US" sz="2600" dirty="0"/>
              <a:t>496 texts were taught through manuscripts / 4 Vedas in oral tradition</a:t>
            </a:r>
          </a:p>
          <a:p>
            <a:pPr eaLnBrk="1" hangingPunct="1"/>
            <a:r>
              <a:rPr lang="en-IN" altLang="en-US" sz="2600" dirty="0"/>
              <a:t>1. </a:t>
            </a:r>
            <a:r>
              <a:rPr lang="en-IN" altLang="en-US" sz="2600" dirty="0" err="1"/>
              <a:t>Gurukulas</a:t>
            </a:r>
            <a:r>
              <a:rPr lang="en-IN" altLang="en-US" sz="2600" dirty="0"/>
              <a:t> – higher education – 12-14 + years Sanskrit </a:t>
            </a:r>
            <a:r>
              <a:rPr lang="en-IN" altLang="en-US" sz="2600" dirty="0" err="1"/>
              <a:t>Pathasalas</a:t>
            </a:r>
            <a:r>
              <a:rPr lang="en-IN" altLang="en-US" sz="2600" dirty="0"/>
              <a:t>/</a:t>
            </a:r>
            <a:r>
              <a:rPr lang="en-IN" altLang="en-US" sz="2600" dirty="0" err="1"/>
              <a:t>tols</a:t>
            </a:r>
            <a:r>
              <a:rPr lang="en-IN" altLang="en-US" sz="2600" dirty="0"/>
              <a:t> – Sanskrit curriculum – sacred and secular- Vedas-</a:t>
            </a:r>
            <a:r>
              <a:rPr lang="en-IN" altLang="en-US" sz="2600" dirty="0" err="1"/>
              <a:t>Dharmasastras</a:t>
            </a:r>
            <a:r>
              <a:rPr lang="en-IN" altLang="en-US" sz="2600" dirty="0"/>
              <a:t>-Ayurveda, Kalidasa</a:t>
            </a:r>
          </a:p>
          <a:p>
            <a:pPr eaLnBrk="1" hangingPunct="1"/>
            <a:r>
              <a:rPr lang="en-IN" altLang="en-US" sz="2600" dirty="0"/>
              <a:t>2. Lipisalas – Prakrit reading, writing, arithmetic – vernacular </a:t>
            </a:r>
            <a:r>
              <a:rPr lang="en-IN" altLang="en-US" sz="2600" dirty="0" err="1"/>
              <a:t>pathasalas</a:t>
            </a:r>
            <a:r>
              <a:rPr lang="en-IN" altLang="en-US" sz="2600" dirty="0"/>
              <a:t> – Modern Indian Languages - reading, writing, arithmetic</a:t>
            </a:r>
            <a:endParaRPr lang="en-GB" altLang="en-US" sz="2600" dirty="0"/>
          </a:p>
          <a:p>
            <a:endParaRPr lang="en-US" altLang="en-US" sz="2800" dirty="0"/>
          </a:p>
        </p:txBody>
      </p:sp>
      <p:sp>
        <p:nvSpPr>
          <p:cNvPr id="3" name="Title 2">
            <a:extLst>
              <a:ext uri="{FF2B5EF4-FFF2-40B4-BE49-F238E27FC236}">
                <a16:creationId xmlns:a16="http://schemas.microsoft.com/office/drawing/2014/main" id="{DE823DD2-B1E5-026E-8926-0426D68445A0}"/>
              </a:ext>
            </a:extLst>
          </p:cNvPr>
          <p:cNvSpPr>
            <a:spLocks noGrp="1"/>
          </p:cNvSpPr>
          <p:nvPr>
            <p:ph type="title"/>
          </p:nvPr>
        </p:nvSpPr>
        <p:spPr/>
        <p:txBody>
          <a:bodyPr/>
          <a:lstStyle/>
          <a:p>
            <a:r>
              <a:rPr lang="en-IN" dirty="0"/>
              <a:t>WRITING TRADITION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27E0A-72AF-6E0D-22B5-484B29BD1476}"/>
              </a:ext>
            </a:extLst>
          </p:cNvPr>
          <p:cNvSpPr>
            <a:spLocks noGrp="1"/>
          </p:cNvSpPr>
          <p:nvPr>
            <p:ph type="title"/>
          </p:nvPr>
        </p:nvSpPr>
        <p:spPr>
          <a:xfrm>
            <a:off x="1024128" y="585216"/>
            <a:ext cx="10710672" cy="1499616"/>
          </a:xfrm>
        </p:spPr>
        <p:txBody>
          <a:bodyPr rtlCol="0">
            <a:normAutofit/>
          </a:bodyPr>
          <a:lstStyle/>
          <a:p>
            <a:pPr>
              <a:defRPr/>
            </a:pPr>
            <a:r>
              <a:rPr lang="en-IN" b="1" dirty="0">
                <a:solidFill>
                  <a:srgbClr val="0070C0"/>
                </a:solidFill>
              </a:rPr>
              <a:t>When and Why the data was collected?</a:t>
            </a:r>
            <a:endParaRPr lang="en-US" b="1" dirty="0">
              <a:solidFill>
                <a:srgbClr val="0070C0"/>
              </a:solidFill>
            </a:endParaRPr>
          </a:p>
        </p:txBody>
      </p:sp>
      <p:sp>
        <p:nvSpPr>
          <p:cNvPr id="6147" name="Content Placeholder 2">
            <a:extLst>
              <a:ext uri="{FF2B5EF4-FFF2-40B4-BE49-F238E27FC236}">
                <a16:creationId xmlns:a16="http://schemas.microsoft.com/office/drawing/2014/main" id="{B6DF726F-8351-EE96-F3B2-F1772AA53904}"/>
              </a:ext>
            </a:extLst>
          </p:cNvPr>
          <p:cNvSpPr>
            <a:spLocks noGrp="1"/>
          </p:cNvSpPr>
          <p:nvPr>
            <p:ph idx="1"/>
          </p:nvPr>
        </p:nvSpPr>
        <p:spPr>
          <a:xfrm>
            <a:off x="838200" y="2072617"/>
            <a:ext cx="9720072" cy="4525963"/>
          </a:xfrm>
        </p:spPr>
        <p:txBody>
          <a:bodyPr>
            <a:normAutofit lnSpcReduction="10000"/>
          </a:bodyPr>
          <a:lstStyle/>
          <a:p>
            <a:pPr eaLnBrk="1" hangingPunct="1"/>
            <a:r>
              <a:rPr lang="en-US" altLang="en-US" sz="2400" dirty="0"/>
              <a:t>The British parliament earmarked 100,000 rupees for the promotion of education in India / the Charter Act of 1813. British liberals had campaigned for it.</a:t>
            </a:r>
          </a:p>
          <a:p>
            <a:pPr eaLnBrk="1" hangingPunct="1"/>
            <a:r>
              <a:rPr lang="en-PH" altLang="en-US" sz="2400" dirty="0"/>
              <a:t>1. 1768-70 Famine - 3 million died. Modern education would help peasants to adopt modern technology in cultivation-. Education is best defense against natural calamities - peasants can better protect themselves from famines</a:t>
            </a:r>
          </a:p>
          <a:p>
            <a:pPr eaLnBrk="1" hangingPunct="1"/>
            <a:r>
              <a:rPr lang="en-PH" altLang="en-US" sz="2400" dirty="0"/>
              <a:t>2. Modern education would help people give up superstitious practices like sati, and female infanticide </a:t>
            </a:r>
          </a:p>
          <a:p>
            <a:pPr eaLnBrk="1" hangingPunct="1"/>
            <a:r>
              <a:rPr lang="en-PH" altLang="en-US" sz="2400" dirty="0"/>
              <a:t>3. </a:t>
            </a:r>
            <a:r>
              <a:rPr lang="en-US" altLang="en-US" sz="2400" dirty="0"/>
              <a:t>Indians with modern education could have a say in the </a:t>
            </a:r>
            <a:r>
              <a:rPr lang="en-US" altLang="en-US" sz="2400" dirty="0" err="1"/>
              <a:t>adm</a:t>
            </a:r>
            <a:endParaRPr lang="en-US" altLang="en-US" sz="2400" dirty="0"/>
          </a:p>
          <a:p>
            <a:pPr eaLnBrk="1" hangingPunct="1"/>
            <a:r>
              <a:rPr lang="en-US" altLang="en-US" sz="2400" dirty="0"/>
              <a:t>The government of India opposed ‘any interference in the internal affairs of Hindu society’ did not spend money during 1813-1821 – Sanskrit Colleges – Calcutta, Poona</a:t>
            </a:r>
          </a:p>
          <a:p>
            <a:pPr eaLnBrk="1" hangingPunct="1">
              <a:buFont typeface="Arial" panose="020B0604020202020204" pitchFamily="34" charset="0"/>
              <a:buNone/>
            </a:pPr>
            <a:endParaRPr lang="en-US" alt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5B791B80-D759-D53E-AABB-33610069B539}"/>
              </a:ext>
            </a:extLst>
          </p:cNvPr>
          <p:cNvSpPr>
            <a:spLocks noGrp="1"/>
          </p:cNvSpPr>
          <p:nvPr>
            <p:ph type="title"/>
          </p:nvPr>
        </p:nvSpPr>
        <p:spPr/>
        <p:txBody>
          <a:bodyPr/>
          <a:lstStyle/>
          <a:p>
            <a:pPr eaLnBrk="1" hangingPunct="1"/>
            <a:r>
              <a:rPr lang="en-GB" altLang="en-US" dirty="0"/>
              <a:t>Indigenous education- DATA COLLECTION</a:t>
            </a:r>
          </a:p>
        </p:txBody>
      </p:sp>
      <p:sp>
        <p:nvSpPr>
          <p:cNvPr id="7171" name="Content Placeholder 2">
            <a:extLst>
              <a:ext uri="{FF2B5EF4-FFF2-40B4-BE49-F238E27FC236}">
                <a16:creationId xmlns:a16="http://schemas.microsoft.com/office/drawing/2014/main" id="{C17C4EC9-7AA3-F5B0-BBE4-EE519285847B}"/>
              </a:ext>
            </a:extLst>
          </p:cNvPr>
          <p:cNvSpPr>
            <a:spLocks noGrp="1"/>
          </p:cNvSpPr>
          <p:nvPr>
            <p:ph idx="1"/>
          </p:nvPr>
        </p:nvSpPr>
        <p:spPr/>
        <p:txBody>
          <a:bodyPr>
            <a:normAutofit lnSpcReduction="10000"/>
          </a:bodyPr>
          <a:lstStyle/>
          <a:p>
            <a:pPr eaLnBrk="1" hangingPunct="1"/>
            <a:r>
              <a:rPr lang="en-US" altLang="en-US" sz="2400"/>
              <a:t>Sanskrit scholars and scholars of Indian languages collected the data on the Indigenous schools 1819-1838 to make the government to invest in education / support indigenous schools / build modern institutions</a:t>
            </a:r>
          </a:p>
          <a:p>
            <a:pPr eaLnBrk="1" hangingPunct="1"/>
            <a:r>
              <a:rPr lang="en-GB" altLang="en-US" sz="2400"/>
              <a:t>We have data of over 16,000 indigenous schools that can be tabulated. </a:t>
            </a:r>
          </a:p>
          <a:p>
            <a:pPr eaLnBrk="1" hangingPunct="1"/>
            <a:r>
              <a:rPr lang="en-GB" altLang="en-US" sz="2400"/>
              <a:t>We have data of several districts that cannot be tabulated.</a:t>
            </a:r>
          </a:p>
          <a:p>
            <a:pPr eaLnBrk="1" hangingPunct="1"/>
            <a:r>
              <a:rPr lang="en-GB" altLang="en-US" sz="2400"/>
              <a:t>For instance, in 1824, Evantt Baillie, the Judge of North Koncan wrote that 380 boys in schools in Thana district came equally from ‘Brahmin, Prabhu, Sutar, Bhandari and even coolies’</a:t>
            </a:r>
          </a:p>
          <a:p>
            <a:pPr eaLnBrk="1" hangingPunct="1"/>
            <a:r>
              <a:rPr lang="en-GB" altLang="en-US" sz="2400"/>
              <a:t>Without complete information, it is difficult to tabulate the data or prepare the tables.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61F12063-9F3D-FAC7-26AF-2193E53A4449}"/>
              </a:ext>
            </a:extLst>
          </p:cNvPr>
          <p:cNvSpPr>
            <a:spLocks noGrp="1"/>
          </p:cNvSpPr>
          <p:nvPr>
            <p:ph type="title"/>
          </p:nvPr>
        </p:nvSpPr>
        <p:spPr/>
        <p:txBody>
          <a:bodyPr/>
          <a:lstStyle/>
          <a:p>
            <a:pPr eaLnBrk="1" hangingPunct="1"/>
            <a:r>
              <a:rPr lang="en-GB" altLang="en-US" sz="3600" b="1">
                <a:solidFill>
                  <a:srgbClr val="0070C0"/>
                </a:solidFill>
              </a:rPr>
              <a:t>The Earliest Data: Ratnagiri District 1819</a:t>
            </a:r>
          </a:p>
        </p:txBody>
      </p:sp>
      <p:sp>
        <p:nvSpPr>
          <p:cNvPr id="3" name="Content Placeholder 2">
            <a:extLst>
              <a:ext uri="{FF2B5EF4-FFF2-40B4-BE49-F238E27FC236}">
                <a16:creationId xmlns:a16="http://schemas.microsoft.com/office/drawing/2014/main" id="{39D1EA9C-F0E2-62C3-2817-E4F7FABA3876}"/>
              </a:ext>
            </a:extLst>
          </p:cNvPr>
          <p:cNvSpPr>
            <a:spLocks noGrp="1"/>
          </p:cNvSpPr>
          <p:nvPr>
            <p:ph idx="1"/>
          </p:nvPr>
        </p:nvSpPr>
        <p:spPr/>
        <p:txBody>
          <a:bodyPr rtlCol="0">
            <a:normAutofit fontScale="92500" lnSpcReduction="10000"/>
          </a:bodyPr>
          <a:lstStyle/>
          <a:p>
            <a:pPr>
              <a:spcAft>
                <a:spcPts val="0"/>
              </a:spcAft>
              <a:defRPr/>
            </a:pPr>
            <a:r>
              <a:rPr lang="en-GB" sz="2500" dirty="0"/>
              <a:t>Untouched by external influences </a:t>
            </a:r>
          </a:p>
          <a:p>
            <a:pPr>
              <a:spcAft>
                <a:spcPts val="0"/>
              </a:spcAft>
              <a:defRPr/>
            </a:pPr>
            <a:r>
              <a:rPr lang="en-GB" sz="2500" dirty="0"/>
              <a:t>Thomas Best Jervis, a statistician Marathi scholar, was deputed to collect data on the number of villages, roads, rivers etc</a:t>
            </a:r>
          </a:p>
          <a:p>
            <a:pPr>
              <a:spcAft>
                <a:spcPts val="0"/>
              </a:spcAft>
              <a:defRPr/>
            </a:pPr>
            <a:r>
              <a:rPr lang="en-GB" sz="2500" dirty="0"/>
              <a:t>He was interested in education, went to every school and collected information. So we have even the names of the teachers and caste of every teacher and student for this district</a:t>
            </a:r>
          </a:p>
          <a:p>
            <a:pPr>
              <a:spcAft>
                <a:spcPts val="0"/>
              </a:spcAft>
              <a:defRPr/>
            </a:pPr>
            <a:r>
              <a:rPr lang="en-GB" sz="2500" dirty="0"/>
              <a:t>Jervis established the first teacher training institution in </a:t>
            </a:r>
            <a:r>
              <a:rPr lang="en-GB" sz="2500" dirty="0" err="1"/>
              <a:t>Ratnagiri</a:t>
            </a:r>
            <a:r>
              <a:rPr lang="en-GB" sz="2500" dirty="0"/>
              <a:t> in 1820</a:t>
            </a:r>
            <a:r>
              <a:rPr lang="en-GB" sz="2400" dirty="0"/>
              <a:t>In Village Pent, </a:t>
            </a:r>
            <a:r>
              <a:rPr lang="en-GB" sz="2400" dirty="0" err="1"/>
              <a:t>Baji</a:t>
            </a:r>
            <a:r>
              <a:rPr lang="en-GB" sz="2400" dirty="0"/>
              <a:t> Pant </a:t>
            </a:r>
            <a:r>
              <a:rPr lang="en-GB" sz="2400" dirty="0" err="1"/>
              <a:t>Marathe</a:t>
            </a:r>
            <a:r>
              <a:rPr lang="en-GB" sz="2400" dirty="0"/>
              <a:t> - Brahmin teacher taught  1 Brahmin, 6 Sonar, 1 </a:t>
            </a:r>
            <a:r>
              <a:rPr lang="en-GB" sz="2400" dirty="0" err="1"/>
              <a:t>Shimpi</a:t>
            </a:r>
            <a:r>
              <a:rPr lang="en-GB" sz="2400" dirty="0"/>
              <a:t>, 10 </a:t>
            </a:r>
            <a:r>
              <a:rPr lang="en-GB" sz="2400" dirty="0" err="1"/>
              <a:t>Bhandari</a:t>
            </a:r>
            <a:r>
              <a:rPr lang="en-GB" sz="2400" dirty="0"/>
              <a:t>, 4 </a:t>
            </a:r>
            <a:r>
              <a:rPr lang="en-GB" sz="2400" dirty="0" err="1"/>
              <a:t>Sali</a:t>
            </a:r>
            <a:r>
              <a:rPr lang="en-GB" sz="2400" dirty="0"/>
              <a:t>, 3 Mali, 6 </a:t>
            </a:r>
            <a:r>
              <a:rPr lang="en-GB" sz="2400" dirty="0" err="1"/>
              <a:t>Khatri</a:t>
            </a:r>
            <a:r>
              <a:rPr lang="en-GB" sz="2400" dirty="0"/>
              <a:t>, 1 </a:t>
            </a:r>
            <a:r>
              <a:rPr lang="en-GB" sz="2400" dirty="0" err="1"/>
              <a:t>Panchal</a:t>
            </a:r>
            <a:r>
              <a:rPr lang="en-GB" sz="2400" dirty="0"/>
              <a:t> boys in a shed that belonged to a </a:t>
            </a:r>
            <a:r>
              <a:rPr lang="en-GB" sz="2400" dirty="0" err="1"/>
              <a:t>Teli</a:t>
            </a:r>
            <a:r>
              <a:rPr lang="en-GB" sz="2400" dirty="0"/>
              <a:t>. </a:t>
            </a:r>
          </a:p>
          <a:p>
            <a:pPr>
              <a:spcAft>
                <a:spcPts val="0"/>
              </a:spcAft>
              <a:defRPr/>
            </a:pPr>
            <a:r>
              <a:rPr lang="en-GB" sz="2400" dirty="0"/>
              <a:t>In Village </a:t>
            </a:r>
            <a:r>
              <a:rPr lang="en-GB" sz="2400" dirty="0" err="1"/>
              <a:t>Palee</a:t>
            </a:r>
            <a:r>
              <a:rPr lang="en-GB" sz="2400" dirty="0"/>
              <a:t>, </a:t>
            </a:r>
            <a:r>
              <a:rPr lang="en-GB" sz="2400" dirty="0" err="1"/>
              <a:t>Amrutrao</a:t>
            </a:r>
            <a:r>
              <a:rPr lang="en-GB" sz="2400" dirty="0"/>
              <a:t> </a:t>
            </a:r>
            <a:r>
              <a:rPr lang="en-GB" sz="2400" dirty="0" err="1"/>
              <a:t>Bhagwant</a:t>
            </a:r>
            <a:r>
              <a:rPr lang="en-GB" sz="2400" dirty="0"/>
              <a:t>- </a:t>
            </a:r>
            <a:r>
              <a:rPr lang="en-GB" sz="2400" dirty="0" err="1"/>
              <a:t>Prabhu</a:t>
            </a:r>
            <a:r>
              <a:rPr lang="en-GB" sz="2400" dirty="0"/>
              <a:t> caste taught 5 Brahmin, 6 </a:t>
            </a:r>
            <a:r>
              <a:rPr lang="en-GB" sz="2400" dirty="0" err="1"/>
              <a:t>Prabhu</a:t>
            </a:r>
            <a:r>
              <a:rPr lang="en-GB" sz="2400" dirty="0"/>
              <a:t>, 7 Sonar, 5 </a:t>
            </a:r>
            <a:r>
              <a:rPr lang="en-GB" sz="2400" dirty="0" err="1"/>
              <a:t>Kasar</a:t>
            </a:r>
            <a:r>
              <a:rPr lang="en-GB" sz="2400" dirty="0"/>
              <a:t>, 4 Maratha, 5 </a:t>
            </a:r>
            <a:r>
              <a:rPr lang="en-GB" sz="2400" dirty="0" err="1"/>
              <a:t>Shimpi</a:t>
            </a:r>
            <a:r>
              <a:rPr lang="en-GB" sz="2400" dirty="0"/>
              <a:t>, 3 </a:t>
            </a:r>
            <a:r>
              <a:rPr lang="en-GB" sz="2400" dirty="0" err="1"/>
              <a:t>Surekuree</a:t>
            </a:r>
            <a:r>
              <a:rPr lang="en-GB" sz="2400" dirty="0"/>
              <a:t>, 1 </a:t>
            </a:r>
            <a:r>
              <a:rPr lang="en-GB" sz="2400" dirty="0" err="1"/>
              <a:t>Jangam</a:t>
            </a:r>
            <a:r>
              <a:rPr lang="en-GB" sz="2400" dirty="0"/>
              <a:t>, 3 Jew, 7 Muslim boys in the village temple. 46 boys this was the most popular school in the district</a:t>
            </a:r>
            <a:endParaRPr lang="en-GB" sz="2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27677AD-9F5F-BA7A-E3F1-D3C1B17324FB}"/>
              </a:ext>
            </a:extLst>
          </p:cNvPr>
          <p:cNvGraphicFramePr>
            <a:graphicFrameLocks noGrp="1"/>
          </p:cNvGraphicFramePr>
          <p:nvPr>
            <p:extLst>
              <p:ext uri="{D42A27DB-BD31-4B8C-83A1-F6EECF244321}">
                <p14:modId xmlns:p14="http://schemas.microsoft.com/office/powerpoint/2010/main" val="1888135510"/>
              </p:ext>
            </p:extLst>
          </p:nvPr>
        </p:nvGraphicFramePr>
        <p:xfrm>
          <a:off x="762000" y="1752599"/>
          <a:ext cx="9372600" cy="4672009"/>
        </p:xfrm>
        <a:graphic>
          <a:graphicData uri="http://schemas.openxmlformats.org/drawingml/2006/table">
            <a:tbl>
              <a:tblPr/>
              <a:tblGrid>
                <a:gridCol w="5512188">
                  <a:extLst>
                    <a:ext uri="{9D8B030D-6E8A-4147-A177-3AD203B41FA5}">
                      <a16:colId xmlns:a16="http://schemas.microsoft.com/office/drawing/2014/main" val="20000"/>
                    </a:ext>
                  </a:extLst>
                </a:gridCol>
                <a:gridCol w="1930206">
                  <a:extLst>
                    <a:ext uri="{9D8B030D-6E8A-4147-A177-3AD203B41FA5}">
                      <a16:colId xmlns:a16="http://schemas.microsoft.com/office/drawing/2014/main" val="20001"/>
                    </a:ext>
                  </a:extLst>
                </a:gridCol>
                <a:gridCol w="1930206">
                  <a:extLst>
                    <a:ext uri="{9D8B030D-6E8A-4147-A177-3AD203B41FA5}">
                      <a16:colId xmlns:a16="http://schemas.microsoft.com/office/drawing/2014/main" val="20002"/>
                    </a:ext>
                  </a:extLst>
                </a:gridCol>
              </a:tblGrid>
              <a:tr h="430980">
                <a:tc>
                  <a:txBody>
                    <a:bodyPr/>
                    <a:lstStyle/>
                    <a:p>
                      <a:pPr algn="just">
                        <a:lnSpc>
                          <a:spcPct val="115000"/>
                        </a:lnSpc>
                        <a:spcAft>
                          <a:spcPts val="0"/>
                        </a:spcAft>
                      </a:pPr>
                      <a:r>
                        <a:rPr lang="en-US" sz="2000" b="1" dirty="0">
                          <a:latin typeface="Times New Roman"/>
                          <a:ea typeface="Calibri"/>
                          <a:cs typeface="Times New Roman"/>
                        </a:rPr>
                        <a:t>Castes</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Teachers</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Students</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30980">
                <a:tc>
                  <a:txBody>
                    <a:bodyPr/>
                    <a:lstStyle/>
                    <a:p>
                      <a:pPr algn="just">
                        <a:lnSpc>
                          <a:spcPct val="115000"/>
                        </a:lnSpc>
                        <a:spcAft>
                          <a:spcPts val="0"/>
                        </a:spcAft>
                      </a:pPr>
                      <a:r>
                        <a:rPr lang="en-US" sz="2000" b="1" dirty="0">
                          <a:latin typeface="Times New Roman"/>
                          <a:ea typeface="Calibri"/>
                          <a:cs typeface="Times New Roman"/>
                        </a:rPr>
                        <a:t>Brahmin</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33</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567</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7888">
                <a:tc>
                  <a:txBody>
                    <a:bodyPr/>
                    <a:lstStyle/>
                    <a:p>
                      <a:pPr algn="just">
                        <a:lnSpc>
                          <a:spcPct val="115000"/>
                        </a:lnSpc>
                        <a:spcAft>
                          <a:spcPts val="0"/>
                        </a:spcAft>
                        <a:tabLst>
                          <a:tab pos="1330960" algn="l"/>
                        </a:tabLst>
                      </a:pPr>
                      <a:r>
                        <a:rPr lang="en-US" sz="2000" b="1" dirty="0">
                          <a:latin typeface="Times New Roman"/>
                          <a:ea typeface="Calibri"/>
                          <a:cs typeface="Times New Roman"/>
                        </a:rPr>
                        <a:t>Dominant castes -  </a:t>
                      </a:r>
                      <a:r>
                        <a:rPr lang="en-US" sz="2000" b="1" dirty="0" err="1">
                          <a:latin typeface="Times New Roman"/>
                          <a:ea typeface="Calibri"/>
                          <a:cs typeface="Times New Roman"/>
                        </a:rPr>
                        <a:t>Prabhu</a:t>
                      </a:r>
                      <a:r>
                        <a:rPr lang="en-US" sz="2000" b="1" dirty="0">
                          <a:latin typeface="Times New Roman"/>
                          <a:ea typeface="Calibri"/>
                          <a:cs typeface="Times New Roman"/>
                        </a:rPr>
                        <a:t>, </a:t>
                      </a:r>
                      <a:r>
                        <a:rPr lang="en-US" sz="2000" b="1" dirty="0" err="1">
                          <a:latin typeface="Times New Roman"/>
                          <a:ea typeface="Calibri"/>
                          <a:cs typeface="Times New Roman"/>
                        </a:rPr>
                        <a:t>Vysya</a:t>
                      </a:r>
                      <a:r>
                        <a:rPr lang="en-US" sz="2000" b="1" dirty="0">
                          <a:latin typeface="Times New Roman"/>
                          <a:ea typeface="Calibri"/>
                          <a:cs typeface="Times New Roman"/>
                        </a:rPr>
                        <a:t>, Maratha, </a:t>
                      </a:r>
                      <a:r>
                        <a:rPr lang="en-US" sz="2000" b="1" dirty="0" err="1">
                          <a:latin typeface="Times New Roman"/>
                          <a:ea typeface="Calibri"/>
                          <a:cs typeface="Times New Roman"/>
                        </a:rPr>
                        <a:t>Lingayat</a:t>
                      </a:r>
                      <a:r>
                        <a:rPr lang="en-US" sz="2000" b="1" dirty="0">
                          <a:latin typeface="Times New Roman"/>
                          <a:ea typeface="Calibri"/>
                          <a:cs typeface="Times New Roman"/>
                        </a:rPr>
                        <a:t> </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40</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418</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98241">
                <a:tc>
                  <a:txBody>
                    <a:bodyPr/>
                    <a:lstStyle/>
                    <a:p>
                      <a:pPr algn="just">
                        <a:lnSpc>
                          <a:spcPct val="115000"/>
                        </a:lnSpc>
                        <a:spcAft>
                          <a:spcPts val="0"/>
                        </a:spcAft>
                      </a:pPr>
                      <a:r>
                        <a:rPr lang="en-US" sz="2000" b="1" dirty="0">
                          <a:latin typeface="Times New Roman"/>
                          <a:ea typeface="Calibri"/>
                          <a:cs typeface="Times New Roman"/>
                        </a:rPr>
                        <a:t>Artisanal castes, </a:t>
                      </a:r>
                      <a:r>
                        <a:rPr lang="en-US" sz="2000" b="1" dirty="0" err="1">
                          <a:latin typeface="Times New Roman"/>
                          <a:ea typeface="Calibri"/>
                          <a:cs typeface="Times New Roman"/>
                        </a:rPr>
                        <a:t>Kumbhar</a:t>
                      </a:r>
                      <a:r>
                        <a:rPr lang="en-US" sz="2000" b="1" dirty="0">
                          <a:latin typeface="Times New Roman"/>
                          <a:ea typeface="Calibri"/>
                          <a:cs typeface="Times New Roman"/>
                        </a:rPr>
                        <a:t>, </a:t>
                      </a:r>
                      <a:r>
                        <a:rPr lang="en-US" sz="2000" b="1" dirty="0" err="1">
                          <a:latin typeface="Times New Roman"/>
                          <a:ea typeface="Calibri"/>
                          <a:cs typeface="Times New Roman"/>
                        </a:rPr>
                        <a:t>Kansar</a:t>
                      </a:r>
                      <a:r>
                        <a:rPr lang="en-US" sz="2000" b="1" dirty="0">
                          <a:latin typeface="Times New Roman"/>
                          <a:ea typeface="Calibri"/>
                          <a:cs typeface="Times New Roman"/>
                        </a:rPr>
                        <a:t>/</a:t>
                      </a:r>
                      <a:r>
                        <a:rPr lang="en-US" sz="2000" b="1" dirty="0" err="1">
                          <a:latin typeface="Times New Roman"/>
                          <a:ea typeface="Calibri"/>
                          <a:cs typeface="Times New Roman"/>
                        </a:rPr>
                        <a:t>Kasar</a:t>
                      </a:r>
                      <a:r>
                        <a:rPr lang="en-US" sz="2000" b="1" dirty="0">
                          <a:latin typeface="Times New Roman"/>
                          <a:ea typeface="Calibri"/>
                          <a:cs typeface="Times New Roman"/>
                        </a:rPr>
                        <a:t>, </a:t>
                      </a:r>
                      <a:r>
                        <a:rPr lang="en-US" sz="2000" b="1" dirty="0" err="1">
                          <a:latin typeface="Times New Roman"/>
                          <a:ea typeface="Calibri"/>
                          <a:cs typeface="Times New Roman"/>
                        </a:rPr>
                        <a:t>Simpi</a:t>
                      </a:r>
                      <a:r>
                        <a:rPr lang="en-US" sz="2000" b="1" dirty="0">
                          <a:latin typeface="Times New Roman"/>
                          <a:ea typeface="Calibri"/>
                          <a:cs typeface="Times New Roman"/>
                        </a:rPr>
                        <a:t>, Sonar, </a:t>
                      </a:r>
                      <a:r>
                        <a:rPr lang="en-US" sz="2000" b="1" dirty="0" err="1">
                          <a:latin typeface="Times New Roman"/>
                          <a:ea typeface="Calibri"/>
                          <a:cs typeface="Times New Roman"/>
                        </a:rPr>
                        <a:t>Bhandari</a:t>
                      </a:r>
                      <a:r>
                        <a:rPr lang="en-US" sz="2000" b="1" dirty="0">
                          <a:latin typeface="Times New Roman"/>
                          <a:ea typeface="Calibri"/>
                          <a:cs typeface="Times New Roman"/>
                        </a:rPr>
                        <a:t>, Mali, </a:t>
                      </a:r>
                      <a:r>
                        <a:rPr lang="en-US" sz="2000" b="1" dirty="0" err="1">
                          <a:latin typeface="Times New Roman"/>
                          <a:ea typeface="Calibri"/>
                          <a:cs typeface="Times New Roman"/>
                        </a:rPr>
                        <a:t>Teli</a:t>
                      </a:r>
                      <a:r>
                        <a:rPr lang="en-US" sz="2000" b="1" dirty="0">
                          <a:latin typeface="Times New Roman"/>
                          <a:ea typeface="Calibri"/>
                          <a:cs typeface="Times New Roman"/>
                        </a:rPr>
                        <a:t>, </a:t>
                      </a:r>
                      <a:r>
                        <a:rPr lang="en-US" sz="2000" b="1" dirty="0" err="1">
                          <a:latin typeface="Times New Roman"/>
                          <a:ea typeface="Calibri"/>
                          <a:cs typeface="Times New Roman"/>
                        </a:rPr>
                        <a:t>Sutar</a:t>
                      </a:r>
                      <a:r>
                        <a:rPr lang="en-US" sz="2000" b="1" dirty="0">
                          <a:latin typeface="Times New Roman"/>
                          <a:ea typeface="Calibri"/>
                          <a:cs typeface="Times New Roman"/>
                        </a:rPr>
                        <a:t>, </a:t>
                      </a:r>
                      <a:r>
                        <a:rPr lang="en-US" sz="2000" b="1" dirty="0" err="1">
                          <a:latin typeface="Times New Roman"/>
                          <a:ea typeface="Calibri"/>
                          <a:cs typeface="Times New Roman"/>
                        </a:rPr>
                        <a:t>Navi</a:t>
                      </a:r>
                      <a:r>
                        <a:rPr lang="en-US" sz="2000" b="1" dirty="0">
                          <a:latin typeface="Times New Roman"/>
                          <a:ea typeface="Calibri"/>
                          <a:cs typeface="Times New Roman"/>
                        </a:rPr>
                        <a:t>, </a:t>
                      </a:r>
                      <a:r>
                        <a:rPr lang="en-US" sz="2000" b="1" dirty="0" err="1">
                          <a:latin typeface="Times New Roman"/>
                          <a:ea typeface="Calibri"/>
                          <a:cs typeface="Times New Roman"/>
                        </a:rPr>
                        <a:t>Koli</a:t>
                      </a:r>
                      <a:r>
                        <a:rPr lang="en-US" sz="2000" b="1" dirty="0">
                          <a:latin typeface="Times New Roman"/>
                          <a:ea typeface="Calibri"/>
                          <a:cs typeface="Times New Roman"/>
                        </a:rPr>
                        <a:t>, </a:t>
                      </a:r>
                      <a:r>
                        <a:rPr lang="en-US" sz="2000" b="1" dirty="0" err="1">
                          <a:latin typeface="Times New Roman"/>
                          <a:ea typeface="Calibri"/>
                          <a:cs typeface="Times New Roman"/>
                        </a:rPr>
                        <a:t>Panchal</a:t>
                      </a:r>
                      <a:r>
                        <a:rPr lang="en-US" sz="2000" b="1" dirty="0">
                          <a:latin typeface="Times New Roman"/>
                          <a:ea typeface="Calibri"/>
                          <a:cs typeface="Times New Roman"/>
                        </a:rPr>
                        <a:t>, </a:t>
                      </a:r>
                      <a:r>
                        <a:rPr lang="en-US" sz="2000" b="1" dirty="0" err="1">
                          <a:latin typeface="Times New Roman"/>
                          <a:ea typeface="Calibri"/>
                          <a:cs typeface="Times New Roman"/>
                        </a:rPr>
                        <a:t>Dhangar</a:t>
                      </a:r>
                      <a:r>
                        <a:rPr lang="en-US" sz="2000" b="1" dirty="0">
                          <a:latin typeface="Times New Roman"/>
                          <a:ea typeface="Calibri"/>
                          <a:cs typeface="Times New Roman"/>
                        </a:rPr>
                        <a:t>, etc  </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9</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dirty="0">
                          <a:latin typeface="Times New Roman"/>
                          <a:ea typeface="Calibri"/>
                          <a:cs typeface="Times New Roman"/>
                        </a:rPr>
                        <a:t>393</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30980">
                <a:tc>
                  <a:txBody>
                    <a:bodyPr/>
                    <a:lstStyle/>
                    <a:p>
                      <a:pPr algn="just">
                        <a:lnSpc>
                          <a:spcPct val="115000"/>
                        </a:lnSpc>
                        <a:spcAft>
                          <a:spcPts val="0"/>
                        </a:spcAft>
                      </a:pPr>
                      <a:r>
                        <a:rPr lang="en-US" sz="2000" b="1" dirty="0">
                          <a:latin typeface="Times New Roman"/>
                          <a:ea typeface="Calibri"/>
                          <a:cs typeface="Times New Roman"/>
                        </a:rPr>
                        <a:t>Total Hindu</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82</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1,378</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30980">
                <a:tc>
                  <a:txBody>
                    <a:bodyPr/>
                    <a:lstStyle/>
                    <a:p>
                      <a:pPr algn="just">
                        <a:lnSpc>
                          <a:spcPct val="115000"/>
                        </a:lnSpc>
                        <a:spcAft>
                          <a:spcPts val="0"/>
                        </a:spcAft>
                      </a:pPr>
                      <a:r>
                        <a:rPr lang="en-US" sz="2000" b="1" dirty="0">
                          <a:latin typeface="Times New Roman"/>
                          <a:ea typeface="Calibri"/>
                          <a:cs typeface="Times New Roman"/>
                        </a:rPr>
                        <a:t>Muslim </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2</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65</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30980">
                <a:tc>
                  <a:txBody>
                    <a:bodyPr/>
                    <a:lstStyle/>
                    <a:p>
                      <a:pPr algn="just">
                        <a:lnSpc>
                          <a:spcPct val="115000"/>
                        </a:lnSpc>
                        <a:spcAft>
                          <a:spcPts val="0"/>
                        </a:spcAft>
                      </a:pPr>
                      <a:r>
                        <a:rPr lang="en-US" sz="2000" b="1" dirty="0">
                          <a:latin typeface="Times New Roman"/>
                          <a:ea typeface="Calibri"/>
                          <a:cs typeface="Times New Roman"/>
                        </a:rPr>
                        <a:t>Jew</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2</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a:latin typeface="Times New Roman"/>
                          <a:ea typeface="Calibri"/>
                          <a:cs typeface="Times New Roman"/>
                        </a:rPr>
                        <a:t>25</a:t>
                      </a:r>
                      <a:endParaRPr lang="en-US" sz="20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430980">
                <a:tc>
                  <a:txBody>
                    <a:bodyPr/>
                    <a:lstStyle/>
                    <a:p>
                      <a:pPr algn="just">
                        <a:lnSpc>
                          <a:spcPct val="115000"/>
                        </a:lnSpc>
                        <a:spcAft>
                          <a:spcPts val="0"/>
                        </a:spcAft>
                      </a:pPr>
                      <a:r>
                        <a:rPr lang="en-US" sz="2000" b="1" dirty="0">
                          <a:latin typeface="Times New Roman"/>
                          <a:ea typeface="Calibri"/>
                          <a:cs typeface="Times New Roman"/>
                        </a:rPr>
                        <a:t>Total</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dirty="0">
                          <a:latin typeface="Times New Roman"/>
                          <a:ea typeface="Calibri"/>
                          <a:cs typeface="Times New Roman"/>
                        </a:rPr>
                        <a:t>86</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2000" b="1" dirty="0">
                          <a:latin typeface="Times New Roman"/>
                          <a:ea typeface="Calibri"/>
                          <a:cs typeface="Times New Roman"/>
                        </a:rPr>
                        <a:t>1,468</a:t>
                      </a:r>
                      <a:endParaRPr lang="en-US" sz="20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9256" name="Rectangle 1">
            <a:extLst>
              <a:ext uri="{FF2B5EF4-FFF2-40B4-BE49-F238E27FC236}">
                <a16:creationId xmlns:a16="http://schemas.microsoft.com/office/drawing/2014/main" id="{B232C651-87B2-5F88-E886-B5C1F050A2F0}"/>
              </a:ext>
            </a:extLst>
          </p:cNvPr>
          <p:cNvSpPr>
            <a:spLocks noChangeArrowheads="1"/>
          </p:cNvSpPr>
          <p:nvPr/>
        </p:nvSpPr>
        <p:spPr bwMode="auto">
          <a:xfrm>
            <a:off x="1295400" y="467431"/>
            <a:ext cx="864552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tabLst>
                <a:tab pos="1330325" algn="l"/>
              </a:tabLst>
              <a:defRPr>
                <a:solidFill>
                  <a:schemeClr val="tx1"/>
                </a:solidFill>
                <a:latin typeface="Arial" panose="020B0604020202020204" pitchFamily="34" charset="0"/>
                <a:cs typeface="Arial" panose="020B0604020202020204" pitchFamily="34" charset="0"/>
              </a:defRPr>
            </a:lvl1pPr>
            <a:lvl2pPr marL="742950" indent="-285750" eaLnBrk="0" hangingPunct="0">
              <a:tabLst>
                <a:tab pos="1330325" algn="l"/>
              </a:tabLst>
              <a:defRPr>
                <a:solidFill>
                  <a:schemeClr val="tx1"/>
                </a:solidFill>
                <a:latin typeface="Arial" panose="020B0604020202020204" pitchFamily="34" charset="0"/>
                <a:cs typeface="Arial" panose="020B0604020202020204" pitchFamily="34" charset="0"/>
              </a:defRPr>
            </a:lvl2pPr>
            <a:lvl3pPr marL="1143000" indent="-228600" eaLnBrk="0" hangingPunct="0">
              <a:tabLst>
                <a:tab pos="1330325" algn="l"/>
              </a:tabLst>
              <a:defRPr>
                <a:solidFill>
                  <a:schemeClr val="tx1"/>
                </a:solidFill>
                <a:latin typeface="Arial" panose="020B0604020202020204" pitchFamily="34" charset="0"/>
                <a:cs typeface="Arial" panose="020B0604020202020204" pitchFamily="34" charset="0"/>
              </a:defRPr>
            </a:lvl3pPr>
            <a:lvl4pPr marL="1600200" indent="-228600" eaLnBrk="0" hangingPunct="0">
              <a:tabLst>
                <a:tab pos="1330325" algn="l"/>
              </a:tabLst>
              <a:defRPr>
                <a:solidFill>
                  <a:schemeClr val="tx1"/>
                </a:solidFill>
                <a:latin typeface="Arial" panose="020B0604020202020204" pitchFamily="34" charset="0"/>
                <a:cs typeface="Arial" panose="020B0604020202020204" pitchFamily="34" charset="0"/>
              </a:defRPr>
            </a:lvl4pPr>
            <a:lvl5pPr marL="2057400" indent="-228600" eaLnBrk="0" hangingPunct="0">
              <a:tabLst>
                <a:tab pos="1330325"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1330325"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1330325"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1330325"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1330325" algn="l"/>
              </a:tabLst>
              <a:defRPr>
                <a:solidFill>
                  <a:schemeClr val="tx1"/>
                </a:solidFill>
                <a:latin typeface="Arial" panose="020B0604020202020204" pitchFamily="34" charset="0"/>
                <a:cs typeface="Arial" panose="020B0604020202020204" pitchFamily="34" charset="0"/>
              </a:defRPr>
            </a:lvl9pPr>
          </a:lstStyle>
          <a:p>
            <a:pPr eaLnBrk="1" hangingPunct="1"/>
            <a:r>
              <a:rPr lang="en-US" altLang="en-US" sz="3600" dirty="0">
                <a:solidFill>
                  <a:srgbClr val="FF0000"/>
                </a:solidFill>
                <a:latin typeface="Calibri" panose="020F0502020204030204" pitchFamily="34" charset="0"/>
                <a:ea typeface="Calibri" panose="020F0502020204030204" pitchFamily="34" charset="0"/>
                <a:cs typeface="Times New Roman" panose="02020603050405020304" pitchFamily="18" charset="0"/>
              </a:rPr>
              <a:t>Teachers and Students in Ratnagiri District 1819- Thomas Best Jervis</a:t>
            </a:r>
            <a:endParaRPr lang="en-US" altLang="en-US" sz="3600" dirty="0">
              <a:solidFill>
                <a:srgbClr val="FF0000"/>
              </a:solidFill>
              <a:ea typeface="Calibri" panose="020F0502020204030204" pitchFamily="34"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B1FF41E-CA8E-E3B6-3172-862B158CE98B}"/>
              </a:ext>
            </a:extLst>
          </p:cNvPr>
          <p:cNvGraphicFramePr>
            <a:graphicFrameLocks noGrp="1"/>
          </p:cNvGraphicFramePr>
          <p:nvPr>
            <p:extLst>
              <p:ext uri="{D42A27DB-BD31-4B8C-83A1-F6EECF244321}">
                <p14:modId xmlns:p14="http://schemas.microsoft.com/office/powerpoint/2010/main" val="1077694299"/>
              </p:ext>
            </p:extLst>
          </p:nvPr>
        </p:nvGraphicFramePr>
        <p:xfrm>
          <a:off x="762000" y="1305300"/>
          <a:ext cx="10210800" cy="4655730"/>
        </p:xfrm>
        <a:graphic>
          <a:graphicData uri="http://schemas.openxmlformats.org/drawingml/2006/table">
            <a:tbl>
              <a:tblPr/>
              <a:tblGrid>
                <a:gridCol w="1809496">
                  <a:extLst>
                    <a:ext uri="{9D8B030D-6E8A-4147-A177-3AD203B41FA5}">
                      <a16:colId xmlns:a16="http://schemas.microsoft.com/office/drawing/2014/main" val="20000"/>
                    </a:ext>
                  </a:extLst>
                </a:gridCol>
                <a:gridCol w="1247560">
                  <a:extLst>
                    <a:ext uri="{9D8B030D-6E8A-4147-A177-3AD203B41FA5}">
                      <a16:colId xmlns:a16="http://schemas.microsoft.com/office/drawing/2014/main" val="20001"/>
                    </a:ext>
                  </a:extLst>
                </a:gridCol>
                <a:gridCol w="1034301">
                  <a:extLst>
                    <a:ext uri="{9D8B030D-6E8A-4147-A177-3AD203B41FA5}">
                      <a16:colId xmlns:a16="http://schemas.microsoft.com/office/drawing/2014/main" val="20002"/>
                    </a:ext>
                  </a:extLst>
                </a:gridCol>
                <a:gridCol w="1733789">
                  <a:extLst>
                    <a:ext uri="{9D8B030D-6E8A-4147-A177-3AD203B41FA5}">
                      <a16:colId xmlns:a16="http://schemas.microsoft.com/office/drawing/2014/main" val="20003"/>
                    </a:ext>
                  </a:extLst>
                </a:gridCol>
                <a:gridCol w="1357387">
                  <a:extLst>
                    <a:ext uri="{9D8B030D-6E8A-4147-A177-3AD203B41FA5}">
                      <a16:colId xmlns:a16="http://schemas.microsoft.com/office/drawing/2014/main" val="20004"/>
                    </a:ext>
                  </a:extLst>
                </a:gridCol>
                <a:gridCol w="1038568">
                  <a:extLst>
                    <a:ext uri="{9D8B030D-6E8A-4147-A177-3AD203B41FA5}">
                      <a16:colId xmlns:a16="http://schemas.microsoft.com/office/drawing/2014/main" val="20005"/>
                    </a:ext>
                  </a:extLst>
                </a:gridCol>
                <a:gridCol w="1019374">
                  <a:extLst>
                    <a:ext uri="{9D8B030D-6E8A-4147-A177-3AD203B41FA5}">
                      <a16:colId xmlns:a16="http://schemas.microsoft.com/office/drawing/2014/main" val="20006"/>
                    </a:ext>
                  </a:extLst>
                </a:gridCol>
                <a:gridCol w="970325">
                  <a:extLst>
                    <a:ext uri="{9D8B030D-6E8A-4147-A177-3AD203B41FA5}">
                      <a16:colId xmlns:a16="http://schemas.microsoft.com/office/drawing/2014/main" val="20007"/>
                    </a:ext>
                  </a:extLst>
                </a:gridCol>
              </a:tblGrid>
              <a:tr h="1818900">
                <a:tc>
                  <a:txBody>
                    <a:bodyPr/>
                    <a:lstStyle/>
                    <a:p>
                      <a:pPr>
                        <a:lnSpc>
                          <a:spcPct val="115000"/>
                        </a:lnSpc>
                        <a:spcAft>
                          <a:spcPts val="0"/>
                        </a:spcAft>
                      </a:pPr>
                      <a:r>
                        <a:rPr lang="en-GB" sz="1600" b="1" dirty="0">
                          <a:latin typeface="Times New Roman"/>
                          <a:ea typeface="Calibri"/>
                          <a:cs typeface="Times New Roman"/>
                        </a:rPr>
                        <a:t>Districts</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No of Schools</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Brahmin</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Dominant Castes-</a:t>
                      </a:r>
                      <a:r>
                        <a:rPr lang="en-GB" sz="1600" b="1" dirty="0" err="1">
                          <a:latin typeface="Times New Roman"/>
                          <a:ea typeface="Calibri"/>
                          <a:cs typeface="Times New Roman"/>
                        </a:rPr>
                        <a:t>Wani</a:t>
                      </a:r>
                      <a:r>
                        <a:rPr lang="en-GB" sz="1600" b="1" dirty="0">
                          <a:latin typeface="Times New Roman"/>
                          <a:ea typeface="Calibri"/>
                          <a:cs typeface="Times New Roman"/>
                        </a:rPr>
                        <a:t>, </a:t>
                      </a:r>
                      <a:r>
                        <a:rPr lang="en-GB" sz="1600" b="1" dirty="0" err="1">
                          <a:latin typeface="Times New Roman"/>
                          <a:ea typeface="Calibri"/>
                          <a:cs typeface="Times New Roman"/>
                        </a:rPr>
                        <a:t>Kunbi</a:t>
                      </a:r>
                      <a:r>
                        <a:rPr lang="en-GB" sz="1600" b="1" dirty="0">
                          <a:latin typeface="Times New Roman"/>
                          <a:ea typeface="Calibri"/>
                          <a:cs typeface="Times New Roman"/>
                        </a:rPr>
                        <a:t>, </a:t>
                      </a:r>
                      <a:r>
                        <a:rPr lang="en-GB" sz="1600" b="1" dirty="0" err="1">
                          <a:latin typeface="Times New Roman"/>
                          <a:ea typeface="Calibri"/>
                          <a:cs typeface="Times New Roman"/>
                        </a:rPr>
                        <a:t>Rajput</a:t>
                      </a:r>
                      <a:r>
                        <a:rPr lang="en-GB" sz="1600" b="1" dirty="0">
                          <a:latin typeface="Times New Roman"/>
                          <a:ea typeface="Calibri"/>
                          <a:cs typeface="Times New Roman"/>
                        </a:rPr>
                        <a:t>, Marwari, Jain, </a:t>
                      </a:r>
                      <a:r>
                        <a:rPr lang="en-GB" sz="1600" b="1" dirty="0" err="1">
                          <a:latin typeface="Times New Roman"/>
                          <a:ea typeface="Calibri"/>
                          <a:cs typeface="Times New Roman"/>
                        </a:rPr>
                        <a:t>Lingayat</a:t>
                      </a:r>
                      <a:r>
                        <a:rPr lang="en-GB" sz="1600" b="1" dirty="0">
                          <a:latin typeface="Times New Roman"/>
                          <a:ea typeface="Calibri"/>
                          <a:cs typeface="Times New Roman"/>
                        </a:rPr>
                        <a:t> etc.</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Artisanal Caste-</a:t>
                      </a:r>
                      <a:r>
                        <a:rPr lang="en-GB" sz="1600" b="1" dirty="0" err="1">
                          <a:latin typeface="Times New Roman"/>
                          <a:ea typeface="Calibri"/>
                          <a:cs typeface="Times New Roman"/>
                        </a:rPr>
                        <a:t>Sutar</a:t>
                      </a:r>
                      <a:r>
                        <a:rPr lang="en-GB" sz="1600" b="1" dirty="0">
                          <a:latin typeface="Times New Roman"/>
                          <a:ea typeface="Calibri"/>
                          <a:cs typeface="Times New Roman"/>
                        </a:rPr>
                        <a:t>, Mali, </a:t>
                      </a:r>
                      <a:r>
                        <a:rPr lang="en-GB" sz="1600" b="1" dirty="0" err="1">
                          <a:latin typeface="Times New Roman"/>
                          <a:ea typeface="Calibri"/>
                          <a:cs typeface="Times New Roman"/>
                        </a:rPr>
                        <a:t>Kasar</a:t>
                      </a:r>
                      <a:r>
                        <a:rPr lang="en-GB" sz="1600" b="1" dirty="0">
                          <a:latin typeface="Times New Roman"/>
                          <a:ea typeface="Calibri"/>
                          <a:cs typeface="Times New Roman"/>
                        </a:rPr>
                        <a:t> etc</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Muslim</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Total</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Average no of students per school</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945610">
                <a:tc>
                  <a:txBody>
                    <a:bodyPr/>
                    <a:lstStyle/>
                    <a:p>
                      <a:pPr>
                        <a:lnSpc>
                          <a:spcPct val="115000"/>
                        </a:lnSpc>
                        <a:spcAft>
                          <a:spcPts val="0"/>
                        </a:spcAft>
                      </a:pPr>
                      <a:r>
                        <a:rPr lang="en-GB" sz="1600" b="1" dirty="0" err="1">
                          <a:latin typeface="Times New Roman"/>
                          <a:ea typeface="Calibri"/>
                          <a:cs typeface="Times New Roman"/>
                        </a:rPr>
                        <a:t>Veeragram</a:t>
                      </a:r>
                      <a:r>
                        <a:rPr lang="en-GB" sz="1600" b="1" dirty="0">
                          <a:latin typeface="Times New Roman"/>
                          <a:ea typeface="Calibri"/>
                          <a:cs typeface="Times New Roman"/>
                        </a:rPr>
                        <a:t> (140 villages)</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6</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129</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29</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158</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26.33</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45610">
                <a:tc>
                  <a:txBody>
                    <a:bodyPr/>
                    <a:lstStyle/>
                    <a:p>
                      <a:pPr>
                        <a:lnSpc>
                          <a:spcPct val="115000"/>
                        </a:lnSpc>
                        <a:spcAft>
                          <a:spcPts val="0"/>
                        </a:spcAft>
                      </a:pPr>
                      <a:r>
                        <a:rPr lang="en-GB" sz="1600" b="1" dirty="0" err="1">
                          <a:latin typeface="Times New Roman"/>
                          <a:ea typeface="Calibri"/>
                          <a:cs typeface="Times New Roman"/>
                        </a:rPr>
                        <a:t>Ahmedabad</a:t>
                      </a:r>
                      <a:r>
                        <a:rPr lang="en-GB" sz="1600" b="1" dirty="0">
                          <a:latin typeface="Times New Roman"/>
                          <a:ea typeface="Calibri"/>
                          <a:cs typeface="Times New Roman"/>
                        </a:rPr>
                        <a:t> (928 villages)</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84</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410</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1,772</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791</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68</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2,973</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35.39</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72805">
                <a:tc>
                  <a:txBody>
                    <a:bodyPr/>
                    <a:lstStyle/>
                    <a:p>
                      <a:pPr>
                        <a:lnSpc>
                          <a:spcPct val="115000"/>
                        </a:lnSpc>
                        <a:spcAft>
                          <a:spcPts val="0"/>
                        </a:spcAft>
                      </a:pPr>
                      <a:r>
                        <a:rPr lang="en-GB" sz="1600" b="1" dirty="0" err="1">
                          <a:latin typeface="Times New Roman"/>
                          <a:ea typeface="Calibri"/>
                          <a:cs typeface="Times New Roman"/>
                        </a:rPr>
                        <a:t>Dharwar</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265 </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943</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2,092</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609</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118</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a:latin typeface="Times New Roman"/>
                          <a:ea typeface="Calibri"/>
                          <a:cs typeface="Times New Roman"/>
                        </a:rPr>
                        <a:t>4,027</a:t>
                      </a:r>
                      <a:endParaRPr lang="en-US"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15.19</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72805">
                <a:tc>
                  <a:txBody>
                    <a:bodyPr/>
                    <a:lstStyle/>
                    <a:p>
                      <a:pPr>
                        <a:lnSpc>
                          <a:spcPct val="115000"/>
                        </a:lnSpc>
                        <a:spcAft>
                          <a:spcPts val="0"/>
                        </a:spcAft>
                      </a:pPr>
                      <a:r>
                        <a:rPr lang="en-GB" sz="1600" b="1" dirty="0">
                          <a:latin typeface="Times New Roman"/>
                          <a:ea typeface="Calibri"/>
                          <a:cs typeface="Times New Roman"/>
                        </a:rPr>
                        <a:t>Belgaum</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86</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212</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637</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186</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14</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1,049</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GB" sz="1600" b="1" dirty="0">
                          <a:latin typeface="Times New Roman"/>
                          <a:ea typeface="Calibri"/>
                          <a:cs typeface="Times New Roman"/>
                        </a:rPr>
                        <a:t>12.19</a:t>
                      </a:r>
                      <a:endParaRPr lang="en-US"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 name="Title 2">
            <a:extLst>
              <a:ext uri="{FF2B5EF4-FFF2-40B4-BE49-F238E27FC236}">
                <a16:creationId xmlns:a16="http://schemas.microsoft.com/office/drawing/2014/main" id="{1ACF045F-C979-E3CE-1AD5-76E41D1CF69C}"/>
              </a:ext>
            </a:extLst>
          </p:cNvPr>
          <p:cNvSpPr>
            <a:spLocks noGrp="1"/>
          </p:cNvSpPr>
          <p:nvPr>
            <p:ph type="title"/>
          </p:nvPr>
        </p:nvSpPr>
        <p:spPr>
          <a:xfrm>
            <a:off x="685800" y="207162"/>
            <a:ext cx="9720072" cy="1499616"/>
          </a:xfrm>
        </p:spPr>
        <p:txBody>
          <a:bodyPr>
            <a:normAutofit/>
          </a:bodyPr>
          <a:lstStyle/>
          <a:p>
            <a:r>
              <a:rPr lang="en-GB" altLang="en-US" sz="32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Students in Gujarati and Kannada speaking areas 1824</a:t>
            </a:r>
            <a:br>
              <a:rPr lang="en-GB" altLang="en-US" sz="3200" b="1" dirty="0">
                <a:solidFill>
                  <a:srgbClr val="0070C0"/>
                </a:solidFill>
                <a:ea typeface="Calibri" panose="020F0502020204030204" pitchFamily="34" charset="0"/>
                <a:cs typeface="Times New Roman" panose="02020603050405020304" pitchFamily="18" charset="0"/>
              </a:rPr>
            </a:br>
            <a:endParaRPr lang="en-IN" sz="3200" dirty="0"/>
          </a:p>
        </p:txBody>
      </p:sp>
      <p:sp>
        <p:nvSpPr>
          <p:cNvPr id="4" name="Content Placeholder 3">
            <a:extLst>
              <a:ext uri="{FF2B5EF4-FFF2-40B4-BE49-F238E27FC236}">
                <a16:creationId xmlns:a16="http://schemas.microsoft.com/office/drawing/2014/main" id="{3AA2C861-B42B-330D-9B61-C0F12E2780DF}"/>
              </a:ext>
            </a:extLst>
          </p:cNvPr>
          <p:cNvSpPr>
            <a:spLocks noGrp="1"/>
          </p:cNvSpPr>
          <p:nvPr>
            <p:ph idx="1"/>
          </p:nvPr>
        </p:nvSpPr>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A5211FBB-24D1-72B0-DDB2-4BD1437EFF31}"/>
              </a:ext>
            </a:extLst>
          </p:cNvPr>
          <p:cNvGraphicFramePr>
            <a:graphicFrameLocks noGrp="1"/>
          </p:cNvGraphicFramePr>
          <p:nvPr>
            <p:extLst>
              <p:ext uri="{D42A27DB-BD31-4B8C-83A1-F6EECF244321}">
                <p14:modId xmlns:p14="http://schemas.microsoft.com/office/powerpoint/2010/main" val="1324852477"/>
              </p:ext>
            </p:extLst>
          </p:nvPr>
        </p:nvGraphicFramePr>
        <p:xfrm>
          <a:off x="990600" y="762000"/>
          <a:ext cx="10439400" cy="5924578"/>
        </p:xfrm>
        <a:graphic>
          <a:graphicData uri="http://schemas.openxmlformats.org/drawingml/2006/table">
            <a:tbl>
              <a:tblPr/>
              <a:tblGrid>
                <a:gridCol w="2876992">
                  <a:extLst>
                    <a:ext uri="{9D8B030D-6E8A-4147-A177-3AD203B41FA5}">
                      <a16:colId xmlns:a16="http://schemas.microsoft.com/office/drawing/2014/main" val="20000"/>
                    </a:ext>
                  </a:extLst>
                </a:gridCol>
                <a:gridCol w="1747432">
                  <a:extLst>
                    <a:ext uri="{9D8B030D-6E8A-4147-A177-3AD203B41FA5}">
                      <a16:colId xmlns:a16="http://schemas.microsoft.com/office/drawing/2014/main" val="20001"/>
                    </a:ext>
                  </a:extLst>
                </a:gridCol>
                <a:gridCol w="1431153">
                  <a:extLst>
                    <a:ext uri="{9D8B030D-6E8A-4147-A177-3AD203B41FA5}">
                      <a16:colId xmlns:a16="http://schemas.microsoft.com/office/drawing/2014/main" val="20002"/>
                    </a:ext>
                  </a:extLst>
                </a:gridCol>
                <a:gridCol w="1415338">
                  <a:extLst>
                    <a:ext uri="{9D8B030D-6E8A-4147-A177-3AD203B41FA5}">
                      <a16:colId xmlns:a16="http://schemas.microsoft.com/office/drawing/2014/main" val="20003"/>
                    </a:ext>
                  </a:extLst>
                </a:gridCol>
                <a:gridCol w="1012086">
                  <a:extLst>
                    <a:ext uri="{9D8B030D-6E8A-4147-A177-3AD203B41FA5}">
                      <a16:colId xmlns:a16="http://schemas.microsoft.com/office/drawing/2014/main" val="20004"/>
                    </a:ext>
                  </a:extLst>
                </a:gridCol>
                <a:gridCol w="1084378">
                  <a:extLst>
                    <a:ext uri="{9D8B030D-6E8A-4147-A177-3AD203B41FA5}">
                      <a16:colId xmlns:a16="http://schemas.microsoft.com/office/drawing/2014/main" val="20005"/>
                    </a:ext>
                  </a:extLst>
                </a:gridCol>
                <a:gridCol w="872021">
                  <a:extLst>
                    <a:ext uri="{9D8B030D-6E8A-4147-A177-3AD203B41FA5}">
                      <a16:colId xmlns:a16="http://schemas.microsoft.com/office/drawing/2014/main" val="20006"/>
                    </a:ext>
                  </a:extLst>
                </a:gridCol>
              </a:tblGrid>
              <a:tr h="548613">
                <a:tc>
                  <a:txBody>
                    <a:bodyPr/>
                    <a:lstStyle/>
                    <a:p>
                      <a:pPr algn="just">
                        <a:lnSpc>
                          <a:spcPct val="100000"/>
                        </a:lnSpc>
                        <a:spcAft>
                          <a:spcPts val="0"/>
                        </a:spcAft>
                      </a:pPr>
                      <a:r>
                        <a:rPr lang="en-US" sz="1800" b="1" dirty="0">
                          <a:latin typeface="Times New Roman"/>
                          <a:ea typeface="Calibri"/>
                          <a:cs typeface="Times New Roman"/>
                        </a:rPr>
                        <a:t>Castes of teachers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Murshidabad</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Birbhum </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Burdwan </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South Bihar</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Tirhoot </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Total</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7871">
                <a:tc>
                  <a:txBody>
                    <a:bodyPr/>
                    <a:lstStyle/>
                    <a:p>
                      <a:pPr algn="just">
                        <a:lnSpc>
                          <a:spcPct val="100000"/>
                        </a:lnSpc>
                        <a:spcAft>
                          <a:spcPts val="0"/>
                        </a:spcAft>
                      </a:pPr>
                      <a:r>
                        <a:rPr lang="en-US" sz="1800" b="1" dirty="0" err="1">
                          <a:latin typeface="Times New Roman"/>
                          <a:ea typeface="Calibri"/>
                          <a:cs typeface="Times New Roman"/>
                        </a:rPr>
                        <a:t>Kayastha</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39</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256</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369</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278</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77</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1,019</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27871">
                <a:tc>
                  <a:txBody>
                    <a:bodyPr/>
                    <a:lstStyle/>
                    <a:p>
                      <a:pPr algn="just">
                        <a:lnSpc>
                          <a:spcPct val="100000"/>
                        </a:lnSpc>
                        <a:spcAft>
                          <a:spcPts val="0"/>
                        </a:spcAft>
                      </a:pPr>
                      <a:r>
                        <a:rPr lang="en-US" sz="1800" b="1" dirty="0">
                          <a:latin typeface="Times New Roman"/>
                          <a:ea typeface="Calibri"/>
                          <a:cs typeface="Times New Roman"/>
                        </a:rPr>
                        <a:t>Brahmin</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86</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107</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208</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27871">
                <a:tc>
                  <a:txBody>
                    <a:bodyPr/>
                    <a:lstStyle/>
                    <a:p>
                      <a:pPr algn="just">
                        <a:lnSpc>
                          <a:spcPct val="100000"/>
                        </a:lnSpc>
                        <a:spcAft>
                          <a:spcPts val="0"/>
                        </a:spcAft>
                      </a:pPr>
                      <a:r>
                        <a:rPr lang="en-US" sz="1800" b="1" dirty="0" err="1">
                          <a:latin typeface="Times New Roman"/>
                          <a:ea typeface="Calibri"/>
                          <a:cs typeface="Times New Roman"/>
                        </a:rPr>
                        <a:t>Baidya</a:t>
                      </a:r>
                      <a:r>
                        <a:rPr lang="en-US" sz="1800" b="1" dirty="0">
                          <a:latin typeface="Times New Roman"/>
                          <a:ea typeface="Calibri"/>
                          <a:cs typeface="Times New Roman"/>
                        </a:rPr>
                        <a:t>/</a:t>
                      </a:r>
                      <a:r>
                        <a:rPr lang="en-US" sz="1800" b="1" dirty="0" err="1">
                          <a:latin typeface="Times New Roman"/>
                          <a:ea typeface="Calibri"/>
                          <a:cs typeface="Times New Roman"/>
                        </a:rPr>
                        <a:t>Vaidya</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2</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48613">
                <a:tc>
                  <a:txBody>
                    <a:bodyPr/>
                    <a:lstStyle/>
                    <a:p>
                      <a:pPr algn="just">
                        <a:lnSpc>
                          <a:spcPct val="100000"/>
                        </a:lnSpc>
                        <a:spcAft>
                          <a:spcPts val="0"/>
                        </a:spcAft>
                      </a:pPr>
                      <a:r>
                        <a:rPr lang="en-US" sz="1800" b="1" dirty="0" err="1">
                          <a:latin typeface="Times New Roman"/>
                          <a:ea typeface="Calibri"/>
                          <a:cs typeface="Times New Roman"/>
                        </a:rPr>
                        <a:t>Kshatriya</a:t>
                      </a:r>
                      <a:r>
                        <a:rPr lang="en-US" sz="1800" b="1" dirty="0">
                          <a:latin typeface="Times New Roman"/>
                          <a:ea typeface="Calibri"/>
                          <a:cs typeface="Times New Roman"/>
                        </a:rPr>
                        <a:t>/</a:t>
                      </a:r>
                      <a:r>
                        <a:rPr lang="en-US" sz="1800" b="1" dirty="0" err="1">
                          <a:latin typeface="Times New Roman"/>
                          <a:ea typeface="Calibri"/>
                          <a:cs typeface="Times New Roman"/>
                        </a:rPr>
                        <a:t>Rajput</a:t>
                      </a:r>
                      <a:r>
                        <a:rPr lang="en-US" sz="1800" b="1" dirty="0">
                          <a:latin typeface="Times New Roman"/>
                          <a:ea typeface="Calibri"/>
                          <a:cs typeface="Times New Roman"/>
                        </a:rPr>
                        <a:t>/</a:t>
                      </a:r>
                      <a:r>
                        <a:rPr lang="en-US" sz="1800" b="1" dirty="0" err="1">
                          <a:latin typeface="Times New Roman"/>
                          <a:ea typeface="Calibri"/>
                          <a:cs typeface="Times New Roman"/>
                        </a:rPr>
                        <a:t>Aguri</a:t>
                      </a:r>
                      <a:r>
                        <a:rPr lang="en-US" sz="1800" b="1" dirty="0">
                          <a:latin typeface="Times New Roman"/>
                          <a:ea typeface="Calibri"/>
                          <a:cs typeface="Times New Roman"/>
                        </a:rPr>
                        <a:t>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3</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30</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37</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27871">
                <a:tc>
                  <a:txBody>
                    <a:bodyPr/>
                    <a:lstStyle/>
                    <a:p>
                      <a:pPr algn="just">
                        <a:lnSpc>
                          <a:spcPct val="100000"/>
                        </a:lnSpc>
                        <a:spcAft>
                          <a:spcPts val="0"/>
                        </a:spcAft>
                      </a:pPr>
                      <a:r>
                        <a:rPr lang="en-US" sz="1800" b="1" dirty="0" err="1">
                          <a:latin typeface="Times New Roman"/>
                          <a:ea typeface="Calibri"/>
                          <a:cs typeface="Times New Roman"/>
                        </a:rPr>
                        <a:t>Banik</a:t>
                      </a:r>
                      <a:r>
                        <a:rPr lang="en-US" sz="1800" b="1" dirty="0">
                          <a:latin typeface="Times New Roman"/>
                          <a:ea typeface="Calibri"/>
                          <a:cs typeface="Times New Roman"/>
                        </a:rPr>
                        <a:t>/ </a:t>
                      </a:r>
                      <a:r>
                        <a:rPr lang="en-US" sz="1800" b="1" dirty="0" err="1">
                          <a:latin typeface="Times New Roman"/>
                          <a:ea typeface="Calibri"/>
                          <a:cs typeface="Times New Roman"/>
                        </a:rPr>
                        <a:t>Vysya</a:t>
                      </a:r>
                      <a:r>
                        <a:rPr lang="en-US" sz="1800" b="1" dirty="0">
                          <a:latin typeface="Times New Roman"/>
                          <a:ea typeface="Calibri"/>
                          <a:cs typeface="Times New Roman"/>
                        </a:rPr>
                        <a:t> </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10  </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8</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2</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22</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855743">
                <a:tc>
                  <a:txBody>
                    <a:bodyPr/>
                    <a:lstStyle/>
                    <a:p>
                      <a:pPr algn="just">
                        <a:lnSpc>
                          <a:spcPct val="100000"/>
                        </a:lnSpc>
                        <a:spcAft>
                          <a:spcPts val="0"/>
                        </a:spcAft>
                      </a:pPr>
                      <a:r>
                        <a:rPr lang="en-US" sz="1800" b="1" dirty="0">
                          <a:latin typeface="Times New Roman"/>
                          <a:ea typeface="Calibri"/>
                          <a:cs typeface="Times New Roman"/>
                        </a:rPr>
                        <a:t>Artisanal castes- </a:t>
                      </a:r>
                      <a:r>
                        <a:rPr lang="en-US" sz="1800" b="1" dirty="0" err="1">
                          <a:latin typeface="Times New Roman"/>
                          <a:ea typeface="Calibri"/>
                          <a:cs typeface="Times New Roman"/>
                        </a:rPr>
                        <a:t>Teli</a:t>
                      </a:r>
                      <a:r>
                        <a:rPr lang="en-US" sz="1800" b="1" dirty="0">
                          <a:latin typeface="Times New Roman"/>
                          <a:ea typeface="Calibri"/>
                          <a:cs typeface="Times New Roman"/>
                        </a:rPr>
                        <a:t>, Sonar, Tanti, </a:t>
                      </a:r>
                      <a:r>
                        <a:rPr lang="en-US" sz="1800" b="1" dirty="0" err="1">
                          <a:latin typeface="Times New Roman"/>
                          <a:ea typeface="Calibri"/>
                          <a:cs typeface="Times New Roman"/>
                        </a:rPr>
                        <a:t>Kurmi</a:t>
                      </a:r>
                      <a:r>
                        <a:rPr lang="en-US" sz="1800" b="1" dirty="0">
                          <a:latin typeface="Times New Roman"/>
                          <a:ea typeface="Calibri"/>
                          <a:cs typeface="Times New Roman"/>
                        </a:rPr>
                        <a:t>, Mali, </a:t>
                      </a:r>
                      <a:r>
                        <a:rPr lang="en-US" sz="1800" b="1" dirty="0" err="1">
                          <a:latin typeface="Times New Roman"/>
                          <a:ea typeface="Calibri"/>
                          <a:cs typeface="Times New Roman"/>
                        </a:rPr>
                        <a:t>Napit</a:t>
                      </a:r>
                      <a:r>
                        <a:rPr lang="en-US" sz="1800" b="1" dirty="0">
                          <a:latin typeface="Times New Roman"/>
                          <a:ea typeface="Calibri"/>
                          <a:cs typeface="Times New Roman"/>
                        </a:rPr>
                        <a:t> etc</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43</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104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5</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118</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855743">
                <a:tc>
                  <a:txBody>
                    <a:bodyPr/>
                    <a:lstStyle/>
                    <a:p>
                      <a:pPr algn="just">
                        <a:lnSpc>
                          <a:spcPct val="100000"/>
                        </a:lnSpc>
                        <a:spcAft>
                          <a:spcPts val="0"/>
                        </a:spcAft>
                      </a:pPr>
                      <a:r>
                        <a:rPr lang="en-US" sz="1800" b="1" dirty="0" err="1">
                          <a:latin typeface="Times New Roman"/>
                          <a:ea typeface="Calibri"/>
                          <a:cs typeface="Times New Roman"/>
                        </a:rPr>
                        <a:t>Dalit</a:t>
                      </a:r>
                      <a:r>
                        <a:rPr lang="en-US" sz="1800" b="1" dirty="0">
                          <a:latin typeface="Times New Roman"/>
                          <a:ea typeface="Calibri"/>
                          <a:cs typeface="Times New Roman"/>
                        </a:rPr>
                        <a:t> castes - </a:t>
                      </a:r>
                      <a:r>
                        <a:rPr lang="en-US" sz="1800" b="1" dirty="0" err="1">
                          <a:latin typeface="Times New Roman"/>
                          <a:ea typeface="Calibri"/>
                          <a:cs typeface="Times New Roman"/>
                        </a:rPr>
                        <a:t>Sunri</a:t>
                      </a:r>
                      <a:r>
                        <a:rPr lang="en-US" sz="1800" b="1" dirty="0">
                          <a:latin typeface="Times New Roman"/>
                          <a:ea typeface="Calibri"/>
                          <a:cs typeface="Times New Roman"/>
                        </a:rPr>
                        <a:t>, </a:t>
                      </a:r>
                      <a:r>
                        <a:rPr lang="en-US" sz="1800" b="1" dirty="0" err="1">
                          <a:latin typeface="Times New Roman"/>
                          <a:ea typeface="Calibri"/>
                          <a:cs typeface="Times New Roman"/>
                        </a:rPr>
                        <a:t>Kalu</a:t>
                      </a:r>
                      <a:r>
                        <a:rPr lang="en-US" sz="1800" b="1" dirty="0">
                          <a:latin typeface="Times New Roman"/>
                          <a:ea typeface="Calibri"/>
                          <a:cs typeface="Times New Roman"/>
                        </a:rPr>
                        <a:t>, </a:t>
                      </a:r>
                      <a:r>
                        <a:rPr lang="en-US" sz="1800" b="1" dirty="0" err="1">
                          <a:latin typeface="Times New Roman"/>
                          <a:ea typeface="Calibri"/>
                          <a:cs typeface="Times New Roman"/>
                        </a:rPr>
                        <a:t>Chandal</a:t>
                      </a:r>
                      <a:r>
                        <a:rPr lang="en-US" sz="1800" b="1" dirty="0">
                          <a:latin typeface="Times New Roman"/>
                          <a:ea typeface="Calibri"/>
                          <a:cs typeface="Times New Roman"/>
                        </a:rPr>
                        <a:t>, </a:t>
                      </a:r>
                      <a:r>
                        <a:rPr lang="en-US" sz="1800" b="1" dirty="0" err="1">
                          <a:latin typeface="Times New Roman"/>
                          <a:ea typeface="Calibri"/>
                          <a:cs typeface="Times New Roman"/>
                        </a:rPr>
                        <a:t>Pasi</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dirty="0">
                          <a:latin typeface="Times New Roman"/>
                          <a:ea typeface="Calibri"/>
                          <a:cs typeface="Times New Roman"/>
                        </a:rPr>
                        <a:t>3</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7</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7</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17</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427871">
                <a:tc>
                  <a:txBody>
                    <a:bodyPr/>
                    <a:lstStyle/>
                    <a:p>
                      <a:pPr algn="just">
                        <a:lnSpc>
                          <a:spcPct val="100000"/>
                        </a:lnSpc>
                        <a:spcAft>
                          <a:spcPts val="0"/>
                        </a:spcAft>
                      </a:pPr>
                      <a:r>
                        <a:rPr lang="en-US" sz="1800" b="1" dirty="0">
                          <a:latin typeface="Times New Roman"/>
                          <a:ea typeface="Calibri"/>
                          <a:cs typeface="Times New Roman"/>
                        </a:rPr>
                        <a:t>Total Hindu Teachers</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66</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407</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626</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284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80</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1,463</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427871">
                <a:tc>
                  <a:txBody>
                    <a:bodyPr/>
                    <a:lstStyle/>
                    <a:p>
                      <a:pPr algn="just">
                        <a:lnSpc>
                          <a:spcPct val="100000"/>
                        </a:lnSpc>
                        <a:spcAft>
                          <a:spcPts val="0"/>
                        </a:spcAft>
                      </a:pPr>
                      <a:r>
                        <a:rPr lang="en-US" sz="1800" b="1" dirty="0">
                          <a:latin typeface="Times New Roman"/>
                          <a:ea typeface="Calibri"/>
                          <a:cs typeface="Times New Roman"/>
                        </a:rPr>
                        <a:t>Muslim</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9</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a:latin typeface="Times New Roman"/>
                          <a:ea typeface="Calibri"/>
                          <a:cs typeface="Times New Roman"/>
                        </a:rPr>
                        <a:t>14</a:t>
                      </a:r>
                      <a:endParaRPr lang="en-US" sz="18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548613">
                <a:tc>
                  <a:txBody>
                    <a:bodyPr/>
                    <a:lstStyle/>
                    <a:p>
                      <a:pPr algn="just">
                        <a:lnSpc>
                          <a:spcPct val="100000"/>
                        </a:lnSpc>
                        <a:spcAft>
                          <a:spcPts val="0"/>
                        </a:spcAft>
                      </a:pPr>
                      <a:r>
                        <a:rPr lang="en-US" sz="1800" b="1" dirty="0">
                          <a:latin typeface="Times New Roman"/>
                          <a:ea typeface="Calibri"/>
                          <a:cs typeface="Times New Roman"/>
                        </a:rPr>
                        <a:t>Total number of schools</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dirty="0">
                          <a:latin typeface="Times New Roman"/>
                          <a:ea typeface="Calibri"/>
                          <a:cs typeface="Times New Roman"/>
                        </a:rPr>
                        <a:t>66</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dirty="0">
                          <a:latin typeface="Times New Roman"/>
                          <a:ea typeface="Calibri"/>
                          <a:cs typeface="Times New Roman"/>
                        </a:rPr>
                        <a:t>411</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dirty="0">
                          <a:latin typeface="Times New Roman"/>
                          <a:ea typeface="Calibri"/>
                          <a:cs typeface="Times New Roman"/>
                        </a:rPr>
                        <a:t>635</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dirty="0">
                          <a:latin typeface="Times New Roman"/>
                          <a:ea typeface="Calibri"/>
                          <a:cs typeface="Times New Roman"/>
                        </a:rPr>
                        <a:t>285</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dirty="0">
                          <a:latin typeface="Times New Roman"/>
                          <a:ea typeface="Calibri"/>
                          <a:cs typeface="Times New Roman"/>
                        </a:rPr>
                        <a:t>80</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US" sz="1800" b="1" dirty="0">
                          <a:latin typeface="Times New Roman"/>
                          <a:ea typeface="Calibri"/>
                          <a:cs typeface="Times New Roman"/>
                        </a:rPr>
                        <a:t>1,470</a:t>
                      </a:r>
                      <a:endParaRPr lang="en-US" sz="18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1364" name="Rectangle 1">
            <a:extLst>
              <a:ext uri="{FF2B5EF4-FFF2-40B4-BE49-F238E27FC236}">
                <a16:creationId xmlns:a16="http://schemas.microsoft.com/office/drawing/2014/main" id="{8362C75E-43D7-9C84-EABA-DFF9408E869C}"/>
              </a:ext>
            </a:extLst>
          </p:cNvPr>
          <p:cNvSpPr>
            <a:spLocks noChangeArrowheads="1"/>
          </p:cNvSpPr>
          <p:nvPr/>
        </p:nvSpPr>
        <p:spPr bwMode="auto">
          <a:xfrm>
            <a:off x="1524000" y="82550"/>
            <a:ext cx="88392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Castes of Teachers in Bengal, Bihar, Orissa </a:t>
            </a:r>
          </a:p>
          <a:p>
            <a:endParaRPr lang="en-US" altLang="en-US" dirty="0">
              <a:ea typeface="Calibri" panose="020F0502020204030204" pitchFamily="34"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6A9E103-D24B-D5D0-49B5-697C123273E0}"/>
              </a:ext>
            </a:extLst>
          </p:cNvPr>
          <p:cNvGraphicFramePr>
            <a:graphicFrameLocks noGrp="1"/>
          </p:cNvGraphicFramePr>
          <p:nvPr>
            <p:extLst>
              <p:ext uri="{D42A27DB-BD31-4B8C-83A1-F6EECF244321}">
                <p14:modId xmlns:p14="http://schemas.microsoft.com/office/powerpoint/2010/main" val="342826877"/>
              </p:ext>
            </p:extLst>
          </p:nvPr>
        </p:nvGraphicFramePr>
        <p:xfrm>
          <a:off x="1295400" y="825380"/>
          <a:ext cx="9220200" cy="5924080"/>
        </p:xfrm>
        <a:graphic>
          <a:graphicData uri="http://schemas.openxmlformats.org/drawingml/2006/table">
            <a:tbl>
              <a:tblPr/>
              <a:tblGrid>
                <a:gridCol w="1446580">
                  <a:extLst>
                    <a:ext uri="{9D8B030D-6E8A-4147-A177-3AD203B41FA5}">
                      <a16:colId xmlns:a16="http://schemas.microsoft.com/office/drawing/2014/main" val="20000"/>
                    </a:ext>
                  </a:extLst>
                </a:gridCol>
                <a:gridCol w="1437600">
                  <a:extLst>
                    <a:ext uri="{9D8B030D-6E8A-4147-A177-3AD203B41FA5}">
                      <a16:colId xmlns:a16="http://schemas.microsoft.com/office/drawing/2014/main" val="20001"/>
                    </a:ext>
                  </a:extLst>
                </a:gridCol>
                <a:gridCol w="1332850">
                  <a:extLst>
                    <a:ext uri="{9D8B030D-6E8A-4147-A177-3AD203B41FA5}">
                      <a16:colId xmlns:a16="http://schemas.microsoft.com/office/drawing/2014/main" val="20002"/>
                    </a:ext>
                  </a:extLst>
                </a:gridCol>
                <a:gridCol w="1339832">
                  <a:extLst>
                    <a:ext uri="{9D8B030D-6E8A-4147-A177-3AD203B41FA5}">
                      <a16:colId xmlns:a16="http://schemas.microsoft.com/office/drawing/2014/main" val="20003"/>
                    </a:ext>
                  </a:extLst>
                </a:gridCol>
                <a:gridCol w="1259023">
                  <a:extLst>
                    <a:ext uri="{9D8B030D-6E8A-4147-A177-3AD203B41FA5}">
                      <a16:colId xmlns:a16="http://schemas.microsoft.com/office/drawing/2014/main" val="20004"/>
                    </a:ext>
                  </a:extLst>
                </a:gridCol>
                <a:gridCol w="1269000">
                  <a:extLst>
                    <a:ext uri="{9D8B030D-6E8A-4147-A177-3AD203B41FA5}">
                      <a16:colId xmlns:a16="http://schemas.microsoft.com/office/drawing/2014/main" val="20005"/>
                    </a:ext>
                  </a:extLst>
                </a:gridCol>
                <a:gridCol w="1135315">
                  <a:extLst>
                    <a:ext uri="{9D8B030D-6E8A-4147-A177-3AD203B41FA5}">
                      <a16:colId xmlns:a16="http://schemas.microsoft.com/office/drawing/2014/main" val="20006"/>
                    </a:ext>
                  </a:extLst>
                </a:gridCol>
              </a:tblGrid>
              <a:tr h="561883">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Castes of Students</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Murshidabad</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Birbhum</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Burdwan</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South Bihar</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Tirhut</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Total</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69211">
                <a:tc>
                  <a:txBody>
                    <a:bodyPr/>
                    <a:lstStyle/>
                    <a:p>
                      <a:pPr algn="just">
                        <a:lnSpc>
                          <a:spcPct val="115000"/>
                        </a:lnSpc>
                        <a:spcAft>
                          <a:spcPts val="0"/>
                        </a:spcAft>
                      </a:pPr>
                      <a:r>
                        <a:rPr lang="en-US" sz="1700" b="1" dirty="0" err="1">
                          <a:latin typeface="Times New Roman" pitchFamily="18" charset="0"/>
                          <a:ea typeface="Calibri"/>
                          <a:cs typeface="Times New Roman" pitchFamily="18" charset="0"/>
                        </a:rPr>
                        <a:t>Kayastha</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129</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487</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1,846</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220</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51</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2,733</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9211">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Brahmin</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181</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1,853</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3,429</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256</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25</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5,744</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9211">
                <a:tc>
                  <a:txBody>
                    <a:bodyPr/>
                    <a:lstStyle/>
                    <a:p>
                      <a:pPr algn="just">
                        <a:lnSpc>
                          <a:spcPct val="115000"/>
                        </a:lnSpc>
                        <a:spcAft>
                          <a:spcPts val="0"/>
                        </a:spcAft>
                      </a:pPr>
                      <a:r>
                        <a:rPr lang="en-US" sz="1700" b="1" dirty="0" err="1">
                          <a:latin typeface="Times New Roman" pitchFamily="18" charset="0"/>
                          <a:ea typeface="Calibri"/>
                          <a:cs typeface="Times New Roman" pitchFamily="18" charset="0"/>
                        </a:rPr>
                        <a:t>Baidya</a:t>
                      </a:r>
                      <a:r>
                        <a:rPr lang="en-US" sz="1700" b="1" dirty="0">
                          <a:latin typeface="Times New Roman" pitchFamily="18" charset="0"/>
                          <a:ea typeface="Calibri"/>
                          <a:cs typeface="Times New Roman" pitchFamily="18" charset="0"/>
                        </a:rPr>
                        <a:t> </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14</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71</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125</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210</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00514">
                <a:tc>
                  <a:txBody>
                    <a:bodyPr/>
                    <a:lstStyle/>
                    <a:p>
                      <a:pPr algn="just">
                        <a:lnSpc>
                          <a:spcPct val="115000"/>
                        </a:lnSpc>
                        <a:spcAft>
                          <a:spcPts val="0"/>
                        </a:spcAft>
                      </a:pPr>
                      <a:r>
                        <a:rPr lang="en-US" sz="1700" b="1" dirty="0" err="1">
                          <a:latin typeface="Times New Roman" pitchFamily="18" charset="0"/>
                          <a:ea typeface="Calibri"/>
                          <a:cs typeface="Times New Roman" pitchFamily="18" charset="0"/>
                        </a:rPr>
                        <a:t>Kshatriya</a:t>
                      </a:r>
                      <a:endParaRPr lang="en-US" sz="1700" b="1" dirty="0">
                        <a:latin typeface="Times New Roman" pitchFamily="18" charset="0"/>
                        <a:ea typeface="Times New Roman"/>
                        <a:cs typeface="Times New Roman" pitchFamily="18" charset="0"/>
                      </a:endParaRPr>
                    </a:p>
                    <a:p>
                      <a:pPr algn="just">
                        <a:lnSpc>
                          <a:spcPct val="115000"/>
                        </a:lnSpc>
                        <a:spcAft>
                          <a:spcPts val="0"/>
                        </a:spcAft>
                      </a:pPr>
                      <a:r>
                        <a:rPr lang="en-US" sz="1700" b="1" dirty="0" err="1">
                          <a:latin typeface="Times New Roman" pitchFamily="18" charset="0"/>
                          <a:ea typeface="Calibri"/>
                          <a:cs typeface="Times New Roman" pitchFamily="18" charset="0"/>
                        </a:rPr>
                        <a:t>Rajput</a:t>
                      </a:r>
                      <a:r>
                        <a:rPr lang="en-US" sz="1700" b="1" dirty="0">
                          <a:latin typeface="Times New Roman" pitchFamily="18" charset="0"/>
                          <a:ea typeface="Calibri"/>
                          <a:cs typeface="Times New Roman" pitchFamily="18" charset="0"/>
                        </a:rPr>
                        <a:t>, </a:t>
                      </a:r>
                      <a:r>
                        <a:rPr lang="en-US" sz="1700" b="1" dirty="0" err="1">
                          <a:latin typeface="Times New Roman" pitchFamily="18" charset="0"/>
                          <a:ea typeface="Calibri"/>
                          <a:cs typeface="Times New Roman" pitchFamily="18" charset="0"/>
                        </a:rPr>
                        <a:t>Aguri</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38</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148</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969</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189</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86</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1,430</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69211">
                <a:tc>
                  <a:txBody>
                    <a:bodyPr/>
                    <a:lstStyle/>
                    <a:p>
                      <a:pPr algn="just">
                        <a:lnSpc>
                          <a:spcPct val="115000"/>
                        </a:lnSpc>
                        <a:spcAft>
                          <a:spcPts val="0"/>
                        </a:spcAft>
                      </a:pPr>
                      <a:r>
                        <a:rPr lang="en-US" sz="1700" b="1" dirty="0" err="1">
                          <a:latin typeface="Times New Roman" pitchFamily="18" charset="0"/>
                          <a:ea typeface="Calibri"/>
                          <a:cs typeface="Times New Roman" pitchFamily="18" charset="0"/>
                        </a:rPr>
                        <a:t>Banik</a:t>
                      </a:r>
                      <a:r>
                        <a:rPr lang="en-US" sz="1700" b="1" dirty="0">
                          <a:latin typeface="Times New Roman" pitchFamily="18" charset="0"/>
                          <a:ea typeface="Calibri"/>
                          <a:cs typeface="Times New Roman" pitchFamily="18" charset="0"/>
                        </a:rPr>
                        <a:t>/</a:t>
                      </a:r>
                      <a:r>
                        <a:rPr lang="en-US" sz="1700" b="1" dirty="0" err="1">
                          <a:latin typeface="Times New Roman" pitchFamily="18" charset="0"/>
                          <a:ea typeface="Calibri"/>
                          <a:cs typeface="Times New Roman" pitchFamily="18" charset="0"/>
                        </a:rPr>
                        <a:t>Vysya</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144</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742</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928</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591</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32</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2,437</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1147227">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Artisanal castes, </a:t>
                      </a:r>
                      <a:r>
                        <a:rPr lang="en-US" sz="1700" b="1" dirty="0" err="1">
                          <a:latin typeface="Times New Roman" pitchFamily="18" charset="0"/>
                          <a:ea typeface="Calibri"/>
                          <a:cs typeface="Times New Roman" pitchFamily="18" charset="0"/>
                        </a:rPr>
                        <a:t>Sutar</a:t>
                      </a:r>
                      <a:r>
                        <a:rPr lang="en-US" sz="1700" b="1" dirty="0">
                          <a:latin typeface="Times New Roman" pitchFamily="18" charset="0"/>
                          <a:ea typeface="Calibri"/>
                          <a:cs typeface="Times New Roman" pitchFamily="18" charset="0"/>
                        </a:rPr>
                        <a:t>, </a:t>
                      </a:r>
                      <a:r>
                        <a:rPr lang="en-US" sz="1700" b="1" dirty="0" err="1">
                          <a:latin typeface="Times New Roman" pitchFamily="18" charset="0"/>
                          <a:ea typeface="Calibri"/>
                          <a:cs typeface="Times New Roman" pitchFamily="18" charset="0"/>
                        </a:rPr>
                        <a:t>Teli</a:t>
                      </a:r>
                      <a:r>
                        <a:rPr lang="en-US" sz="1700" b="1" dirty="0">
                          <a:latin typeface="Times New Roman" pitchFamily="18" charset="0"/>
                          <a:ea typeface="Calibri"/>
                          <a:cs typeface="Times New Roman" pitchFamily="18" charset="0"/>
                        </a:rPr>
                        <a:t>,  Tanti, </a:t>
                      </a:r>
                      <a:r>
                        <a:rPr lang="en-US" sz="1700" b="1" dirty="0" err="1">
                          <a:latin typeface="Times New Roman" pitchFamily="18" charset="0"/>
                          <a:ea typeface="Calibri"/>
                          <a:cs typeface="Times New Roman" pitchFamily="18" charset="0"/>
                        </a:rPr>
                        <a:t>Napit</a:t>
                      </a:r>
                      <a:r>
                        <a:rPr lang="en-US" sz="1700" b="1" dirty="0">
                          <a:latin typeface="Times New Roman" pitchFamily="18" charset="0"/>
                          <a:ea typeface="Calibri"/>
                          <a:cs typeface="Times New Roman" pitchFamily="18" charset="0"/>
                        </a:rPr>
                        <a:t>,  etc</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479</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2,270 </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4,361</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1,466</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299</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8,875</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1147227">
                <a:tc>
                  <a:txBody>
                    <a:bodyPr/>
                    <a:lstStyle/>
                    <a:p>
                      <a:pPr algn="just">
                        <a:lnSpc>
                          <a:spcPct val="115000"/>
                        </a:lnSpc>
                        <a:spcAft>
                          <a:spcPts val="0"/>
                        </a:spcAft>
                      </a:pPr>
                      <a:r>
                        <a:rPr lang="en-US" sz="1700" b="1" dirty="0" err="1">
                          <a:latin typeface="Times New Roman" pitchFamily="18" charset="0"/>
                          <a:ea typeface="Calibri"/>
                          <a:cs typeface="Times New Roman" pitchFamily="18" charset="0"/>
                        </a:rPr>
                        <a:t>Dalit</a:t>
                      </a:r>
                      <a:r>
                        <a:rPr lang="en-US" sz="1700" b="1" baseline="0" dirty="0">
                          <a:latin typeface="Times New Roman" pitchFamily="18" charset="0"/>
                          <a:ea typeface="Calibri"/>
                          <a:cs typeface="Times New Roman" pitchFamily="18" charset="0"/>
                        </a:rPr>
                        <a:t> </a:t>
                      </a:r>
                      <a:r>
                        <a:rPr lang="en-US" sz="1700" b="1" dirty="0">
                          <a:latin typeface="Times New Roman" pitchFamily="18" charset="0"/>
                          <a:ea typeface="Calibri"/>
                          <a:cs typeface="Times New Roman" pitchFamily="18" charset="0"/>
                        </a:rPr>
                        <a:t>castes- </a:t>
                      </a:r>
                      <a:r>
                        <a:rPr lang="en-US" sz="1700" b="1" dirty="0" err="1">
                          <a:latin typeface="Times New Roman" pitchFamily="18" charset="0"/>
                          <a:ea typeface="Calibri"/>
                          <a:cs typeface="Times New Roman" pitchFamily="18" charset="0"/>
                        </a:rPr>
                        <a:t>Sunri</a:t>
                      </a:r>
                      <a:r>
                        <a:rPr lang="en-US" sz="1700" b="1" dirty="0">
                          <a:latin typeface="Times New Roman" pitchFamily="18" charset="0"/>
                          <a:ea typeface="Calibri"/>
                          <a:cs typeface="Times New Roman" pitchFamily="18" charset="0"/>
                        </a:rPr>
                        <a:t> </a:t>
                      </a:r>
                      <a:r>
                        <a:rPr lang="en-US" sz="1700" b="1" dirty="0" err="1">
                          <a:latin typeface="Times New Roman" pitchFamily="18" charset="0"/>
                          <a:ea typeface="Calibri"/>
                          <a:cs typeface="Times New Roman" pitchFamily="18" charset="0"/>
                        </a:rPr>
                        <a:t>Kalu</a:t>
                      </a:r>
                      <a:r>
                        <a:rPr lang="en-US" sz="1700" b="1" dirty="0">
                          <a:latin typeface="Times New Roman" pitchFamily="18" charset="0"/>
                          <a:ea typeface="Calibri"/>
                          <a:cs typeface="Times New Roman" pitchFamily="18" charset="0"/>
                        </a:rPr>
                        <a:t>, Dom, </a:t>
                      </a:r>
                      <a:r>
                        <a:rPr lang="en-US" sz="1700" b="1" dirty="0" err="1">
                          <a:latin typeface="Times New Roman" pitchFamily="18" charset="0"/>
                          <a:ea typeface="Calibri"/>
                          <a:cs typeface="Times New Roman" pitchFamily="18" charset="0"/>
                        </a:rPr>
                        <a:t>Chandal</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73</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527</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750</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198</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81</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1,629</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561883">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Total Hindu Students</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1,058</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6,098</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12,408</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2,920</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574</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23,058</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69211">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Muslim </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82</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232</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769</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172</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5</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a:latin typeface="Times New Roman" pitchFamily="18" charset="0"/>
                          <a:ea typeface="Calibri"/>
                          <a:cs typeface="Times New Roman" pitchFamily="18" charset="0"/>
                        </a:rPr>
                        <a:t>1260</a:t>
                      </a:r>
                      <a:endParaRPr lang="en-US" sz="17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69211">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Total</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1,140</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6,330</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13,177</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3,092</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579</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700" b="1" dirty="0">
                          <a:latin typeface="Times New Roman" pitchFamily="18" charset="0"/>
                          <a:ea typeface="Calibri"/>
                          <a:cs typeface="Times New Roman" pitchFamily="18" charset="0"/>
                        </a:rPr>
                        <a:t>24,318</a:t>
                      </a:r>
                      <a:endParaRPr lang="en-US" sz="17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4" name="Rectangle 1">
            <a:extLst>
              <a:ext uri="{FF2B5EF4-FFF2-40B4-BE49-F238E27FC236}">
                <a16:creationId xmlns:a16="http://schemas.microsoft.com/office/drawing/2014/main" id="{4FAF01FA-8750-C8B7-362B-6AD7433F60E8}"/>
              </a:ext>
            </a:extLst>
          </p:cNvPr>
          <p:cNvSpPr>
            <a:spLocks noChangeArrowheads="1"/>
          </p:cNvSpPr>
          <p:nvPr/>
        </p:nvSpPr>
        <p:spPr bwMode="auto">
          <a:xfrm>
            <a:off x="1447800" y="82550"/>
            <a:ext cx="88392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b="1" dirty="0">
                <a:solidFill>
                  <a:srgbClr val="0070C0"/>
                </a:solidFill>
                <a:latin typeface="Times New Roman" panose="02020603050405020304" pitchFamily="18" charset="0"/>
                <a:ea typeface="Calibri" panose="020F0502020204030204" pitchFamily="34" charset="0"/>
                <a:cs typeface="Times New Roman" panose="02020603050405020304" pitchFamily="18" charset="0"/>
              </a:rPr>
              <a:t>Castes of Students in Bengal, Bihar, Orissa </a:t>
            </a:r>
          </a:p>
          <a:p>
            <a:endParaRPr lang="en-US" altLang="en-US" dirty="0">
              <a:ea typeface="Calibri" panose="020F0502020204030204" pitchFamily="34"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1752D8E4-2E5F-3023-751D-21695529AC60}"/>
              </a:ext>
            </a:extLst>
          </p:cNvPr>
          <p:cNvSpPr>
            <a:spLocks noGrp="1"/>
          </p:cNvSpPr>
          <p:nvPr>
            <p:ph type="title"/>
          </p:nvPr>
        </p:nvSpPr>
        <p:spPr/>
        <p:txBody>
          <a:bodyPr/>
          <a:lstStyle/>
          <a:p>
            <a:pPr eaLnBrk="1" hangingPunct="1"/>
            <a:r>
              <a:rPr lang="en-US" altLang="en-US" b="1">
                <a:solidFill>
                  <a:srgbClr val="0070C0"/>
                </a:solidFill>
              </a:rPr>
              <a:t>Bengal, Bihar, Orissa </a:t>
            </a:r>
          </a:p>
        </p:txBody>
      </p:sp>
      <p:sp>
        <p:nvSpPr>
          <p:cNvPr id="13315" name="Content Placeholder 2">
            <a:extLst>
              <a:ext uri="{FF2B5EF4-FFF2-40B4-BE49-F238E27FC236}">
                <a16:creationId xmlns:a16="http://schemas.microsoft.com/office/drawing/2014/main" id="{9AE4DF99-E8F5-35DF-1EF1-44C12451EE80}"/>
              </a:ext>
            </a:extLst>
          </p:cNvPr>
          <p:cNvSpPr>
            <a:spLocks noGrp="1"/>
          </p:cNvSpPr>
          <p:nvPr>
            <p:ph idx="1"/>
          </p:nvPr>
        </p:nvSpPr>
        <p:spPr/>
        <p:txBody>
          <a:bodyPr>
            <a:normAutofit fontScale="92500" lnSpcReduction="20000"/>
          </a:bodyPr>
          <a:lstStyle/>
          <a:p>
            <a:pPr eaLnBrk="1" hangingPunct="1"/>
            <a:r>
              <a:rPr lang="en-US" altLang="en-US" sz="2400"/>
              <a:t>Teachers Total 1,470 teachers </a:t>
            </a:r>
          </a:p>
          <a:p>
            <a:pPr eaLnBrk="1" hangingPunct="1"/>
            <a:r>
              <a:rPr lang="en-US" altLang="en-US" sz="2400"/>
              <a:t>Kayastha -1,019, Brahmin - 208 , Artisanal Castes - 118</a:t>
            </a:r>
          </a:p>
          <a:p>
            <a:pPr eaLnBrk="1" hangingPunct="1"/>
            <a:r>
              <a:rPr lang="en-US" altLang="en-US" sz="2400"/>
              <a:t>Dalits- 17 (</a:t>
            </a:r>
            <a:r>
              <a:rPr lang="en-GB" altLang="en-US" sz="2400"/>
              <a:t>Murshidabad, Birbhum and Burdwan districts)</a:t>
            </a:r>
            <a:endParaRPr lang="en-US" altLang="en-US" sz="2400"/>
          </a:p>
          <a:p>
            <a:pPr eaLnBrk="1" hangingPunct="1"/>
            <a:r>
              <a:rPr lang="en-US" altLang="en-US" sz="2400"/>
              <a:t>Students Total- 23,058 </a:t>
            </a:r>
          </a:p>
          <a:p>
            <a:pPr eaLnBrk="1" hangingPunct="1"/>
            <a:r>
              <a:rPr lang="en-US" altLang="en-US" sz="2400"/>
              <a:t>Brahmin 5,744, Non-Brahmins 15,685, Dalits- 1,629</a:t>
            </a:r>
          </a:p>
          <a:p>
            <a:pPr eaLnBrk="1" hangingPunct="1"/>
            <a:r>
              <a:rPr lang="en-GB" altLang="en-US" sz="2400"/>
              <a:t>Adam- </a:t>
            </a:r>
            <a:r>
              <a:rPr lang="en-GB" altLang="en-US" sz="2400">
                <a:solidFill>
                  <a:srgbClr val="FF0000"/>
                </a:solidFill>
              </a:rPr>
              <a:t>‘parents of good caste do not hesitate to send their children to schools conducted by teachers of an inferior caste and even of a different religion. ... this is true of the Chandal, and other low caste teachers enumerated.’</a:t>
            </a:r>
          </a:p>
          <a:p>
            <a:pPr eaLnBrk="1" hangingPunct="1"/>
            <a:r>
              <a:rPr lang="en-GB" altLang="en-US" sz="2400"/>
              <a:t>Village Upper Bazar in Nattore, in Rajshahi district, </a:t>
            </a:r>
            <a:r>
              <a:rPr lang="en-GB" altLang="en-US" sz="2400">
                <a:solidFill>
                  <a:srgbClr val="FF0000"/>
                </a:solidFill>
              </a:rPr>
              <a:t>Naba Kishore Das, a 32-year-old </a:t>
            </a:r>
            <a:r>
              <a:rPr lang="en-GB" altLang="en-US" sz="2400" i="1">
                <a:solidFill>
                  <a:srgbClr val="FF0000"/>
                </a:solidFill>
              </a:rPr>
              <a:t>Kaibarta</a:t>
            </a:r>
            <a:r>
              <a:rPr lang="en-GB" altLang="en-US" sz="2400">
                <a:solidFill>
                  <a:srgbClr val="FF0000"/>
                </a:solidFill>
              </a:rPr>
              <a:t> taught in a school established by Gobinda Pal, an upper-caste Mahajan/ Chandi Mantap</a:t>
            </a:r>
            <a:endParaRPr lang="en-US" altLang="en-US" sz="2400">
              <a:solidFill>
                <a:srgbClr val="FF0000"/>
              </a:solidFill>
            </a:endParaRPr>
          </a:p>
          <a:p>
            <a:pPr eaLnBrk="1" hangingPunct="1"/>
            <a:endParaRPr lang="en-GB" altLang="en-US"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1229F41-7A98-195F-5EA9-8790F696E62A}"/>
              </a:ext>
            </a:extLst>
          </p:cNvPr>
          <p:cNvGraphicFramePr>
            <a:graphicFrameLocks noGrp="1"/>
          </p:cNvGraphicFramePr>
          <p:nvPr/>
        </p:nvGraphicFramePr>
        <p:xfrm>
          <a:off x="2362200" y="533400"/>
          <a:ext cx="7620001" cy="5957885"/>
        </p:xfrm>
        <a:graphic>
          <a:graphicData uri="http://schemas.openxmlformats.org/drawingml/2006/table">
            <a:tbl>
              <a:tblPr/>
              <a:tblGrid>
                <a:gridCol w="2026347">
                  <a:extLst>
                    <a:ext uri="{9D8B030D-6E8A-4147-A177-3AD203B41FA5}">
                      <a16:colId xmlns:a16="http://schemas.microsoft.com/office/drawing/2014/main" val="20000"/>
                    </a:ext>
                  </a:extLst>
                </a:gridCol>
                <a:gridCol w="1862602">
                  <a:extLst>
                    <a:ext uri="{9D8B030D-6E8A-4147-A177-3AD203B41FA5}">
                      <a16:colId xmlns:a16="http://schemas.microsoft.com/office/drawing/2014/main" val="20001"/>
                    </a:ext>
                  </a:extLst>
                </a:gridCol>
                <a:gridCol w="1865526">
                  <a:extLst>
                    <a:ext uri="{9D8B030D-6E8A-4147-A177-3AD203B41FA5}">
                      <a16:colId xmlns:a16="http://schemas.microsoft.com/office/drawing/2014/main" val="20002"/>
                    </a:ext>
                  </a:extLst>
                </a:gridCol>
                <a:gridCol w="1865526">
                  <a:extLst>
                    <a:ext uri="{9D8B030D-6E8A-4147-A177-3AD203B41FA5}">
                      <a16:colId xmlns:a16="http://schemas.microsoft.com/office/drawing/2014/main" val="20003"/>
                    </a:ext>
                  </a:extLst>
                </a:gridCol>
              </a:tblGrid>
              <a:tr h="628130">
                <a:tc>
                  <a:txBody>
                    <a:bodyPr/>
                    <a:lstStyle/>
                    <a:p>
                      <a:pPr algn="just">
                        <a:lnSpc>
                          <a:spcPct val="100000"/>
                        </a:lnSpc>
                        <a:spcAft>
                          <a:spcPts val="0"/>
                        </a:spcAft>
                      </a:pPr>
                      <a:r>
                        <a:rPr lang="en-GB" sz="1900" b="1" dirty="0">
                          <a:latin typeface="Times New Roman" pitchFamily="18" charset="0"/>
                          <a:ea typeface="Calibri"/>
                          <a:cs typeface="Times New Roman" pitchFamily="18" charset="0"/>
                        </a:rPr>
                        <a:t>Untouchable Castes</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GB" sz="1900" b="1" dirty="0">
                          <a:latin typeface="Times New Roman" pitchFamily="18" charset="0"/>
                          <a:ea typeface="Calibri"/>
                          <a:cs typeface="Times New Roman" pitchFamily="18" charset="0"/>
                        </a:rPr>
                        <a:t>Indigenous Schools</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GB" sz="1900" b="1" dirty="0">
                          <a:latin typeface="Times New Roman" pitchFamily="18" charset="0"/>
                          <a:ea typeface="Calibri"/>
                          <a:cs typeface="Times New Roman" pitchFamily="18" charset="0"/>
                        </a:rPr>
                        <a:t>Missionary Schools</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00000"/>
                        </a:lnSpc>
                        <a:spcAft>
                          <a:spcPts val="0"/>
                        </a:spcAft>
                      </a:pPr>
                      <a:r>
                        <a:rPr lang="en-GB" sz="1900" b="1" dirty="0">
                          <a:latin typeface="Times New Roman" pitchFamily="18" charset="0"/>
                          <a:ea typeface="Calibri"/>
                          <a:cs typeface="Times New Roman" pitchFamily="18" charset="0"/>
                        </a:rPr>
                        <a:t>Total </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Kalu</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174</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33</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207</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Sunri</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168</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20</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188</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Bagdhi</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117</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21</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138</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13515">
                <a:tc>
                  <a:txBody>
                    <a:bodyPr/>
                    <a:lstStyle/>
                    <a:p>
                      <a:pPr algn="just">
                        <a:lnSpc>
                          <a:spcPct val="115000"/>
                        </a:lnSpc>
                        <a:spcAft>
                          <a:spcPts val="0"/>
                        </a:spcAft>
                      </a:pPr>
                      <a:r>
                        <a:rPr lang="en-GB" sz="1900" b="1" dirty="0">
                          <a:latin typeface="Times New Roman" pitchFamily="18" charset="0"/>
                          <a:ea typeface="Calibri"/>
                          <a:cs typeface="Times New Roman" pitchFamily="18" charset="0"/>
                        </a:rPr>
                        <a:t>Dom</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58</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3</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61</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Chandal</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60</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61</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Jalia</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28</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28</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Dhoba</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19</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5</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24</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Muchi</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16</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16</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Hari</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11</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11</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Tior</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4</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Lahari</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3</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3</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Garar</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Kahar</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313515">
                <a:tc>
                  <a:txBody>
                    <a:bodyPr/>
                    <a:lstStyle/>
                    <a:p>
                      <a:pPr algn="just">
                        <a:lnSpc>
                          <a:spcPct val="115000"/>
                        </a:lnSpc>
                        <a:spcAft>
                          <a:spcPts val="0"/>
                        </a:spcAft>
                      </a:pPr>
                      <a:r>
                        <a:rPr lang="en-GB" sz="1900" b="1" dirty="0">
                          <a:latin typeface="Times New Roman" pitchFamily="18" charset="0"/>
                          <a:ea typeface="Calibri"/>
                          <a:cs typeface="Times New Roman" pitchFamily="18" charset="0"/>
                        </a:rPr>
                        <a:t>Mal</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2</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Maitya</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313515">
                <a:tc>
                  <a:txBody>
                    <a:bodyPr/>
                    <a:lstStyle/>
                    <a:p>
                      <a:pPr algn="just">
                        <a:lnSpc>
                          <a:spcPct val="115000"/>
                        </a:lnSpc>
                        <a:spcAft>
                          <a:spcPts val="0"/>
                        </a:spcAft>
                      </a:pPr>
                      <a:r>
                        <a:rPr lang="en-GB" sz="1900" b="1" dirty="0" err="1">
                          <a:latin typeface="Times New Roman" pitchFamily="18" charset="0"/>
                          <a:ea typeface="Calibri"/>
                          <a:cs typeface="Times New Roman" pitchFamily="18" charset="0"/>
                        </a:rPr>
                        <a:t>Pasi</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a:latin typeface="Times New Roman" pitchFamily="18" charset="0"/>
                          <a:ea typeface="Calibri"/>
                          <a:cs typeface="Times New Roman" pitchFamily="18" charset="0"/>
                        </a:rPr>
                        <a:t>1</a:t>
                      </a:r>
                      <a:endParaRPr lang="en-US" sz="1900" b="1">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313515">
                <a:tc>
                  <a:txBody>
                    <a:bodyPr/>
                    <a:lstStyle/>
                    <a:p>
                      <a:pPr algn="just">
                        <a:lnSpc>
                          <a:spcPct val="115000"/>
                        </a:lnSpc>
                        <a:spcAft>
                          <a:spcPts val="0"/>
                        </a:spcAft>
                      </a:pPr>
                      <a:r>
                        <a:rPr lang="en-GB" sz="1900" b="1" dirty="0">
                          <a:latin typeface="Times New Roman" pitchFamily="18" charset="0"/>
                          <a:ea typeface="Calibri"/>
                          <a:cs typeface="Times New Roman" pitchFamily="18" charset="0"/>
                        </a:rPr>
                        <a:t>Total</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dirty="0">
                          <a:latin typeface="Times New Roman" pitchFamily="18" charset="0"/>
                          <a:ea typeface="Calibri"/>
                          <a:cs typeface="Times New Roman" pitchFamily="18" charset="0"/>
                        </a:rPr>
                        <a:t>663</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dirty="0">
                          <a:latin typeface="Times New Roman" pitchFamily="18" charset="0"/>
                          <a:ea typeface="Calibri"/>
                          <a:cs typeface="Times New Roman" pitchFamily="18" charset="0"/>
                        </a:rPr>
                        <a:t>86</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GB" sz="1900" b="1" dirty="0">
                          <a:latin typeface="Times New Roman" pitchFamily="18" charset="0"/>
                          <a:ea typeface="Calibri"/>
                          <a:cs typeface="Times New Roman" pitchFamily="18" charset="0"/>
                        </a:rPr>
                        <a:t>749</a:t>
                      </a:r>
                      <a:endParaRPr lang="en-US" sz="1900" b="1"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
        <p:nvSpPr>
          <p:cNvPr id="14435" name="Rectangle 1">
            <a:extLst>
              <a:ext uri="{FF2B5EF4-FFF2-40B4-BE49-F238E27FC236}">
                <a16:creationId xmlns:a16="http://schemas.microsoft.com/office/drawing/2014/main" id="{0EC2F009-246B-0EE9-34A5-42FB6C3725B5}"/>
              </a:ext>
            </a:extLst>
          </p:cNvPr>
          <p:cNvSpPr>
            <a:spLocks noChangeArrowheads="1"/>
          </p:cNvSpPr>
          <p:nvPr/>
        </p:nvSpPr>
        <p:spPr bwMode="auto">
          <a:xfrm>
            <a:off x="5062539" y="28575"/>
            <a:ext cx="26447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GB" altLang="en-US" sz="2000">
                <a:latin typeface="Times New Roman" panose="02020603050405020304" pitchFamily="18" charset="0"/>
                <a:ea typeface="Calibri" panose="020F0502020204030204" pitchFamily="34" charset="0"/>
                <a:cs typeface="Times New Roman" panose="02020603050405020304" pitchFamily="18" charset="0"/>
              </a:rPr>
              <a:t>Bardaman District 1838</a:t>
            </a:r>
            <a:endParaRPr lang="en-GB" altLang="en-US" sz="2000">
              <a:ea typeface="Calibri" panose="020F0502020204030204" pitchFamily="34"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D556EDBF-12C8-CBD4-B939-7C16C53F1E8F}"/>
              </a:ext>
            </a:extLst>
          </p:cNvPr>
          <p:cNvSpPr>
            <a:spLocks noGrp="1"/>
          </p:cNvSpPr>
          <p:nvPr>
            <p:ph type="title"/>
          </p:nvPr>
        </p:nvSpPr>
        <p:spPr/>
        <p:txBody>
          <a:bodyPr/>
          <a:lstStyle/>
          <a:p>
            <a:pPr eaLnBrk="1" hangingPunct="1"/>
            <a:r>
              <a:rPr lang="en-IN" altLang="en-US" sz="3200">
                <a:solidFill>
                  <a:srgbClr val="0070C0"/>
                </a:solidFill>
              </a:rPr>
              <a:t>Madras Presidency 1822 </a:t>
            </a:r>
            <a:br>
              <a:rPr lang="en-IN" altLang="en-US" sz="3200">
                <a:solidFill>
                  <a:srgbClr val="0070C0"/>
                </a:solidFill>
              </a:rPr>
            </a:br>
            <a:r>
              <a:rPr lang="en-IN" altLang="en-US" sz="3200">
                <a:solidFill>
                  <a:srgbClr val="0070C0"/>
                </a:solidFill>
              </a:rPr>
              <a:t>Indigenous School Students (Kannada, Malayalam, Odia, Telugu, Tamil)</a:t>
            </a:r>
            <a:r>
              <a:rPr lang="en-IN" altLang="en-US" sz="3200"/>
              <a:t>  </a:t>
            </a:r>
          </a:p>
        </p:txBody>
      </p:sp>
      <p:sp>
        <p:nvSpPr>
          <p:cNvPr id="3" name="Content Placeholder 2">
            <a:extLst>
              <a:ext uri="{FF2B5EF4-FFF2-40B4-BE49-F238E27FC236}">
                <a16:creationId xmlns:a16="http://schemas.microsoft.com/office/drawing/2014/main" id="{619434E6-7D5D-C557-360D-D08B60133B01}"/>
              </a:ext>
            </a:extLst>
          </p:cNvPr>
          <p:cNvSpPr>
            <a:spLocks noGrp="1"/>
          </p:cNvSpPr>
          <p:nvPr>
            <p:ph idx="1"/>
          </p:nvPr>
        </p:nvSpPr>
        <p:spPr/>
        <p:txBody>
          <a:bodyPr rtlCol="0">
            <a:normAutofit lnSpcReduction="10000"/>
          </a:bodyPr>
          <a:lstStyle/>
          <a:p>
            <a:pPr>
              <a:spcAft>
                <a:spcPts val="0"/>
              </a:spcAft>
              <a:defRPr/>
            </a:pPr>
            <a:r>
              <a:rPr lang="en-IN" dirty="0"/>
              <a:t>No of Schools - 11,691</a:t>
            </a:r>
          </a:p>
          <a:p>
            <a:pPr>
              <a:spcAft>
                <a:spcPts val="0"/>
              </a:spcAft>
              <a:defRPr/>
            </a:pPr>
            <a:r>
              <a:rPr lang="en-IN" dirty="0"/>
              <a:t>Brahmin- 30,479</a:t>
            </a:r>
          </a:p>
          <a:p>
            <a:pPr>
              <a:spcAft>
                <a:spcPts val="0"/>
              </a:spcAft>
              <a:defRPr/>
            </a:pPr>
            <a:r>
              <a:rPr lang="en-IN" dirty="0" err="1"/>
              <a:t>Vysya</a:t>
            </a:r>
            <a:r>
              <a:rPr lang="en-IN" dirty="0"/>
              <a:t> -13,772</a:t>
            </a:r>
          </a:p>
          <a:p>
            <a:pPr>
              <a:spcAft>
                <a:spcPts val="0"/>
              </a:spcAft>
              <a:defRPr/>
            </a:pPr>
            <a:r>
              <a:rPr lang="en-IN" dirty="0" err="1"/>
              <a:t>Shudra</a:t>
            </a:r>
            <a:r>
              <a:rPr lang="en-IN" dirty="0"/>
              <a:t> - 75,324 </a:t>
            </a:r>
          </a:p>
          <a:p>
            <a:pPr>
              <a:spcAft>
                <a:spcPts val="0"/>
              </a:spcAft>
              <a:defRPr/>
            </a:pPr>
            <a:r>
              <a:rPr lang="en-IN" dirty="0"/>
              <a:t>All other Castes - 22,794 </a:t>
            </a:r>
          </a:p>
          <a:p>
            <a:pPr>
              <a:spcAft>
                <a:spcPts val="0"/>
              </a:spcAft>
              <a:defRPr/>
            </a:pPr>
            <a:r>
              <a:rPr lang="en-IN" dirty="0"/>
              <a:t>Total Hindu students – 1,42,369</a:t>
            </a:r>
          </a:p>
          <a:p>
            <a:pPr>
              <a:spcAft>
                <a:spcPts val="0"/>
              </a:spcAft>
              <a:defRPr/>
            </a:pPr>
            <a:r>
              <a:rPr lang="en-IN" dirty="0"/>
              <a:t>Non-Brahmin students – 1,11,890</a:t>
            </a:r>
          </a:p>
          <a:p>
            <a:pPr>
              <a:spcAft>
                <a:spcPts val="0"/>
              </a:spcAft>
              <a:defRPr/>
            </a:pPr>
            <a:r>
              <a:rPr lang="en-IN" dirty="0"/>
              <a:t>Muslim - 10,864 (5% of total population)</a:t>
            </a:r>
          </a:p>
          <a:p>
            <a:pPr>
              <a:spcAft>
                <a:spcPts val="0"/>
              </a:spcAft>
              <a:defRPr/>
            </a:pPr>
            <a:r>
              <a:rPr lang="en-IN" dirty="0"/>
              <a:t>Total -153,233</a:t>
            </a:r>
          </a:p>
          <a:p>
            <a:pPr>
              <a:spcAft>
                <a:spcPts val="0"/>
              </a:spcAft>
              <a:defRPr/>
            </a:pP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5CB7582-9094-4DE7-55DC-CAD2B5AF1016}"/>
              </a:ext>
            </a:extLst>
          </p:cNvPr>
          <p:cNvGraphicFramePr>
            <a:graphicFrameLocks noGrp="1"/>
          </p:cNvGraphicFramePr>
          <p:nvPr/>
        </p:nvGraphicFramePr>
        <p:xfrm>
          <a:off x="1904999" y="533396"/>
          <a:ext cx="8382002" cy="5731339"/>
        </p:xfrm>
        <a:graphic>
          <a:graphicData uri="http://schemas.openxmlformats.org/drawingml/2006/table">
            <a:tbl>
              <a:tblPr/>
              <a:tblGrid>
                <a:gridCol w="1543107">
                  <a:extLst>
                    <a:ext uri="{9D8B030D-6E8A-4147-A177-3AD203B41FA5}">
                      <a16:colId xmlns:a16="http://schemas.microsoft.com/office/drawing/2014/main" val="20000"/>
                    </a:ext>
                  </a:extLst>
                </a:gridCol>
                <a:gridCol w="812715">
                  <a:extLst>
                    <a:ext uri="{9D8B030D-6E8A-4147-A177-3AD203B41FA5}">
                      <a16:colId xmlns:a16="http://schemas.microsoft.com/office/drawing/2014/main" val="20001"/>
                    </a:ext>
                  </a:extLst>
                </a:gridCol>
                <a:gridCol w="841617">
                  <a:extLst>
                    <a:ext uri="{9D8B030D-6E8A-4147-A177-3AD203B41FA5}">
                      <a16:colId xmlns:a16="http://schemas.microsoft.com/office/drawing/2014/main" val="20002"/>
                    </a:ext>
                  </a:extLst>
                </a:gridCol>
                <a:gridCol w="670840">
                  <a:extLst>
                    <a:ext uri="{9D8B030D-6E8A-4147-A177-3AD203B41FA5}">
                      <a16:colId xmlns:a16="http://schemas.microsoft.com/office/drawing/2014/main" val="20003"/>
                    </a:ext>
                  </a:extLst>
                </a:gridCol>
                <a:gridCol w="754039">
                  <a:extLst>
                    <a:ext uri="{9D8B030D-6E8A-4147-A177-3AD203B41FA5}">
                      <a16:colId xmlns:a16="http://schemas.microsoft.com/office/drawing/2014/main" val="20004"/>
                    </a:ext>
                  </a:extLst>
                </a:gridCol>
                <a:gridCol w="696236">
                  <a:extLst>
                    <a:ext uri="{9D8B030D-6E8A-4147-A177-3AD203B41FA5}">
                      <a16:colId xmlns:a16="http://schemas.microsoft.com/office/drawing/2014/main" val="20005"/>
                    </a:ext>
                  </a:extLst>
                </a:gridCol>
                <a:gridCol w="802206">
                  <a:extLst>
                    <a:ext uri="{9D8B030D-6E8A-4147-A177-3AD203B41FA5}">
                      <a16:colId xmlns:a16="http://schemas.microsoft.com/office/drawing/2014/main" val="20006"/>
                    </a:ext>
                  </a:extLst>
                </a:gridCol>
                <a:gridCol w="744406">
                  <a:extLst>
                    <a:ext uri="{9D8B030D-6E8A-4147-A177-3AD203B41FA5}">
                      <a16:colId xmlns:a16="http://schemas.microsoft.com/office/drawing/2014/main" val="20007"/>
                    </a:ext>
                  </a:extLst>
                </a:gridCol>
                <a:gridCol w="758418">
                  <a:extLst>
                    <a:ext uri="{9D8B030D-6E8A-4147-A177-3AD203B41FA5}">
                      <a16:colId xmlns:a16="http://schemas.microsoft.com/office/drawing/2014/main" val="20008"/>
                    </a:ext>
                  </a:extLst>
                </a:gridCol>
                <a:gridCol w="758418">
                  <a:extLst>
                    <a:ext uri="{9D8B030D-6E8A-4147-A177-3AD203B41FA5}">
                      <a16:colId xmlns:a16="http://schemas.microsoft.com/office/drawing/2014/main" val="20009"/>
                    </a:ext>
                  </a:extLst>
                </a:gridCol>
              </a:tblGrid>
              <a:tr h="636814">
                <a:tc>
                  <a:txBody>
                    <a:bodyPr/>
                    <a:lstStyle/>
                    <a:p>
                      <a:pPr algn="just">
                        <a:lnSpc>
                          <a:spcPct val="115000"/>
                        </a:lnSpc>
                        <a:spcAft>
                          <a:spcPts val="0"/>
                        </a:spcAft>
                      </a:pPr>
                      <a:r>
                        <a:rPr lang="en-US" sz="1200" b="1" dirty="0">
                          <a:solidFill>
                            <a:srgbClr val="FF0000"/>
                          </a:solidFill>
                          <a:latin typeface="Times New Roman" pitchFamily="18" charset="0"/>
                          <a:ea typeface="Calibri"/>
                          <a:cs typeface="Times New Roman" pitchFamily="18" charset="0"/>
                        </a:rPr>
                        <a:t>Districts</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rgbClr val="FF0000"/>
                          </a:solidFill>
                          <a:latin typeface="Times New Roman" pitchFamily="18" charset="0"/>
                          <a:ea typeface="Calibri"/>
                          <a:cs typeface="Times New Roman" pitchFamily="18" charset="0"/>
                        </a:rPr>
                        <a:t>No. of Schools</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rgbClr val="FF0000"/>
                          </a:solidFill>
                          <a:latin typeface="Times New Roman" pitchFamily="18" charset="0"/>
                          <a:ea typeface="Calibri"/>
                          <a:cs typeface="Times New Roman" pitchFamily="18" charset="0"/>
                        </a:rPr>
                        <a:t>Brahmin</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err="1">
                          <a:solidFill>
                            <a:srgbClr val="FF0000"/>
                          </a:solidFill>
                          <a:latin typeface="Times New Roman" pitchFamily="18" charset="0"/>
                          <a:ea typeface="Calibri"/>
                          <a:cs typeface="Times New Roman" pitchFamily="18" charset="0"/>
                        </a:rPr>
                        <a:t>Vysya</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err="1">
                          <a:solidFill>
                            <a:srgbClr val="FF0000"/>
                          </a:solidFill>
                          <a:latin typeface="Times New Roman" pitchFamily="18" charset="0"/>
                          <a:ea typeface="Calibri"/>
                          <a:cs typeface="Times New Roman" pitchFamily="18" charset="0"/>
                        </a:rPr>
                        <a:t>Shudra</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rgbClr val="FF0000"/>
                          </a:solidFill>
                          <a:latin typeface="Times New Roman" pitchFamily="18" charset="0"/>
                          <a:ea typeface="Calibri"/>
                          <a:cs typeface="Times New Roman" pitchFamily="18" charset="0"/>
                        </a:rPr>
                        <a:t>All other castes</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rgbClr val="FF0000"/>
                          </a:solidFill>
                          <a:latin typeface="Times New Roman" pitchFamily="18" charset="0"/>
                          <a:ea typeface="Calibri"/>
                          <a:cs typeface="Times New Roman" pitchFamily="18" charset="0"/>
                        </a:rPr>
                        <a:t>Total Hindu</a:t>
                      </a:r>
                      <a:endParaRPr lang="en-US" sz="1200" b="1" dirty="0">
                        <a:solidFill>
                          <a:srgbClr val="FF0000"/>
                        </a:solidFill>
                        <a:latin typeface="Times New Roman" pitchFamily="18" charset="0"/>
                        <a:ea typeface="Times New Roman"/>
                        <a:cs typeface="Times New Roman" pitchFamily="18" charset="0"/>
                      </a:endParaRPr>
                    </a:p>
                    <a:p>
                      <a:pPr algn="just">
                        <a:lnSpc>
                          <a:spcPct val="115000"/>
                        </a:lnSpc>
                        <a:spcAft>
                          <a:spcPts val="0"/>
                        </a:spcAft>
                      </a:pPr>
                      <a:r>
                        <a:rPr lang="en-US" sz="1200" b="1" dirty="0">
                          <a:solidFill>
                            <a:srgbClr val="FF0000"/>
                          </a:solidFill>
                          <a:latin typeface="Times New Roman" pitchFamily="18" charset="0"/>
                          <a:ea typeface="Calibri"/>
                          <a:cs typeface="Times New Roman" pitchFamily="18" charset="0"/>
                        </a:rPr>
                        <a:t>boys </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rgbClr val="FF0000"/>
                          </a:solidFill>
                          <a:latin typeface="Times New Roman" pitchFamily="18" charset="0"/>
                          <a:ea typeface="Calibri"/>
                          <a:cs typeface="Times New Roman" pitchFamily="18" charset="0"/>
                        </a:rPr>
                        <a:t>Muslim boys</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rgbClr val="FF0000"/>
                          </a:solidFill>
                          <a:latin typeface="Times New Roman" pitchFamily="18" charset="0"/>
                          <a:ea typeface="Calibri"/>
                          <a:cs typeface="Times New Roman" pitchFamily="18" charset="0"/>
                        </a:rPr>
                        <a:t>Total</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rgbClr val="FF0000"/>
                          </a:solidFill>
                          <a:latin typeface="Times New Roman" pitchFamily="18" charset="0"/>
                          <a:ea typeface="Calibri"/>
                          <a:cs typeface="Times New Roman" pitchFamily="18" charset="0"/>
                        </a:rPr>
                        <a:t>Average per school</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12272">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Arcot</a:t>
                      </a:r>
                      <a:r>
                        <a:rPr lang="en-US" sz="1200" b="1" dirty="0">
                          <a:latin typeface="Times New Roman" pitchFamily="18" charset="0"/>
                          <a:ea typeface="Calibri"/>
                          <a:cs typeface="Times New Roman" pitchFamily="18" charset="0"/>
                        </a:rPr>
                        <a:t> N</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630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698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630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4,856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538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6,722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552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7,274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11.54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12272">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Arcot</a:t>
                      </a:r>
                      <a:r>
                        <a:rPr lang="en-US" sz="1200" b="1" dirty="0">
                          <a:latin typeface="Times New Roman" pitchFamily="18" charset="0"/>
                          <a:ea typeface="Calibri"/>
                          <a:cs typeface="Times New Roman" pitchFamily="18" charset="0"/>
                        </a:rPr>
                        <a:t> S</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875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997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370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7,938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862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10,167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252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10,419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11.90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12272">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Bellary</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533</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1185</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981</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2,998</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1,174</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6,338</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243</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6,581</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12.22</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2272">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Chengalpet</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508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858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424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4,809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452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6,543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186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6,729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13.24</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2272">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Coimbatore</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763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918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289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6,379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226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7,812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312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8,124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10.64</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24543">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Ganjam</a:t>
                      </a:r>
                      <a:r>
                        <a:rPr lang="en-US" sz="1200" b="1" dirty="0">
                          <a:latin typeface="Times New Roman" pitchFamily="18" charset="0"/>
                          <a:ea typeface="Calibri"/>
                          <a:cs typeface="Times New Roman" pitchFamily="18" charset="0"/>
                        </a:rPr>
                        <a:t> &amp; </a:t>
                      </a:r>
                      <a:r>
                        <a:rPr lang="en-US" sz="1200" b="1" dirty="0" err="1">
                          <a:latin typeface="Times New Roman" pitchFamily="18" charset="0"/>
                          <a:ea typeface="Calibri"/>
                          <a:cs typeface="Times New Roman" pitchFamily="18" charset="0"/>
                        </a:rPr>
                        <a:t>Srikakulam</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255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808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243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1,001</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886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2,938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257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3,195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12.52</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12272">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Guntur</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574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3,089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1,578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1,923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775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7,365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257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7,622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13.27</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12272">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Kadapa</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494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1,416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1,713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1,775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647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5,551</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341</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5,892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11.92</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12272">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Madras</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305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358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789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3,056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313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4,516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143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4,659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15.27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12272">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Madura</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844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1,186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1,119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7,247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2,977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12,529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1,147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13,676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16.20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12272">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Malabar</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759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2,230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3,697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2,756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8,767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3,196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11,963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15.76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12272">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Masulipatanam</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434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1,693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1,108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1,506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470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4,777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275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5,052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11.64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12272">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Nellore</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804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2,466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1,641</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2,407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432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6,946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617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7,563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9.40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12272">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Rajmundry</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291</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904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653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466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546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2,569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52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2,621</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9.00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12272">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Selam</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386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783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324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1,674</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1,382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4,163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432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4,595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11.90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424543">
                <a:tc>
                  <a:txBody>
                    <a:bodyPr/>
                    <a:lstStyle/>
                    <a:p>
                      <a:pPr algn="just">
                        <a:lnSpc>
                          <a:spcPct val="115000"/>
                        </a:lnSpc>
                        <a:spcAft>
                          <a:spcPts val="0"/>
                        </a:spcAft>
                      </a:pPr>
                      <a:r>
                        <a:rPr lang="en-US" sz="1200" b="1" dirty="0" err="1">
                          <a:solidFill>
                            <a:schemeClr val="tx1"/>
                          </a:solidFill>
                          <a:latin typeface="Times New Roman" pitchFamily="18" charset="0"/>
                          <a:ea typeface="Calibri"/>
                          <a:cs typeface="Times New Roman" pitchFamily="18" charset="0"/>
                        </a:rPr>
                        <a:t>Srirangapatanam</a:t>
                      </a:r>
                      <a:r>
                        <a:rPr lang="en-US" sz="1200" b="1" dirty="0">
                          <a:solidFill>
                            <a:schemeClr val="tx1"/>
                          </a:solidFill>
                          <a:latin typeface="Times New Roman" pitchFamily="18" charset="0"/>
                          <a:ea typeface="Calibri"/>
                          <a:cs typeface="Times New Roman" pitchFamily="18" charset="0"/>
                        </a:rPr>
                        <a:t> and </a:t>
                      </a:r>
                      <a:r>
                        <a:rPr lang="en-US" sz="1200" b="1" dirty="0" err="1">
                          <a:solidFill>
                            <a:schemeClr val="tx1"/>
                          </a:solidFill>
                          <a:latin typeface="Times New Roman" pitchFamily="18" charset="0"/>
                          <a:ea typeface="Calibri"/>
                          <a:cs typeface="Times New Roman" pitchFamily="18" charset="0"/>
                        </a:rPr>
                        <a:t>Ganjam</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41</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48</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23</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298</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158</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527</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86</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613</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solidFill>
                            <a:schemeClr val="tx1"/>
                          </a:solidFill>
                          <a:latin typeface="Times New Roman" pitchFamily="18" charset="0"/>
                          <a:ea typeface="Calibri"/>
                          <a:cs typeface="Times New Roman" pitchFamily="18" charset="0"/>
                        </a:rPr>
                        <a:t>14.95</a:t>
                      </a:r>
                      <a:endParaRPr lang="en-US" sz="1200" b="1" dirty="0">
                        <a:solidFill>
                          <a:schemeClr val="tx1"/>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424543">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Tanjore</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884</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3,180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222 + </a:t>
                      </a:r>
                      <a:r>
                        <a:rPr lang="en-US" sz="1200" b="1" dirty="0">
                          <a:solidFill>
                            <a:srgbClr val="FF0000"/>
                          </a:solidFill>
                          <a:latin typeface="Times New Roman" pitchFamily="18" charset="0"/>
                          <a:ea typeface="Calibri"/>
                          <a:cs typeface="Times New Roman" pitchFamily="18" charset="0"/>
                        </a:rPr>
                        <a:t>369</a:t>
                      </a:r>
                      <a:r>
                        <a:rPr lang="en-US" sz="1200" b="1" baseline="0" dirty="0">
                          <a:latin typeface="Times New Roman" pitchFamily="18" charset="0"/>
                          <a:ea typeface="Calibri"/>
                          <a:cs typeface="Times New Roman" pitchFamily="18" charset="0"/>
                        </a:rPr>
                        <a:t> </a:t>
                      </a:r>
                      <a:r>
                        <a:rPr lang="en-US" sz="1200" b="1" baseline="0" dirty="0">
                          <a:solidFill>
                            <a:srgbClr val="FF0000"/>
                          </a:solidFill>
                          <a:latin typeface="Times New Roman" pitchFamily="18" charset="0"/>
                          <a:ea typeface="Calibri"/>
                          <a:cs typeface="Times New Roman" pitchFamily="18" charset="0"/>
                        </a:rPr>
                        <a:t>K</a:t>
                      </a:r>
                      <a:endParaRPr lang="en-US" sz="1200" b="1" dirty="0">
                        <a:solidFill>
                          <a:srgbClr val="FF0000"/>
                        </a:solidFill>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10,661</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2429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16,861</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933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17,794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20.12</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r h="212272">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Tinnevelly</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607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2,016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2,889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3,557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8,462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796</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9,258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15.25</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212272">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Tiruchirapalli</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790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1,198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229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7,745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329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9,501</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690</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10,191</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12.90</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12272">
                <a:tc>
                  <a:txBody>
                    <a:bodyPr/>
                    <a:lstStyle/>
                    <a:p>
                      <a:pPr algn="just">
                        <a:lnSpc>
                          <a:spcPct val="115000"/>
                        </a:lnSpc>
                        <a:spcAft>
                          <a:spcPts val="0"/>
                        </a:spcAft>
                      </a:pPr>
                      <a:r>
                        <a:rPr lang="en-US" sz="1200" b="1" dirty="0" err="1">
                          <a:latin typeface="Times New Roman" pitchFamily="18" charset="0"/>
                          <a:ea typeface="Calibri"/>
                          <a:cs typeface="Times New Roman" pitchFamily="18" charset="0"/>
                        </a:rPr>
                        <a:t>Vishakapattanam</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914</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4,448</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983</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1,999</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1,885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9,315</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97</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pitchFamily="18" charset="0"/>
                          <a:ea typeface="Calibri"/>
                          <a:cs typeface="Times New Roman" pitchFamily="18" charset="0"/>
                        </a:rPr>
                        <a:t>9,412</a:t>
                      </a:r>
                      <a:endParaRPr lang="en-US" sz="1200" b="1">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10.29</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r h="212272">
                <a:tc>
                  <a:txBody>
                    <a:bodyPr/>
                    <a:lstStyle/>
                    <a:p>
                      <a:pPr algn="just">
                        <a:lnSpc>
                          <a:spcPct val="115000"/>
                        </a:lnSpc>
                        <a:spcAft>
                          <a:spcPts val="0"/>
                        </a:spcAft>
                      </a:pPr>
                      <a:r>
                        <a:rPr lang="en-US" sz="1200" b="1" dirty="0">
                          <a:latin typeface="Times New Roman" pitchFamily="18" charset="0"/>
                          <a:ea typeface="Calibri"/>
                          <a:cs typeface="Times New Roman" pitchFamily="18" charset="0"/>
                        </a:rPr>
                        <a:t>Total</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highlight>
                            <a:srgbClr val="FFFF00"/>
                          </a:highlight>
                          <a:latin typeface="Times New Roman" pitchFamily="18" charset="0"/>
                          <a:ea typeface="Calibri"/>
                          <a:cs typeface="Times New Roman" pitchFamily="18" charset="0"/>
                        </a:rPr>
                        <a:t>11,691</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highlight>
                            <a:srgbClr val="FFFF00"/>
                          </a:highlight>
                          <a:latin typeface="Times New Roman" pitchFamily="18" charset="0"/>
                          <a:ea typeface="Calibri"/>
                          <a:cs typeface="Times New Roman" pitchFamily="18" charset="0"/>
                        </a:rPr>
                        <a:t>30,479</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highlight>
                            <a:srgbClr val="FFFF00"/>
                          </a:highlight>
                          <a:latin typeface="Times New Roman" pitchFamily="18" charset="0"/>
                          <a:ea typeface="Calibri"/>
                          <a:cs typeface="Times New Roman" pitchFamily="18" charset="0"/>
                        </a:rPr>
                        <a:t>13,772</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highlight>
                            <a:srgbClr val="FFFF00"/>
                          </a:highlight>
                          <a:latin typeface="Times New Roman" pitchFamily="18" charset="0"/>
                          <a:ea typeface="Calibri"/>
                          <a:cs typeface="Times New Roman" pitchFamily="18" charset="0"/>
                        </a:rPr>
                        <a:t>75,324</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highlight>
                            <a:srgbClr val="FFFF00"/>
                          </a:highlight>
                          <a:latin typeface="Times New Roman" pitchFamily="18" charset="0"/>
                          <a:ea typeface="Calibri"/>
                          <a:cs typeface="Times New Roman" pitchFamily="18" charset="0"/>
                        </a:rPr>
                        <a:t>22,794</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highlight>
                            <a:srgbClr val="FFFF00"/>
                          </a:highlight>
                          <a:latin typeface="Times New Roman" pitchFamily="18" charset="0"/>
                          <a:ea typeface="Calibri"/>
                          <a:cs typeface="Times New Roman" pitchFamily="18" charset="0"/>
                        </a:rPr>
                        <a:t>142,369</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highlight>
                            <a:srgbClr val="FFFF00"/>
                          </a:highlight>
                          <a:latin typeface="Times New Roman" pitchFamily="18" charset="0"/>
                          <a:ea typeface="Calibri"/>
                          <a:cs typeface="Times New Roman" pitchFamily="18" charset="0"/>
                        </a:rPr>
                        <a:t>10,864</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highlight>
                            <a:srgbClr val="FFFF00"/>
                          </a:highlight>
                          <a:latin typeface="Times New Roman" pitchFamily="18" charset="0"/>
                          <a:ea typeface="Calibri"/>
                          <a:cs typeface="Times New Roman" pitchFamily="18" charset="0"/>
                        </a:rPr>
                        <a:t>153,233</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dirty="0">
                          <a:highlight>
                            <a:srgbClr val="FFFF00"/>
                          </a:highlight>
                          <a:latin typeface="Times New Roman" pitchFamily="18" charset="0"/>
                          <a:ea typeface="Calibri"/>
                          <a:cs typeface="Times New Roman" pitchFamily="18" charset="0"/>
                        </a:rPr>
                        <a:t>13.10</a:t>
                      </a:r>
                      <a:endParaRPr lang="en-US" sz="1200" b="1" dirty="0">
                        <a:latin typeface="Times New Roman" pitchFamily="18" charset="0"/>
                        <a:ea typeface="Times New Roman"/>
                        <a:cs typeface="Times New Roman" pitchFamily="18" charset="0"/>
                      </a:endParaRPr>
                    </a:p>
                  </a:txBody>
                  <a:tcPr marL="56795" marR="5679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1"/>
                  </a:ext>
                </a:extLst>
              </a:tr>
            </a:tbl>
          </a:graphicData>
        </a:graphic>
      </p:graphicFrame>
      <p:sp>
        <p:nvSpPr>
          <p:cNvPr id="16387" name="Rectangle 1">
            <a:extLst>
              <a:ext uri="{FF2B5EF4-FFF2-40B4-BE49-F238E27FC236}">
                <a16:creationId xmlns:a16="http://schemas.microsoft.com/office/drawing/2014/main" id="{25E52CAF-50AE-BC0A-7A12-A9C15CCC05BC}"/>
              </a:ext>
            </a:extLst>
          </p:cNvPr>
          <p:cNvSpPr>
            <a:spLocks noChangeArrowheads="1"/>
          </p:cNvSpPr>
          <p:nvPr/>
        </p:nvSpPr>
        <p:spPr bwMode="auto">
          <a:xfrm>
            <a:off x="1524001" y="-33338"/>
            <a:ext cx="8799513" cy="52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sz="2800">
                <a:solidFill>
                  <a:srgbClr val="FF0000"/>
                </a:solidFill>
                <a:latin typeface="Calibri" panose="020F0502020204030204" pitchFamily="34" charset="0"/>
                <a:cs typeface="Times New Roman" panose="02020603050405020304" pitchFamily="18" charset="0"/>
              </a:rPr>
              <a:t>Number of Schools and Students in the Madras Presidency </a:t>
            </a:r>
            <a:endParaRPr lang="en-US" altLang="en-US" sz="280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6D784A1F-64A5-BEC8-6754-CF2CA118DF64}"/>
              </a:ext>
            </a:extLst>
          </p:cNvPr>
          <p:cNvSpPr>
            <a:spLocks noGrp="1"/>
          </p:cNvSpPr>
          <p:nvPr>
            <p:ph type="title"/>
          </p:nvPr>
        </p:nvSpPr>
        <p:spPr/>
        <p:txBody>
          <a:bodyPr/>
          <a:lstStyle/>
          <a:p>
            <a:pPr eaLnBrk="1" hangingPunct="1"/>
            <a:r>
              <a:rPr lang="en-US" altLang="en-US">
                <a:solidFill>
                  <a:srgbClr val="0070C0"/>
                </a:solidFill>
              </a:rPr>
              <a:t>NWP/UP 1851</a:t>
            </a:r>
          </a:p>
        </p:txBody>
      </p:sp>
      <p:sp>
        <p:nvSpPr>
          <p:cNvPr id="17411" name="Content Placeholder 2">
            <a:extLst>
              <a:ext uri="{FF2B5EF4-FFF2-40B4-BE49-F238E27FC236}">
                <a16:creationId xmlns:a16="http://schemas.microsoft.com/office/drawing/2014/main" id="{7716F1A3-6BF5-893E-A485-3ADC82B88E49}"/>
              </a:ext>
            </a:extLst>
          </p:cNvPr>
          <p:cNvSpPr>
            <a:spLocks noGrp="1"/>
          </p:cNvSpPr>
          <p:nvPr>
            <p:ph idx="1"/>
          </p:nvPr>
        </p:nvSpPr>
        <p:spPr/>
        <p:txBody>
          <a:bodyPr>
            <a:normAutofit fontScale="85000" lnSpcReduction="20000"/>
          </a:bodyPr>
          <a:lstStyle/>
          <a:p>
            <a:pPr eaLnBrk="1" hangingPunct="1"/>
            <a:r>
              <a:rPr lang="en-GB" altLang="en-US" sz="2300"/>
              <a:t>British adm - 8 districts-Agra, Aligarh, Bareli, Etawah, Farrukabad, Mainpuri, Mathura and Shahjahanpur. </a:t>
            </a:r>
          </a:p>
          <a:p>
            <a:pPr eaLnBrk="1" hangingPunct="1"/>
            <a:r>
              <a:rPr lang="en-GB" altLang="en-US" sz="2300"/>
              <a:t>Mughal Emperor, the Nawab of Awadh, Rampur etc</a:t>
            </a:r>
          </a:p>
          <a:p>
            <a:pPr eaLnBrk="1" hangingPunct="1"/>
            <a:r>
              <a:rPr lang="en-GB" altLang="en-US" sz="2300"/>
              <a:t>These eight districts had 50 towns and 14,987 villages. </a:t>
            </a:r>
          </a:p>
          <a:p>
            <a:pPr eaLnBrk="1" hangingPunct="1"/>
            <a:r>
              <a:rPr lang="en-GB" altLang="en-US" sz="2300"/>
              <a:t>1,039 schools in these 50 towns, and 1,967 schools were scattered among 1,535 villages. Together they had 27,853 boys. </a:t>
            </a:r>
          </a:p>
          <a:p>
            <a:pPr eaLnBrk="1" hangingPunct="1"/>
            <a:r>
              <a:rPr lang="en-GB" altLang="en-US" sz="2300"/>
              <a:t>There were no schools in the remaining 12,987 villages.</a:t>
            </a:r>
          </a:p>
          <a:p>
            <a:pPr eaLnBrk="1" hangingPunct="1"/>
            <a:r>
              <a:rPr lang="en-GB" altLang="en-US" sz="2300"/>
              <a:t>Of the 21,342 Hindu boys, 6,614 were Brahmins, 10,429 non-Brahmin upper castes and 4,299 lower caste boys. </a:t>
            </a:r>
          </a:p>
          <a:p>
            <a:pPr eaLnBrk="1" hangingPunct="1"/>
            <a:r>
              <a:rPr lang="en-GB" altLang="en-US" sz="2300"/>
              <a:t>There were 5,491 Muslim students. </a:t>
            </a:r>
          </a:p>
          <a:p>
            <a:pPr eaLnBrk="1" hangingPunct="1"/>
            <a:r>
              <a:rPr lang="en-GB" altLang="en-US" sz="2400"/>
              <a:t>The Hindu teachers - 46.4% Kayasthas, 43.9 % Brahmin, 1.7 % Rajput, 1.8% Bania, and 6% artisanal castes.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5D952-95B6-9D16-22DA-7EF06243B11B}"/>
              </a:ext>
            </a:extLst>
          </p:cNvPr>
          <p:cNvSpPr>
            <a:spLocks noGrp="1"/>
          </p:cNvSpPr>
          <p:nvPr>
            <p:ph type="title"/>
          </p:nvPr>
        </p:nvSpPr>
        <p:spPr/>
        <p:txBody>
          <a:bodyPr rtlCol="0">
            <a:normAutofit/>
          </a:bodyPr>
          <a:lstStyle/>
          <a:p>
            <a:pPr>
              <a:defRPr/>
            </a:pPr>
            <a:r>
              <a:rPr lang="en-IN" b="1" dirty="0">
                <a:solidFill>
                  <a:srgbClr val="0070C0"/>
                </a:solidFill>
              </a:rPr>
              <a:t>All India Pattern Vernacular Schools</a:t>
            </a:r>
            <a:endParaRPr lang="en-GB" b="1" dirty="0">
              <a:solidFill>
                <a:srgbClr val="0070C0"/>
              </a:solidFill>
            </a:endParaRPr>
          </a:p>
        </p:txBody>
      </p:sp>
      <p:sp>
        <p:nvSpPr>
          <p:cNvPr id="18435" name="Content Placeholder 2">
            <a:extLst>
              <a:ext uri="{FF2B5EF4-FFF2-40B4-BE49-F238E27FC236}">
                <a16:creationId xmlns:a16="http://schemas.microsoft.com/office/drawing/2014/main" id="{AC68629B-A812-408C-CF4F-479473126891}"/>
              </a:ext>
            </a:extLst>
          </p:cNvPr>
          <p:cNvSpPr>
            <a:spLocks noGrp="1"/>
          </p:cNvSpPr>
          <p:nvPr>
            <p:ph idx="1"/>
          </p:nvPr>
        </p:nvSpPr>
        <p:spPr/>
        <p:txBody>
          <a:bodyPr>
            <a:normAutofit fontScale="92500" lnSpcReduction="20000"/>
          </a:bodyPr>
          <a:lstStyle/>
          <a:p>
            <a:pPr eaLnBrk="1" hangingPunct="1"/>
            <a:r>
              <a:rPr lang="en-IN" altLang="en-US" sz="2400"/>
              <a:t>Vernacular Schools – 70-75% non-Brahmin students and teachers/ more than 35% were from artisanal caste/ OBC</a:t>
            </a:r>
          </a:p>
          <a:p>
            <a:pPr eaLnBrk="1" hangingPunct="1"/>
            <a:r>
              <a:rPr lang="en-IN" altLang="en-US" sz="2400"/>
              <a:t>Majority of teachers-Kayasth, Baidya, Lingayat, Pillai castes</a:t>
            </a:r>
          </a:p>
          <a:p>
            <a:pPr eaLnBrk="1" hangingPunct="1"/>
            <a:r>
              <a:rPr lang="en-IN" altLang="en-US" sz="2400"/>
              <a:t>Andhra and Gujarat majority of teachers were Brahmins</a:t>
            </a:r>
          </a:p>
          <a:p>
            <a:pPr eaLnBrk="1" hangingPunct="1"/>
            <a:r>
              <a:rPr lang="en-IN" altLang="en-US" sz="2400"/>
              <a:t>Brahmin students studying under non-Brahmin teachers was common. </a:t>
            </a:r>
            <a:r>
              <a:rPr lang="en-IN" altLang="en-US" sz="2400">
                <a:solidFill>
                  <a:srgbClr val="FF0000"/>
                </a:solidFill>
              </a:rPr>
              <a:t>Teaching was not hereditary occupation</a:t>
            </a:r>
          </a:p>
          <a:p>
            <a:pPr eaLnBrk="1" hangingPunct="1"/>
            <a:r>
              <a:rPr lang="en-IN" altLang="en-US" sz="2400"/>
              <a:t>Schools were conducted in Temples, Sheds, and houses of rich persons/ No dedicated school buildings</a:t>
            </a:r>
          </a:p>
          <a:p>
            <a:pPr eaLnBrk="1" hangingPunct="1"/>
            <a:r>
              <a:rPr lang="en-IN" altLang="en-US" sz="2400"/>
              <a:t>Average number of students per school normally varied  between 8 - 25/ Konkan 2/ Kaira 150</a:t>
            </a:r>
          </a:p>
          <a:p>
            <a:pPr eaLnBrk="1" hangingPunct="1"/>
            <a:r>
              <a:rPr lang="en-US" altLang="en-US" sz="2400"/>
              <a:t>In South India, many indigenous schools had girls-3,344 Hindu and 1,240 Muslim girls - co-education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AF6D73F4-6A17-163D-5002-C320650824E7}"/>
              </a:ext>
            </a:extLst>
          </p:cNvPr>
          <p:cNvSpPr>
            <a:spLocks noGrp="1"/>
          </p:cNvSpPr>
          <p:nvPr>
            <p:ph type="title"/>
          </p:nvPr>
        </p:nvSpPr>
        <p:spPr/>
        <p:txBody>
          <a:bodyPr/>
          <a:lstStyle/>
          <a:p>
            <a:pPr eaLnBrk="1" hangingPunct="1"/>
            <a:r>
              <a:rPr lang="en-IN" altLang="en-US" b="1">
                <a:solidFill>
                  <a:srgbClr val="0070C0"/>
                </a:solidFill>
              </a:rPr>
              <a:t>School timings</a:t>
            </a:r>
            <a:endParaRPr lang="en-US" altLang="en-US" b="1">
              <a:solidFill>
                <a:srgbClr val="0070C0"/>
              </a:solidFill>
            </a:endParaRPr>
          </a:p>
        </p:txBody>
      </p:sp>
      <p:sp>
        <p:nvSpPr>
          <p:cNvPr id="19459" name="Content Placeholder 2">
            <a:extLst>
              <a:ext uri="{FF2B5EF4-FFF2-40B4-BE49-F238E27FC236}">
                <a16:creationId xmlns:a16="http://schemas.microsoft.com/office/drawing/2014/main" id="{E3829FFE-5563-7E52-215E-F1A23A33F624}"/>
              </a:ext>
            </a:extLst>
          </p:cNvPr>
          <p:cNvSpPr>
            <a:spLocks noGrp="1"/>
          </p:cNvSpPr>
          <p:nvPr>
            <p:ph idx="1"/>
          </p:nvPr>
        </p:nvSpPr>
        <p:spPr/>
        <p:txBody>
          <a:bodyPr>
            <a:normAutofit/>
          </a:bodyPr>
          <a:lstStyle/>
          <a:p>
            <a:pPr eaLnBrk="1" hangingPunct="1"/>
            <a:r>
              <a:rPr lang="en-IN" altLang="en-US" sz="2600"/>
              <a:t>Schools worked for 12 hours, there were 2 breaks for morning and afternoon meals</a:t>
            </a:r>
          </a:p>
          <a:p>
            <a:pPr eaLnBrk="1" hangingPunct="1"/>
            <a:r>
              <a:rPr lang="en-IN" altLang="en-US" sz="2600"/>
              <a:t>The first session sunrise – 5/6 am till 9/10 am/ 1 hour break</a:t>
            </a:r>
          </a:p>
          <a:p>
            <a:pPr eaLnBrk="1" hangingPunct="1"/>
            <a:r>
              <a:rPr lang="en-IN" altLang="en-US" sz="2600"/>
              <a:t>The second session before 11 am to 2/3 pm/ 1 hour break </a:t>
            </a:r>
          </a:p>
          <a:p>
            <a:pPr eaLnBrk="1" hangingPunct="1"/>
            <a:r>
              <a:rPr lang="en-IN" altLang="en-US" sz="2600"/>
              <a:t>The third session before 3/4 pm to 6/7 / oil lamps</a:t>
            </a:r>
          </a:p>
          <a:p>
            <a:pPr eaLnBrk="1" hangingPunct="1"/>
            <a:r>
              <a:rPr lang="en-IN" altLang="en-US" sz="2600"/>
              <a:t>The schools functioned on the basis of lunar month of 30 days</a:t>
            </a:r>
          </a:p>
          <a:p>
            <a:pPr eaLnBrk="1" hangingPunct="1"/>
            <a:r>
              <a:rPr lang="en-IN" altLang="en-US" sz="2600"/>
              <a:t>The schools had holidays on Full moon, New moon, Ekadasi, Dwadashi  as well as all important festivals Sankranti/Pongal, Ugadi, Deepavali</a:t>
            </a:r>
          </a:p>
          <a:p>
            <a:pPr eaLnBrk="1" hangingPunct="1">
              <a:buFont typeface="Arial" panose="020B0604020202020204" pitchFamily="34" charset="0"/>
              <a:buNone/>
            </a:pPr>
            <a:endParaRPr lang="en-IN" altLang="en-US" sz="2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ED8B239C-65DE-0FAD-A3E5-D591E40A023E}"/>
              </a:ext>
            </a:extLst>
          </p:cNvPr>
          <p:cNvSpPr>
            <a:spLocks noGrp="1"/>
          </p:cNvSpPr>
          <p:nvPr>
            <p:ph type="title"/>
          </p:nvPr>
        </p:nvSpPr>
        <p:spPr/>
        <p:txBody>
          <a:bodyPr/>
          <a:lstStyle/>
          <a:p>
            <a:pPr eaLnBrk="1" hangingPunct="1"/>
            <a:r>
              <a:rPr lang="en-IN" altLang="en-US" b="1">
                <a:solidFill>
                  <a:srgbClr val="0070C0"/>
                </a:solidFill>
              </a:rPr>
              <a:t>Curriculum</a:t>
            </a:r>
            <a:endParaRPr lang="en-GB" altLang="en-US" b="1">
              <a:solidFill>
                <a:srgbClr val="0070C0"/>
              </a:solidFill>
            </a:endParaRPr>
          </a:p>
        </p:txBody>
      </p:sp>
      <p:sp>
        <p:nvSpPr>
          <p:cNvPr id="20483" name="Content Placeholder 2">
            <a:extLst>
              <a:ext uri="{FF2B5EF4-FFF2-40B4-BE49-F238E27FC236}">
                <a16:creationId xmlns:a16="http://schemas.microsoft.com/office/drawing/2014/main" id="{C2FE37F2-B114-73D3-3C41-5BB65DA43C19}"/>
              </a:ext>
            </a:extLst>
          </p:cNvPr>
          <p:cNvSpPr>
            <a:spLocks noGrp="1"/>
          </p:cNvSpPr>
          <p:nvPr>
            <p:ph idx="1"/>
          </p:nvPr>
        </p:nvSpPr>
        <p:spPr/>
        <p:txBody>
          <a:bodyPr>
            <a:normAutofit fontScale="92500" lnSpcReduction="10000"/>
          </a:bodyPr>
          <a:lstStyle/>
          <a:p>
            <a:pPr eaLnBrk="1" hangingPunct="1"/>
            <a:r>
              <a:rPr lang="en-IN" altLang="en-US" sz="2300"/>
              <a:t>Books – Vernacular translations of </a:t>
            </a:r>
            <a:r>
              <a:rPr lang="en-IN" altLang="en-US" sz="2300" i="1">
                <a:solidFill>
                  <a:srgbClr val="FF0000"/>
                </a:solidFill>
              </a:rPr>
              <a:t>Ramayana, Mahabharata</a:t>
            </a:r>
            <a:r>
              <a:rPr lang="en-IN" altLang="en-US" sz="2300">
                <a:solidFill>
                  <a:srgbClr val="FF0000"/>
                </a:solidFill>
              </a:rPr>
              <a:t>, </a:t>
            </a:r>
            <a:r>
              <a:rPr lang="en-GB" altLang="en-US" sz="2300" i="1">
                <a:solidFill>
                  <a:srgbClr val="FF0000"/>
                </a:solidFill>
              </a:rPr>
              <a:t>Amara Kosha</a:t>
            </a:r>
            <a:r>
              <a:rPr lang="en-GB" altLang="en-US" sz="2300">
                <a:solidFill>
                  <a:srgbClr val="FF0000"/>
                </a:solidFill>
              </a:rPr>
              <a:t>, </a:t>
            </a:r>
            <a:r>
              <a:rPr lang="en-GB" altLang="en-US" sz="2300" i="1">
                <a:solidFill>
                  <a:srgbClr val="FF0000"/>
                </a:solidFill>
              </a:rPr>
              <a:t>Pancha Tantra, Hitopadesa- </a:t>
            </a:r>
            <a:r>
              <a:rPr lang="en-GB" altLang="en-US" sz="2300"/>
              <a:t>Manuscripts</a:t>
            </a:r>
          </a:p>
          <a:p>
            <a:pPr eaLnBrk="1" hangingPunct="1"/>
            <a:r>
              <a:rPr lang="en-GB" altLang="en-US" sz="2300"/>
              <a:t>Bombay </a:t>
            </a:r>
            <a:r>
              <a:rPr lang="en-GB" altLang="en-US" sz="2300" i="1"/>
              <a:t>Punchopaikyan</a:t>
            </a:r>
            <a:r>
              <a:rPr lang="en-GB" altLang="en-US" sz="2300"/>
              <a:t> and </a:t>
            </a:r>
            <a:r>
              <a:rPr lang="en-GB" altLang="en-US" sz="2300" i="1"/>
              <a:t>Vidhurniti</a:t>
            </a:r>
            <a:r>
              <a:rPr lang="en-GB" altLang="en-US" sz="2300"/>
              <a:t> were taught in Marathi schools,</a:t>
            </a:r>
          </a:p>
          <a:p>
            <a:pPr eaLnBrk="1" hangingPunct="1"/>
            <a:r>
              <a:rPr lang="en-GB" altLang="en-US" sz="2300"/>
              <a:t>Karnataka, </a:t>
            </a:r>
            <a:r>
              <a:rPr lang="en-GB" altLang="en-US" sz="2300" i="1"/>
              <a:t>Someshwara Shataka</a:t>
            </a:r>
            <a:r>
              <a:rPr lang="en-GB" altLang="en-US" sz="2300"/>
              <a:t>, </a:t>
            </a:r>
            <a:r>
              <a:rPr lang="en-GB" altLang="en-US" sz="2300" i="1"/>
              <a:t>Jaimini Bharata</a:t>
            </a:r>
          </a:p>
          <a:p>
            <a:pPr eaLnBrk="1" hangingPunct="1"/>
            <a:r>
              <a:rPr lang="en-GB" altLang="en-US" sz="2300" i="1"/>
              <a:t>Madras Tirukural</a:t>
            </a:r>
          </a:p>
          <a:p>
            <a:pPr eaLnBrk="1" hangingPunct="1"/>
            <a:r>
              <a:rPr lang="en-GB" altLang="en-US" sz="2400"/>
              <a:t>‘Composition, grammar, literature, deciphering various handwritings, writing common letters, drawing up forms of agreements, </a:t>
            </a:r>
            <a:r>
              <a:rPr lang="en-GB" altLang="en-US" sz="2400">
                <a:solidFill>
                  <a:srgbClr val="FF0000"/>
                </a:solidFill>
              </a:rPr>
              <a:t>writing petitions</a:t>
            </a:r>
            <a:r>
              <a:rPr lang="en-GB" altLang="en-US" sz="2300" i="1">
                <a:solidFill>
                  <a:srgbClr val="FF0000"/>
                </a:solidFill>
              </a:rPr>
              <a:t>/ </a:t>
            </a:r>
            <a:endParaRPr lang="en-GB" altLang="en-US" sz="2300">
              <a:solidFill>
                <a:srgbClr val="FF0000"/>
              </a:solidFill>
            </a:endParaRPr>
          </a:p>
          <a:p>
            <a:pPr eaLnBrk="1" hangingPunct="1"/>
            <a:r>
              <a:rPr lang="en-IN" altLang="en-US" sz="2300">
                <a:solidFill>
                  <a:srgbClr val="FF0000"/>
                </a:solidFill>
              </a:rPr>
              <a:t>Arithmetic up to long division, </a:t>
            </a:r>
            <a:r>
              <a:rPr lang="en-GB" altLang="en-US" sz="2300">
                <a:solidFill>
                  <a:srgbClr val="FF0000"/>
                </a:solidFill>
              </a:rPr>
              <a:t>- ‘cast up accounts and to draw out bill of exchange’, multiplication tables, village accounts </a:t>
            </a:r>
          </a:p>
          <a:p>
            <a:pPr eaLnBrk="1" hangingPunct="1"/>
            <a:r>
              <a:rPr lang="en-IN" altLang="en-US" sz="2300"/>
              <a:t>Gujarat- Arithmetic first</a:t>
            </a:r>
          </a:p>
          <a:p>
            <a:pPr eaLnBrk="1" hangingPunct="1"/>
            <a:endParaRPr lang="en-GB" altLang="en-US" sz="2300">
              <a:solidFill>
                <a:srgbClr val="FF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47B4C17F-F636-7510-0E75-1FE6144F157B}"/>
              </a:ext>
            </a:extLst>
          </p:cNvPr>
          <p:cNvSpPr>
            <a:spLocks noGrp="1"/>
          </p:cNvSpPr>
          <p:nvPr>
            <p:ph type="title"/>
          </p:nvPr>
        </p:nvSpPr>
        <p:spPr/>
        <p:txBody>
          <a:bodyPr/>
          <a:lstStyle/>
          <a:p>
            <a:pPr eaLnBrk="1" hangingPunct="1"/>
            <a:r>
              <a:rPr lang="en-US" altLang="en-US" dirty="0"/>
              <a:t>WRITING IN SCHOOLS</a:t>
            </a:r>
          </a:p>
        </p:txBody>
      </p:sp>
      <p:sp>
        <p:nvSpPr>
          <p:cNvPr id="21507" name="Content Placeholder 2">
            <a:extLst>
              <a:ext uri="{FF2B5EF4-FFF2-40B4-BE49-F238E27FC236}">
                <a16:creationId xmlns:a16="http://schemas.microsoft.com/office/drawing/2014/main" id="{ECA4A743-BB11-B392-832D-AD397550E88B}"/>
              </a:ext>
            </a:extLst>
          </p:cNvPr>
          <p:cNvSpPr>
            <a:spLocks noGrp="1"/>
          </p:cNvSpPr>
          <p:nvPr>
            <p:ph idx="1"/>
          </p:nvPr>
        </p:nvSpPr>
        <p:spPr/>
        <p:txBody>
          <a:bodyPr>
            <a:normAutofit fontScale="92500" lnSpcReduction="10000"/>
          </a:bodyPr>
          <a:lstStyle/>
          <a:p>
            <a:pPr eaLnBrk="1" hangingPunct="1"/>
            <a:r>
              <a:rPr lang="en-IN" altLang="en-US" sz="2300"/>
              <a:t>Writing was taught on the very first day at school</a:t>
            </a:r>
          </a:p>
          <a:p>
            <a:pPr eaLnBrk="1" hangingPunct="1"/>
            <a:r>
              <a:rPr lang="en-IN" altLang="en-US" sz="2300"/>
              <a:t>Sand boards- Plantain leaves- wooden boards- older students used hand made paper &amp; palm leaves</a:t>
            </a:r>
          </a:p>
          <a:p>
            <a:pPr eaLnBrk="1" hangingPunct="1"/>
            <a:r>
              <a:rPr lang="en-IN" altLang="en-US" sz="2300"/>
              <a:t>A thick Calico cloth was dipped in rice starch and dried. It was dipped again in charcoal solution and dried. Soap stone cut into the shape of sticks were used to write  on it.  </a:t>
            </a:r>
          </a:p>
          <a:p>
            <a:pPr eaLnBrk="1" hangingPunct="1"/>
            <a:r>
              <a:rPr lang="en-IN" altLang="en-US" sz="2300"/>
              <a:t>Punishment was severe, caning was common</a:t>
            </a:r>
          </a:p>
          <a:p>
            <a:pPr eaLnBrk="1" hangingPunct="1"/>
            <a:r>
              <a:rPr lang="en-IN" altLang="en-US" sz="2300"/>
              <a:t>Fathers visited schools and monitored the progress / Mothers enquired the teachers about the progress of their sons</a:t>
            </a:r>
          </a:p>
          <a:p>
            <a:pPr eaLnBrk="1" hangingPunct="1"/>
            <a:r>
              <a:rPr lang="en-IN" altLang="en-US" sz="2300"/>
              <a:t>Children began the school 5-6 yrs/completed 13-14 yrs</a:t>
            </a:r>
          </a:p>
          <a:p>
            <a:pPr eaLnBrk="1" hangingPunct="1"/>
            <a:r>
              <a:rPr lang="en-IN" altLang="en-US" sz="2300">
                <a:solidFill>
                  <a:srgbClr val="FF0000"/>
                </a:solidFill>
              </a:rPr>
              <a:t>Nobody failed, Bright children took 4 years, average children 6 years, below average 8 years to complete the course of instruction.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Content Placeholder 3" descr="Palm leaf ms.jpg">
            <a:extLst>
              <a:ext uri="{FF2B5EF4-FFF2-40B4-BE49-F238E27FC236}">
                <a16:creationId xmlns:a16="http://schemas.microsoft.com/office/drawing/2014/main" id="{C81ABBDB-1EBA-FEF2-EA18-3354D2F6B84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81001"/>
            <a:ext cx="8077200" cy="5745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3BE80D19-BE0C-7AE1-D973-A2714DA4055B}"/>
              </a:ext>
            </a:extLst>
          </p:cNvPr>
          <p:cNvSpPr>
            <a:spLocks noGrp="1"/>
          </p:cNvSpPr>
          <p:nvPr>
            <p:ph type="title"/>
          </p:nvPr>
        </p:nvSpPr>
        <p:spPr/>
        <p:txBody>
          <a:bodyPr/>
          <a:lstStyle/>
          <a:p>
            <a:pPr eaLnBrk="1" hangingPunct="1"/>
            <a:r>
              <a:rPr lang="en-GB" altLang="en-US"/>
              <a:t>Soap stone sticks Batti/Balapa/Khadi </a:t>
            </a:r>
          </a:p>
        </p:txBody>
      </p:sp>
      <p:pic>
        <p:nvPicPr>
          <p:cNvPr id="23555" name="Picture 2">
            <a:extLst>
              <a:ext uri="{FF2B5EF4-FFF2-40B4-BE49-F238E27FC236}">
                <a16:creationId xmlns:a16="http://schemas.microsoft.com/office/drawing/2014/main" id="{470F66D1-D458-BB6B-3497-FC87722A976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3502819" y="2530475"/>
            <a:ext cx="4762500" cy="3533775"/>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a:extLst>
              <a:ext uri="{FF2B5EF4-FFF2-40B4-BE49-F238E27FC236}">
                <a16:creationId xmlns:a16="http://schemas.microsoft.com/office/drawing/2014/main" id="{8A577F14-A631-813F-6C77-6558BD6507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52400"/>
            <a:ext cx="8610600" cy="624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28FF5306-E6B0-39BE-1C66-74823E9D136E}"/>
              </a:ext>
            </a:extLst>
          </p:cNvPr>
          <p:cNvSpPr>
            <a:spLocks noGrp="1"/>
          </p:cNvSpPr>
          <p:nvPr>
            <p:ph type="title"/>
          </p:nvPr>
        </p:nvSpPr>
        <p:spPr/>
        <p:txBody>
          <a:bodyPr/>
          <a:lstStyle/>
          <a:p>
            <a:pPr eaLnBrk="1" hangingPunct="1"/>
            <a:endParaRPr lang="en-US" altLang="en-US"/>
          </a:p>
        </p:txBody>
      </p:sp>
      <p:pic>
        <p:nvPicPr>
          <p:cNvPr id="25603" name="Content Placeholder 4" descr="Hindu school Madras 1834.jpg">
            <a:extLst>
              <a:ext uri="{FF2B5EF4-FFF2-40B4-BE49-F238E27FC236}">
                <a16:creationId xmlns:a16="http://schemas.microsoft.com/office/drawing/2014/main" id="{B34A336D-81A6-4D8D-EF61-DBB13B7DC37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05000" y="304800"/>
            <a:ext cx="8382000" cy="6172200"/>
          </a:xfr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C:\Users\parimala\AppData\Local\Packages\Microsoft.Windows.Photos_8wekyb3d8bbwe\TempState\ShareServiceTempFolder\Hindu school 2.jpeg">
            <a:extLst>
              <a:ext uri="{FF2B5EF4-FFF2-40B4-BE49-F238E27FC236}">
                <a16:creationId xmlns:a16="http://schemas.microsoft.com/office/drawing/2014/main" id="{3D715E62-440C-E3F6-30E9-787DB5148D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52400"/>
            <a:ext cx="8991600"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035DBBDC-E40E-B439-C776-ECB72A3AE7F4}"/>
              </a:ext>
            </a:extLst>
          </p:cNvPr>
          <p:cNvSpPr>
            <a:spLocks noGrp="1"/>
          </p:cNvSpPr>
          <p:nvPr>
            <p:ph type="title"/>
          </p:nvPr>
        </p:nvSpPr>
        <p:spPr/>
        <p:txBody>
          <a:bodyPr/>
          <a:lstStyle/>
          <a:p>
            <a:pPr eaLnBrk="1" hangingPunct="1"/>
            <a:r>
              <a:rPr lang="en-IN" altLang="en-US"/>
              <a:t>Income of Teachers-fee in Cash</a:t>
            </a:r>
            <a:endParaRPr lang="en-GB" altLang="en-US"/>
          </a:p>
        </p:txBody>
      </p:sp>
      <p:sp>
        <p:nvSpPr>
          <p:cNvPr id="3" name="Content Placeholder 2">
            <a:extLst>
              <a:ext uri="{FF2B5EF4-FFF2-40B4-BE49-F238E27FC236}">
                <a16:creationId xmlns:a16="http://schemas.microsoft.com/office/drawing/2014/main" id="{CDEA8840-B392-B1EE-5A9E-DC22DEDC5103}"/>
              </a:ext>
            </a:extLst>
          </p:cNvPr>
          <p:cNvSpPr>
            <a:spLocks noGrp="1"/>
          </p:cNvSpPr>
          <p:nvPr>
            <p:ph idx="1"/>
          </p:nvPr>
        </p:nvSpPr>
        <p:spPr/>
        <p:txBody>
          <a:bodyPr rtlCol="0">
            <a:normAutofit lnSpcReduction="10000"/>
          </a:bodyPr>
          <a:lstStyle/>
          <a:p>
            <a:pPr>
              <a:spcAft>
                <a:spcPts val="0"/>
              </a:spcAft>
              <a:defRPr/>
            </a:pPr>
            <a:r>
              <a:rPr lang="en-IN" dirty="0"/>
              <a:t>Students paid anywhere between 1-8 </a:t>
            </a:r>
            <a:r>
              <a:rPr lang="en-IN" dirty="0" err="1"/>
              <a:t>annas</a:t>
            </a:r>
            <a:r>
              <a:rPr lang="en-IN" dirty="0"/>
              <a:t> a month as school fee </a:t>
            </a:r>
          </a:p>
          <a:p>
            <a:pPr>
              <a:spcAft>
                <a:spcPts val="0"/>
              </a:spcAft>
              <a:defRPr/>
            </a:pPr>
            <a:r>
              <a:rPr lang="en-IN" dirty="0"/>
              <a:t>Lowest was in </a:t>
            </a:r>
            <a:r>
              <a:rPr lang="en-IN" dirty="0" err="1"/>
              <a:t>Talwandi</a:t>
            </a:r>
            <a:r>
              <a:rPr lang="en-IN" dirty="0"/>
              <a:t>  in Punjab </a:t>
            </a:r>
            <a:r>
              <a:rPr lang="en-GB" dirty="0"/>
              <a:t>1 rupee 2 </a:t>
            </a:r>
            <a:r>
              <a:rPr lang="en-GB" dirty="0" err="1"/>
              <a:t>annas</a:t>
            </a:r>
            <a:r>
              <a:rPr lang="en-GB" dirty="0"/>
              <a:t> </a:t>
            </a:r>
          </a:p>
          <a:p>
            <a:pPr>
              <a:spcAft>
                <a:spcPts val="0"/>
              </a:spcAft>
              <a:defRPr/>
            </a:pPr>
            <a:r>
              <a:rPr lang="en-US" dirty="0"/>
              <a:t>Bihar- 1 rupee 12 </a:t>
            </a:r>
            <a:r>
              <a:rPr lang="en-US" dirty="0" err="1"/>
              <a:t>anna</a:t>
            </a:r>
            <a:r>
              <a:rPr lang="en-US" dirty="0"/>
              <a:t> and 9 </a:t>
            </a:r>
            <a:r>
              <a:rPr lang="en-US" dirty="0" err="1"/>
              <a:t>pisa</a:t>
            </a:r>
            <a:r>
              <a:rPr lang="en-US" dirty="0"/>
              <a:t> a month</a:t>
            </a:r>
            <a:endParaRPr lang="en-GB" dirty="0"/>
          </a:p>
          <a:p>
            <a:pPr>
              <a:spcAft>
                <a:spcPts val="0"/>
              </a:spcAft>
              <a:defRPr/>
            </a:pPr>
            <a:r>
              <a:rPr lang="en-US" dirty="0"/>
              <a:t>In Bengal it was 3 rupees 12 </a:t>
            </a:r>
            <a:r>
              <a:rPr lang="en-US" dirty="0" err="1"/>
              <a:t>annas</a:t>
            </a:r>
            <a:r>
              <a:rPr lang="en-US" dirty="0"/>
              <a:t> 3 </a:t>
            </a:r>
            <a:r>
              <a:rPr lang="en-US" dirty="0" err="1"/>
              <a:t>pisa</a:t>
            </a:r>
            <a:r>
              <a:rPr lang="en-US" dirty="0"/>
              <a:t> per month</a:t>
            </a:r>
          </a:p>
          <a:p>
            <a:pPr>
              <a:spcAft>
                <a:spcPts val="0"/>
              </a:spcAft>
              <a:defRPr/>
            </a:pPr>
            <a:r>
              <a:rPr lang="en-GB" dirty="0"/>
              <a:t>In Bombay it was 6 rupees </a:t>
            </a:r>
          </a:p>
          <a:p>
            <a:pPr>
              <a:spcAft>
                <a:spcPts val="0"/>
              </a:spcAft>
              <a:defRPr/>
            </a:pPr>
            <a:r>
              <a:rPr lang="en-GB" dirty="0"/>
              <a:t>Lahore and </a:t>
            </a:r>
            <a:r>
              <a:rPr lang="en-GB" dirty="0" err="1"/>
              <a:t>Kasur</a:t>
            </a:r>
            <a:r>
              <a:rPr lang="en-GB" dirty="0"/>
              <a:t> 7 rupee 8 </a:t>
            </a:r>
            <a:r>
              <a:rPr lang="en-GB" dirty="0" err="1"/>
              <a:t>anna</a:t>
            </a:r>
            <a:r>
              <a:rPr lang="en-GB" dirty="0"/>
              <a:t> to 8 rupee 8 </a:t>
            </a:r>
            <a:r>
              <a:rPr lang="en-GB" dirty="0" err="1"/>
              <a:t>anna</a:t>
            </a:r>
            <a:endParaRPr lang="en-GB" dirty="0"/>
          </a:p>
          <a:p>
            <a:pPr>
              <a:spcAft>
                <a:spcPts val="0"/>
              </a:spcAft>
              <a:defRPr/>
            </a:pPr>
            <a:r>
              <a:rPr lang="en-GB" dirty="0"/>
              <a:t>South India 6-8 rupees</a:t>
            </a:r>
          </a:p>
          <a:p>
            <a:pPr>
              <a:spcAft>
                <a:spcPts val="0"/>
              </a:spcAft>
              <a:defRPr/>
            </a:pPr>
            <a:r>
              <a:rPr lang="en-IN" dirty="0"/>
              <a:t>Gujarat 2 rupees at every stage - large classes</a:t>
            </a:r>
          </a:p>
          <a:p>
            <a:pPr>
              <a:spcAft>
                <a:spcPts val="0"/>
              </a:spcAft>
              <a:defRPr/>
            </a:pPr>
            <a:r>
              <a:rPr lang="en-IN" dirty="0"/>
              <a:t>Teachers received gifts </a:t>
            </a:r>
            <a:r>
              <a:rPr lang="en-IN" dirty="0" err="1"/>
              <a:t>Deepavali</a:t>
            </a:r>
            <a:r>
              <a:rPr lang="en-IN" dirty="0"/>
              <a:t>, marriages /local produce</a:t>
            </a:r>
          </a:p>
          <a:p>
            <a:pPr>
              <a:spcAft>
                <a:spcPts val="0"/>
              </a:spcAft>
              <a:defRPr/>
            </a:pPr>
            <a:endParaRPr lang="en-GB"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1924</TotalTime>
  <Words>2163</Words>
  <Application>Microsoft Office PowerPoint</Application>
  <PresentationFormat>Widescreen</PresentationFormat>
  <Paragraphs>627</Paragraphs>
  <Slides>27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Times New Roman</vt:lpstr>
      <vt:lpstr>Tw Cen MT</vt:lpstr>
      <vt:lpstr>Tw Cen MT Condensed</vt:lpstr>
      <vt:lpstr>Wingdings 3</vt:lpstr>
      <vt:lpstr>Integral</vt:lpstr>
      <vt:lpstr>PUBP309: EDUCATION POLICY</vt:lpstr>
      <vt:lpstr>The Indigenous Education in India: </vt:lpstr>
      <vt:lpstr>British 60% , 565 Princely States 40%</vt:lpstr>
      <vt:lpstr>What do we know so far?</vt:lpstr>
      <vt:lpstr>WRITING TRADITION</vt:lpstr>
      <vt:lpstr>When and Why the data was collected?</vt:lpstr>
      <vt:lpstr>Indigenous education- DATA COLLECTION</vt:lpstr>
      <vt:lpstr>The Earliest Data: Ratnagiri District 1819</vt:lpstr>
      <vt:lpstr>PowerPoint Presentation</vt:lpstr>
      <vt:lpstr>Students in Gujarati and Kannada speaking areas 1824 </vt:lpstr>
      <vt:lpstr>PowerPoint Presentation</vt:lpstr>
      <vt:lpstr>PowerPoint Presentation</vt:lpstr>
      <vt:lpstr>Bengal, Bihar, Orissa </vt:lpstr>
      <vt:lpstr>PowerPoint Presentation</vt:lpstr>
      <vt:lpstr>Madras Presidency 1822  Indigenous School Students (Kannada, Malayalam, Odia, Telugu, Tamil)  </vt:lpstr>
      <vt:lpstr>PowerPoint Presentation</vt:lpstr>
      <vt:lpstr>NWP/UP 1851</vt:lpstr>
      <vt:lpstr>All India Pattern Vernacular Schools</vt:lpstr>
      <vt:lpstr>School timings</vt:lpstr>
      <vt:lpstr>Curriculum</vt:lpstr>
      <vt:lpstr>WRITING IN SCHOOLS</vt:lpstr>
      <vt:lpstr>PowerPoint Presentation</vt:lpstr>
      <vt:lpstr>Soap stone sticks Batti/Balapa/Khadi </vt:lpstr>
      <vt:lpstr>PowerPoint Presentation</vt:lpstr>
      <vt:lpstr>PowerPoint Presentation</vt:lpstr>
      <vt:lpstr>PowerPoint Presentation</vt:lpstr>
      <vt:lpstr>Income of Teachers-fee in Cash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Indigenous Education in India: </dc:title>
  <cp:lastModifiedBy>Shivakumar Jolad</cp:lastModifiedBy>
  <cp:revision>220</cp:revision>
  <dcterms:created xsi:type="dcterms:W3CDTF">2006-08-16T00:00:00Z</dcterms:created>
  <dcterms:modified xsi:type="dcterms:W3CDTF">2026-07-03T03:59:46Z</dcterms:modified>
</cp:coreProperties>
</file>