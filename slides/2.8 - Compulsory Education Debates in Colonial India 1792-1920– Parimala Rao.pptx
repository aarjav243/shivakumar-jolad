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320" r:id="rId2"/>
    <p:sldId id="260" r:id="rId3"/>
    <p:sldId id="257" r:id="rId4"/>
    <p:sldId id="258" r:id="rId5"/>
    <p:sldId id="259" r:id="rId6"/>
    <p:sldId id="267" r:id="rId7"/>
    <p:sldId id="294" r:id="rId8"/>
    <p:sldId id="268" r:id="rId9"/>
    <p:sldId id="291" r:id="rId10"/>
    <p:sldId id="296" r:id="rId11"/>
    <p:sldId id="292" r:id="rId12"/>
    <p:sldId id="298" r:id="rId13"/>
    <p:sldId id="270" r:id="rId14"/>
    <p:sldId id="317" r:id="rId15"/>
    <p:sldId id="315" r:id="rId16"/>
    <p:sldId id="316" r:id="rId17"/>
    <p:sldId id="318" r:id="rId18"/>
    <p:sldId id="300" r:id="rId19"/>
    <p:sldId id="269" r:id="rId20"/>
    <p:sldId id="261" r:id="rId21"/>
    <p:sldId id="262" r:id="rId22"/>
    <p:sldId id="263" r:id="rId23"/>
    <p:sldId id="264" r:id="rId24"/>
    <p:sldId id="266" r:id="rId25"/>
    <p:sldId id="303" r:id="rId26"/>
    <p:sldId id="277" r:id="rId27"/>
    <p:sldId id="273" r:id="rId28"/>
    <p:sldId id="274" r:id="rId29"/>
    <p:sldId id="275" r:id="rId30"/>
    <p:sldId id="288" r:id="rId31"/>
    <p:sldId id="289" r:id="rId32"/>
    <p:sldId id="304" r:id="rId33"/>
    <p:sldId id="319" r:id="rId34"/>
    <p:sldId id="306" r:id="rId35"/>
    <p:sldId id="307" r:id="rId36"/>
    <p:sldId id="308" r:id="rId37"/>
    <p:sldId id="309" r:id="rId38"/>
    <p:sldId id="310" r:id="rId39"/>
    <p:sldId id="311" r:id="rId40"/>
    <p:sldId id="312" r:id="rId41"/>
    <p:sldId id="279" r:id="rId42"/>
    <p:sldId id="281" r:id="rId43"/>
    <p:sldId id="313" r:id="rId44"/>
    <p:sldId id="314" r:id="rId45"/>
    <p:sldId id="287"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398" y="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FE503E-9E4E-4CE7-A732-8E333E091A26}" type="datetimeFigureOut">
              <a:rPr lang="en-US" smtClean="0"/>
              <a:pPr/>
              <a:t>7/3/2026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519B9E-D1A8-4AA0-A019-867E7B6529E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73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7148311-B67F-41FA-A509-8B519DF4CB87}"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58F6E05-E5EE-46B9-86C7-2943E4B9526D}"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1"/>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6350" y="1"/>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44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88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2672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6350" y="1"/>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44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4991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3989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89320"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5010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55942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8942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36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8130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44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113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45154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2"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9251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9"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30"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D8BD707-D9CF-40AE-B4C6-C98DA3205C09}" type="datetimeFigureOut">
              <a:rPr lang="en-US" smtClean="0"/>
              <a:pPr/>
              <a:t>7/3/2026</a:t>
            </a:fld>
            <a:endParaRPr lang="en-US"/>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F15528-21DE-4FAA-801E-634DDDAF4B2B}" type="slidenum">
              <a:rPr lang="en-US" smtClean="0"/>
              <a:pPr/>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188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213" y="4857077"/>
            <a:ext cx="7442725" cy="1374118"/>
          </a:xfrm>
        </p:spPr>
        <p:txBody>
          <a:bodyPr/>
          <a:lstStyle/>
          <a:p>
            <a:pPr algn="ctr"/>
            <a:r>
              <a:rPr lang="en-US" sz="4400" dirty="0"/>
              <a:t>PUBP309: EDUCATION POLICY</a:t>
            </a:r>
            <a:br>
              <a:rPr lang="en-US" sz="4400" dirty="0"/>
            </a:br>
            <a:endParaRPr lang="en-US" sz="4400" dirty="0"/>
          </a:p>
        </p:txBody>
      </p:sp>
      <p:sp>
        <p:nvSpPr>
          <p:cNvPr id="3" name="Subtitle 2"/>
          <p:cNvSpPr>
            <a:spLocks noGrp="1"/>
          </p:cNvSpPr>
          <p:nvPr>
            <p:ph type="subTitle" idx="1"/>
          </p:nvPr>
        </p:nvSpPr>
        <p:spPr>
          <a:xfrm>
            <a:off x="8708892" y="5339255"/>
            <a:ext cx="3483108" cy="1069848"/>
          </a:xfrm>
        </p:spPr>
        <p:txBody>
          <a:bodyPr>
            <a:normAutofit/>
          </a:bodyPr>
          <a:lstStyle/>
          <a:p>
            <a:pPr algn="ctr"/>
            <a:r>
              <a:rPr lang="en-US" dirty="0"/>
              <a:t>Shivakumar Jolad</a:t>
            </a:r>
          </a:p>
          <a:p>
            <a:pPr algn="ctr"/>
            <a:r>
              <a:rPr lang="en-US" dirty="0"/>
              <a:t>FLAME University</a:t>
            </a:r>
          </a:p>
        </p:txBody>
      </p:sp>
      <p:sp>
        <p:nvSpPr>
          <p:cNvPr id="5" name="TextBox 4"/>
          <p:cNvSpPr txBox="1"/>
          <p:nvPr/>
        </p:nvSpPr>
        <p:spPr>
          <a:xfrm>
            <a:off x="713756" y="5769530"/>
            <a:ext cx="7887929" cy="830997"/>
          </a:xfrm>
          <a:prstGeom prst="rect">
            <a:avLst/>
          </a:prstGeom>
          <a:noFill/>
        </p:spPr>
        <p:txBody>
          <a:bodyPr wrap="none" rtlCol="0">
            <a:spAutoFit/>
          </a:bodyPr>
          <a:lstStyle/>
          <a:p>
            <a:r>
              <a:rPr lang="en-US" sz="2400" b="1" dirty="0">
                <a:solidFill>
                  <a:srgbClr val="0070C0"/>
                </a:solidFill>
              </a:rPr>
              <a:t>Compulsory Education Debates in Colonial India 1792-1920</a:t>
            </a:r>
          </a:p>
          <a:p>
            <a:r>
              <a:rPr lang="en-US" sz="2400" b="1" dirty="0">
                <a:solidFill>
                  <a:srgbClr val="0070C0"/>
                </a:solidFill>
              </a:rPr>
              <a:t>(PARIMALA RAO)</a:t>
            </a:r>
            <a:endParaRPr lang="en-US" sz="2400" dirty="0">
              <a:solidFill>
                <a:srgbClr val="0070C0"/>
              </a:solidFill>
            </a:endParaRPr>
          </a:p>
        </p:txBody>
      </p:sp>
    </p:spTree>
    <p:extLst>
      <p:ext uri="{BB962C8B-B14F-4D97-AF65-F5344CB8AC3E}">
        <p14:creationId xmlns:p14="http://schemas.microsoft.com/office/powerpoint/2010/main" val="121867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990600" y="228600"/>
            <a:ext cx="9720072" cy="1499616"/>
          </a:xfrm>
        </p:spPr>
        <p:txBody>
          <a:bodyPr/>
          <a:lstStyle/>
          <a:p>
            <a:r>
              <a:rPr lang="en-US" sz="3600" b="1" dirty="0">
                <a:solidFill>
                  <a:srgbClr val="0070C0"/>
                </a:solidFill>
              </a:rPr>
              <a:t>British 60% , 565 Princely States 40%</a:t>
            </a:r>
          </a:p>
        </p:txBody>
      </p:sp>
      <p:pic>
        <p:nvPicPr>
          <p:cNvPr id="3075" name="Picture 2"/>
          <p:cNvPicPr>
            <a:picLocks noGrp="1" noChangeAspect="1" noChangeArrowheads="1"/>
          </p:cNvPicPr>
          <p:nvPr>
            <p:ph idx="1"/>
          </p:nvPr>
        </p:nvPicPr>
        <p:blipFill>
          <a:blip r:embed="rId3"/>
          <a:srcRect/>
          <a:stretch>
            <a:fillRect/>
          </a:stretch>
        </p:blipFill>
        <p:spPr>
          <a:xfrm>
            <a:off x="2514600" y="1219200"/>
            <a:ext cx="7086600" cy="5334000"/>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70C0"/>
                </a:solidFill>
              </a:rPr>
              <a:t>A Pre- history of Compulsory Education Debates </a:t>
            </a:r>
            <a:br>
              <a:rPr lang="en-IN" sz="3200" b="1" dirty="0">
                <a:solidFill>
                  <a:srgbClr val="0070C0"/>
                </a:solidFill>
              </a:rPr>
            </a:br>
            <a:r>
              <a:rPr lang="en-IN" sz="3200" b="1" dirty="0">
                <a:solidFill>
                  <a:srgbClr val="0070C0"/>
                </a:solidFill>
              </a:rPr>
              <a:t>Why Introduce Modern Education for All?</a:t>
            </a:r>
            <a:endParaRPr lang="en-US" sz="3200" b="1" dirty="0">
              <a:solidFill>
                <a:srgbClr val="0070C0"/>
              </a:solidFill>
            </a:endParaRPr>
          </a:p>
        </p:txBody>
      </p:sp>
      <p:sp>
        <p:nvSpPr>
          <p:cNvPr id="3" name="Content Placeholder 2"/>
          <p:cNvSpPr>
            <a:spLocks noGrp="1"/>
          </p:cNvSpPr>
          <p:nvPr>
            <p:ph idx="1"/>
          </p:nvPr>
        </p:nvSpPr>
        <p:spPr/>
        <p:txBody>
          <a:bodyPr>
            <a:noAutofit/>
          </a:bodyPr>
          <a:lstStyle/>
          <a:p>
            <a:r>
              <a:rPr lang="en-IN" sz="2400" dirty="0">
                <a:solidFill>
                  <a:srgbClr val="FF0000"/>
                </a:solidFill>
              </a:rPr>
              <a:t>1. 1792 Charles Grant</a:t>
            </a:r>
          </a:p>
          <a:p>
            <a:r>
              <a:rPr lang="en-IN" sz="2400" dirty="0"/>
              <a:t>A. Famine, B. Superstitious Practices</a:t>
            </a:r>
          </a:p>
          <a:p>
            <a:r>
              <a:rPr lang="en-IN" sz="2400" dirty="0"/>
              <a:t>C. Social reform- abolition of sati – child rights</a:t>
            </a:r>
          </a:p>
          <a:p>
            <a:r>
              <a:rPr lang="en-IN" sz="2400" dirty="0">
                <a:solidFill>
                  <a:srgbClr val="FF0000"/>
                </a:solidFill>
              </a:rPr>
              <a:t>2. 1820s debates – Empower Indians / strengthen</a:t>
            </a:r>
          </a:p>
          <a:p>
            <a:r>
              <a:rPr lang="en-IN" sz="2400" dirty="0"/>
              <a:t>A. Rural population against feudal oppression</a:t>
            </a:r>
          </a:p>
          <a:p>
            <a:r>
              <a:rPr lang="en-IN" sz="2400" dirty="0"/>
              <a:t>B. To give voice to Indians in the administration</a:t>
            </a:r>
          </a:p>
          <a:p>
            <a:r>
              <a:rPr lang="en-IN" sz="2400" dirty="0"/>
              <a:t>C. To prepare them for future independence</a:t>
            </a:r>
          </a:p>
          <a:p>
            <a:r>
              <a:rPr lang="en-IN" sz="2400" dirty="0">
                <a:solidFill>
                  <a:srgbClr val="FF0000"/>
                </a:solidFill>
              </a:rPr>
              <a:t>3. National Education 1838-1850</a:t>
            </a:r>
          </a:p>
          <a:p>
            <a:r>
              <a:rPr lang="en-IN" sz="2400" dirty="0"/>
              <a:t>Adopting indigenous schools, expansion of primary education</a:t>
            </a:r>
          </a:p>
          <a:p>
            <a:r>
              <a:rPr lang="en-IN" sz="2400" dirty="0">
                <a:solidFill>
                  <a:srgbClr val="FF0000"/>
                </a:solidFill>
              </a:rPr>
              <a:t>3. Mass Education 1868-70 – govt initiative</a:t>
            </a:r>
          </a:p>
          <a:p>
            <a:r>
              <a:rPr lang="en-IN" sz="2400" dirty="0"/>
              <a:t>4. Education of Tribal, Low Caste, minority, Girl’s Education</a:t>
            </a:r>
            <a:endParaRPr lang="en-US" sz="2400" dirty="0"/>
          </a:p>
          <a:p>
            <a:r>
              <a:rPr lang="en-IN" sz="2400" dirty="0">
                <a:solidFill>
                  <a:srgbClr val="FF0000"/>
                </a:solidFill>
              </a:rPr>
              <a:t>5. </a:t>
            </a:r>
            <a:r>
              <a:rPr lang="en-US" sz="2400" dirty="0" err="1">
                <a:solidFill>
                  <a:srgbClr val="FF0000"/>
                </a:solidFill>
              </a:rPr>
              <a:t>Gokhale’s</a:t>
            </a:r>
            <a:r>
              <a:rPr lang="en-US" sz="2400" dirty="0">
                <a:solidFill>
                  <a:srgbClr val="FF0000"/>
                </a:solidFill>
              </a:rPr>
              <a:t> Compulsory Education Bill 1911</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70C0"/>
                </a:solidFill>
              </a:rPr>
              <a:t>1. Charles Grant 1792</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GB" sz="2300" dirty="0"/>
              <a:t>Grant (1746) son of Scot highland soldier in the </a:t>
            </a:r>
            <a:r>
              <a:rPr lang="en-GB" sz="2300" dirty="0" err="1"/>
              <a:t>Jacobite</a:t>
            </a:r>
            <a:r>
              <a:rPr lang="en-GB" sz="2300" dirty="0"/>
              <a:t> army, revolted against ‘English rule’/ orphan/ India in 1767/ cadet</a:t>
            </a:r>
          </a:p>
          <a:p>
            <a:r>
              <a:rPr lang="en-GB" sz="2300" dirty="0"/>
              <a:t>Famine of 1768-70, 3 million deaths - ‘sold their children; especially daughters in times of distresses. … the sight of infants hovering over their dead parents, and the death of entire population of villages.’ large network of schools </a:t>
            </a:r>
          </a:p>
          <a:p>
            <a:r>
              <a:rPr lang="en-IN" sz="2300" dirty="0">
                <a:solidFill>
                  <a:srgbClr val="FF0000"/>
                </a:solidFill>
              </a:rPr>
              <a:t>Observations</a:t>
            </a:r>
            <a:r>
              <a:rPr lang="en-IN" sz="2300" dirty="0"/>
              <a:t> – 1792, </a:t>
            </a:r>
            <a:r>
              <a:rPr lang="en-GB" sz="2300" dirty="0"/>
              <a:t>located ‘the death and devastation to the out-dated method of cultivation’ – </a:t>
            </a:r>
          </a:p>
          <a:p>
            <a:r>
              <a:rPr lang="en-GB" sz="2300" dirty="0">
                <a:solidFill>
                  <a:srgbClr val="FF0000"/>
                </a:solidFill>
              </a:rPr>
              <a:t>‘We have appropriated those territories in perpetuity to ourselves, we have assumed sovereign dominion over them. (So) all duties of rulers must be incumbent upon us. ... (these duties are to protect people from) feudal oppression and official abuses.’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GB" sz="2400" dirty="0"/>
              <a:t>1. Modern education would introduce </a:t>
            </a:r>
            <a:r>
              <a:rPr lang="en-GB" sz="2400" dirty="0">
                <a:solidFill>
                  <a:srgbClr val="FF0000"/>
                </a:solidFill>
              </a:rPr>
              <a:t>‘new and improved methods of agriculture, protect the peasants from recurring famines’ </a:t>
            </a:r>
            <a:r>
              <a:rPr lang="en-GB" sz="2400" dirty="0"/>
              <a:t>Indians are very receptive to new technologies</a:t>
            </a:r>
          </a:p>
          <a:p>
            <a:r>
              <a:rPr lang="en-IN" sz="2400" dirty="0"/>
              <a:t>2. Prevention of Sati- </a:t>
            </a:r>
            <a:r>
              <a:rPr lang="en-GB" sz="2400" dirty="0">
                <a:solidFill>
                  <a:srgbClr val="FF0000"/>
                </a:solidFill>
              </a:rPr>
              <a:t>‘the Hindus err because they are ignorant’</a:t>
            </a:r>
            <a:endParaRPr lang="en-IN" sz="2400" dirty="0">
              <a:solidFill>
                <a:srgbClr val="FF0000"/>
              </a:solidFill>
            </a:endParaRPr>
          </a:p>
          <a:p>
            <a:r>
              <a:rPr lang="en-IN" sz="2400" dirty="0"/>
              <a:t>English officials – </a:t>
            </a:r>
            <a:r>
              <a:rPr lang="en-IN" sz="2400" dirty="0">
                <a:solidFill>
                  <a:srgbClr val="FF0000"/>
                </a:solidFill>
              </a:rPr>
              <a:t>‘we have promised perfect religious neutrality to the Hindus … will not inter fear in the internal affairs of the </a:t>
            </a:r>
            <a:r>
              <a:rPr lang="en-IN" sz="2400" dirty="0" err="1">
                <a:solidFill>
                  <a:srgbClr val="FF0000"/>
                </a:solidFill>
              </a:rPr>
              <a:t>Hindoo</a:t>
            </a:r>
            <a:r>
              <a:rPr lang="en-IN" sz="2400" dirty="0">
                <a:solidFill>
                  <a:srgbClr val="FF0000"/>
                </a:solidFill>
              </a:rPr>
              <a:t> society.’</a:t>
            </a:r>
          </a:p>
          <a:p>
            <a:r>
              <a:rPr lang="en-IN" sz="2400" dirty="0"/>
              <a:t>Grant returned to Britain, became one of the 24  directors of the EIC/ MP</a:t>
            </a:r>
          </a:p>
          <a:p>
            <a:r>
              <a:rPr lang="en-IN" sz="2400" dirty="0"/>
              <a:t>Submitted ‘Observations’ to British Parliament in 1812</a:t>
            </a:r>
          </a:p>
          <a:p>
            <a:r>
              <a:rPr lang="en-IN" sz="2400" dirty="0"/>
              <a:t>1813 – 1 </a:t>
            </a:r>
            <a:r>
              <a:rPr lang="en-IN" sz="2400" dirty="0" err="1"/>
              <a:t>lakhs</a:t>
            </a:r>
            <a:r>
              <a:rPr lang="en-IN" sz="2400" dirty="0"/>
              <a:t> rupees a year British admin did not use 1813-1820 / 2021 – 2 Sanskrit Colleges Poona, Calcutta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b="1" dirty="0">
                <a:solidFill>
                  <a:srgbClr val="0070C0"/>
                </a:solidFill>
              </a:rPr>
              <a:t>2. Education as Empowering tool :</a:t>
            </a:r>
            <a:br>
              <a:rPr lang="en-IN" sz="3200" b="1" dirty="0">
                <a:solidFill>
                  <a:srgbClr val="0070C0"/>
                </a:solidFill>
              </a:rPr>
            </a:br>
            <a:r>
              <a:rPr lang="en-IN" sz="3200" b="1" dirty="0">
                <a:solidFill>
                  <a:schemeClr val="tx1"/>
                </a:solidFill>
              </a:rPr>
              <a:t>The 1820s debate </a:t>
            </a:r>
            <a:r>
              <a:rPr lang="en-GB" sz="2800" b="1" dirty="0">
                <a:solidFill>
                  <a:schemeClr val="tx1"/>
                </a:solidFill>
              </a:rPr>
              <a:t>‘On the employment of natives in the public service,’ - 31 Dec 1824.</a:t>
            </a:r>
            <a:endParaRPr lang="en-US" sz="2800" b="1" dirty="0">
              <a:solidFill>
                <a:schemeClr val="tx1"/>
              </a:solidFill>
            </a:endParaRPr>
          </a:p>
        </p:txBody>
      </p:sp>
      <p:sp>
        <p:nvSpPr>
          <p:cNvPr id="3" name="Content Placeholder 2"/>
          <p:cNvSpPr>
            <a:spLocks noGrp="1"/>
          </p:cNvSpPr>
          <p:nvPr>
            <p:ph idx="1"/>
          </p:nvPr>
        </p:nvSpPr>
        <p:spPr/>
        <p:txBody>
          <a:bodyPr>
            <a:noAutofit/>
          </a:bodyPr>
          <a:lstStyle/>
          <a:p>
            <a:r>
              <a:rPr lang="en-IN" sz="2300" dirty="0"/>
              <a:t>Thomas Munro - </a:t>
            </a:r>
            <a:r>
              <a:rPr lang="en-IN" sz="2300" dirty="0">
                <a:solidFill>
                  <a:srgbClr val="FF0000"/>
                </a:solidFill>
              </a:rPr>
              <a:t>‘</a:t>
            </a:r>
            <a:r>
              <a:rPr lang="en-GB" sz="2300" dirty="0">
                <a:solidFill>
                  <a:srgbClr val="FF0000"/>
                </a:solidFill>
              </a:rPr>
              <a:t>India has no political freedom, no voice in framing laws or imposing taxes.’ </a:t>
            </a:r>
          </a:p>
          <a:p>
            <a:r>
              <a:rPr lang="en-GB" sz="2300" dirty="0">
                <a:solidFill>
                  <a:srgbClr val="FF0000"/>
                </a:solidFill>
              </a:rPr>
              <a:t>‘Exclusion of natives from higher positions is both politically and morally wrong. … They are altogether more efficient men of business.’</a:t>
            </a:r>
          </a:p>
          <a:p>
            <a:r>
              <a:rPr lang="en-GB" sz="2300" dirty="0"/>
              <a:t>300 primary - </a:t>
            </a:r>
            <a:r>
              <a:rPr lang="en-GB" sz="2300" dirty="0" err="1"/>
              <a:t>Tahsildari</a:t>
            </a:r>
            <a:r>
              <a:rPr lang="en-GB" sz="2300" dirty="0"/>
              <a:t>, 40 secondary – </a:t>
            </a:r>
            <a:r>
              <a:rPr lang="en-GB" sz="2300" dirty="0" err="1"/>
              <a:t>Collectorate</a:t>
            </a:r>
            <a:r>
              <a:rPr lang="en-GB" sz="2300" dirty="0"/>
              <a:t> Schools</a:t>
            </a:r>
          </a:p>
          <a:p>
            <a:r>
              <a:rPr lang="en-GB" sz="2300" dirty="0"/>
              <a:t>Death in 1827 - 80 primary/20 secondary </a:t>
            </a:r>
          </a:p>
          <a:p>
            <a:r>
              <a:rPr lang="en-GB" sz="2400" dirty="0" err="1"/>
              <a:t>Purusavakam</a:t>
            </a:r>
            <a:r>
              <a:rPr lang="en-GB" sz="2400" dirty="0"/>
              <a:t> -10 Christian, 21 </a:t>
            </a:r>
            <a:r>
              <a:rPr lang="en-GB" sz="2400" dirty="0" err="1"/>
              <a:t>Shudra</a:t>
            </a:r>
            <a:r>
              <a:rPr lang="en-GB" sz="2400" dirty="0"/>
              <a:t>; </a:t>
            </a:r>
            <a:r>
              <a:rPr lang="en-GB" sz="2400" dirty="0" err="1"/>
              <a:t>Pettah</a:t>
            </a:r>
            <a:r>
              <a:rPr lang="en-GB" sz="2400" dirty="0"/>
              <a:t> Telugu - 13 Brahmin, 12 </a:t>
            </a:r>
            <a:r>
              <a:rPr lang="en-GB" sz="2400" dirty="0" err="1"/>
              <a:t>Shudra</a:t>
            </a:r>
            <a:r>
              <a:rPr lang="en-GB" sz="2400" dirty="0"/>
              <a:t>, 6 </a:t>
            </a:r>
            <a:r>
              <a:rPr lang="en-GB" sz="2400" dirty="0" err="1"/>
              <a:t>Modali</a:t>
            </a:r>
            <a:r>
              <a:rPr lang="en-GB" sz="2400" dirty="0"/>
              <a:t>, 4 Maratha, and 3 Komati; </a:t>
            </a:r>
            <a:r>
              <a:rPr lang="en-GB" sz="2400" dirty="0" err="1"/>
              <a:t>Ramnad</a:t>
            </a:r>
            <a:r>
              <a:rPr lang="en-GB" sz="2400" dirty="0"/>
              <a:t> </a:t>
            </a:r>
            <a:r>
              <a:rPr lang="en-GB" sz="2400" dirty="0" err="1"/>
              <a:t>Collectorate</a:t>
            </a:r>
            <a:r>
              <a:rPr lang="en-GB" sz="2400" dirty="0"/>
              <a:t> 30 Brahmin, 50 non-Brahmin children</a:t>
            </a:r>
            <a:endParaRPr lang="en-GB" sz="2300" dirty="0"/>
          </a:p>
          <a:p>
            <a:r>
              <a:rPr lang="en-GB" sz="2300" dirty="0"/>
              <a:t>Tamil, Telugu, Kannada, Malayalam + English, Mathematics, elementary science. </a:t>
            </a:r>
            <a:r>
              <a:rPr lang="en-GB" sz="2300" dirty="0">
                <a:solidFill>
                  <a:srgbClr val="FF0000"/>
                </a:solidFill>
              </a:rPr>
              <a:t>All schools closed in 1836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9720072" cy="1499616"/>
          </a:xfrm>
        </p:spPr>
        <p:txBody>
          <a:bodyPr>
            <a:normAutofit/>
          </a:bodyPr>
          <a:lstStyle/>
          <a:p>
            <a:r>
              <a:rPr lang="en-US" dirty="0"/>
              <a:t>1839 Madras Petition for reopening Munro’s Schools – 70,000 signatures</a:t>
            </a:r>
          </a:p>
        </p:txBody>
      </p:sp>
      <p:pic>
        <p:nvPicPr>
          <p:cNvPr id="4" name="Content Placeholder 3" descr="1839 Madras petition (3).png"/>
          <p:cNvPicPr>
            <a:picLocks noGrp="1" noChangeAspect="1"/>
          </p:cNvPicPr>
          <p:nvPr>
            <p:ph idx="1"/>
          </p:nvPr>
        </p:nvPicPr>
        <p:blipFill>
          <a:blip r:embed="rId2"/>
          <a:stretch>
            <a:fillRect/>
          </a:stretch>
        </p:blipFill>
        <p:spPr>
          <a:xfrm>
            <a:off x="3810000" y="2156268"/>
            <a:ext cx="5316719" cy="3969896"/>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364" y="381000"/>
            <a:ext cx="9720072" cy="1499616"/>
          </a:xfrm>
        </p:spPr>
        <p:txBody>
          <a:bodyPr>
            <a:noAutofit/>
          </a:bodyPr>
          <a:lstStyle/>
          <a:p>
            <a:r>
              <a:rPr lang="en-US" sz="3200" b="1" dirty="0">
                <a:solidFill>
                  <a:srgbClr val="0070C0"/>
                </a:solidFill>
              </a:rPr>
              <a:t>Scottish MPs</a:t>
            </a:r>
            <a:r>
              <a:rPr lang="en-IN" sz="3200" b="1" dirty="0">
                <a:solidFill>
                  <a:srgbClr val="0070C0"/>
                </a:solidFill>
              </a:rPr>
              <a:t> 1830-33,  T.B. Macaulay, Charles, Robert Grant, Joseph Hume</a:t>
            </a:r>
            <a:endParaRPr lang="en-US" sz="3200" b="1" dirty="0">
              <a:solidFill>
                <a:srgbClr val="0070C0"/>
              </a:solidFill>
            </a:endParaRPr>
          </a:p>
        </p:txBody>
      </p:sp>
      <p:sp>
        <p:nvSpPr>
          <p:cNvPr id="3" name="Content Placeholder 2"/>
          <p:cNvSpPr>
            <a:spLocks noGrp="1"/>
          </p:cNvSpPr>
          <p:nvPr>
            <p:ph idx="1"/>
          </p:nvPr>
        </p:nvSpPr>
        <p:spPr>
          <a:xfrm>
            <a:off x="1007364" y="2060147"/>
            <a:ext cx="10177271" cy="4023360"/>
          </a:xfrm>
        </p:spPr>
        <p:txBody>
          <a:bodyPr>
            <a:noAutofit/>
          </a:bodyPr>
          <a:lstStyle/>
          <a:p>
            <a:r>
              <a:rPr lang="en-IN" sz="2300" dirty="0"/>
              <a:t>Demanded elected Indian MPs in British Parliament</a:t>
            </a:r>
          </a:p>
          <a:p>
            <a:r>
              <a:rPr lang="en-GB" sz="2300" dirty="0"/>
              <a:t>Renewal of Charter 1833 ‘</a:t>
            </a:r>
            <a:r>
              <a:rPr lang="en-GB" sz="2300" dirty="0">
                <a:solidFill>
                  <a:srgbClr val="FF0000"/>
                </a:solidFill>
              </a:rPr>
              <a:t>no person, by reason of his birth, creed, or colour, should be disqualified from holding any office in the service of the East India Company.</a:t>
            </a:r>
            <a:r>
              <a:rPr lang="en-GB" sz="2300" dirty="0"/>
              <a:t>’</a:t>
            </a:r>
          </a:p>
          <a:p>
            <a:r>
              <a:rPr lang="en-GB" sz="2300" dirty="0">
                <a:solidFill>
                  <a:srgbClr val="FF0000"/>
                </a:solidFill>
              </a:rPr>
              <a:t>M- ‘Judicial reforms in India to prevent the British officers from treating all the native population as </a:t>
            </a:r>
            <a:r>
              <a:rPr lang="en-GB" sz="2300" i="1" dirty="0" err="1">
                <a:solidFill>
                  <a:srgbClr val="FF0000"/>
                </a:solidFill>
              </a:rPr>
              <a:t>paria</a:t>
            </a:r>
            <a:r>
              <a:rPr lang="en-GB" sz="2300" dirty="0" err="1">
                <a:solidFill>
                  <a:srgbClr val="FF0000"/>
                </a:solidFill>
              </a:rPr>
              <a:t>s</a:t>
            </a:r>
            <a:r>
              <a:rPr lang="en-GB" sz="2300" dirty="0">
                <a:solidFill>
                  <a:srgbClr val="FF0000"/>
                </a:solidFill>
              </a:rPr>
              <a:t>.’</a:t>
            </a:r>
            <a:endParaRPr lang="en-IN" sz="2300" dirty="0">
              <a:solidFill>
                <a:srgbClr val="FF0000"/>
              </a:solidFill>
            </a:endParaRPr>
          </a:p>
          <a:p>
            <a:r>
              <a:rPr lang="en-US" sz="2300" dirty="0">
                <a:solidFill>
                  <a:srgbClr val="FF0000"/>
                </a:solidFill>
              </a:rPr>
              <a:t>M- ‘</a:t>
            </a:r>
            <a:r>
              <a:rPr lang="en-GB" sz="2300" dirty="0">
                <a:solidFill>
                  <a:srgbClr val="FF0000"/>
                </a:solidFill>
              </a:rPr>
              <a:t>The day on which Britain gave its independence to India would be the proudest day in English history.’</a:t>
            </a:r>
            <a:endParaRPr lang="en-US" sz="2300" dirty="0">
              <a:solidFill>
                <a:srgbClr val="FF0000"/>
              </a:solidFill>
            </a:endParaRPr>
          </a:p>
          <a:p>
            <a:r>
              <a:rPr lang="en-US" sz="2300" dirty="0"/>
              <a:t>Set up Anglo-Vernacular Schools Ajmer, </a:t>
            </a:r>
            <a:r>
              <a:rPr lang="en-US" sz="2300" dirty="0" err="1"/>
              <a:t>Azamgarh</a:t>
            </a:r>
            <a:r>
              <a:rPr lang="en-US" sz="2300" dirty="0"/>
              <a:t>,</a:t>
            </a:r>
            <a:r>
              <a:rPr lang="en-GB" sz="2300" dirty="0"/>
              <a:t> Bareli, Dacca, </a:t>
            </a:r>
            <a:r>
              <a:rPr lang="en-GB" sz="2300" dirty="0" err="1"/>
              <a:t>Farukabad</a:t>
            </a:r>
            <a:r>
              <a:rPr lang="en-GB" sz="2300" dirty="0"/>
              <a:t>, </a:t>
            </a:r>
            <a:r>
              <a:rPr lang="en-GB" sz="2300" dirty="0" err="1"/>
              <a:t>Ghazipur</a:t>
            </a:r>
            <a:r>
              <a:rPr lang="en-GB" sz="2300" dirty="0"/>
              <a:t>, Gorakhpur, </a:t>
            </a:r>
            <a:r>
              <a:rPr lang="en-GB" sz="2300" dirty="0" err="1"/>
              <a:t>Jaunpur</a:t>
            </a:r>
            <a:r>
              <a:rPr lang="en-GB" sz="2300" dirty="0"/>
              <a:t>, Jabalpur, and raised the standard of existing local schools at Bhagalpur, Meerut and </a:t>
            </a:r>
            <a:r>
              <a:rPr lang="en-GB" sz="2300" dirty="0" err="1"/>
              <a:t>Sagar</a:t>
            </a:r>
            <a:r>
              <a:rPr lang="en-GB" sz="2300" dirty="0"/>
              <a:t>. /Inclusive classrooms </a:t>
            </a:r>
            <a:r>
              <a:rPr lang="en-GB" sz="2300" dirty="0" err="1"/>
              <a:t>Dalit</a:t>
            </a:r>
            <a:r>
              <a:rPr lang="en-GB" sz="2300" dirty="0"/>
              <a:t> and Brahmin students </a:t>
            </a:r>
          </a:p>
          <a:p>
            <a:r>
              <a:rPr lang="en-GB" sz="2300" dirty="0"/>
              <a:t>Appointed </a:t>
            </a:r>
            <a:r>
              <a:rPr lang="en-GB" sz="2300" dirty="0" err="1"/>
              <a:t>Radhakant</a:t>
            </a:r>
            <a:r>
              <a:rPr lang="en-GB" sz="2300" dirty="0"/>
              <a:t> Deb and </a:t>
            </a:r>
            <a:r>
              <a:rPr lang="en-GB" sz="2300" dirty="0" err="1"/>
              <a:t>Russomoy</a:t>
            </a:r>
            <a:r>
              <a:rPr lang="en-GB" sz="2300" dirty="0"/>
              <a:t> </a:t>
            </a:r>
            <a:r>
              <a:rPr lang="en-GB" sz="2300" dirty="0" err="1"/>
              <a:t>Dutt</a:t>
            </a:r>
            <a:r>
              <a:rPr lang="en-GB" sz="2300" dirty="0"/>
              <a:t> to </a:t>
            </a:r>
            <a:r>
              <a:rPr lang="en-GB" sz="2300" dirty="0" err="1"/>
              <a:t>Edu</a:t>
            </a:r>
            <a:r>
              <a:rPr lang="en-GB" sz="2300" dirty="0"/>
              <a:t> Dept/ GG Executive Council</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solidFill>
                  <a:srgbClr val="0070C0"/>
                </a:solidFill>
              </a:rPr>
              <a:t>Macaulay’s Minute -</a:t>
            </a:r>
            <a:r>
              <a:rPr lang="en-GB" sz="3600" b="1" dirty="0">
                <a:solidFill>
                  <a:srgbClr val="0070C0"/>
                </a:solidFill>
              </a:rPr>
              <a:t> 3 July 1836</a:t>
            </a:r>
            <a:br>
              <a:rPr lang="en-GB" sz="3600" b="1" dirty="0">
                <a:solidFill>
                  <a:srgbClr val="0070C0"/>
                </a:solidFill>
              </a:rPr>
            </a:br>
            <a:r>
              <a:rPr lang="en-GB" sz="3600" b="1" dirty="0">
                <a:solidFill>
                  <a:srgbClr val="0070C0"/>
                </a:solidFill>
              </a:rPr>
              <a:t>Compulsory teaching of mother tongue</a:t>
            </a:r>
            <a:endParaRPr lang="en-US" sz="3600" b="1" dirty="0">
              <a:solidFill>
                <a:srgbClr val="0070C0"/>
              </a:solidFill>
            </a:endParaRPr>
          </a:p>
        </p:txBody>
      </p:sp>
      <p:sp>
        <p:nvSpPr>
          <p:cNvPr id="3" name="Content Placeholder 2"/>
          <p:cNvSpPr>
            <a:spLocks noGrp="1"/>
          </p:cNvSpPr>
          <p:nvPr>
            <p:ph idx="1"/>
          </p:nvPr>
        </p:nvSpPr>
        <p:spPr/>
        <p:txBody>
          <a:bodyPr>
            <a:noAutofit/>
          </a:bodyPr>
          <a:lstStyle/>
          <a:p>
            <a:r>
              <a:rPr lang="en-GB" sz="2300" dirty="0"/>
              <a:t>‘</a:t>
            </a:r>
            <a:r>
              <a:rPr lang="en-GB" sz="2300" dirty="0">
                <a:solidFill>
                  <a:srgbClr val="FF0000"/>
                </a:solidFill>
              </a:rPr>
              <a:t>I stress on the teaching of vernacular in our English schools...in fact, their knowing how to read and write their mother tongue will, very greatly facilitate their English studies. Indeed I conceive that an order to give instruction in the English language is, by necessary implication, an order to give instruction where that instruction is required in the vernacular language. </a:t>
            </a:r>
            <a:r>
              <a:rPr lang="en-GB" sz="2300" dirty="0"/>
              <a:t>‘</a:t>
            </a:r>
          </a:p>
          <a:p>
            <a:r>
              <a:rPr lang="en-GB" sz="2300" dirty="0"/>
              <a:t>‘</a:t>
            </a:r>
            <a:r>
              <a:rPr lang="en-GB" sz="2300" dirty="0">
                <a:solidFill>
                  <a:srgbClr val="FF0000"/>
                </a:solidFill>
              </a:rPr>
              <a:t>Teaching the boys at Ajmer, to read and write the Hindi language seems to me to be a bona fide part of an English education.</a:t>
            </a:r>
            <a:r>
              <a:rPr lang="en-GB" sz="2300" dirty="0"/>
              <a:t>’</a:t>
            </a:r>
          </a:p>
          <a:p>
            <a:r>
              <a:rPr lang="en-US" sz="2300" dirty="0"/>
              <a:t>Macaulay – 3 years 7 months 7 days in India 10 June 1834 – 17 January 1838</a:t>
            </a:r>
          </a:p>
          <a:p>
            <a:r>
              <a:rPr lang="en-IN" sz="2300" dirty="0"/>
              <a:t>Macaulay’s Minute 7 March 1835-17 January 1838 = 2yrs, 10months, 10 days </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Empowerment at the local level</a:t>
            </a:r>
            <a:endParaRPr lang="en-US" dirty="0"/>
          </a:p>
        </p:txBody>
      </p:sp>
      <p:sp>
        <p:nvSpPr>
          <p:cNvPr id="3" name="Content Placeholder 2"/>
          <p:cNvSpPr>
            <a:spLocks noGrp="1"/>
          </p:cNvSpPr>
          <p:nvPr>
            <p:ph idx="1"/>
          </p:nvPr>
        </p:nvSpPr>
        <p:spPr/>
        <p:txBody>
          <a:bodyPr>
            <a:noAutofit/>
          </a:bodyPr>
          <a:lstStyle/>
          <a:p>
            <a:r>
              <a:rPr lang="en-GB" sz="2500" dirty="0" err="1"/>
              <a:t>Krishnamohan</a:t>
            </a:r>
            <a:r>
              <a:rPr lang="en-GB" sz="2500" dirty="0"/>
              <a:t> </a:t>
            </a:r>
            <a:r>
              <a:rPr lang="en-GB" sz="2500" dirty="0" err="1"/>
              <a:t>Banerjee</a:t>
            </a:r>
            <a:r>
              <a:rPr lang="en-GB" sz="2500" dirty="0"/>
              <a:t>, </a:t>
            </a:r>
            <a:endParaRPr lang="en-US" sz="2500" dirty="0"/>
          </a:p>
          <a:p>
            <a:r>
              <a:rPr lang="en-GB" sz="2500" dirty="0">
                <a:solidFill>
                  <a:srgbClr val="FF0000"/>
                </a:solidFill>
              </a:rPr>
              <a:t>‘A </a:t>
            </a:r>
            <a:r>
              <a:rPr lang="en-GB" sz="2500" dirty="0" err="1">
                <a:solidFill>
                  <a:srgbClr val="FF0000"/>
                </a:solidFill>
              </a:rPr>
              <a:t>ryot</a:t>
            </a:r>
            <a:r>
              <a:rPr lang="en-GB" sz="2500" dirty="0">
                <a:solidFill>
                  <a:srgbClr val="FF0000"/>
                </a:solidFill>
              </a:rPr>
              <a:t> that can read and write may be able to sign his own name </a:t>
            </a:r>
            <a:r>
              <a:rPr lang="en-GB" sz="2500" dirty="0"/>
              <a:t>in his </a:t>
            </a:r>
            <a:r>
              <a:rPr lang="en-GB" sz="2500" i="1" dirty="0" err="1"/>
              <a:t>koboolut</a:t>
            </a:r>
            <a:r>
              <a:rPr lang="en-GB" sz="2500" dirty="0"/>
              <a:t> (written consent to rent agreement) after reading it himself, may examine the </a:t>
            </a:r>
            <a:r>
              <a:rPr lang="en-GB" sz="2500" i="1" dirty="0" err="1"/>
              <a:t>pattah</a:t>
            </a:r>
            <a:r>
              <a:rPr lang="en-GB" sz="2500" dirty="0"/>
              <a:t> (land deed) or the </a:t>
            </a:r>
            <a:r>
              <a:rPr lang="en-GB" sz="2500" i="1" dirty="0" err="1"/>
              <a:t>dakhila</a:t>
            </a:r>
            <a:r>
              <a:rPr lang="en-GB" sz="2500" dirty="0"/>
              <a:t> (receipt for money) granted to him and the entries made in the </a:t>
            </a:r>
            <a:r>
              <a:rPr lang="en-GB" sz="2500" dirty="0" err="1"/>
              <a:t>Zamindar’s</a:t>
            </a:r>
            <a:r>
              <a:rPr lang="en-GB" sz="2500" dirty="0"/>
              <a:t> books when he takes </a:t>
            </a:r>
            <a:r>
              <a:rPr lang="en-GB" sz="2500" i="1" dirty="0" err="1"/>
              <a:t>izarah</a:t>
            </a:r>
            <a:r>
              <a:rPr lang="en-GB" sz="2500" dirty="0"/>
              <a:t> (lease of land held at a defined rent) or pays rent, </a:t>
            </a:r>
            <a:r>
              <a:rPr lang="en-GB" sz="2500" dirty="0">
                <a:solidFill>
                  <a:srgbClr val="FF0000"/>
                </a:solidFill>
              </a:rPr>
              <a:t>may when wronged write out an application to the proper authority without the intervention of a Court sharper in the form of a professional scribe,</a:t>
            </a:r>
            <a:r>
              <a:rPr lang="en-GB" sz="2500" dirty="0"/>
              <a:t> may read for himself depositions taken in his name and affix his own signature, and in various other ways </a:t>
            </a:r>
            <a:r>
              <a:rPr lang="en-GB" sz="2500" dirty="0">
                <a:solidFill>
                  <a:srgbClr val="FF0000"/>
                </a:solidFill>
              </a:rPr>
              <a:t>check the delinquencies of oppressors, forgers, and perjurers.</a:t>
            </a:r>
            <a:r>
              <a:rPr lang="en-GB" sz="2500" dirty="0"/>
              <a:t>’</a:t>
            </a:r>
            <a:endParaRPr lang="en-US" sz="2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Schools in Every Village</a:t>
            </a:r>
          </a:p>
        </p:txBody>
      </p:sp>
      <p:sp>
        <p:nvSpPr>
          <p:cNvPr id="3" name="Content Placeholder 2"/>
          <p:cNvSpPr>
            <a:spLocks noGrp="1"/>
          </p:cNvSpPr>
          <p:nvPr>
            <p:ph idx="1"/>
          </p:nvPr>
        </p:nvSpPr>
        <p:spPr/>
        <p:txBody>
          <a:bodyPr>
            <a:normAutofit/>
          </a:bodyPr>
          <a:lstStyle/>
          <a:p>
            <a:r>
              <a:rPr lang="en-GB" dirty="0"/>
              <a:t>Judge of </a:t>
            </a:r>
            <a:r>
              <a:rPr lang="en-GB" dirty="0" err="1"/>
              <a:t>Jessore</a:t>
            </a:r>
            <a:r>
              <a:rPr lang="en-GB" dirty="0"/>
              <a:t>, W. Seton-Karr, suggested village schools </a:t>
            </a:r>
          </a:p>
          <a:p>
            <a:r>
              <a:rPr lang="en-GB" dirty="0">
                <a:solidFill>
                  <a:srgbClr val="FF0000"/>
                </a:solidFill>
              </a:rPr>
              <a:t>‘enable a peasant to write a letter of business, to draw out a bond, to understand the terms of a mortgage, to cast up his accounts to know if his receipts for rent are correctly signed.’ </a:t>
            </a:r>
          </a:p>
          <a:p>
            <a:r>
              <a:rPr lang="en-GB" dirty="0"/>
              <a:t>Gov / Bengal /John Peter Grant,  </a:t>
            </a:r>
          </a:p>
          <a:p>
            <a:r>
              <a:rPr lang="en-GB" dirty="0">
                <a:solidFill>
                  <a:srgbClr val="FF0000"/>
                </a:solidFill>
              </a:rPr>
              <a:t>‘Curriculum in primary schools besides teaching reading, writing, and arithmetic should consist of ‘Agricultural and Commercial Accounts, Quittance of Rents, Bonds, modes of formal letters. ... The above course will enable any lad of ordinary intelligence to read and write correctly and to see that he is not cheated in his accounts by the </a:t>
            </a:r>
            <a:r>
              <a:rPr lang="en-GB" dirty="0" err="1">
                <a:solidFill>
                  <a:srgbClr val="FF0000"/>
                </a:solidFill>
              </a:rPr>
              <a:t>Mahajan</a:t>
            </a:r>
            <a:r>
              <a:rPr lang="en-GB" dirty="0">
                <a:solidFill>
                  <a:srgbClr val="FF0000"/>
                </a:solidFill>
              </a:rPr>
              <a:t> or the agent of the </a:t>
            </a:r>
            <a:r>
              <a:rPr lang="en-GB" dirty="0" err="1">
                <a:solidFill>
                  <a:srgbClr val="FF0000"/>
                </a:solidFill>
              </a:rPr>
              <a:t>Zamindar</a:t>
            </a:r>
            <a:r>
              <a:rPr lang="en-GB" dirty="0">
                <a:solidFill>
                  <a:srgbClr val="FF0000"/>
                </a:solidFill>
              </a:rPr>
              <a:t>.’</a:t>
            </a:r>
            <a:endParaRPr lang="en-US"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solidFill>
                  <a:srgbClr val="0070C0"/>
                </a:solidFill>
              </a:rPr>
              <a:t>Robert </a:t>
            </a:r>
            <a:r>
              <a:rPr lang="en-GB" sz="3200" b="1" dirty="0" err="1">
                <a:solidFill>
                  <a:srgbClr val="0070C0"/>
                </a:solidFill>
              </a:rPr>
              <a:t>Shortrede’s</a:t>
            </a:r>
            <a:r>
              <a:rPr lang="en-GB" sz="3200" b="1" dirty="0">
                <a:solidFill>
                  <a:srgbClr val="0070C0"/>
                </a:solidFill>
              </a:rPr>
              <a:t> schools </a:t>
            </a:r>
            <a:br>
              <a:rPr lang="en-GB" sz="3200" b="1" dirty="0">
                <a:solidFill>
                  <a:srgbClr val="0070C0"/>
                </a:solidFill>
              </a:rPr>
            </a:br>
            <a:r>
              <a:rPr lang="en-GB" sz="3200" b="1" dirty="0" err="1">
                <a:solidFill>
                  <a:srgbClr val="0070C0"/>
                </a:solidFill>
              </a:rPr>
              <a:t>Purandhar</a:t>
            </a:r>
            <a:r>
              <a:rPr lang="en-GB" sz="3200" b="1" dirty="0">
                <a:solidFill>
                  <a:srgbClr val="0070C0"/>
                </a:solidFill>
              </a:rPr>
              <a:t> </a:t>
            </a:r>
            <a:r>
              <a:rPr lang="en-GB" sz="3200" b="1" dirty="0" err="1">
                <a:solidFill>
                  <a:srgbClr val="0070C0"/>
                </a:solidFill>
              </a:rPr>
              <a:t>Taluka</a:t>
            </a:r>
            <a:r>
              <a:rPr lang="en-GB" sz="3200" b="1" dirty="0">
                <a:solidFill>
                  <a:srgbClr val="0070C0"/>
                </a:solidFill>
              </a:rPr>
              <a:t> 1843</a:t>
            </a:r>
            <a:endParaRPr lang="en-US" sz="3200" b="1" dirty="0">
              <a:solidFill>
                <a:srgbClr val="0070C0"/>
              </a:solidFill>
            </a:endParaRPr>
          </a:p>
        </p:txBody>
      </p:sp>
      <p:sp>
        <p:nvSpPr>
          <p:cNvPr id="3" name="Content Placeholder 2"/>
          <p:cNvSpPr>
            <a:spLocks noGrp="1"/>
          </p:cNvSpPr>
          <p:nvPr>
            <p:ph sz="half" idx="1"/>
          </p:nvPr>
        </p:nvSpPr>
        <p:spPr/>
        <p:txBody>
          <a:bodyPr>
            <a:noAutofit/>
          </a:bodyPr>
          <a:lstStyle/>
          <a:p>
            <a:r>
              <a:rPr lang="en-GB" sz="2300" dirty="0"/>
              <a:t>‘People can understand their own affairs and vigilantly observe and scrutinize the conduct of the native functionaries n successfully resist all unauthorized actions by seeing that the sums paid by them to govt were properly entered in their Receipt Books ….It would be a powerful and operative check on the native functionaries.’</a:t>
            </a:r>
          </a:p>
          <a:p>
            <a:r>
              <a:rPr lang="en-IN" sz="2300" dirty="0"/>
              <a:t>Mulberry cultivation </a:t>
            </a:r>
            <a:endParaRPr lang="en-US" sz="2300" dirty="0"/>
          </a:p>
        </p:txBody>
      </p:sp>
      <p:graphicFrame>
        <p:nvGraphicFramePr>
          <p:cNvPr id="5" name="Content Placeholder 4"/>
          <p:cNvGraphicFramePr>
            <a:graphicFrameLocks noGrp="1"/>
          </p:cNvGraphicFramePr>
          <p:nvPr>
            <p:ph sz="half" idx="2"/>
          </p:nvPr>
        </p:nvGraphicFramePr>
        <p:xfrm>
          <a:off x="6172200" y="1600200"/>
          <a:ext cx="4038600" cy="3977640"/>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370840">
                <a:tc>
                  <a:txBody>
                    <a:bodyPr/>
                    <a:lstStyle/>
                    <a:p>
                      <a:r>
                        <a:rPr lang="en-IN" dirty="0"/>
                        <a:t>Castes</a:t>
                      </a:r>
                      <a:endParaRPr lang="en-US" dirty="0"/>
                    </a:p>
                  </a:txBody>
                  <a:tcPr/>
                </a:tc>
                <a:tc>
                  <a:txBody>
                    <a:bodyPr/>
                    <a:lstStyle/>
                    <a:p>
                      <a:r>
                        <a:rPr lang="en-IN" dirty="0"/>
                        <a:t>No of Students</a:t>
                      </a:r>
                      <a:endParaRPr lang="en-US" dirty="0"/>
                    </a:p>
                  </a:txBody>
                  <a:tcPr/>
                </a:tc>
                <a:extLst>
                  <a:ext uri="{0D108BD9-81ED-4DB2-BD59-A6C34878D82A}">
                    <a16:rowId xmlns:a16="http://schemas.microsoft.com/office/drawing/2014/main" val="10000"/>
                  </a:ext>
                </a:extLst>
              </a:tr>
              <a:tr h="370840">
                <a:tc>
                  <a:txBody>
                    <a:bodyPr/>
                    <a:lstStyle/>
                    <a:p>
                      <a:r>
                        <a:rPr lang="en-IN" dirty="0" err="1"/>
                        <a:t>Kunbi</a:t>
                      </a:r>
                      <a:endParaRPr lang="en-US" dirty="0"/>
                    </a:p>
                  </a:txBody>
                  <a:tcPr/>
                </a:tc>
                <a:tc>
                  <a:txBody>
                    <a:bodyPr/>
                    <a:lstStyle/>
                    <a:p>
                      <a:r>
                        <a:rPr lang="en-IN" dirty="0"/>
                        <a:t>408</a:t>
                      </a:r>
                      <a:endParaRPr lang="en-US" dirty="0"/>
                    </a:p>
                  </a:txBody>
                  <a:tcPr/>
                </a:tc>
                <a:extLst>
                  <a:ext uri="{0D108BD9-81ED-4DB2-BD59-A6C34878D82A}">
                    <a16:rowId xmlns:a16="http://schemas.microsoft.com/office/drawing/2014/main" val="10001"/>
                  </a:ext>
                </a:extLst>
              </a:tr>
              <a:tr h="370840">
                <a:tc>
                  <a:txBody>
                    <a:bodyPr/>
                    <a:lstStyle/>
                    <a:p>
                      <a:r>
                        <a:rPr lang="en-IN" dirty="0"/>
                        <a:t>Brahmin</a:t>
                      </a:r>
                      <a:endParaRPr lang="en-US" dirty="0"/>
                    </a:p>
                  </a:txBody>
                  <a:tcPr/>
                </a:tc>
                <a:tc>
                  <a:txBody>
                    <a:bodyPr/>
                    <a:lstStyle/>
                    <a:p>
                      <a:r>
                        <a:rPr lang="en-IN" dirty="0"/>
                        <a:t>338</a:t>
                      </a:r>
                      <a:endParaRPr lang="en-US" dirty="0"/>
                    </a:p>
                  </a:txBody>
                  <a:tcPr/>
                </a:tc>
                <a:extLst>
                  <a:ext uri="{0D108BD9-81ED-4DB2-BD59-A6C34878D82A}">
                    <a16:rowId xmlns:a16="http://schemas.microsoft.com/office/drawing/2014/main" val="10002"/>
                  </a:ext>
                </a:extLst>
              </a:tr>
              <a:tr h="370840">
                <a:tc>
                  <a:txBody>
                    <a:bodyPr/>
                    <a:lstStyle/>
                    <a:p>
                      <a:r>
                        <a:rPr lang="en-IN" dirty="0" err="1"/>
                        <a:t>Wani</a:t>
                      </a:r>
                      <a:endParaRPr lang="en-US" dirty="0"/>
                    </a:p>
                  </a:txBody>
                  <a:tcPr/>
                </a:tc>
                <a:tc>
                  <a:txBody>
                    <a:bodyPr/>
                    <a:lstStyle/>
                    <a:p>
                      <a:r>
                        <a:rPr lang="en-IN" dirty="0"/>
                        <a:t>87</a:t>
                      </a:r>
                      <a:endParaRPr lang="en-US" dirty="0"/>
                    </a:p>
                  </a:txBody>
                  <a:tcPr/>
                </a:tc>
                <a:extLst>
                  <a:ext uri="{0D108BD9-81ED-4DB2-BD59-A6C34878D82A}">
                    <a16:rowId xmlns:a16="http://schemas.microsoft.com/office/drawing/2014/main" val="10003"/>
                  </a:ext>
                </a:extLst>
              </a:tr>
              <a:tr h="370840">
                <a:tc>
                  <a:txBody>
                    <a:bodyPr/>
                    <a:lstStyle/>
                    <a:p>
                      <a:r>
                        <a:rPr lang="en-IN" dirty="0"/>
                        <a:t>OBC-</a:t>
                      </a:r>
                      <a:r>
                        <a:rPr lang="en-IN" baseline="0" dirty="0"/>
                        <a:t> </a:t>
                      </a:r>
                      <a:r>
                        <a:rPr lang="en-IN" dirty="0" err="1"/>
                        <a:t>Kasar</a:t>
                      </a:r>
                      <a:r>
                        <a:rPr lang="en-IN" dirty="0"/>
                        <a:t>, </a:t>
                      </a:r>
                      <a:r>
                        <a:rPr lang="en-IN" dirty="0" err="1"/>
                        <a:t>Navi</a:t>
                      </a:r>
                      <a:r>
                        <a:rPr lang="en-IN" dirty="0"/>
                        <a:t>, </a:t>
                      </a:r>
                      <a:r>
                        <a:rPr lang="en-IN" dirty="0" err="1"/>
                        <a:t>Teli</a:t>
                      </a:r>
                      <a:r>
                        <a:rPr lang="en-IN" dirty="0"/>
                        <a:t>, etc </a:t>
                      </a:r>
                      <a:endParaRPr lang="en-US" dirty="0"/>
                    </a:p>
                  </a:txBody>
                  <a:tcPr/>
                </a:tc>
                <a:tc>
                  <a:txBody>
                    <a:bodyPr/>
                    <a:lstStyle/>
                    <a:p>
                      <a:r>
                        <a:rPr lang="en-IN" dirty="0"/>
                        <a:t>168</a:t>
                      </a:r>
                      <a:endParaRPr lang="en-US" dirty="0"/>
                    </a:p>
                  </a:txBody>
                  <a:tcPr/>
                </a:tc>
                <a:extLst>
                  <a:ext uri="{0D108BD9-81ED-4DB2-BD59-A6C34878D82A}">
                    <a16:rowId xmlns:a16="http://schemas.microsoft.com/office/drawing/2014/main" val="10004"/>
                  </a:ext>
                </a:extLst>
              </a:tr>
              <a:tr h="370840">
                <a:tc>
                  <a:txBody>
                    <a:bodyPr/>
                    <a:lstStyle/>
                    <a:p>
                      <a:r>
                        <a:rPr lang="en-IN" dirty="0"/>
                        <a:t>Muslim</a:t>
                      </a:r>
                      <a:endParaRPr lang="en-US" dirty="0"/>
                    </a:p>
                  </a:txBody>
                  <a:tcPr/>
                </a:tc>
                <a:tc>
                  <a:txBody>
                    <a:bodyPr/>
                    <a:lstStyle/>
                    <a:p>
                      <a:r>
                        <a:rPr lang="en-IN" dirty="0"/>
                        <a:t>32</a:t>
                      </a:r>
                      <a:endParaRPr lang="en-US" dirty="0"/>
                    </a:p>
                  </a:txBody>
                  <a:tcPr/>
                </a:tc>
                <a:extLst>
                  <a:ext uri="{0D108BD9-81ED-4DB2-BD59-A6C34878D82A}">
                    <a16:rowId xmlns:a16="http://schemas.microsoft.com/office/drawing/2014/main" val="10005"/>
                  </a:ext>
                </a:extLst>
              </a:tr>
              <a:tr h="370840">
                <a:tc>
                  <a:txBody>
                    <a:bodyPr/>
                    <a:lstStyle/>
                    <a:p>
                      <a:r>
                        <a:rPr lang="en-IN" dirty="0" err="1"/>
                        <a:t>Dalit-Chambhar</a:t>
                      </a:r>
                      <a:endParaRPr lang="en-US" dirty="0"/>
                    </a:p>
                  </a:txBody>
                  <a:tcPr/>
                </a:tc>
                <a:tc>
                  <a:txBody>
                    <a:bodyPr/>
                    <a:lstStyle/>
                    <a:p>
                      <a:r>
                        <a:rPr lang="en-IN" dirty="0"/>
                        <a:t>11</a:t>
                      </a:r>
                      <a:endParaRPr lang="en-US" dirty="0"/>
                    </a:p>
                  </a:txBody>
                  <a:tcPr/>
                </a:tc>
                <a:extLst>
                  <a:ext uri="{0D108BD9-81ED-4DB2-BD59-A6C34878D82A}">
                    <a16:rowId xmlns:a16="http://schemas.microsoft.com/office/drawing/2014/main" val="10006"/>
                  </a:ext>
                </a:extLst>
              </a:tr>
              <a:tr h="370840">
                <a:tc>
                  <a:txBody>
                    <a:bodyPr/>
                    <a:lstStyle/>
                    <a:p>
                      <a:r>
                        <a:rPr lang="en-IN" dirty="0" err="1"/>
                        <a:t>Mahar</a:t>
                      </a:r>
                      <a:r>
                        <a:rPr lang="en-IN" dirty="0"/>
                        <a:t> </a:t>
                      </a:r>
                      <a:endParaRPr lang="en-US" dirty="0"/>
                    </a:p>
                  </a:txBody>
                  <a:tcPr/>
                </a:tc>
                <a:tc>
                  <a:txBody>
                    <a:bodyPr/>
                    <a:lstStyle/>
                    <a:p>
                      <a:r>
                        <a:rPr lang="en-IN" dirty="0"/>
                        <a:t>3+3 girls</a:t>
                      </a:r>
                      <a:endParaRPr lang="en-US" dirty="0"/>
                    </a:p>
                  </a:txBody>
                  <a:tcPr/>
                </a:tc>
                <a:extLst>
                  <a:ext uri="{0D108BD9-81ED-4DB2-BD59-A6C34878D82A}">
                    <a16:rowId xmlns:a16="http://schemas.microsoft.com/office/drawing/2014/main" val="10007"/>
                  </a:ext>
                </a:extLst>
              </a:tr>
              <a:tr h="370840">
                <a:tc>
                  <a:txBody>
                    <a:bodyPr/>
                    <a:lstStyle/>
                    <a:p>
                      <a:r>
                        <a:rPr lang="en-IN" dirty="0" err="1"/>
                        <a:t>Mang</a:t>
                      </a:r>
                      <a:endParaRPr lang="en-US" dirty="0"/>
                    </a:p>
                  </a:txBody>
                  <a:tcPr/>
                </a:tc>
                <a:tc>
                  <a:txBody>
                    <a:bodyPr/>
                    <a:lstStyle/>
                    <a:p>
                      <a:r>
                        <a:rPr lang="en-IN" dirty="0"/>
                        <a:t>1</a:t>
                      </a:r>
                      <a:endParaRPr lang="en-US" dirty="0"/>
                    </a:p>
                  </a:txBody>
                  <a:tcPr/>
                </a:tc>
                <a:extLst>
                  <a:ext uri="{0D108BD9-81ED-4DB2-BD59-A6C34878D82A}">
                    <a16:rowId xmlns:a16="http://schemas.microsoft.com/office/drawing/2014/main" val="10008"/>
                  </a:ext>
                </a:extLst>
              </a:tr>
              <a:tr h="370840">
                <a:tc>
                  <a:txBody>
                    <a:bodyPr/>
                    <a:lstStyle/>
                    <a:p>
                      <a:r>
                        <a:rPr lang="en-IN" dirty="0"/>
                        <a:t>Others</a:t>
                      </a:r>
                      <a:endParaRPr lang="en-US" dirty="0"/>
                    </a:p>
                  </a:txBody>
                  <a:tcPr/>
                </a:tc>
                <a:tc>
                  <a:txBody>
                    <a:bodyPr/>
                    <a:lstStyle/>
                    <a:p>
                      <a:r>
                        <a:rPr lang="en-IN" dirty="0"/>
                        <a:t>64</a:t>
                      </a:r>
                      <a:endParaRPr lang="en-US" dirty="0"/>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0070C0"/>
                </a:solidFill>
              </a:rPr>
              <a:t>‘National Education’ of Trevelyan 1838</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GB" sz="2300" dirty="0">
                <a:solidFill>
                  <a:srgbClr val="FF0000"/>
                </a:solidFill>
              </a:rPr>
              <a:t>‘The time has arrived for taking up the question of national education … </a:t>
            </a:r>
            <a:r>
              <a:rPr lang="en-IN" sz="2300" dirty="0">
                <a:solidFill>
                  <a:srgbClr val="FF0000"/>
                </a:solidFill>
              </a:rPr>
              <a:t>All we need to do is to bring people together, they will form into a nation’ </a:t>
            </a:r>
            <a:endParaRPr lang="en-US" sz="2300" dirty="0">
              <a:solidFill>
                <a:srgbClr val="FF0000"/>
              </a:solidFill>
            </a:endParaRPr>
          </a:p>
          <a:p>
            <a:r>
              <a:rPr lang="en-IN" sz="2300" dirty="0"/>
              <a:t>National Education - English medium schools with compulsory vernacular and one classical language Sanskrit/Arabic/Persian</a:t>
            </a:r>
          </a:p>
          <a:p>
            <a:r>
              <a:rPr lang="en-IN" sz="2300" dirty="0"/>
              <a:t>‘Just as Britain was benefitted by the study of Greek and Latin, India would be benefitted by the study of English’</a:t>
            </a:r>
          </a:p>
          <a:p>
            <a:r>
              <a:rPr lang="en-US" sz="2300" dirty="0"/>
              <a:t>Colonial State -Indians should be empowered through education but not enough to overthrow the Brit administration. </a:t>
            </a:r>
          </a:p>
          <a:p>
            <a:r>
              <a:rPr lang="en-US" sz="2300" dirty="0" err="1"/>
              <a:t>Ellenborough</a:t>
            </a:r>
            <a:r>
              <a:rPr lang="en-US" sz="2300" dirty="0"/>
              <a:t> - </a:t>
            </a:r>
            <a:r>
              <a:rPr lang="en-GB" sz="2300" b="1" dirty="0">
                <a:solidFill>
                  <a:srgbClr val="FF0000"/>
                </a:solidFill>
              </a:rPr>
              <a:t>‘If these gentlemen (Macaulay, Trevelyan and others) who wish to educate the natives of India were to succeed to the utmost extent of their desire, we should not remain in this country three months.’</a:t>
            </a:r>
          </a:p>
          <a:p>
            <a:endParaRPr lang="en-US" sz="2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GB" b="1">
                <a:solidFill>
                  <a:srgbClr val="0070C0"/>
                </a:solidFill>
              </a:rPr>
              <a:t>Policy of Incorporation- 1840-1882</a:t>
            </a:r>
            <a:endParaRPr lang="en-US" b="1">
              <a:solidFill>
                <a:srgbClr val="0070C0"/>
              </a:solidFill>
            </a:endParaRPr>
          </a:p>
        </p:txBody>
      </p:sp>
      <p:sp>
        <p:nvSpPr>
          <p:cNvPr id="3" name="Content Placeholder 2"/>
          <p:cNvSpPr>
            <a:spLocks noGrp="1"/>
          </p:cNvSpPr>
          <p:nvPr>
            <p:ph idx="1"/>
          </p:nvPr>
        </p:nvSpPr>
        <p:spPr/>
        <p:txBody>
          <a:bodyPr rtlCol="0">
            <a:noAutofit/>
          </a:bodyPr>
          <a:lstStyle/>
          <a:p>
            <a:r>
              <a:rPr lang="en-US" sz="2300" dirty="0">
                <a:solidFill>
                  <a:srgbClr val="FF0000"/>
                </a:solidFill>
              </a:rPr>
              <a:t>Macaulay’s Minute was replaced by Auckland’s Education Minute 24 Nov 1839 </a:t>
            </a:r>
          </a:p>
          <a:p>
            <a:r>
              <a:rPr lang="en-IN" sz="2300" dirty="0"/>
              <a:t>All Macaulay’s schools closed down/ Bareilly – saved by </a:t>
            </a:r>
            <a:r>
              <a:rPr lang="en-US" sz="2300" dirty="0" err="1"/>
              <a:t>Nawab</a:t>
            </a:r>
            <a:r>
              <a:rPr lang="en-US" sz="2300" dirty="0"/>
              <a:t> of Rampur + local people</a:t>
            </a:r>
            <a:endParaRPr lang="en-US" sz="2300" dirty="0">
              <a:solidFill>
                <a:srgbClr val="FF0000"/>
              </a:solidFill>
            </a:endParaRPr>
          </a:p>
          <a:p>
            <a:r>
              <a:rPr lang="en-GB" sz="2300" dirty="0"/>
              <a:t>Auckland - </a:t>
            </a:r>
            <a:r>
              <a:rPr lang="en-IN" sz="2300" dirty="0"/>
              <a:t>for setting up a </a:t>
            </a:r>
            <a:r>
              <a:rPr lang="en-IN" sz="2300" dirty="0">
                <a:solidFill>
                  <a:srgbClr val="FF0000"/>
                </a:solidFill>
              </a:rPr>
              <a:t>‘National System of Education for the entire country based on the foundation of indigenous schools’</a:t>
            </a:r>
          </a:p>
          <a:p>
            <a:pPr>
              <a:spcAft>
                <a:spcPts val="0"/>
              </a:spcAft>
              <a:buFont typeface="Arial" pitchFamily="34" charset="0"/>
              <a:buChar char="•"/>
              <a:defRPr/>
            </a:pPr>
            <a:r>
              <a:rPr lang="en-IN" sz="2300" dirty="0"/>
              <a:t>Adopted 70,000 indigenous schools 1840-1881 - gave 1 month teacher training on how to maintain </a:t>
            </a:r>
            <a:r>
              <a:rPr lang="en-GB" sz="2300" dirty="0"/>
              <a:t>attendance register, prepare quarterly and annual reports, use maps and globs to teach geography.</a:t>
            </a:r>
          </a:p>
          <a:p>
            <a:pPr>
              <a:defRPr/>
            </a:pPr>
            <a:r>
              <a:rPr lang="en-IN" sz="2300" dirty="0"/>
              <a:t>5 rupees a month as salary/ pension after completing 20 years of service</a:t>
            </a:r>
            <a:endParaRPr lang="en-GB" sz="2300" dirty="0"/>
          </a:p>
          <a:p>
            <a:r>
              <a:rPr lang="en-GB" sz="2300" dirty="0">
                <a:solidFill>
                  <a:srgbClr val="FF0000"/>
                </a:solidFill>
              </a:rPr>
              <a:t>Curriculum – indigenous curriculum (language, literature, arithmetic) + geography and history/ No English – Class 1-7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52600" y="152401"/>
          <a:ext cx="8686800" cy="6312719"/>
        </p:xfrm>
        <a:graphic>
          <a:graphicData uri="http://schemas.openxmlformats.org/drawingml/2006/table">
            <a:tbl>
              <a:tblPr/>
              <a:tblGrid>
                <a:gridCol w="2398062">
                  <a:extLst>
                    <a:ext uri="{9D8B030D-6E8A-4147-A177-3AD203B41FA5}">
                      <a16:colId xmlns:a16="http://schemas.microsoft.com/office/drawing/2014/main" val="20000"/>
                    </a:ext>
                  </a:extLst>
                </a:gridCol>
                <a:gridCol w="3732516">
                  <a:extLst>
                    <a:ext uri="{9D8B030D-6E8A-4147-A177-3AD203B41FA5}">
                      <a16:colId xmlns:a16="http://schemas.microsoft.com/office/drawing/2014/main" val="20001"/>
                    </a:ext>
                  </a:extLst>
                </a:gridCol>
                <a:gridCol w="2556222">
                  <a:extLst>
                    <a:ext uri="{9D8B030D-6E8A-4147-A177-3AD203B41FA5}">
                      <a16:colId xmlns:a16="http://schemas.microsoft.com/office/drawing/2014/main" val="20002"/>
                    </a:ext>
                  </a:extLst>
                </a:gridCol>
              </a:tblGrid>
              <a:tr h="271754">
                <a:tc>
                  <a:txBody>
                    <a:bodyPr/>
                    <a:lstStyle/>
                    <a:p>
                      <a:pPr>
                        <a:lnSpc>
                          <a:spcPct val="100000"/>
                        </a:lnSpc>
                        <a:spcAft>
                          <a:spcPts val="0"/>
                        </a:spcAft>
                        <a:tabLst>
                          <a:tab pos="450215" algn="l"/>
                        </a:tabLst>
                      </a:pPr>
                      <a:r>
                        <a:rPr lang="en-US" sz="1800" b="1" dirty="0">
                          <a:solidFill>
                            <a:srgbClr val="FF0000"/>
                          </a:solidFill>
                          <a:latin typeface="Times New Roman" pitchFamily="18" charset="0"/>
                          <a:ea typeface="Times New Roman"/>
                          <a:cs typeface="Times New Roman" pitchFamily="18" charset="0"/>
                        </a:rPr>
                        <a:t>Hindi</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dirty="0">
                          <a:solidFill>
                            <a:srgbClr val="FF0000"/>
                          </a:solidFill>
                          <a:latin typeface="Times New Roman" pitchFamily="18" charset="0"/>
                          <a:ea typeface="Times New Roman"/>
                          <a:cs typeface="Times New Roman" pitchFamily="18" charset="0"/>
                        </a:rPr>
                        <a:t>Gujarati</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dirty="0">
                          <a:solidFill>
                            <a:srgbClr val="FF0000"/>
                          </a:solidFill>
                          <a:latin typeface="Times New Roman" pitchFamily="18" charset="0"/>
                          <a:ea typeface="Times New Roman"/>
                          <a:cs typeface="Times New Roman" pitchFamily="18" charset="0"/>
                        </a:rPr>
                        <a:t>Marathi</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7680">
                <a:tc>
                  <a:txBody>
                    <a:bodyPr/>
                    <a:lstStyle/>
                    <a:p>
                      <a:pPr>
                        <a:lnSpc>
                          <a:spcPct val="100000"/>
                        </a:lnSpc>
                        <a:spcAft>
                          <a:spcPts val="0"/>
                        </a:spcAft>
                        <a:tabLst>
                          <a:tab pos="450215" algn="l"/>
                        </a:tabLst>
                      </a:pPr>
                      <a:r>
                        <a:rPr lang="en-US" sz="1800" b="1" i="0" dirty="0" err="1">
                          <a:latin typeface="Times New Roman" pitchFamily="18" charset="0"/>
                          <a:ea typeface="Times New Roman"/>
                          <a:cs typeface="Times New Roman" pitchFamily="18" charset="0"/>
                        </a:rPr>
                        <a:t>Akshar</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Dipika</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a:latin typeface="Times New Roman" pitchFamily="18" charset="0"/>
                          <a:ea typeface="Times New Roman"/>
                          <a:cs typeface="Times New Roman" pitchFamily="18" charset="0"/>
                        </a:rPr>
                        <a:t>Balmitra</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a:solidFill>
                            <a:schemeClr val="tx1"/>
                          </a:solidFill>
                          <a:latin typeface="Times New Roman" pitchFamily="18" charset="0"/>
                          <a:ea typeface="Times New Roman"/>
                          <a:cs typeface="Times New Roman" pitchFamily="18" charset="0"/>
                        </a:rPr>
                        <a:t>Bal </a:t>
                      </a:r>
                      <a:r>
                        <a:rPr lang="en-US" sz="1800" b="1" i="0" dirty="0" err="1">
                          <a:solidFill>
                            <a:schemeClr val="tx1"/>
                          </a:solidFill>
                          <a:latin typeface="Times New Roman" pitchFamily="18" charset="0"/>
                          <a:ea typeface="Times New Roman"/>
                          <a:cs typeface="Times New Roman" pitchFamily="18" charset="0"/>
                        </a:rPr>
                        <a:t>Mitra</a:t>
                      </a:r>
                      <a:endParaRPr lang="en-US" sz="1800" b="1" i="0" dirty="0">
                        <a:solidFill>
                          <a:schemeClr val="tx1"/>
                        </a:solidFill>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4799">
                <a:tc>
                  <a:txBody>
                    <a:bodyPr/>
                    <a:lstStyle/>
                    <a:p>
                      <a:pPr>
                        <a:lnSpc>
                          <a:spcPct val="100000"/>
                        </a:lnSpc>
                        <a:spcAft>
                          <a:spcPts val="0"/>
                        </a:spcAft>
                        <a:tabLst>
                          <a:tab pos="450215" algn="l"/>
                        </a:tabLst>
                      </a:pPr>
                      <a:r>
                        <a:rPr lang="en-US" sz="1800" b="1" i="0" dirty="0" err="1">
                          <a:latin typeface="Times New Roman" pitchFamily="18" charset="0"/>
                          <a:ea typeface="Times New Roman"/>
                          <a:cs typeface="Times New Roman" pitchFamily="18" charset="0"/>
                        </a:rPr>
                        <a:t>Baran</a:t>
                      </a:r>
                      <a:r>
                        <a:rPr lang="en-US" sz="1800" b="1" i="0" dirty="0">
                          <a:latin typeface="Times New Roman" pitchFamily="18" charset="0"/>
                          <a:ea typeface="Times New Roman"/>
                          <a:cs typeface="Times New Roman" pitchFamily="18" charset="0"/>
                        </a:rPr>
                        <a:t> Mala</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latin typeface="Times New Roman" pitchFamily="18" charset="0"/>
                          <a:ea typeface="Times New Roman"/>
                          <a:cs typeface="Times New Roman" pitchFamily="18" charset="0"/>
                        </a:rPr>
                        <a:t>Kavita</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Sangraha</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latin typeface="Times New Roman" pitchFamily="18" charset="0"/>
                          <a:ea typeface="Times New Roman"/>
                          <a:cs typeface="Times New Roman" pitchFamily="18" charset="0"/>
                        </a:rPr>
                        <a:t>Niti</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Bodh</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Katha</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1754">
                <a:tc>
                  <a:txBody>
                    <a:bodyPr/>
                    <a:lstStyle/>
                    <a:p>
                      <a:pPr>
                        <a:lnSpc>
                          <a:spcPct val="100000"/>
                        </a:lnSpc>
                        <a:spcAft>
                          <a:spcPts val="0"/>
                        </a:spcAft>
                        <a:tabLst>
                          <a:tab pos="450215" algn="l"/>
                        </a:tabLst>
                      </a:pPr>
                      <a:r>
                        <a:rPr lang="en-US" sz="1800" b="1" i="0" dirty="0">
                          <a:latin typeface="Times New Roman" pitchFamily="18" charset="0"/>
                          <a:ea typeface="Times New Roman"/>
                          <a:cs typeface="Times New Roman" pitchFamily="18" charset="0"/>
                        </a:rPr>
                        <a:t>Bal </a:t>
                      </a:r>
                      <a:r>
                        <a:rPr lang="en-US" sz="1800" b="1" i="0" dirty="0" err="1">
                          <a:latin typeface="Times New Roman" pitchFamily="18" charset="0"/>
                          <a:ea typeface="Times New Roman"/>
                          <a:cs typeface="Times New Roman" pitchFamily="18" charset="0"/>
                        </a:rPr>
                        <a:t>Bodh</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a:latin typeface="Times New Roman" pitchFamily="18" charset="0"/>
                          <a:ea typeface="Times New Roman"/>
                          <a:cs typeface="Times New Roman" pitchFamily="18" charset="0"/>
                        </a:rPr>
                        <a:t>Karanghelo</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err="1">
                          <a:latin typeface="Times New Roman" pitchFamily="18" charset="0"/>
                          <a:ea typeface="Times New Roman"/>
                          <a:cs typeface="Times New Roman" pitchFamily="18" charset="0"/>
                        </a:rPr>
                        <a:t>Vidur</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Niti</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3880">
                <a:tc>
                  <a:txBody>
                    <a:bodyPr/>
                    <a:lstStyle/>
                    <a:p>
                      <a:pPr>
                        <a:lnSpc>
                          <a:spcPct val="100000"/>
                        </a:lnSpc>
                        <a:spcAft>
                          <a:spcPts val="0"/>
                        </a:spcAft>
                        <a:tabLst>
                          <a:tab pos="450215" algn="l"/>
                        </a:tabLst>
                      </a:pPr>
                      <a:r>
                        <a:rPr lang="en-US" sz="1800" b="1" i="0" dirty="0">
                          <a:latin typeface="Times New Roman" pitchFamily="18" charset="0"/>
                          <a:ea typeface="Times New Roman"/>
                          <a:cs typeface="Times New Roman" pitchFamily="18" charset="0"/>
                        </a:rPr>
                        <a:t>Ramayana of </a:t>
                      </a:r>
                      <a:r>
                        <a:rPr lang="en-US" sz="1800" b="1" i="0" dirty="0" err="1">
                          <a:latin typeface="Times New Roman" pitchFamily="18" charset="0"/>
                          <a:ea typeface="Times New Roman"/>
                          <a:cs typeface="Times New Roman" pitchFamily="18" charset="0"/>
                        </a:rPr>
                        <a:t>Tulsi</a:t>
                      </a:r>
                      <a:r>
                        <a:rPr lang="en-US" sz="1800" b="1" i="0" dirty="0">
                          <a:latin typeface="Times New Roman" pitchFamily="18" charset="0"/>
                          <a:ea typeface="Times New Roman"/>
                          <a:cs typeface="Times New Roman" pitchFamily="18" charset="0"/>
                        </a:rPr>
                        <a:t> Das</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err="1">
                          <a:latin typeface="Times New Roman" pitchFamily="18" charset="0"/>
                          <a:ea typeface="Times New Roman"/>
                          <a:cs typeface="Times New Roman" pitchFamily="18" charset="0"/>
                        </a:rPr>
                        <a:t>Narmadashankar’s</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Nalakhyana</a:t>
                      </a:r>
                      <a:endParaRPr lang="en-US" sz="1800" b="1" i="0" dirty="0">
                        <a:latin typeface="Times New Roman" pitchFamily="18" charset="0"/>
                        <a:ea typeface="Times New Roman"/>
                        <a:cs typeface="Times New Roman" pitchFamily="18" charset="0"/>
                      </a:endParaRPr>
                    </a:p>
                    <a:p>
                      <a:pPr>
                        <a:lnSpc>
                          <a:spcPct val="100000"/>
                        </a:lnSpc>
                        <a:spcAft>
                          <a:spcPts val="0"/>
                        </a:spcAft>
                        <a:tabLst>
                          <a:tab pos="450215" algn="l"/>
                        </a:tabLst>
                      </a:pP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latin typeface="Times New Roman" pitchFamily="18" charset="0"/>
                          <a:ea typeface="Times New Roman"/>
                          <a:cs typeface="Times New Roman" pitchFamily="18" charset="0"/>
                        </a:rPr>
                        <a:t>Dadob’s</a:t>
                      </a:r>
                      <a:r>
                        <a:rPr lang="en-US" sz="1800" b="1" i="0" dirty="0">
                          <a:latin typeface="Times New Roman" pitchFamily="18" charset="0"/>
                          <a:ea typeface="Times New Roman"/>
                          <a:cs typeface="Times New Roman" pitchFamily="18" charset="0"/>
                        </a:rPr>
                        <a:t> Marathi Grammar</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err="1">
                          <a:latin typeface="Times New Roman" pitchFamily="18" charset="0"/>
                          <a:ea typeface="Times New Roman"/>
                          <a:cs typeface="Times New Roman" pitchFamily="18" charset="0"/>
                        </a:rPr>
                        <a:t>Bhasha</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Bhaskar</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err="1">
                          <a:latin typeface="Times New Roman" pitchFamily="18" charset="0"/>
                          <a:ea typeface="Times New Roman"/>
                          <a:cs typeface="Times New Roman" pitchFamily="18" charset="0"/>
                        </a:rPr>
                        <a:t>Dalpatram’s</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Pingal</a:t>
                      </a:r>
                      <a:r>
                        <a:rPr lang="en-US" sz="1800" b="1" i="0" dirty="0">
                          <a:latin typeface="Times New Roman" pitchFamily="18" charset="0"/>
                          <a:ea typeface="Times New Roman"/>
                          <a:cs typeface="Times New Roman" pitchFamily="18" charset="0"/>
                        </a:rPr>
                        <a:t> (prosody)</a:t>
                      </a:r>
                    </a:p>
                    <a:p>
                      <a:pPr>
                        <a:lnSpc>
                          <a:spcPct val="100000"/>
                        </a:lnSpc>
                        <a:spcAft>
                          <a:spcPts val="0"/>
                        </a:spcAft>
                        <a:tabLst>
                          <a:tab pos="450215" algn="l"/>
                        </a:tabLst>
                      </a:pP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a:solidFill>
                            <a:srgbClr val="7030A0"/>
                          </a:solidFill>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Kekavali</a:t>
                      </a:r>
                      <a:r>
                        <a:rPr lang="en-US" sz="1800" b="1" i="0" dirty="0">
                          <a:latin typeface="Times New Roman" pitchFamily="18" charset="0"/>
                          <a:ea typeface="Times New Roman"/>
                          <a:cs typeface="Times New Roman" pitchFamily="18" charset="0"/>
                        </a:rPr>
                        <a:t> by </a:t>
                      </a:r>
                      <a:r>
                        <a:rPr lang="en-US" sz="1800" b="1" i="0" dirty="0" err="1">
                          <a:latin typeface="Times New Roman" pitchFamily="18" charset="0"/>
                          <a:ea typeface="Times New Roman"/>
                          <a:cs typeface="Times New Roman" pitchFamily="18" charset="0"/>
                        </a:rPr>
                        <a:t>Moropant</a:t>
                      </a:r>
                      <a:endParaRPr lang="en-US" sz="1800" b="1" i="0" dirty="0">
                        <a:latin typeface="Times New Roman" pitchFamily="18" charset="0"/>
                        <a:ea typeface="Times New Roman"/>
                        <a:cs typeface="Times New Roman" pitchFamily="18" charset="0"/>
                      </a:endParaRPr>
                    </a:p>
                    <a:p>
                      <a:pPr>
                        <a:lnSpc>
                          <a:spcPct val="100000"/>
                        </a:lnSpc>
                        <a:spcAft>
                          <a:spcPts val="0"/>
                        </a:spcAft>
                        <a:tabLst>
                          <a:tab pos="450215" algn="l"/>
                        </a:tabLst>
                      </a:pP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17680">
                <a:tc>
                  <a:txBody>
                    <a:bodyPr/>
                    <a:lstStyle/>
                    <a:p>
                      <a:pPr>
                        <a:lnSpc>
                          <a:spcPct val="100000"/>
                        </a:lnSpc>
                        <a:spcAft>
                          <a:spcPts val="0"/>
                        </a:spcAft>
                        <a:tabLst>
                          <a:tab pos="450215" algn="l"/>
                        </a:tabLst>
                      </a:pPr>
                      <a:r>
                        <a:rPr lang="en-US" sz="1800" b="1" i="0" dirty="0" err="1">
                          <a:solidFill>
                            <a:schemeClr val="tx1"/>
                          </a:solidFill>
                          <a:latin typeface="Times New Roman" pitchFamily="18" charset="0"/>
                          <a:ea typeface="Times New Roman"/>
                          <a:cs typeface="Times New Roman" pitchFamily="18" charset="0"/>
                        </a:rPr>
                        <a:t>Ganit</a:t>
                      </a:r>
                      <a:r>
                        <a:rPr lang="en-US" sz="1800" b="1" i="0" baseline="0" dirty="0">
                          <a:solidFill>
                            <a:schemeClr val="tx1"/>
                          </a:solidFill>
                          <a:latin typeface="Times New Roman" pitchFamily="18" charset="0"/>
                          <a:ea typeface="Times New Roman"/>
                          <a:cs typeface="Times New Roman" pitchFamily="18" charset="0"/>
                        </a:rPr>
                        <a:t> </a:t>
                      </a:r>
                      <a:r>
                        <a:rPr lang="en-US" sz="1800" b="1" i="0" baseline="0" dirty="0" err="1">
                          <a:solidFill>
                            <a:schemeClr val="tx1"/>
                          </a:solidFill>
                          <a:latin typeface="Times New Roman" pitchFamily="18" charset="0"/>
                          <a:ea typeface="Times New Roman"/>
                          <a:cs typeface="Times New Roman" pitchFamily="18" charset="0"/>
                        </a:rPr>
                        <a:t>Prakash</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a:latin typeface="Times New Roman" pitchFamily="18" charset="0"/>
                          <a:ea typeface="Times New Roman"/>
                          <a:cs typeface="Times New Roman" pitchFamily="18" charset="0"/>
                        </a:rPr>
                        <a:t>Aatodaya</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err="1">
                          <a:solidFill>
                            <a:srgbClr val="7030A0"/>
                          </a:solidFill>
                          <a:latin typeface="Times New Roman" pitchFamily="18" charset="0"/>
                          <a:ea typeface="Times New Roman"/>
                          <a:cs typeface="Times New Roman" pitchFamily="18" charset="0"/>
                        </a:rPr>
                        <a:t>Govind</a:t>
                      </a:r>
                      <a:r>
                        <a:rPr lang="en-US" sz="1800" b="1" i="0" dirty="0">
                          <a:solidFill>
                            <a:srgbClr val="7030A0"/>
                          </a:solidFill>
                          <a:latin typeface="Times New Roman" pitchFamily="18" charset="0"/>
                          <a:ea typeface="Times New Roman"/>
                          <a:cs typeface="Times New Roman" pitchFamily="18" charset="0"/>
                        </a:rPr>
                        <a:t> </a:t>
                      </a:r>
                      <a:r>
                        <a:rPr lang="en-US" sz="1800" b="1" i="0" dirty="0" err="1">
                          <a:solidFill>
                            <a:srgbClr val="7030A0"/>
                          </a:solidFill>
                          <a:latin typeface="Times New Roman" pitchFamily="18" charset="0"/>
                          <a:ea typeface="Times New Roman"/>
                          <a:cs typeface="Times New Roman" pitchFamily="18" charset="0"/>
                        </a:rPr>
                        <a:t>Narayan’s</a:t>
                      </a:r>
                      <a:r>
                        <a:rPr lang="en-US" sz="1800" b="1" i="0" dirty="0">
                          <a:solidFill>
                            <a:srgbClr val="7030A0"/>
                          </a:solidFill>
                          <a:latin typeface="Times New Roman" pitchFamily="18" charset="0"/>
                          <a:ea typeface="Times New Roman"/>
                          <a:cs typeface="Times New Roman" pitchFamily="18" charset="0"/>
                        </a:rPr>
                        <a:t> Books</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17680">
                <a:tc>
                  <a:txBody>
                    <a:bodyPr/>
                    <a:lstStyle/>
                    <a:p>
                      <a:pPr>
                        <a:lnSpc>
                          <a:spcPct val="100000"/>
                        </a:lnSpc>
                        <a:spcAft>
                          <a:spcPts val="0"/>
                        </a:spcAft>
                        <a:tabLst>
                          <a:tab pos="450215" algn="l"/>
                        </a:tabLst>
                      </a:pPr>
                      <a:r>
                        <a:rPr lang="en-US" sz="1800" b="1" i="0" dirty="0" err="1">
                          <a:latin typeface="Times New Roman" pitchFamily="18" charset="0"/>
                          <a:ea typeface="Times New Roman"/>
                          <a:cs typeface="Times New Roman" pitchFamily="18" charset="0"/>
                        </a:rPr>
                        <a:t>Patra</a:t>
                      </a:r>
                      <a:r>
                        <a:rPr lang="en-US" sz="1800" b="1" i="0" dirty="0">
                          <a:latin typeface="Times New Roman" pitchFamily="18" charset="0"/>
                          <a:ea typeface="Times New Roman"/>
                          <a:cs typeface="Times New Roman" pitchFamily="18" charset="0"/>
                        </a:rPr>
                        <a:t> </a:t>
                      </a:r>
                      <a:r>
                        <a:rPr lang="en-US" sz="1800" b="1" i="0" dirty="0" err="1">
                          <a:latin typeface="Times New Roman" pitchFamily="18" charset="0"/>
                          <a:ea typeface="Times New Roman"/>
                          <a:cs typeface="Times New Roman" pitchFamily="18" charset="0"/>
                        </a:rPr>
                        <a:t>Malika</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latin typeface="Times New Roman" pitchFamily="18" charset="0"/>
                          <a:ea typeface="Times New Roman"/>
                          <a:cs typeface="Times New Roman" pitchFamily="18" charset="0"/>
                        </a:rPr>
                        <a:t>Narmagadya</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solidFill>
                            <a:srgbClr val="7030A0"/>
                          </a:solidFill>
                          <a:latin typeface="Times New Roman" pitchFamily="18" charset="0"/>
                          <a:ea typeface="Times New Roman"/>
                          <a:cs typeface="Times New Roman" pitchFamily="18" charset="0"/>
                        </a:rPr>
                        <a:t>Parashuram</a:t>
                      </a:r>
                      <a:r>
                        <a:rPr lang="en-US" sz="1800" b="1" i="0" dirty="0">
                          <a:solidFill>
                            <a:srgbClr val="7030A0"/>
                          </a:solidFill>
                          <a:latin typeface="Times New Roman" pitchFamily="18" charset="0"/>
                          <a:ea typeface="Times New Roman"/>
                          <a:cs typeface="Times New Roman" pitchFamily="18" charset="0"/>
                        </a:rPr>
                        <a:t> Pant’s Book</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673400">
                <a:tc>
                  <a:txBody>
                    <a:bodyPr/>
                    <a:lstStyle/>
                    <a:p>
                      <a:pPr>
                        <a:lnSpc>
                          <a:spcPct val="100000"/>
                        </a:lnSpc>
                        <a:spcAft>
                          <a:spcPts val="0"/>
                        </a:spcAft>
                        <a:tabLst>
                          <a:tab pos="450215" algn="l"/>
                        </a:tabLst>
                      </a:pPr>
                      <a:r>
                        <a:rPr lang="en-IN" sz="1800" b="1" i="0" kern="1200" dirty="0" err="1">
                          <a:solidFill>
                            <a:srgbClr val="7030A0"/>
                          </a:solidFill>
                          <a:latin typeface="Times New Roman" pitchFamily="18" charset="0"/>
                          <a:ea typeface="+mn-ea"/>
                          <a:cs typeface="Times New Roman" pitchFamily="18" charset="0"/>
                        </a:rPr>
                        <a:t>Kissanapdesh</a:t>
                      </a:r>
                      <a:endParaRPr lang="en-US" sz="1800" b="1" i="0" dirty="0">
                        <a:solidFill>
                          <a:srgbClr val="7030A0"/>
                        </a:solidFill>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latin typeface="Times New Roman" pitchFamily="18" charset="0"/>
                          <a:ea typeface="Times New Roman"/>
                          <a:cs typeface="Times New Roman" pitchFamily="18" charset="0"/>
                        </a:rPr>
                        <a:t>Dalpatram’s</a:t>
                      </a:r>
                      <a:r>
                        <a:rPr lang="en-US" sz="1800" b="1" i="0" dirty="0">
                          <a:latin typeface="Times New Roman" pitchFamily="18" charset="0"/>
                          <a:ea typeface="Times New Roman"/>
                          <a:cs typeface="Times New Roman" pitchFamily="18" charset="0"/>
                        </a:rPr>
                        <a:t> Poems</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solidFill>
                            <a:srgbClr val="7030A0"/>
                          </a:solidFill>
                          <a:latin typeface="Times New Roman" pitchFamily="18" charset="0"/>
                          <a:ea typeface="Times New Roman"/>
                          <a:cs typeface="Times New Roman" pitchFamily="18" charset="0"/>
                        </a:rPr>
                        <a:t>Parashuram</a:t>
                      </a:r>
                      <a:r>
                        <a:rPr lang="en-US" sz="1800" b="1" i="0" dirty="0">
                          <a:solidFill>
                            <a:srgbClr val="7030A0"/>
                          </a:solidFill>
                          <a:latin typeface="Times New Roman" pitchFamily="18" charset="0"/>
                          <a:ea typeface="Times New Roman"/>
                          <a:cs typeface="Times New Roman" pitchFamily="18" charset="0"/>
                        </a:rPr>
                        <a:t> </a:t>
                      </a:r>
                      <a:r>
                        <a:rPr lang="en-US" sz="1800" b="1" i="0" dirty="0" err="1">
                          <a:solidFill>
                            <a:srgbClr val="7030A0"/>
                          </a:solidFill>
                          <a:latin typeface="Times New Roman" pitchFamily="18" charset="0"/>
                          <a:ea typeface="Times New Roman"/>
                          <a:cs typeface="Times New Roman" pitchFamily="18" charset="0"/>
                        </a:rPr>
                        <a:t>Shastri’s</a:t>
                      </a:r>
                      <a:r>
                        <a:rPr lang="en-US" sz="1800" b="1" i="0" dirty="0">
                          <a:solidFill>
                            <a:srgbClr val="7030A0"/>
                          </a:solidFill>
                          <a:latin typeface="Times New Roman" pitchFamily="18" charset="0"/>
                          <a:ea typeface="Times New Roman"/>
                          <a:cs typeface="Times New Roman" pitchFamily="18" charset="0"/>
                        </a:rPr>
                        <a:t> </a:t>
                      </a:r>
                      <a:r>
                        <a:rPr lang="en-US" sz="1800" b="1" i="0" dirty="0" err="1">
                          <a:solidFill>
                            <a:srgbClr val="7030A0"/>
                          </a:solidFill>
                          <a:latin typeface="Times New Roman" pitchFamily="18" charset="0"/>
                          <a:ea typeface="Times New Roman"/>
                          <a:cs typeface="Times New Roman" pitchFamily="18" charset="0"/>
                        </a:rPr>
                        <a:t>Muktamala</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626520">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err="1">
                          <a:solidFill>
                            <a:srgbClr val="7030A0"/>
                          </a:solidFill>
                          <a:latin typeface="Times New Roman" pitchFamily="18" charset="0"/>
                          <a:ea typeface="Times New Roman"/>
                          <a:cs typeface="Times New Roman" pitchFamily="18" charset="0"/>
                        </a:rPr>
                        <a:t>Shiv</a:t>
                      </a:r>
                      <a:r>
                        <a:rPr lang="en-US" sz="1800" b="1" i="0" dirty="0">
                          <a:solidFill>
                            <a:srgbClr val="7030A0"/>
                          </a:solidFill>
                          <a:latin typeface="Times New Roman" pitchFamily="18" charset="0"/>
                          <a:ea typeface="Times New Roman"/>
                          <a:cs typeface="Times New Roman" pitchFamily="18" charset="0"/>
                        </a:rPr>
                        <a:t> Prasad’s Hindi Primer</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solidFill>
                            <a:srgbClr val="7030A0"/>
                          </a:solidFill>
                          <a:latin typeface="Times New Roman" pitchFamily="18" charset="0"/>
                          <a:ea typeface="Times New Roman"/>
                          <a:cs typeface="Times New Roman" pitchFamily="18" charset="0"/>
                        </a:rPr>
                        <a:t>Mahipatram’s</a:t>
                      </a:r>
                      <a:r>
                        <a:rPr lang="en-US" sz="1800" b="1" i="0" dirty="0">
                          <a:solidFill>
                            <a:srgbClr val="7030A0"/>
                          </a:solidFill>
                          <a:latin typeface="Times New Roman" pitchFamily="18" charset="0"/>
                          <a:ea typeface="Times New Roman"/>
                          <a:cs typeface="Times New Roman" pitchFamily="18" charset="0"/>
                        </a:rPr>
                        <a:t> Travels in England</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a:solidFill>
                            <a:srgbClr val="7030A0"/>
                          </a:solidFill>
                          <a:latin typeface="Times New Roman" pitchFamily="18" charset="0"/>
                          <a:ea typeface="Times New Roman"/>
                          <a:cs typeface="Times New Roman" pitchFamily="18" charset="0"/>
                        </a:rPr>
                        <a:t>Nana </a:t>
                      </a:r>
                      <a:r>
                        <a:rPr lang="en-US" sz="1800" b="1" i="0" dirty="0" err="1">
                          <a:solidFill>
                            <a:srgbClr val="7030A0"/>
                          </a:solidFill>
                          <a:latin typeface="Times New Roman" pitchFamily="18" charset="0"/>
                          <a:ea typeface="Times New Roman"/>
                          <a:cs typeface="Times New Roman" pitchFamily="18" charset="0"/>
                        </a:rPr>
                        <a:t>Shastri</a:t>
                      </a:r>
                      <a:r>
                        <a:rPr lang="en-US" sz="1800" b="1" i="0" dirty="0">
                          <a:solidFill>
                            <a:srgbClr val="7030A0"/>
                          </a:solidFill>
                          <a:latin typeface="Times New Roman" pitchFamily="18" charset="0"/>
                          <a:ea typeface="Times New Roman"/>
                          <a:cs typeface="Times New Roman" pitchFamily="18" charset="0"/>
                        </a:rPr>
                        <a:t> </a:t>
                      </a:r>
                      <a:r>
                        <a:rPr lang="en-US" sz="1800" b="1" i="0" dirty="0" err="1">
                          <a:solidFill>
                            <a:srgbClr val="7030A0"/>
                          </a:solidFill>
                          <a:latin typeface="Times New Roman" pitchFamily="18" charset="0"/>
                          <a:ea typeface="Times New Roman"/>
                          <a:cs typeface="Times New Roman" pitchFamily="18" charset="0"/>
                        </a:rPr>
                        <a:t>Apte’s</a:t>
                      </a:r>
                      <a:r>
                        <a:rPr lang="en-US" sz="1800" b="1" i="0" dirty="0">
                          <a:solidFill>
                            <a:srgbClr val="7030A0"/>
                          </a:solidFill>
                          <a:latin typeface="Times New Roman" pitchFamily="18" charset="0"/>
                          <a:ea typeface="Times New Roman"/>
                          <a:cs typeface="Times New Roman" pitchFamily="18" charset="0"/>
                        </a:rPr>
                        <a:t> Book</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17680">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err="1">
                          <a:solidFill>
                            <a:srgbClr val="FF0000"/>
                          </a:solidFill>
                          <a:latin typeface="Times New Roman" pitchFamily="18" charset="0"/>
                          <a:ea typeface="Times New Roman"/>
                          <a:cs typeface="Times New Roman" pitchFamily="18" charset="0"/>
                        </a:rPr>
                        <a:t>Surajpur</a:t>
                      </a:r>
                      <a:r>
                        <a:rPr lang="en-US" sz="1800" b="1" i="0" dirty="0">
                          <a:solidFill>
                            <a:srgbClr val="FF0000"/>
                          </a:solidFill>
                          <a:latin typeface="Times New Roman" pitchFamily="18" charset="0"/>
                          <a:ea typeface="Times New Roman"/>
                          <a:cs typeface="Times New Roman" pitchFamily="18" charset="0"/>
                        </a:rPr>
                        <a:t> </a:t>
                      </a:r>
                      <a:r>
                        <a:rPr lang="en-US" sz="1800" b="1" i="0" dirty="0" err="1">
                          <a:solidFill>
                            <a:srgbClr val="FF0000"/>
                          </a:solidFill>
                          <a:latin typeface="Times New Roman" pitchFamily="18" charset="0"/>
                          <a:ea typeface="Times New Roman"/>
                          <a:cs typeface="Times New Roman" pitchFamily="18" charset="0"/>
                        </a:rPr>
                        <a:t>ki</a:t>
                      </a:r>
                      <a:r>
                        <a:rPr lang="en-US" sz="1800" b="1" i="0" dirty="0">
                          <a:solidFill>
                            <a:srgbClr val="FF0000"/>
                          </a:solidFill>
                          <a:latin typeface="Times New Roman" pitchFamily="18" charset="0"/>
                          <a:ea typeface="Times New Roman"/>
                          <a:cs typeface="Times New Roman" pitchFamily="18" charset="0"/>
                        </a:rPr>
                        <a:t> </a:t>
                      </a:r>
                      <a:r>
                        <a:rPr lang="en-US" sz="1800" b="1" i="0" dirty="0" err="1">
                          <a:solidFill>
                            <a:srgbClr val="FF0000"/>
                          </a:solidFill>
                          <a:latin typeface="Times New Roman" pitchFamily="18" charset="0"/>
                          <a:ea typeface="Times New Roman"/>
                          <a:cs typeface="Times New Roman" pitchFamily="18" charset="0"/>
                        </a:rPr>
                        <a:t>Kahani</a:t>
                      </a:r>
                      <a:endParaRPr lang="en-US" sz="1800" b="1" i="0" dirty="0">
                        <a:solidFill>
                          <a:srgbClr val="FF0000"/>
                        </a:solidFill>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a:solidFill>
                            <a:srgbClr val="FF0000"/>
                          </a:solidFill>
                          <a:latin typeface="Times New Roman" pitchFamily="18" charset="0"/>
                          <a:ea typeface="Times New Roman"/>
                          <a:cs typeface="Times New Roman" pitchFamily="18" charset="0"/>
                        </a:rPr>
                        <a:t>Hope’s </a:t>
                      </a:r>
                      <a:r>
                        <a:rPr lang="en-US" sz="1800" b="1" i="0" dirty="0" err="1">
                          <a:solidFill>
                            <a:srgbClr val="FF0000"/>
                          </a:solidFill>
                          <a:latin typeface="Times New Roman" pitchFamily="18" charset="0"/>
                          <a:ea typeface="Times New Roman"/>
                          <a:cs typeface="Times New Roman" pitchFamily="18" charset="0"/>
                        </a:rPr>
                        <a:t>Guzetati</a:t>
                      </a:r>
                      <a:r>
                        <a:rPr lang="en-US" sz="1800" b="1" i="0" dirty="0">
                          <a:solidFill>
                            <a:srgbClr val="FF0000"/>
                          </a:solidFill>
                          <a:latin typeface="Times New Roman" pitchFamily="18" charset="0"/>
                          <a:ea typeface="Times New Roman"/>
                          <a:cs typeface="Times New Roman" pitchFamily="18" charset="0"/>
                        </a:rPr>
                        <a:t> Reading Series</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err="1">
                          <a:solidFill>
                            <a:srgbClr val="7030A0"/>
                          </a:solidFill>
                          <a:latin typeface="Times New Roman" pitchFamily="18" charset="0"/>
                          <a:ea typeface="Times New Roman"/>
                          <a:cs typeface="Times New Roman" pitchFamily="18" charset="0"/>
                        </a:rPr>
                        <a:t>Vinayak</a:t>
                      </a:r>
                      <a:r>
                        <a:rPr lang="en-US" sz="1800" b="1" i="0" dirty="0">
                          <a:solidFill>
                            <a:srgbClr val="7030A0"/>
                          </a:solidFill>
                          <a:latin typeface="Times New Roman" pitchFamily="18" charset="0"/>
                          <a:ea typeface="Times New Roman"/>
                          <a:cs typeface="Times New Roman" pitchFamily="18" charset="0"/>
                        </a:rPr>
                        <a:t> K. </a:t>
                      </a:r>
                      <a:r>
                        <a:rPr lang="en-US" sz="1800" b="1" i="0" dirty="0" err="1">
                          <a:solidFill>
                            <a:srgbClr val="7030A0"/>
                          </a:solidFill>
                          <a:latin typeface="Times New Roman" pitchFamily="18" charset="0"/>
                          <a:ea typeface="Times New Roman"/>
                          <a:cs typeface="Times New Roman" pitchFamily="18" charset="0"/>
                        </a:rPr>
                        <a:t>Oke’s</a:t>
                      </a:r>
                      <a:r>
                        <a:rPr lang="en-US" sz="1800" b="1" i="0" dirty="0">
                          <a:solidFill>
                            <a:srgbClr val="7030A0"/>
                          </a:solidFill>
                          <a:latin typeface="Times New Roman" pitchFamily="18" charset="0"/>
                          <a:ea typeface="Times New Roman"/>
                          <a:cs typeface="Times New Roman" pitchFamily="18" charset="0"/>
                        </a:rPr>
                        <a:t> Books</a:t>
                      </a: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626520">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err="1">
                          <a:solidFill>
                            <a:srgbClr val="FF0000"/>
                          </a:solidFill>
                          <a:latin typeface="Times New Roman" pitchFamily="18" charset="0"/>
                          <a:ea typeface="Times New Roman"/>
                          <a:cs typeface="Times New Roman" pitchFamily="18" charset="0"/>
                        </a:rPr>
                        <a:t>Dharm</a:t>
                      </a:r>
                      <a:r>
                        <a:rPr lang="en-US" sz="1800" b="1" i="0" dirty="0">
                          <a:solidFill>
                            <a:srgbClr val="FF0000"/>
                          </a:solidFill>
                          <a:latin typeface="Times New Roman" pitchFamily="18" charset="0"/>
                          <a:ea typeface="Times New Roman"/>
                          <a:cs typeface="Times New Roman" pitchFamily="18" charset="0"/>
                        </a:rPr>
                        <a:t> Singh ka </a:t>
                      </a:r>
                      <a:r>
                        <a:rPr lang="en-US" sz="1800" b="1" i="0" dirty="0" err="1">
                          <a:solidFill>
                            <a:srgbClr val="FF0000"/>
                          </a:solidFill>
                          <a:latin typeface="Times New Roman" pitchFamily="18" charset="0"/>
                          <a:ea typeface="Times New Roman"/>
                          <a:cs typeface="Times New Roman" pitchFamily="18" charset="0"/>
                        </a:rPr>
                        <a:t>Vrittant</a:t>
                      </a:r>
                      <a:endParaRPr lang="en-US" sz="1800" b="1" i="0" dirty="0">
                        <a:solidFill>
                          <a:srgbClr val="FF0000"/>
                        </a:solidFill>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a:solidFill>
                            <a:srgbClr val="FF0000"/>
                          </a:solidFill>
                          <a:latin typeface="Times New Roman" pitchFamily="18" charset="0"/>
                          <a:ea typeface="Times New Roman"/>
                          <a:cs typeface="Times New Roman" pitchFamily="18" charset="0"/>
                        </a:rPr>
                        <a:t>Hope’s Gujarati Grammar</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a:solidFill>
                            <a:srgbClr val="7030A0"/>
                          </a:solidFill>
                          <a:latin typeface="Times New Roman" pitchFamily="18" charset="0"/>
                          <a:ea typeface="Times New Roman"/>
                          <a:cs typeface="Times New Roman" pitchFamily="18" charset="0"/>
                        </a:rPr>
                        <a:t>Krishna </a:t>
                      </a:r>
                      <a:r>
                        <a:rPr lang="en-US" sz="1800" b="1" i="0" dirty="0" err="1">
                          <a:solidFill>
                            <a:srgbClr val="7030A0"/>
                          </a:solidFill>
                          <a:latin typeface="Times New Roman" pitchFamily="18" charset="0"/>
                          <a:ea typeface="Times New Roman"/>
                          <a:cs typeface="Times New Roman" pitchFamily="18" charset="0"/>
                        </a:rPr>
                        <a:t>Shastri’s</a:t>
                      </a:r>
                      <a:r>
                        <a:rPr lang="en-US" sz="1800" b="1" i="0" dirty="0">
                          <a:solidFill>
                            <a:srgbClr val="7030A0"/>
                          </a:solidFill>
                          <a:latin typeface="Times New Roman" pitchFamily="18" charset="0"/>
                          <a:ea typeface="Times New Roman"/>
                          <a:cs typeface="Times New Roman" pitchFamily="18" charset="0"/>
                        </a:rPr>
                        <a:t> </a:t>
                      </a:r>
                      <a:r>
                        <a:rPr lang="en-US" sz="1800" b="1" i="0" dirty="0" err="1">
                          <a:solidFill>
                            <a:srgbClr val="7030A0"/>
                          </a:solidFill>
                          <a:latin typeface="Times New Roman" pitchFamily="18" charset="0"/>
                          <a:ea typeface="Times New Roman"/>
                          <a:cs typeface="Times New Roman" pitchFamily="18" charset="0"/>
                        </a:rPr>
                        <a:t>Anek</a:t>
                      </a:r>
                      <a:r>
                        <a:rPr lang="en-US" sz="1800" b="1" i="0" dirty="0">
                          <a:solidFill>
                            <a:srgbClr val="7030A0"/>
                          </a:solidFill>
                          <a:latin typeface="Times New Roman" pitchFamily="18" charset="0"/>
                          <a:ea typeface="Times New Roman"/>
                          <a:cs typeface="Times New Roman" pitchFamily="18" charset="0"/>
                        </a:rPr>
                        <a:t> </a:t>
                      </a:r>
                      <a:r>
                        <a:rPr lang="en-US" sz="1800" b="1" i="0" dirty="0" err="1">
                          <a:solidFill>
                            <a:srgbClr val="7030A0"/>
                          </a:solidFill>
                          <a:latin typeface="Times New Roman" pitchFamily="18" charset="0"/>
                          <a:ea typeface="Times New Roman"/>
                          <a:cs typeface="Times New Roman" pitchFamily="18" charset="0"/>
                        </a:rPr>
                        <a:t>Vidya</a:t>
                      </a: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543509">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a:solidFill>
                            <a:srgbClr val="00B050"/>
                          </a:solidFill>
                          <a:latin typeface="Times New Roman" pitchFamily="18" charset="0"/>
                          <a:ea typeface="Times New Roman"/>
                          <a:cs typeface="Times New Roman" pitchFamily="18" charset="0"/>
                        </a:rPr>
                        <a:t>Geography, sanitation, </a:t>
                      </a:r>
                    </a:p>
                    <a:p>
                      <a:pPr>
                        <a:lnSpc>
                          <a:spcPct val="100000"/>
                        </a:lnSpc>
                        <a:spcAft>
                          <a:spcPts val="0"/>
                        </a:spcAft>
                        <a:tabLst>
                          <a:tab pos="450215" algn="l"/>
                        </a:tabLst>
                      </a:pPr>
                      <a:endParaRPr lang="en-US" sz="1800" b="1" i="0" dirty="0">
                        <a:solidFill>
                          <a:srgbClr val="00B050"/>
                        </a:solidFill>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tabLst>
                          <a:tab pos="450215" algn="l"/>
                        </a:tabLst>
                      </a:pPr>
                      <a:r>
                        <a:rPr lang="en-US" sz="1800" b="1" i="0" dirty="0">
                          <a:solidFill>
                            <a:srgbClr val="00B050"/>
                          </a:solidFill>
                          <a:latin typeface="Times New Roman" pitchFamily="18" charset="0"/>
                          <a:ea typeface="Times New Roman"/>
                          <a:cs typeface="Times New Roman" pitchFamily="18" charset="0"/>
                        </a:rPr>
                        <a:t>Cholera, advice to peasants,</a:t>
                      </a:r>
                      <a:r>
                        <a:rPr lang="en-US" sz="1800" b="1" i="0" baseline="0" dirty="0">
                          <a:solidFill>
                            <a:srgbClr val="00B050"/>
                          </a:solidFill>
                          <a:latin typeface="Times New Roman" pitchFamily="18" charset="0"/>
                          <a:ea typeface="Times New Roman"/>
                          <a:cs typeface="Times New Roman" pitchFamily="18" charset="0"/>
                        </a:rPr>
                        <a:t> girl’s education etc</a:t>
                      </a:r>
                      <a:endParaRPr lang="en-US" sz="1800" b="1" i="0" dirty="0">
                        <a:solidFill>
                          <a:srgbClr val="00B050"/>
                        </a:solidFill>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450215" algn="l"/>
                        </a:tabLst>
                        <a:defRPr/>
                      </a:pPr>
                      <a:r>
                        <a:rPr lang="en-US" sz="1800" b="1" i="0" dirty="0">
                          <a:solidFill>
                            <a:srgbClr val="FF0000"/>
                          </a:solidFill>
                          <a:latin typeface="Times New Roman" pitchFamily="18" charset="0"/>
                          <a:ea typeface="Times New Roman"/>
                          <a:cs typeface="Times New Roman" pitchFamily="18" charset="0"/>
                        </a:rPr>
                        <a:t>Aesop’s Fables /Marathi</a:t>
                      </a:r>
                      <a:endParaRPr lang="en-US" sz="1800" b="1" i="0" dirty="0">
                        <a:latin typeface="Times New Roman" pitchFamily="18" charset="0"/>
                        <a:ea typeface="Times New Roman"/>
                        <a:cs typeface="Times New Roman" pitchFamily="18" charset="0"/>
                      </a:endParaRPr>
                    </a:p>
                    <a:p>
                      <a:pPr>
                        <a:lnSpc>
                          <a:spcPct val="100000"/>
                        </a:lnSpc>
                        <a:spcAft>
                          <a:spcPts val="0"/>
                        </a:spcAft>
                        <a:tabLst>
                          <a:tab pos="450215" algn="l"/>
                        </a:tabLst>
                      </a:pPr>
                      <a:endParaRPr lang="en-US" sz="1800" b="1" i="0" dirty="0">
                        <a:latin typeface="Times New Roman" pitchFamily="18" charset="0"/>
                        <a:ea typeface="Times New Roman"/>
                        <a:cs typeface="Times New Roman" pitchFamily="18" charset="0"/>
                      </a:endParaRPr>
                    </a:p>
                  </a:txBody>
                  <a:tcPr marL="53009" marR="530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52600" y="152401"/>
          <a:ext cx="8610600" cy="6704017"/>
        </p:xfrm>
        <a:graphic>
          <a:graphicData uri="http://schemas.openxmlformats.org/drawingml/2006/table">
            <a:tbl>
              <a:tblPr/>
              <a:tblGrid>
                <a:gridCol w="2735263">
                  <a:extLst>
                    <a:ext uri="{9D8B030D-6E8A-4147-A177-3AD203B41FA5}">
                      <a16:colId xmlns:a16="http://schemas.microsoft.com/office/drawing/2014/main" val="20000"/>
                    </a:ext>
                  </a:extLst>
                </a:gridCol>
                <a:gridCol w="2841625">
                  <a:extLst>
                    <a:ext uri="{9D8B030D-6E8A-4147-A177-3AD203B41FA5}">
                      <a16:colId xmlns:a16="http://schemas.microsoft.com/office/drawing/2014/main" val="20001"/>
                    </a:ext>
                  </a:extLst>
                </a:gridCol>
                <a:gridCol w="3033712">
                  <a:extLst>
                    <a:ext uri="{9D8B030D-6E8A-4147-A177-3AD203B41FA5}">
                      <a16:colId xmlns:a16="http://schemas.microsoft.com/office/drawing/2014/main" val="20002"/>
                    </a:ext>
                  </a:extLst>
                </a:gridCol>
              </a:tblGrid>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dirty="0">
                          <a:ln>
                            <a:noFill/>
                          </a:ln>
                          <a:solidFill>
                            <a:srgbClr val="FF0000"/>
                          </a:solidFill>
                          <a:effectLst/>
                          <a:latin typeface="Times New Roman" pitchFamily="18" charset="0"/>
                          <a:cs typeface="Times New Roman" pitchFamily="18" charset="0"/>
                        </a:rPr>
                        <a:t>Kannada</a:t>
                      </a:r>
                      <a:endParaRPr kumimoji="0" lang="en-US" sz="2000" b="1" i="0" u="none" strike="noStrike" cap="none" normalizeH="0" baseline="0" dirty="0">
                        <a:ln>
                          <a:noFill/>
                        </a:ln>
                        <a:solidFill>
                          <a:srgbClr val="FF0000"/>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rgbClr val="FF0000"/>
                          </a:solidFill>
                          <a:effectLst/>
                          <a:latin typeface="Times New Roman" pitchFamily="18" charset="0"/>
                          <a:cs typeface="Times New Roman" pitchFamily="18" charset="0"/>
                        </a:rPr>
                        <a:t>Telugu</a:t>
                      </a:r>
                      <a:endParaRPr kumimoji="0" lang="en-US" sz="2000" b="1" i="0" u="none" strike="noStrike" cap="none" normalizeH="0" baseline="0">
                        <a:ln>
                          <a:noFill/>
                        </a:ln>
                        <a:solidFill>
                          <a:srgbClr val="FF0000"/>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rgbClr val="FF0000"/>
                          </a:solidFill>
                          <a:effectLst/>
                          <a:latin typeface="Times New Roman" pitchFamily="18" charset="0"/>
                          <a:cs typeface="Times New Roman" pitchFamily="18" charset="0"/>
                        </a:rPr>
                        <a:t>Tamil</a:t>
                      </a:r>
                      <a:endParaRPr kumimoji="0" lang="en-US" sz="2000" b="1" i="0" u="none" strike="noStrike" cap="none" normalizeH="0" baseline="0">
                        <a:ln>
                          <a:noFill/>
                        </a:ln>
                        <a:solidFill>
                          <a:srgbClr val="FF0000"/>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Katha Manjari</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Niti Sangraham</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Katha Manjari</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Panchatantra</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Sumato Sataka</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Panchatantra </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Nala Charitre</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Nala Charitre</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Minor Poets</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Jaimini Bharata </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Rukmini Kalyanam</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Jnana Unerthutal</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Rajashekara Vilasa</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Adi Parvam</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Nannari</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Kavita Padhati</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Pedda Bala Siksha</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Balabodagam</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Katha Mala</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Vigneshwara Dandakam</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Nitinerivillakam</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0375">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Dasara Padagalu</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Garudachalam</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Tirukural</a:t>
                      </a:r>
                      <a:endParaRPr kumimoji="0" lang="en-US" sz="2000" b="1"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693738">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dirty="0">
                          <a:ln>
                            <a:noFill/>
                          </a:ln>
                          <a:solidFill>
                            <a:srgbClr val="7030A0"/>
                          </a:solidFill>
                          <a:effectLst/>
                          <a:latin typeface="Times New Roman" pitchFamily="18" charset="0"/>
                          <a:cs typeface="Times New Roman" pitchFamily="18" charset="0"/>
                        </a:rPr>
                        <a:t>New Books – Geography, sanitation,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dirty="0">
                          <a:ln>
                            <a:noFill/>
                          </a:ln>
                          <a:solidFill>
                            <a:srgbClr val="7030A0"/>
                          </a:solidFill>
                          <a:effectLst/>
                          <a:latin typeface="Calibri" pitchFamily="34" charset="0"/>
                          <a:cs typeface="Times New Roman" pitchFamily="18" charset="0"/>
                        </a:rPr>
                        <a:t>Advice to peasants, cholera,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tab pos="449263" algn="l"/>
                        </a:tabLst>
                      </a:pPr>
                      <a:r>
                        <a:rPr kumimoji="0" lang="en-US" sz="2000" b="1" i="0" u="none" strike="noStrike" cap="none" normalizeH="0" baseline="0" dirty="0">
                          <a:ln>
                            <a:noFill/>
                          </a:ln>
                          <a:solidFill>
                            <a:srgbClr val="7030A0"/>
                          </a:solidFill>
                          <a:effectLst/>
                          <a:latin typeface="Calibri" pitchFamily="34" charset="0"/>
                          <a:cs typeface="Times New Roman" pitchFamily="18" charset="0"/>
                        </a:rPr>
                        <a:t>support girl’s education</a:t>
                      </a:r>
                    </a:p>
                    <a:p>
                      <a:pPr marL="0" marR="0" lvl="0" indent="0" algn="l" defTabSz="914400" rtl="0" eaLnBrk="1" fontAlgn="base" latinLnBrk="0" hangingPunct="1">
                        <a:lnSpc>
                          <a:spcPct val="115000"/>
                        </a:lnSpc>
                        <a:spcBef>
                          <a:spcPct val="0"/>
                        </a:spcBef>
                        <a:spcAft>
                          <a:spcPct val="0"/>
                        </a:spcAft>
                        <a:buClrTx/>
                        <a:buSzTx/>
                        <a:buFontTx/>
                        <a:buNone/>
                        <a:tabLst>
                          <a:tab pos="449263" algn="l"/>
                        </a:tabLst>
                      </a:pPr>
                      <a:endParaRPr kumimoji="0" lang="en-US" sz="2000" b="1" i="0" u="none" strike="noStrike" cap="none" normalizeH="0" baseline="0" dirty="0">
                        <a:ln>
                          <a:noFill/>
                        </a:ln>
                        <a:solidFill>
                          <a:srgbClr val="7030A0"/>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b="1">
                <a:solidFill>
                  <a:srgbClr val="0070C0"/>
                </a:solidFill>
              </a:rPr>
              <a:t>Reasons for incorporation</a:t>
            </a:r>
          </a:p>
        </p:txBody>
      </p:sp>
      <p:sp>
        <p:nvSpPr>
          <p:cNvPr id="3" name="Content Placeholder 2"/>
          <p:cNvSpPr>
            <a:spLocks noGrp="1"/>
          </p:cNvSpPr>
          <p:nvPr>
            <p:ph idx="1"/>
          </p:nvPr>
        </p:nvSpPr>
        <p:spPr/>
        <p:txBody>
          <a:bodyPr rtlCol="0">
            <a:normAutofit/>
          </a:bodyPr>
          <a:lstStyle/>
          <a:p>
            <a:pPr>
              <a:spcAft>
                <a:spcPts val="0"/>
              </a:spcAft>
              <a:buFont typeface="Arial" pitchFamily="34" charset="0"/>
              <a:buChar char="•"/>
              <a:defRPr/>
            </a:pPr>
            <a:r>
              <a:rPr lang="en-IN" dirty="0">
                <a:solidFill>
                  <a:srgbClr val="FF0000"/>
                </a:solidFill>
              </a:rPr>
              <a:t>1. Indigenous schools gave very high quality of literacy and numeracy</a:t>
            </a:r>
          </a:p>
          <a:p>
            <a:pPr>
              <a:spcAft>
                <a:spcPts val="0"/>
              </a:spcAft>
              <a:buFont typeface="Arial" pitchFamily="34" charset="0"/>
              <a:buChar char="•"/>
              <a:defRPr/>
            </a:pPr>
            <a:r>
              <a:rPr lang="en-IN" dirty="0"/>
              <a:t>Boys joining high schools could master Algebra and geometry in one year</a:t>
            </a:r>
          </a:p>
          <a:p>
            <a:pPr>
              <a:spcAft>
                <a:spcPts val="0"/>
              </a:spcAft>
              <a:buFont typeface="Arial" pitchFamily="34" charset="0"/>
              <a:buChar char="•"/>
              <a:defRPr/>
            </a:pPr>
            <a:r>
              <a:rPr lang="en-GB" dirty="0">
                <a:solidFill>
                  <a:srgbClr val="FF0000"/>
                </a:solidFill>
              </a:rPr>
              <a:t>2. Cost effective- Macaulay had fixed the salaries of </a:t>
            </a:r>
            <a:r>
              <a:rPr lang="en-GB" dirty="0"/>
              <a:t>Indian teachers at 30 rupees, the government was unwilling to give this amount</a:t>
            </a:r>
          </a:p>
          <a:p>
            <a:pPr>
              <a:spcAft>
                <a:spcPts val="0"/>
              </a:spcAft>
              <a:buFont typeface="Arial" pitchFamily="34" charset="0"/>
              <a:buChar char="•"/>
              <a:defRPr/>
            </a:pPr>
            <a:r>
              <a:rPr lang="en-GB" dirty="0"/>
              <a:t>New Schools-cost of the building + maintenance + high salary</a:t>
            </a:r>
          </a:p>
          <a:p>
            <a:pPr>
              <a:spcAft>
                <a:spcPts val="0"/>
              </a:spcAft>
              <a:buFont typeface="Arial" pitchFamily="34" charset="0"/>
              <a:buChar char="•"/>
              <a:defRPr/>
            </a:pPr>
            <a:r>
              <a:rPr lang="en-GB" dirty="0"/>
              <a:t>History gave a sense of India’s grand past</a:t>
            </a:r>
          </a:p>
          <a:p>
            <a:pPr>
              <a:spcAft>
                <a:spcPts val="0"/>
              </a:spcAft>
              <a:buFont typeface="Arial" pitchFamily="34" charset="0"/>
              <a:buChar char="•"/>
              <a:defRPr/>
            </a:pPr>
            <a:r>
              <a:rPr lang="en-IN" dirty="0"/>
              <a:t>Geography linked village-district-province-idea of India strengthened</a:t>
            </a:r>
            <a:endParaRPr lang="en-US" dirty="0"/>
          </a:p>
          <a:p>
            <a:pPr>
              <a:spcAft>
                <a:spcPts val="0"/>
              </a:spcAft>
              <a:buFont typeface="Arial" pitchFamily="34" charset="0"/>
              <a:buChar char="•"/>
              <a:defRPr/>
            </a:pPr>
            <a:endParaRPr lang="en-IN" dirty="0"/>
          </a:p>
          <a:p>
            <a:pPr>
              <a:spcAft>
                <a:spcPts val="0"/>
              </a:spcAft>
              <a:buFont typeface="Arial" pitchFamily="34" charset="0"/>
              <a:buChar char="•"/>
              <a:defRPr/>
            </a:pPr>
            <a:endParaRPr lang="en-IN" dirty="0"/>
          </a:p>
          <a:p>
            <a:pPr>
              <a:spcAft>
                <a:spcPts val="0"/>
              </a:spcAft>
              <a:buFont typeface="Arial" pitchFamily="34" charset="0"/>
              <a:buChar char="•"/>
              <a:defRPr/>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70C0"/>
                </a:solidFill>
              </a:rPr>
              <a:t>Indian opposition</a:t>
            </a:r>
            <a:endParaRPr lang="en-US" b="1" dirty="0">
              <a:solidFill>
                <a:srgbClr val="0070C0"/>
              </a:solidFill>
            </a:endParaRPr>
          </a:p>
        </p:txBody>
      </p:sp>
      <p:sp>
        <p:nvSpPr>
          <p:cNvPr id="3" name="Content Placeholder 2"/>
          <p:cNvSpPr>
            <a:spLocks noGrp="1"/>
          </p:cNvSpPr>
          <p:nvPr>
            <p:ph idx="1"/>
          </p:nvPr>
        </p:nvSpPr>
        <p:spPr>
          <a:xfrm>
            <a:off x="914400" y="1600200"/>
            <a:ext cx="9720073" cy="4953000"/>
          </a:xfrm>
        </p:spPr>
        <p:txBody>
          <a:bodyPr>
            <a:noAutofit/>
          </a:bodyPr>
          <a:lstStyle/>
          <a:p>
            <a:r>
              <a:rPr lang="en-IN" sz="2300" dirty="0"/>
              <a:t>1839, </a:t>
            </a:r>
            <a:r>
              <a:rPr lang="en-IN" sz="2300" dirty="0" err="1"/>
              <a:t>Radhakanta</a:t>
            </a:r>
            <a:r>
              <a:rPr lang="en-IN" sz="2300" dirty="0"/>
              <a:t> Deb- </a:t>
            </a:r>
            <a:r>
              <a:rPr lang="en-IN" sz="2300" dirty="0">
                <a:solidFill>
                  <a:srgbClr val="FF0000"/>
                </a:solidFill>
              </a:rPr>
              <a:t>‘</a:t>
            </a:r>
            <a:r>
              <a:rPr lang="en-GB" sz="2300" dirty="0">
                <a:solidFill>
                  <a:srgbClr val="FF0000"/>
                </a:solidFill>
              </a:rPr>
              <a:t>Nothing should be guarded more carefully than the insensible introduction of education. Education would wean the youth from the plough, the axe, and the loom to render them ambitious only for the clerkship for which the host would besiege the government and mercantile offices, and the majority, being disappointed, would be unable to return to their trade and would necessarily turn vagabonds.’</a:t>
            </a:r>
          </a:p>
          <a:p>
            <a:r>
              <a:rPr lang="en-GB" sz="2300" dirty="0"/>
              <a:t>Indigenous schools-govt schools-</a:t>
            </a:r>
            <a:r>
              <a:rPr lang="en-IN" sz="2300" dirty="0"/>
              <a:t> on to high schools n colleges – govt clerks n officials</a:t>
            </a:r>
          </a:p>
          <a:p>
            <a:r>
              <a:rPr lang="en-IN" sz="2300" dirty="0"/>
              <a:t>Pre </a:t>
            </a:r>
            <a:r>
              <a:rPr lang="en-IN" sz="2300" dirty="0" err="1"/>
              <a:t>col</a:t>
            </a:r>
            <a:r>
              <a:rPr lang="en-IN" sz="2300" dirty="0"/>
              <a:t> - Feudal class – educated /master-servant, patron-client </a:t>
            </a:r>
          </a:p>
          <a:p>
            <a:r>
              <a:rPr lang="en-IN" sz="2300" dirty="0"/>
              <a:t>Reversed in Colonial govt – educated had power over feudal class – </a:t>
            </a:r>
            <a:r>
              <a:rPr lang="en-IN" sz="2300" dirty="0" err="1"/>
              <a:t>Vidyasagar</a:t>
            </a:r>
            <a:r>
              <a:rPr lang="en-IN" sz="2300" dirty="0"/>
              <a:t> – girls education- widow marriage</a:t>
            </a:r>
          </a:p>
          <a:p>
            <a:r>
              <a:rPr lang="en-IN" sz="2300" dirty="0"/>
              <a:t>Peasant revolts – 1860s </a:t>
            </a:r>
            <a:r>
              <a:rPr lang="en-IN" sz="2300" dirty="0" err="1"/>
              <a:t>Pabna</a:t>
            </a:r>
            <a:r>
              <a:rPr lang="en-IN" sz="2300" dirty="0"/>
              <a:t> – journalists of The Bengali newspaper, court clerks, British judges/VB </a:t>
            </a:r>
            <a:r>
              <a:rPr lang="en-IN" sz="2300" dirty="0" err="1"/>
              <a:t>Phadke</a:t>
            </a:r>
            <a:r>
              <a:rPr lang="en-IN" sz="2300" dirty="0"/>
              <a:t> 1870s </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8080" y="304800"/>
            <a:ext cx="9720072" cy="1499616"/>
          </a:xfrm>
        </p:spPr>
        <p:txBody>
          <a:bodyPr/>
          <a:lstStyle/>
          <a:p>
            <a:r>
              <a:rPr lang="en-IN" b="1" dirty="0">
                <a:solidFill>
                  <a:srgbClr val="0070C0"/>
                </a:solidFill>
              </a:rPr>
              <a:t>Mass Education Debate 1868-70</a:t>
            </a:r>
            <a:endParaRPr lang="en-US" b="1" dirty="0">
              <a:solidFill>
                <a:srgbClr val="0070C0"/>
              </a:solidFill>
            </a:endParaRPr>
          </a:p>
        </p:txBody>
      </p:sp>
      <p:sp>
        <p:nvSpPr>
          <p:cNvPr id="3" name="Content Placeholder 2"/>
          <p:cNvSpPr>
            <a:spLocks noGrp="1"/>
          </p:cNvSpPr>
          <p:nvPr>
            <p:ph idx="1"/>
          </p:nvPr>
        </p:nvSpPr>
        <p:spPr>
          <a:xfrm>
            <a:off x="1038080" y="1524000"/>
            <a:ext cx="10115840" cy="5334000"/>
          </a:xfrm>
        </p:spPr>
        <p:txBody>
          <a:bodyPr>
            <a:noAutofit/>
          </a:bodyPr>
          <a:lstStyle/>
          <a:p>
            <a:r>
              <a:rPr lang="en-GB" sz="2300" dirty="0"/>
              <a:t>1870, England passed Compulsory Education Act  </a:t>
            </a:r>
          </a:p>
          <a:p>
            <a:r>
              <a:rPr lang="en-GB" sz="2300" dirty="0"/>
              <a:t>Colonial govt proposed to introduce ‘Mass Education’ </a:t>
            </a:r>
          </a:p>
          <a:p>
            <a:r>
              <a:rPr lang="en-GB" sz="2300" dirty="0"/>
              <a:t>GG Mayo </a:t>
            </a:r>
            <a:r>
              <a:rPr lang="en-GB" sz="2300" dirty="0">
                <a:solidFill>
                  <a:srgbClr val="FF0000"/>
                </a:solidFill>
              </a:rPr>
              <a:t>‘a sound system of primary education for the entire population’</a:t>
            </a:r>
            <a:r>
              <a:rPr lang="en-GB" sz="2300" dirty="0"/>
              <a:t> in India</a:t>
            </a:r>
          </a:p>
          <a:p>
            <a:r>
              <a:rPr lang="en-GB" sz="2300" dirty="0">
                <a:solidFill>
                  <a:srgbClr val="FF0000"/>
                </a:solidFill>
              </a:rPr>
              <a:t>‘What a great blessing it would be to their country when the light of education shall have reached even the most obscure cottage of the peasantry.’</a:t>
            </a:r>
          </a:p>
          <a:p>
            <a:r>
              <a:rPr lang="en-GB" sz="2300" dirty="0"/>
              <a:t>Discussion - 2% cess for rural roads n sanitation</a:t>
            </a:r>
          </a:p>
          <a:p>
            <a:r>
              <a:rPr lang="en-GB" sz="2300" dirty="0"/>
              <a:t>1% Education Cess across India except Bengal</a:t>
            </a:r>
          </a:p>
          <a:p>
            <a:r>
              <a:rPr lang="en-GB" sz="2300" dirty="0"/>
              <a:t>Many Bengal </a:t>
            </a:r>
            <a:r>
              <a:rPr lang="en-GB" sz="2300" dirty="0" err="1"/>
              <a:t>Zamindars</a:t>
            </a:r>
            <a:r>
              <a:rPr lang="en-GB" sz="2300" dirty="0"/>
              <a:t> 10,000-20,000 annual income /paid less than 100 rupees revenue</a:t>
            </a:r>
          </a:p>
          <a:p>
            <a:r>
              <a:rPr lang="en-GB" sz="2300" dirty="0">
                <a:solidFill>
                  <a:srgbClr val="FF0000"/>
                </a:solidFill>
              </a:rPr>
              <a:t>Education Cess – a burden / ready to pay for roads n sanitation </a:t>
            </a:r>
          </a:p>
          <a:p>
            <a:r>
              <a:rPr lang="en-GB" sz="2300" dirty="0">
                <a:solidFill>
                  <a:srgbClr val="FF0000"/>
                </a:solidFill>
              </a:rPr>
              <a:t>Bengal Zamindars forced the colonial state to withdraw proposal</a:t>
            </a:r>
            <a:endParaRPr lang="en-US" sz="2300"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Opponents of Mass Education</a:t>
            </a:r>
          </a:p>
        </p:txBody>
      </p:sp>
      <p:sp>
        <p:nvSpPr>
          <p:cNvPr id="3" name="Content Placeholder 2"/>
          <p:cNvSpPr>
            <a:spLocks noGrp="1"/>
          </p:cNvSpPr>
          <p:nvPr>
            <p:ph idx="1"/>
          </p:nvPr>
        </p:nvSpPr>
        <p:spPr/>
        <p:txBody>
          <a:bodyPr>
            <a:noAutofit/>
          </a:bodyPr>
          <a:lstStyle/>
          <a:p>
            <a:r>
              <a:rPr lang="en-GB" sz="2400" dirty="0"/>
              <a:t>Peary Mohan </a:t>
            </a:r>
            <a:r>
              <a:rPr lang="en-GB" sz="2400" dirty="0" err="1"/>
              <a:t>Mukerjee</a:t>
            </a:r>
            <a:r>
              <a:rPr lang="en-GB" sz="2400" dirty="0"/>
              <a:t> member of the Viceroy’s Council argued- </a:t>
            </a:r>
            <a:endParaRPr lang="en-IN" sz="2400" dirty="0"/>
          </a:p>
          <a:p>
            <a:r>
              <a:rPr lang="en-GB" sz="2400" dirty="0"/>
              <a:t>‘Even in England a copy of Shakespeare or Milton is not placed in the hands of all boys... </a:t>
            </a:r>
            <a:r>
              <a:rPr lang="en-GB" sz="2400" dirty="0">
                <a:solidFill>
                  <a:srgbClr val="FF0000"/>
                </a:solidFill>
              </a:rPr>
              <a:t>In this country, however, the condition of no boy is deemed too low, or his natural parts too unpromising, but that he is expected some day to adorn the Bench of the High Court, or to assist the Viceroy in the deliberation of His Excellency’s Council.’</a:t>
            </a:r>
            <a:endParaRPr lang="en-IN" sz="2400" dirty="0">
              <a:solidFill>
                <a:srgbClr val="FF0000"/>
              </a:solidFill>
            </a:endParaRPr>
          </a:p>
          <a:p>
            <a:r>
              <a:rPr lang="en-GB" sz="2400" dirty="0">
                <a:solidFill>
                  <a:srgbClr val="FF0000"/>
                </a:solidFill>
              </a:rPr>
              <a:t>The government should aim to make the masses as useful members of the society like ‘servants, shepherds, apprentices  and not scholars’ </a:t>
            </a:r>
          </a:p>
          <a:p>
            <a:r>
              <a:rPr lang="en-GB" sz="2400" dirty="0" err="1"/>
              <a:t>Syed</a:t>
            </a:r>
            <a:r>
              <a:rPr lang="en-GB" sz="2400" dirty="0"/>
              <a:t> </a:t>
            </a:r>
            <a:r>
              <a:rPr lang="en-GB" sz="2400" dirty="0" err="1"/>
              <a:t>Ameer</a:t>
            </a:r>
            <a:r>
              <a:rPr lang="en-GB" sz="2400" dirty="0"/>
              <a:t> Ali – </a:t>
            </a:r>
            <a:r>
              <a:rPr lang="en-GB" sz="2400" dirty="0">
                <a:solidFill>
                  <a:srgbClr val="FF0000"/>
                </a:solidFill>
              </a:rPr>
              <a:t>Bhagalpur high school, out of 120 Muslim students only 9 are </a:t>
            </a:r>
            <a:r>
              <a:rPr lang="en-GB" sz="2400" dirty="0" err="1">
                <a:solidFill>
                  <a:srgbClr val="FF0000"/>
                </a:solidFill>
              </a:rPr>
              <a:t>ashrafs</a:t>
            </a:r>
            <a:endParaRPr lang="en-IN" sz="2400" dirty="0">
              <a:solidFill>
                <a:srgbClr val="FF0000"/>
              </a:solidFill>
            </a:endParaRPr>
          </a:p>
          <a:p>
            <a:endParaRPr lang="en-GB"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70C0"/>
                </a:solidFill>
              </a:rPr>
              <a:t>Hunter Commission 1882</a:t>
            </a:r>
            <a:endParaRPr lang="en-US" b="1" dirty="0">
              <a:solidFill>
                <a:srgbClr val="0070C0"/>
              </a:solidFill>
            </a:endParaRPr>
          </a:p>
        </p:txBody>
      </p:sp>
      <p:sp>
        <p:nvSpPr>
          <p:cNvPr id="3" name="Content Placeholder 2"/>
          <p:cNvSpPr>
            <a:spLocks noGrp="1"/>
          </p:cNvSpPr>
          <p:nvPr>
            <p:ph idx="1"/>
          </p:nvPr>
        </p:nvSpPr>
        <p:spPr>
          <a:xfrm>
            <a:off x="990857" y="1676400"/>
            <a:ext cx="9720073" cy="4023360"/>
          </a:xfrm>
        </p:spPr>
        <p:txBody>
          <a:bodyPr>
            <a:noAutofit/>
          </a:bodyPr>
          <a:lstStyle/>
          <a:p>
            <a:r>
              <a:rPr lang="en-GB" sz="2300" dirty="0"/>
              <a:t>Liberals – D. </a:t>
            </a:r>
            <a:r>
              <a:rPr lang="en-GB" sz="2300" dirty="0" err="1"/>
              <a:t>Naoroji</a:t>
            </a:r>
            <a:r>
              <a:rPr lang="en-GB" sz="2300" dirty="0"/>
              <a:t>, KT. </a:t>
            </a:r>
            <a:r>
              <a:rPr lang="en-GB" sz="2300" dirty="0" err="1"/>
              <a:t>Telang</a:t>
            </a:r>
            <a:r>
              <a:rPr lang="en-GB" sz="2300" dirty="0"/>
              <a:t>, </a:t>
            </a:r>
            <a:r>
              <a:rPr lang="en-GB" sz="2300" dirty="0" err="1"/>
              <a:t>Surendranath</a:t>
            </a:r>
            <a:r>
              <a:rPr lang="en-GB" sz="2300" dirty="0"/>
              <a:t> </a:t>
            </a:r>
            <a:r>
              <a:rPr lang="en-GB" sz="2300" dirty="0" err="1"/>
              <a:t>Banerjea</a:t>
            </a:r>
            <a:r>
              <a:rPr lang="en-GB" sz="2300" dirty="0"/>
              <a:t>, </a:t>
            </a:r>
            <a:r>
              <a:rPr lang="en-GB" sz="2300" dirty="0" err="1"/>
              <a:t>Subramanya</a:t>
            </a:r>
            <a:r>
              <a:rPr lang="en-GB" sz="2300" dirty="0"/>
              <a:t> </a:t>
            </a:r>
            <a:r>
              <a:rPr lang="en-GB" sz="2300" dirty="0" err="1"/>
              <a:t>Iyer</a:t>
            </a:r>
            <a:r>
              <a:rPr lang="en-GB" sz="2300" dirty="0"/>
              <a:t>, - Mass Education, </a:t>
            </a:r>
          </a:p>
          <a:p>
            <a:r>
              <a:rPr lang="en-GB" sz="2300" b="1" dirty="0">
                <a:solidFill>
                  <a:srgbClr val="7030A0"/>
                </a:solidFill>
              </a:rPr>
              <a:t>1.‘Every child should get education, equal access to higher </a:t>
            </a:r>
            <a:r>
              <a:rPr lang="en-GB" sz="2300" b="1" dirty="0" err="1">
                <a:solidFill>
                  <a:srgbClr val="7030A0"/>
                </a:solidFill>
              </a:rPr>
              <a:t>edu</a:t>
            </a:r>
            <a:r>
              <a:rPr lang="en-GB" sz="2300" b="1" dirty="0">
                <a:solidFill>
                  <a:srgbClr val="7030A0"/>
                </a:solidFill>
              </a:rPr>
              <a:t>’</a:t>
            </a:r>
          </a:p>
          <a:p>
            <a:r>
              <a:rPr lang="en-GB" sz="2300" b="1" dirty="0">
                <a:solidFill>
                  <a:srgbClr val="7030A0"/>
                </a:solidFill>
              </a:rPr>
              <a:t>2. ‘A school in every village with 200 people’</a:t>
            </a:r>
          </a:p>
          <a:p>
            <a:r>
              <a:rPr lang="en-GB" sz="2300" dirty="0"/>
              <a:t>Feudal/Landed gentry opposed</a:t>
            </a:r>
          </a:p>
          <a:p>
            <a:r>
              <a:rPr lang="en-GB" sz="2300" b="1" dirty="0">
                <a:solidFill>
                  <a:srgbClr val="00B050"/>
                </a:solidFill>
              </a:rPr>
              <a:t>1. Lower classes/lower castes/girls do not require education, they should not be admitted to schools</a:t>
            </a:r>
          </a:p>
          <a:p>
            <a:r>
              <a:rPr lang="en-GB" sz="2300" b="1" dirty="0">
                <a:solidFill>
                  <a:srgbClr val="00B050"/>
                </a:solidFill>
              </a:rPr>
              <a:t>2. Regular curriculum does not suit lower castes and women </a:t>
            </a:r>
          </a:p>
          <a:p>
            <a:r>
              <a:rPr lang="en-GB" sz="2300" dirty="0"/>
              <a:t>SA Khan, SA Ali, </a:t>
            </a:r>
            <a:r>
              <a:rPr lang="en-GB" sz="2300" dirty="0">
                <a:solidFill>
                  <a:srgbClr val="FF0000"/>
                </a:solidFill>
              </a:rPr>
              <a:t>‘primary education needs no special encouragement. The </a:t>
            </a:r>
            <a:r>
              <a:rPr lang="en-GB" sz="2300" i="1" dirty="0" err="1">
                <a:solidFill>
                  <a:srgbClr val="FF0000"/>
                </a:solidFill>
              </a:rPr>
              <a:t>Muktab</a:t>
            </a:r>
            <a:r>
              <a:rPr lang="en-GB" sz="2300" dirty="0" err="1">
                <a:solidFill>
                  <a:srgbClr val="FF0000"/>
                </a:solidFill>
              </a:rPr>
              <a:t>s</a:t>
            </a:r>
            <a:r>
              <a:rPr lang="en-GB" sz="2300" dirty="0">
                <a:solidFill>
                  <a:srgbClr val="FF0000"/>
                </a:solidFill>
              </a:rPr>
              <a:t> and the </a:t>
            </a:r>
            <a:r>
              <a:rPr lang="en-GB" sz="2300" i="1" dirty="0" err="1">
                <a:solidFill>
                  <a:srgbClr val="FF0000"/>
                </a:solidFill>
              </a:rPr>
              <a:t>Madrasa</a:t>
            </a:r>
            <a:r>
              <a:rPr lang="en-GB" sz="2300" dirty="0" err="1">
                <a:solidFill>
                  <a:srgbClr val="FF0000"/>
                </a:solidFill>
              </a:rPr>
              <a:t>s</a:t>
            </a:r>
            <a:r>
              <a:rPr lang="en-GB" sz="2300" dirty="0">
                <a:solidFill>
                  <a:srgbClr val="FF0000"/>
                </a:solidFill>
              </a:rPr>
              <a:t> attached to the mosques should be utilised for the purpose of imparting education to the lower classes.’</a:t>
            </a:r>
          </a:p>
          <a:p>
            <a:r>
              <a:rPr lang="en-GB" sz="2300" dirty="0"/>
              <a:t>English education for </a:t>
            </a:r>
            <a:r>
              <a:rPr lang="en-GB" sz="2300" dirty="0" err="1"/>
              <a:t>Ashrafs</a:t>
            </a:r>
            <a:r>
              <a:rPr lang="en-GB" sz="2300" dirty="0"/>
              <a:t>/</a:t>
            </a:r>
            <a:r>
              <a:rPr lang="en-GB" sz="2300" dirty="0" err="1"/>
              <a:t>Madrassa</a:t>
            </a:r>
            <a:r>
              <a:rPr lang="en-GB" sz="2300" dirty="0"/>
              <a:t> education for </a:t>
            </a:r>
            <a:r>
              <a:rPr lang="en-GB" sz="2300" dirty="0" err="1"/>
              <a:t>Ajlafs</a:t>
            </a:r>
            <a:endParaRPr lang="en-GB" sz="2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Opposition by Conservative Indians-1</a:t>
            </a:r>
          </a:p>
        </p:txBody>
      </p:sp>
      <p:sp>
        <p:nvSpPr>
          <p:cNvPr id="3" name="Content Placeholder 2"/>
          <p:cNvSpPr>
            <a:spLocks noGrp="1"/>
          </p:cNvSpPr>
          <p:nvPr>
            <p:ph idx="1"/>
          </p:nvPr>
        </p:nvSpPr>
        <p:spPr/>
        <p:txBody>
          <a:bodyPr>
            <a:noAutofit/>
          </a:bodyPr>
          <a:lstStyle/>
          <a:p>
            <a:r>
              <a:rPr lang="en-GB" sz="2300" dirty="0" err="1"/>
              <a:t>Rajendralal</a:t>
            </a:r>
            <a:r>
              <a:rPr lang="en-GB" sz="2300" dirty="0"/>
              <a:t> </a:t>
            </a:r>
            <a:r>
              <a:rPr lang="en-GB" sz="2300" dirty="0" err="1"/>
              <a:t>Mitra</a:t>
            </a:r>
            <a:r>
              <a:rPr lang="en-GB" sz="2300" dirty="0"/>
              <a:t> argued, </a:t>
            </a:r>
            <a:r>
              <a:rPr lang="en-GB" sz="2300" dirty="0">
                <a:solidFill>
                  <a:srgbClr val="FF0000"/>
                </a:solidFill>
              </a:rPr>
              <a:t>‘a fisherman’s son who keeps himself all day in a school-room instead of wallowing in water, does not get the best training for the amphibious character of his family calling.’ </a:t>
            </a:r>
          </a:p>
          <a:p>
            <a:r>
              <a:rPr lang="en-GB" sz="2300" dirty="0">
                <a:solidFill>
                  <a:srgbClr val="FF0000"/>
                </a:solidFill>
              </a:rPr>
              <a:t>Opposed the fee concessions to 10%  poor children</a:t>
            </a:r>
            <a:endParaRPr lang="en-GB" sz="2300" dirty="0"/>
          </a:p>
          <a:p>
            <a:r>
              <a:rPr lang="en-GB" sz="2400" b="1" dirty="0">
                <a:solidFill>
                  <a:srgbClr val="00B050"/>
                </a:solidFill>
              </a:rPr>
              <a:t>‘The imperative duty of government leaves no room for unequal charges for the same </a:t>
            </a:r>
            <a:r>
              <a:rPr lang="en-GB" sz="2400" b="1" u="sng" dirty="0">
                <a:solidFill>
                  <a:srgbClr val="FF0000"/>
                </a:solidFill>
              </a:rPr>
              <a:t>commodity</a:t>
            </a:r>
            <a:r>
              <a:rPr lang="en-GB" sz="2400" b="1" dirty="0">
                <a:solidFill>
                  <a:srgbClr val="00B050"/>
                </a:solidFill>
              </a:rPr>
              <a:t>. … As trustee of the revenue contributed by the people, the government is bound to disburse the same. I cannot conceive how it can say, with any show of justice, that the son of a rich man shall pay double or treble the amount paid by a poor student in the same class. Wealth is no crime, and there should be no penalty or fine attached to the condition of being wealthy.’</a:t>
            </a:r>
            <a:endParaRPr lang="en-GB" sz="2300" b="1" dirty="0">
              <a:solidFill>
                <a:srgbClr val="00B05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Opposition by Conservative Indians-2</a:t>
            </a:r>
            <a:endParaRPr lang="en-IN" dirty="0"/>
          </a:p>
        </p:txBody>
      </p:sp>
      <p:sp>
        <p:nvSpPr>
          <p:cNvPr id="27651" name="Content Placeholder 2"/>
          <p:cNvSpPr>
            <a:spLocks noGrp="1"/>
          </p:cNvSpPr>
          <p:nvPr>
            <p:ph idx="1"/>
          </p:nvPr>
        </p:nvSpPr>
        <p:spPr/>
        <p:txBody>
          <a:bodyPr>
            <a:normAutofit fontScale="92500" lnSpcReduction="20000"/>
          </a:bodyPr>
          <a:lstStyle/>
          <a:p>
            <a:pPr eaLnBrk="1" hangingPunct="1"/>
            <a:r>
              <a:rPr lang="en-GB" sz="2800" dirty="0"/>
              <a:t>Feudal elites compared ‘The English educated Indians with the Russian nihilists.’</a:t>
            </a:r>
          </a:p>
          <a:p>
            <a:r>
              <a:rPr lang="en-GB" sz="2800" dirty="0"/>
              <a:t>“ they both have high intellectual education but no grounding in their respective religions. Just as mystic reverence for the </a:t>
            </a:r>
            <a:r>
              <a:rPr lang="en-GB" sz="2800" dirty="0" err="1"/>
              <a:t>Czar</a:t>
            </a:r>
            <a:r>
              <a:rPr lang="en-GB" sz="2800" dirty="0"/>
              <a:t> appear absurd to the young philosopher and the church itself is despised, the Indian counterpart has dispensed with reverence to religion and customs.”</a:t>
            </a:r>
            <a:r>
              <a:rPr lang="en-GB" sz="2800" dirty="0">
                <a:solidFill>
                  <a:srgbClr val="FF0000"/>
                </a:solidFill>
              </a:rPr>
              <a:t> </a:t>
            </a:r>
          </a:p>
          <a:p>
            <a:r>
              <a:rPr lang="en-GB" sz="2800" b="1" dirty="0">
                <a:solidFill>
                  <a:srgbClr val="FF0000"/>
                </a:solidFill>
              </a:rPr>
              <a:t>Just as the educated Russians have lost reverence for Tsar, / ‘the educated mock at all distinctions of caste, wealth and lineage which had enthralled them for centuries.’ </a:t>
            </a:r>
            <a:endParaRPr lang="en-IN" sz="2800" b="1" dirty="0">
              <a:solidFill>
                <a:srgbClr val="FF0000"/>
              </a:solidFill>
            </a:endParaRPr>
          </a:p>
          <a:p>
            <a:r>
              <a:rPr lang="en-GB" sz="2800" dirty="0"/>
              <a:t> ‘Secular education taught in government schools has placed the destiny of the nation at stake.’</a:t>
            </a:r>
            <a:endParaRPr lang="en-IN"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Opposition by Conservative Indians-3</a:t>
            </a:r>
          </a:p>
        </p:txBody>
      </p:sp>
      <p:sp>
        <p:nvSpPr>
          <p:cNvPr id="3" name="Content Placeholder 2"/>
          <p:cNvSpPr>
            <a:spLocks noGrp="1"/>
          </p:cNvSpPr>
          <p:nvPr>
            <p:ph idx="1"/>
          </p:nvPr>
        </p:nvSpPr>
        <p:spPr>
          <a:xfrm>
            <a:off x="1024128" y="1905000"/>
            <a:ext cx="9720073" cy="4023360"/>
          </a:xfrm>
        </p:spPr>
        <p:txBody>
          <a:bodyPr>
            <a:noAutofit/>
          </a:bodyPr>
          <a:lstStyle/>
          <a:p>
            <a:r>
              <a:rPr lang="en-GB" sz="2500" dirty="0"/>
              <a:t>Bal </a:t>
            </a:r>
            <a:r>
              <a:rPr lang="en-GB" sz="2500" dirty="0" err="1"/>
              <a:t>Gangadhar</a:t>
            </a:r>
            <a:r>
              <a:rPr lang="en-GB" sz="2500" dirty="0"/>
              <a:t> </a:t>
            </a:r>
            <a:r>
              <a:rPr lang="en-GB" sz="2500" dirty="0" err="1"/>
              <a:t>Tilak</a:t>
            </a:r>
            <a:r>
              <a:rPr lang="en-GB" sz="2500" dirty="0"/>
              <a:t> – ‘giving education to women, non-Brahmins and poor Brahmins is a waste of public money’</a:t>
            </a:r>
          </a:p>
          <a:p>
            <a:r>
              <a:rPr lang="en-GB" sz="2500" dirty="0"/>
              <a:t>Reformers/ ‘Public funded schools should be open to public’</a:t>
            </a:r>
          </a:p>
          <a:p>
            <a:r>
              <a:rPr lang="en-GB" sz="2500" dirty="0" err="1"/>
              <a:t>Tilak</a:t>
            </a:r>
            <a:r>
              <a:rPr lang="en-GB" sz="2500" dirty="0"/>
              <a:t> – </a:t>
            </a:r>
            <a:r>
              <a:rPr lang="en-GB" sz="2500" dirty="0">
                <a:solidFill>
                  <a:srgbClr val="FF0000"/>
                </a:solidFill>
              </a:rPr>
              <a:t>‘Public money means tax payer’s money, only tax payers get to decide how it is spent’</a:t>
            </a:r>
          </a:p>
          <a:p>
            <a:r>
              <a:rPr lang="en-GB" sz="2500" dirty="0" err="1"/>
              <a:t>Tilak</a:t>
            </a:r>
            <a:r>
              <a:rPr lang="en-GB" sz="2500" dirty="0"/>
              <a:t> – </a:t>
            </a:r>
            <a:r>
              <a:rPr lang="en-GB" sz="2500" dirty="0">
                <a:solidFill>
                  <a:srgbClr val="FF0000"/>
                </a:solidFill>
              </a:rPr>
              <a:t>the lower classes should be trained as ‘carpenters, black smiths, masons and tailors.’ </a:t>
            </a:r>
          </a:p>
          <a:p>
            <a:r>
              <a:rPr lang="en-GB" sz="2500" dirty="0"/>
              <a:t>Separate curriculum – ‘preparing of soil, the tending of bullocks, the implements of husbandry’ for lower classes</a:t>
            </a:r>
            <a:endParaRPr lang="en-GB" sz="2500" dirty="0">
              <a:solidFill>
                <a:srgbClr val="FF0000"/>
              </a:solidFill>
            </a:endParaRPr>
          </a:p>
          <a:p>
            <a:r>
              <a:rPr lang="en-GB" sz="2500" dirty="0">
                <a:solidFill>
                  <a:srgbClr val="FF0000"/>
                </a:solidFill>
              </a:rPr>
              <a:t>No mathematics, sciences, and English for lower castes n girls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OPPOSITION and SUPPORT</a:t>
            </a:r>
          </a:p>
        </p:txBody>
      </p:sp>
      <p:sp>
        <p:nvSpPr>
          <p:cNvPr id="3" name="Content Placeholder 2"/>
          <p:cNvSpPr>
            <a:spLocks noGrp="1"/>
          </p:cNvSpPr>
          <p:nvPr>
            <p:ph idx="1"/>
          </p:nvPr>
        </p:nvSpPr>
        <p:spPr/>
        <p:txBody>
          <a:bodyPr>
            <a:noAutofit/>
          </a:bodyPr>
          <a:lstStyle/>
          <a:p>
            <a:r>
              <a:rPr lang="en-GB" sz="2300" dirty="0"/>
              <a:t>Girls – ‘Vernacular, moral science, needle work’</a:t>
            </a:r>
            <a:r>
              <a:rPr lang="en-US" sz="2300" dirty="0"/>
              <a:t> </a:t>
            </a:r>
            <a:r>
              <a:rPr lang="en-US" sz="2300" b="1" u="sng" dirty="0">
                <a:solidFill>
                  <a:srgbClr val="FF0000"/>
                </a:solidFill>
              </a:rPr>
              <a:t>‘the brain of a woman on an average weighs less by five ounces than that of a man’</a:t>
            </a:r>
            <a:endParaRPr lang="en-GB" sz="2300" dirty="0"/>
          </a:p>
          <a:p>
            <a:r>
              <a:rPr lang="en-GB" sz="2300" dirty="0"/>
              <a:t>1916 – </a:t>
            </a:r>
            <a:r>
              <a:rPr lang="en-GB" sz="2300" dirty="0" err="1"/>
              <a:t>Karve’s</a:t>
            </a:r>
            <a:r>
              <a:rPr lang="en-GB" sz="2300" dirty="0"/>
              <a:t> Women’s </a:t>
            </a:r>
            <a:r>
              <a:rPr lang="en-GB" sz="2300" dirty="0" err="1"/>
              <a:t>Uni</a:t>
            </a:r>
            <a:r>
              <a:rPr lang="en-GB" sz="2300" dirty="0"/>
              <a:t> – </a:t>
            </a:r>
            <a:r>
              <a:rPr lang="en-GB" sz="2300" dirty="0" err="1"/>
              <a:t>Tilak</a:t>
            </a:r>
            <a:r>
              <a:rPr lang="en-GB" sz="2300" dirty="0"/>
              <a:t>  ‘Vernacular, </a:t>
            </a:r>
            <a:r>
              <a:rPr lang="en-GB" sz="2300" dirty="0" err="1"/>
              <a:t>Puranas</a:t>
            </a:r>
            <a:r>
              <a:rPr lang="en-GB" sz="2300" dirty="0"/>
              <a:t>, Home Management Skills alone should be taught. Otherwise education is a curse for women’</a:t>
            </a:r>
          </a:p>
          <a:p>
            <a:r>
              <a:rPr lang="en-GB" sz="2300" dirty="0"/>
              <a:t>1884-86 -Colonial govt handed over school education into the hands of elected Municipalities and District Boards / appointments /curriculum/textbooks</a:t>
            </a:r>
          </a:p>
          <a:p>
            <a:r>
              <a:rPr lang="en-GB" sz="2300" dirty="0"/>
              <a:t>Increased the education budget/more schools, hostels, teacher training.</a:t>
            </a:r>
          </a:p>
          <a:p>
            <a:r>
              <a:rPr lang="en-GB" sz="2300" dirty="0"/>
              <a:t>Out of 10 Municipalities in Maharashtra, 9 opposed comp </a:t>
            </a:r>
            <a:r>
              <a:rPr lang="en-GB" sz="2300" dirty="0" err="1"/>
              <a:t>edu</a:t>
            </a:r>
            <a:r>
              <a:rPr lang="en-GB" sz="2300" dirty="0"/>
              <a:t> </a:t>
            </a:r>
          </a:p>
          <a:p>
            <a:r>
              <a:rPr lang="en-GB" sz="2300" dirty="0"/>
              <a:t>Kanpur Municipality spent education budget on canals</a:t>
            </a:r>
            <a:endParaRPr lang="en-US" sz="2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0070C0"/>
                </a:solidFill>
              </a:rPr>
              <a:t>Maharaja of Baroda’s Experiment</a:t>
            </a:r>
            <a:endParaRPr lang="en-US" b="1" dirty="0">
              <a:solidFill>
                <a:srgbClr val="0070C0"/>
              </a:solidFill>
            </a:endParaRPr>
          </a:p>
        </p:txBody>
      </p:sp>
      <p:sp>
        <p:nvSpPr>
          <p:cNvPr id="3" name="Content Placeholder 2"/>
          <p:cNvSpPr>
            <a:spLocks noGrp="1"/>
          </p:cNvSpPr>
          <p:nvPr>
            <p:ph idx="1"/>
          </p:nvPr>
        </p:nvSpPr>
        <p:spPr>
          <a:xfrm>
            <a:off x="999442" y="1676400"/>
            <a:ext cx="9720073" cy="4023360"/>
          </a:xfrm>
        </p:spPr>
        <p:txBody>
          <a:bodyPr>
            <a:noAutofit/>
          </a:bodyPr>
          <a:lstStyle/>
          <a:p>
            <a:r>
              <a:rPr lang="en-GB" sz="2300" dirty="0"/>
              <a:t>1893 - 10 villages of </a:t>
            </a:r>
            <a:r>
              <a:rPr lang="en-GB" sz="2300" dirty="0" err="1"/>
              <a:t>Amreli</a:t>
            </a:r>
            <a:r>
              <a:rPr lang="en-GB" sz="2300" dirty="0"/>
              <a:t> </a:t>
            </a:r>
            <a:r>
              <a:rPr lang="en-GB" sz="2300" i="1" dirty="0" err="1"/>
              <a:t>taluka</a:t>
            </a:r>
            <a:r>
              <a:rPr lang="en-GB" sz="2300" dirty="0"/>
              <a:t> /1901, whole </a:t>
            </a:r>
            <a:r>
              <a:rPr lang="en-GB" sz="2300" dirty="0" err="1"/>
              <a:t>taluka</a:t>
            </a:r>
            <a:r>
              <a:rPr lang="en-GB" sz="2300" dirty="0"/>
              <a:t>. </a:t>
            </a:r>
          </a:p>
          <a:p>
            <a:r>
              <a:rPr lang="en-GB" sz="2300" dirty="0"/>
              <a:t>1906, primary education was made compulsory and free throughout the province for boys between the ages of six and twelve and girls between the ages of six and ten.</a:t>
            </a:r>
          </a:p>
          <a:p>
            <a:r>
              <a:rPr lang="en-GB" sz="2300" dirty="0"/>
              <a:t>1880s -200 elementary private school - 800 boys. </a:t>
            </a:r>
          </a:p>
          <a:p>
            <a:r>
              <a:rPr lang="en-GB" sz="2300" dirty="0"/>
              <a:t>1926 - 78 English institutions including a college, teaching 14,080 boys n 345 girls. </a:t>
            </a:r>
          </a:p>
          <a:p>
            <a:r>
              <a:rPr lang="en-GB" sz="2300" dirty="0"/>
              <a:t>Vernacular institutions 2,916 including 219 for </a:t>
            </a:r>
            <a:r>
              <a:rPr lang="en-GB" sz="2300" dirty="0" err="1"/>
              <a:t>Dalits</a:t>
            </a:r>
            <a:r>
              <a:rPr lang="en-GB" sz="2300" dirty="0"/>
              <a:t>, 98 Urdu Boy’s n 26 Urdu Girls schools </a:t>
            </a:r>
          </a:p>
          <a:p>
            <a:r>
              <a:rPr lang="en-GB" sz="2300" dirty="0"/>
              <a:t>Total no of 2,17,138 children /67,384 are girls</a:t>
            </a:r>
          </a:p>
          <a:p>
            <a:r>
              <a:rPr lang="en-GB" sz="2300" dirty="0">
                <a:solidFill>
                  <a:srgbClr val="FF0000"/>
                </a:solidFill>
              </a:rPr>
              <a:t>The farmers of Baroda are no happier, no better than their brethren elsewhere.  </a:t>
            </a:r>
            <a:r>
              <a:rPr lang="en-US" sz="2300" dirty="0">
                <a:solidFill>
                  <a:srgbClr val="FF0000"/>
                </a:solidFill>
              </a:rPr>
              <a:t>M.K. Gandhi, </a:t>
            </a:r>
            <a:r>
              <a:rPr lang="en-US" sz="2300" i="1" dirty="0">
                <a:solidFill>
                  <a:srgbClr val="FF0000"/>
                </a:solidFill>
              </a:rPr>
              <a:t>Young India</a:t>
            </a:r>
            <a:r>
              <a:rPr lang="en-US" sz="2300" dirty="0">
                <a:solidFill>
                  <a:srgbClr val="FF0000"/>
                </a:solidFill>
              </a:rPr>
              <a:t> 21 January 1926.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70C0"/>
                </a:solidFill>
              </a:rPr>
              <a:t>Towards </a:t>
            </a:r>
            <a:r>
              <a:rPr lang="en-IN" b="1" dirty="0" err="1">
                <a:solidFill>
                  <a:srgbClr val="0070C0"/>
                </a:solidFill>
              </a:rPr>
              <a:t>Gokhale’s</a:t>
            </a:r>
            <a:r>
              <a:rPr lang="en-IN" b="1" dirty="0">
                <a:solidFill>
                  <a:srgbClr val="0070C0"/>
                </a:solidFill>
              </a:rPr>
              <a:t> Bill </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GB" sz="2300" dirty="0"/>
              <a:t>1902, </a:t>
            </a:r>
            <a:r>
              <a:rPr lang="en-GB" sz="2300" dirty="0" err="1"/>
              <a:t>Gokhale</a:t>
            </a:r>
            <a:r>
              <a:rPr lang="en-GB" sz="2300" dirty="0"/>
              <a:t> ‘a widespread diffusion of elementary education.’</a:t>
            </a:r>
          </a:p>
          <a:p>
            <a:r>
              <a:rPr lang="en-GB" sz="2300" dirty="0">
                <a:solidFill>
                  <a:srgbClr val="FF0000"/>
                </a:solidFill>
              </a:rPr>
              <a:t>Reform Vs. Political Freedom/ </a:t>
            </a:r>
            <a:r>
              <a:rPr lang="en-GB" sz="2300" dirty="0" err="1">
                <a:solidFill>
                  <a:srgbClr val="FF0000"/>
                </a:solidFill>
              </a:rPr>
              <a:t>Gokhale</a:t>
            </a:r>
            <a:r>
              <a:rPr lang="en-GB" sz="2300" dirty="0">
                <a:solidFill>
                  <a:srgbClr val="FF0000"/>
                </a:solidFill>
              </a:rPr>
              <a:t> - ‘Will a shoemaker be ever to rise no matter how gifted he might be?</a:t>
            </a:r>
          </a:p>
          <a:p>
            <a:r>
              <a:rPr lang="en-GB" sz="2300" dirty="0"/>
              <a:t>1904 onwards INC endorsed compulsory </a:t>
            </a:r>
            <a:r>
              <a:rPr lang="en-GB" sz="2300" dirty="0" err="1"/>
              <a:t>Edu</a:t>
            </a:r>
            <a:r>
              <a:rPr lang="en-GB" sz="2300" dirty="0"/>
              <a:t> in every session</a:t>
            </a:r>
          </a:p>
          <a:p>
            <a:r>
              <a:rPr lang="en-GB" sz="2300" dirty="0"/>
              <a:t>INC - </a:t>
            </a:r>
            <a:r>
              <a:rPr lang="en-GB" sz="2300" dirty="0" err="1"/>
              <a:t>Jotindra</a:t>
            </a:r>
            <a:r>
              <a:rPr lang="en-GB" sz="2300" dirty="0"/>
              <a:t> Mohan Tagore wrote to ‘the abolition of fee in all primary schools ... benefits the poorest classes of agriculturists, small traders and artisans.’</a:t>
            </a:r>
          </a:p>
          <a:p>
            <a:r>
              <a:rPr lang="en-GB" sz="2300" dirty="0"/>
              <a:t>Justice </a:t>
            </a:r>
            <a:r>
              <a:rPr lang="en-GB" sz="2300" dirty="0" err="1"/>
              <a:t>Sarda</a:t>
            </a:r>
            <a:r>
              <a:rPr lang="en-GB" sz="2300" dirty="0"/>
              <a:t> Chandra </a:t>
            </a:r>
            <a:r>
              <a:rPr lang="en-GB" sz="2300" dirty="0" err="1"/>
              <a:t>Maitra</a:t>
            </a:r>
            <a:r>
              <a:rPr lang="en-GB" sz="2300" dirty="0"/>
              <a:t>  to govt- ‘free primary education must be compulsory; otherwise, the poor and the lower castes will not be benefitted.’ </a:t>
            </a:r>
          </a:p>
          <a:p>
            <a:r>
              <a:rPr lang="en-GB" sz="2300" dirty="0" err="1"/>
              <a:t>Gokhale</a:t>
            </a:r>
            <a:r>
              <a:rPr lang="en-GB" sz="2300" dirty="0"/>
              <a:t> - 1908  - ‘the government to abolish fees in all primary schools’</a:t>
            </a:r>
            <a:endParaRPr lang="en-GB" sz="2300"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228600"/>
            <a:ext cx="9720072" cy="1499616"/>
          </a:xfrm>
        </p:spPr>
        <p:txBody>
          <a:bodyPr/>
          <a:lstStyle/>
          <a:p>
            <a:r>
              <a:rPr lang="en-US" dirty="0"/>
              <a:t>GOKHALE’s efforts</a:t>
            </a:r>
          </a:p>
        </p:txBody>
      </p:sp>
      <p:sp>
        <p:nvSpPr>
          <p:cNvPr id="3" name="Content Placeholder 2"/>
          <p:cNvSpPr>
            <a:spLocks noGrp="1"/>
          </p:cNvSpPr>
          <p:nvPr>
            <p:ph idx="1"/>
          </p:nvPr>
        </p:nvSpPr>
        <p:spPr>
          <a:xfrm>
            <a:off x="1024128" y="1600200"/>
            <a:ext cx="9720073" cy="4023360"/>
          </a:xfrm>
        </p:spPr>
        <p:txBody>
          <a:bodyPr>
            <a:noAutofit/>
          </a:bodyPr>
          <a:lstStyle/>
          <a:p>
            <a:r>
              <a:rPr lang="en-US" sz="2300" dirty="0" err="1"/>
              <a:t>Gokhale</a:t>
            </a:r>
            <a:r>
              <a:rPr lang="en-US" sz="2300" dirty="0"/>
              <a:t> – to </a:t>
            </a:r>
            <a:r>
              <a:rPr lang="en-GB" sz="2300" dirty="0"/>
              <a:t>govt, in 25 years (1882-1907) the number of schools had increased from 85,000 to 1,13,000 </a:t>
            </a:r>
          </a:p>
          <a:p>
            <a:r>
              <a:rPr lang="en-GB" sz="2300" dirty="0">
                <a:solidFill>
                  <a:srgbClr val="FF0000"/>
                </a:solidFill>
              </a:rPr>
              <a:t>1882-1907 the </a:t>
            </a:r>
            <a:r>
              <a:rPr lang="en-GB" sz="2300" dirty="0" err="1">
                <a:solidFill>
                  <a:srgbClr val="FF0000"/>
                </a:solidFill>
              </a:rPr>
              <a:t>edu</a:t>
            </a:r>
            <a:r>
              <a:rPr lang="en-GB" sz="2300" dirty="0">
                <a:solidFill>
                  <a:srgbClr val="FF0000"/>
                </a:solidFill>
              </a:rPr>
              <a:t> budget increased from 36 to 93 </a:t>
            </a:r>
            <a:r>
              <a:rPr lang="en-GB" sz="2300" dirty="0" err="1">
                <a:solidFill>
                  <a:srgbClr val="FF0000"/>
                </a:solidFill>
              </a:rPr>
              <a:t>lakhs</a:t>
            </a:r>
            <a:r>
              <a:rPr lang="en-GB" sz="2300" dirty="0">
                <a:solidFill>
                  <a:srgbClr val="FF0000"/>
                </a:solidFill>
              </a:rPr>
              <a:t>. </a:t>
            </a:r>
          </a:p>
          <a:p>
            <a:r>
              <a:rPr lang="en-GB" sz="2300" dirty="0">
                <a:solidFill>
                  <a:srgbClr val="FF0000"/>
                </a:solidFill>
              </a:rPr>
              <a:t>1882-1907 the defence budget went up from 19 to 32 </a:t>
            </a:r>
            <a:r>
              <a:rPr lang="en-GB" sz="2300" dirty="0" err="1">
                <a:solidFill>
                  <a:srgbClr val="FF0000"/>
                </a:solidFill>
              </a:rPr>
              <a:t>crores</a:t>
            </a:r>
            <a:r>
              <a:rPr lang="en-GB" sz="2300" dirty="0">
                <a:solidFill>
                  <a:srgbClr val="FF0000"/>
                </a:solidFill>
              </a:rPr>
              <a:t>.</a:t>
            </a:r>
          </a:p>
          <a:p>
            <a:r>
              <a:rPr lang="en-GB" sz="2300" dirty="0" err="1"/>
              <a:t>Gokhale</a:t>
            </a:r>
            <a:r>
              <a:rPr lang="en-GB" sz="2300" dirty="0"/>
              <a:t> - govt should earmark 4, </a:t>
            </a:r>
            <a:r>
              <a:rPr lang="en-GB" sz="2300" dirty="0" err="1"/>
              <a:t>cr</a:t>
            </a:r>
            <a:r>
              <a:rPr lang="en-GB" sz="2300" dirty="0"/>
              <a:t> a year for </a:t>
            </a:r>
            <a:r>
              <a:rPr lang="en-GB" sz="2300" dirty="0" err="1"/>
              <a:t>edu</a:t>
            </a:r>
            <a:r>
              <a:rPr lang="en-GB" sz="2300" dirty="0"/>
              <a:t> shared by both the state and the local bodies.</a:t>
            </a:r>
          </a:p>
          <a:p>
            <a:r>
              <a:rPr lang="en-GB" sz="2300" dirty="0" err="1"/>
              <a:t>Gokhale</a:t>
            </a:r>
            <a:r>
              <a:rPr lang="en-GB" sz="2300" dirty="0"/>
              <a:t> proposed </a:t>
            </a:r>
            <a:r>
              <a:rPr lang="en-GB" sz="2300" dirty="0">
                <a:solidFill>
                  <a:srgbClr val="FF0000"/>
                </a:solidFill>
              </a:rPr>
              <a:t>‘an eight </a:t>
            </a:r>
            <a:r>
              <a:rPr lang="en-GB" sz="2300" i="1" dirty="0" err="1">
                <a:solidFill>
                  <a:srgbClr val="FF0000"/>
                </a:solidFill>
              </a:rPr>
              <a:t>anna</a:t>
            </a:r>
            <a:r>
              <a:rPr lang="en-GB" sz="2300" dirty="0">
                <a:solidFill>
                  <a:srgbClr val="FF0000"/>
                </a:solidFill>
              </a:rPr>
              <a:t> tax on salt because I think it is a smaller evil that my countrymen should eat less salt than that their children grow up in ignorance.’</a:t>
            </a:r>
          </a:p>
          <a:p>
            <a:r>
              <a:rPr lang="en-GB" sz="2300" dirty="0"/>
              <a:t>Officials supportive / Harcourt Butler, Secretary of Education - 8 </a:t>
            </a:r>
            <a:r>
              <a:rPr lang="en-GB" sz="2300" dirty="0" err="1"/>
              <a:t>cr</a:t>
            </a:r>
            <a:r>
              <a:rPr lang="en-GB" sz="2300" dirty="0"/>
              <a:t> a year </a:t>
            </a:r>
          </a:p>
          <a:p>
            <a:r>
              <a:rPr lang="en-US" sz="2300" dirty="0"/>
              <a:t>Murder of AMT Jackson by </a:t>
            </a:r>
            <a:r>
              <a:rPr lang="en-US" sz="2300" dirty="0" err="1"/>
              <a:t>Lakshman</a:t>
            </a:r>
            <a:r>
              <a:rPr lang="en-US" sz="2300" dirty="0"/>
              <a:t> </a:t>
            </a:r>
            <a:r>
              <a:rPr lang="en-US" sz="2300" dirty="0" err="1"/>
              <a:t>Kanhere</a:t>
            </a:r>
            <a:r>
              <a:rPr lang="en-US" sz="2300" dirty="0"/>
              <a:t> 1909/Nasik</a:t>
            </a:r>
          </a:p>
          <a:p>
            <a:r>
              <a:rPr lang="en-GB" sz="2300" dirty="0"/>
              <a:t>1910, Secretary of State for India sanctioning 90,17,000 for </a:t>
            </a:r>
            <a:r>
              <a:rPr lang="en-GB" sz="2300" dirty="0" err="1"/>
              <a:t>edu</a:t>
            </a:r>
            <a:endParaRPr lang="en-GB" sz="2300" dirty="0"/>
          </a:p>
          <a:p>
            <a:pPr>
              <a:buNone/>
            </a:pPr>
            <a:endParaRPr lang="en-US" sz="2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Elementary Education Bill-1</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US" sz="2300" dirty="0"/>
              <a:t>1910 Annual cost of running a primary school 224.33 </a:t>
            </a:r>
            <a:r>
              <a:rPr lang="en-US" sz="2300" dirty="0" err="1"/>
              <a:t>rs</a:t>
            </a:r>
            <a:endParaRPr lang="en-US" sz="2300" dirty="0"/>
          </a:p>
          <a:p>
            <a:r>
              <a:rPr lang="en-US" sz="2300" dirty="0"/>
              <a:t>Highest in Bombay Presidency 402 </a:t>
            </a:r>
            <a:r>
              <a:rPr lang="en-US" sz="2300" dirty="0" err="1"/>
              <a:t>rs</a:t>
            </a:r>
            <a:r>
              <a:rPr lang="en-US" sz="2300" dirty="0"/>
              <a:t>, cheapest in Bengal 83 </a:t>
            </a:r>
            <a:r>
              <a:rPr lang="en-US" sz="2300" dirty="0" err="1"/>
              <a:t>rs</a:t>
            </a:r>
            <a:endParaRPr lang="en-US" sz="2300" dirty="0"/>
          </a:p>
          <a:p>
            <a:r>
              <a:rPr lang="en-US" sz="2300" dirty="0"/>
              <a:t> </a:t>
            </a:r>
            <a:r>
              <a:rPr lang="en-GB" sz="2300" dirty="0" err="1"/>
              <a:t>Gokhale</a:t>
            </a:r>
            <a:r>
              <a:rPr lang="en-GB" sz="2300" dirty="0"/>
              <a:t> introduced the Elementary Education Bill in the Imperial Legislative Council on 28 February 1911. </a:t>
            </a:r>
          </a:p>
          <a:p>
            <a:r>
              <a:rPr lang="en-GB" sz="2300" dirty="0"/>
              <a:t>Inspiration from the Elementary Education Acts of England of 1870 and 1876 and the Irish Education Act of 1902. </a:t>
            </a:r>
          </a:p>
          <a:p>
            <a:r>
              <a:rPr lang="en-GB" sz="2300" dirty="0"/>
              <a:t>1. The Bill provided for the education of boys between the ages of 6-10 in the areas covered by the municipalities and District Boards. </a:t>
            </a:r>
          </a:p>
          <a:p>
            <a:r>
              <a:rPr lang="en-GB" sz="2300" dirty="0"/>
              <a:t>2. These boards had to provide school building, appoint a teacher n School Attendance Committee, and prescribe by-laws.</a:t>
            </a:r>
            <a:endParaRPr lang="en-US" sz="2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Elementary Education Bill-2</a:t>
            </a:r>
            <a:endParaRPr lang="en-US" dirty="0"/>
          </a:p>
        </p:txBody>
      </p:sp>
      <p:sp>
        <p:nvSpPr>
          <p:cNvPr id="3" name="Content Placeholder 2"/>
          <p:cNvSpPr>
            <a:spLocks noGrp="1"/>
          </p:cNvSpPr>
          <p:nvPr>
            <p:ph idx="1"/>
          </p:nvPr>
        </p:nvSpPr>
        <p:spPr/>
        <p:txBody>
          <a:bodyPr>
            <a:noAutofit/>
          </a:bodyPr>
          <a:lstStyle/>
          <a:p>
            <a:r>
              <a:rPr lang="en-GB" sz="2300" dirty="0"/>
              <a:t>3. These boards also had powers to exempt children from paying a fee if the income of the parents was less than 10 rupees. </a:t>
            </a:r>
          </a:p>
          <a:p>
            <a:r>
              <a:rPr lang="en-GB" sz="2300" dirty="0"/>
              <a:t>4. It made the parents and the guardians responsible for sending the children to schools; otherwise, they were fined an amount prescribed by the Department of Public Instruction. </a:t>
            </a:r>
          </a:p>
          <a:p>
            <a:r>
              <a:rPr lang="en-GB" sz="2300" dirty="0"/>
              <a:t>5. It also made the employers, agents, and workmen refrain from employing boys of school-going age; otherwise, they were fined 20 rupees. </a:t>
            </a:r>
          </a:p>
          <a:p>
            <a:r>
              <a:rPr lang="en-GB" sz="2300" dirty="0"/>
              <a:t>6.An exemption was given for not attending the school if there was no school within a one-mile distance from home, sickness, domestic necessity, or seasonal agriculture needs. </a:t>
            </a:r>
          </a:p>
          <a:p>
            <a:r>
              <a:rPr lang="en-GB" sz="2300" dirty="0"/>
              <a:t>7. Asked the local bodies to extend the same provisions to girls.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DEVELOPMENTS</a:t>
            </a:r>
          </a:p>
        </p:txBody>
      </p:sp>
      <p:sp>
        <p:nvSpPr>
          <p:cNvPr id="3" name="Content Placeholder 2"/>
          <p:cNvSpPr>
            <a:spLocks noGrp="1"/>
          </p:cNvSpPr>
          <p:nvPr>
            <p:ph idx="1"/>
          </p:nvPr>
        </p:nvSpPr>
        <p:spPr/>
        <p:txBody>
          <a:bodyPr>
            <a:normAutofit/>
          </a:bodyPr>
          <a:lstStyle/>
          <a:p>
            <a:r>
              <a:rPr lang="en-GB" dirty="0" err="1"/>
              <a:t>Mazharul</a:t>
            </a:r>
            <a:r>
              <a:rPr lang="en-GB" dirty="0"/>
              <a:t> </a:t>
            </a:r>
            <a:r>
              <a:rPr lang="en-GB" dirty="0" err="1"/>
              <a:t>Haque</a:t>
            </a:r>
            <a:r>
              <a:rPr lang="en-GB" dirty="0"/>
              <a:t>, on 7 March 1911, moved a resolution on free primary education. - ‘our ideal is that </a:t>
            </a:r>
            <a:r>
              <a:rPr lang="en-GB" dirty="0" err="1"/>
              <a:t>edu</a:t>
            </a:r>
            <a:r>
              <a:rPr lang="en-GB" dirty="0"/>
              <a:t> should become universal’</a:t>
            </a:r>
            <a:endParaRPr lang="en-US" dirty="0"/>
          </a:p>
          <a:p>
            <a:r>
              <a:rPr lang="en-US" dirty="0" err="1"/>
              <a:t>Gokhale</a:t>
            </a:r>
            <a:r>
              <a:rPr lang="en-US" dirty="0"/>
              <a:t> passionately appealed to members   for support, gave examples of different countries.</a:t>
            </a:r>
          </a:p>
          <a:p>
            <a:r>
              <a:rPr lang="en-GB" dirty="0">
                <a:solidFill>
                  <a:srgbClr val="FF0000"/>
                </a:solidFill>
              </a:rPr>
              <a:t>‘If you want to increase the wage-earning capacity of the workmen, if you want the peasant to grow stronger and healthier and take better care of himself and understand his dealings with a money lender and understand better the benefits of sanitation and agriculture than compulsion alone had been proved effective in spreading education.’</a:t>
            </a:r>
          </a:p>
          <a:p>
            <a:r>
              <a:rPr lang="en-GB" dirty="0"/>
              <a:t>‘Free and compulsory education is the first remedy of all the remedies to be applied’</a:t>
            </a:r>
            <a:endParaRPr lang="en-US" dirty="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Opposition to the Bill-1</a:t>
            </a:r>
          </a:p>
        </p:txBody>
      </p:sp>
      <p:sp>
        <p:nvSpPr>
          <p:cNvPr id="3" name="Content Placeholder 2"/>
          <p:cNvSpPr>
            <a:spLocks noGrp="1"/>
          </p:cNvSpPr>
          <p:nvPr>
            <p:ph idx="1"/>
          </p:nvPr>
        </p:nvSpPr>
        <p:spPr/>
        <p:txBody>
          <a:bodyPr>
            <a:normAutofit/>
          </a:bodyPr>
          <a:lstStyle/>
          <a:p>
            <a:r>
              <a:rPr lang="en-GB" dirty="0" err="1"/>
              <a:t>Manekji</a:t>
            </a:r>
            <a:r>
              <a:rPr lang="en-GB" dirty="0"/>
              <a:t> </a:t>
            </a:r>
            <a:r>
              <a:rPr lang="en-GB" dirty="0" err="1"/>
              <a:t>Byramji</a:t>
            </a:r>
            <a:r>
              <a:rPr lang="en-GB" dirty="0"/>
              <a:t> </a:t>
            </a:r>
            <a:r>
              <a:rPr lang="en-GB" dirty="0" err="1"/>
              <a:t>Dadabhoy</a:t>
            </a:r>
            <a:r>
              <a:rPr lang="en-GB" dirty="0"/>
              <a:t>, an industrialist from Bombay, opposed ‘vesting so much power with the local elected bodies as they did not entirely reflect the opinions and the wishes of the taxpayers.’ </a:t>
            </a:r>
          </a:p>
          <a:p>
            <a:r>
              <a:rPr lang="en-GB" dirty="0"/>
              <a:t>He opposed further taxation for education as well as girls’ education. </a:t>
            </a:r>
          </a:p>
          <a:p>
            <a:r>
              <a:rPr lang="en-GB" dirty="0"/>
              <a:t>The Maharaja of </a:t>
            </a:r>
            <a:r>
              <a:rPr lang="en-GB" dirty="0" err="1"/>
              <a:t>Burdwan</a:t>
            </a:r>
            <a:r>
              <a:rPr lang="en-GB" dirty="0"/>
              <a:t> condemned the idea of educating</a:t>
            </a:r>
            <a:r>
              <a:rPr lang="en-GB" dirty="0">
                <a:solidFill>
                  <a:srgbClr val="FF0000"/>
                </a:solidFill>
              </a:rPr>
              <a:t> ‘the agriculturists or artisans’</a:t>
            </a:r>
            <a:r>
              <a:rPr lang="en-GB" dirty="0"/>
              <a:t> as they would give up their </a:t>
            </a:r>
            <a:r>
              <a:rPr lang="en-GB" dirty="0">
                <a:solidFill>
                  <a:srgbClr val="FF0000"/>
                </a:solidFill>
              </a:rPr>
              <a:t>‘ancestral homely occupations or would rather be inclined to get a cosy room and an electric </a:t>
            </a:r>
            <a:r>
              <a:rPr lang="en-GB" i="1" dirty="0" err="1">
                <a:solidFill>
                  <a:srgbClr val="FF0000"/>
                </a:solidFill>
              </a:rPr>
              <a:t>punkah</a:t>
            </a:r>
            <a:r>
              <a:rPr lang="en-GB" dirty="0">
                <a:solidFill>
                  <a:srgbClr val="FF0000"/>
                </a:solidFill>
              </a:rPr>
              <a:t> (fan).</a:t>
            </a:r>
            <a:r>
              <a:rPr lang="en-US" dirty="0">
                <a:solidFill>
                  <a:srgbClr val="FF0000"/>
                </a:solidFill>
              </a:rPr>
              <a:t> </a:t>
            </a:r>
            <a:r>
              <a:rPr lang="en-GB" dirty="0">
                <a:solidFill>
                  <a:srgbClr val="FF0000"/>
                </a:solidFill>
              </a:rPr>
              <a:t> </a:t>
            </a:r>
            <a:endParaRPr lang="en-US"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Opposition to the Bill-2</a:t>
            </a:r>
            <a:endParaRPr lang="en-US" dirty="0"/>
          </a:p>
        </p:txBody>
      </p:sp>
      <p:sp>
        <p:nvSpPr>
          <p:cNvPr id="3" name="Content Placeholder 2"/>
          <p:cNvSpPr>
            <a:spLocks noGrp="1"/>
          </p:cNvSpPr>
          <p:nvPr>
            <p:ph idx="1"/>
          </p:nvPr>
        </p:nvSpPr>
        <p:spPr>
          <a:xfrm>
            <a:off x="1024128" y="1981200"/>
            <a:ext cx="9720073" cy="4023360"/>
          </a:xfrm>
        </p:spPr>
        <p:txBody>
          <a:bodyPr>
            <a:normAutofit fontScale="92500" lnSpcReduction="20000"/>
          </a:bodyPr>
          <a:lstStyle/>
          <a:p>
            <a:r>
              <a:rPr lang="en-GB" dirty="0" err="1"/>
              <a:t>Gangadhar</a:t>
            </a:r>
            <a:r>
              <a:rPr lang="en-GB" dirty="0"/>
              <a:t> </a:t>
            </a:r>
            <a:r>
              <a:rPr lang="en-GB" dirty="0" err="1"/>
              <a:t>Rao</a:t>
            </a:r>
            <a:r>
              <a:rPr lang="en-GB" dirty="0"/>
              <a:t> </a:t>
            </a:r>
            <a:r>
              <a:rPr lang="en-GB" dirty="0" err="1"/>
              <a:t>Chitnavis</a:t>
            </a:r>
            <a:r>
              <a:rPr lang="en-GB" dirty="0"/>
              <a:t>, member since 1893, opposed the Bill as,  </a:t>
            </a:r>
            <a:endParaRPr lang="en-US" dirty="0"/>
          </a:p>
          <a:p>
            <a:r>
              <a:rPr lang="en-GB" dirty="0">
                <a:solidFill>
                  <a:srgbClr val="FF0000"/>
                </a:solidFill>
              </a:rPr>
              <a:t>‘It is not just a temporary diversion of infant labourers from the field and the workshop to the school … it is the tendency of all intellectual education to breed in the recipient a distaste for manual labour and thus to wean him from the family pursuits that contain the germs of an evil, insidious but potent.’</a:t>
            </a:r>
          </a:p>
          <a:p>
            <a:endParaRPr lang="en-GB" dirty="0">
              <a:solidFill>
                <a:srgbClr val="FF0000"/>
              </a:solidFill>
            </a:endParaRPr>
          </a:p>
          <a:p>
            <a:r>
              <a:rPr lang="en-GB" dirty="0"/>
              <a:t>Syed Shams-ul Huda-Bengal, Malik Umar Hayat Khan –Punjab, </a:t>
            </a:r>
          </a:p>
          <a:p>
            <a:r>
              <a:rPr lang="en-GB" dirty="0">
                <a:solidFill>
                  <a:srgbClr val="FF0000"/>
                </a:solidFill>
              </a:rPr>
              <a:t>‘Ignorant people thus produced would just learn how to read and write, and any mischievous paper would lead them to acts which might be attended by serious consequences.’</a:t>
            </a:r>
          </a:p>
          <a:p>
            <a:r>
              <a:rPr lang="en-GB" dirty="0">
                <a:solidFill>
                  <a:srgbClr val="FF0000"/>
                </a:solidFill>
              </a:rPr>
              <a:t>‘If a boy is sitting down in the school and carrying on his studies, he cannot have bodily development, and his limbs will become so weak that he will be able to follow his father’s occupation and also develop a sort of false honour which will prevent him from doing such a work.’</a:t>
            </a:r>
          </a:p>
          <a:p>
            <a:r>
              <a:rPr lang="en-GB" dirty="0"/>
              <a:t>‘an agriculturist with one </a:t>
            </a:r>
            <a:r>
              <a:rPr lang="en-GB" i="1" dirty="0"/>
              <a:t>bigha</a:t>
            </a:r>
            <a:r>
              <a:rPr lang="en-GB" dirty="0"/>
              <a:t> of land’ to argue that a ‘zamindar cannot afford to send his son to school.’</a:t>
            </a:r>
          </a:p>
          <a:p>
            <a:endParaRPr lang="en-US" dirty="0"/>
          </a:p>
          <a:p>
            <a:endParaRPr lang="en-US" dirty="0">
              <a:solidFill>
                <a:srgbClr val="FF0000"/>
              </a:solidFill>
            </a:endParaRP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Opposition to the Bill-3</a:t>
            </a:r>
            <a:endParaRPr lang="en-US" dirty="0"/>
          </a:p>
        </p:txBody>
      </p:sp>
      <p:sp>
        <p:nvSpPr>
          <p:cNvPr id="3" name="Content Placeholder 2"/>
          <p:cNvSpPr>
            <a:spLocks noGrp="1"/>
          </p:cNvSpPr>
          <p:nvPr>
            <p:ph idx="1"/>
          </p:nvPr>
        </p:nvSpPr>
        <p:spPr/>
        <p:txBody>
          <a:bodyPr>
            <a:noAutofit/>
          </a:bodyPr>
          <a:lstStyle/>
          <a:p>
            <a:r>
              <a:rPr lang="en-GB" sz="2300" dirty="0" err="1"/>
              <a:t>Nawab</a:t>
            </a:r>
            <a:r>
              <a:rPr lang="en-GB" sz="2300" dirty="0"/>
              <a:t> Muhammad Abdul </a:t>
            </a:r>
            <a:r>
              <a:rPr lang="en-GB" sz="2300" dirty="0" err="1"/>
              <a:t>Mazid</a:t>
            </a:r>
            <a:r>
              <a:rPr lang="en-GB" sz="2300" dirty="0"/>
              <a:t> from the United Province declared that the Bill posed,</a:t>
            </a:r>
            <a:endParaRPr lang="en-US" sz="2300" dirty="0"/>
          </a:p>
          <a:p>
            <a:r>
              <a:rPr lang="en-GB" sz="2300" dirty="0">
                <a:solidFill>
                  <a:srgbClr val="FF0000"/>
                </a:solidFill>
              </a:rPr>
              <a:t>‘Triple danger, to the government, to the Muslims and to the landholders. ... education would spread sedition against the government and would prove to be most disastrous to the welfare of the country</a:t>
            </a:r>
            <a:r>
              <a:rPr lang="en-GB" sz="2300" dirty="0"/>
              <a:t>. ... It benefits </a:t>
            </a:r>
            <a:r>
              <a:rPr lang="en-GB" sz="2300" dirty="0">
                <a:solidFill>
                  <a:srgbClr val="FF0000"/>
                </a:solidFill>
              </a:rPr>
              <a:t>only Hindus because the Muslims would be forced to study Hindu languages</a:t>
            </a:r>
            <a:r>
              <a:rPr lang="en-GB" sz="2300" dirty="0"/>
              <a:t>. ... The </a:t>
            </a:r>
            <a:r>
              <a:rPr lang="en-GB" sz="2300" dirty="0" err="1"/>
              <a:t>Muhammadan</a:t>
            </a:r>
            <a:r>
              <a:rPr lang="en-GB" sz="2300" dirty="0"/>
              <a:t> teachers who know how to instruct a </a:t>
            </a:r>
            <a:r>
              <a:rPr lang="en-GB" sz="2300" dirty="0" err="1"/>
              <a:t>Muhammadan</a:t>
            </a:r>
            <a:r>
              <a:rPr lang="en-GB" sz="2300" dirty="0"/>
              <a:t> boy, as well as the subjects which </a:t>
            </a:r>
            <a:r>
              <a:rPr lang="en-GB" sz="2300" dirty="0" err="1"/>
              <a:t>Muhammadans</a:t>
            </a:r>
            <a:r>
              <a:rPr lang="en-GB" sz="2300" dirty="0"/>
              <a:t> read in a </a:t>
            </a:r>
            <a:r>
              <a:rPr lang="en-GB" sz="2300" i="1" dirty="0" err="1"/>
              <a:t>maktab</a:t>
            </a:r>
            <a:r>
              <a:rPr lang="en-GB" sz="2300" i="1" dirty="0"/>
              <a:t>,</a:t>
            </a:r>
            <a:r>
              <a:rPr lang="en-GB" sz="2300" dirty="0"/>
              <a:t> alone should teach Muslim boys. </a:t>
            </a:r>
          </a:p>
          <a:p>
            <a:r>
              <a:rPr lang="en-GB" sz="2300" dirty="0"/>
              <a:t>British Bureaucrats opposed - </a:t>
            </a:r>
            <a:r>
              <a:rPr lang="en-US" sz="2300" dirty="0"/>
              <a:t>Murder of Robert William Ash collector of </a:t>
            </a:r>
            <a:r>
              <a:rPr lang="en-US" sz="2300" dirty="0" err="1"/>
              <a:t>Tirunelveli</a:t>
            </a:r>
            <a:r>
              <a:rPr lang="en-US" sz="2300" dirty="0"/>
              <a:t> by </a:t>
            </a:r>
            <a:r>
              <a:rPr lang="en-US" sz="2300" dirty="0" err="1"/>
              <a:t>Vanchinathan</a:t>
            </a:r>
            <a:r>
              <a:rPr lang="en-US" sz="2300" dirty="0"/>
              <a:t> in 1911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Support to the Bill-1</a:t>
            </a:r>
            <a:endParaRPr lang="en-US" dirty="0">
              <a:solidFill>
                <a:srgbClr val="0070C0"/>
              </a:solidFill>
            </a:endParaRPr>
          </a:p>
        </p:txBody>
      </p:sp>
      <p:sp>
        <p:nvSpPr>
          <p:cNvPr id="3" name="Content Placeholder 2"/>
          <p:cNvSpPr>
            <a:spLocks noGrp="1"/>
          </p:cNvSpPr>
          <p:nvPr>
            <p:ph idx="1"/>
          </p:nvPr>
        </p:nvSpPr>
        <p:spPr/>
        <p:txBody>
          <a:bodyPr>
            <a:noAutofit/>
          </a:bodyPr>
          <a:lstStyle/>
          <a:p>
            <a:r>
              <a:rPr lang="en-GB" sz="2300" i="1" dirty="0">
                <a:solidFill>
                  <a:srgbClr val="FF0000"/>
                </a:solidFill>
              </a:rPr>
              <a:t>The Times of India, Madras Mail, Madras Times and</a:t>
            </a:r>
            <a:r>
              <a:rPr lang="en-GB" sz="2300" dirty="0">
                <a:solidFill>
                  <a:srgbClr val="FF0000"/>
                </a:solidFill>
              </a:rPr>
              <a:t> </a:t>
            </a:r>
            <a:r>
              <a:rPr lang="en-GB" sz="2300" i="1" dirty="0">
                <a:solidFill>
                  <a:srgbClr val="FF0000"/>
                </a:solidFill>
              </a:rPr>
              <a:t>Indian Social Reformer </a:t>
            </a:r>
          </a:p>
          <a:p>
            <a:r>
              <a:rPr lang="en-GB" sz="2300" dirty="0">
                <a:solidFill>
                  <a:srgbClr val="FF0000"/>
                </a:solidFill>
              </a:rPr>
              <a:t>Most DPIs, British Judges at all levels, Most British and Indian ICS officers supported</a:t>
            </a:r>
          </a:p>
          <a:p>
            <a:r>
              <a:rPr lang="en-GB" sz="2300" dirty="0" err="1"/>
              <a:t>Madan</a:t>
            </a:r>
            <a:r>
              <a:rPr lang="en-GB" sz="2300" dirty="0"/>
              <a:t> Mohan </a:t>
            </a:r>
            <a:r>
              <a:rPr lang="en-GB" sz="2300" dirty="0" err="1"/>
              <a:t>Malaviya</a:t>
            </a:r>
            <a:r>
              <a:rPr lang="en-GB" sz="2300" dirty="0"/>
              <a:t>, </a:t>
            </a:r>
            <a:r>
              <a:rPr lang="en-GB" sz="2300" dirty="0" err="1"/>
              <a:t>Sachidanand</a:t>
            </a:r>
            <a:r>
              <a:rPr lang="en-GB" sz="2300" dirty="0"/>
              <a:t> </a:t>
            </a:r>
            <a:r>
              <a:rPr lang="en-GB" sz="2300" dirty="0" err="1"/>
              <a:t>Sinha</a:t>
            </a:r>
            <a:r>
              <a:rPr lang="en-GB" sz="2300" dirty="0"/>
              <a:t>, </a:t>
            </a:r>
            <a:r>
              <a:rPr lang="en-GB" sz="2300" dirty="0" err="1"/>
              <a:t>Raghunath</a:t>
            </a:r>
            <a:r>
              <a:rPr lang="en-GB" sz="2300" dirty="0"/>
              <a:t> </a:t>
            </a:r>
            <a:r>
              <a:rPr lang="en-GB" sz="2300" dirty="0" err="1"/>
              <a:t>Narsinha</a:t>
            </a:r>
            <a:r>
              <a:rPr lang="en-GB" sz="2300" dirty="0"/>
              <a:t> </a:t>
            </a:r>
            <a:r>
              <a:rPr lang="en-GB" sz="2300" dirty="0" err="1"/>
              <a:t>Mudholkar</a:t>
            </a:r>
            <a:r>
              <a:rPr lang="en-GB" sz="2300" dirty="0"/>
              <a:t>, </a:t>
            </a:r>
            <a:r>
              <a:rPr lang="en-GB" sz="2300" dirty="0" err="1"/>
              <a:t>Nawab</a:t>
            </a:r>
            <a:r>
              <a:rPr lang="en-GB" sz="2300" dirty="0"/>
              <a:t> </a:t>
            </a:r>
            <a:r>
              <a:rPr lang="en-GB" sz="2300" dirty="0" err="1"/>
              <a:t>Syed</a:t>
            </a:r>
            <a:r>
              <a:rPr lang="en-GB" sz="2300" dirty="0"/>
              <a:t> Muhammad </a:t>
            </a:r>
            <a:r>
              <a:rPr lang="en-GB" sz="2300" dirty="0" err="1"/>
              <a:t>Bahadur</a:t>
            </a:r>
            <a:endParaRPr lang="en-GB" sz="2300" dirty="0"/>
          </a:p>
          <a:p>
            <a:r>
              <a:rPr lang="en-GB" sz="2300" dirty="0"/>
              <a:t>The Elementary Education Leagues were set up in Madras and Punjab in 1911. </a:t>
            </a:r>
          </a:p>
          <a:p>
            <a:r>
              <a:rPr lang="en-GB" sz="2300" dirty="0" err="1"/>
              <a:t>Lajpat</a:t>
            </a:r>
            <a:r>
              <a:rPr lang="en-GB" sz="2300" dirty="0"/>
              <a:t> </a:t>
            </a:r>
            <a:r>
              <a:rPr lang="en-GB" sz="2300" dirty="0" err="1"/>
              <a:t>Rai</a:t>
            </a:r>
            <a:r>
              <a:rPr lang="en-GB" sz="2300" dirty="0"/>
              <a:t> announced ‘the formation of the Hindu Elementary Education League which would collect a sum of rupees thirty thousand to undertake the work of free education in around Lahore.’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Support to the Bill-2</a:t>
            </a:r>
            <a:endParaRPr lang="en-US" dirty="0"/>
          </a:p>
        </p:txBody>
      </p:sp>
      <p:sp>
        <p:nvSpPr>
          <p:cNvPr id="3" name="Content Placeholder 2"/>
          <p:cNvSpPr>
            <a:spLocks noGrp="1"/>
          </p:cNvSpPr>
          <p:nvPr>
            <p:ph idx="1"/>
          </p:nvPr>
        </p:nvSpPr>
        <p:spPr/>
        <p:txBody>
          <a:bodyPr>
            <a:normAutofit lnSpcReduction="10000"/>
          </a:bodyPr>
          <a:lstStyle/>
          <a:p>
            <a:r>
              <a:rPr lang="en-GB" sz="2300" dirty="0" err="1"/>
              <a:t>Lajpat</a:t>
            </a:r>
            <a:r>
              <a:rPr lang="en-GB" sz="2300" dirty="0"/>
              <a:t> </a:t>
            </a:r>
            <a:r>
              <a:rPr lang="en-GB" sz="2300" dirty="0" err="1"/>
              <a:t>Rai</a:t>
            </a:r>
            <a:r>
              <a:rPr lang="en-GB" sz="2300" dirty="0"/>
              <a:t>, </a:t>
            </a:r>
            <a:r>
              <a:rPr lang="en-GB" sz="2300" dirty="0">
                <a:solidFill>
                  <a:srgbClr val="FF0000"/>
                </a:solidFill>
              </a:rPr>
              <a:t>‘ridiculed the fear of those who opposed the Bill on the ground that it would  lead to a dearth of servants and labourers and said none had the right to deprive his brother of the light of knowledge or to hinder his progress.’ </a:t>
            </a:r>
          </a:p>
          <a:p>
            <a:r>
              <a:rPr lang="en-GB" sz="2300" dirty="0"/>
              <a:t>Regarding the objections against female education, he said that the </a:t>
            </a:r>
            <a:r>
              <a:rPr lang="en-GB" sz="2300" i="1" dirty="0" err="1"/>
              <a:t>shastra</a:t>
            </a:r>
            <a:r>
              <a:rPr lang="en-GB" sz="2300" dirty="0" err="1"/>
              <a:t>s</a:t>
            </a:r>
            <a:r>
              <a:rPr lang="en-GB" sz="2300" dirty="0"/>
              <a:t> emphasised the need for girls’ education to be equal to that of boys. He urged that it was the duty of Lahore Hindus to take the initiative on universal elementary education. </a:t>
            </a:r>
          </a:p>
          <a:p>
            <a:r>
              <a:rPr lang="en-GB" sz="2300" dirty="0"/>
              <a:t>In Maharashtra, the Maratha Education Conference stressed that ‘though the education that was given may not be perfect of its kind, it was certainly better than no education.’ </a:t>
            </a:r>
          </a:p>
          <a:p>
            <a:r>
              <a:rPr lang="en-GB" sz="2300" dirty="0"/>
              <a:t>In Berar, 2500 </a:t>
            </a:r>
            <a:r>
              <a:rPr lang="en-GB" sz="2300" dirty="0" err="1"/>
              <a:t>Dalits</a:t>
            </a:r>
            <a:r>
              <a:rPr lang="en-GB" sz="2300" dirty="0"/>
              <a:t> (</a:t>
            </a:r>
            <a:r>
              <a:rPr lang="en-GB" sz="2300" dirty="0" err="1"/>
              <a:t>Mahars</a:t>
            </a:r>
            <a:r>
              <a:rPr lang="en-GB" sz="2300" dirty="0"/>
              <a:t>) held a meeting to support the Bill.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Support to the Bill-3</a:t>
            </a:r>
            <a:endParaRPr lang="en-US" dirty="0"/>
          </a:p>
        </p:txBody>
      </p:sp>
      <p:sp>
        <p:nvSpPr>
          <p:cNvPr id="3" name="Content Placeholder 2"/>
          <p:cNvSpPr>
            <a:spLocks noGrp="1"/>
          </p:cNvSpPr>
          <p:nvPr>
            <p:ph idx="1"/>
          </p:nvPr>
        </p:nvSpPr>
        <p:spPr/>
        <p:txBody>
          <a:bodyPr>
            <a:noAutofit/>
          </a:bodyPr>
          <a:lstStyle/>
          <a:p>
            <a:r>
              <a:rPr lang="en-GB" sz="2400" dirty="0" err="1"/>
              <a:t>Bhupendranath</a:t>
            </a:r>
            <a:r>
              <a:rPr lang="en-GB" sz="2400" dirty="0"/>
              <a:t> </a:t>
            </a:r>
            <a:r>
              <a:rPr lang="en-GB" sz="2400" dirty="0" err="1"/>
              <a:t>Basu</a:t>
            </a:r>
            <a:r>
              <a:rPr lang="en-GB" sz="2400" dirty="0"/>
              <a:t> argued that </a:t>
            </a:r>
            <a:r>
              <a:rPr lang="en-GB" sz="2400" dirty="0">
                <a:solidFill>
                  <a:srgbClr val="FF0000"/>
                </a:solidFill>
              </a:rPr>
              <a:t>‘reading, writing and arithmetic are essential for an agriculturist. If he had little more knowledge, he would be able to hold his own against the </a:t>
            </a:r>
            <a:r>
              <a:rPr lang="en-GB" sz="2400" dirty="0" err="1">
                <a:solidFill>
                  <a:srgbClr val="FF0000"/>
                </a:solidFill>
              </a:rPr>
              <a:t>mahajan</a:t>
            </a:r>
            <a:r>
              <a:rPr lang="en-GB" sz="2400" dirty="0">
                <a:solidFill>
                  <a:srgbClr val="FF0000"/>
                </a:solidFill>
              </a:rPr>
              <a:t> (moneylender) and the </a:t>
            </a:r>
            <a:r>
              <a:rPr lang="en-GB" sz="2400" dirty="0" err="1">
                <a:solidFill>
                  <a:srgbClr val="FF0000"/>
                </a:solidFill>
              </a:rPr>
              <a:t>zamindar</a:t>
            </a:r>
            <a:r>
              <a:rPr lang="en-GB" sz="2400" dirty="0">
                <a:solidFill>
                  <a:srgbClr val="FF0000"/>
                </a:solidFill>
              </a:rPr>
              <a:t>.’</a:t>
            </a:r>
          </a:p>
          <a:p>
            <a:r>
              <a:rPr lang="en-GB" sz="2400" dirty="0"/>
              <a:t>Muhammad Ali Jinnah, a Congress member at that time ridiculed the Muslim landed gentry by questioning,</a:t>
            </a:r>
            <a:r>
              <a:rPr lang="en-GB" sz="2400" dirty="0">
                <a:solidFill>
                  <a:srgbClr val="FF0000"/>
                </a:solidFill>
              </a:rPr>
              <a:t> ‘can you seriously argue that education means sedition? Do you mean that if you can get a boy who can read and write a little that he will become a political agitator? … where would the </a:t>
            </a:r>
            <a:r>
              <a:rPr lang="en-GB" sz="2400" dirty="0" err="1">
                <a:solidFill>
                  <a:srgbClr val="FF0000"/>
                </a:solidFill>
              </a:rPr>
              <a:t>Hon’ble</a:t>
            </a:r>
            <a:r>
              <a:rPr lang="en-GB" sz="2400" dirty="0">
                <a:solidFill>
                  <a:srgbClr val="FF0000"/>
                </a:solidFill>
              </a:rPr>
              <a:t> </a:t>
            </a:r>
            <a:r>
              <a:rPr lang="en-GB" sz="2400" dirty="0" err="1">
                <a:solidFill>
                  <a:srgbClr val="FF0000"/>
                </a:solidFill>
              </a:rPr>
              <a:t>Nawab</a:t>
            </a:r>
            <a:r>
              <a:rPr lang="en-GB" sz="2400" dirty="0">
                <a:solidFill>
                  <a:srgbClr val="FF0000"/>
                </a:solidFill>
              </a:rPr>
              <a:t> </a:t>
            </a:r>
            <a:r>
              <a:rPr lang="en-GB" sz="2400" dirty="0" err="1">
                <a:solidFill>
                  <a:srgbClr val="FF0000"/>
                </a:solidFill>
              </a:rPr>
              <a:t>Majid</a:t>
            </a:r>
            <a:r>
              <a:rPr lang="en-GB" sz="2400" dirty="0">
                <a:solidFill>
                  <a:srgbClr val="FF0000"/>
                </a:solidFill>
              </a:rPr>
              <a:t> be but for his education? I ask, Sir, where would the </a:t>
            </a:r>
            <a:r>
              <a:rPr lang="en-GB" sz="2400" dirty="0" err="1">
                <a:solidFill>
                  <a:srgbClr val="FF0000"/>
                </a:solidFill>
              </a:rPr>
              <a:t>Hon’ble</a:t>
            </a:r>
            <a:r>
              <a:rPr lang="en-GB" sz="2400" dirty="0">
                <a:solidFill>
                  <a:srgbClr val="FF0000"/>
                </a:solidFill>
              </a:rPr>
              <a:t> Muhammad </a:t>
            </a:r>
            <a:r>
              <a:rPr lang="en-GB" sz="2400" dirty="0" err="1">
                <a:solidFill>
                  <a:srgbClr val="FF0000"/>
                </a:solidFill>
              </a:rPr>
              <a:t>Shafi</a:t>
            </a:r>
            <a:r>
              <a:rPr lang="en-GB" sz="2400" dirty="0">
                <a:solidFill>
                  <a:srgbClr val="FF0000"/>
                </a:solidFill>
              </a:rPr>
              <a:t> be but for his education?’ </a:t>
            </a:r>
            <a:endParaRPr lang="en-US" sz="2400" dirty="0">
              <a:solidFill>
                <a:srgbClr val="FF0000"/>
              </a:solidFill>
            </a:endParaRPr>
          </a:p>
          <a:p>
            <a:pPr>
              <a:buNone/>
            </a:pP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Support to the Bill-4</a:t>
            </a:r>
            <a:endParaRPr lang="en-US" dirty="0"/>
          </a:p>
        </p:txBody>
      </p:sp>
      <p:sp>
        <p:nvSpPr>
          <p:cNvPr id="3" name="Content Placeholder 2"/>
          <p:cNvSpPr>
            <a:spLocks noGrp="1"/>
          </p:cNvSpPr>
          <p:nvPr>
            <p:ph idx="1"/>
          </p:nvPr>
        </p:nvSpPr>
        <p:spPr/>
        <p:txBody>
          <a:bodyPr>
            <a:noAutofit/>
          </a:bodyPr>
          <a:lstStyle/>
          <a:p>
            <a:r>
              <a:rPr lang="en-GB" sz="2300" dirty="0" err="1"/>
              <a:t>Vithaldas</a:t>
            </a:r>
            <a:r>
              <a:rPr lang="en-GB" sz="2300" dirty="0"/>
              <a:t> D. </a:t>
            </a:r>
            <a:r>
              <a:rPr lang="en-GB" sz="2300" dirty="0" err="1"/>
              <a:t>Thackersey</a:t>
            </a:r>
            <a:r>
              <a:rPr lang="en-GB" sz="2300" dirty="0"/>
              <a:t> – </a:t>
            </a:r>
            <a:r>
              <a:rPr lang="en-GB" sz="2300" dirty="0" err="1"/>
              <a:t>Vidya</a:t>
            </a:r>
            <a:r>
              <a:rPr lang="en-GB" sz="2300" dirty="0"/>
              <a:t> </a:t>
            </a:r>
            <a:r>
              <a:rPr lang="en-GB" sz="2300" dirty="0" err="1"/>
              <a:t>dana</a:t>
            </a:r>
            <a:r>
              <a:rPr lang="en-GB" sz="2300" dirty="0"/>
              <a:t> – highest religious merit</a:t>
            </a:r>
          </a:p>
          <a:p>
            <a:r>
              <a:rPr lang="en-GB" sz="2300" dirty="0">
                <a:solidFill>
                  <a:srgbClr val="FF0000"/>
                </a:solidFill>
              </a:rPr>
              <a:t>‘How could someone argue that giving education to the poor was dangerous?’ I cannot understand how it can be dangerous if a poor agriculturist can read and write and put his signature to Marwari bills?</a:t>
            </a:r>
            <a:r>
              <a:rPr lang="en-GB" sz="2300" dirty="0"/>
              <a:t> Well, Sir, I cannot understand how it would be dangerous if they could read the leaflets or newspapers I think it will not at all be dangerous and that therefore we ought unanimously to support the Bill proposed by Mr. </a:t>
            </a:r>
            <a:r>
              <a:rPr lang="en-GB" sz="2300" dirty="0" err="1"/>
              <a:t>Gokhale</a:t>
            </a:r>
            <a:r>
              <a:rPr lang="en-GB" sz="2300" dirty="0"/>
              <a:t>.’</a:t>
            </a:r>
          </a:p>
          <a:p>
            <a:r>
              <a:rPr lang="en-GB" sz="2300" dirty="0" err="1"/>
              <a:t>Nyapathi</a:t>
            </a:r>
            <a:r>
              <a:rPr lang="en-GB" sz="2300" dirty="0"/>
              <a:t> </a:t>
            </a:r>
            <a:r>
              <a:rPr lang="en-GB" sz="2300" dirty="0" err="1"/>
              <a:t>Subba</a:t>
            </a:r>
            <a:r>
              <a:rPr lang="en-GB" sz="2300" dirty="0"/>
              <a:t> </a:t>
            </a:r>
            <a:r>
              <a:rPr lang="en-GB" sz="2300" dirty="0" err="1"/>
              <a:t>Rao</a:t>
            </a:r>
            <a:r>
              <a:rPr lang="en-GB" sz="2300" dirty="0"/>
              <a:t> </a:t>
            </a:r>
            <a:r>
              <a:rPr lang="en-GB" sz="2300" dirty="0" err="1"/>
              <a:t>Pantalu</a:t>
            </a:r>
            <a:r>
              <a:rPr lang="en-GB" sz="2300" dirty="0"/>
              <a:t>, one of the founders of </a:t>
            </a:r>
            <a:r>
              <a:rPr lang="en-GB" sz="2300" i="1" dirty="0"/>
              <a:t>The Hindu</a:t>
            </a:r>
            <a:r>
              <a:rPr lang="en-GB" sz="2300" dirty="0"/>
              <a:t> newspaper, derided the criticisms of </a:t>
            </a:r>
            <a:r>
              <a:rPr lang="en-GB" sz="2300" dirty="0" err="1"/>
              <a:t>Gokhale’s</a:t>
            </a:r>
            <a:r>
              <a:rPr lang="en-GB" sz="2300" dirty="0"/>
              <a:t> Bill. On the one hand, it was criticised as ‘a very cautious and colourless measure, and on the other hand, it was attacked as being dangerous.’</a:t>
            </a:r>
          </a:p>
          <a:p>
            <a:endParaRPr lang="en-US" sz="2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OTHER DEVELOPMENTS</a:t>
            </a:r>
            <a:endParaRPr lang="en-US" dirty="0"/>
          </a:p>
        </p:txBody>
      </p:sp>
      <p:sp>
        <p:nvSpPr>
          <p:cNvPr id="3" name="Content Placeholder 2"/>
          <p:cNvSpPr>
            <a:spLocks noGrp="1"/>
          </p:cNvSpPr>
          <p:nvPr>
            <p:ph idx="1"/>
          </p:nvPr>
        </p:nvSpPr>
        <p:spPr/>
        <p:txBody>
          <a:bodyPr>
            <a:noAutofit/>
          </a:bodyPr>
          <a:lstStyle/>
          <a:p>
            <a:r>
              <a:rPr lang="en-GB" sz="2300" dirty="0" err="1"/>
              <a:t>Gokhale</a:t>
            </a:r>
            <a:r>
              <a:rPr lang="en-GB" sz="2300" dirty="0"/>
              <a:t> replied to these criticisms</a:t>
            </a:r>
            <a:endParaRPr lang="en-US" sz="2300" dirty="0"/>
          </a:p>
          <a:p>
            <a:r>
              <a:rPr lang="en-GB" sz="2300" dirty="0">
                <a:solidFill>
                  <a:srgbClr val="FF0000"/>
                </a:solidFill>
              </a:rPr>
              <a:t>‘Without compulsion, there can be no universal diffusion of education.’ </a:t>
            </a:r>
          </a:p>
          <a:p>
            <a:r>
              <a:rPr lang="en-GB" sz="2300" dirty="0"/>
              <a:t>‘For those who argue that the time for compulsion has not come. Will they tell us when the time for compulsion arrives? Will they tell us how and why it has arrived in Baroda and not in British territory?’ </a:t>
            </a:r>
          </a:p>
          <a:p>
            <a:r>
              <a:rPr lang="en-GB" sz="2300" dirty="0"/>
              <a:t>‘Mr. (</a:t>
            </a:r>
            <a:r>
              <a:rPr lang="en-GB" sz="2300" dirty="0" err="1"/>
              <a:t>Manekji</a:t>
            </a:r>
            <a:r>
              <a:rPr lang="en-GB" sz="2300" dirty="0"/>
              <a:t> </a:t>
            </a:r>
            <a:r>
              <a:rPr lang="en-GB" sz="2300" dirty="0" err="1"/>
              <a:t>Byramji</a:t>
            </a:r>
            <a:r>
              <a:rPr lang="en-GB" sz="2300" dirty="0"/>
              <a:t>) </a:t>
            </a:r>
            <a:r>
              <a:rPr lang="en-GB" sz="2300" dirty="0" err="1"/>
              <a:t>Dadabhai</a:t>
            </a:r>
            <a:r>
              <a:rPr lang="en-GB" sz="2300" dirty="0"/>
              <a:t> wants unrestricted hours for factory labour, for better dividends for capitalists.’ </a:t>
            </a:r>
          </a:p>
          <a:p>
            <a:r>
              <a:rPr lang="en-GB" sz="2400" dirty="0"/>
              <a:t>The Muslim fear / be forced to learn non-Muslim languages,  ‘where 25 children speaking a language are available, a provision would be made to teach children in that language.’ </a:t>
            </a:r>
            <a:endParaRPr lang="en-GB" sz="2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FATE OF THE BILL</a:t>
            </a:r>
          </a:p>
        </p:txBody>
      </p:sp>
      <p:sp>
        <p:nvSpPr>
          <p:cNvPr id="3" name="Content Placeholder 2"/>
          <p:cNvSpPr>
            <a:spLocks noGrp="1"/>
          </p:cNvSpPr>
          <p:nvPr>
            <p:ph idx="1"/>
          </p:nvPr>
        </p:nvSpPr>
        <p:spPr/>
        <p:txBody>
          <a:bodyPr>
            <a:noAutofit/>
          </a:bodyPr>
          <a:lstStyle/>
          <a:p>
            <a:r>
              <a:rPr lang="en-GB" sz="2300" dirty="0"/>
              <a:t>On 19 March 1912- voting the Bill was defeated by 38 to 13 votes.</a:t>
            </a:r>
          </a:p>
          <a:p>
            <a:r>
              <a:rPr lang="en-GB" sz="2300" dirty="0"/>
              <a:t>Voted in favour - </a:t>
            </a:r>
            <a:r>
              <a:rPr lang="en-GB" sz="2300" dirty="0" err="1">
                <a:solidFill>
                  <a:srgbClr val="FF0000"/>
                </a:solidFill>
              </a:rPr>
              <a:t>Madan</a:t>
            </a:r>
            <a:r>
              <a:rPr lang="en-GB" sz="2300" dirty="0">
                <a:solidFill>
                  <a:srgbClr val="FF0000"/>
                </a:solidFill>
              </a:rPr>
              <a:t> Mohan </a:t>
            </a:r>
            <a:r>
              <a:rPr lang="en-GB" sz="2300" dirty="0" err="1">
                <a:solidFill>
                  <a:srgbClr val="FF0000"/>
                </a:solidFill>
              </a:rPr>
              <a:t>Malaviya</a:t>
            </a:r>
            <a:r>
              <a:rPr lang="en-GB" sz="2300" dirty="0">
                <a:solidFill>
                  <a:srgbClr val="FF0000"/>
                </a:solidFill>
              </a:rPr>
              <a:t>, Raja of </a:t>
            </a:r>
            <a:r>
              <a:rPr lang="en-GB" sz="2300" dirty="0" err="1">
                <a:solidFill>
                  <a:srgbClr val="FF0000"/>
                </a:solidFill>
              </a:rPr>
              <a:t>Dighapatia</a:t>
            </a:r>
            <a:r>
              <a:rPr lang="en-GB" sz="2300" dirty="0">
                <a:solidFill>
                  <a:srgbClr val="FF0000"/>
                </a:solidFill>
              </a:rPr>
              <a:t>, </a:t>
            </a:r>
            <a:r>
              <a:rPr lang="en-GB" sz="2300" dirty="0" err="1">
                <a:solidFill>
                  <a:srgbClr val="FF0000"/>
                </a:solidFill>
              </a:rPr>
              <a:t>Bhupendranath</a:t>
            </a:r>
            <a:r>
              <a:rPr lang="en-GB" sz="2300" dirty="0">
                <a:solidFill>
                  <a:srgbClr val="FF0000"/>
                </a:solidFill>
              </a:rPr>
              <a:t> </a:t>
            </a:r>
            <a:r>
              <a:rPr lang="en-GB" sz="2300" dirty="0" err="1">
                <a:solidFill>
                  <a:srgbClr val="FF0000"/>
                </a:solidFill>
              </a:rPr>
              <a:t>Basu</a:t>
            </a:r>
            <a:r>
              <a:rPr lang="en-GB" sz="2300" dirty="0">
                <a:solidFill>
                  <a:srgbClr val="FF0000"/>
                </a:solidFill>
              </a:rPr>
              <a:t>, </a:t>
            </a:r>
            <a:r>
              <a:rPr lang="en-GB" sz="2300" dirty="0" err="1">
                <a:solidFill>
                  <a:srgbClr val="FF0000"/>
                </a:solidFill>
              </a:rPr>
              <a:t>Sachidanand</a:t>
            </a:r>
            <a:r>
              <a:rPr lang="en-GB" sz="2300" dirty="0">
                <a:solidFill>
                  <a:srgbClr val="FF0000"/>
                </a:solidFill>
              </a:rPr>
              <a:t> </a:t>
            </a:r>
            <a:r>
              <a:rPr lang="en-GB" sz="2300" dirty="0" err="1">
                <a:solidFill>
                  <a:srgbClr val="FF0000"/>
                </a:solidFill>
              </a:rPr>
              <a:t>Sinha</a:t>
            </a:r>
            <a:r>
              <a:rPr lang="en-GB" sz="2300" dirty="0">
                <a:solidFill>
                  <a:srgbClr val="FF0000"/>
                </a:solidFill>
              </a:rPr>
              <a:t>, </a:t>
            </a:r>
            <a:r>
              <a:rPr lang="en-GB" sz="2300" dirty="0" err="1">
                <a:solidFill>
                  <a:srgbClr val="FF0000"/>
                </a:solidFill>
              </a:rPr>
              <a:t>Mazharul</a:t>
            </a:r>
            <a:r>
              <a:rPr lang="en-GB" sz="2300" dirty="0">
                <a:solidFill>
                  <a:srgbClr val="FF0000"/>
                </a:solidFill>
              </a:rPr>
              <a:t> </a:t>
            </a:r>
            <a:r>
              <a:rPr lang="en-GB" sz="2300" dirty="0" err="1">
                <a:solidFill>
                  <a:srgbClr val="FF0000"/>
                </a:solidFill>
              </a:rPr>
              <a:t>Haque</a:t>
            </a:r>
            <a:r>
              <a:rPr lang="en-GB" sz="2300" dirty="0">
                <a:solidFill>
                  <a:srgbClr val="FF0000"/>
                </a:solidFill>
              </a:rPr>
              <a:t>, </a:t>
            </a:r>
            <a:r>
              <a:rPr lang="en-GB" sz="2300" dirty="0" err="1">
                <a:solidFill>
                  <a:srgbClr val="FF0000"/>
                </a:solidFill>
              </a:rPr>
              <a:t>Nawab</a:t>
            </a:r>
            <a:r>
              <a:rPr lang="en-GB" sz="2300" dirty="0">
                <a:solidFill>
                  <a:srgbClr val="FF0000"/>
                </a:solidFill>
              </a:rPr>
              <a:t> </a:t>
            </a:r>
            <a:r>
              <a:rPr lang="en-GB" sz="2300" dirty="0" err="1">
                <a:solidFill>
                  <a:srgbClr val="FF0000"/>
                </a:solidFill>
              </a:rPr>
              <a:t>Saiyid</a:t>
            </a:r>
            <a:r>
              <a:rPr lang="en-GB" sz="2300" dirty="0">
                <a:solidFill>
                  <a:srgbClr val="FF0000"/>
                </a:solidFill>
              </a:rPr>
              <a:t> Muhammad, </a:t>
            </a:r>
            <a:r>
              <a:rPr lang="en-GB" sz="2300" dirty="0" err="1">
                <a:solidFill>
                  <a:srgbClr val="FF0000"/>
                </a:solidFill>
              </a:rPr>
              <a:t>Subba</a:t>
            </a:r>
            <a:r>
              <a:rPr lang="en-GB" sz="2300" dirty="0">
                <a:solidFill>
                  <a:srgbClr val="FF0000"/>
                </a:solidFill>
              </a:rPr>
              <a:t> </a:t>
            </a:r>
            <a:r>
              <a:rPr lang="en-GB" sz="2300" dirty="0" err="1">
                <a:solidFill>
                  <a:srgbClr val="FF0000"/>
                </a:solidFill>
              </a:rPr>
              <a:t>Rao</a:t>
            </a:r>
            <a:r>
              <a:rPr lang="en-GB" sz="2300" dirty="0">
                <a:solidFill>
                  <a:srgbClr val="FF0000"/>
                </a:solidFill>
              </a:rPr>
              <a:t>, Raja of </a:t>
            </a:r>
            <a:r>
              <a:rPr lang="en-GB" sz="2300" dirty="0" err="1">
                <a:solidFill>
                  <a:srgbClr val="FF0000"/>
                </a:solidFill>
              </a:rPr>
              <a:t>Kurupam</a:t>
            </a:r>
            <a:r>
              <a:rPr lang="en-GB" sz="2300" dirty="0">
                <a:solidFill>
                  <a:srgbClr val="FF0000"/>
                </a:solidFill>
              </a:rPr>
              <a:t>, </a:t>
            </a:r>
            <a:r>
              <a:rPr lang="en-GB" sz="2300" dirty="0" err="1">
                <a:solidFill>
                  <a:srgbClr val="FF0000"/>
                </a:solidFill>
              </a:rPr>
              <a:t>Gopal</a:t>
            </a:r>
            <a:r>
              <a:rPr lang="en-GB" sz="2300" dirty="0">
                <a:solidFill>
                  <a:srgbClr val="FF0000"/>
                </a:solidFill>
              </a:rPr>
              <a:t> Krishna </a:t>
            </a:r>
            <a:r>
              <a:rPr lang="en-GB" sz="2300" dirty="0" err="1">
                <a:solidFill>
                  <a:srgbClr val="FF0000"/>
                </a:solidFill>
              </a:rPr>
              <a:t>Gokhale</a:t>
            </a:r>
            <a:r>
              <a:rPr lang="en-GB" sz="2300" dirty="0">
                <a:solidFill>
                  <a:srgbClr val="FF0000"/>
                </a:solidFill>
              </a:rPr>
              <a:t>, </a:t>
            </a:r>
            <a:r>
              <a:rPr lang="en-GB" sz="2300" dirty="0" err="1">
                <a:solidFill>
                  <a:srgbClr val="FF0000"/>
                </a:solidFill>
              </a:rPr>
              <a:t>Raghunath</a:t>
            </a:r>
            <a:r>
              <a:rPr lang="en-GB" sz="2300" dirty="0">
                <a:solidFill>
                  <a:srgbClr val="FF0000"/>
                </a:solidFill>
              </a:rPr>
              <a:t> </a:t>
            </a:r>
            <a:r>
              <a:rPr lang="en-GB" sz="2300" dirty="0" err="1">
                <a:solidFill>
                  <a:srgbClr val="FF0000"/>
                </a:solidFill>
              </a:rPr>
              <a:t>Narasinha</a:t>
            </a:r>
            <a:r>
              <a:rPr lang="en-GB" sz="2300" dirty="0">
                <a:solidFill>
                  <a:srgbClr val="FF0000"/>
                </a:solidFill>
              </a:rPr>
              <a:t> </a:t>
            </a:r>
            <a:r>
              <a:rPr lang="en-GB" sz="2300" dirty="0" err="1">
                <a:solidFill>
                  <a:srgbClr val="FF0000"/>
                </a:solidFill>
              </a:rPr>
              <a:t>Mudholkar</a:t>
            </a:r>
            <a:r>
              <a:rPr lang="en-GB" sz="2300" dirty="0">
                <a:solidFill>
                  <a:srgbClr val="FF0000"/>
                </a:solidFill>
              </a:rPr>
              <a:t>, Muhammad Ali Jinnah, </a:t>
            </a:r>
            <a:r>
              <a:rPr lang="en-GB" sz="2300" dirty="0" err="1">
                <a:solidFill>
                  <a:srgbClr val="FF0000"/>
                </a:solidFill>
              </a:rPr>
              <a:t>Ghulam</a:t>
            </a:r>
            <a:r>
              <a:rPr lang="en-GB" sz="2300" dirty="0">
                <a:solidFill>
                  <a:srgbClr val="FF0000"/>
                </a:solidFill>
              </a:rPr>
              <a:t> Muhammad </a:t>
            </a:r>
            <a:r>
              <a:rPr lang="en-GB" sz="2300" dirty="0" err="1">
                <a:solidFill>
                  <a:srgbClr val="FF0000"/>
                </a:solidFill>
              </a:rPr>
              <a:t>Bhurgri</a:t>
            </a:r>
            <a:r>
              <a:rPr lang="en-GB" sz="2300" dirty="0">
                <a:solidFill>
                  <a:srgbClr val="FF0000"/>
                </a:solidFill>
              </a:rPr>
              <a:t>, </a:t>
            </a:r>
            <a:r>
              <a:rPr lang="en-GB" sz="2300" dirty="0" err="1">
                <a:solidFill>
                  <a:srgbClr val="FF0000"/>
                </a:solidFill>
              </a:rPr>
              <a:t>Vithaldas</a:t>
            </a:r>
            <a:r>
              <a:rPr lang="en-GB" sz="2300" dirty="0">
                <a:solidFill>
                  <a:srgbClr val="FF0000"/>
                </a:solidFill>
              </a:rPr>
              <a:t> </a:t>
            </a:r>
            <a:r>
              <a:rPr lang="en-GB" sz="2300" dirty="0" err="1">
                <a:solidFill>
                  <a:srgbClr val="FF0000"/>
                </a:solidFill>
              </a:rPr>
              <a:t>Thackersey</a:t>
            </a:r>
            <a:r>
              <a:rPr lang="en-GB" sz="2300" dirty="0">
                <a:solidFill>
                  <a:srgbClr val="FF0000"/>
                </a:solidFill>
              </a:rPr>
              <a:t>.</a:t>
            </a:r>
          </a:p>
          <a:p>
            <a:r>
              <a:rPr lang="en-GB" sz="2300" dirty="0"/>
              <a:t>Voted against - </a:t>
            </a:r>
            <a:r>
              <a:rPr lang="en-GB" sz="2300" dirty="0" err="1">
                <a:solidFill>
                  <a:srgbClr val="FF0000"/>
                </a:solidFill>
              </a:rPr>
              <a:t>Syad</a:t>
            </a:r>
            <a:r>
              <a:rPr lang="en-GB" sz="2300" dirty="0">
                <a:solidFill>
                  <a:srgbClr val="FF0000"/>
                </a:solidFill>
              </a:rPr>
              <a:t> Ali Imam, </a:t>
            </a:r>
            <a:r>
              <a:rPr lang="en-GB" sz="2300" dirty="0" err="1">
                <a:solidFill>
                  <a:srgbClr val="FF0000"/>
                </a:solidFill>
              </a:rPr>
              <a:t>Nawab</a:t>
            </a:r>
            <a:r>
              <a:rPr lang="en-GB" sz="2300" dirty="0">
                <a:solidFill>
                  <a:srgbClr val="FF0000"/>
                </a:solidFill>
              </a:rPr>
              <a:t> Abdul </a:t>
            </a:r>
            <a:r>
              <a:rPr lang="en-GB" sz="2300" dirty="0" err="1">
                <a:solidFill>
                  <a:srgbClr val="FF0000"/>
                </a:solidFill>
              </a:rPr>
              <a:t>Majid</a:t>
            </a:r>
            <a:r>
              <a:rPr lang="en-GB" sz="2300" dirty="0">
                <a:solidFill>
                  <a:srgbClr val="FF0000"/>
                </a:solidFill>
              </a:rPr>
              <a:t>, Raja of </a:t>
            </a:r>
            <a:r>
              <a:rPr lang="en-GB" sz="2300" dirty="0" err="1">
                <a:solidFill>
                  <a:srgbClr val="FF0000"/>
                </a:solidFill>
              </a:rPr>
              <a:t>Pratabgarh</a:t>
            </a:r>
            <a:r>
              <a:rPr lang="en-GB" sz="2300" dirty="0">
                <a:solidFill>
                  <a:srgbClr val="FF0000"/>
                </a:solidFill>
              </a:rPr>
              <a:t>, </a:t>
            </a:r>
            <a:r>
              <a:rPr lang="en-GB" sz="2300" dirty="0" err="1">
                <a:solidFill>
                  <a:srgbClr val="FF0000"/>
                </a:solidFill>
              </a:rPr>
              <a:t>Gangadhar</a:t>
            </a:r>
            <a:r>
              <a:rPr lang="en-GB" sz="2300" dirty="0">
                <a:solidFill>
                  <a:srgbClr val="FF0000"/>
                </a:solidFill>
              </a:rPr>
              <a:t> </a:t>
            </a:r>
            <a:r>
              <a:rPr lang="en-GB" sz="2300" dirty="0" err="1">
                <a:solidFill>
                  <a:srgbClr val="FF0000"/>
                </a:solidFill>
              </a:rPr>
              <a:t>Rao</a:t>
            </a:r>
            <a:r>
              <a:rPr lang="en-GB" sz="2300" dirty="0">
                <a:solidFill>
                  <a:srgbClr val="FF0000"/>
                </a:solidFill>
              </a:rPr>
              <a:t> </a:t>
            </a:r>
            <a:r>
              <a:rPr lang="en-GB" sz="2300" dirty="0" err="1">
                <a:solidFill>
                  <a:srgbClr val="FF0000"/>
                </a:solidFill>
              </a:rPr>
              <a:t>Chitnavis</a:t>
            </a:r>
            <a:r>
              <a:rPr lang="en-GB" sz="2300" dirty="0">
                <a:solidFill>
                  <a:srgbClr val="FF0000"/>
                </a:solidFill>
              </a:rPr>
              <a:t>, </a:t>
            </a:r>
            <a:r>
              <a:rPr lang="en-GB" sz="2300" dirty="0" err="1">
                <a:solidFill>
                  <a:srgbClr val="FF0000"/>
                </a:solidFill>
              </a:rPr>
              <a:t>Manekji</a:t>
            </a:r>
            <a:r>
              <a:rPr lang="en-GB" sz="2300" dirty="0">
                <a:solidFill>
                  <a:srgbClr val="FF0000"/>
                </a:solidFill>
              </a:rPr>
              <a:t> </a:t>
            </a:r>
            <a:r>
              <a:rPr lang="en-GB" sz="2300" dirty="0" err="1">
                <a:solidFill>
                  <a:srgbClr val="FF0000"/>
                </a:solidFill>
              </a:rPr>
              <a:t>Byramji</a:t>
            </a:r>
            <a:r>
              <a:rPr lang="en-GB" sz="2300" dirty="0">
                <a:solidFill>
                  <a:srgbClr val="FF0000"/>
                </a:solidFill>
              </a:rPr>
              <a:t> </a:t>
            </a:r>
            <a:r>
              <a:rPr lang="en-GB" sz="2300" dirty="0" err="1">
                <a:solidFill>
                  <a:srgbClr val="FF0000"/>
                </a:solidFill>
              </a:rPr>
              <a:t>Dadabhoy</a:t>
            </a:r>
            <a:r>
              <a:rPr lang="en-GB" sz="2300" dirty="0">
                <a:solidFill>
                  <a:srgbClr val="FF0000"/>
                </a:solidFill>
              </a:rPr>
              <a:t>, Muhammad </a:t>
            </a:r>
            <a:r>
              <a:rPr lang="en-GB" sz="2300" dirty="0" err="1">
                <a:solidFill>
                  <a:srgbClr val="FF0000"/>
                </a:solidFill>
              </a:rPr>
              <a:t>Shafi</a:t>
            </a:r>
            <a:r>
              <a:rPr lang="en-GB" sz="2300" dirty="0">
                <a:solidFill>
                  <a:srgbClr val="FF0000"/>
                </a:solidFill>
              </a:rPr>
              <a:t>, </a:t>
            </a:r>
            <a:r>
              <a:rPr lang="en-GB" sz="2300" dirty="0" err="1">
                <a:solidFill>
                  <a:srgbClr val="FF0000"/>
                </a:solidFill>
              </a:rPr>
              <a:t>Malik</a:t>
            </a:r>
            <a:r>
              <a:rPr lang="en-GB" sz="2300" dirty="0">
                <a:solidFill>
                  <a:srgbClr val="FF0000"/>
                </a:solidFill>
              </a:rPr>
              <a:t> </a:t>
            </a:r>
            <a:r>
              <a:rPr lang="en-GB" sz="2300" dirty="0" err="1">
                <a:solidFill>
                  <a:srgbClr val="FF0000"/>
                </a:solidFill>
              </a:rPr>
              <a:t>Umar</a:t>
            </a:r>
            <a:r>
              <a:rPr lang="en-GB" sz="2300" dirty="0">
                <a:solidFill>
                  <a:srgbClr val="FF0000"/>
                </a:solidFill>
              </a:rPr>
              <a:t> </a:t>
            </a:r>
            <a:r>
              <a:rPr lang="en-GB" sz="2300" dirty="0" err="1">
                <a:solidFill>
                  <a:srgbClr val="FF0000"/>
                </a:solidFill>
              </a:rPr>
              <a:t>Hayat</a:t>
            </a:r>
            <a:r>
              <a:rPr lang="en-GB" sz="2300" dirty="0">
                <a:solidFill>
                  <a:srgbClr val="FF0000"/>
                </a:solidFill>
              </a:rPr>
              <a:t> Khan + Rep of Burma + Brit Officials</a:t>
            </a:r>
          </a:p>
          <a:p>
            <a:r>
              <a:rPr lang="en-GB" sz="2300" dirty="0"/>
              <a:t>13 Indians supported, and 7 Indians defeated the Bill!</a:t>
            </a:r>
          </a:p>
          <a:p>
            <a:r>
              <a:rPr lang="en-US" sz="2300" dirty="0" err="1"/>
              <a:t>Gokhale</a:t>
            </a:r>
            <a:r>
              <a:rPr lang="en-US" sz="2300" dirty="0"/>
              <a:t> died heart broken in 1915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Provincial Elementary Education Bills</a:t>
            </a:r>
          </a:p>
        </p:txBody>
      </p:sp>
      <p:sp>
        <p:nvSpPr>
          <p:cNvPr id="3" name="Content Placeholder 2"/>
          <p:cNvSpPr>
            <a:spLocks noGrp="1"/>
          </p:cNvSpPr>
          <p:nvPr>
            <p:ph idx="1"/>
          </p:nvPr>
        </p:nvSpPr>
        <p:spPr/>
        <p:txBody>
          <a:bodyPr>
            <a:noAutofit/>
          </a:bodyPr>
          <a:lstStyle/>
          <a:p>
            <a:r>
              <a:rPr lang="en-US" sz="2300" dirty="0"/>
              <a:t>Provincial Elementary Education Bills were introduced 1916-1922</a:t>
            </a:r>
          </a:p>
          <a:p>
            <a:r>
              <a:rPr lang="en-GB" sz="2300" dirty="0"/>
              <a:t>The definition of primary education was narrow; any school that taught subjects other than reading, writing arithmetic did not come under its purview. This meant that the English medium private schools did not come under its purview.</a:t>
            </a:r>
          </a:p>
          <a:p>
            <a:r>
              <a:rPr lang="en-GB" sz="2300" dirty="0"/>
              <a:t>Penalty for not sending a child to school first instance – </a:t>
            </a:r>
            <a:r>
              <a:rPr lang="en-GB" sz="2300" dirty="0">
                <a:solidFill>
                  <a:srgbClr val="FF0000"/>
                </a:solidFill>
              </a:rPr>
              <a:t>2 </a:t>
            </a:r>
            <a:r>
              <a:rPr lang="en-GB" sz="2300" dirty="0" err="1">
                <a:solidFill>
                  <a:srgbClr val="FF0000"/>
                </a:solidFill>
              </a:rPr>
              <a:t>rs</a:t>
            </a:r>
            <a:r>
              <a:rPr lang="en-GB" sz="2300" dirty="0">
                <a:solidFill>
                  <a:srgbClr val="FF0000"/>
                </a:solidFill>
              </a:rPr>
              <a:t> in Bengal, Bihar and Orissa, 10 </a:t>
            </a:r>
            <a:r>
              <a:rPr lang="en-GB" sz="2300" dirty="0" err="1">
                <a:solidFill>
                  <a:srgbClr val="FF0000"/>
                </a:solidFill>
              </a:rPr>
              <a:t>rs</a:t>
            </a:r>
            <a:r>
              <a:rPr lang="en-GB" sz="2300" dirty="0">
                <a:solidFill>
                  <a:srgbClr val="FF0000"/>
                </a:solidFill>
              </a:rPr>
              <a:t> in Punjab, 5 </a:t>
            </a:r>
            <a:r>
              <a:rPr lang="en-GB" sz="2300" dirty="0" err="1">
                <a:solidFill>
                  <a:srgbClr val="FF0000"/>
                </a:solidFill>
              </a:rPr>
              <a:t>rs</a:t>
            </a:r>
            <a:r>
              <a:rPr lang="en-GB" sz="2300" dirty="0">
                <a:solidFill>
                  <a:srgbClr val="FF0000"/>
                </a:solidFill>
              </a:rPr>
              <a:t> in Bombay and UP. </a:t>
            </a:r>
          </a:p>
          <a:p>
            <a:r>
              <a:rPr lang="en-GB" sz="2300" dirty="0">
                <a:solidFill>
                  <a:srgbClr val="FF0000"/>
                </a:solidFill>
              </a:rPr>
              <a:t>1 rupee per day on subsequent offences of not sending the boy to school. </a:t>
            </a:r>
          </a:p>
          <a:p>
            <a:r>
              <a:rPr lang="en-GB" sz="2300" dirty="0">
                <a:solidFill>
                  <a:srgbClr val="FF0000"/>
                </a:solidFill>
              </a:rPr>
              <a:t>The penalty for unlawful employment of boys during attendance hours was 25 rupees in Bombay, UP, Bihar, and Orissa; in Bengal, it was 20 rupees and in Punjab, 50 rupees. </a:t>
            </a:r>
            <a:r>
              <a:rPr lang="en-US" sz="2300" dirty="0">
                <a:solidFill>
                  <a:srgbClr val="FF0000"/>
                </a:solidFill>
              </a:rPr>
              <a:t>  </a:t>
            </a:r>
          </a:p>
          <a:p>
            <a:pPr>
              <a:buNone/>
            </a:pPr>
            <a:endParaRPr lang="en-US" sz="2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FATE OF PROVINCIAL EDDUCATION BILLS</a:t>
            </a:r>
          </a:p>
        </p:txBody>
      </p:sp>
      <p:sp>
        <p:nvSpPr>
          <p:cNvPr id="3" name="Content Placeholder 2"/>
          <p:cNvSpPr>
            <a:spLocks noGrp="1"/>
          </p:cNvSpPr>
          <p:nvPr>
            <p:ph idx="1"/>
          </p:nvPr>
        </p:nvSpPr>
        <p:spPr/>
        <p:txBody>
          <a:bodyPr>
            <a:normAutofit fontScale="92500" lnSpcReduction="10000"/>
          </a:bodyPr>
          <a:lstStyle/>
          <a:p>
            <a:r>
              <a:rPr lang="en-GB" dirty="0"/>
              <a:t>Compulsory Education Bills were passed in Provincial legislatures but not implemented. </a:t>
            </a:r>
          </a:p>
          <a:p>
            <a:r>
              <a:rPr lang="en-GB" dirty="0"/>
              <a:t>Gandhi opposed the Compulsory Education Bills enacted in the provincial legislatures </a:t>
            </a:r>
          </a:p>
          <a:p>
            <a:r>
              <a:rPr lang="en-GB" dirty="0">
                <a:solidFill>
                  <a:srgbClr val="FF0000"/>
                </a:solidFill>
              </a:rPr>
              <a:t>‘all compulsion is hateful to me … only a despotic government passes laws in the teeth of the opposition from a majority.’</a:t>
            </a:r>
          </a:p>
          <a:p>
            <a:r>
              <a:rPr lang="en-GB" dirty="0"/>
              <a:t>Majority was not the majority of Indians, but majority of opponents in the Provincial Legislative Councils = microscopic minority of </a:t>
            </a:r>
            <a:r>
              <a:rPr lang="en-GB" dirty="0" err="1"/>
              <a:t>zamindars</a:t>
            </a:r>
            <a:r>
              <a:rPr lang="en-GB" dirty="0"/>
              <a:t> and other feudal classes</a:t>
            </a:r>
          </a:p>
          <a:p>
            <a:r>
              <a:rPr lang="en-GB" dirty="0"/>
              <a:t>The moralistic stand against ‘compulsion’ is also not convincing</a:t>
            </a:r>
          </a:p>
          <a:p>
            <a:r>
              <a:rPr lang="en-GB" dirty="0"/>
              <a:t>Gandhi emphatically stated, </a:t>
            </a:r>
            <a:r>
              <a:rPr lang="en-GB" dirty="0">
                <a:solidFill>
                  <a:srgbClr val="FF0000"/>
                </a:solidFill>
              </a:rPr>
              <a:t>‘if I had the powers of a despot, I would today stop the tuition of our boys and girls through a foreign medium. If I had my way, I would certainly destroy the majority of the present textbooks.’ </a:t>
            </a:r>
          </a:p>
          <a:p>
            <a:r>
              <a:rPr lang="en-GB" i="1" dirty="0"/>
              <a:t>Young India</a:t>
            </a:r>
            <a:r>
              <a:rPr lang="en-GB" dirty="0"/>
              <a:t>,</a:t>
            </a:r>
            <a:r>
              <a:rPr lang="en-GB" i="1" dirty="0"/>
              <a:t> </a:t>
            </a:r>
            <a:r>
              <a:rPr lang="en-GB" dirty="0"/>
              <a:t>1 September</a:t>
            </a:r>
            <a:r>
              <a:rPr lang="en-GB" i="1" dirty="0"/>
              <a:t> </a:t>
            </a:r>
            <a:r>
              <a:rPr lang="en-GB" dirty="0"/>
              <a:t>1921.</a:t>
            </a:r>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133601" y="914402"/>
          <a:ext cx="7924800" cy="5753868"/>
        </p:xfrm>
        <a:graphic>
          <a:graphicData uri="http://schemas.openxmlformats.org/drawingml/2006/table">
            <a:tbl>
              <a:tblPr/>
              <a:tblGrid>
                <a:gridCol w="2158893">
                  <a:extLst>
                    <a:ext uri="{9D8B030D-6E8A-4147-A177-3AD203B41FA5}">
                      <a16:colId xmlns:a16="http://schemas.microsoft.com/office/drawing/2014/main" val="20000"/>
                    </a:ext>
                  </a:extLst>
                </a:gridCol>
                <a:gridCol w="1215770">
                  <a:extLst>
                    <a:ext uri="{9D8B030D-6E8A-4147-A177-3AD203B41FA5}">
                      <a16:colId xmlns:a16="http://schemas.microsoft.com/office/drawing/2014/main" val="20001"/>
                    </a:ext>
                  </a:extLst>
                </a:gridCol>
                <a:gridCol w="1215770">
                  <a:extLst>
                    <a:ext uri="{9D8B030D-6E8A-4147-A177-3AD203B41FA5}">
                      <a16:colId xmlns:a16="http://schemas.microsoft.com/office/drawing/2014/main" val="20002"/>
                    </a:ext>
                  </a:extLst>
                </a:gridCol>
                <a:gridCol w="1215770">
                  <a:extLst>
                    <a:ext uri="{9D8B030D-6E8A-4147-A177-3AD203B41FA5}">
                      <a16:colId xmlns:a16="http://schemas.microsoft.com/office/drawing/2014/main" val="20003"/>
                    </a:ext>
                  </a:extLst>
                </a:gridCol>
                <a:gridCol w="1093165">
                  <a:extLst>
                    <a:ext uri="{9D8B030D-6E8A-4147-A177-3AD203B41FA5}">
                      <a16:colId xmlns:a16="http://schemas.microsoft.com/office/drawing/2014/main" val="20004"/>
                    </a:ext>
                  </a:extLst>
                </a:gridCol>
                <a:gridCol w="1025432">
                  <a:extLst>
                    <a:ext uri="{9D8B030D-6E8A-4147-A177-3AD203B41FA5}">
                      <a16:colId xmlns:a16="http://schemas.microsoft.com/office/drawing/2014/main" val="20005"/>
                    </a:ext>
                  </a:extLst>
                </a:gridCol>
              </a:tblGrid>
              <a:tr h="685798">
                <a:tc rowSpan="2">
                  <a:txBody>
                    <a:bodyPr/>
                    <a:lstStyle/>
                    <a:p>
                      <a:pPr algn="ctr">
                        <a:lnSpc>
                          <a:spcPct val="115000"/>
                        </a:lnSpc>
                        <a:spcAft>
                          <a:spcPts val="0"/>
                        </a:spcAft>
                      </a:pPr>
                      <a:endParaRPr lang="en-GB" sz="1800" b="1" dirty="0">
                        <a:latin typeface="Times New Roman"/>
                        <a:ea typeface="Times New Roman"/>
                        <a:cs typeface="Times New Roman"/>
                      </a:endParaRPr>
                    </a:p>
                    <a:p>
                      <a:pPr algn="ctr">
                        <a:lnSpc>
                          <a:spcPct val="115000"/>
                        </a:lnSpc>
                        <a:spcAft>
                          <a:spcPts val="0"/>
                        </a:spcAft>
                      </a:pPr>
                      <a:r>
                        <a:rPr lang="en-GB" sz="1800" b="1" dirty="0">
                          <a:latin typeface="Times New Roman"/>
                          <a:ea typeface="Times New Roman"/>
                          <a:cs typeface="Times New Roman"/>
                        </a:rPr>
                        <a:t>Province</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15000"/>
                        </a:lnSpc>
                        <a:spcAft>
                          <a:spcPts val="0"/>
                        </a:spcAft>
                      </a:pPr>
                      <a:r>
                        <a:rPr lang="en-GB" sz="1800" b="1" dirty="0">
                          <a:latin typeface="Times New Roman"/>
                          <a:ea typeface="Times New Roman"/>
                          <a:cs typeface="Times New Roman"/>
                        </a:rPr>
                        <a:t>Age Group</a:t>
                      </a:r>
                      <a:endParaRPr lang="en-US" sz="1800" b="1" dirty="0">
                        <a:latin typeface="Calibri"/>
                        <a:ea typeface="Times New Roman"/>
                        <a:cs typeface="Times New Roman"/>
                      </a:endParaRPr>
                    </a:p>
                    <a:p>
                      <a:pPr algn="ctr">
                        <a:lnSpc>
                          <a:spcPct val="115000"/>
                        </a:lnSpc>
                        <a:spcAft>
                          <a:spcPts val="0"/>
                        </a:spcAft>
                      </a:pPr>
                      <a:r>
                        <a:rPr lang="en-GB" sz="1800" b="1" dirty="0">
                          <a:latin typeface="Times New Roman"/>
                          <a:ea typeface="Times New Roman"/>
                          <a:cs typeface="Times New Roman"/>
                        </a:rPr>
                        <a:t>under</a:t>
                      </a:r>
                      <a:endParaRPr lang="en-US" sz="1800" b="1" dirty="0">
                        <a:latin typeface="Calibri"/>
                        <a:ea typeface="Times New Roman"/>
                        <a:cs typeface="Times New Roman"/>
                      </a:endParaRPr>
                    </a:p>
                    <a:p>
                      <a:pPr algn="ctr">
                        <a:lnSpc>
                          <a:spcPct val="115000"/>
                        </a:lnSpc>
                        <a:spcAft>
                          <a:spcPts val="0"/>
                        </a:spcAft>
                      </a:pPr>
                      <a:r>
                        <a:rPr lang="en-GB" sz="1800" b="1" dirty="0">
                          <a:latin typeface="Times New Roman"/>
                          <a:ea typeface="Times New Roman"/>
                          <a:cs typeface="Times New Roman"/>
                        </a:rPr>
                        <a:t>Compulsion</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pPr>
                      <a:r>
                        <a:rPr lang="en-GB" sz="1800" b="1" dirty="0">
                          <a:latin typeface="Times New Roman"/>
                          <a:ea typeface="Times New Roman"/>
                          <a:cs typeface="Times New Roman"/>
                        </a:rPr>
                        <a:t>Areas with Boys only</a:t>
                      </a:r>
                      <a:endParaRPr lang="en-US" sz="1800" b="1" dirty="0">
                        <a:latin typeface="Calibri"/>
                        <a:ea typeface="Times New Roman"/>
                        <a:cs typeface="Times New Roman"/>
                      </a:endParaRPr>
                    </a:p>
                    <a:p>
                      <a:pPr algn="ctr">
                        <a:lnSpc>
                          <a:spcPct val="115000"/>
                        </a:lnSpc>
                        <a:spcAft>
                          <a:spcPts val="0"/>
                        </a:spcAft>
                      </a:pPr>
                      <a:r>
                        <a:rPr lang="en-GB" sz="1800" b="1" dirty="0">
                          <a:latin typeface="Times New Roman"/>
                          <a:ea typeface="Times New Roman"/>
                          <a:cs typeface="Times New Roman"/>
                        </a:rPr>
                        <a:t>under compulsion</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lnSpc>
                          <a:spcPct val="115000"/>
                        </a:lnSpc>
                        <a:spcAft>
                          <a:spcPts val="0"/>
                        </a:spcAft>
                      </a:pPr>
                      <a:r>
                        <a:rPr lang="en-GB" sz="1800" b="1" dirty="0">
                          <a:latin typeface="Times New Roman"/>
                          <a:ea typeface="Times New Roman"/>
                          <a:cs typeface="Times New Roman"/>
                        </a:rPr>
                        <a:t>Areas with both Boys and Girls</a:t>
                      </a:r>
                      <a:endParaRPr lang="en-US" sz="1800" b="1" dirty="0">
                        <a:latin typeface="Calibri"/>
                        <a:ea typeface="Times New Roman"/>
                        <a:cs typeface="Times New Roman"/>
                      </a:endParaRPr>
                    </a:p>
                    <a:p>
                      <a:pPr algn="ctr">
                        <a:lnSpc>
                          <a:spcPct val="115000"/>
                        </a:lnSpc>
                        <a:spcAft>
                          <a:spcPts val="0"/>
                        </a:spcAft>
                      </a:pPr>
                      <a:r>
                        <a:rPr lang="en-GB" sz="1800" b="1" dirty="0">
                          <a:latin typeface="Times New Roman"/>
                          <a:ea typeface="Times New Roman"/>
                          <a:cs typeface="Times New Roman"/>
                        </a:rPr>
                        <a:t>under compulsion</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0"/>
                  </a:ext>
                </a:extLst>
              </a:tr>
              <a:tr h="806116">
                <a:tc vMerge="1">
                  <a:txBody>
                    <a:bodyPr/>
                    <a:lstStyle/>
                    <a:p>
                      <a:endParaRPr lang="en-US"/>
                    </a:p>
                  </a:txBody>
                  <a:tcPr/>
                </a:tc>
                <a:tc vMerge="1">
                  <a:txBody>
                    <a:bodyPr/>
                    <a:lstStyle/>
                    <a:p>
                      <a:endParaRPr lang="en-US"/>
                    </a:p>
                  </a:txBody>
                  <a:tcPr/>
                </a:tc>
                <a:tc>
                  <a:txBody>
                    <a:bodyPr/>
                    <a:lstStyle/>
                    <a:p>
                      <a:pPr algn="ctr">
                        <a:lnSpc>
                          <a:spcPct val="115000"/>
                        </a:lnSpc>
                        <a:spcAft>
                          <a:spcPts val="0"/>
                        </a:spcAft>
                      </a:pPr>
                      <a:r>
                        <a:rPr lang="en-GB" sz="1800" b="1" dirty="0">
                          <a:latin typeface="Times New Roman"/>
                          <a:ea typeface="Times New Roman"/>
                          <a:cs typeface="Times New Roman"/>
                        </a:rPr>
                        <a:t>No of</a:t>
                      </a:r>
                      <a:endParaRPr lang="en-US" sz="1800" b="1" dirty="0">
                        <a:latin typeface="Calibri"/>
                        <a:ea typeface="Times New Roman"/>
                        <a:cs typeface="Times New Roman"/>
                      </a:endParaRPr>
                    </a:p>
                    <a:p>
                      <a:pPr algn="ctr">
                        <a:lnSpc>
                          <a:spcPct val="115000"/>
                        </a:lnSpc>
                        <a:spcAft>
                          <a:spcPts val="0"/>
                        </a:spcAft>
                      </a:pPr>
                      <a:r>
                        <a:rPr lang="en-GB" sz="1800" b="1" dirty="0">
                          <a:latin typeface="Times New Roman"/>
                          <a:ea typeface="Times New Roman"/>
                          <a:cs typeface="Times New Roman"/>
                        </a:rPr>
                        <a:t>Towns n Cities</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Number of</a:t>
                      </a:r>
                      <a:endParaRPr lang="en-US" sz="1800" b="1">
                        <a:latin typeface="Calibri"/>
                        <a:ea typeface="Times New Roman"/>
                        <a:cs typeface="Times New Roman"/>
                      </a:endParaRPr>
                    </a:p>
                    <a:p>
                      <a:pPr algn="ctr">
                        <a:lnSpc>
                          <a:spcPct val="115000"/>
                        </a:lnSpc>
                        <a:spcAft>
                          <a:spcPts val="0"/>
                        </a:spcAft>
                      </a:pPr>
                      <a:r>
                        <a:rPr lang="en-GB" sz="1800" b="1">
                          <a:latin typeface="Times New Roman"/>
                          <a:ea typeface="Times New Roman"/>
                          <a:cs typeface="Times New Roman"/>
                        </a:rPr>
                        <a:t>Villages</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No of</a:t>
                      </a:r>
                      <a:endParaRPr lang="en-US" sz="1800" b="1" dirty="0">
                        <a:latin typeface="Calibri"/>
                        <a:ea typeface="Times New Roman"/>
                        <a:cs typeface="Times New Roman"/>
                      </a:endParaRPr>
                    </a:p>
                    <a:p>
                      <a:pPr algn="ctr">
                        <a:lnSpc>
                          <a:spcPct val="115000"/>
                        </a:lnSpc>
                        <a:spcAft>
                          <a:spcPts val="0"/>
                        </a:spcAft>
                      </a:pPr>
                      <a:r>
                        <a:rPr lang="en-GB" sz="1800" b="1" dirty="0">
                          <a:latin typeface="Times New Roman"/>
                          <a:ea typeface="Times New Roman"/>
                          <a:cs typeface="Times New Roman"/>
                        </a:rPr>
                        <a:t>Towns  n Cities</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No of</a:t>
                      </a:r>
                      <a:endParaRPr lang="en-US" sz="1800" b="1" dirty="0">
                        <a:latin typeface="Calibri"/>
                        <a:ea typeface="Times New Roman"/>
                        <a:cs typeface="Times New Roman"/>
                      </a:endParaRPr>
                    </a:p>
                    <a:p>
                      <a:pPr algn="ctr">
                        <a:lnSpc>
                          <a:spcPct val="115000"/>
                        </a:lnSpc>
                        <a:spcAft>
                          <a:spcPts val="0"/>
                        </a:spcAft>
                      </a:pPr>
                      <a:r>
                        <a:rPr lang="en-GB" sz="1800" b="1" dirty="0">
                          <a:latin typeface="Times New Roman"/>
                          <a:ea typeface="Times New Roman"/>
                          <a:cs typeface="Times New Roman"/>
                        </a:rPr>
                        <a:t>Villages</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8705">
                <a:tc>
                  <a:txBody>
                    <a:bodyPr/>
                    <a:lstStyle/>
                    <a:p>
                      <a:pPr>
                        <a:lnSpc>
                          <a:spcPct val="115000"/>
                        </a:lnSpc>
                        <a:spcAft>
                          <a:spcPts val="0"/>
                        </a:spcAft>
                      </a:pPr>
                      <a:r>
                        <a:rPr lang="en-GB" sz="1800" b="1" dirty="0">
                          <a:latin typeface="Times New Roman"/>
                          <a:ea typeface="Times New Roman"/>
                          <a:cs typeface="Times New Roman"/>
                        </a:rPr>
                        <a:t>West Bengal</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6-10</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8705">
                <a:tc>
                  <a:txBody>
                    <a:bodyPr/>
                    <a:lstStyle/>
                    <a:p>
                      <a:pPr>
                        <a:lnSpc>
                          <a:spcPct val="115000"/>
                        </a:lnSpc>
                        <a:spcAft>
                          <a:spcPts val="0"/>
                        </a:spcAft>
                      </a:pPr>
                      <a:r>
                        <a:rPr lang="en-GB" sz="1800" b="1" dirty="0">
                          <a:latin typeface="Times New Roman"/>
                          <a:ea typeface="Times New Roman"/>
                          <a:cs typeface="Times New Roman"/>
                        </a:rPr>
                        <a:t>Bihar</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6-10</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68705">
                <a:tc>
                  <a:txBody>
                    <a:bodyPr/>
                    <a:lstStyle/>
                    <a:p>
                      <a:pPr>
                        <a:lnSpc>
                          <a:spcPct val="115000"/>
                        </a:lnSpc>
                        <a:spcAft>
                          <a:spcPts val="0"/>
                        </a:spcAft>
                      </a:pPr>
                      <a:r>
                        <a:rPr lang="en-GB" sz="1800" b="1" dirty="0">
                          <a:latin typeface="Times New Roman"/>
                          <a:ea typeface="Times New Roman"/>
                          <a:cs typeface="Times New Roman"/>
                        </a:rPr>
                        <a:t>Bombay</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298</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9</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319</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37411">
                <a:tc>
                  <a:txBody>
                    <a:bodyPr/>
                    <a:lstStyle/>
                    <a:p>
                      <a:pPr>
                        <a:lnSpc>
                          <a:spcPct val="115000"/>
                        </a:lnSpc>
                        <a:spcAft>
                          <a:spcPts val="0"/>
                        </a:spcAft>
                      </a:pPr>
                      <a:r>
                        <a:rPr lang="en-GB" sz="1800" b="1" dirty="0">
                          <a:latin typeface="Times New Roman"/>
                          <a:ea typeface="Times New Roman"/>
                          <a:cs typeface="Times New Roman"/>
                        </a:rPr>
                        <a:t>C. P. and Berar</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6-11</a:t>
                      </a:r>
                      <a:endParaRPr lang="en-US" sz="1800" b="1">
                        <a:latin typeface="Calibri"/>
                        <a:ea typeface="Times New Roman"/>
                        <a:cs typeface="Times New Roman"/>
                      </a:endParaRPr>
                    </a:p>
                    <a:p>
                      <a:pPr algn="ctr">
                        <a:lnSpc>
                          <a:spcPct val="115000"/>
                        </a:lnSpc>
                        <a:spcAft>
                          <a:spcPts val="0"/>
                        </a:spcAft>
                      </a:pPr>
                      <a:r>
                        <a:rPr lang="en-GB" sz="1800" b="1">
                          <a:latin typeface="Times New Roman"/>
                          <a:ea typeface="Times New Roman"/>
                          <a:cs typeface="Times New Roman"/>
                        </a:rPr>
                        <a:t>7-12</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   34**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1,031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37411">
                <a:tc>
                  <a:txBody>
                    <a:bodyPr/>
                    <a:lstStyle/>
                    <a:p>
                      <a:pPr>
                        <a:lnSpc>
                          <a:spcPct val="115000"/>
                        </a:lnSpc>
                        <a:spcAft>
                          <a:spcPts val="0"/>
                        </a:spcAft>
                      </a:pPr>
                      <a:r>
                        <a:rPr lang="en-GB" sz="1800" b="1" dirty="0">
                          <a:latin typeface="Times New Roman"/>
                          <a:ea typeface="Times New Roman"/>
                          <a:cs typeface="Times New Roman"/>
                        </a:rPr>
                        <a:t>Madras</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6-14</a:t>
                      </a:r>
                      <a:endParaRPr lang="en-US" sz="1800" b="1">
                        <a:latin typeface="Calibri"/>
                        <a:ea typeface="Times New Roman"/>
                        <a:cs typeface="Times New Roman"/>
                      </a:endParaRPr>
                    </a:p>
                    <a:p>
                      <a:pPr algn="ctr">
                        <a:lnSpc>
                          <a:spcPct val="115000"/>
                        </a:lnSpc>
                        <a:spcAft>
                          <a:spcPts val="0"/>
                        </a:spcAft>
                      </a:pPr>
                      <a:r>
                        <a:rPr lang="en-GB" sz="1800" b="1">
                          <a:latin typeface="Times New Roman"/>
                          <a:ea typeface="Times New Roman"/>
                          <a:cs typeface="Times New Roman"/>
                        </a:rPr>
                        <a:t>6-12</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19</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100</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1,082</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37411">
                <a:tc>
                  <a:txBody>
                    <a:bodyPr/>
                    <a:lstStyle/>
                    <a:p>
                      <a:pPr>
                        <a:lnSpc>
                          <a:spcPct val="115000"/>
                        </a:lnSpc>
                        <a:spcAft>
                          <a:spcPts val="0"/>
                        </a:spcAft>
                      </a:pPr>
                      <a:r>
                        <a:rPr lang="en-GB" sz="1800" b="1" dirty="0">
                          <a:latin typeface="Times New Roman"/>
                          <a:ea typeface="Times New Roman"/>
                          <a:cs typeface="Times New Roman"/>
                        </a:rPr>
                        <a:t>Orissa</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6-12</a:t>
                      </a:r>
                      <a:endParaRPr lang="en-US" sz="1800" b="1">
                        <a:latin typeface="Calibri"/>
                        <a:ea typeface="Times New Roman"/>
                        <a:cs typeface="Times New Roman"/>
                      </a:endParaRPr>
                    </a:p>
                    <a:p>
                      <a:pPr algn="ctr">
                        <a:lnSpc>
                          <a:spcPct val="115000"/>
                        </a:lnSpc>
                        <a:spcAft>
                          <a:spcPts val="0"/>
                        </a:spcAft>
                      </a:pPr>
                      <a:r>
                        <a:rPr lang="en-GB" sz="1800" b="1">
                          <a:latin typeface="Times New Roman"/>
                          <a:ea typeface="Times New Roman"/>
                          <a:cs typeface="Times New Roman"/>
                        </a:rPr>
                        <a:t>6-10</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24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68705">
                <a:tc>
                  <a:txBody>
                    <a:bodyPr/>
                    <a:lstStyle/>
                    <a:p>
                      <a:pPr>
                        <a:lnSpc>
                          <a:spcPct val="115000"/>
                        </a:lnSpc>
                        <a:spcAft>
                          <a:spcPts val="0"/>
                        </a:spcAft>
                      </a:pPr>
                      <a:r>
                        <a:rPr lang="en-GB" sz="1800" b="1" dirty="0">
                          <a:latin typeface="Times New Roman"/>
                          <a:ea typeface="Times New Roman"/>
                          <a:cs typeface="Times New Roman"/>
                        </a:rPr>
                        <a:t>East Punjab</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35</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4,984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68705">
                <a:tc>
                  <a:txBody>
                    <a:bodyPr/>
                    <a:lstStyle/>
                    <a:p>
                      <a:pPr>
                        <a:lnSpc>
                          <a:spcPct val="115000"/>
                        </a:lnSpc>
                        <a:spcAft>
                          <a:spcPts val="0"/>
                        </a:spcAft>
                      </a:pPr>
                      <a:r>
                        <a:rPr lang="en-GB" sz="1800" b="1" dirty="0">
                          <a:latin typeface="Times New Roman"/>
                          <a:ea typeface="Times New Roman"/>
                          <a:cs typeface="Times New Roman"/>
                        </a:rPr>
                        <a:t>Sind</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6-12</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2,551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68705">
                <a:tc>
                  <a:txBody>
                    <a:bodyPr/>
                    <a:lstStyle/>
                    <a:p>
                      <a:pPr>
                        <a:lnSpc>
                          <a:spcPct val="115000"/>
                        </a:lnSpc>
                        <a:spcAft>
                          <a:spcPts val="0"/>
                        </a:spcAft>
                      </a:pPr>
                      <a:r>
                        <a:rPr lang="en-GB" sz="1800" b="1" dirty="0">
                          <a:latin typeface="Times New Roman"/>
                          <a:ea typeface="Times New Roman"/>
                          <a:cs typeface="Times New Roman"/>
                        </a:rPr>
                        <a:t>United Provinces</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6-11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36</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1,371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a:latin typeface="Times New Roman"/>
                          <a:ea typeface="Times New Roman"/>
                          <a:cs typeface="Times New Roman"/>
                        </a:rPr>
                        <a:t>     3***</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3</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68705">
                <a:tc>
                  <a:txBody>
                    <a:bodyPr/>
                    <a:lstStyle/>
                    <a:p>
                      <a:pPr>
                        <a:lnSpc>
                          <a:spcPct val="115000"/>
                        </a:lnSpc>
                        <a:spcAft>
                          <a:spcPts val="0"/>
                        </a:spcAft>
                      </a:pPr>
                      <a:r>
                        <a:rPr lang="en-GB" sz="1800" b="1" dirty="0">
                          <a:latin typeface="Times New Roman"/>
                          <a:ea typeface="Times New Roman"/>
                          <a:cs typeface="Times New Roman"/>
                        </a:rPr>
                        <a:t>Delhi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5-10</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1#</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15</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800" b="1" dirty="0">
                          <a:latin typeface="Times New Roman"/>
                          <a:ea typeface="Times New Roman"/>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025" name="Rectangle 1"/>
          <p:cNvSpPr>
            <a:spLocks noChangeArrowheads="1"/>
          </p:cNvSpPr>
          <p:nvPr/>
        </p:nvSpPr>
        <p:spPr bwMode="auto">
          <a:xfrm>
            <a:off x="1524000" y="0"/>
            <a:ext cx="6942926" cy="70788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914400" fontAlgn="base">
              <a:spcBef>
                <a:spcPct val="0"/>
              </a:spcBef>
              <a:spcAft>
                <a:spcPct val="0"/>
              </a:spcAft>
            </a:pPr>
            <a:r>
              <a:rPr lang="en-GB" sz="2000" b="1" dirty="0">
                <a:latin typeface="Times New Roman" pitchFamily="18" charset="0"/>
                <a:ea typeface="Times New Roman" pitchFamily="18" charset="0"/>
                <a:cs typeface="Times New Roman" pitchFamily="18" charset="0"/>
              </a:rPr>
              <a:t>                    </a:t>
            </a:r>
          </a:p>
          <a:p>
            <a:pPr defTabSz="914400" fontAlgn="base">
              <a:spcBef>
                <a:spcPct val="0"/>
              </a:spcBef>
              <a:spcAft>
                <a:spcPct val="0"/>
              </a:spcAft>
            </a:pPr>
            <a:r>
              <a:rPr lang="en-GB" sz="2000" b="1" dirty="0">
                <a:latin typeface="Times New Roman" pitchFamily="18" charset="0"/>
                <a:ea typeface="Times New Roman" pitchFamily="18" charset="0"/>
                <a:cs typeface="Times New Roman" pitchFamily="18" charset="0"/>
              </a:rPr>
              <a:t>                                    </a:t>
            </a:r>
            <a:r>
              <a:rPr lang="en-GB" sz="2000" b="1" dirty="0">
                <a:solidFill>
                  <a:srgbClr val="0070C0"/>
                </a:solidFill>
                <a:latin typeface="Times New Roman" pitchFamily="18" charset="0"/>
                <a:ea typeface="Times New Roman" pitchFamily="18" charset="0"/>
                <a:cs typeface="Times New Roman" pitchFamily="18" charset="0"/>
              </a:rPr>
              <a:t>Compulsory Primary Education 1946-47</a:t>
            </a:r>
            <a:endParaRPr lang="en-GB" sz="2000" b="1" dirty="0">
              <a:solidFill>
                <a:srgbClr val="0070C0"/>
              </a:solidFill>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057403" y="381002"/>
          <a:ext cx="7924798" cy="6054837"/>
        </p:xfrm>
        <a:graphic>
          <a:graphicData uri="http://schemas.openxmlformats.org/drawingml/2006/table">
            <a:tbl>
              <a:tblPr/>
              <a:tblGrid>
                <a:gridCol w="1132114">
                  <a:extLst>
                    <a:ext uri="{9D8B030D-6E8A-4147-A177-3AD203B41FA5}">
                      <a16:colId xmlns:a16="http://schemas.microsoft.com/office/drawing/2014/main" val="20000"/>
                    </a:ext>
                  </a:extLst>
                </a:gridCol>
                <a:gridCol w="1132114">
                  <a:extLst>
                    <a:ext uri="{9D8B030D-6E8A-4147-A177-3AD203B41FA5}">
                      <a16:colId xmlns:a16="http://schemas.microsoft.com/office/drawing/2014/main" val="20001"/>
                    </a:ext>
                  </a:extLst>
                </a:gridCol>
                <a:gridCol w="1132114">
                  <a:extLst>
                    <a:ext uri="{9D8B030D-6E8A-4147-A177-3AD203B41FA5}">
                      <a16:colId xmlns:a16="http://schemas.microsoft.com/office/drawing/2014/main" val="20002"/>
                    </a:ext>
                  </a:extLst>
                </a:gridCol>
                <a:gridCol w="1132114">
                  <a:extLst>
                    <a:ext uri="{9D8B030D-6E8A-4147-A177-3AD203B41FA5}">
                      <a16:colId xmlns:a16="http://schemas.microsoft.com/office/drawing/2014/main" val="20003"/>
                    </a:ext>
                  </a:extLst>
                </a:gridCol>
                <a:gridCol w="1132114">
                  <a:extLst>
                    <a:ext uri="{9D8B030D-6E8A-4147-A177-3AD203B41FA5}">
                      <a16:colId xmlns:a16="http://schemas.microsoft.com/office/drawing/2014/main" val="20004"/>
                    </a:ext>
                  </a:extLst>
                </a:gridCol>
                <a:gridCol w="1132114">
                  <a:extLst>
                    <a:ext uri="{9D8B030D-6E8A-4147-A177-3AD203B41FA5}">
                      <a16:colId xmlns:a16="http://schemas.microsoft.com/office/drawing/2014/main" val="20005"/>
                    </a:ext>
                  </a:extLst>
                </a:gridCol>
                <a:gridCol w="1132114">
                  <a:extLst>
                    <a:ext uri="{9D8B030D-6E8A-4147-A177-3AD203B41FA5}">
                      <a16:colId xmlns:a16="http://schemas.microsoft.com/office/drawing/2014/main" val="20006"/>
                    </a:ext>
                  </a:extLst>
                </a:gridCol>
              </a:tblGrid>
              <a:tr h="264912">
                <a:tc rowSpan="2">
                  <a:txBody>
                    <a:bodyPr/>
                    <a:lstStyle/>
                    <a:p>
                      <a:pPr algn="ctr">
                        <a:lnSpc>
                          <a:spcPct val="115000"/>
                        </a:lnSpc>
                        <a:spcAft>
                          <a:spcPts val="0"/>
                        </a:spcAft>
                      </a:pPr>
                      <a:r>
                        <a:rPr lang="en-IN" sz="1400" b="1" dirty="0">
                          <a:latin typeface="Times New Roman"/>
                          <a:ea typeface="Times New Roman"/>
                          <a:cs typeface="Times New Roman"/>
                        </a:rPr>
                        <a:t>Province</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pPr>
                      <a:r>
                        <a:rPr lang="en-IN" sz="1400" b="1" dirty="0">
                          <a:latin typeface="Times New Roman"/>
                          <a:ea typeface="Times New Roman"/>
                          <a:cs typeface="Times New Roman"/>
                        </a:rPr>
                        <a:t>1937-38</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lnSpc>
                          <a:spcPct val="115000"/>
                        </a:lnSpc>
                        <a:spcAft>
                          <a:spcPts val="0"/>
                        </a:spcAft>
                      </a:pPr>
                      <a:r>
                        <a:rPr lang="en-IN" sz="1400" b="1" dirty="0">
                          <a:latin typeface="Times New Roman"/>
                          <a:ea typeface="Times New Roman"/>
                          <a:cs typeface="Times New Roman"/>
                        </a:rPr>
                        <a:t>1941-42</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lnSpc>
                          <a:spcPct val="115000"/>
                        </a:lnSpc>
                        <a:spcAft>
                          <a:spcPts val="0"/>
                        </a:spcAft>
                      </a:pPr>
                      <a:r>
                        <a:rPr lang="en-IN" sz="1400" b="1" dirty="0">
                          <a:latin typeface="Times New Roman"/>
                          <a:ea typeface="Times New Roman"/>
                          <a:cs typeface="Times New Roman"/>
                        </a:rPr>
                        <a:t>1946-47</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0"/>
                  </a:ext>
                </a:extLst>
              </a:tr>
              <a:tr h="264912">
                <a:tc vMerge="1">
                  <a:txBody>
                    <a:bodyPr/>
                    <a:lstStyle/>
                    <a:p>
                      <a:endParaRPr lang="en-US"/>
                    </a:p>
                  </a:txBody>
                  <a:tcPr/>
                </a:tc>
                <a:tc>
                  <a:txBody>
                    <a:bodyPr/>
                    <a:lstStyle/>
                    <a:p>
                      <a:pPr algn="ctr">
                        <a:lnSpc>
                          <a:spcPct val="115000"/>
                        </a:lnSpc>
                        <a:spcAft>
                          <a:spcPts val="0"/>
                        </a:spcAft>
                      </a:pPr>
                      <a:r>
                        <a:rPr lang="en-IN" sz="1400" b="1">
                          <a:latin typeface="Times New Roman"/>
                          <a:ea typeface="Times New Roman"/>
                          <a:cs typeface="Times New Roman"/>
                        </a:rPr>
                        <a:t>Boys</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b="1">
                          <a:latin typeface="Times New Roman"/>
                          <a:ea typeface="Times New Roman"/>
                          <a:cs typeface="Times New Roman"/>
                        </a:rPr>
                        <a:t>Girls</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b="1">
                          <a:latin typeface="Times New Roman"/>
                          <a:ea typeface="Times New Roman"/>
                          <a:cs typeface="Times New Roman"/>
                        </a:rPr>
                        <a:t>Boys</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b="1">
                          <a:latin typeface="Times New Roman"/>
                          <a:ea typeface="Times New Roman"/>
                          <a:cs typeface="Times New Roman"/>
                        </a:rPr>
                        <a:t>Girls</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b="1" dirty="0">
                          <a:latin typeface="Times New Roman"/>
                          <a:ea typeface="Times New Roman"/>
                          <a:cs typeface="Times New Roman"/>
                        </a:rPr>
                        <a:t>Boys</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b="1" dirty="0">
                          <a:latin typeface="Times New Roman"/>
                          <a:ea typeface="Times New Roman"/>
                          <a:cs typeface="Times New Roman"/>
                        </a:rPr>
                        <a:t>Girls</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4912">
                <a:tc>
                  <a:txBody>
                    <a:bodyPr/>
                    <a:lstStyle/>
                    <a:p>
                      <a:pPr algn="ctr">
                        <a:lnSpc>
                          <a:spcPct val="115000"/>
                        </a:lnSpc>
                        <a:spcAft>
                          <a:spcPts val="0"/>
                        </a:spcAft>
                      </a:pPr>
                      <a:r>
                        <a:rPr lang="en-IN" sz="1400" dirty="0">
                          <a:latin typeface="Times New Roman"/>
                          <a:ea typeface="Times New Roman"/>
                          <a:cs typeface="Times New Roman"/>
                        </a:rPr>
                        <a:t>Assam</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314,567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33,489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364,185</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45,113</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449,058</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56,998</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4912">
                <a:tc>
                  <a:txBody>
                    <a:bodyPr/>
                    <a:lstStyle/>
                    <a:p>
                      <a:pPr algn="ctr">
                        <a:lnSpc>
                          <a:spcPct val="115000"/>
                        </a:lnSpc>
                        <a:spcAft>
                          <a:spcPts val="0"/>
                        </a:spcAft>
                      </a:pPr>
                      <a:r>
                        <a:rPr lang="en-IN" sz="1400" dirty="0">
                          <a:latin typeface="Times New Roman"/>
                          <a:ea typeface="Times New Roman"/>
                          <a:cs typeface="Times New Roman"/>
                        </a:rPr>
                        <a:t>Bengal</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2,073,850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512,965</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2,703,251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391,308</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2,905,384</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323,204</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64912">
                <a:tc>
                  <a:txBody>
                    <a:bodyPr/>
                    <a:lstStyle/>
                    <a:p>
                      <a:pPr algn="ctr">
                        <a:lnSpc>
                          <a:spcPct val="115000"/>
                        </a:lnSpc>
                        <a:spcAft>
                          <a:spcPts val="0"/>
                        </a:spcAft>
                      </a:pPr>
                      <a:r>
                        <a:rPr lang="en-IN" sz="1400" dirty="0">
                          <a:latin typeface="Times New Roman"/>
                          <a:ea typeface="Times New Roman"/>
                          <a:cs typeface="Times New Roman"/>
                        </a:rPr>
                        <a:t>Bihar</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742,487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59,777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836,130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71,840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841,191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65,205</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64912">
                <a:tc>
                  <a:txBody>
                    <a:bodyPr/>
                    <a:lstStyle/>
                    <a:p>
                      <a:pPr algn="ctr">
                        <a:lnSpc>
                          <a:spcPct val="115000"/>
                        </a:lnSpc>
                        <a:spcAft>
                          <a:spcPts val="0"/>
                        </a:spcAft>
                      </a:pPr>
                      <a:r>
                        <a:rPr lang="en-IN" sz="1400" dirty="0">
                          <a:latin typeface="Times New Roman"/>
                          <a:ea typeface="Times New Roman"/>
                          <a:cs typeface="Times New Roman"/>
                        </a:rPr>
                        <a:t>Bombay</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1,005,910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185,599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1,335,480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229,140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1,394,120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270,922</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3077">
                <a:tc>
                  <a:txBody>
                    <a:bodyPr/>
                    <a:lstStyle/>
                    <a:p>
                      <a:pPr algn="ctr">
                        <a:lnSpc>
                          <a:spcPct val="115000"/>
                        </a:lnSpc>
                        <a:spcAft>
                          <a:spcPts val="0"/>
                        </a:spcAft>
                      </a:pPr>
                      <a:r>
                        <a:rPr lang="en-IN" sz="1400" dirty="0">
                          <a:latin typeface="Times New Roman"/>
                          <a:ea typeface="Times New Roman"/>
                          <a:cs typeface="Times New Roman"/>
                        </a:rPr>
                        <a:t>C. P. and Berar</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317,919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39,497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344,448</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42,708</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365,483</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47,549</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64912">
                <a:tc>
                  <a:txBody>
                    <a:bodyPr/>
                    <a:lstStyle/>
                    <a:p>
                      <a:pPr algn="ctr">
                        <a:lnSpc>
                          <a:spcPct val="115000"/>
                        </a:lnSpc>
                        <a:spcAft>
                          <a:spcPts val="0"/>
                        </a:spcAft>
                      </a:pPr>
                      <a:r>
                        <a:rPr lang="en-IN" sz="1400" dirty="0">
                          <a:latin typeface="Times New Roman"/>
                          <a:ea typeface="Times New Roman"/>
                          <a:cs typeface="Times New Roman"/>
                        </a:rPr>
                        <a:t>Madras</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2,490,211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384,748</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2,689,167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430,981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2,961,071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496,061</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64912">
                <a:tc>
                  <a:txBody>
                    <a:bodyPr/>
                    <a:lstStyle/>
                    <a:p>
                      <a:pPr algn="ctr">
                        <a:lnSpc>
                          <a:spcPct val="115000"/>
                        </a:lnSpc>
                        <a:spcAft>
                          <a:spcPts val="0"/>
                        </a:spcAft>
                      </a:pPr>
                      <a:r>
                        <a:rPr lang="en-IN" sz="1400" dirty="0">
                          <a:latin typeface="Times New Roman"/>
                          <a:ea typeface="Times New Roman"/>
                          <a:cs typeface="Times New Roman"/>
                        </a:rPr>
                        <a:t>N.-W. F. P.</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34,724</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8,819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42,291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11,708</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51,158</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13,402</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64912">
                <a:tc>
                  <a:txBody>
                    <a:bodyPr/>
                    <a:lstStyle/>
                    <a:p>
                      <a:pPr algn="ctr">
                        <a:lnSpc>
                          <a:spcPct val="115000"/>
                        </a:lnSpc>
                        <a:spcAft>
                          <a:spcPts val="0"/>
                        </a:spcAft>
                      </a:pPr>
                      <a:r>
                        <a:rPr lang="en-IN" sz="1400" dirty="0">
                          <a:latin typeface="Times New Roman"/>
                          <a:ea typeface="Times New Roman"/>
                          <a:cs typeface="Times New Roman"/>
                        </a:rPr>
                        <a:t>Orissa</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265,836</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15,979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267,773</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15,760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240,787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9,283</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64912">
                <a:tc>
                  <a:txBody>
                    <a:bodyPr/>
                    <a:lstStyle/>
                    <a:p>
                      <a:pPr algn="ctr">
                        <a:lnSpc>
                          <a:spcPct val="115000"/>
                        </a:lnSpc>
                        <a:spcAft>
                          <a:spcPts val="0"/>
                        </a:spcAft>
                      </a:pPr>
                      <a:r>
                        <a:rPr lang="en-IN" sz="1400" dirty="0">
                          <a:latin typeface="Times New Roman"/>
                          <a:ea typeface="Times New Roman"/>
                          <a:cs typeface="Times New Roman"/>
                        </a:rPr>
                        <a:t>Punjab</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378,674</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113,073</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410,616</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138,013</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479,415</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168,254</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64912">
                <a:tc>
                  <a:txBody>
                    <a:bodyPr/>
                    <a:lstStyle/>
                    <a:p>
                      <a:pPr algn="ctr">
                        <a:lnSpc>
                          <a:spcPct val="115000"/>
                        </a:lnSpc>
                        <a:spcAft>
                          <a:spcPts val="0"/>
                        </a:spcAft>
                      </a:pPr>
                      <a:r>
                        <a:rPr lang="en-IN" sz="1400" dirty="0">
                          <a:latin typeface="Times New Roman"/>
                          <a:ea typeface="Times New Roman"/>
                          <a:cs typeface="Times New Roman"/>
                        </a:rPr>
                        <a:t>Sind</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131,330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30,587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155,656</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37,286</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178,905</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43,478</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93774">
                <a:tc>
                  <a:txBody>
                    <a:bodyPr/>
                    <a:lstStyle/>
                    <a:p>
                      <a:pPr algn="ctr">
                        <a:lnSpc>
                          <a:spcPct val="115000"/>
                        </a:lnSpc>
                        <a:spcAft>
                          <a:spcPts val="0"/>
                        </a:spcAft>
                      </a:pPr>
                      <a:r>
                        <a:rPr lang="en-IN" sz="1400" dirty="0">
                          <a:latin typeface="Times New Roman"/>
                          <a:ea typeface="Times New Roman"/>
                          <a:cs typeface="Times New Roman"/>
                        </a:rPr>
                        <a:t>UP</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1,221,215</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80,924</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1,289,839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83,427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1,484,195</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91,313</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04800">
                <a:tc>
                  <a:txBody>
                    <a:bodyPr/>
                    <a:lstStyle/>
                    <a:p>
                      <a:pPr algn="ctr">
                        <a:lnSpc>
                          <a:spcPct val="115000"/>
                        </a:lnSpc>
                        <a:spcAft>
                          <a:spcPts val="0"/>
                        </a:spcAft>
                      </a:pPr>
                      <a:r>
                        <a:rPr lang="en-IN" sz="1400" dirty="0">
                          <a:latin typeface="Times New Roman"/>
                          <a:ea typeface="Times New Roman"/>
                          <a:cs typeface="Times New Roman"/>
                        </a:rPr>
                        <a:t>Ajmer-</a:t>
                      </a:r>
                      <a:r>
                        <a:rPr lang="en-IN" sz="1400" dirty="0" err="1">
                          <a:latin typeface="Times New Roman"/>
                          <a:ea typeface="Times New Roman"/>
                          <a:cs typeface="Times New Roman"/>
                        </a:rPr>
                        <a:t>Merwar</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13,149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3,790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14,934</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4,466</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16,761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5,597</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64912">
                <a:tc>
                  <a:txBody>
                    <a:bodyPr/>
                    <a:lstStyle/>
                    <a:p>
                      <a:pPr algn="ctr">
                        <a:lnSpc>
                          <a:spcPct val="115000"/>
                        </a:lnSpc>
                        <a:spcAft>
                          <a:spcPts val="0"/>
                        </a:spcAft>
                      </a:pPr>
                      <a:r>
                        <a:rPr lang="en-IN" sz="1400" dirty="0">
                          <a:latin typeface="Times New Roman"/>
                          <a:ea typeface="Times New Roman"/>
                          <a:cs typeface="Times New Roman"/>
                        </a:rPr>
                        <a:t>Baluchistan</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2,362</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399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3,581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443</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4,010</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672</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64912">
                <a:tc>
                  <a:txBody>
                    <a:bodyPr/>
                    <a:lstStyle/>
                    <a:p>
                      <a:pPr algn="ctr">
                        <a:lnSpc>
                          <a:spcPct val="115000"/>
                        </a:lnSpc>
                        <a:spcAft>
                          <a:spcPts val="0"/>
                        </a:spcAft>
                      </a:pPr>
                      <a:r>
                        <a:rPr lang="en-IN" sz="1400" dirty="0">
                          <a:latin typeface="Times New Roman"/>
                          <a:ea typeface="Times New Roman"/>
                          <a:cs typeface="Times New Roman"/>
                        </a:rPr>
                        <a:t>Bangalore</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5,368</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3,651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5,415</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3,447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6,915</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3,915</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64912">
                <a:tc>
                  <a:txBody>
                    <a:bodyPr/>
                    <a:lstStyle/>
                    <a:p>
                      <a:pPr algn="ctr">
                        <a:lnSpc>
                          <a:spcPct val="115000"/>
                        </a:lnSpc>
                        <a:spcAft>
                          <a:spcPts val="0"/>
                        </a:spcAft>
                      </a:pPr>
                      <a:r>
                        <a:rPr lang="en-IN" sz="1400" dirty="0" err="1">
                          <a:latin typeface="Times New Roman"/>
                          <a:ea typeface="Times New Roman"/>
                          <a:cs typeface="Times New Roman"/>
                        </a:rPr>
                        <a:t>Coorg</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9,983</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891</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12,049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109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14,822</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97</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64912">
                <a:tc>
                  <a:txBody>
                    <a:bodyPr/>
                    <a:lstStyle/>
                    <a:p>
                      <a:pPr algn="ctr">
                        <a:lnSpc>
                          <a:spcPct val="115000"/>
                        </a:lnSpc>
                        <a:spcAft>
                          <a:spcPts val="0"/>
                        </a:spcAft>
                      </a:pPr>
                      <a:r>
                        <a:rPr lang="en-IN" sz="1400" dirty="0">
                          <a:latin typeface="Times New Roman"/>
                          <a:ea typeface="Times New Roman"/>
                          <a:cs typeface="Times New Roman"/>
                        </a:rPr>
                        <a:t>Delhi</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15,202</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7,882</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16,176</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9,064</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Times New Roman"/>
                          <a:cs typeface="Times New Roman"/>
                        </a:rPr>
                        <a:t>21,735</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Times New Roman"/>
                          <a:cs typeface="Times New Roman"/>
                        </a:rPr>
                        <a:t>10,611</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344889">
                <a:tc>
                  <a:txBody>
                    <a:bodyPr/>
                    <a:lstStyle/>
                    <a:p>
                      <a:pPr algn="ctr">
                        <a:lnSpc>
                          <a:spcPct val="100000"/>
                        </a:lnSpc>
                        <a:spcAft>
                          <a:spcPts val="0"/>
                        </a:spcAft>
                      </a:pPr>
                      <a:r>
                        <a:rPr lang="en-IN" sz="1400" dirty="0">
                          <a:latin typeface="Times New Roman"/>
                          <a:ea typeface="Times New Roman"/>
                          <a:cs typeface="Times New Roman"/>
                        </a:rPr>
                        <a:t>Minor </a:t>
                      </a:r>
                      <a:r>
                        <a:rPr lang="en-IN" sz="1400" dirty="0" err="1">
                          <a:latin typeface="Times New Roman"/>
                          <a:ea typeface="Times New Roman"/>
                          <a:cs typeface="Times New Roman"/>
                        </a:rPr>
                        <a:t>Adm</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dirty="0">
                          <a:latin typeface="Times New Roman"/>
                          <a:ea typeface="Times New Roman"/>
                          <a:cs typeface="Times New Roman"/>
                        </a:rPr>
                        <a:t>7,100</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dirty="0">
                          <a:latin typeface="Times New Roman"/>
                          <a:ea typeface="Times New Roman"/>
                          <a:cs typeface="Times New Roman"/>
                        </a:rPr>
                        <a:t>4,396</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dirty="0">
                          <a:latin typeface="Times New Roman"/>
                          <a:ea typeface="Times New Roman"/>
                          <a:cs typeface="Times New Roman"/>
                        </a:rPr>
                        <a:t>7,796</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dirty="0">
                          <a:latin typeface="Times New Roman"/>
                          <a:ea typeface="Times New Roman"/>
                          <a:cs typeface="Times New Roman"/>
                        </a:rPr>
                        <a:t>5,126</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dirty="0">
                          <a:latin typeface="Times New Roman"/>
                          <a:ea typeface="Times New Roman"/>
                          <a:cs typeface="Times New Roman"/>
                        </a:rPr>
                        <a:t>9,392</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dirty="0">
                          <a:latin typeface="Times New Roman"/>
                          <a:ea typeface="Times New Roman"/>
                          <a:cs typeface="Times New Roman"/>
                        </a:rPr>
                        <a:t>5,702</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48071">
                <a:tc>
                  <a:txBody>
                    <a:bodyPr/>
                    <a:lstStyle/>
                    <a:p>
                      <a:pPr algn="ctr">
                        <a:lnSpc>
                          <a:spcPct val="100000"/>
                        </a:lnSpc>
                        <a:spcAft>
                          <a:spcPts val="0"/>
                        </a:spcAft>
                      </a:pPr>
                      <a:r>
                        <a:rPr lang="en-IN" sz="1400" b="1" dirty="0">
                          <a:latin typeface="Times New Roman"/>
                          <a:ea typeface="Times New Roman"/>
                          <a:cs typeface="Times New Roman"/>
                        </a:rPr>
                        <a:t>TOTAL</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b="1">
                          <a:latin typeface="Times New Roman"/>
                          <a:ea typeface="Times New Roman"/>
                          <a:cs typeface="Times New Roman"/>
                        </a:rPr>
                        <a:t>9,029,887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b="1">
                          <a:latin typeface="Times New Roman"/>
                          <a:ea typeface="Times New Roman"/>
                          <a:cs typeface="Times New Roman"/>
                        </a:rPr>
                        <a:t>1,486,466</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b="1">
                          <a:latin typeface="Times New Roman"/>
                          <a:ea typeface="Times New Roman"/>
                          <a:cs typeface="Times New Roman"/>
                        </a:rPr>
                        <a:t>10,498,787</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b="1">
                          <a:latin typeface="Times New Roman"/>
                          <a:ea typeface="Times New Roman"/>
                          <a:cs typeface="Times New Roman"/>
                        </a:rPr>
                        <a:t>1,519,939</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b="1">
                          <a:latin typeface="Times New Roman"/>
                          <a:ea typeface="Times New Roman"/>
                          <a:cs typeface="Times New Roman"/>
                        </a:rPr>
                        <a:t>11,424,402</a:t>
                      </a:r>
                      <a:endParaRPr lang="en-US" sz="140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IN" sz="1400" b="1" dirty="0">
                          <a:latin typeface="Times New Roman"/>
                          <a:ea typeface="Times New Roman"/>
                          <a:cs typeface="Times New Roman"/>
                        </a:rPr>
                        <a:t>1,612,263</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466546">
                <a:tc>
                  <a:txBody>
                    <a:bodyPr/>
                    <a:lstStyle/>
                    <a:p>
                      <a:pPr algn="ctr">
                        <a:lnSpc>
                          <a:spcPct val="100000"/>
                        </a:lnSpc>
                        <a:spcAft>
                          <a:spcPts val="0"/>
                        </a:spcAft>
                      </a:pPr>
                      <a:r>
                        <a:rPr lang="en-IN" sz="1400" b="1" dirty="0">
                          <a:latin typeface="Times New Roman"/>
                          <a:ea typeface="Times New Roman"/>
                          <a:cs typeface="Times New Roman"/>
                        </a:rPr>
                        <a:t>GRAND TOTAL</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0000"/>
                        </a:lnSpc>
                        <a:spcAft>
                          <a:spcPts val="0"/>
                        </a:spcAft>
                      </a:pPr>
                      <a:r>
                        <a:rPr lang="en-IN" sz="1400" b="1" dirty="0">
                          <a:latin typeface="Times New Roman"/>
                          <a:ea typeface="Times New Roman"/>
                          <a:cs typeface="Times New Roman"/>
                        </a:rPr>
                        <a:t>10,516,353</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lnSpc>
                          <a:spcPct val="100000"/>
                        </a:lnSpc>
                        <a:spcAft>
                          <a:spcPts val="0"/>
                        </a:spcAft>
                      </a:pPr>
                      <a:r>
                        <a:rPr lang="en-IN" sz="1400" b="1" dirty="0">
                          <a:latin typeface="Times New Roman"/>
                          <a:ea typeface="Times New Roman"/>
                          <a:cs typeface="Times New Roman"/>
                        </a:rPr>
                        <a:t>11,718,726</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lnSpc>
                          <a:spcPct val="100000"/>
                        </a:lnSpc>
                        <a:spcAft>
                          <a:spcPts val="0"/>
                        </a:spcAft>
                      </a:pPr>
                      <a:r>
                        <a:rPr lang="en-IN" sz="1400" b="1" dirty="0">
                          <a:latin typeface="Times New Roman"/>
                          <a:ea typeface="Times New Roman"/>
                          <a:cs typeface="Times New Roman"/>
                        </a:rPr>
                        <a:t>13,036,665</a:t>
                      </a:r>
                      <a:endParaRPr lang="en-US" sz="1400" dirty="0">
                        <a:latin typeface="Calibri"/>
                        <a:ea typeface="Times New Roman"/>
                        <a:cs typeface="Times New Roman"/>
                      </a:endParaRPr>
                    </a:p>
                  </a:txBody>
                  <a:tcPr marL="21679" marR="21679" marT="14452" marB="144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20"/>
                  </a:ext>
                </a:extLst>
              </a:tr>
            </a:tbl>
          </a:graphicData>
        </a:graphic>
      </p:graphicFrame>
      <p:sp>
        <p:nvSpPr>
          <p:cNvPr id="58369" name="Rectangle 1"/>
          <p:cNvSpPr>
            <a:spLocks noChangeArrowheads="1"/>
          </p:cNvSpPr>
          <p:nvPr/>
        </p:nvSpPr>
        <p:spPr bwMode="auto">
          <a:xfrm>
            <a:off x="1524001" y="0"/>
            <a:ext cx="6146683" cy="4001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914400" fontAlgn="base">
              <a:spcBef>
                <a:spcPct val="0"/>
              </a:spcBef>
              <a:spcAft>
                <a:spcPct val="0"/>
              </a:spcAft>
            </a:pPr>
            <a:r>
              <a:rPr lang="en-GB" sz="2000" b="1" dirty="0">
                <a:latin typeface="Calibri" pitchFamily="34" charset="0"/>
                <a:ea typeface="Times New Roman" pitchFamily="18" charset="0"/>
                <a:cs typeface="Times New Roman" pitchFamily="18" charset="0"/>
              </a:rPr>
              <a:t>                                                 Enrolment in </a:t>
            </a:r>
            <a:r>
              <a:rPr lang="en-GB" sz="2000" b="1">
                <a:latin typeface="Calibri" pitchFamily="34" charset="0"/>
                <a:ea typeface="Times New Roman" pitchFamily="18" charset="0"/>
                <a:cs typeface="Times New Roman" pitchFamily="18" charset="0"/>
              </a:rPr>
              <a:t>Primary Schools</a:t>
            </a:r>
            <a:endParaRPr lang="en-GB" sz="2000" dirty="0">
              <a:latin typeface="Arial" pitchFamily="34" charset="0"/>
              <a:cs typeface="Arial"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b="1">
                <a:solidFill>
                  <a:srgbClr val="0070C0"/>
                </a:solidFill>
                <a:latin typeface="Script MT Bold" pitchFamily="66" charset="0"/>
              </a:rPr>
              <a:t>Thank you</a:t>
            </a:r>
          </a:p>
        </p:txBody>
      </p:sp>
      <p:pic>
        <p:nvPicPr>
          <p:cNvPr id="53251" name="Content Placeholder 4" descr="RC.jpg"/>
          <p:cNvPicPr>
            <a:picLocks noGrp="1" noChangeAspect="1"/>
          </p:cNvPicPr>
          <p:nvPr>
            <p:ph sz="half" idx="2"/>
          </p:nvPr>
        </p:nvPicPr>
        <p:blipFill>
          <a:blip r:embed="rId2"/>
          <a:srcRect/>
          <a:stretch>
            <a:fillRect/>
          </a:stretch>
        </p:blipFill>
        <p:spPr>
          <a:xfrm>
            <a:off x="6858000" y="1676400"/>
            <a:ext cx="3429000" cy="4343400"/>
          </a:xfrm>
        </p:spPr>
      </p:pic>
      <p:pic>
        <p:nvPicPr>
          <p:cNvPr id="53252" name="Content Placeholder 7" descr="9781032906775.jpg"/>
          <p:cNvPicPr>
            <a:picLocks noGrp="1" noChangeAspect="1"/>
          </p:cNvPicPr>
          <p:nvPr>
            <p:ph sz="half" idx="1"/>
          </p:nvPr>
        </p:nvPicPr>
        <p:blipFill>
          <a:blip r:embed="rId3"/>
          <a:srcRect/>
          <a:stretch>
            <a:fillRect/>
          </a:stretch>
        </p:blipFill>
        <p:spPr>
          <a:xfrm>
            <a:off x="2057400" y="1752600"/>
            <a:ext cx="3581400" cy="4343400"/>
          </a:xfr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2364</TotalTime>
  <Words>5221</Words>
  <Application>Microsoft Office PowerPoint</Application>
  <PresentationFormat>Widescreen</PresentationFormat>
  <Paragraphs>553</Paragraphs>
  <Slides>45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Script MT Bold</vt:lpstr>
      <vt:lpstr>Times New Roman</vt:lpstr>
      <vt:lpstr>Tw Cen MT</vt:lpstr>
      <vt:lpstr>Tw Cen MT Condensed</vt:lpstr>
      <vt:lpstr>Wingdings 3</vt:lpstr>
      <vt:lpstr>Integral</vt:lpstr>
      <vt:lpstr>PUBP309: EDUCATION POLICY </vt:lpstr>
      <vt:lpstr>British 60% , 565 Princely States 40%</vt:lpstr>
      <vt:lpstr>A Pre- history of Compulsory Education Debates  Why Introduce Modern Education for All?</vt:lpstr>
      <vt:lpstr>1. Charles Grant 1792</vt:lpstr>
      <vt:lpstr>PowerPoint Presentation</vt:lpstr>
      <vt:lpstr>2. Education as Empowering tool : The 1820s debate ‘On the employment of natives in the public service,’ - 31 Dec 1824.</vt:lpstr>
      <vt:lpstr>1839 Madras Petition for reopening Munro’s Schools – 70,000 signatures</vt:lpstr>
      <vt:lpstr>Scottish MPs 1830-33,  T.B. Macaulay, Charles, Robert Grant, Joseph Hume</vt:lpstr>
      <vt:lpstr>Macaulay’s Minute - 3 July 1836 Compulsory teaching of mother tongue</vt:lpstr>
      <vt:lpstr>Empowerment at the local level</vt:lpstr>
      <vt:lpstr>Schools in Every Village</vt:lpstr>
      <vt:lpstr>Robert Shortrede’s schools  Purandhar Taluka 1843</vt:lpstr>
      <vt:lpstr>‘National Education’ of Trevelyan 1838</vt:lpstr>
      <vt:lpstr>Policy of Incorporation- 1840-1882</vt:lpstr>
      <vt:lpstr>PowerPoint Presentation</vt:lpstr>
      <vt:lpstr>PowerPoint Presentation</vt:lpstr>
      <vt:lpstr>Reasons for incorporation</vt:lpstr>
      <vt:lpstr>Indian opposition</vt:lpstr>
      <vt:lpstr>Mass Education Debate 1868-70</vt:lpstr>
      <vt:lpstr>Opponents of Mass Education</vt:lpstr>
      <vt:lpstr>Hunter Commission 1882</vt:lpstr>
      <vt:lpstr>Opposition by Conservative Indians-1</vt:lpstr>
      <vt:lpstr>Opposition by Conservative Indians-2</vt:lpstr>
      <vt:lpstr>Opposition by Conservative Indians-3</vt:lpstr>
      <vt:lpstr>OTHER OPPOSITION and SUPPORT</vt:lpstr>
      <vt:lpstr>Maharaja of Baroda’s Experiment</vt:lpstr>
      <vt:lpstr>Towards Gokhale’s Bill </vt:lpstr>
      <vt:lpstr>GOKHALE’s efforts</vt:lpstr>
      <vt:lpstr>Elementary Education Bill-1</vt:lpstr>
      <vt:lpstr>Elementary Education Bill-2</vt:lpstr>
      <vt:lpstr>OTHER DEVELOPMENTS</vt:lpstr>
      <vt:lpstr>Opposition to the Bill-1</vt:lpstr>
      <vt:lpstr>Opposition to the Bill-2</vt:lpstr>
      <vt:lpstr>Opposition to the Bill-3</vt:lpstr>
      <vt:lpstr>Support to the Bill-1</vt:lpstr>
      <vt:lpstr>Support to the Bill-2</vt:lpstr>
      <vt:lpstr>Support to the Bill-3</vt:lpstr>
      <vt:lpstr>Support to the Bill-4</vt:lpstr>
      <vt:lpstr>OTHER DEVELOPMENTS</vt:lpstr>
      <vt:lpstr>FATE OF THE BILL</vt:lpstr>
      <vt:lpstr>Provincial Elementary Education Bills</vt:lpstr>
      <vt:lpstr>FATE OF PROVINCIAL EDDUCATION BILLS</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Compulsory Education Debates in Colonial India 1840s -1920</dc:title>
  <dc:creator>IJ Blr</dc:creator>
  <cp:lastModifiedBy>Shivakumar Jolad</cp:lastModifiedBy>
  <cp:revision>246</cp:revision>
  <dcterms:created xsi:type="dcterms:W3CDTF">2006-08-16T00:00:00Z</dcterms:created>
  <dcterms:modified xsi:type="dcterms:W3CDTF">2026-07-03T05:33:19Z</dcterms:modified>
</cp:coreProperties>
</file>