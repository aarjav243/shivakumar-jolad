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35"/>
  </p:notesMasterIdLst>
  <p:handoutMasterIdLst>
    <p:handoutMasterId r:id="rId36"/>
  </p:handoutMasterIdLst>
  <p:sldIdLst>
    <p:sldId id="452" r:id="rId2"/>
    <p:sldId id="453" r:id="rId3"/>
    <p:sldId id="454" r:id="rId4"/>
    <p:sldId id="455" r:id="rId5"/>
    <p:sldId id="456" r:id="rId6"/>
    <p:sldId id="422" r:id="rId7"/>
    <p:sldId id="457" r:id="rId8"/>
    <p:sldId id="350" r:id="rId9"/>
    <p:sldId id="458" r:id="rId10"/>
    <p:sldId id="472" r:id="rId11"/>
    <p:sldId id="473" r:id="rId12"/>
    <p:sldId id="474" r:id="rId13"/>
    <p:sldId id="475" r:id="rId14"/>
    <p:sldId id="476" r:id="rId15"/>
    <p:sldId id="477" r:id="rId16"/>
    <p:sldId id="478" r:id="rId17"/>
    <p:sldId id="479" r:id="rId18"/>
    <p:sldId id="480" r:id="rId19"/>
    <p:sldId id="481" r:id="rId20"/>
    <p:sldId id="482" r:id="rId21"/>
    <p:sldId id="483" r:id="rId22"/>
    <p:sldId id="484" r:id="rId23"/>
    <p:sldId id="379" r:id="rId24"/>
    <p:sldId id="486" r:id="rId25"/>
    <p:sldId id="459" r:id="rId26"/>
    <p:sldId id="471" r:id="rId27"/>
    <p:sldId id="448" r:id="rId28"/>
    <p:sldId id="449" r:id="rId29"/>
    <p:sldId id="425" r:id="rId30"/>
    <p:sldId id="487" r:id="rId31"/>
    <p:sldId id="488" r:id="rId32"/>
    <p:sldId id="430" r:id="rId33"/>
    <p:sldId id="301"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45246B8-7689-4489-9C0B-F67BFBC111C3}">
          <p14:sldIdLst>
            <p14:sldId id="452"/>
            <p14:sldId id="453"/>
            <p14:sldId id="454"/>
            <p14:sldId id="455"/>
            <p14:sldId id="456"/>
            <p14:sldId id="422"/>
            <p14:sldId id="457"/>
            <p14:sldId id="350"/>
            <p14:sldId id="458"/>
            <p14:sldId id="472"/>
            <p14:sldId id="473"/>
            <p14:sldId id="474"/>
            <p14:sldId id="475"/>
            <p14:sldId id="476"/>
            <p14:sldId id="477"/>
            <p14:sldId id="478"/>
            <p14:sldId id="479"/>
            <p14:sldId id="480"/>
            <p14:sldId id="481"/>
            <p14:sldId id="482"/>
            <p14:sldId id="483"/>
            <p14:sldId id="484"/>
            <p14:sldId id="379"/>
            <p14:sldId id="486"/>
            <p14:sldId id="459"/>
            <p14:sldId id="471"/>
            <p14:sldId id="448"/>
            <p14:sldId id="449"/>
            <p14:sldId id="425"/>
            <p14:sldId id="487"/>
            <p14:sldId id="488"/>
            <p14:sldId id="430"/>
            <p14:sldId id="30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84154"/>
  </p:normalViewPr>
  <p:slideViewPr>
    <p:cSldViewPr snapToGrid="0">
      <p:cViewPr varScale="1">
        <p:scale>
          <a:sx n="76" d="100"/>
          <a:sy n="76" d="100"/>
        </p:scale>
        <p:origin x="768" y="41"/>
      </p:cViewPr>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E5E0604-FF12-4C2B-9249-B8C6A3C0E66E}" type="datetimeFigureOut">
              <a:rPr lang="en-US" smtClean="0"/>
              <a:t>7/3/2026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F8FF52-86D5-4E44-8C47-CD11944C95B6}" type="slidenum">
              <a:rPr lang="en-US" smtClean="0"/>
              <a:t>‹#›</a:t>
            </a:fld>
            <a:endParaRPr lang="en-US"/>
          </a:p>
        </p:txBody>
      </p:sp>
    </p:spTree>
    <p:extLst>
      <p:ext uri="{BB962C8B-B14F-4D97-AF65-F5344CB8AC3E}">
        <p14:creationId xmlns:p14="http://schemas.microsoft.com/office/powerpoint/2010/main" val="38332459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B3068A-ACA5-4265-9733-AA0E2FD4FB77}" type="datetimeFigureOut">
              <a:rPr lang="en-US" smtClean="0"/>
              <a:t>7/3/2026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D4701A-930A-4161-A14F-5C286DEDE152}" type="slidenum">
              <a:rPr lang="en-US" smtClean="0"/>
              <a:t>‹#›</a:t>
            </a:fld>
            <a:endParaRPr lang="en-US"/>
          </a:p>
        </p:txBody>
      </p:sp>
    </p:spTree>
    <p:extLst>
      <p:ext uri="{BB962C8B-B14F-4D97-AF65-F5344CB8AC3E}">
        <p14:creationId xmlns:p14="http://schemas.microsoft.com/office/powerpoint/2010/main" val="1243190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heritageinstitute.com/zoroastrianism/reference/Madame_Cama_Complete-Eduljee.pdf"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feminisminindia.com/2018/03/30/bhikaji-cama-exile-indian-flag/"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of HS 511- 2017 </a:t>
            </a:r>
            <a:endParaRPr lang="en-IN" dirty="0"/>
          </a:p>
        </p:txBody>
      </p:sp>
      <p:sp>
        <p:nvSpPr>
          <p:cNvPr id="4" name="Slide Number Placeholder 3"/>
          <p:cNvSpPr>
            <a:spLocks noGrp="1"/>
          </p:cNvSpPr>
          <p:nvPr>
            <p:ph type="sldNum" sz="quarter" idx="5"/>
          </p:nvPr>
        </p:nvSpPr>
        <p:spPr/>
        <p:txBody>
          <a:bodyPr/>
          <a:lstStyle/>
          <a:p>
            <a:fld id="{36105C90-1CE8-BF41-8E55-5EDD54F24EA9}" type="slidenum">
              <a:rPr lang="en-US" smtClean="0"/>
              <a:t>2</a:t>
            </a:fld>
            <a:endParaRPr lang="en-US"/>
          </a:p>
        </p:txBody>
      </p:sp>
    </p:spTree>
    <p:extLst>
      <p:ext uri="{BB962C8B-B14F-4D97-AF65-F5344CB8AC3E}">
        <p14:creationId xmlns:p14="http://schemas.microsoft.com/office/powerpoint/2010/main" val="3275209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Introduction to the New Education System</a:t>
            </a:r>
          </a:p>
          <a:p>
            <a:pPr>
              <a:buFont typeface="Arial" panose="020B0604020202020204" pitchFamily="34" charset="0"/>
              <a:buChar char="•"/>
            </a:pPr>
            <a:r>
              <a:rPr lang="en-GB" b="1" dirty="0"/>
              <a:t>Objective:</a:t>
            </a:r>
            <a:r>
              <a:rPr lang="en-GB" dirty="0"/>
              <a:t> Spread Western literature and science through English</a:t>
            </a:r>
          </a:p>
          <a:p>
            <a:pPr>
              <a:buFont typeface="Arial" panose="020B0604020202020204" pitchFamily="34" charset="0"/>
              <a:buChar char="•"/>
            </a:pPr>
            <a:r>
              <a:rPr lang="en-GB" b="1" dirty="0"/>
              <a:t>Impact:</a:t>
            </a:r>
            <a:r>
              <a:rPr lang="en-GB" dirty="0"/>
              <a:t> First exposure of Indian intellect to Western thought, leading to a modern renaissance.</a:t>
            </a:r>
          </a:p>
          <a:p>
            <a:pPr>
              <a:buFont typeface="Arial" panose="020B0604020202020204" pitchFamily="34" charset="0"/>
              <a:buChar char="•"/>
            </a:pPr>
            <a:r>
              <a:rPr lang="en-GB" b="1" dirty="0"/>
              <a:t>Key Reform:</a:t>
            </a:r>
            <a:r>
              <a:rPr lang="en-GB" dirty="0"/>
              <a:t> Wood’s Despatch (1854), which formalized this education system.</a:t>
            </a:r>
          </a:p>
          <a:p>
            <a:endParaRPr lang="en-IN" dirty="0"/>
          </a:p>
        </p:txBody>
      </p:sp>
      <p:sp>
        <p:nvSpPr>
          <p:cNvPr id="4" name="Slide Number Placeholder 3"/>
          <p:cNvSpPr>
            <a:spLocks noGrp="1"/>
          </p:cNvSpPr>
          <p:nvPr>
            <p:ph type="sldNum" sz="quarter" idx="5"/>
          </p:nvPr>
        </p:nvSpPr>
        <p:spPr/>
        <p:txBody>
          <a:bodyPr/>
          <a:lstStyle/>
          <a:p>
            <a:fld id="{41D4701A-930A-4161-A14F-5C286DEDE152}" type="slidenum">
              <a:rPr lang="en-US" smtClean="0"/>
              <a:t>3</a:t>
            </a:fld>
            <a:endParaRPr lang="en-US"/>
          </a:p>
        </p:txBody>
      </p:sp>
    </p:spTree>
    <p:extLst>
      <p:ext uri="{BB962C8B-B14F-4D97-AF65-F5344CB8AC3E}">
        <p14:creationId xmlns:p14="http://schemas.microsoft.com/office/powerpoint/2010/main" val="39903802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of the most profound impacts of the new education system in colonial India was the emergence of a vibrant literary and press culture in modern Indian languages. Initially, this effort was spearheaded by Christian missionaries who sought to translate the Bible into Indian languages and create linguistic aids such as dictionaries and grammars. While their primary goal was religious, their contributions laid the foundation for the development of vernacular literature. Alongside them, the British East India Company and later the colonial administration played a crucial role in formalizing educational structures and sponsoring the publication of secular books. The earliest books under this system were largely translations of well-known English works or instructional materials in subjects like history, algebra, and science, aligned with the curriculum of the new schools. These efforts gradually introduced a wider Indian readership to Western ideas and scientific thought, fostering intellectual curiosity and social awareness.</a:t>
            </a:r>
          </a:p>
          <a:p>
            <a:r>
              <a:rPr lang="en-GB" dirty="0"/>
              <a:t>By the late 19th century, educated Indians took the initiative to further develop literature in their native languages. Inspired by their exposure to English literature, they established literary societies, wrote original works, and launched newspapers aimed at disseminating knowledge and advocating for social reform. Newspapers such as </a:t>
            </a:r>
            <a:r>
              <a:rPr lang="en-GB" i="1" dirty="0"/>
              <a:t>The Hindu, Kesari, Amrita Bazar Patrika,</a:t>
            </a:r>
            <a:r>
              <a:rPr lang="en-GB" dirty="0"/>
              <a:t> and </a:t>
            </a:r>
            <a:r>
              <a:rPr lang="en-GB" i="1" dirty="0"/>
              <a:t>Bengalee</a:t>
            </a:r>
            <a:r>
              <a:rPr lang="en-GB" dirty="0"/>
              <a:t> became powerful platforms for discussing social injustices, economic exploitation, and political grievances against British rule. This press revolution not only created a sense of solidarity among educated Indians but also contributed to a growing nationalist consciousness. By 1902, most major Indian languages had developed a substantial body of modern literature, and the Indian press had become a formidable force in shaping public opinion, setting the stage for future movements for independence.</a:t>
            </a:r>
          </a:p>
        </p:txBody>
      </p:sp>
      <p:sp>
        <p:nvSpPr>
          <p:cNvPr id="4" name="Slide Number Placeholder 3"/>
          <p:cNvSpPr>
            <a:spLocks noGrp="1"/>
          </p:cNvSpPr>
          <p:nvPr>
            <p:ph type="sldNum" sz="quarter" idx="5"/>
          </p:nvPr>
        </p:nvSpPr>
        <p:spPr/>
        <p:txBody>
          <a:bodyPr/>
          <a:lstStyle/>
          <a:p>
            <a:fld id="{41D4701A-930A-4161-A14F-5C286DEDE152}" type="slidenum">
              <a:rPr lang="en-US" smtClean="0"/>
              <a:t>4</a:t>
            </a:fld>
            <a:endParaRPr lang="en-US"/>
          </a:p>
        </p:txBody>
      </p:sp>
    </p:spTree>
    <p:extLst>
      <p:ext uri="{BB962C8B-B14F-4D97-AF65-F5344CB8AC3E}">
        <p14:creationId xmlns:p14="http://schemas.microsoft.com/office/powerpoint/2010/main" val="15427300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byjus.com</a:t>
            </a:r>
            <a:r>
              <a:rPr lang="en-US" dirty="0"/>
              <a:t>/free-</a:t>
            </a:r>
            <a:r>
              <a:rPr lang="en-US" dirty="0" err="1"/>
              <a:t>ias</a:t>
            </a:r>
            <a:r>
              <a:rPr lang="en-US" dirty="0"/>
              <a:t>-prep/list-viceroys-</a:t>
            </a:r>
            <a:r>
              <a:rPr lang="en-US" dirty="0" err="1"/>
              <a:t>india</a:t>
            </a:r>
            <a:r>
              <a:rPr lang="en-US" dirty="0"/>
              <a:t>/</a:t>
            </a:r>
          </a:p>
          <a:p>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6</a:t>
            </a:fld>
            <a:endParaRPr lang="en-US"/>
          </a:p>
        </p:txBody>
      </p:sp>
    </p:spTree>
    <p:extLst>
      <p:ext uri="{BB962C8B-B14F-4D97-AF65-F5344CB8AC3E}">
        <p14:creationId xmlns:p14="http://schemas.microsoft.com/office/powerpoint/2010/main" val="918807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6" name="Shape 11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algn="l"/>
            <a:r>
              <a:rPr lang="en-GB" b="0" i="0" cap="all" dirty="0">
                <a:solidFill>
                  <a:srgbClr val="222222"/>
                </a:solidFill>
                <a:effectLst/>
                <a:latin typeface="Faustina"/>
              </a:rPr>
              <a:t>M</a:t>
            </a:r>
            <a:r>
              <a:rPr lang="en-GB" b="0" i="0" dirty="0">
                <a:solidFill>
                  <a:srgbClr val="222222"/>
                </a:solidFill>
                <a:effectLst/>
                <a:latin typeface="Faustina"/>
              </a:rPr>
              <a:t>ore than a century ago, on 21 August 1907, the Indian flag was hoisted for the first time on foreign soil in Stuttgart, Germany. When the Union Jack was about to be hoisted at the International Socialist Conference as the national flag of India, </a:t>
            </a:r>
            <a:r>
              <a:rPr lang="en-GB" b="0" i="0" dirty="0" err="1">
                <a:solidFill>
                  <a:srgbClr val="222222"/>
                </a:solidFill>
                <a:effectLst/>
                <a:latin typeface="Faustina"/>
              </a:rPr>
              <a:t>Bhikaji</a:t>
            </a:r>
            <a:r>
              <a:rPr lang="en-GB" b="0" i="0" dirty="0">
                <a:solidFill>
                  <a:srgbClr val="222222"/>
                </a:solidFill>
                <a:effectLst/>
                <a:latin typeface="Faustina"/>
              </a:rPr>
              <a:t> Rustom </a:t>
            </a:r>
            <a:r>
              <a:rPr lang="en-GB" b="0" i="0" dirty="0" err="1">
                <a:solidFill>
                  <a:srgbClr val="222222"/>
                </a:solidFill>
                <a:effectLst/>
                <a:latin typeface="Faustina"/>
              </a:rPr>
              <a:t>Cama</a:t>
            </a:r>
            <a:r>
              <a:rPr lang="en-GB" b="0" i="0" dirty="0">
                <a:solidFill>
                  <a:srgbClr val="222222"/>
                </a:solidFill>
                <a:effectLst/>
                <a:latin typeface="Faustina"/>
              </a:rPr>
              <a:t> opposed it. She took out a small Tricolour from her bag.</a:t>
            </a:r>
          </a:p>
          <a:p>
            <a:br>
              <a:rPr lang="en-GB" b="0" i="0" dirty="0">
                <a:solidFill>
                  <a:srgbClr val="222222"/>
                </a:solidFill>
                <a:effectLst/>
                <a:latin typeface="Faustina"/>
              </a:rPr>
            </a:br>
            <a:endParaRPr lang="en-GB" b="0" i="0" dirty="0">
              <a:solidFill>
                <a:srgbClr val="222222"/>
              </a:solidFill>
              <a:effectLst/>
              <a:latin typeface="Faustina"/>
            </a:endParaRPr>
          </a:p>
          <a:p>
            <a:pPr algn="l"/>
            <a:r>
              <a:rPr lang="en-GB" b="0" i="0" dirty="0">
                <a:solidFill>
                  <a:srgbClr val="222222"/>
                </a:solidFill>
                <a:effectLst/>
                <a:latin typeface="Faustina"/>
              </a:rPr>
              <a:t>The flag, which came to be called the Berlin Committee Flag, was designed by </a:t>
            </a:r>
            <a:r>
              <a:rPr lang="en-GB" b="0" i="0" dirty="0" err="1">
                <a:solidFill>
                  <a:srgbClr val="222222"/>
                </a:solidFill>
                <a:effectLst/>
                <a:latin typeface="Faustina"/>
              </a:rPr>
              <a:t>Cama</a:t>
            </a:r>
            <a:r>
              <a:rPr lang="en-GB" b="0" i="0" dirty="0">
                <a:solidFill>
                  <a:srgbClr val="222222"/>
                </a:solidFill>
                <a:effectLst/>
                <a:latin typeface="Faustina"/>
              </a:rPr>
              <a:t>, Shyamji Krishna Verma and Vinayak </a:t>
            </a:r>
            <a:r>
              <a:rPr lang="en-GB" b="0" i="0" dirty="0" err="1">
                <a:solidFill>
                  <a:srgbClr val="222222"/>
                </a:solidFill>
                <a:effectLst/>
                <a:latin typeface="Faustina"/>
              </a:rPr>
              <a:t>Damodar</a:t>
            </a:r>
            <a:r>
              <a:rPr lang="en-GB" b="0" i="0" dirty="0">
                <a:solidFill>
                  <a:srgbClr val="222222"/>
                </a:solidFill>
                <a:effectLst/>
                <a:latin typeface="Faustina"/>
              </a:rPr>
              <a:t> Savarkar. It was an early precursor to the tricolour India eventually adopted in 1947.</a:t>
            </a:r>
          </a:p>
          <a:p>
            <a:pPr algn="l"/>
            <a:endParaRPr lang="en-GB" b="0" i="0" dirty="0">
              <a:solidFill>
                <a:srgbClr val="222222"/>
              </a:solidFill>
              <a:effectLst/>
              <a:latin typeface="Faustina"/>
            </a:endParaRPr>
          </a:p>
          <a:p>
            <a:pPr algn="l"/>
            <a:r>
              <a:rPr lang="en-GB" b="0" i="0" dirty="0" err="1">
                <a:solidFill>
                  <a:srgbClr val="222222"/>
                </a:solidFill>
                <a:effectLst/>
                <a:latin typeface="Faustina"/>
              </a:rPr>
              <a:t>Bhikaji</a:t>
            </a:r>
            <a:r>
              <a:rPr lang="en-GB" b="0" i="0" dirty="0">
                <a:solidFill>
                  <a:srgbClr val="222222"/>
                </a:solidFill>
                <a:effectLst/>
                <a:latin typeface="Faustina"/>
              </a:rPr>
              <a:t> </a:t>
            </a:r>
            <a:r>
              <a:rPr lang="en-GB" b="0" i="0" dirty="0" err="1">
                <a:solidFill>
                  <a:srgbClr val="222222"/>
                </a:solidFill>
                <a:effectLst/>
                <a:latin typeface="Faustina"/>
              </a:rPr>
              <a:t>Cama</a:t>
            </a:r>
            <a:r>
              <a:rPr lang="en-GB" b="0" i="0" dirty="0">
                <a:solidFill>
                  <a:srgbClr val="222222"/>
                </a:solidFill>
                <a:effectLst/>
                <a:latin typeface="Faustina"/>
              </a:rPr>
              <a:t> devoted her life to philanthropy and social work. She not only fought for human rights and autonomy from British rule, but was also a champion of women’s rights and suffrage. The Russians used to </a:t>
            </a:r>
            <a:r>
              <a:rPr lang="en-GB" b="0" i="0" u="none" strike="noStrike" dirty="0">
                <a:solidFill>
                  <a:srgbClr val="4DB2EC"/>
                </a:solidFill>
                <a:effectLst/>
                <a:latin typeface="Faustina"/>
                <a:hlinkClick r:id="rId3"/>
              </a:rPr>
              <a:t>call</a:t>
            </a:r>
            <a:r>
              <a:rPr lang="en-GB" b="0" i="0" dirty="0">
                <a:solidFill>
                  <a:srgbClr val="222222"/>
                </a:solidFill>
                <a:effectLst/>
                <a:latin typeface="Faustina"/>
              </a:rPr>
              <a:t> her the ‘Indian Joan of Arc,’ while Indians</a:t>
            </a:r>
            <a:br>
              <a:rPr lang="en-GB" b="0" i="0" dirty="0">
                <a:solidFill>
                  <a:srgbClr val="222222"/>
                </a:solidFill>
                <a:effectLst/>
                <a:latin typeface="Faustina"/>
              </a:rPr>
            </a:br>
            <a:r>
              <a:rPr lang="en-GB" b="0" i="0" dirty="0">
                <a:solidFill>
                  <a:srgbClr val="222222"/>
                </a:solidFill>
                <a:effectLst/>
                <a:latin typeface="Faustina"/>
              </a:rPr>
              <a:t>dubbed her ‘Mother of the Revolution.’</a:t>
            </a:r>
          </a:p>
          <a:p>
            <a:pPr algn="l"/>
            <a:r>
              <a:rPr lang="en-GB" b="0" i="0" dirty="0">
                <a:solidFill>
                  <a:srgbClr val="222222"/>
                </a:solidFill>
                <a:effectLst/>
                <a:latin typeface="Faustina"/>
              </a:rPr>
              <a:t>“When India is independent, women will not only have the right to vote but all other rights,” </a:t>
            </a:r>
            <a:r>
              <a:rPr lang="en-GB" b="0" i="0" u="none" strike="noStrike" dirty="0">
                <a:solidFill>
                  <a:srgbClr val="4DB2EC"/>
                </a:solidFill>
                <a:effectLst/>
                <a:latin typeface="Faustina"/>
                <a:hlinkClick r:id="rId4"/>
              </a:rPr>
              <a:t>was her stance</a:t>
            </a:r>
            <a:r>
              <a:rPr lang="en-GB" b="0" i="0" dirty="0">
                <a:solidFill>
                  <a:srgbClr val="222222"/>
                </a:solidFill>
                <a:effectLst/>
                <a:latin typeface="Faustina"/>
              </a:rPr>
              <a:t>. </a:t>
            </a:r>
            <a:r>
              <a:rPr lang="en-GB" b="0" i="0" dirty="0" err="1">
                <a:solidFill>
                  <a:srgbClr val="222222"/>
                </a:solidFill>
                <a:effectLst/>
                <a:latin typeface="Faustina"/>
              </a:rPr>
              <a:t>Cama</a:t>
            </a:r>
            <a:r>
              <a:rPr lang="en-GB" b="0" i="0" dirty="0">
                <a:solidFill>
                  <a:srgbClr val="222222"/>
                </a:solidFill>
                <a:effectLst/>
                <a:latin typeface="Faustina"/>
              </a:rPr>
              <a:t> believed equality for women and freedom from British rule were the same thing. The daughter of affluent Parsi trader </a:t>
            </a:r>
            <a:r>
              <a:rPr lang="en-GB" b="0" i="0" dirty="0" err="1">
                <a:solidFill>
                  <a:srgbClr val="222222"/>
                </a:solidFill>
                <a:effectLst/>
                <a:latin typeface="Faustina"/>
              </a:rPr>
              <a:t>Sorabji</a:t>
            </a:r>
            <a:r>
              <a:rPr lang="en-GB" b="0" i="0" dirty="0">
                <a:solidFill>
                  <a:srgbClr val="222222"/>
                </a:solidFill>
                <a:effectLst/>
                <a:latin typeface="Faustina"/>
              </a:rPr>
              <a:t> </a:t>
            </a:r>
            <a:r>
              <a:rPr lang="en-GB" b="0" i="0" dirty="0" err="1">
                <a:solidFill>
                  <a:srgbClr val="222222"/>
                </a:solidFill>
                <a:effectLst/>
                <a:latin typeface="Faustina"/>
              </a:rPr>
              <a:t>Framji</a:t>
            </a:r>
            <a:r>
              <a:rPr lang="en-GB" b="0" i="0" dirty="0">
                <a:solidFill>
                  <a:srgbClr val="222222"/>
                </a:solidFill>
                <a:effectLst/>
                <a:latin typeface="Faustina"/>
              </a:rPr>
              <a:t> Patel, Madame </a:t>
            </a:r>
            <a:r>
              <a:rPr lang="en-GB" b="0" i="0" dirty="0" err="1">
                <a:solidFill>
                  <a:srgbClr val="222222"/>
                </a:solidFill>
                <a:effectLst/>
                <a:latin typeface="Faustina"/>
              </a:rPr>
              <a:t>Cama</a:t>
            </a:r>
            <a:r>
              <a:rPr lang="en-GB" b="0" i="0" dirty="0">
                <a:solidFill>
                  <a:srgbClr val="222222"/>
                </a:solidFill>
                <a:effectLst/>
                <a:latin typeface="Faustina"/>
              </a:rPr>
              <a:t> was born in Bombay on 24 September 1861 and completed her education at Alexandra Girl Education Institute.</a:t>
            </a:r>
          </a:p>
          <a:p>
            <a:pPr algn="l"/>
            <a:endParaRPr lang="en-GB" b="0" i="0" dirty="0">
              <a:solidFill>
                <a:srgbClr val="222222"/>
              </a:solidFill>
              <a:effectLst/>
              <a:latin typeface="Faustina"/>
            </a:endParaRPr>
          </a:p>
          <a:p>
            <a:br>
              <a:rPr lang="en-GB" b="0" i="0" dirty="0">
                <a:solidFill>
                  <a:srgbClr val="222222"/>
                </a:solidFill>
                <a:effectLst/>
                <a:latin typeface="Faustina"/>
              </a:rPr>
            </a:br>
            <a:endParaRPr dirty="0"/>
          </a:p>
        </p:txBody>
      </p:sp>
    </p:spTree>
    <p:extLst>
      <p:ext uri="{BB962C8B-B14F-4D97-AF65-F5344CB8AC3E}">
        <p14:creationId xmlns:p14="http://schemas.microsoft.com/office/powerpoint/2010/main" val="360082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Include an image of a colonial-era classroom or a British educational institution in India</a:t>
            </a:r>
            <a:endParaRPr lang="en-IN" dirty="0"/>
          </a:p>
        </p:txBody>
      </p:sp>
      <p:sp>
        <p:nvSpPr>
          <p:cNvPr id="4" name="Slide Number Placeholder 3"/>
          <p:cNvSpPr>
            <a:spLocks noGrp="1"/>
          </p:cNvSpPr>
          <p:nvPr>
            <p:ph type="sldNum" sz="quarter" idx="5"/>
          </p:nvPr>
        </p:nvSpPr>
        <p:spPr/>
        <p:txBody>
          <a:bodyPr/>
          <a:lstStyle/>
          <a:p>
            <a:fld id="{41D4701A-930A-4161-A14F-5C286DEDE152}" type="slidenum">
              <a:rPr lang="en-US" smtClean="0"/>
              <a:t>13</a:t>
            </a:fld>
            <a:endParaRPr lang="en-US"/>
          </a:p>
        </p:txBody>
      </p:sp>
    </p:spTree>
    <p:extLst>
      <p:ext uri="{BB962C8B-B14F-4D97-AF65-F5344CB8AC3E}">
        <p14:creationId xmlns:p14="http://schemas.microsoft.com/office/powerpoint/2010/main" val="290983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D4701A-930A-4161-A14F-5C286DEDE152}" type="slidenum">
              <a:rPr lang="en-US" smtClean="0"/>
              <a:t>23</a:t>
            </a:fld>
            <a:endParaRPr lang="en-US"/>
          </a:p>
        </p:txBody>
      </p:sp>
    </p:spTree>
    <p:extLst>
      <p:ext uri="{BB962C8B-B14F-4D97-AF65-F5344CB8AC3E}">
        <p14:creationId xmlns:p14="http://schemas.microsoft.com/office/powerpoint/2010/main" val="3966905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37428A-E5DD-5A4F-B7CA-A78E573B6B66}" type="slidenum">
              <a:rPr lang="en-US" smtClean="0"/>
              <a:t>26</a:t>
            </a:fld>
            <a:endParaRPr lang="en-US"/>
          </a:p>
        </p:txBody>
      </p:sp>
    </p:spTree>
    <p:extLst>
      <p:ext uri="{BB962C8B-B14F-4D97-AF65-F5344CB8AC3E}">
        <p14:creationId xmlns:p14="http://schemas.microsoft.com/office/powerpoint/2010/main" val="1688342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6105C90-1CE8-BF41-8E55-5EDD54F24EA9}" type="slidenum">
              <a:rPr lang="en-US" smtClean="0"/>
              <a:t>27</a:t>
            </a:fld>
            <a:endParaRPr lang="en-US"/>
          </a:p>
        </p:txBody>
      </p:sp>
    </p:spTree>
    <p:extLst>
      <p:ext uri="{BB962C8B-B14F-4D97-AF65-F5344CB8AC3E}">
        <p14:creationId xmlns:p14="http://schemas.microsoft.com/office/powerpoint/2010/main" val="21382834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There have been many debates how schools are best governed at the local level for various reasons.</a:t>
            </a:r>
          </a:p>
          <a:p>
            <a:r>
              <a:rPr lang="en-US" dirty="0">
                <a:latin typeface="Times New Roman" panose="02020603050405020304" pitchFamily="18" charset="0"/>
                <a:cs typeface="Times New Roman" panose="02020603050405020304" pitchFamily="18" charset="0"/>
              </a:rPr>
              <a:t>Analysis of UDISE data shows that at all Indian levels, 77% of government schools are managed by the Department of Education, while only 18% of schools are controlled by local bodies. </a:t>
            </a:r>
          </a:p>
          <a:p>
            <a:r>
              <a:rPr lang="en-US" dirty="0">
                <a:latin typeface="Times New Roman" panose="02020603050405020304" pitchFamily="18" charset="0"/>
                <a:cs typeface="Times New Roman" panose="02020603050405020304" pitchFamily="18" charset="0"/>
              </a:rPr>
              <a:t>Even in states with many local body schools, school funding, teacher appointment, and teacher transfer are controlled by the state.</a:t>
            </a:r>
          </a:p>
          <a:p>
            <a:endParaRPr lang="en-IN" dirty="0"/>
          </a:p>
        </p:txBody>
      </p:sp>
      <p:sp>
        <p:nvSpPr>
          <p:cNvPr id="4" name="Header Placeholder 3"/>
          <p:cNvSpPr>
            <a:spLocks noGrp="1"/>
          </p:cNvSpPr>
          <p:nvPr>
            <p:ph type="hdr" sz="quarter"/>
          </p:nvPr>
        </p:nvSpPr>
        <p:spPr/>
        <p:txBody>
          <a:bodyPr/>
          <a:lstStyle/>
          <a:p>
            <a:endParaRPr lang="en-US" dirty="0"/>
          </a:p>
        </p:txBody>
      </p:sp>
      <p:sp>
        <p:nvSpPr>
          <p:cNvPr id="5" name="Slide Number Placeholder 4"/>
          <p:cNvSpPr>
            <a:spLocks noGrp="1"/>
          </p:cNvSpPr>
          <p:nvPr>
            <p:ph type="sldNum" sz="quarter" idx="5"/>
          </p:nvPr>
        </p:nvSpPr>
        <p:spPr/>
        <p:txBody>
          <a:bodyPr/>
          <a:lstStyle/>
          <a:p>
            <a:fld id="{E40A0A09-6FA2-432A-878F-290AC51C7288}" type="slidenum">
              <a:rPr lang="en-US" smtClean="0"/>
              <a:t>28</a:t>
            </a:fld>
            <a:endParaRPr lang="en-US" dirty="0"/>
          </a:p>
        </p:txBody>
      </p:sp>
    </p:spTree>
    <p:extLst>
      <p:ext uri="{BB962C8B-B14F-4D97-AF65-F5344CB8AC3E}">
        <p14:creationId xmlns:p14="http://schemas.microsoft.com/office/powerpoint/2010/main" val="328964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i="0" u="none" strike="noStrike" dirty="0">
                <a:solidFill>
                  <a:srgbClr val="000000"/>
                </a:solidFill>
                <a:effectLst/>
                <a:latin typeface="Times New Roman" panose="02020603050405020304" pitchFamily="18" charset="0"/>
              </a:rPr>
              <a:t>Maharashtra and Gujarat</a:t>
            </a:r>
            <a:r>
              <a:rPr lang="en-GB" sz="1200" b="0" i="0" u="none" strike="noStrike" dirty="0">
                <a:solidFill>
                  <a:srgbClr val="000000"/>
                </a:solidFill>
                <a:effectLst/>
                <a:latin typeface="Times New Roman" panose="02020603050405020304" pitchFamily="18" charset="0"/>
              </a:rPr>
              <a:t> (which were part of Bombay in 1947-1960) followed a different trajectory. The Bombay Primary Education Act- 1947 (later amended and renamed as Maharashtra Primary Education Act) entrusted the District school boards, Municipalities, and Municipal school boards with powers to establish and manage (provide infrastructure, teaching aids etc) the schools within their jurisdiction. There was even power to take over all teachers employed before under the board's control. </a:t>
            </a:r>
            <a:r>
              <a:rPr lang="en-GB" sz="1200" b="1" i="0" u="none" strike="noStrike" dirty="0">
                <a:solidFill>
                  <a:srgbClr val="000000"/>
                </a:solidFill>
                <a:effectLst/>
                <a:latin typeface="Times New Roman" panose="02020603050405020304" pitchFamily="18" charset="0"/>
              </a:rPr>
              <a:t>(Bombay Primary Education Act- 1947, 1947; The Maharashtra Primary Education Act (Bombay Act No, LXI of 1947), 1947)</a:t>
            </a:r>
            <a:r>
              <a:rPr lang="en-GB" sz="1200" b="0" i="0" u="none" strike="noStrike" dirty="0">
                <a:solidFill>
                  <a:srgbClr val="000000"/>
                </a:solidFill>
                <a:effectLst/>
                <a:latin typeface="Times New Roman" panose="02020603050405020304" pitchFamily="18" charset="0"/>
              </a:rPr>
              <a:t>. These district school boards </a:t>
            </a:r>
            <a:endParaRPr lang="en-IN" dirty="0"/>
          </a:p>
          <a:p>
            <a:endParaRPr lang="en-IN" dirty="0"/>
          </a:p>
        </p:txBody>
      </p:sp>
      <p:sp>
        <p:nvSpPr>
          <p:cNvPr id="4" name="Header Placeholder 3"/>
          <p:cNvSpPr>
            <a:spLocks noGrp="1"/>
          </p:cNvSpPr>
          <p:nvPr>
            <p:ph type="hdr" sz="quarter"/>
          </p:nvPr>
        </p:nvSpPr>
        <p:spPr/>
        <p:txBody>
          <a:bodyPr/>
          <a:lstStyle/>
          <a:p>
            <a:endParaRPr lang="en-US" dirty="0"/>
          </a:p>
        </p:txBody>
      </p:sp>
      <p:sp>
        <p:nvSpPr>
          <p:cNvPr id="5" name="Slide Number Placeholder 4"/>
          <p:cNvSpPr>
            <a:spLocks noGrp="1"/>
          </p:cNvSpPr>
          <p:nvPr>
            <p:ph type="sldNum" sz="quarter" idx="5"/>
          </p:nvPr>
        </p:nvSpPr>
        <p:spPr/>
        <p:txBody>
          <a:bodyPr/>
          <a:lstStyle/>
          <a:p>
            <a:fld id="{E40A0A09-6FA2-432A-878F-290AC51C7288}" type="slidenum">
              <a:rPr lang="en-US" smtClean="0"/>
              <a:t>32</a:t>
            </a:fld>
            <a:endParaRPr lang="en-US" dirty="0"/>
          </a:p>
        </p:txBody>
      </p:sp>
    </p:spTree>
    <p:extLst>
      <p:ext uri="{BB962C8B-B14F-4D97-AF65-F5344CB8AC3E}">
        <p14:creationId xmlns:p14="http://schemas.microsoft.com/office/powerpoint/2010/main" val="24523790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B4267-FD12-436C-A400-74799FCF0CD5}" type="slidenum">
              <a:rPr lang="en-US" smtClean="0"/>
              <a:t>33</a:t>
            </a:fld>
            <a:endParaRPr lang="en-US" dirty="0"/>
          </a:p>
        </p:txBody>
      </p:sp>
    </p:spTree>
    <p:extLst>
      <p:ext uri="{BB962C8B-B14F-4D97-AF65-F5344CB8AC3E}">
        <p14:creationId xmlns:p14="http://schemas.microsoft.com/office/powerpoint/2010/main" val="3478134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GB"/>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3FDED6FF-7BD7-CF4F-8E68-40FC475D6179}" type="datetime1">
              <a:rPr lang="en-IN" smtClean="0"/>
              <a:t>03-07-2026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5393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D2D2C9-BC72-7B4D-B636-33C876C6B20E}" type="datetime1">
              <a:rPr lang="en-IN" smtClean="0"/>
              <a:t>03-07-2026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085538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GB"/>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D82F0F5-DF5C-C64F-B78C-57FC5158E350}" type="datetime1">
              <a:rPr lang="en-IN" smtClean="0"/>
              <a:t>03-07-2026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5506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D8D541C-F75E-1E49-AC84-84460C1AD054}" type="datetime1">
              <a:rPr lang="en-IN" smtClean="0"/>
              <a:t>03-07-2026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32091156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GB"/>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08838107-76AD-704B-BB77-FA288E4CEC3B}" type="datetime1">
              <a:rPr lang="en-IN" smtClean="0"/>
              <a:t>03-07-2026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6537400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966DF53-0997-B243-A3F9-B09D9DA26970}" type="datetime1">
              <a:rPr lang="en-IN" smtClean="0"/>
              <a:t>03-07-2026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142200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934A75-9E20-0945-B055-4C867A462D4D}" type="datetime1">
              <a:rPr lang="en-IN" smtClean="0"/>
              <a:t>03-07-2026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856780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GB"/>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A29672F2-C6AF-864A-A121-F39FBF385D8A}" type="datetime1">
              <a:rPr lang="en-IN" smtClean="0"/>
              <a:t>03-07-2026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35539826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FBBF19D9-513E-0041-8883-532F85F48A93}" type="datetime1">
              <a:rPr lang="en-IN" smtClean="0"/>
              <a:t>03-07-2026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7243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EFCD60D-5FA2-3244-8067-8BDFC22BFEFA}" type="datetime1">
              <a:rPr lang="en-IN" smtClean="0"/>
              <a:t>03-07-2026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514040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GB"/>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B976E02-5A50-4C4F-9C88-0404BA48CBCE}" type="datetime1">
              <a:rPr lang="en-IN" smtClean="0"/>
              <a:t>03-07-2026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8228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ix">
    <p:spTree>
      <p:nvGrpSpPr>
        <p:cNvPr id="1" name=""/>
        <p:cNvGrpSpPr/>
        <p:nvPr/>
      </p:nvGrpSpPr>
      <p:grpSpPr>
        <a:xfrm>
          <a:off x="0" y="0"/>
          <a:ext cx="0" cy="0"/>
          <a:chOff x="0" y="0"/>
          <a:chExt cx="0" cy="0"/>
        </a:xfrm>
      </p:grpSpPr>
      <p:sp>
        <p:nvSpPr>
          <p:cNvPr id="40" name="Picture Placeholder 34">
            <a:extLst>
              <a:ext uri="{FF2B5EF4-FFF2-40B4-BE49-F238E27FC236}">
                <a16:creationId xmlns:a16="http://schemas.microsoft.com/office/drawing/2014/main" id="{EA10837A-18D5-41DD-A066-A079A09D86A7}"/>
              </a:ext>
            </a:extLst>
          </p:cNvPr>
          <p:cNvSpPr>
            <a:spLocks noGrp="1"/>
          </p:cNvSpPr>
          <p:nvPr>
            <p:ph type="pic" sz="quarter" idx="24" hasCustomPrompt="1"/>
          </p:nvPr>
        </p:nvSpPr>
        <p:spPr>
          <a:xfrm>
            <a:off x="1420935" y="466999"/>
            <a:ext cx="887413" cy="889000"/>
          </a:xfrm>
        </p:spPr>
        <p:txBody>
          <a:bodyPr>
            <a:normAutofit/>
          </a:bodyPr>
          <a:lstStyle>
            <a:lvl1pPr marL="0" indent="0">
              <a:buNone/>
              <a:defRPr sz="1000"/>
            </a:lvl1pPr>
          </a:lstStyle>
          <a:p>
            <a:r>
              <a:rPr lang="en-US" dirty="0"/>
              <a:t>ICON</a:t>
            </a:r>
          </a:p>
        </p:txBody>
      </p:sp>
      <p:sp>
        <p:nvSpPr>
          <p:cNvPr id="41" name="Text Placeholder 39">
            <a:extLst>
              <a:ext uri="{FF2B5EF4-FFF2-40B4-BE49-F238E27FC236}">
                <a16:creationId xmlns:a16="http://schemas.microsoft.com/office/drawing/2014/main" id="{FD8132DE-D62C-4410-983C-9F458DCEF6DE}"/>
              </a:ext>
            </a:extLst>
          </p:cNvPr>
          <p:cNvSpPr>
            <a:spLocks noGrp="1"/>
          </p:cNvSpPr>
          <p:nvPr>
            <p:ph type="body" sz="quarter" idx="38"/>
          </p:nvPr>
        </p:nvSpPr>
        <p:spPr>
          <a:xfrm>
            <a:off x="2408126" y="930257"/>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a:t>
            </a:r>
          </a:p>
        </p:txBody>
      </p:sp>
      <p:sp>
        <p:nvSpPr>
          <p:cNvPr id="42" name="Text Placeholder 46">
            <a:extLst>
              <a:ext uri="{FF2B5EF4-FFF2-40B4-BE49-F238E27FC236}">
                <a16:creationId xmlns:a16="http://schemas.microsoft.com/office/drawing/2014/main" id="{DF68D5C6-4D23-4113-9FFA-AFAAB5A6DA01}"/>
              </a:ext>
            </a:extLst>
          </p:cNvPr>
          <p:cNvSpPr>
            <a:spLocks noGrp="1"/>
          </p:cNvSpPr>
          <p:nvPr>
            <p:ph type="body" sz="quarter" idx="39" hasCustomPrompt="1"/>
          </p:nvPr>
        </p:nvSpPr>
        <p:spPr>
          <a:xfrm>
            <a:off x="2408126" y="527314"/>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48" name="Picture Placeholder 34">
            <a:extLst>
              <a:ext uri="{FF2B5EF4-FFF2-40B4-BE49-F238E27FC236}">
                <a16:creationId xmlns:a16="http://schemas.microsoft.com/office/drawing/2014/main" id="{2B75D755-4972-4E8B-ACD5-FAE778A86273}"/>
              </a:ext>
            </a:extLst>
          </p:cNvPr>
          <p:cNvSpPr>
            <a:spLocks noGrp="1"/>
          </p:cNvSpPr>
          <p:nvPr>
            <p:ph type="pic" sz="quarter" idx="40" hasCustomPrompt="1"/>
          </p:nvPr>
        </p:nvSpPr>
        <p:spPr>
          <a:xfrm>
            <a:off x="3458965" y="2484454"/>
            <a:ext cx="887413" cy="889000"/>
          </a:xfrm>
        </p:spPr>
        <p:txBody>
          <a:bodyPr>
            <a:normAutofit/>
          </a:bodyPr>
          <a:lstStyle>
            <a:lvl1pPr marL="0" indent="0">
              <a:buNone/>
              <a:defRPr sz="1000"/>
            </a:lvl1pPr>
          </a:lstStyle>
          <a:p>
            <a:r>
              <a:rPr lang="en-US" dirty="0"/>
              <a:t>ICON</a:t>
            </a:r>
          </a:p>
        </p:txBody>
      </p:sp>
      <p:sp>
        <p:nvSpPr>
          <p:cNvPr id="49" name="Text Placeholder 39">
            <a:extLst>
              <a:ext uri="{FF2B5EF4-FFF2-40B4-BE49-F238E27FC236}">
                <a16:creationId xmlns:a16="http://schemas.microsoft.com/office/drawing/2014/main" id="{0EEE7EDE-175B-450F-B4D2-50D992E53C5E}"/>
              </a:ext>
            </a:extLst>
          </p:cNvPr>
          <p:cNvSpPr>
            <a:spLocks noGrp="1"/>
          </p:cNvSpPr>
          <p:nvPr>
            <p:ph type="body" sz="quarter" idx="41"/>
          </p:nvPr>
        </p:nvSpPr>
        <p:spPr>
          <a:xfrm>
            <a:off x="4446156" y="294771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a:t>
            </a:r>
          </a:p>
        </p:txBody>
      </p:sp>
      <p:sp>
        <p:nvSpPr>
          <p:cNvPr id="50" name="Text Placeholder 46">
            <a:extLst>
              <a:ext uri="{FF2B5EF4-FFF2-40B4-BE49-F238E27FC236}">
                <a16:creationId xmlns:a16="http://schemas.microsoft.com/office/drawing/2014/main" id="{91051322-19B5-41CA-BEAB-A8F1B8CA54ED}"/>
              </a:ext>
            </a:extLst>
          </p:cNvPr>
          <p:cNvSpPr>
            <a:spLocks noGrp="1"/>
          </p:cNvSpPr>
          <p:nvPr>
            <p:ph type="body" sz="quarter" idx="42" hasCustomPrompt="1"/>
          </p:nvPr>
        </p:nvSpPr>
        <p:spPr>
          <a:xfrm>
            <a:off x="4446156" y="254476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51" name="Picture Placeholder 34">
            <a:extLst>
              <a:ext uri="{FF2B5EF4-FFF2-40B4-BE49-F238E27FC236}">
                <a16:creationId xmlns:a16="http://schemas.microsoft.com/office/drawing/2014/main" id="{966FF594-D5D5-4FD4-A245-AAF0D053095E}"/>
              </a:ext>
            </a:extLst>
          </p:cNvPr>
          <p:cNvSpPr>
            <a:spLocks noGrp="1"/>
          </p:cNvSpPr>
          <p:nvPr>
            <p:ph type="pic" sz="quarter" idx="43" hasCustomPrompt="1"/>
          </p:nvPr>
        </p:nvSpPr>
        <p:spPr>
          <a:xfrm>
            <a:off x="8030968" y="2484454"/>
            <a:ext cx="887413" cy="889000"/>
          </a:xfrm>
        </p:spPr>
        <p:txBody>
          <a:bodyPr>
            <a:normAutofit/>
          </a:bodyPr>
          <a:lstStyle>
            <a:lvl1pPr marL="0" indent="0">
              <a:buNone/>
              <a:defRPr sz="1000"/>
            </a:lvl1pPr>
          </a:lstStyle>
          <a:p>
            <a:r>
              <a:rPr lang="en-US" dirty="0"/>
              <a:t>ICON</a:t>
            </a:r>
          </a:p>
        </p:txBody>
      </p:sp>
      <p:sp>
        <p:nvSpPr>
          <p:cNvPr id="55" name="Text Placeholder 39">
            <a:extLst>
              <a:ext uri="{FF2B5EF4-FFF2-40B4-BE49-F238E27FC236}">
                <a16:creationId xmlns:a16="http://schemas.microsoft.com/office/drawing/2014/main" id="{3A5DD9C2-78E8-4416-B2C1-F07A9E25832F}"/>
              </a:ext>
            </a:extLst>
          </p:cNvPr>
          <p:cNvSpPr>
            <a:spLocks noGrp="1"/>
          </p:cNvSpPr>
          <p:nvPr>
            <p:ph type="body" sz="quarter" idx="44"/>
          </p:nvPr>
        </p:nvSpPr>
        <p:spPr>
          <a:xfrm>
            <a:off x="9018159" y="294771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a:t>
            </a:r>
          </a:p>
        </p:txBody>
      </p:sp>
      <p:sp>
        <p:nvSpPr>
          <p:cNvPr id="56" name="Text Placeholder 46">
            <a:extLst>
              <a:ext uri="{FF2B5EF4-FFF2-40B4-BE49-F238E27FC236}">
                <a16:creationId xmlns:a16="http://schemas.microsoft.com/office/drawing/2014/main" id="{D8A4734F-8867-4923-806F-AE04360B226B}"/>
              </a:ext>
            </a:extLst>
          </p:cNvPr>
          <p:cNvSpPr>
            <a:spLocks noGrp="1"/>
          </p:cNvSpPr>
          <p:nvPr>
            <p:ph type="body" sz="quarter" idx="45" hasCustomPrompt="1"/>
          </p:nvPr>
        </p:nvSpPr>
        <p:spPr>
          <a:xfrm>
            <a:off x="9018159" y="254476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57" name="Picture Placeholder 34">
            <a:extLst>
              <a:ext uri="{FF2B5EF4-FFF2-40B4-BE49-F238E27FC236}">
                <a16:creationId xmlns:a16="http://schemas.microsoft.com/office/drawing/2014/main" id="{B03F66BE-0084-45A8-85FC-1448DEA89D7E}"/>
              </a:ext>
            </a:extLst>
          </p:cNvPr>
          <p:cNvSpPr>
            <a:spLocks noGrp="1"/>
          </p:cNvSpPr>
          <p:nvPr>
            <p:ph type="pic" sz="quarter" idx="46" hasCustomPrompt="1"/>
          </p:nvPr>
        </p:nvSpPr>
        <p:spPr>
          <a:xfrm>
            <a:off x="1586860" y="4201784"/>
            <a:ext cx="887413" cy="889000"/>
          </a:xfrm>
        </p:spPr>
        <p:txBody>
          <a:bodyPr>
            <a:normAutofit/>
          </a:bodyPr>
          <a:lstStyle>
            <a:lvl1pPr marL="0" indent="0">
              <a:buNone/>
              <a:defRPr sz="1000"/>
            </a:lvl1pPr>
          </a:lstStyle>
          <a:p>
            <a:r>
              <a:rPr lang="en-US" dirty="0"/>
              <a:t>ICON</a:t>
            </a:r>
          </a:p>
        </p:txBody>
      </p:sp>
      <p:sp>
        <p:nvSpPr>
          <p:cNvPr id="58" name="Text Placeholder 39">
            <a:extLst>
              <a:ext uri="{FF2B5EF4-FFF2-40B4-BE49-F238E27FC236}">
                <a16:creationId xmlns:a16="http://schemas.microsoft.com/office/drawing/2014/main" id="{3F9DA6EE-3DE6-4493-AD6B-BEC7EE858CED}"/>
              </a:ext>
            </a:extLst>
          </p:cNvPr>
          <p:cNvSpPr>
            <a:spLocks noGrp="1"/>
          </p:cNvSpPr>
          <p:nvPr>
            <p:ph type="body" sz="quarter" idx="47"/>
          </p:nvPr>
        </p:nvSpPr>
        <p:spPr>
          <a:xfrm>
            <a:off x="2574051" y="466504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a:t>
            </a:r>
          </a:p>
        </p:txBody>
      </p:sp>
      <p:sp>
        <p:nvSpPr>
          <p:cNvPr id="61" name="Text Placeholder 46">
            <a:extLst>
              <a:ext uri="{FF2B5EF4-FFF2-40B4-BE49-F238E27FC236}">
                <a16:creationId xmlns:a16="http://schemas.microsoft.com/office/drawing/2014/main" id="{DD5495C5-2CD2-4593-BC1F-CF0E7D3601E3}"/>
              </a:ext>
            </a:extLst>
          </p:cNvPr>
          <p:cNvSpPr>
            <a:spLocks noGrp="1"/>
          </p:cNvSpPr>
          <p:nvPr>
            <p:ph type="body" sz="quarter" idx="48" hasCustomPrompt="1"/>
          </p:nvPr>
        </p:nvSpPr>
        <p:spPr>
          <a:xfrm>
            <a:off x="2574051" y="426209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62" name="Picture Placeholder 34">
            <a:extLst>
              <a:ext uri="{FF2B5EF4-FFF2-40B4-BE49-F238E27FC236}">
                <a16:creationId xmlns:a16="http://schemas.microsoft.com/office/drawing/2014/main" id="{D2B54852-DC63-410D-BE2A-4D723492843F}"/>
              </a:ext>
            </a:extLst>
          </p:cNvPr>
          <p:cNvSpPr>
            <a:spLocks noGrp="1"/>
          </p:cNvSpPr>
          <p:nvPr>
            <p:ph type="pic" sz="quarter" idx="49" hasCustomPrompt="1"/>
          </p:nvPr>
        </p:nvSpPr>
        <p:spPr>
          <a:xfrm>
            <a:off x="5818607" y="4201784"/>
            <a:ext cx="887413" cy="889000"/>
          </a:xfrm>
        </p:spPr>
        <p:txBody>
          <a:bodyPr>
            <a:normAutofit/>
          </a:bodyPr>
          <a:lstStyle>
            <a:lvl1pPr marL="0" indent="0">
              <a:buNone/>
              <a:defRPr sz="1000"/>
            </a:lvl1pPr>
          </a:lstStyle>
          <a:p>
            <a:r>
              <a:rPr lang="en-US" dirty="0"/>
              <a:t>ICON</a:t>
            </a:r>
          </a:p>
        </p:txBody>
      </p:sp>
      <p:sp>
        <p:nvSpPr>
          <p:cNvPr id="63" name="Text Placeholder 39">
            <a:extLst>
              <a:ext uri="{FF2B5EF4-FFF2-40B4-BE49-F238E27FC236}">
                <a16:creationId xmlns:a16="http://schemas.microsoft.com/office/drawing/2014/main" id="{13567973-FE07-4747-9500-D565A3EF2869}"/>
              </a:ext>
            </a:extLst>
          </p:cNvPr>
          <p:cNvSpPr>
            <a:spLocks noGrp="1"/>
          </p:cNvSpPr>
          <p:nvPr>
            <p:ph type="body" sz="quarter" idx="50"/>
          </p:nvPr>
        </p:nvSpPr>
        <p:spPr>
          <a:xfrm>
            <a:off x="6805798" y="466504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a:t>
            </a:r>
          </a:p>
        </p:txBody>
      </p:sp>
      <p:sp>
        <p:nvSpPr>
          <p:cNvPr id="64" name="Text Placeholder 46">
            <a:extLst>
              <a:ext uri="{FF2B5EF4-FFF2-40B4-BE49-F238E27FC236}">
                <a16:creationId xmlns:a16="http://schemas.microsoft.com/office/drawing/2014/main" id="{FCE91BB7-DB4C-4F95-ADC1-2757AA689645}"/>
              </a:ext>
            </a:extLst>
          </p:cNvPr>
          <p:cNvSpPr>
            <a:spLocks noGrp="1"/>
          </p:cNvSpPr>
          <p:nvPr>
            <p:ph type="body" sz="quarter" idx="51" hasCustomPrompt="1"/>
          </p:nvPr>
        </p:nvSpPr>
        <p:spPr>
          <a:xfrm>
            <a:off x="6805798" y="426209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65" name="Picture Placeholder 34">
            <a:extLst>
              <a:ext uri="{FF2B5EF4-FFF2-40B4-BE49-F238E27FC236}">
                <a16:creationId xmlns:a16="http://schemas.microsoft.com/office/drawing/2014/main" id="{7082A562-BADD-429E-BB11-8A40EE253FC4}"/>
              </a:ext>
            </a:extLst>
          </p:cNvPr>
          <p:cNvSpPr>
            <a:spLocks noGrp="1"/>
          </p:cNvSpPr>
          <p:nvPr>
            <p:ph type="pic" sz="quarter" idx="52" hasCustomPrompt="1"/>
          </p:nvPr>
        </p:nvSpPr>
        <p:spPr>
          <a:xfrm>
            <a:off x="8027987" y="5637179"/>
            <a:ext cx="887413" cy="889000"/>
          </a:xfrm>
        </p:spPr>
        <p:txBody>
          <a:bodyPr>
            <a:normAutofit/>
          </a:bodyPr>
          <a:lstStyle>
            <a:lvl1pPr marL="0" indent="0">
              <a:buNone/>
              <a:defRPr sz="1000"/>
            </a:lvl1pPr>
          </a:lstStyle>
          <a:p>
            <a:r>
              <a:rPr lang="en-US" dirty="0"/>
              <a:t>ICON</a:t>
            </a:r>
          </a:p>
        </p:txBody>
      </p:sp>
      <p:sp>
        <p:nvSpPr>
          <p:cNvPr id="66" name="Text Placeholder 39">
            <a:extLst>
              <a:ext uri="{FF2B5EF4-FFF2-40B4-BE49-F238E27FC236}">
                <a16:creationId xmlns:a16="http://schemas.microsoft.com/office/drawing/2014/main" id="{C8F3380A-C45C-44C2-BE84-98D3DADAEDA3}"/>
              </a:ext>
            </a:extLst>
          </p:cNvPr>
          <p:cNvSpPr>
            <a:spLocks noGrp="1"/>
          </p:cNvSpPr>
          <p:nvPr>
            <p:ph type="body" sz="quarter" idx="53"/>
          </p:nvPr>
        </p:nvSpPr>
        <p:spPr>
          <a:xfrm>
            <a:off x="9015178" y="6100437"/>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a:t>
            </a:r>
          </a:p>
        </p:txBody>
      </p:sp>
      <p:sp>
        <p:nvSpPr>
          <p:cNvPr id="67" name="Text Placeholder 46">
            <a:extLst>
              <a:ext uri="{FF2B5EF4-FFF2-40B4-BE49-F238E27FC236}">
                <a16:creationId xmlns:a16="http://schemas.microsoft.com/office/drawing/2014/main" id="{67C61256-88BA-4ADF-A3CB-77D1B459CAE6}"/>
              </a:ext>
            </a:extLst>
          </p:cNvPr>
          <p:cNvSpPr>
            <a:spLocks noGrp="1"/>
          </p:cNvSpPr>
          <p:nvPr>
            <p:ph type="body" sz="quarter" idx="54" hasCustomPrompt="1"/>
          </p:nvPr>
        </p:nvSpPr>
        <p:spPr>
          <a:xfrm>
            <a:off x="9015178" y="5697494"/>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2" name="Title 1">
            <a:extLst>
              <a:ext uri="{FF2B5EF4-FFF2-40B4-BE49-F238E27FC236}">
                <a16:creationId xmlns:a16="http://schemas.microsoft.com/office/drawing/2014/main" id="{791D5DA0-8F16-4F11-8B6E-A593133FA159}"/>
              </a:ext>
            </a:extLst>
          </p:cNvPr>
          <p:cNvSpPr>
            <a:spLocks noGrp="1"/>
          </p:cNvSpPr>
          <p:nvPr>
            <p:ph type="title"/>
          </p:nvPr>
        </p:nvSpPr>
        <p:spPr>
          <a:xfrm>
            <a:off x="5753098" y="457200"/>
            <a:ext cx="6096001" cy="601662"/>
          </a:xfrm>
        </p:spPr>
        <p:txBody>
          <a:bodyPr/>
          <a:lstStyle>
            <a:lvl1pPr algn="r">
              <a:defRPr/>
            </a:lvl1pPr>
          </a:lstStyle>
          <a:p>
            <a:r>
              <a:rPr lang="en-US"/>
              <a:t>Click to edit Master title style</a:t>
            </a:r>
          </a:p>
        </p:txBody>
      </p:sp>
      <p:sp>
        <p:nvSpPr>
          <p:cNvPr id="3" name="Slide Number Placeholder 3">
            <a:extLst>
              <a:ext uri="{FF2B5EF4-FFF2-40B4-BE49-F238E27FC236}">
                <a16:creationId xmlns:a16="http://schemas.microsoft.com/office/drawing/2014/main" id="{E40D6FF1-C525-7443-2DFE-1DECA7850AA3}"/>
              </a:ext>
            </a:extLst>
          </p:cNvPr>
          <p:cNvSpPr>
            <a:spLocks noGrp="1"/>
          </p:cNvSpPr>
          <p:nvPr>
            <p:ph type="sldNum" sz="quarter" idx="12"/>
          </p:nvPr>
        </p:nvSpPr>
        <p:spPr>
          <a:xfrm>
            <a:off x="11292840" y="6172200"/>
            <a:ext cx="914400" cy="593725"/>
          </a:xfrm>
        </p:spPr>
        <p:txBody>
          <a:bodyPr/>
          <a:lstStyle>
            <a:lvl1pPr>
              <a:defRPr>
                <a:highlight>
                  <a:srgbClr val="FFFF00"/>
                </a:highligh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6484168"/>
      </p:ext>
    </p:extLst>
  </p:cSld>
  <p:clrMapOvr>
    <a:masterClrMapping/>
  </p:clrMapOvr>
  <p:extLst>
    <p:ext uri="{DCECCB84-F9BA-43D5-87BE-67443E8EF086}">
      <p15:sldGuideLst xmlns:p15="http://schemas.microsoft.com/office/powerpoint/2012/main">
        <p15:guide id="1" pos="1920">
          <p15:clr>
            <a:srgbClr val="FBAE40"/>
          </p15:clr>
        </p15:guide>
        <p15:guide id="2" pos="3840">
          <p15:clr>
            <a:srgbClr val="FBAE40"/>
          </p15:clr>
        </p15:guide>
        <p15:guide id="3" pos="5760">
          <p15:clr>
            <a:srgbClr val="FBAE40"/>
          </p15:clr>
        </p15:guide>
        <p15:guide id="4" pos="3984">
          <p15:clr>
            <a:srgbClr val="5ACBF0"/>
          </p15:clr>
        </p15:guide>
        <p15:guide id="5" pos="3672">
          <p15:clr>
            <a:srgbClr val="5ACBF0"/>
          </p15:clr>
        </p15:guide>
        <p15:guide id="6" pos="2064">
          <p15:clr>
            <a:srgbClr val="5ACBF0"/>
          </p15:clr>
        </p15:guide>
        <p15:guide id="7" pos="1776">
          <p15:clr>
            <a:srgbClr val="5ACBF0"/>
          </p15:clr>
        </p15:guide>
        <p15:guide id="8" pos="5616">
          <p15:clr>
            <a:srgbClr val="5ACBF0"/>
          </p15:clr>
        </p15:guide>
        <p15:guide id="9" pos="5928">
          <p15:clr>
            <a:srgbClr val="5ACBF0"/>
          </p15:clr>
        </p15:guide>
        <p15:guide id="10" pos="144">
          <p15:clr>
            <a:srgbClr val="5ACBF0"/>
          </p15:clr>
        </p15:guide>
        <p15:guide id="11" orient="horz" pos="4200">
          <p15:clr>
            <a:srgbClr val="5ACBF0"/>
          </p15:clr>
        </p15:guide>
        <p15:guide id="12" pos="7536">
          <p15:clr>
            <a:srgbClr val="5ACBF0"/>
          </p15:clr>
        </p15:guide>
        <p15:guide id="13" orient="horz" pos="14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A71A1E7-EF1A-E14B-812A-DC52EADD09EF}" type="datetime1">
              <a:rPr lang="en-IN" smtClean="0"/>
              <a:t>03-07-2026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1766878-3199-4EAB-94E7-2D6D11070E14}" type="slidenum">
              <a:rPr lang="en-US" smtClean="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69481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8" Type="http://schemas.openxmlformats.org/officeDocument/2006/relationships/image" Target="../media/image21.jpeg"/><Relationship Id="rId13" Type="http://schemas.openxmlformats.org/officeDocument/2006/relationships/image" Target="../media/image26.jpeg"/><Relationship Id="rId3" Type="http://schemas.openxmlformats.org/officeDocument/2006/relationships/image" Target="../media/image16.jpeg"/><Relationship Id="rId7" Type="http://schemas.openxmlformats.org/officeDocument/2006/relationships/image" Target="../media/image20.jpeg"/><Relationship Id="rId12" Type="http://schemas.openxmlformats.org/officeDocument/2006/relationships/image" Target="../media/image25.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9.jpeg"/><Relationship Id="rId11" Type="http://schemas.openxmlformats.org/officeDocument/2006/relationships/image" Target="../media/image24.jpeg"/><Relationship Id="rId5" Type="http://schemas.openxmlformats.org/officeDocument/2006/relationships/image" Target="../media/image18.jpeg"/><Relationship Id="rId10" Type="http://schemas.openxmlformats.org/officeDocument/2006/relationships/image" Target="../media/image23.jpeg"/><Relationship Id="rId4" Type="http://schemas.openxmlformats.org/officeDocument/2006/relationships/image" Target="../media/image17.jpeg"/><Relationship Id="rId9" Type="http://schemas.openxmlformats.org/officeDocument/2006/relationships/image" Target="../media/image2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8.jpeg"/><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A2EF46-292C-659E-7746-BFCD64EA9139}"/>
              </a:ext>
            </a:extLst>
          </p:cNvPr>
          <p:cNvSpPr>
            <a:spLocks noGrp="1"/>
          </p:cNvSpPr>
          <p:nvPr>
            <p:ph type="title"/>
          </p:nvPr>
        </p:nvSpPr>
        <p:spPr/>
        <p:txBody>
          <a:bodyPr>
            <a:normAutofit/>
          </a:bodyPr>
          <a:lstStyle/>
          <a:p>
            <a:r>
              <a:rPr lang="en-GB" dirty="0"/>
              <a:t>Impact of British education on </a:t>
            </a:r>
            <a:r>
              <a:rPr lang="en-GB"/>
              <a:t>Indian society</a:t>
            </a:r>
            <a:endParaRPr lang="en-IN" dirty="0"/>
          </a:p>
        </p:txBody>
      </p:sp>
      <p:sp>
        <p:nvSpPr>
          <p:cNvPr id="5" name="Text Placeholder 4">
            <a:extLst>
              <a:ext uri="{FF2B5EF4-FFF2-40B4-BE49-F238E27FC236}">
                <a16:creationId xmlns:a16="http://schemas.microsoft.com/office/drawing/2014/main" id="{09AA3D67-3360-ABB4-B01A-B90018122058}"/>
              </a:ext>
            </a:extLst>
          </p:cNvPr>
          <p:cNvSpPr>
            <a:spLocks noGrp="1"/>
          </p:cNvSpPr>
          <p:nvPr>
            <p:ph type="body" idx="1"/>
          </p:nvPr>
        </p:nvSpPr>
        <p:spPr/>
        <p:txBody>
          <a:bodyPr/>
          <a:lstStyle/>
          <a:p>
            <a:endParaRPr lang="en-IN" dirty="0"/>
          </a:p>
        </p:txBody>
      </p:sp>
      <p:sp>
        <p:nvSpPr>
          <p:cNvPr id="3" name="Slide Number Placeholder 2">
            <a:extLst>
              <a:ext uri="{FF2B5EF4-FFF2-40B4-BE49-F238E27FC236}">
                <a16:creationId xmlns:a16="http://schemas.microsoft.com/office/drawing/2014/main" id="{6424FA22-733C-5773-28A7-A00F688F7DA0}"/>
              </a:ext>
            </a:extLst>
          </p:cNvPr>
          <p:cNvSpPr>
            <a:spLocks noGrp="1"/>
          </p:cNvSpPr>
          <p:nvPr>
            <p:ph type="sldNum" sz="quarter" idx="12"/>
          </p:nvPr>
        </p:nvSpPr>
        <p:spPr/>
        <p:txBody>
          <a:bodyPr/>
          <a:lstStyle/>
          <a:p>
            <a:fld id="{71766878-3199-4EAB-94E7-2D6D11070E14}" type="slidenum">
              <a:rPr lang="en-US" smtClean="0"/>
              <a:t>1</a:t>
            </a:fld>
            <a:endParaRPr lang="en-US" dirty="0"/>
          </a:p>
        </p:txBody>
      </p:sp>
    </p:spTree>
    <p:extLst>
      <p:ext uri="{BB962C8B-B14F-4D97-AF65-F5344CB8AC3E}">
        <p14:creationId xmlns:p14="http://schemas.microsoft.com/office/powerpoint/2010/main" val="938300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EB61EC-4B40-1D44-9D65-FCFCEF35CFF1}"/>
              </a:ext>
            </a:extLst>
          </p:cNvPr>
          <p:cNvPicPr>
            <a:picLocks noChangeAspect="1"/>
          </p:cNvPicPr>
          <p:nvPr/>
        </p:nvPicPr>
        <p:blipFill>
          <a:blip r:embed="rId3"/>
          <a:stretch>
            <a:fillRect/>
          </a:stretch>
        </p:blipFill>
        <p:spPr>
          <a:xfrm>
            <a:off x="0" y="996529"/>
            <a:ext cx="12192000" cy="5067457"/>
          </a:xfrm>
          <a:prstGeom prst="rect">
            <a:avLst/>
          </a:prstGeom>
        </p:spPr>
      </p:pic>
      <p:sp>
        <p:nvSpPr>
          <p:cNvPr id="3" name="TextBox 2">
            <a:extLst>
              <a:ext uri="{FF2B5EF4-FFF2-40B4-BE49-F238E27FC236}">
                <a16:creationId xmlns:a16="http://schemas.microsoft.com/office/drawing/2014/main" id="{AEAE03A1-4818-4E47-895F-A7435B27A749}"/>
              </a:ext>
            </a:extLst>
          </p:cNvPr>
          <p:cNvSpPr txBox="1"/>
          <p:nvPr/>
        </p:nvSpPr>
        <p:spPr>
          <a:xfrm>
            <a:off x="1410346" y="6261315"/>
            <a:ext cx="4731616" cy="369332"/>
          </a:xfrm>
          <a:prstGeom prst="rect">
            <a:avLst/>
          </a:prstGeom>
          <a:noFill/>
        </p:spPr>
        <p:txBody>
          <a:bodyPr wrap="none" rtlCol="0">
            <a:spAutoFit/>
          </a:bodyPr>
          <a:lstStyle/>
          <a:p>
            <a:r>
              <a:rPr lang="en-US" dirty="0"/>
              <a:t>TIMELINE- https://time.graphics/line/2337</a:t>
            </a:r>
          </a:p>
        </p:txBody>
      </p:sp>
      <p:sp>
        <p:nvSpPr>
          <p:cNvPr id="5" name="Title 4">
            <a:extLst>
              <a:ext uri="{FF2B5EF4-FFF2-40B4-BE49-F238E27FC236}">
                <a16:creationId xmlns:a16="http://schemas.microsoft.com/office/drawing/2014/main" id="{2A2E2C43-22E1-A189-FA84-C8A18927852E}"/>
              </a:ext>
            </a:extLst>
          </p:cNvPr>
          <p:cNvSpPr>
            <a:spLocks noGrp="1"/>
          </p:cNvSpPr>
          <p:nvPr>
            <p:ph type="title"/>
          </p:nvPr>
        </p:nvSpPr>
        <p:spPr>
          <a:xfrm>
            <a:off x="980928" y="117216"/>
            <a:ext cx="9720072" cy="681984"/>
          </a:xfrm>
        </p:spPr>
        <p:txBody>
          <a:bodyPr>
            <a:normAutofit fontScale="90000"/>
          </a:bodyPr>
          <a:lstStyle/>
          <a:p>
            <a:r>
              <a:rPr lang="en-IN" dirty="0"/>
              <a:t>TIMELINE OF EDUCATION IN COLONIAL INDIA</a:t>
            </a:r>
          </a:p>
        </p:txBody>
      </p:sp>
      <p:sp>
        <p:nvSpPr>
          <p:cNvPr id="4" name="Slide Number Placeholder 3">
            <a:extLst>
              <a:ext uri="{FF2B5EF4-FFF2-40B4-BE49-F238E27FC236}">
                <a16:creationId xmlns:a16="http://schemas.microsoft.com/office/drawing/2014/main" id="{ABF4FF98-CC34-C94D-8B47-79994D70D884}"/>
              </a:ext>
            </a:extLst>
          </p:cNvPr>
          <p:cNvSpPr>
            <a:spLocks noGrp="1"/>
          </p:cNvSpPr>
          <p:nvPr>
            <p:ph type="sldNum" sz="quarter" idx="12"/>
          </p:nvPr>
        </p:nvSpPr>
        <p:spPr/>
        <p:txBody>
          <a:bodyPr/>
          <a:lstStyle/>
          <a:p>
            <a:fld id="{AEC99F6A-E93D-4C9C-AA2B-FA96051C5F3E}" type="slidenum">
              <a:rPr lang="en-US" smtClean="0"/>
              <a:t>2</a:t>
            </a:fld>
            <a:endParaRPr lang="en-US"/>
          </a:p>
        </p:txBody>
      </p:sp>
    </p:spTree>
    <p:extLst>
      <p:ext uri="{BB962C8B-B14F-4D97-AF65-F5344CB8AC3E}">
        <p14:creationId xmlns:p14="http://schemas.microsoft.com/office/powerpoint/2010/main" val="3378591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119C48-2E75-CFCE-0C87-92877AF1BA5F}"/>
              </a:ext>
            </a:extLst>
          </p:cNvPr>
          <p:cNvSpPr>
            <a:spLocks noGrp="1"/>
          </p:cNvSpPr>
          <p:nvPr>
            <p:ph type="title"/>
          </p:nvPr>
        </p:nvSpPr>
        <p:spPr>
          <a:xfrm>
            <a:off x="901578" y="221336"/>
            <a:ext cx="9720072" cy="923464"/>
          </a:xfrm>
        </p:spPr>
        <p:txBody>
          <a:bodyPr>
            <a:normAutofit/>
          </a:bodyPr>
          <a:lstStyle/>
          <a:p>
            <a:r>
              <a:rPr lang="en-GB" sz="4000" dirty="0"/>
              <a:t>Effects of the WESTERN Education in BRITISH India </a:t>
            </a:r>
            <a:endParaRPr lang="en-IN" sz="4000" dirty="0"/>
          </a:p>
        </p:txBody>
      </p:sp>
      <p:sp>
        <p:nvSpPr>
          <p:cNvPr id="4" name="Slide Number Placeholder 3">
            <a:extLst>
              <a:ext uri="{FF2B5EF4-FFF2-40B4-BE49-F238E27FC236}">
                <a16:creationId xmlns:a16="http://schemas.microsoft.com/office/drawing/2014/main" id="{93E8D77E-C8EF-6ACA-71EF-BB59BDF48D17}"/>
              </a:ext>
            </a:extLst>
          </p:cNvPr>
          <p:cNvSpPr>
            <a:spLocks noGrp="1"/>
          </p:cNvSpPr>
          <p:nvPr>
            <p:ph type="sldNum" sz="quarter" idx="12"/>
          </p:nvPr>
        </p:nvSpPr>
        <p:spPr/>
        <p:txBody>
          <a:bodyPr/>
          <a:lstStyle/>
          <a:p>
            <a:fld id="{71766878-3199-4EAB-94E7-2D6D11070E14}" type="slidenum">
              <a:rPr lang="en-US" smtClean="0"/>
              <a:pPr/>
              <a:t>3</a:t>
            </a:fld>
            <a:endParaRPr lang="en-US" dirty="0"/>
          </a:p>
        </p:txBody>
      </p:sp>
      <p:sp>
        <p:nvSpPr>
          <p:cNvPr id="7" name="TextBox 6">
            <a:extLst>
              <a:ext uri="{FF2B5EF4-FFF2-40B4-BE49-F238E27FC236}">
                <a16:creationId xmlns:a16="http://schemas.microsoft.com/office/drawing/2014/main" id="{8369E90D-85C3-CD36-EA34-1E81909EE245}"/>
              </a:ext>
            </a:extLst>
          </p:cNvPr>
          <p:cNvSpPr txBox="1"/>
          <p:nvPr/>
        </p:nvSpPr>
        <p:spPr>
          <a:xfrm>
            <a:off x="198979" y="1961932"/>
            <a:ext cx="6094800" cy="369332"/>
          </a:xfrm>
          <a:prstGeom prst="rect">
            <a:avLst/>
          </a:prstGeom>
          <a:noFill/>
        </p:spPr>
        <p:txBody>
          <a:bodyPr wrap="square">
            <a:spAutoFit/>
          </a:bodyPr>
          <a:lstStyle/>
          <a:p>
            <a:r>
              <a:rPr lang="en-GB" b="1" dirty="0"/>
              <a:t>Impact on Literature, Society, Religion, and Politics</a:t>
            </a:r>
            <a:endParaRPr lang="en-IN" b="1" dirty="0"/>
          </a:p>
        </p:txBody>
      </p:sp>
      <p:sp>
        <p:nvSpPr>
          <p:cNvPr id="9" name="TextBox 8">
            <a:extLst>
              <a:ext uri="{FF2B5EF4-FFF2-40B4-BE49-F238E27FC236}">
                <a16:creationId xmlns:a16="http://schemas.microsoft.com/office/drawing/2014/main" id="{9F6F855C-CC22-5447-922F-71298B2FBE72}"/>
              </a:ext>
            </a:extLst>
          </p:cNvPr>
          <p:cNvSpPr txBox="1"/>
          <p:nvPr/>
        </p:nvSpPr>
        <p:spPr>
          <a:xfrm>
            <a:off x="1729800" y="6286038"/>
            <a:ext cx="6094800" cy="369332"/>
          </a:xfrm>
          <a:prstGeom prst="rect">
            <a:avLst/>
          </a:prstGeom>
          <a:noFill/>
        </p:spPr>
        <p:txBody>
          <a:bodyPr wrap="square">
            <a:spAutoFit/>
          </a:bodyPr>
          <a:lstStyle/>
          <a:p>
            <a:r>
              <a:rPr lang="en-US" dirty="0"/>
              <a:t>https://time.graphics/line/2337</a:t>
            </a:r>
          </a:p>
        </p:txBody>
      </p:sp>
      <p:pic>
        <p:nvPicPr>
          <p:cNvPr id="11" name="Picture 10">
            <a:extLst>
              <a:ext uri="{FF2B5EF4-FFF2-40B4-BE49-F238E27FC236}">
                <a16:creationId xmlns:a16="http://schemas.microsoft.com/office/drawing/2014/main" id="{6C6B73C4-E9B9-6B90-9717-A60A6ABBA3DD}"/>
              </a:ext>
            </a:extLst>
          </p:cNvPr>
          <p:cNvPicPr>
            <a:picLocks noChangeAspect="1"/>
          </p:cNvPicPr>
          <p:nvPr/>
        </p:nvPicPr>
        <p:blipFill>
          <a:blip r:embed="rId3"/>
          <a:srcRect b="13375"/>
          <a:stretch/>
        </p:blipFill>
        <p:spPr>
          <a:xfrm>
            <a:off x="7973258" y="971144"/>
            <a:ext cx="1723908" cy="2466975"/>
          </a:xfrm>
          <a:prstGeom prst="rect">
            <a:avLst/>
          </a:prstGeom>
        </p:spPr>
      </p:pic>
      <p:pic>
        <p:nvPicPr>
          <p:cNvPr id="12" name="Picture 11">
            <a:extLst>
              <a:ext uri="{FF2B5EF4-FFF2-40B4-BE49-F238E27FC236}">
                <a16:creationId xmlns:a16="http://schemas.microsoft.com/office/drawing/2014/main" id="{83C77BA2-6744-229A-9DB1-ABC66F2274F9}"/>
              </a:ext>
            </a:extLst>
          </p:cNvPr>
          <p:cNvPicPr>
            <a:picLocks noChangeAspect="1"/>
          </p:cNvPicPr>
          <p:nvPr/>
        </p:nvPicPr>
        <p:blipFill>
          <a:blip r:embed="rId4"/>
          <a:stretch>
            <a:fillRect/>
          </a:stretch>
        </p:blipFill>
        <p:spPr>
          <a:xfrm>
            <a:off x="5591179" y="971144"/>
            <a:ext cx="2131033" cy="2546584"/>
          </a:xfrm>
          <a:prstGeom prst="rect">
            <a:avLst/>
          </a:prstGeom>
        </p:spPr>
      </p:pic>
      <p:pic>
        <p:nvPicPr>
          <p:cNvPr id="12290" name="Picture 2" descr="Remembering Dadabhai Naoroji on his ...">
            <a:extLst>
              <a:ext uri="{FF2B5EF4-FFF2-40B4-BE49-F238E27FC236}">
                <a16:creationId xmlns:a16="http://schemas.microsoft.com/office/drawing/2014/main" id="{038AFE8E-6743-6C3B-14DF-B5BDDB9174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3150" y="974919"/>
            <a:ext cx="1847850" cy="246697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Madras Musings - We care for Madras that is Chennai">
            <a:extLst>
              <a:ext uri="{FF2B5EF4-FFF2-40B4-BE49-F238E27FC236}">
                <a16:creationId xmlns:a16="http://schemas.microsoft.com/office/drawing/2014/main" id="{90609BCB-5CBC-0E4D-993A-058A140536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15" y="2484885"/>
            <a:ext cx="5162550" cy="3314700"/>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Savitribai and Jyotirao Phule">
            <a:extLst>
              <a:ext uri="{FF2B5EF4-FFF2-40B4-BE49-F238E27FC236}">
                <a16:creationId xmlns:a16="http://schemas.microsoft.com/office/drawing/2014/main" id="{4CDA7D57-66E3-832E-602E-0057E7CE95F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1979" y="4396450"/>
            <a:ext cx="3399559" cy="1889588"/>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Annie Besant Death Anniversary: Know about British socialist who supported  Indian independence movement">
            <a:extLst>
              <a:ext uri="{FF2B5EF4-FFF2-40B4-BE49-F238E27FC236}">
                <a16:creationId xmlns:a16="http://schemas.microsoft.com/office/drawing/2014/main" id="{DC916F04-9DED-0982-F88B-F6504F1A51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88022" y="4533250"/>
            <a:ext cx="1903943" cy="1665950"/>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mar 30, 1849 - JED Bethune - Female Education (Timeline)">
            <a:extLst>
              <a:ext uri="{FF2B5EF4-FFF2-40B4-BE49-F238E27FC236}">
                <a16:creationId xmlns:a16="http://schemas.microsoft.com/office/drawing/2014/main" id="{A19B3C4D-ACD6-1BF8-1B03-B8511809433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54855" y="4410850"/>
            <a:ext cx="1760250" cy="1760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9099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75E881-0B91-69E0-2492-B37A4C68690A}"/>
              </a:ext>
            </a:extLst>
          </p:cNvPr>
          <p:cNvSpPr>
            <a:spLocks noGrp="1"/>
          </p:cNvSpPr>
          <p:nvPr>
            <p:ph type="title"/>
          </p:nvPr>
        </p:nvSpPr>
        <p:spPr>
          <a:xfrm>
            <a:off x="721728" y="581267"/>
            <a:ext cx="9720072" cy="1499616"/>
          </a:xfrm>
        </p:spPr>
        <p:txBody>
          <a:bodyPr/>
          <a:lstStyle/>
          <a:p>
            <a:r>
              <a:rPr lang="en-GB" dirty="0"/>
              <a:t>Growth of Literature and Press</a:t>
            </a:r>
            <a:endParaRPr lang="en-IN" dirty="0"/>
          </a:p>
        </p:txBody>
      </p:sp>
      <p:sp>
        <p:nvSpPr>
          <p:cNvPr id="5" name="Content Placeholder 4">
            <a:extLst>
              <a:ext uri="{FF2B5EF4-FFF2-40B4-BE49-F238E27FC236}">
                <a16:creationId xmlns:a16="http://schemas.microsoft.com/office/drawing/2014/main" id="{3660574A-7B98-10AE-B14E-7D8F43A98877}"/>
              </a:ext>
            </a:extLst>
          </p:cNvPr>
          <p:cNvSpPr>
            <a:spLocks noGrp="1"/>
          </p:cNvSpPr>
          <p:nvPr>
            <p:ph idx="1"/>
          </p:nvPr>
        </p:nvSpPr>
        <p:spPr>
          <a:xfrm>
            <a:off x="491329" y="2084832"/>
            <a:ext cx="4666272" cy="4023360"/>
          </a:xfrm>
        </p:spPr>
        <p:txBody>
          <a:bodyPr>
            <a:normAutofit fontScale="92500" lnSpcReduction="10000"/>
          </a:bodyPr>
          <a:lstStyle/>
          <a:p>
            <a:r>
              <a:rPr lang="en-GB" sz="2000" b="1" dirty="0"/>
              <a:t>Missionaries' Role: </a:t>
            </a:r>
            <a:r>
              <a:rPr lang="en-GB" sz="2000" dirty="0"/>
              <a:t>Started the first printing press and newspapers. </a:t>
            </a:r>
          </a:p>
          <a:p>
            <a:endParaRPr lang="en-GB" sz="2000" b="1" dirty="0"/>
          </a:p>
          <a:p>
            <a:r>
              <a:rPr lang="en-GB" sz="2000" b="1" dirty="0"/>
              <a:t>Company &amp; Government's Role: </a:t>
            </a:r>
            <a:r>
              <a:rPr lang="en-GB" sz="2000" dirty="0"/>
              <a:t>Publishing of books in Indian languages.</a:t>
            </a:r>
          </a:p>
          <a:p>
            <a:endParaRPr lang="en-GB" sz="2000" dirty="0"/>
          </a:p>
          <a:p>
            <a:r>
              <a:rPr lang="en-GB" sz="2000" b="1" dirty="0"/>
              <a:t>Private Enterprise: </a:t>
            </a:r>
            <a:r>
              <a:rPr lang="en-GB" sz="2000" dirty="0"/>
              <a:t>Educated Indians formed societies to publish books and newspapers.</a:t>
            </a:r>
          </a:p>
          <a:p>
            <a:endParaRPr lang="en-GB" sz="2000" dirty="0"/>
          </a:p>
          <a:p>
            <a:pPr marL="0" indent="0">
              <a:buNone/>
            </a:pPr>
            <a:r>
              <a:rPr lang="en-GB" sz="2000" b="1" dirty="0"/>
              <a:t>Development of modern Indian literature and a growing press.</a:t>
            </a:r>
            <a:endParaRPr lang="en-IN" sz="2000" b="1" dirty="0"/>
          </a:p>
        </p:txBody>
      </p:sp>
      <p:sp>
        <p:nvSpPr>
          <p:cNvPr id="3" name="Slide Number Placeholder 2">
            <a:extLst>
              <a:ext uri="{FF2B5EF4-FFF2-40B4-BE49-F238E27FC236}">
                <a16:creationId xmlns:a16="http://schemas.microsoft.com/office/drawing/2014/main" id="{55C6B669-41AE-CA90-02FE-8073B8563CF7}"/>
              </a:ext>
            </a:extLst>
          </p:cNvPr>
          <p:cNvSpPr>
            <a:spLocks noGrp="1"/>
          </p:cNvSpPr>
          <p:nvPr>
            <p:ph type="sldNum" sz="quarter" idx="12"/>
          </p:nvPr>
        </p:nvSpPr>
        <p:spPr/>
        <p:txBody>
          <a:bodyPr/>
          <a:lstStyle/>
          <a:p>
            <a:fld id="{71766878-3199-4EAB-94E7-2D6D11070E14}" type="slidenum">
              <a:rPr lang="en-US" smtClean="0"/>
              <a:t>4</a:t>
            </a:fld>
            <a:endParaRPr lang="en-US" dirty="0"/>
          </a:p>
        </p:txBody>
      </p:sp>
      <p:pic>
        <p:nvPicPr>
          <p:cNvPr id="10" name="Picture 9">
            <a:extLst>
              <a:ext uri="{FF2B5EF4-FFF2-40B4-BE49-F238E27FC236}">
                <a16:creationId xmlns:a16="http://schemas.microsoft.com/office/drawing/2014/main" id="{272E2DD9-57BE-F8D4-0CB4-F7B0E4134108}"/>
              </a:ext>
            </a:extLst>
          </p:cNvPr>
          <p:cNvPicPr>
            <a:picLocks noChangeAspect="1"/>
          </p:cNvPicPr>
          <p:nvPr/>
        </p:nvPicPr>
        <p:blipFill>
          <a:blip r:embed="rId3"/>
          <a:stretch>
            <a:fillRect/>
          </a:stretch>
        </p:blipFill>
        <p:spPr>
          <a:xfrm>
            <a:off x="8012574" y="229678"/>
            <a:ext cx="2201388" cy="2750725"/>
          </a:xfrm>
          <a:prstGeom prst="rect">
            <a:avLst/>
          </a:prstGeom>
        </p:spPr>
      </p:pic>
      <p:pic>
        <p:nvPicPr>
          <p:cNvPr id="7" name="Picture 6">
            <a:extLst>
              <a:ext uri="{FF2B5EF4-FFF2-40B4-BE49-F238E27FC236}">
                <a16:creationId xmlns:a16="http://schemas.microsoft.com/office/drawing/2014/main" id="{2F3941A2-EBC4-47DB-D19A-DD26E45E62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29161" y="226718"/>
            <a:ext cx="1481839" cy="280348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No photo description available.">
            <a:extLst>
              <a:ext uri="{FF2B5EF4-FFF2-40B4-BE49-F238E27FC236}">
                <a16:creationId xmlns:a16="http://schemas.microsoft.com/office/drawing/2014/main" id="{5D5945E4-E9F3-5F6E-D4D0-9AFE6446B45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2897"/>
          <a:stretch/>
        </p:blipFill>
        <p:spPr bwMode="auto">
          <a:xfrm>
            <a:off x="6195539" y="3148435"/>
            <a:ext cx="2749948" cy="3128298"/>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a:extLst>
              <a:ext uri="{FF2B5EF4-FFF2-40B4-BE49-F238E27FC236}">
                <a16:creationId xmlns:a16="http://schemas.microsoft.com/office/drawing/2014/main" id="{E843123E-3BA3-7EE8-4930-83B352C7BE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74080" y="2900427"/>
            <a:ext cx="2025120" cy="332516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3EFD184-FE7D-BA95-5E65-7DF6D8C7B07D}"/>
              </a:ext>
            </a:extLst>
          </p:cNvPr>
          <p:cNvSpPr txBox="1"/>
          <p:nvPr/>
        </p:nvSpPr>
        <p:spPr>
          <a:xfrm>
            <a:off x="1814400" y="6531520"/>
            <a:ext cx="9329400" cy="276999"/>
          </a:xfrm>
          <a:prstGeom prst="rect">
            <a:avLst/>
          </a:prstGeom>
          <a:noFill/>
        </p:spPr>
        <p:txBody>
          <a:bodyPr wrap="square">
            <a:spAutoFit/>
          </a:bodyPr>
          <a:lstStyle/>
          <a:p>
            <a:r>
              <a:rPr lang="en-IN" sz="1200" dirty="0"/>
              <a:t>https://scroll.in/article/1003081/how-an-1822-publication-by-the-calcutta-school-book-society-brought-animal-biographies-to-students</a:t>
            </a:r>
          </a:p>
        </p:txBody>
      </p:sp>
    </p:spTree>
    <p:extLst>
      <p:ext uri="{BB962C8B-B14F-4D97-AF65-F5344CB8AC3E}">
        <p14:creationId xmlns:p14="http://schemas.microsoft.com/office/powerpoint/2010/main" val="2719060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62065-E6BA-9DDD-4C31-0935336C160C}"/>
              </a:ext>
            </a:extLst>
          </p:cNvPr>
          <p:cNvSpPr>
            <a:spLocks noGrp="1"/>
          </p:cNvSpPr>
          <p:nvPr>
            <p:ph type="title"/>
          </p:nvPr>
        </p:nvSpPr>
        <p:spPr/>
        <p:txBody>
          <a:bodyPr/>
          <a:lstStyle/>
          <a:p>
            <a:r>
              <a:rPr lang="en-IN" dirty="0"/>
              <a:t>Social and Religious Reforms</a:t>
            </a:r>
          </a:p>
        </p:txBody>
      </p:sp>
      <p:sp>
        <p:nvSpPr>
          <p:cNvPr id="3" name="Content Placeholder 2">
            <a:extLst>
              <a:ext uri="{FF2B5EF4-FFF2-40B4-BE49-F238E27FC236}">
                <a16:creationId xmlns:a16="http://schemas.microsoft.com/office/drawing/2014/main" id="{7C6DF7A6-1FF2-0B83-01EB-D48467C36D80}"/>
              </a:ext>
            </a:extLst>
          </p:cNvPr>
          <p:cNvSpPr>
            <a:spLocks noGrp="1"/>
          </p:cNvSpPr>
          <p:nvPr>
            <p:ph idx="1"/>
          </p:nvPr>
        </p:nvSpPr>
        <p:spPr>
          <a:xfrm>
            <a:off x="390529" y="2163600"/>
            <a:ext cx="5959872" cy="4023360"/>
          </a:xfrm>
        </p:spPr>
        <p:txBody>
          <a:bodyPr>
            <a:normAutofit fontScale="92500"/>
          </a:bodyPr>
          <a:lstStyle/>
          <a:p>
            <a:r>
              <a:rPr lang="en-IN" sz="2400" dirty="0"/>
              <a:t>Strengthened movements for caste reform, widow remarriage, and the abolition of untouchability.</a:t>
            </a:r>
          </a:p>
          <a:p>
            <a:endParaRPr lang="en-IN" sz="2400" dirty="0"/>
          </a:p>
          <a:p>
            <a:r>
              <a:rPr lang="en-IN" sz="2400" b="1" dirty="0"/>
              <a:t>Key Reform Movements:</a:t>
            </a:r>
            <a:r>
              <a:rPr lang="en-IN" sz="2400" dirty="0"/>
              <a:t> </a:t>
            </a:r>
            <a:r>
              <a:rPr lang="en-IN" sz="2400" b="1" dirty="0"/>
              <a:t>Brahmo Samaj</a:t>
            </a:r>
            <a:r>
              <a:rPr lang="en-IN" sz="2400" dirty="0"/>
              <a:t> (Raja Ram Mohan Roy</a:t>
            </a:r>
            <a:r>
              <a:rPr lang="en-IN" sz="2400" b="1" dirty="0"/>
              <a:t>), Arya Samaj</a:t>
            </a:r>
            <a:r>
              <a:rPr lang="en-IN" sz="2400" dirty="0"/>
              <a:t> (Swami Dayanand Saraswati) </a:t>
            </a:r>
            <a:r>
              <a:rPr lang="en-IN" sz="2400" b="1" dirty="0"/>
              <a:t>Ramakrishna Mission </a:t>
            </a:r>
            <a:r>
              <a:rPr lang="en-IN" sz="2400" dirty="0"/>
              <a:t>(Swami Vivekananda)</a:t>
            </a:r>
          </a:p>
          <a:p>
            <a:endParaRPr lang="en-IN" sz="2400" dirty="0"/>
          </a:p>
          <a:p>
            <a:r>
              <a:rPr lang="en-IN" sz="2400" dirty="0"/>
              <a:t>Step towards modernization of Hindu society and rejection of orthodox traditions.</a:t>
            </a:r>
          </a:p>
        </p:txBody>
      </p:sp>
      <p:sp>
        <p:nvSpPr>
          <p:cNvPr id="4" name="Slide Number Placeholder 3">
            <a:extLst>
              <a:ext uri="{FF2B5EF4-FFF2-40B4-BE49-F238E27FC236}">
                <a16:creationId xmlns:a16="http://schemas.microsoft.com/office/drawing/2014/main" id="{836E0990-2173-8C2C-FFD1-1B9A015F8722}"/>
              </a:ext>
            </a:extLst>
          </p:cNvPr>
          <p:cNvSpPr>
            <a:spLocks noGrp="1"/>
          </p:cNvSpPr>
          <p:nvPr>
            <p:ph type="sldNum" sz="quarter" idx="12"/>
          </p:nvPr>
        </p:nvSpPr>
        <p:spPr/>
        <p:txBody>
          <a:bodyPr/>
          <a:lstStyle/>
          <a:p>
            <a:fld id="{71766878-3199-4EAB-94E7-2D6D11070E14}" type="slidenum">
              <a:rPr lang="en-US" smtClean="0"/>
              <a:t>5</a:t>
            </a:fld>
            <a:endParaRPr lang="en-US" dirty="0"/>
          </a:p>
        </p:txBody>
      </p:sp>
      <p:pic>
        <p:nvPicPr>
          <p:cNvPr id="6" name="Picture 5">
            <a:extLst>
              <a:ext uri="{FF2B5EF4-FFF2-40B4-BE49-F238E27FC236}">
                <a16:creationId xmlns:a16="http://schemas.microsoft.com/office/drawing/2014/main" id="{D74F94AA-1D62-26EC-B2F1-CD16C375F4C4}"/>
              </a:ext>
            </a:extLst>
          </p:cNvPr>
          <p:cNvPicPr>
            <a:picLocks noChangeAspect="1"/>
          </p:cNvPicPr>
          <p:nvPr/>
        </p:nvPicPr>
        <p:blipFill>
          <a:blip r:embed="rId2"/>
          <a:srcRect b="13375"/>
          <a:stretch/>
        </p:blipFill>
        <p:spPr>
          <a:xfrm>
            <a:off x="6478692" y="1885544"/>
            <a:ext cx="1723908" cy="2466975"/>
          </a:xfrm>
          <a:prstGeom prst="rect">
            <a:avLst/>
          </a:prstGeom>
        </p:spPr>
      </p:pic>
      <p:pic>
        <p:nvPicPr>
          <p:cNvPr id="4099" name="Picture 3" descr="Swami Dayananda Saraswati">
            <a:extLst>
              <a:ext uri="{FF2B5EF4-FFF2-40B4-BE49-F238E27FC236}">
                <a16:creationId xmlns:a16="http://schemas.microsoft.com/office/drawing/2014/main" id="{571E5763-96E6-CDD0-2C5D-5A85944B07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4932" y="1804343"/>
            <a:ext cx="1633350" cy="2828666"/>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Swami Vivekananda - Wikipedia">
            <a:extLst>
              <a:ext uri="{FF2B5EF4-FFF2-40B4-BE49-F238E27FC236}">
                <a16:creationId xmlns:a16="http://schemas.microsoft.com/office/drawing/2014/main" id="{11EE7F0B-72D6-A812-0912-449B15826E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91973" y="1702919"/>
            <a:ext cx="1931386" cy="264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0076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7076729-9EDF-B64F-8D85-F252E6A3C9BC}"/>
              </a:ext>
            </a:extLst>
          </p:cNvPr>
          <p:cNvSpPr>
            <a:spLocks noGrp="1"/>
          </p:cNvSpPr>
          <p:nvPr>
            <p:ph type="sldNum" sz="quarter" idx="12"/>
          </p:nvPr>
        </p:nvSpPr>
        <p:spPr/>
        <p:txBody>
          <a:bodyPr/>
          <a:lstStyle/>
          <a:p>
            <a:fld id="{AEC99F6A-E93D-4C9C-AA2B-FA96051C5F3E}" type="slidenum">
              <a:rPr lang="en-US" smtClean="0"/>
              <a:t>6</a:t>
            </a:fld>
            <a:endParaRPr lang="en-US"/>
          </a:p>
        </p:txBody>
      </p:sp>
      <p:pic>
        <p:nvPicPr>
          <p:cNvPr id="1026" name="Picture 2" descr="Viceroy Lord Ripon who won the heart and soul of Indians - Navrang India">
            <a:extLst>
              <a:ext uri="{FF2B5EF4-FFF2-40B4-BE49-F238E27FC236}">
                <a16:creationId xmlns:a16="http://schemas.microsoft.com/office/drawing/2014/main" id="{86599E28-8BDF-1046-9CC5-63D979F6E3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9222" y="219141"/>
            <a:ext cx="1714759" cy="236636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5D84F03-653A-1C4B-B1F2-E7C06A48F415}"/>
              </a:ext>
            </a:extLst>
          </p:cNvPr>
          <p:cNvSpPr txBox="1"/>
          <p:nvPr/>
        </p:nvSpPr>
        <p:spPr>
          <a:xfrm>
            <a:off x="7914288" y="2665162"/>
            <a:ext cx="1444626" cy="646331"/>
          </a:xfrm>
          <a:prstGeom prst="rect">
            <a:avLst/>
          </a:prstGeom>
          <a:noFill/>
        </p:spPr>
        <p:txBody>
          <a:bodyPr wrap="none" rtlCol="0">
            <a:spAutoFit/>
          </a:bodyPr>
          <a:lstStyle/>
          <a:p>
            <a:r>
              <a:rPr lang="en-US" b="1" dirty="0"/>
              <a:t>Lord Ripon</a:t>
            </a:r>
          </a:p>
          <a:p>
            <a:r>
              <a:rPr lang="en-IN" b="1" dirty="0"/>
              <a:t>1880-1884</a:t>
            </a:r>
            <a:endParaRPr lang="en-US" b="1" dirty="0"/>
          </a:p>
        </p:txBody>
      </p:sp>
      <p:pic>
        <p:nvPicPr>
          <p:cNvPr id="1028" name="Picture 4" descr="Lord Canning - india, lord, canning, history, british, company, east">
            <a:extLst>
              <a:ext uri="{FF2B5EF4-FFF2-40B4-BE49-F238E27FC236}">
                <a16:creationId xmlns:a16="http://schemas.microsoft.com/office/drawing/2014/main" id="{F85F06EE-7D4F-2A41-9B7E-806B9232AE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100" y="290677"/>
            <a:ext cx="1884289" cy="229483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6E4B1F8-376E-B941-B508-FB9136D24A44}"/>
              </a:ext>
            </a:extLst>
          </p:cNvPr>
          <p:cNvSpPr txBox="1"/>
          <p:nvPr/>
        </p:nvSpPr>
        <p:spPr>
          <a:xfrm>
            <a:off x="527248" y="2727120"/>
            <a:ext cx="1745991" cy="646331"/>
          </a:xfrm>
          <a:prstGeom prst="rect">
            <a:avLst/>
          </a:prstGeom>
          <a:noFill/>
        </p:spPr>
        <p:txBody>
          <a:bodyPr wrap="none" rtlCol="0">
            <a:spAutoFit/>
          </a:bodyPr>
          <a:lstStyle/>
          <a:p>
            <a:r>
              <a:rPr lang="en-US" b="1" dirty="0"/>
              <a:t>Lord Canning</a:t>
            </a:r>
          </a:p>
          <a:p>
            <a:r>
              <a:rPr lang="en-US" b="1" dirty="0"/>
              <a:t>1858-63</a:t>
            </a:r>
          </a:p>
        </p:txBody>
      </p:sp>
      <p:pic>
        <p:nvPicPr>
          <p:cNvPr id="1030" name="Picture 6" descr="Mayo, Lord - Banglapedia">
            <a:extLst>
              <a:ext uri="{FF2B5EF4-FFF2-40B4-BE49-F238E27FC236}">
                <a16:creationId xmlns:a16="http://schemas.microsoft.com/office/drawing/2014/main" id="{D1C17157-5140-394B-8D4A-1BCF3D4AE9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6925" y="274292"/>
            <a:ext cx="1805672" cy="223053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BAC38A1-A3C6-C24B-AC11-B19E64777C68}"/>
              </a:ext>
            </a:extLst>
          </p:cNvPr>
          <p:cNvSpPr txBox="1"/>
          <p:nvPr/>
        </p:nvSpPr>
        <p:spPr>
          <a:xfrm>
            <a:off x="3208142" y="2665162"/>
            <a:ext cx="1403974" cy="646331"/>
          </a:xfrm>
          <a:prstGeom prst="rect">
            <a:avLst/>
          </a:prstGeom>
          <a:noFill/>
        </p:spPr>
        <p:txBody>
          <a:bodyPr wrap="none" rtlCol="0">
            <a:spAutoFit/>
          </a:bodyPr>
          <a:lstStyle/>
          <a:p>
            <a:r>
              <a:rPr lang="en-US" b="1" dirty="0"/>
              <a:t>Lord Mayo</a:t>
            </a:r>
          </a:p>
          <a:p>
            <a:r>
              <a:rPr lang="en-IN" b="1" dirty="0"/>
              <a:t>1869-72</a:t>
            </a:r>
            <a:endParaRPr lang="en-US" b="1" dirty="0"/>
          </a:p>
        </p:txBody>
      </p:sp>
      <p:sp>
        <p:nvSpPr>
          <p:cNvPr id="13" name="Rectangle 12">
            <a:extLst>
              <a:ext uri="{FF2B5EF4-FFF2-40B4-BE49-F238E27FC236}">
                <a16:creationId xmlns:a16="http://schemas.microsoft.com/office/drawing/2014/main" id="{E78E74E1-0EAE-7343-8753-017F8796428D}"/>
              </a:ext>
            </a:extLst>
          </p:cNvPr>
          <p:cNvSpPr/>
          <p:nvPr/>
        </p:nvSpPr>
        <p:spPr>
          <a:xfrm>
            <a:off x="5681897" y="2668394"/>
            <a:ext cx="1497746" cy="646331"/>
          </a:xfrm>
          <a:prstGeom prst="rect">
            <a:avLst/>
          </a:prstGeom>
        </p:spPr>
        <p:txBody>
          <a:bodyPr wrap="square">
            <a:spAutoFit/>
          </a:bodyPr>
          <a:lstStyle/>
          <a:p>
            <a:r>
              <a:rPr lang="en-US" dirty="0"/>
              <a:t>Lord Lytton</a:t>
            </a:r>
          </a:p>
          <a:p>
            <a:r>
              <a:rPr lang="en-US" dirty="0"/>
              <a:t>1876-1880</a:t>
            </a:r>
          </a:p>
        </p:txBody>
      </p:sp>
      <p:pic>
        <p:nvPicPr>
          <p:cNvPr id="1033" name="Picture 9" descr="Robert Bulwer-Lytton, 1st Earl of Lytton - Wikipedia">
            <a:extLst>
              <a:ext uri="{FF2B5EF4-FFF2-40B4-BE49-F238E27FC236}">
                <a16:creationId xmlns:a16="http://schemas.microsoft.com/office/drawing/2014/main" id="{CEAC068D-83EF-A949-8124-8E99E4274E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25841" y="295515"/>
            <a:ext cx="1809858" cy="2204736"/>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45EFB555-BF59-9F45-AAF5-A380A07B8E8F}"/>
              </a:ext>
            </a:extLst>
          </p:cNvPr>
          <p:cNvSpPr/>
          <p:nvPr/>
        </p:nvSpPr>
        <p:spPr>
          <a:xfrm>
            <a:off x="9946995" y="2585509"/>
            <a:ext cx="1918730" cy="646331"/>
          </a:xfrm>
          <a:prstGeom prst="rect">
            <a:avLst/>
          </a:prstGeom>
        </p:spPr>
        <p:txBody>
          <a:bodyPr wrap="none">
            <a:spAutoFit/>
          </a:bodyPr>
          <a:lstStyle/>
          <a:p>
            <a:r>
              <a:rPr lang="en-US" dirty="0"/>
              <a:t>Lord Lansdowne</a:t>
            </a:r>
          </a:p>
          <a:p>
            <a:r>
              <a:rPr lang="en-US" dirty="0"/>
              <a:t>1888-1894</a:t>
            </a:r>
          </a:p>
        </p:txBody>
      </p:sp>
      <p:pic>
        <p:nvPicPr>
          <p:cNvPr id="1035" name="Picture 11" descr="Lord Lansdowne Archives - Destination Innovation">
            <a:extLst>
              <a:ext uri="{FF2B5EF4-FFF2-40B4-BE49-F238E27FC236}">
                <a16:creationId xmlns:a16="http://schemas.microsoft.com/office/drawing/2014/main" id="{D86E7D86-6A2B-FB4F-9C12-B2ABABF0A0B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25399" y="258002"/>
            <a:ext cx="1608787" cy="219532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9F615078-9A13-A345-B06D-3288947C4D9F}"/>
              </a:ext>
            </a:extLst>
          </p:cNvPr>
          <p:cNvPicPr>
            <a:picLocks noChangeAspect="1"/>
          </p:cNvPicPr>
          <p:nvPr/>
        </p:nvPicPr>
        <p:blipFill>
          <a:blip r:embed="rId8"/>
          <a:stretch>
            <a:fillRect/>
          </a:stretch>
        </p:blipFill>
        <p:spPr>
          <a:xfrm>
            <a:off x="6306530" y="3714275"/>
            <a:ext cx="1589066" cy="2282476"/>
          </a:xfrm>
          <a:prstGeom prst="rect">
            <a:avLst/>
          </a:prstGeom>
        </p:spPr>
      </p:pic>
      <p:sp>
        <p:nvSpPr>
          <p:cNvPr id="21" name="TextBox 20">
            <a:extLst>
              <a:ext uri="{FF2B5EF4-FFF2-40B4-BE49-F238E27FC236}">
                <a16:creationId xmlns:a16="http://schemas.microsoft.com/office/drawing/2014/main" id="{09797761-9373-3944-9C41-BEBEDC5FD5CA}"/>
              </a:ext>
            </a:extLst>
          </p:cNvPr>
          <p:cNvSpPr txBox="1"/>
          <p:nvPr/>
        </p:nvSpPr>
        <p:spPr>
          <a:xfrm>
            <a:off x="6100381" y="6012116"/>
            <a:ext cx="1835567" cy="338554"/>
          </a:xfrm>
          <a:prstGeom prst="rect">
            <a:avLst/>
          </a:prstGeom>
          <a:noFill/>
        </p:spPr>
        <p:txBody>
          <a:bodyPr wrap="none" rtlCol="0">
            <a:spAutoFit/>
          </a:bodyPr>
          <a:lstStyle/>
          <a:p>
            <a:r>
              <a:rPr lang="en-US" sz="1600" dirty="0" err="1"/>
              <a:t>Dadabhai</a:t>
            </a:r>
            <a:r>
              <a:rPr lang="en-US" sz="1600" dirty="0"/>
              <a:t> </a:t>
            </a:r>
            <a:r>
              <a:rPr lang="en-US" sz="1600" dirty="0" err="1"/>
              <a:t>Naoroji</a:t>
            </a:r>
            <a:endParaRPr lang="en-US" sz="1600" dirty="0"/>
          </a:p>
        </p:txBody>
      </p:sp>
      <p:pic>
        <p:nvPicPr>
          <p:cNvPr id="1039" name="Picture 15" descr="Sandipart: Mahatma Jyotiba Phule Indian activist | Indian freedom fighters,  Photoshop backgrounds free, Photo frame gallery">
            <a:extLst>
              <a:ext uri="{FF2B5EF4-FFF2-40B4-BE49-F238E27FC236}">
                <a16:creationId xmlns:a16="http://schemas.microsoft.com/office/drawing/2014/main" id="{F430A819-D31A-DD42-8E1E-F2E8A328371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614" y="3689613"/>
            <a:ext cx="1868675" cy="2333519"/>
          </a:xfrm>
          <a:prstGeom prst="rect">
            <a:avLst/>
          </a:prstGeom>
          <a:noFill/>
          <a:extLst>
            <a:ext uri="{909E8E84-426E-40DD-AFC4-6F175D3DCCD1}">
              <a14:hiddenFill xmlns:a14="http://schemas.microsoft.com/office/drawing/2010/main">
                <a:solidFill>
                  <a:srgbClr val="FFFFFF"/>
                </a:solidFill>
              </a14:hiddenFill>
            </a:ext>
          </a:extLst>
        </p:spPr>
      </p:pic>
      <p:pic>
        <p:nvPicPr>
          <p:cNvPr id="1043" name="Picture 19" descr="Syed Ahmad Khan - Wikipedia">
            <a:extLst>
              <a:ext uri="{FF2B5EF4-FFF2-40B4-BE49-F238E27FC236}">
                <a16:creationId xmlns:a16="http://schemas.microsoft.com/office/drawing/2014/main" id="{221642EF-1584-5042-86BB-074087C4D766}"/>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b="3014"/>
          <a:stretch/>
        </p:blipFill>
        <p:spPr bwMode="auto">
          <a:xfrm>
            <a:off x="8158048" y="3690153"/>
            <a:ext cx="1516846" cy="2244078"/>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AE436066-5082-8448-9B8D-05ADC78F4C62}"/>
              </a:ext>
            </a:extLst>
          </p:cNvPr>
          <p:cNvSpPr txBox="1"/>
          <p:nvPr/>
        </p:nvSpPr>
        <p:spPr>
          <a:xfrm>
            <a:off x="8185395" y="6023133"/>
            <a:ext cx="1649939" cy="584775"/>
          </a:xfrm>
          <a:prstGeom prst="rect">
            <a:avLst/>
          </a:prstGeom>
          <a:noFill/>
        </p:spPr>
        <p:txBody>
          <a:bodyPr wrap="none" rtlCol="0">
            <a:spAutoFit/>
          </a:bodyPr>
          <a:lstStyle/>
          <a:p>
            <a:pPr algn="ctr"/>
            <a:r>
              <a:rPr lang="en-US" sz="1600" dirty="0"/>
              <a:t>Sayyed Ahmed </a:t>
            </a:r>
          </a:p>
          <a:p>
            <a:pPr algn="ctr"/>
            <a:r>
              <a:rPr lang="en-US" sz="1600" dirty="0"/>
              <a:t>Khan</a:t>
            </a:r>
          </a:p>
        </p:txBody>
      </p:sp>
      <p:sp>
        <p:nvSpPr>
          <p:cNvPr id="32" name="TextBox 31">
            <a:extLst>
              <a:ext uri="{FF2B5EF4-FFF2-40B4-BE49-F238E27FC236}">
                <a16:creationId xmlns:a16="http://schemas.microsoft.com/office/drawing/2014/main" id="{3EC3764F-DD91-4E4C-A8A5-A20BA787EBF0}"/>
              </a:ext>
            </a:extLst>
          </p:cNvPr>
          <p:cNvSpPr txBox="1"/>
          <p:nvPr/>
        </p:nvSpPr>
        <p:spPr>
          <a:xfrm>
            <a:off x="382403" y="6043392"/>
            <a:ext cx="1475789" cy="338554"/>
          </a:xfrm>
          <a:prstGeom prst="rect">
            <a:avLst/>
          </a:prstGeom>
          <a:noFill/>
        </p:spPr>
        <p:txBody>
          <a:bodyPr wrap="none" rtlCol="0">
            <a:spAutoFit/>
          </a:bodyPr>
          <a:lstStyle/>
          <a:p>
            <a:r>
              <a:rPr lang="en-US" sz="1600" dirty="0" err="1"/>
              <a:t>Jyotirao</a:t>
            </a:r>
            <a:r>
              <a:rPr lang="en-US" sz="1600" dirty="0"/>
              <a:t> Phule</a:t>
            </a:r>
          </a:p>
        </p:txBody>
      </p:sp>
      <p:pic>
        <p:nvPicPr>
          <p:cNvPr id="1047" name="Picture 23" descr="About Tarabai Shinde">
            <a:extLst>
              <a:ext uri="{FF2B5EF4-FFF2-40B4-BE49-F238E27FC236}">
                <a16:creationId xmlns:a16="http://schemas.microsoft.com/office/drawing/2014/main" id="{67FD9EC1-33AD-4A4C-A9F9-14B76445AAE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12337" y="3714275"/>
            <a:ext cx="1676901" cy="227514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B6B0B944-2ACB-F840-8F35-C8DA02BEC32D}"/>
              </a:ext>
            </a:extLst>
          </p:cNvPr>
          <p:cNvSpPr txBox="1"/>
          <p:nvPr/>
        </p:nvSpPr>
        <p:spPr>
          <a:xfrm>
            <a:off x="4213591" y="6014084"/>
            <a:ext cx="1710725" cy="338554"/>
          </a:xfrm>
          <a:prstGeom prst="rect">
            <a:avLst/>
          </a:prstGeom>
          <a:noFill/>
        </p:spPr>
        <p:txBody>
          <a:bodyPr wrap="none" rtlCol="0">
            <a:spAutoFit/>
          </a:bodyPr>
          <a:lstStyle/>
          <a:p>
            <a:r>
              <a:rPr lang="en-US" sz="1600" dirty="0" err="1"/>
              <a:t>Tarabhai</a:t>
            </a:r>
            <a:r>
              <a:rPr lang="en-US" sz="1600" dirty="0"/>
              <a:t> Shinde</a:t>
            </a:r>
          </a:p>
        </p:txBody>
      </p:sp>
      <p:pic>
        <p:nvPicPr>
          <p:cNvPr id="1049" name="Picture 25" descr="stree purush tulna is book written by whom - Brainly.in">
            <a:extLst>
              <a:ext uri="{FF2B5EF4-FFF2-40B4-BE49-F238E27FC236}">
                <a16:creationId xmlns:a16="http://schemas.microsoft.com/office/drawing/2014/main" id="{41FDEFA0-07C4-8046-A690-A437CE2C6310}"/>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5805" r="8411"/>
          <a:stretch/>
        </p:blipFill>
        <p:spPr bwMode="auto">
          <a:xfrm>
            <a:off x="2313640" y="3718860"/>
            <a:ext cx="1833451" cy="2324532"/>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3F161CC7-7C7A-BF42-BF0D-1CC9A18C3408}"/>
              </a:ext>
            </a:extLst>
          </p:cNvPr>
          <p:cNvSpPr txBox="1"/>
          <p:nvPr/>
        </p:nvSpPr>
        <p:spPr>
          <a:xfrm>
            <a:off x="2282380" y="6058649"/>
            <a:ext cx="1657826" cy="338554"/>
          </a:xfrm>
          <a:prstGeom prst="rect">
            <a:avLst/>
          </a:prstGeom>
          <a:noFill/>
        </p:spPr>
        <p:txBody>
          <a:bodyPr wrap="none" rtlCol="0">
            <a:spAutoFit/>
          </a:bodyPr>
          <a:lstStyle/>
          <a:p>
            <a:r>
              <a:rPr lang="en-US" sz="1600" dirty="0"/>
              <a:t>Savitribai Phule</a:t>
            </a:r>
          </a:p>
        </p:txBody>
      </p:sp>
      <p:pic>
        <p:nvPicPr>
          <p:cNvPr id="1051" name="Picture 27" descr="Ishwar Chandra Vidyasagar - Wikipedia">
            <a:extLst>
              <a:ext uri="{FF2B5EF4-FFF2-40B4-BE49-F238E27FC236}">
                <a16:creationId xmlns:a16="http://schemas.microsoft.com/office/drawing/2014/main" id="{4A231398-88E4-D348-8F98-E01436BED1D9}"/>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b="3557"/>
          <a:stretch/>
        </p:blipFill>
        <p:spPr bwMode="auto">
          <a:xfrm>
            <a:off x="10107777" y="3637674"/>
            <a:ext cx="1693450" cy="2201290"/>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97DF3BBA-A573-494E-8972-94564B4AD155}"/>
              </a:ext>
            </a:extLst>
          </p:cNvPr>
          <p:cNvSpPr txBox="1"/>
          <p:nvPr/>
        </p:nvSpPr>
        <p:spPr>
          <a:xfrm>
            <a:off x="10122670" y="5920150"/>
            <a:ext cx="1728165" cy="584775"/>
          </a:xfrm>
          <a:prstGeom prst="rect">
            <a:avLst/>
          </a:prstGeom>
          <a:noFill/>
        </p:spPr>
        <p:txBody>
          <a:bodyPr wrap="none" rtlCol="0">
            <a:spAutoFit/>
          </a:bodyPr>
          <a:lstStyle/>
          <a:p>
            <a:pPr algn="ctr"/>
            <a:r>
              <a:rPr lang="en-US" sz="1600" dirty="0"/>
              <a:t>Ishwar Chandra </a:t>
            </a:r>
          </a:p>
          <a:p>
            <a:pPr algn="ctr"/>
            <a:r>
              <a:rPr lang="en-US" sz="1600" dirty="0"/>
              <a:t>Vidyasagar</a:t>
            </a:r>
          </a:p>
        </p:txBody>
      </p:sp>
      <p:sp>
        <p:nvSpPr>
          <p:cNvPr id="19" name="TextBox 18">
            <a:extLst>
              <a:ext uri="{FF2B5EF4-FFF2-40B4-BE49-F238E27FC236}">
                <a16:creationId xmlns:a16="http://schemas.microsoft.com/office/drawing/2014/main" id="{B0128509-540E-1E4E-BA37-AE24E909E87B}"/>
              </a:ext>
            </a:extLst>
          </p:cNvPr>
          <p:cNvSpPr txBox="1"/>
          <p:nvPr/>
        </p:nvSpPr>
        <p:spPr>
          <a:xfrm>
            <a:off x="2196160" y="6414596"/>
            <a:ext cx="5728363" cy="369332"/>
          </a:xfrm>
          <a:prstGeom prst="rect">
            <a:avLst/>
          </a:prstGeom>
          <a:noFill/>
        </p:spPr>
        <p:txBody>
          <a:bodyPr wrap="none" rtlCol="0">
            <a:spAutoFit/>
          </a:bodyPr>
          <a:lstStyle/>
          <a:p>
            <a:r>
              <a:rPr lang="en-US" dirty="0"/>
              <a:t>MAKERS OF MODERN INDIA IN VICTORIAN PERIOD</a:t>
            </a:r>
          </a:p>
        </p:txBody>
      </p:sp>
      <p:sp>
        <p:nvSpPr>
          <p:cNvPr id="40" name="TextBox 39">
            <a:extLst>
              <a:ext uri="{FF2B5EF4-FFF2-40B4-BE49-F238E27FC236}">
                <a16:creationId xmlns:a16="http://schemas.microsoft.com/office/drawing/2014/main" id="{FB1C2E80-0150-7341-836C-A60F126AA4FF}"/>
              </a:ext>
            </a:extLst>
          </p:cNvPr>
          <p:cNvSpPr txBox="1"/>
          <p:nvPr/>
        </p:nvSpPr>
        <p:spPr>
          <a:xfrm>
            <a:off x="3111293" y="3188785"/>
            <a:ext cx="4007892" cy="369332"/>
          </a:xfrm>
          <a:prstGeom prst="rect">
            <a:avLst/>
          </a:prstGeom>
          <a:noFill/>
        </p:spPr>
        <p:txBody>
          <a:bodyPr wrap="none" rtlCol="0">
            <a:spAutoFit/>
          </a:bodyPr>
          <a:lstStyle/>
          <a:p>
            <a:r>
              <a:rPr lang="en-US" dirty="0"/>
              <a:t>Viceroys of India In Victorian Period</a:t>
            </a:r>
          </a:p>
        </p:txBody>
      </p:sp>
    </p:spTree>
    <p:extLst>
      <p:ext uri="{BB962C8B-B14F-4D97-AF65-F5344CB8AC3E}">
        <p14:creationId xmlns:p14="http://schemas.microsoft.com/office/powerpoint/2010/main" val="2754952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7C0F0-FFE0-3349-8BF0-1F6E66DFACE3}"/>
              </a:ext>
            </a:extLst>
          </p:cNvPr>
          <p:cNvSpPr>
            <a:spLocks noGrp="1"/>
          </p:cNvSpPr>
          <p:nvPr>
            <p:ph type="title"/>
          </p:nvPr>
        </p:nvSpPr>
        <p:spPr/>
        <p:txBody>
          <a:bodyPr/>
          <a:lstStyle/>
          <a:p>
            <a:r>
              <a:rPr lang="en-IN" dirty="0"/>
              <a:t>Impact on Political Awakening</a:t>
            </a:r>
          </a:p>
        </p:txBody>
      </p:sp>
      <p:sp>
        <p:nvSpPr>
          <p:cNvPr id="6" name="Content Placeholder 5">
            <a:extLst>
              <a:ext uri="{FF2B5EF4-FFF2-40B4-BE49-F238E27FC236}">
                <a16:creationId xmlns:a16="http://schemas.microsoft.com/office/drawing/2014/main" id="{1E564B5E-5C19-B0E4-DEA9-F31B2B7C8E9B}"/>
              </a:ext>
            </a:extLst>
          </p:cNvPr>
          <p:cNvSpPr>
            <a:spLocks noGrp="1"/>
          </p:cNvSpPr>
          <p:nvPr>
            <p:ph idx="1"/>
          </p:nvPr>
        </p:nvSpPr>
        <p:spPr>
          <a:xfrm>
            <a:off x="889128" y="2163024"/>
            <a:ext cx="9855072" cy="4023360"/>
          </a:xfrm>
        </p:spPr>
        <p:txBody>
          <a:bodyPr>
            <a:norm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panose="020B0604020202020204" pitchFamily="34" charset="0"/>
              </a:rPr>
              <a:t>Early Focus on Social Reforms:</a:t>
            </a:r>
            <a:r>
              <a:rPr kumimoji="0" lang="en-US" altLang="en-US" sz="2400" b="0" i="0" u="none" strike="noStrike" cap="none" normalizeH="0" baseline="0" dirty="0">
                <a:ln>
                  <a:noFill/>
                </a:ln>
                <a:solidFill>
                  <a:schemeClr val="tx1"/>
                </a:solidFill>
                <a:effectLst/>
                <a:latin typeface="Arial" panose="020B0604020202020204" pitchFamily="34" charset="0"/>
              </a:rPr>
              <a:t> Educated Indians, mostly government servants, engaged in social reform rather than politics.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panose="020B0604020202020204" pitchFamily="34" charset="0"/>
              </a:rPr>
              <a:t>Shift to Political Awareness:</a:t>
            </a: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Growing discontent with British policies.  Awareness of economic exploitation and lack of political rights.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panose="020B0604020202020204" pitchFamily="34" charset="0"/>
              </a:rPr>
              <a:t>Birth of Political Consciousness:</a:t>
            </a:r>
            <a:r>
              <a:rPr kumimoji="0" lang="en-US" altLang="en-US" sz="2400" b="0" i="0" u="none" strike="noStrike" cap="none" normalizeH="0" baseline="0" dirty="0">
                <a:ln>
                  <a:noFill/>
                </a:ln>
                <a:solidFill>
                  <a:schemeClr val="tx1"/>
                </a:solidFill>
                <a:effectLst/>
                <a:latin typeface="Arial" panose="020B0604020202020204" pitchFamily="34" charset="0"/>
              </a:rPr>
              <a:t> Led to the formation of the </a:t>
            </a:r>
            <a:r>
              <a:rPr kumimoji="0" lang="en-US" altLang="en-US" sz="2400" b="1" i="0" u="none" strike="noStrike" cap="none" normalizeH="0" baseline="0" dirty="0">
                <a:ln>
                  <a:noFill/>
                </a:ln>
                <a:solidFill>
                  <a:schemeClr val="tx1"/>
                </a:solidFill>
                <a:effectLst/>
                <a:latin typeface="Arial" panose="020B0604020202020204" pitchFamily="34" charset="0"/>
              </a:rPr>
              <a:t>Indian National Congress (1885).</a:t>
            </a:r>
            <a:r>
              <a:rPr kumimoji="0" lang="en-US" altLang="en-US" sz="2400" b="0" i="0" u="none" strike="noStrike" cap="none" normalizeH="0" baseline="0" dirty="0">
                <a:ln>
                  <a:noFill/>
                </a:ln>
                <a:solidFill>
                  <a:schemeClr val="tx1"/>
                </a:solidFill>
                <a:effectLst/>
                <a:latin typeface="Arial" panose="020B0604020202020204" pitchFamily="34" charset="0"/>
              </a:rPr>
              <a:t> </a:t>
            </a:r>
          </a:p>
          <a:p>
            <a:endParaRPr lang="en-IN" sz="2000" dirty="0"/>
          </a:p>
        </p:txBody>
      </p:sp>
      <p:sp>
        <p:nvSpPr>
          <p:cNvPr id="4" name="Slide Number Placeholder 3">
            <a:extLst>
              <a:ext uri="{FF2B5EF4-FFF2-40B4-BE49-F238E27FC236}">
                <a16:creationId xmlns:a16="http://schemas.microsoft.com/office/drawing/2014/main" id="{8E637F4C-B62A-5A25-5F01-852B624ACD2E}"/>
              </a:ext>
            </a:extLst>
          </p:cNvPr>
          <p:cNvSpPr>
            <a:spLocks noGrp="1"/>
          </p:cNvSpPr>
          <p:nvPr>
            <p:ph type="sldNum" sz="quarter" idx="12"/>
          </p:nvPr>
        </p:nvSpPr>
        <p:spPr/>
        <p:txBody>
          <a:bodyPr/>
          <a:lstStyle/>
          <a:p>
            <a:fld id="{71766878-3199-4EAB-94E7-2D6D11070E14}" type="slidenum">
              <a:rPr lang="en-US" smtClean="0"/>
              <a:t>7</a:t>
            </a:fld>
            <a:endParaRPr lang="en-US" dirty="0"/>
          </a:p>
        </p:txBody>
      </p:sp>
    </p:spTree>
    <p:extLst>
      <p:ext uri="{BB962C8B-B14F-4D97-AF65-F5344CB8AC3E}">
        <p14:creationId xmlns:p14="http://schemas.microsoft.com/office/powerpoint/2010/main" val="3577994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9" name="Shape 119"/>
          <p:cNvSpPr txBox="1">
            <a:spLocks noGrp="1"/>
          </p:cNvSpPr>
          <p:nvPr>
            <p:ph idx="4294967295"/>
          </p:nvPr>
        </p:nvSpPr>
        <p:spPr>
          <a:xfrm>
            <a:off x="5432425" y="490538"/>
            <a:ext cx="6759575" cy="5567362"/>
          </a:xfrm>
          <a:prstGeom prst="rect">
            <a:avLst/>
          </a:prstGeom>
        </p:spPr>
        <p:txBody>
          <a:bodyPr vert="horz" lIns="121900" tIns="121900" rIns="121900" bIns="121900" rtlCol="0" anchorCtr="0">
            <a:normAutofit/>
          </a:bodyPr>
          <a:lstStyle/>
          <a:p>
            <a:pPr>
              <a:buNone/>
            </a:pPr>
            <a:r>
              <a:rPr lang="en-IN" sz="1600" b="1" dirty="0"/>
              <a:t>-</a:t>
            </a:r>
          </a:p>
        </p:txBody>
      </p:sp>
      <p:pic>
        <p:nvPicPr>
          <p:cNvPr id="1028" name="Picture 4" descr="Indian Freedom Fighters">
            <a:extLst>
              <a:ext uri="{FF2B5EF4-FFF2-40B4-BE49-F238E27FC236}">
                <a16:creationId xmlns:a16="http://schemas.microsoft.com/office/drawing/2014/main" id="{95FA2704-34DA-5BCE-70C3-1DABA06BFB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608"/>
          <a:stretch/>
        </p:blipFill>
        <p:spPr bwMode="auto">
          <a:xfrm>
            <a:off x="647074" y="490319"/>
            <a:ext cx="4018252" cy="358356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fergusson college pune">
            <a:extLst>
              <a:ext uri="{FF2B5EF4-FFF2-40B4-BE49-F238E27FC236}">
                <a16:creationId xmlns:a16="http://schemas.microsoft.com/office/drawing/2014/main" id="{C916E61E-2145-BF92-CF33-F3F2D86C2002}"/>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7635"/>
          <a:stretch/>
        </p:blipFill>
        <p:spPr bwMode="auto">
          <a:xfrm>
            <a:off x="2395887" y="4305017"/>
            <a:ext cx="4388576" cy="238186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Vinayak Damodar Savarkar Biography – Life History, Facts, Achievements,  Controversies">
            <a:extLst>
              <a:ext uri="{FF2B5EF4-FFF2-40B4-BE49-F238E27FC236}">
                <a16:creationId xmlns:a16="http://schemas.microsoft.com/office/drawing/2014/main" id="{B3128B00-47C1-D0BB-3F0F-AD4D26AA4FB5}"/>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0507" r="19437"/>
          <a:stretch/>
        </p:blipFill>
        <p:spPr bwMode="auto">
          <a:xfrm>
            <a:off x="10464165" y="2808339"/>
            <a:ext cx="1524739" cy="152696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he Untold Story of the Indomitable Madam Bhikaji Cama">
            <a:extLst>
              <a:ext uri="{FF2B5EF4-FFF2-40B4-BE49-F238E27FC236}">
                <a16:creationId xmlns:a16="http://schemas.microsoft.com/office/drawing/2014/main" id="{695422D9-E336-8AB0-4A62-818455B1EE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27167" y="879248"/>
            <a:ext cx="2792774" cy="47312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01C0ECE-9EDE-9308-F1F8-F76624179560}"/>
              </a:ext>
            </a:extLst>
          </p:cNvPr>
          <p:cNvSpPr txBox="1"/>
          <p:nvPr/>
        </p:nvSpPr>
        <p:spPr>
          <a:xfrm>
            <a:off x="9842550" y="4782666"/>
            <a:ext cx="1243231" cy="738664"/>
          </a:xfrm>
          <a:prstGeom prst="rect">
            <a:avLst/>
          </a:prstGeom>
          <a:noFill/>
        </p:spPr>
        <p:txBody>
          <a:bodyPr wrap="square" rtlCol="0">
            <a:spAutoFit/>
          </a:bodyPr>
          <a:lstStyle/>
          <a:p>
            <a:r>
              <a:rPr lang="en-IN" sz="1400" dirty="0" err="1">
                <a:solidFill>
                  <a:srgbClr val="FFFF00"/>
                </a:solidFill>
              </a:rPr>
              <a:t>Bhikaji</a:t>
            </a:r>
            <a:r>
              <a:rPr lang="en-IN" sz="1400" dirty="0">
                <a:solidFill>
                  <a:srgbClr val="FFFF00"/>
                </a:solidFill>
              </a:rPr>
              <a:t> Rustom </a:t>
            </a:r>
            <a:r>
              <a:rPr lang="en-IN" sz="1400" dirty="0" err="1">
                <a:solidFill>
                  <a:srgbClr val="FFFF00"/>
                </a:solidFill>
              </a:rPr>
              <a:t>Cama</a:t>
            </a:r>
            <a:r>
              <a:rPr lang="en-IN" sz="1400" dirty="0">
                <a:solidFill>
                  <a:srgbClr val="FFFF00"/>
                </a:solidFill>
              </a:rPr>
              <a:t> </a:t>
            </a:r>
          </a:p>
        </p:txBody>
      </p:sp>
    </p:spTree>
    <p:extLst>
      <p:ext uri="{BB962C8B-B14F-4D97-AF65-F5344CB8AC3E}">
        <p14:creationId xmlns:p14="http://schemas.microsoft.com/office/powerpoint/2010/main" val="573408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2F2DA-FB21-4F7E-B6A5-6F95A5AAE3EC}"/>
              </a:ext>
            </a:extLst>
          </p:cNvPr>
          <p:cNvSpPr>
            <a:spLocks noGrp="1"/>
          </p:cNvSpPr>
          <p:nvPr>
            <p:ph type="title"/>
          </p:nvPr>
        </p:nvSpPr>
        <p:spPr/>
        <p:txBody>
          <a:bodyPr/>
          <a:lstStyle/>
          <a:p>
            <a:r>
              <a:rPr lang="en-GB" dirty="0"/>
              <a:t>Role of Western Thought in Nationalism</a:t>
            </a:r>
            <a:endParaRPr lang="en-IN" dirty="0"/>
          </a:p>
        </p:txBody>
      </p:sp>
      <p:sp>
        <p:nvSpPr>
          <p:cNvPr id="3" name="Content Placeholder 2">
            <a:extLst>
              <a:ext uri="{FF2B5EF4-FFF2-40B4-BE49-F238E27FC236}">
                <a16:creationId xmlns:a16="http://schemas.microsoft.com/office/drawing/2014/main" id="{ACF9C8C0-140F-CE1C-8AE8-0BB6406F80E0}"/>
              </a:ext>
            </a:extLst>
          </p:cNvPr>
          <p:cNvSpPr>
            <a:spLocks noGrp="1"/>
          </p:cNvSpPr>
          <p:nvPr>
            <p:ph idx="1"/>
          </p:nvPr>
        </p:nvSpPr>
        <p:spPr>
          <a:xfrm>
            <a:off x="1024128" y="1864426"/>
            <a:ext cx="9720073" cy="4444934"/>
          </a:xfrm>
        </p:spPr>
        <p:txBody>
          <a:bodyPr>
            <a:normAutofit/>
          </a:bodyPr>
          <a:lstStyle/>
          <a:p>
            <a:pPr>
              <a:buFont typeface="Arial" panose="020B0604020202020204" pitchFamily="34" charset="0"/>
              <a:buChar char="•"/>
            </a:pPr>
            <a:r>
              <a:rPr lang="en-GB" sz="3200" b="1" dirty="0"/>
              <a:t>Influence of English History:</a:t>
            </a:r>
            <a:r>
              <a:rPr lang="en-GB" sz="3200" dirty="0"/>
              <a:t> Inspired ideas of democracy and self-rule.</a:t>
            </a:r>
          </a:p>
          <a:p>
            <a:pPr>
              <a:buFont typeface="Arial" panose="020B0604020202020204" pitchFamily="34" charset="0"/>
              <a:buChar char="•"/>
            </a:pPr>
            <a:r>
              <a:rPr lang="en-GB" sz="3200" b="1" dirty="0"/>
              <a:t>Educated Class’s Perspective:</a:t>
            </a:r>
            <a:endParaRPr lang="en-GB" sz="3200" dirty="0"/>
          </a:p>
          <a:p>
            <a:pPr marL="742950" lvl="1" indent="-285750">
              <a:buFont typeface="Arial" panose="020B0604020202020204" pitchFamily="34" charset="0"/>
              <a:buChar char="•"/>
            </a:pPr>
            <a:r>
              <a:rPr lang="en-GB" sz="2800" dirty="0"/>
              <a:t>Recognized Britain’s contributions but also saw its exploitative nature.</a:t>
            </a:r>
          </a:p>
          <a:p>
            <a:pPr marL="742950" lvl="1" indent="-285750">
              <a:buFont typeface="Arial" panose="020B0604020202020204" pitchFamily="34" charset="0"/>
              <a:buChar char="•"/>
            </a:pPr>
            <a:r>
              <a:rPr lang="en-GB" sz="2800" dirty="0"/>
              <a:t>Advocated for self-rule rather than just good governance.</a:t>
            </a:r>
          </a:p>
          <a:p>
            <a:pPr>
              <a:buFont typeface="Arial" panose="020B0604020202020204" pitchFamily="34" charset="0"/>
              <a:buChar char="•"/>
            </a:pPr>
            <a:r>
              <a:rPr lang="en-GB" sz="3200" b="1" dirty="0"/>
              <a:t>Education as a Tool for Resistance:</a:t>
            </a:r>
            <a:r>
              <a:rPr lang="en-GB" sz="3200" dirty="0"/>
              <a:t> Helped organize movements against colonial rule.</a:t>
            </a:r>
          </a:p>
        </p:txBody>
      </p:sp>
      <p:sp>
        <p:nvSpPr>
          <p:cNvPr id="4" name="Slide Number Placeholder 3">
            <a:extLst>
              <a:ext uri="{FF2B5EF4-FFF2-40B4-BE49-F238E27FC236}">
                <a16:creationId xmlns:a16="http://schemas.microsoft.com/office/drawing/2014/main" id="{6E067766-0D19-2098-BCFF-6049BE32D76E}"/>
              </a:ext>
            </a:extLst>
          </p:cNvPr>
          <p:cNvSpPr>
            <a:spLocks noGrp="1"/>
          </p:cNvSpPr>
          <p:nvPr>
            <p:ph type="sldNum" sz="quarter" idx="12"/>
          </p:nvPr>
        </p:nvSpPr>
        <p:spPr/>
        <p:txBody>
          <a:bodyPr/>
          <a:lstStyle/>
          <a:p>
            <a:fld id="{71766878-3199-4EAB-94E7-2D6D11070E14}" type="slidenum">
              <a:rPr lang="en-US" smtClean="0"/>
              <a:t>9</a:t>
            </a:fld>
            <a:endParaRPr lang="en-US" dirty="0"/>
          </a:p>
        </p:txBody>
      </p:sp>
    </p:spTree>
    <p:extLst>
      <p:ext uri="{BB962C8B-B14F-4D97-AF65-F5344CB8AC3E}">
        <p14:creationId xmlns:p14="http://schemas.microsoft.com/office/powerpoint/2010/main" val="2610211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2F2DA-FB21-4F7E-B6A5-6F95A5AAE3EC}"/>
              </a:ext>
            </a:extLst>
          </p:cNvPr>
          <p:cNvSpPr>
            <a:spLocks noGrp="1"/>
          </p:cNvSpPr>
          <p:nvPr>
            <p:ph type="title"/>
          </p:nvPr>
        </p:nvSpPr>
        <p:spPr/>
        <p:txBody>
          <a:bodyPr/>
          <a:lstStyle/>
          <a:p>
            <a:r>
              <a:rPr lang="en-GB" dirty="0"/>
              <a:t>Role of Western Thought in Nationalism</a:t>
            </a:r>
            <a:endParaRPr lang="en-IN" dirty="0"/>
          </a:p>
        </p:txBody>
      </p:sp>
      <p:sp>
        <p:nvSpPr>
          <p:cNvPr id="3" name="Content Placeholder 2">
            <a:extLst>
              <a:ext uri="{FF2B5EF4-FFF2-40B4-BE49-F238E27FC236}">
                <a16:creationId xmlns:a16="http://schemas.microsoft.com/office/drawing/2014/main" id="{ACF9C8C0-140F-CE1C-8AE8-0BB6406F80E0}"/>
              </a:ext>
            </a:extLst>
          </p:cNvPr>
          <p:cNvSpPr>
            <a:spLocks noGrp="1"/>
          </p:cNvSpPr>
          <p:nvPr>
            <p:ph idx="1"/>
          </p:nvPr>
        </p:nvSpPr>
        <p:spPr>
          <a:xfrm>
            <a:off x="649729" y="2025770"/>
            <a:ext cx="8091072" cy="4444934"/>
          </a:xfrm>
        </p:spPr>
        <p:txBody>
          <a:bodyPr>
            <a:normAutofit/>
          </a:bodyPr>
          <a:lstStyle/>
          <a:p>
            <a:pPr>
              <a:buFont typeface="Arial" panose="020B0604020202020204" pitchFamily="34" charset="0"/>
              <a:buChar char="•"/>
            </a:pPr>
            <a:r>
              <a:rPr lang="en-GB" sz="3200" b="1" dirty="0"/>
              <a:t>Influence of English History:</a:t>
            </a:r>
            <a:r>
              <a:rPr lang="en-GB" sz="3200" dirty="0"/>
              <a:t> Inspired ideas of democracy and self-rule.</a:t>
            </a:r>
          </a:p>
          <a:p>
            <a:pPr>
              <a:buFont typeface="Arial" panose="020B0604020202020204" pitchFamily="34" charset="0"/>
              <a:buChar char="•"/>
            </a:pPr>
            <a:r>
              <a:rPr lang="en-GB" sz="3200" b="1" dirty="0"/>
              <a:t>Educated Class’s Perspective:</a:t>
            </a:r>
            <a:endParaRPr lang="en-GB" sz="3200" dirty="0"/>
          </a:p>
          <a:p>
            <a:pPr marL="742950" lvl="1" indent="-285750">
              <a:buFont typeface="Arial" panose="020B0604020202020204" pitchFamily="34" charset="0"/>
              <a:buChar char="•"/>
            </a:pPr>
            <a:r>
              <a:rPr lang="en-GB" sz="2800" dirty="0"/>
              <a:t>Recognized Britain’s contributions but also saw its exploitative nature.</a:t>
            </a:r>
          </a:p>
          <a:p>
            <a:pPr marL="742950" lvl="1" indent="-285750">
              <a:buFont typeface="Arial" panose="020B0604020202020204" pitchFamily="34" charset="0"/>
              <a:buChar char="•"/>
            </a:pPr>
            <a:r>
              <a:rPr lang="en-GB" sz="2800" dirty="0"/>
              <a:t>Advocated for self-rule rather than just good governance.</a:t>
            </a:r>
          </a:p>
          <a:p>
            <a:pPr>
              <a:buFont typeface="Arial" panose="020B0604020202020204" pitchFamily="34" charset="0"/>
              <a:buChar char="•"/>
            </a:pPr>
            <a:r>
              <a:rPr lang="en-GB" sz="3200" b="1" dirty="0"/>
              <a:t>Education as a Tool for Resistance:</a:t>
            </a:r>
            <a:r>
              <a:rPr lang="en-GB" sz="3200" dirty="0"/>
              <a:t> Helped organize movements against colonial rule.</a:t>
            </a:r>
          </a:p>
        </p:txBody>
      </p:sp>
      <p:sp>
        <p:nvSpPr>
          <p:cNvPr id="4" name="Slide Number Placeholder 3">
            <a:extLst>
              <a:ext uri="{FF2B5EF4-FFF2-40B4-BE49-F238E27FC236}">
                <a16:creationId xmlns:a16="http://schemas.microsoft.com/office/drawing/2014/main" id="{6E067766-0D19-2098-BCFF-6049BE32D76E}"/>
              </a:ext>
            </a:extLst>
          </p:cNvPr>
          <p:cNvSpPr>
            <a:spLocks noGrp="1"/>
          </p:cNvSpPr>
          <p:nvPr>
            <p:ph type="sldNum" sz="quarter" idx="12"/>
          </p:nvPr>
        </p:nvSpPr>
        <p:spPr/>
        <p:txBody>
          <a:bodyPr/>
          <a:lstStyle/>
          <a:p>
            <a:fld id="{71766878-3199-4EAB-94E7-2D6D11070E14}" type="slidenum">
              <a:rPr lang="en-US" smtClean="0"/>
              <a:t>10</a:t>
            </a:fld>
            <a:endParaRPr lang="en-US" dirty="0"/>
          </a:p>
        </p:txBody>
      </p:sp>
      <p:pic>
        <p:nvPicPr>
          <p:cNvPr id="14338" name="Picture 2" descr="A Students History of Education in India 1800-1973">
            <a:extLst>
              <a:ext uri="{FF2B5EF4-FFF2-40B4-BE49-F238E27FC236}">
                <a16:creationId xmlns:a16="http://schemas.microsoft.com/office/drawing/2014/main" id="{0E3CFE2F-A1B2-A8CD-E0A0-C890997828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3889" y="2246400"/>
            <a:ext cx="2666738" cy="362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0180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2FEAE-5CD4-1F5E-0AA8-8FDF26911C39}"/>
              </a:ext>
            </a:extLst>
          </p:cNvPr>
          <p:cNvSpPr>
            <a:spLocks noGrp="1"/>
          </p:cNvSpPr>
          <p:nvPr>
            <p:ph type="title"/>
          </p:nvPr>
        </p:nvSpPr>
        <p:spPr/>
        <p:txBody>
          <a:bodyPr/>
          <a:lstStyle/>
          <a:p>
            <a:r>
              <a:rPr lang="en-GB" dirty="0"/>
              <a:t>Changing Western Attitudes Towards Indian Knowledge</a:t>
            </a:r>
            <a:endParaRPr lang="en-IN" dirty="0"/>
          </a:p>
        </p:txBody>
      </p:sp>
      <p:sp>
        <p:nvSpPr>
          <p:cNvPr id="3" name="Content Placeholder 2">
            <a:extLst>
              <a:ext uri="{FF2B5EF4-FFF2-40B4-BE49-F238E27FC236}">
                <a16:creationId xmlns:a16="http://schemas.microsoft.com/office/drawing/2014/main" id="{931D93D4-B81C-CA36-2369-60946223D31F}"/>
              </a:ext>
            </a:extLst>
          </p:cNvPr>
          <p:cNvSpPr>
            <a:spLocks noGrp="1"/>
          </p:cNvSpPr>
          <p:nvPr>
            <p:ph idx="1"/>
          </p:nvPr>
        </p:nvSpPr>
        <p:spPr/>
        <p:txBody>
          <a:bodyPr/>
          <a:lstStyle/>
          <a:p>
            <a:pPr>
              <a:buFont typeface="Arial" panose="020B0604020202020204" pitchFamily="34" charset="0"/>
              <a:buChar char="•"/>
            </a:pPr>
            <a:r>
              <a:rPr lang="en-GB" sz="2800" b="1" dirty="0"/>
              <a:t>Early Views (Pre-1854):</a:t>
            </a:r>
            <a:r>
              <a:rPr lang="en-GB" sz="2800" dirty="0"/>
              <a:t> British saw Indian philosophy and literature as inferior.</a:t>
            </a:r>
          </a:p>
          <a:p>
            <a:pPr>
              <a:buFont typeface="Arial" panose="020B0604020202020204" pitchFamily="34" charset="0"/>
              <a:buChar char="•"/>
            </a:pPr>
            <a:r>
              <a:rPr lang="en-GB" sz="2800" b="1" dirty="0"/>
              <a:t>Post-1854 Shift:</a:t>
            </a:r>
            <a:endParaRPr lang="en-GB" sz="2800" dirty="0"/>
          </a:p>
          <a:p>
            <a:pPr marL="742950" lvl="1" indent="-285750">
              <a:buFont typeface="Arial" panose="020B0604020202020204" pitchFamily="34" charset="0"/>
              <a:buChar char="•"/>
            </a:pPr>
            <a:r>
              <a:rPr lang="en-GB" sz="2400" dirty="0"/>
              <a:t>Translations of Indian texts (Upanishads, Vedas).</a:t>
            </a:r>
          </a:p>
          <a:p>
            <a:pPr marL="742950" lvl="1" indent="-285750">
              <a:buFont typeface="Arial" panose="020B0604020202020204" pitchFamily="34" charset="0"/>
              <a:buChar char="•"/>
            </a:pPr>
            <a:r>
              <a:rPr lang="en-GB" sz="2400" dirty="0"/>
              <a:t>European scholars like Max Müller popularized Sanskrit literature.</a:t>
            </a:r>
          </a:p>
          <a:p>
            <a:pPr marL="742950" lvl="1" indent="-285750">
              <a:buFont typeface="Arial" panose="020B0604020202020204" pitchFamily="34" charset="0"/>
              <a:buChar char="•"/>
            </a:pPr>
            <a:r>
              <a:rPr lang="en-GB" sz="2400" dirty="0"/>
              <a:t>Indian universities promoted the study of classical languages.</a:t>
            </a:r>
          </a:p>
          <a:p>
            <a:pPr>
              <a:buFont typeface="Arial" panose="020B0604020202020204" pitchFamily="34" charset="0"/>
              <a:buChar char="•"/>
            </a:pPr>
            <a:r>
              <a:rPr lang="en-GB" sz="2800" b="1" dirty="0"/>
              <a:t>Result:</a:t>
            </a:r>
            <a:r>
              <a:rPr lang="en-GB" sz="2800" dirty="0"/>
              <a:t> Greater appreciation and synthesis of Eastern and Western knowledge.</a:t>
            </a:r>
          </a:p>
          <a:p>
            <a:pPr marL="0" indent="0">
              <a:buNone/>
            </a:pPr>
            <a:endParaRPr lang="en-IN" dirty="0"/>
          </a:p>
        </p:txBody>
      </p:sp>
      <p:sp>
        <p:nvSpPr>
          <p:cNvPr id="4" name="Slide Number Placeholder 3">
            <a:extLst>
              <a:ext uri="{FF2B5EF4-FFF2-40B4-BE49-F238E27FC236}">
                <a16:creationId xmlns:a16="http://schemas.microsoft.com/office/drawing/2014/main" id="{E24CDB71-A8C8-2FEE-5E2D-9E76C8123C02}"/>
              </a:ext>
            </a:extLst>
          </p:cNvPr>
          <p:cNvSpPr>
            <a:spLocks noGrp="1"/>
          </p:cNvSpPr>
          <p:nvPr>
            <p:ph type="sldNum" sz="quarter" idx="12"/>
          </p:nvPr>
        </p:nvSpPr>
        <p:spPr/>
        <p:txBody>
          <a:bodyPr/>
          <a:lstStyle/>
          <a:p>
            <a:fld id="{71766878-3199-4EAB-94E7-2D6D11070E14}" type="slidenum">
              <a:rPr lang="en-US" smtClean="0"/>
              <a:t>11</a:t>
            </a:fld>
            <a:endParaRPr lang="en-US" dirty="0"/>
          </a:p>
        </p:txBody>
      </p:sp>
    </p:spTree>
    <p:extLst>
      <p:ext uri="{BB962C8B-B14F-4D97-AF65-F5344CB8AC3E}">
        <p14:creationId xmlns:p14="http://schemas.microsoft.com/office/powerpoint/2010/main" val="1682157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37AA4-17C3-08E3-61E8-89063226AD4D}"/>
              </a:ext>
            </a:extLst>
          </p:cNvPr>
          <p:cNvSpPr>
            <a:spLocks noGrp="1"/>
          </p:cNvSpPr>
          <p:nvPr>
            <p:ph type="title"/>
          </p:nvPr>
        </p:nvSpPr>
        <p:spPr/>
        <p:txBody>
          <a:bodyPr/>
          <a:lstStyle/>
          <a:p>
            <a:r>
              <a:rPr lang="en-IN" dirty="0"/>
              <a:t>Cultural Synthesis &amp; Identity Crisis</a:t>
            </a:r>
          </a:p>
        </p:txBody>
      </p:sp>
      <p:sp>
        <p:nvSpPr>
          <p:cNvPr id="3" name="Content Placeholder 2">
            <a:extLst>
              <a:ext uri="{FF2B5EF4-FFF2-40B4-BE49-F238E27FC236}">
                <a16:creationId xmlns:a16="http://schemas.microsoft.com/office/drawing/2014/main" id="{4D325C3C-E6D1-8DDC-70D7-BC056947C351}"/>
              </a:ext>
            </a:extLst>
          </p:cNvPr>
          <p:cNvSpPr>
            <a:spLocks noGrp="1"/>
          </p:cNvSpPr>
          <p:nvPr>
            <p:ph idx="1"/>
          </p:nvPr>
        </p:nvSpPr>
        <p:spPr/>
        <p:txBody>
          <a:bodyPr/>
          <a:lstStyle/>
          <a:p>
            <a:pPr>
              <a:buFont typeface="Arial" panose="020B0604020202020204" pitchFamily="34" charset="0"/>
              <a:buChar char="•"/>
            </a:pPr>
            <a:r>
              <a:rPr lang="en-GB" sz="2800" b="1" dirty="0"/>
              <a:t>Early Effects:</a:t>
            </a:r>
            <a:r>
              <a:rPr lang="en-GB" sz="2800" dirty="0"/>
              <a:t> Imitation of Western manners, clothing, and even food habits.</a:t>
            </a:r>
          </a:p>
          <a:p>
            <a:pPr>
              <a:buFont typeface="Arial" panose="020B0604020202020204" pitchFamily="34" charset="0"/>
              <a:buChar char="•"/>
            </a:pPr>
            <a:r>
              <a:rPr lang="en-GB" sz="2800" b="1" dirty="0"/>
              <a:t>Shift to Cultural Synthesis:</a:t>
            </a:r>
            <a:endParaRPr lang="en-GB" sz="2800" dirty="0"/>
          </a:p>
          <a:p>
            <a:pPr marL="742950" lvl="1" indent="-285750">
              <a:buFont typeface="Arial" panose="020B0604020202020204" pitchFamily="34" charset="0"/>
              <a:buChar char="•"/>
            </a:pPr>
            <a:r>
              <a:rPr lang="en-GB" sz="2400" b="1" dirty="0"/>
              <a:t>Emergence of a National Identity:</a:t>
            </a:r>
            <a:r>
              <a:rPr lang="en-GB" sz="2400" dirty="0"/>
              <a:t> Led by figures like Vidyasagar, </a:t>
            </a:r>
            <a:r>
              <a:rPr lang="en-GB" sz="2400" dirty="0" err="1"/>
              <a:t>Naoroji</a:t>
            </a:r>
            <a:r>
              <a:rPr lang="en-GB" sz="2400" dirty="0"/>
              <a:t>, Vivekananda.</a:t>
            </a:r>
          </a:p>
          <a:p>
            <a:pPr marL="742950" lvl="1" indent="-285750">
              <a:buFont typeface="Arial" panose="020B0604020202020204" pitchFamily="34" charset="0"/>
              <a:buChar char="•"/>
            </a:pPr>
            <a:r>
              <a:rPr lang="en-GB" sz="2400" b="1" dirty="0"/>
              <a:t>New Outlook:</a:t>
            </a:r>
            <a:r>
              <a:rPr lang="en-GB" sz="2400" dirty="0"/>
              <a:t> Acceptance of useful Western ideas while preserving Indian traditions.</a:t>
            </a:r>
          </a:p>
          <a:p>
            <a:pPr>
              <a:buFont typeface="Arial" panose="020B0604020202020204" pitchFamily="34" charset="0"/>
              <a:buChar char="•"/>
            </a:pPr>
            <a:r>
              <a:rPr lang="en-GB" sz="2800" b="1" dirty="0"/>
              <a:t>Result:</a:t>
            </a:r>
            <a:r>
              <a:rPr lang="en-GB" sz="2800" dirty="0"/>
              <a:t> A more balanced, modernized Indian intellectual class.</a:t>
            </a:r>
          </a:p>
          <a:p>
            <a:endParaRPr lang="en-IN" dirty="0"/>
          </a:p>
        </p:txBody>
      </p:sp>
      <p:sp>
        <p:nvSpPr>
          <p:cNvPr id="4" name="Slide Number Placeholder 3">
            <a:extLst>
              <a:ext uri="{FF2B5EF4-FFF2-40B4-BE49-F238E27FC236}">
                <a16:creationId xmlns:a16="http://schemas.microsoft.com/office/drawing/2014/main" id="{E567E5BC-7357-5334-A47A-A4591A6EE3DB}"/>
              </a:ext>
            </a:extLst>
          </p:cNvPr>
          <p:cNvSpPr>
            <a:spLocks noGrp="1"/>
          </p:cNvSpPr>
          <p:nvPr>
            <p:ph type="sldNum" sz="quarter" idx="12"/>
          </p:nvPr>
        </p:nvSpPr>
        <p:spPr/>
        <p:txBody>
          <a:bodyPr/>
          <a:lstStyle/>
          <a:p>
            <a:fld id="{71766878-3199-4EAB-94E7-2D6D11070E14}" type="slidenum">
              <a:rPr lang="en-US" smtClean="0"/>
              <a:t>12</a:t>
            </a:fld>
            <a:endParaRPr lang="en-US" dirty="0"/>
          </a:p>
        </p:txBody>
      </p:sp>
    </p:spTree>
    <p:extLst>
      <p:ext uri="{BB962C8B-B14F-4D97-AF65-F5344CB8AC3E}">
        <p14:creationId xmlns:p14="http://schemas.microsoft.com/office/powerpoint/2010/main" val="1096685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4F999-433E-C838-C38F-DC904956EF37}"/>
              </a:ext>
            </a:extLst>
          </p:cNvPr>
          <p:cNvSpPr>
            <a:spLocks noGrp="1"/>
          </p:cNvSpPr>
          <p:nvPr>
            <p:ph type="title"/>
          </p:nvPr>
        </p:nvSpPr>
        <p:spPr/>
        <p:txBody>
          <a:bodyPr/>
          <a:lstStyle/>
          <a:p>
            <a:r>
              <a:rPr lang="en-GB" dirty="0"/>
              <a:t>Education in India During the British Period</a:t>
            </a:r>
            <a:endParaRPr lang="en-IN" dirty="0"/>
          </a:p>
        </p:txBody>
      </p:sp>
      <p:sp>
        <p:nvSpPr>
          <p:cNvPr id="4" name="Slide Number Placeholder 3">
            <a:extLst>
              <a:ext uri="{FF2B5EF4-FFF2-40B4-BE49-F238E27FC236}">
                <a16:creationId xmlns:a16="http://schemas.microsoft.com/office/drawing/2014/main" id="{0A372F1C-58EB-5A32-C464-A36209A682B3}"/>
              </a:ext>
            </a:extLst>
          </p:cNvPr>
          <p:cNvSpPr>
            <a:spLocks noGrp="1"/>
          </p:cNvSpPr>
          <p:nvPr>
            <p:ph type="sldNum" sz="quarter" idx="12"/>
          </p:nvPr>
        </p:nvSpPr>
        <p:spPr/>
        <p:txBody>
          <a:bodyPr/>
          <a:lstStyle/>
          <a:p>
            <a:fld id="{71766878-3199-4EAB-94E7-2D6D11070E14}" type="slidenum">
              <a:rPr lang="en-US" smtClean="0"/>
              <a:t>13</a:t>
            </a:fld>
            <a:endParaRPr lang="en-US" dirty="0"/>
          </a:p>
        </p:txBody>
      </p:sp>
      <p:sp>
        <p:nvSpPr>
          <p:cNvPr id="6" name="TextBox 5">
            <a:extLst>
              <a:ext uri="{FF2B5EF4-FFF2-40B4-BE49-F238E27FC236}">
                <a16:creationId xmlns:a16="http://schemas.microsoft.com/office/drawing/2014/main" id="{B03F53C1-1B85-4253-7AF3-34B771583835}"/>
              </a:ext>
            </a:extLst>
          </p:cNvPr>
          <p:cNvSpPr txBox="1"/>
          <p:nvPr/>
        </p:nvSpPr>
        <p:spPr>
          <a:xfrm>
            <a:off x="780803" y="2285402"/>
            <a:ext cx="6097978" cy="369332"/>
          </a:xfrm>
          <a:prstGeom prst="rect">
            <a:avLst/>
          </a:prstGeom>
          <a:noFill/>
        </p:spPr>
        <p:txBody>
          <a:bodyPr wrap="square">
            <a:spAutoFit/>
          </a:bodyPr>
          <a:lstStyle/>
          <a:p>
            <a:r>
              <a:rPr lang="en-IN" b="1" dirty="0"/>
              <a:t>Achievements, Failures, and Legacy</a:t>
            </a:r>
          </a:p>
        </p:txBody>
      </p:sp>
    </p:spTree>
    <p:extLst>
      <p:ext uri="{BB962C8B-B14F-4D97-AF65-F5344CB8AC3E}">
        <p14:creationId xmlns:p14="http://schemas.microsoft.com/office/powerpoint/2010/main" val="3405797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B48E3-E061-77DD-A40B-180E2464F8EF}"/>
              </a:ext>
            </a:extLst>
          </p:cNvPr>
          <p:cNvSpPr>
            <a:spLocks noGrp="1"/>
          </p:cNvSpPr>
          <p:nvPr>
            <p:ph type="title"/>
          </p:nvPr>
        </p:nvSpPr>
        <p:spPr>
          <a:xfrm>
            <a:off x="1024128" y="585216"/>
            <a:ext cx="10553472" cy="1499616"/>
          </a:xfrm>
        </p:spPr>
        <p:txBody>
          <a:bodyPr/>
          <a:lstStyle/>
          <a:p>
            <a:r>
              <a:rPr lang="en-GB" dirty="0"/>
              <a:t>How did British rule shape Indian education?</a:t>
            </a:r>
            <a:endParaRPr lang="en-IN" dirty="0"/>
          </a:p>
        </p:txBody>
      </p:sp>
      <p:sp>
        <p:nvSpPr>
          <p:cNvPr id="6" name="Rectangle 2">
            <a:extLst>
              <a:ext uri="{FF2B5EF4-FFF2-40B4-BE49-F238E27FC236}">
                <a16:creationId xmlns:a16="http://schemas.microsoft.com/office/drawing/2014/main" id="{DF8C20D3-C1C0-57E9-C83D-26DAE9BB3F58}"/>
              </a:ext>
            </a:extLst>
          </p:cNvPr>
          <p:cNvSpPr>
            <a:spLocks noGrp="1" noChangeArrowheads="1"/>
          </p:cNvSpPr>
          <p:nvPr>
            <p:ph idx="1"/>
          </p:nvPr>
        </p:nvSpPr>
        <p:spPr bwMode="auto">
          <a:xfrm>
            <a:off x="491329" y="2082276"/>
            <a:ext cx="7248672"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i="0" u="none" strike="noStrike" cap="none" normalizeH="0" baseline="0" dirty="0">
                <a:ln>
                  <a:noFill/>
                </a:ln>
                <a:solidFill>
                  <a:schemeClr val="tx1"/>
                </a:solidFill>
                <a:effectLst/>
                <a:latin typeface="Arial" panose="020B0604020202020204" pitchFamily="34" charset="0"/>
              </a:rPr>
              <a:t>Two Contrasting Views: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173736" lvl="1" indent="0" eaLnBrk="0" fontAlgn="base" hangingPunct="0">
              <a:lnSpc>
                <a:spcPct val="100000"/>
              </a:lnSpc>
              <a:spcBef>
                <a:spcPct val="0"/>
              </a:spcBef>
              <a:spcAft>
                <a:spcPct val="0"/>
              </a:spcAft>
              <a:buClrTx/>
              <a:buFontTx/>
              <a:buChar char="•"/>
            </a:pPr>
            <a:r>
              <a:rPr kumimoji="0" lang="en-US" altLang="en-US" sz="2400" b="0" i="0" u="none" strike="noStrike" cap="none" normalizeH="0" baseline="0" dirty="0">
                <a:ln>
                  <a:noFill/>
                </a:ln>
                <a:solidFill>
                  <a:schemeClr val="tx1"/>
                </a:solidFill>
                <a:effectLst/>
                <a:latin typeface="Arial" panose="020B0604020202020204" pitchFamily="34" charset="0"/>
              </a:rPr>
              <a:t>British claimed they modernized education.</a:t>
            </a:r>
            <a:br>
              <a:rPr kumimoji="0" lang="en-US" altLang="en-US" sz="2400" b="0" i="0" u="none" strike="noStrike" cap="none" normalizeH="0" baseline="0" dirty="0">
                <a:ln>
                  <a:noFill/>
                </a:ln>
                <a:solidFill>
                  <a:schemeClr val="tx1"/>
                </a:solidFill>
                <a:effectLst/>
                <a:latin typeface="Arial" panose="020B0604020202020204" pitchFamily="34" charset="0"/>
              </a:rPr>
            </a:b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173736" lvl="1" indent="0" eaLnBrk="0" fontAlgn="base" hangingPunct="0">
              <a:lnSpc>
                <a:spcPct val="100000"/>
              </a:lnSpc>
              <a:spcBef>
                <a:spcPct val="0"/>
              </a:spcBef>
              <a:spcAft>
                <a:spcPct val="0"/>
              </a:spcAft>
              <a:buClrTx/>
              <a:buFontTx/>
              <a:buChar char="•"/>
            </a:pPr>
            <a:r>
              <a:rPr kumimoji="0" lang="en-US" altLang="en-US" sz="2400" b="0" i="0" u="none" strike="noStrike" cap="none" normalizeH="0" baseline="0" dirty="0">
                <a:ln>
                  <a:noFill/>
                </a:ln>
                <a:solidFill>
                  <a:schemeClr val="tx1"/>
                </a:solidFill>
                <a:effectLst/>
                <a:latin typeface="Arial" panose="020B0604020202020204" pitchFamily="34" charset="0"/>
              </a:rPr>
              <a:t>Indians argued it was politically motivated and inadequate.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2800" dirty="0">
                <a:latin typeface="Arial" panose="020B0604020202020204" pitchFamily="34" charset="0"/>
              </a:rPr>
              <a:t>Need</a:t>
            </a:r>
            <a:r>
              <a:rPr kumimoji="0" lang="en-US" altLang="en-US" sz="2800" b="0" i="0" u="none" strike="noStrike" cap="none" normalizeH="0" baseline="0" dirty="0">
                <a:ln>
                  <a:noFill/>
                </a:ln>
                <a:solidFill>
                  <a:schemeClr val="tx1"/>
                </a:solidFill>
                <a:effectLst/>
                <a:latin typeface="Arial" panose="020B0604020202020204" pitchFamily="34" charset="0"/>
              </a:rPr>
              <a:t> a balanced, critical evaluation. </a:t>
            </a:r>
          </a:p>
        </p:txBody>
      </p:sp>
      <p:sp>
        <p:nvSpPr>
          <p:cNvPr id="4" name="Slide Number Placeholder 3">
            <a:extLst>
              <a:ext uri="{FF2B5EF4-FFF2-40B4-BE49-F238E27FC236}">
                <a16:creationId xmlns:a16="http://schemas.microsoft.com/office/drawing/2014/main" id="{5CD03B7D-7105-1098-65ED-0D999449FD03}"/>
              </a:ext>
            </a:extLst>
          </p:cNvPr>
          <p:cNvSpPr>
            <a:spLocks noGrp="1"/>
          </p:cNvSpPr>
          <p:nvPr>
            <p:ph type="sldNum" sz="quarter" idx="12"/>
          </p:nvPr>
        </p:nvSpPr>
        <p:spPr/>
        <p:txBody>
          <a:bodyPr/>
          <a:lstStyle/>
          <a:p>
            <a:fld id="{71766878-3199-4EAB-94E7-2D6D11070E14}" type="slidenum">
              <a:rPr lang="en-US" smtClean="0"/>
              <a:t>14</a:t>
            </a:fld>
            <a:endParaRPr lang="en-US" dirty="0"/>
          </a:p>
        </p:txBody>
      </p:sp>
      <p:pic>
        <p:nvPicPr>
          <p:cNvPr id="6148" name="Picture 4" descr="cover">
            <a:extLst>
              <a:ext uri="{FF2B5EF4-FFF2-40B4-BE49-F238E27FC236}">
                <a16:creationId xmlns:a16="http://schemas.microsoft.com/office/drawing/2014/main" id="{01EC4F7F-809A-65D0-6483-0720B501DA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2850" y="2342588"/>
            <a:ext cx="2109150" cy="3208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2624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E6CAA-2B0B-8DFA-9982-5DDDCF5A64CC}"/>
              </a:ext>
            </a:extLst>
          </p:cNvPr>
          <p:cNvSpPr>
            <a:spLocks noGrp="1"/>
          </p:cNvSpPr>
          <p:nvPr>
            <p:ph type="title"/>
          </p:nvPr>
        </p:nvSpPr>
        <p:spPr/>
        <p:txBody>
          <a:bodyPr/>
          <a:lstStyle/>
          <a:p>
            <a:r>
              <a:rPr lang="en-GB" dirty="0"/>
              <a:t>Contributions of British Education Policies</a:t>
            </a:r>
            <a:endParaRPr lang="en-IN" dirty="0"/>
          </a:p>
        </p:txBody>
      </p:sp>
      <p:sp>
        <p:nvSpPr>
          <p:cNvPr id="3" name="Content Placeholder 2">
            <a:extLst>
              <a:ext uri="{FF2B5EF4-FFF2-40B4-BE49-F238E27FC236}">
                <a16:creationId xmlns:a16="http://schemas.microsoft.com/office/drawing/2014/main" id="{282B95AE-636A-34A9-D14B-EE6952713F20}"/>
              </a:ext>
            </a:extLst>
          </p:cNvPr>
          <p:cNvSpPr>
            <a:spLocks noGrp="1"/>
          </p:cNvSpPr>
          <p:nvPr>
            <p:ph idx="1"/>
          </p:nvPr>
        </p:nvSpPr>
        <p:spPr>
          <a:xfrm>
            <a:off x="484128" y="2249424"/>
            <a:ext cx="9019872" cy="4023360"/>
          </a:xfrm>
        </p:spPr>
        <p:txBody>
          <a:bodyPr>
            <a:normAutofit lnSpcReduction="10000"/>
          </a:bodyPr>
          <a:lstStyle/>
          <a:p>
            <a:pPr>
              <a:buFont typeface="Arial" panose="020B0604020202020204" pitchFamily="34" charset="0"/>
              <a:buChar char="•"/>
            </a:pPr>
            <a:r>
              <a:rPr lang="en-GB" sz="2400" b="1" dirty="0"/>
              <a:t>Despite its failures, British education brought: </a:t>
            </a:r>
            <a:br>
              <a:rPr lang="en-GB" sz="2400" b="1" dirty="0"/>
            </a:br>
            <a:r>
              <a:rPr lang="en-GB" sz="2400" b="1" dirty="0"/>
              <a:t>	Introduction of English literature &amp; science</a:t>
            </a:r>
            <a:r>
              <a:rPr lang="en-GB" sz="2400" dirty="0"/>
              <a:t> to India.</a:t>
            </a:r>
          </a:p>
          <a:p>
            <a:pPr>
              <a:buFont typeface="Arial" panose="020B0604020202020204" pitchFamily="34" charset="0"/>
              <a:buChar char="•"/>
            </a:pPr>
            <a:endParaRPr lang="en-GB" sz="2400" dirty="0"/>
          </a:p>
          <a:p>
            <a:pPr>
              <a:buFont typeface="Arial" panose="020B0604020202020204" pitchFamily="34" charset="0"/>
              <a:buChar char="•"/>
            </a:pPr>
            <a:r>
              <a:rPr lang="en-GB" sz="2400" b="1" dirty="0"/>
              <a:t>Scientific study of Indian culture</a:t>
            </a:r>
            <a:r>
              <a:rPr lang="en-GB" sz="2400" dirty="0"/>
              <a:t> (e.g., Sanskrit, historical texts).</a:t>
            </a:r>
          </a:p>
          <a:p>
            <a:pPr>
              <a:buFont typeface="Arial" panose="020B0604020202020204" pitchFamily="34" charset="0"/>
              <a:buChar char="•"/>
            </a:pPr>
            <a:endParaRPr lang="en-GB" sz="2400" dirty="0"/>
          </a:p>
          <a:p>
            <a:pPr>
              <a:buFont typeface="Arial" panose="020B0604020202020204" pitchFamily="34" charset="0"/>
              <a:buChar char="•"/>
            </a:pPr>
            <a:r>
              <a:rPr lang="en-GB" sz="2400" b="1" dirty="0"/>
              <a:t>Development of modern Indian languages</a:t>
            </a:r>
            <a:r>
              <a:rPr lang="en-GB" sz="2400" dirty="0"/>
              <a:t> (missionary work, dictionaries).</a:t>
            </a:r>
          </a:p>
          <a:p>
            <a:pPr marL="0" indent="0">
              <a:buNone/>
            </a:pPr>
            <a:endParaRPr lang="en-GB" sz="2400" dirty="0"/>
          </a:p>
          <a:p>
            <a:pPr>
              <a:buFont typeface="Arial" panose="020B0604020202020204" pitchFamily="34" charset="0"/>
              <a:buChar char="•"/>
            </a:pPr>
            <a:r>
              <a:rPr lang="en-GB" sz="2400" b="1" dirty="0"/>
              <a:t>Preservation of art &amp; heritage</a:t>
            </a:r>
            <a:r>
              <a:rPr lang="en-GB" sz="2400" dirty="0"/>
              <a:t> (Curzon’s conservation efforts).</a:t>
            </a:r>
          </a:p>
          <a:p>
            <a:endParaRPr lang="en-IN" sz="2400" dirty="0"/>
          </a:p>
        </p:txBody>
      </p:sp>
      <p:sp>
        <p:nvSpPr>
          <p:cNvPr id="4" name="Slide Number Placeholder 3">
            <a:extLst>
              <a:ext uri="{FF2B5EF4-FFF2-40B4-BE49-F238E27FC236}">
                <a16:creationId xmlns:a16="http://schemas.microsoft.com/office/drawing/2014/main" id="{C64B30B4-3128-F60B-1895-D139729A0951}"/>
              </a:ext>
            </a:extLst>
          </p:cNvPr>
          <p:cNvSpPr>
            <a:spLocks noGrp="1"/>
          </p:cNvSpPr>
          <p:nvPr>
            <p:ph type="sldNum" sz="quarter" idx="12"/>
          </p:nvPr>
        </p:nvSpPr>
        <p:spPr/>
        <p:txBody>
          <a:bodyPr/>
          <a:lstStyle/>
          <a:p>
            <a:fld id="{71766878-3199-4EAB-94E7-2D6D11070E14}" type="slidenum">
              <a:rPr lang="en-US" smtClean="0"/>
              <a:t>15</a:t>
            </a:fld>
            <a:endParaRPr lang="en-US" dirty="0"/>
          </a:p>
        </p:txBody>
      </p:sp>
      <p:pic>
        <p:nvPicPr>
          <p:cNvPr id="16386" name="Picture 2" descr="A Students History of Education in India 1800-1973">
            <a:extLst>
              <a:ext uri="{FF2B5EF4-FFF2-40B4-BE49-F238E27FC236}">
                <a16:creationId xmlns:a16="http://schemas.microsoft.com/office/drawing/2014/main" id="{3BB7CAA6-9970-F450-4948-AD9FD3C65D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4289" y="2403180"/>
            <a:ext cx="2790002" cy="378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1903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CF244-70F1-2B2A-12A9-9C69E001ACFB}"/>
              </a:ext>
            </a:extLst>
          </p:cNvPr>
          <p:cNvSpPr>
            <a:spLocks noGrp="1"/>
          </p:cNvSpPr>
          <p:nvPr>
            <p:ph type="title"/>
          </p:nvPr>
        </p:nvSpPr>
        <p:spPr/>
        <p:txBody>
          <a:bodyPr/>
          <a:lstStyle/>
          <a:p>
            <a:r>
              <a:rPr lang="en-GB" dirty="0"/>
              <a:t>British View of India’s Role</a:t>
            </a:r>
            <a:endParaRPr lang="en-IN" dirty="0"/>
          </a:p>
        </p:txBody>
      </p:sp>
      <p:sp>
        <p:nvSpPr>
          <p:cNvPr id="3" name="Content Placeholder 2">
            <a:extLst>
              <a:ext uri="{FF2B5EF4-FFF2-40B4-BE49-F238E27FC236}">
                <a16:creationId xmlns:a16="http://schemas.microsoft.com/office/drawing/2014/main" id="{B4666DC3-8FDC-8E08-1E5B-6280E30F3EFE}"/>
              </a:ext>
            </a:extLst>
          </p:cNvPr>
          <p:cNvSpPr>
            <a:spLocks noGrp="1"/>
          </p:cNvSpPr>
          <p:nvPr>
            <p:ph idx="1"/>
          </p:nvPr>
        </p:nvSpPr>
        <p:spPr/>
        <p:txBody>
          <a:bodyPr>
            <a:normAutofit/>
          </a:bodyPr>
          <a:lstStyle/>
          <a:p>
            <a:pPr>
              <a:buFont typeface="Arial" panose="020B0604020202020204" pitchFamily="34" charset="0"/>
              <a:buChar char="•"/>
            </a:pPr>
            <a:r>
              <a:rPr lang="en-GB" sz="2400" b="1" dirty="0"/>
              <a:t>Colonial Perspective on India:</a:t>
            </a:r>
            <a:endParaRPr lang="en-GB" sz="2400" dirty="0"/>
          </a:p>
          <a:p>
            <a:pPr marL="742950" lvl="1" indent="-285750">
              <a:buFont typeface="Arial" panose="020B0604020202020204" pitchFamily="34" charset="0"/>
              <a:buChar char="•"/>
            </a:pPr>
            <a:r>
              <a:rPr lang="en-GB" sz="2400" dirty="0"/>
              <a:t>Seen as a </a:t>
            </a:r>
            <a:r>
              <a:rPr lang="en-GB" sz="2400" b="1" dirty="0"/>
              <a:t>market for British goods</a:t>
            </a:r>
            <a:r>
              <a:rPr lang="en-GB" sz="2400" dirty="0"/>
              <a:t>, not as a developing nation.</a:t>
            </a:r>
          </a:p>
          <a:p>
            <a:pPr marL="742950" lvl="1" indent="-285750">
              <a:buFont typeface="Arial" panose="020B0604020202020204" pitchFamily="34" charset="0"/>
              <a:buChar char="•"/>
            </a:pPr>
            <a:r>
              <a:rPr lang="en-GB" sz="2400" dirty="0"/>
              <a:t>Missionaries saw India as a </a:t>
            </a:r>
            <a:r>
              <a:rPr lang="en-GB" sz="2400" b="1" dirty="0"/>
              <a:t>conversion ground</a:t>
            </a:r>
            <a:r>
              <a:rPr lang="en-GB" sz="2400" dirty="0"/>
              <a:t>.</a:t>
            </a:r>
          </a:p>
          <a:p>
            <a:pPr marL="742950" lvl="1" indent="-285750">
              <a:buFont typeface="Arial" panose="020B0604020202020204" pitchFamily="34" charset="0"/>
              <a:buChar char="•"/>
            </a:pPr>
            <a:endParaRPr lang="en-GB" sz="2400" dirty="0"/>
          </a:p>
          <a:p>
            <a:pPr marL="457200" lvl="1" indent="0">
              <a:buNone/>
            </a:pPr>
            <a:r>
              <a:rPr lang="en-GB" sz="2400" dirty="0"/>
              <a:t>British industries benefited, </a:t>
            </a:r>
            <a:r>
              <a:rPr lang="en-GB" sz="2400" b="1" dirty="0"/>
              <a:t>but Indian development was ignored.</a:t>
            </a:r>
          </a:p>
          <a:p>
            <a:pPr marL="457200" lvl="1" indent="0">
              <a:buNone/>
            </a:pPr>
            <a:endParaRPr lang="en-GB" sz="2400" dirty="0"/>
          </a:p>
          <a:p>
            <a:pPr marL="457200" lvl="1" indent="0">
              <a:buNone/>
            </a:pPr>
            <a:endParaRPr lang="en-GB" sz="2400" dirty="0"/>
          </a:p>
          <a:p>
            <a:pPr marL="457200" lvl="1" indent="0">
              <a:buNone/>
            </a:pPr>
            <a:r>
              <a:rPr lang="en-GB" sz="2400" b="1" dirty="0"/>
              <a:t>Education policies focused on serving British needs, not Indian aspirations.</a:t>
            </a:r>
          </a:p>
          <a:p>
            <a:endParaRPr lang="en-IN" sz="2400" dirty="0"/>
          </a:p>
        </p:txBody>
      </p:sp>
      <p:sp>
        <p:nvSpPr>
          <p:cNvPr id="4" name="Slide Number Placeholder 3">
            <a:extLst>
              <a:ext uri="{FF2B5EF4-FFF2-40B4-BE49-F238E27FC236}">
                <a16:creationId xmlns:a16="http://schemas.microsoft.com/office/drawing/2014/main" id="{C156397B-0D8A-1F8B-3514-544E8617ACDF}"/>
              </a:ext>
            </a:extLst>
          </p:cNvPr>
          <p:cNvSpPr>
            <a:spLocks noGrp="1"/>
          </p:cNvSpPr>
          <p:nvPr>
            <p:ph type="sldNum" sz="quarter" idx="12"/>
          </p:nvPr>
        </p:nvSpPr>
        <p:spPr/>
        <p:txBody>
          <a:bodyPr/>
          <a:lstStyle/>
          <a:p>
            <a:fld id="{71766878-3199-4EAB-94E7-2D6D11070E14}" type="slidenum">
              <a:rPr lang="en-US" smtClean="0"/>
              <a:t>16</a:t>
            </a:fld>
            <a:endParaRPr lang="en-US" dirty="0"/>
          </a:p>
        </p:txBody>
      </p:sp>
    </p:spTree>
    <p:extLst>
      <p:ext uri="{BB962C8B-B14F-4D97-AF65-F5344CB8AC3E}">
        <p14:creationId xmlns:p14="http://schemas.microsoft.com/office/powerpoint/2010/main" val="2891573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60BBD-6B42-95C5-6536-D26645629353}"/>
              </a:ext>
            </a:extLst>
          </p:cNvPr>
          <p:cNvSpPr>
            <a:spLocks noGrp="1"/>
          </p:cNvSpPr>
          <p:nvPr>
            <p:ph type="title"/>
          </p:nvPr>
        </p:nvSpPr>
        <p:spPr>
          <a:xfrm>
            <a:off x="1024128" y="585216"/>
            <a:ext cx="10618272" cy="1499616"/>
          </a:xfrm>
        </p:spPr>
        <p:txBody>
          <a:bodyPr/>
          <a:lstStyle/>
          <a:p>
            <a:r>
              <a:rPr lang="en-GB" dirty="0"/>
              <a:t>British Failure to Create a National Education System</a:t>
            </a:r>
            <a:endParaRPr lang="en-IN" dirty="0"/>
          </a:p>
        </p:txBody>
      </p:sp>
      <p:sp>
        <p:nvSpPr>
          <p:cNvPr id="3" name="Content Placeholder 2">
            <a:extLst>
              <a:ext uri="{FF2B5EF4-FFF2-40B4-BE49-F238E27FC236}">
                <a16:creationId xmlns:a16="http://schemas.microsoft.com/office/drawing/2014/main" id="{1B7FCF6C-947C-15BF-A3EE-B0AF0125278E}"/>
              </a:ext>
            </a:extLst>
          </p:cNvPr>
          <p:cNvSpPr>
            <a:spLocks noGrp="1"/>
          </p:cNvSpPr>
          <p:nvPr>
            <p:ph idx="1"/>
          </p:nvPr>
        </p:nvSpPr>
        <p:spPr>
          <a:xfrm>
            <a:off x="1117260" y="2178000"/>
            <a:ext cx="9720073" cy="4023360"/>
          </a:xfrm>
        </p:spPr>
        <p:txBody>
          <a:bodyPr>
            <a:normAutofit/>
          </a:bodyPr>
          <a:lstStyle/>
          <a:p>
            <a:r>
              <a:rPr lang="en-GB" sz="2400" dirty="0"/>
              <a:t>British Failure to Create a National Education System</a:t>
            </a:r>
          </a:p>
          <a:p>
            <a:endParaRPr lang="en-GB" sz="2400" dirty="0"/>
          </a:p>
          <a:p>
            <a:pPr>
              <a:buFont typeface="Arial" panose="020B0604020202020204" pitchFamily="34" charset="0"/>
              <a:buChar char="•"/>
            </a:pPr>
            <a:r>
              <a:rPr lang="en-GB" sz="2400" b="1" dirty="0"/>
              <a:t>Education remained fragmented:</a:t>
            </a:r>
            <a:endParaRPr lang="en-GB" sz="2400" dirty="0"/>
          </a:p>
          <a:p>
            <a:pPr marL="742950" lvl="1" indent="-285750">
              <a:buFont typeface="Arial" panose="020B0604020202020204" pitchFamily="34" charset="0"/>
              <a:buChar char="•"/>
            </a:pPr>
            <a:r>
              <a:rPr lang="en-GB" sz="2400" dirty="0"/>
              <a:t>Transferred to Indian control in 1921, but no solid framework existed.</a:t>
            </a:r>
          </a:p>
          <a:p>
            <a:pPr marL="742950" lvl="1" indent="-285750">
              <a:buFont typeface="Arial" panose="020B0604020202020204" pitchFamily="34" charset="0"/>
              <a:buChar char="•"/>
            </a:pPr>
            <a:r>
              <a:rPr lang="en-GB" sz="2400" dirty="0"/>
              <a:t>The 1944 Post-War Education Plan came too late.</a:t>
            </a:r>
          </a:p>
          <a:p>
            <a:pPr marL="742950" lvl="1" indent="-285750">
              <a:buFont typeface="Arial" panose="020B0604020202020204" pitchFamily="34" charset="0"/>
              <a:buChar char="•"/>
            </a:pPr>
            <a:endParaRPr lang="en-GB" sz="2400" dirty="0"/>
          </a:p>
          <a:p>
            <a:pPr marL="0" indent="0">
              <a:buNone/>
            </a:pPr>
            <a:r>
              <a:rPr lang="en-GB" sz="2400" b="1" dirty="0"/>
              <a:t>A delayed and inconsistent educational structure.</a:t>
            </a:r>
          </a:p>
          <a:p>
            <a:endParaRPr lang="en-IN" sz="2400" dirty="0"/>
          </a:p>
        </p:txBody>
      </p:sp>
      <p:sp>
        <p:nvSpPr>
          <p:cNvPr id="4" name="Slide Number Placeholder 3">
            <a:extLst>
              <a:ext uri="{FF2B5EF4-FFF2-40B4-BE49-F238E27FC236}">
                <a16:creationId xmlns:a16="http://schemas.microsoft.com/office/drawing/2014/main" id="{F40C0033-E8FA-8107-6E45-664A8E724A7B}"/>
              </a:ext>
            </a:extLst>
          </p:cNvPr>
          <p:cNvSpPr>
            <a:spLocks noGrp="1"/>
          </p:cNvSpPr>
          <p:nvPr>
            <p:ph type="sldNum" sz="quarter" idx="12"/>
          </p:nvPr>
        </p:nvSpPr>
        <p:spPr/>
        <p:txBody>
          <a:bodyPr/>
          <a:lstStyle/>
          <a:p>
            <a:fld id="{71766878-3199-4EAB-94E7-2D6D11070E14}" type="slidenum">
              <a:rPr lang="en-US" smtClean="0"/>
              <a:t>17</a:t>
            </a:fld>
            <a:endParaRPr lang="en-US" dirty="0"/>
          </a:p>
        </p:txBody>
      </p:sp>
    </p:spTree>
    <p:extLst>
      <p:ext uri="{BB962C8B-B14F-4D97-AF65-F5344CB8AC3E}">
        <p14:creationId xmlns:p14="http://schemas.microsoft.com/office/powerpoint/2010/main" val="1398868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8D60F-1C90-D52D-C169-528C066FD8FF}"/>
              </a:ext>
            </a:extLst>
          </p:cNvPr>
          <p:cNvSpPr>
            <a:spLocks noGrp="1"/>
          </p:cNvSpPr>
          <p:nvPr>
            <p:ph type="title"/>
          </p:nvPr>
        </p:nvSpPr>
        <p:spPr/>
        <p:txBody>
          <a:bodyPr/>
          <a:lstStyle/>
          <a:p>
            <a:r>
              <a:rPr lang="en-IN" dirty="0"/>
              <a:t>Influence on Social &amp; Political Reforms</a:t>
            </a:r>
          </a:p>
        </p:txBody>
      </p:sp>
      <p:sp>
        <p:nvSpPr>
          <p:cNvPr id="5" name="Rectangle 1">
            <a:extLst>
              <a:ext uri="{FF2B5EF4-FFF2-40B4-BE49-F238E27FC236}">
                <a16:creationId xmlns:a16="http://schemas.microsoft.com/office/drawing/2014/main" id="{75EA52E4-7044-3FA6-4FB8-6E11CEAA3D64}"/>
              </a:ext>
            </a:extLst>
          </p:cNvPr>
          <p:cNvSpPr>
            <a:spLocks noGrp="1" noChangeArrowheads="1"/>
          </p:cNvSpPr>
          <p:nvPr>
            <p:ph idx="1"/>
          </p:nvPr>
        </p:nvSpPr>
        <p:spPr bwMode="auto">
          <a:xfrm>
            <a:off x="1548000" y="2146351"/>
            <a:ext cx="85050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Western education led to: </a:t>
            </a:r>
            <a:r>
              <a:rPr kumimoji="0" lang="en-US" altLang="en-US" sz="2000" b="1" i="0" u="none" strike="noStrike" cap="none" normalizeH="0" baseline="0" dirty="0">
                <a:ln>
                  <a:noFill/>
                </a:ln>
                <a:solidFill>
                  <a:schemeClr val="tx1"/>
                </a:solidFill>
                <a:effectLst/>
                <a:latin typeface="Arial" panose="020B0604020202020204" pitchFamily="34" charset="0"/>
              </a:rPr>
              <a:t>Rise of social movements</a:t>
            </a:r>
            <a:r>
              <a:rPr kumimoji="0" lang="en-US" altLang="en-US" sz="2000" b="0" i="0" u="none" strike="noStrike" cap="none" normalizeH="0" baseline="0" dirty="0">
                <a:ln>
                  <a:noFill/>
                </a:ln>
                <a:solidFill>
                  <a:schemeClr val="tx1"/>
                </a:solidFill>
                <a:effectLst/>
                <a:latin typeface="Arial" panose="020B0604020202020204" pitchFamily="34" charset="0"/>
              </a:rPr>
              <a:t> (abolition of untouchability, women’s rights).</a:t>
            </a:r>
          </a:p>
          <a:p>
            <a:pPr marL="630936" lvl="1" indent="-457200" eaLnBrk="0" fontAlgn="base" hangingPunct="0">
              <a:lnSpc>
                <a:spcPct val="100000"/>
              </a:lnSpc>
              <a:spcBef>
                <a:spcPct val="0"/>
              </a:spcBef>
              <a:spcAft>
                <a:spcPct val="0"/>
              </a:spcAft>
              <a:buClrTx/>
              <a:buFont typeface="Wingdings" panose="05000000000000000000" pitchFamily="2" charset="2"/>
              <a:buChar char="§"/>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630936" lvl="1" indent="-457200" eaLnBrk="0" fontAlgn="base" hangingPunct="0">
              <a:lnSpc>
                <a:spcPct val="100000"/>
              </a:lnSpc>
              <a:spcBef>
                <a:spcPct val="0"/>
              </a:spcBef>
              <a:spcAft>
                <a:spcPct val="0"/>
              </a:spcAft>
              <a:buClrTx/>
              <a:buFont typeface="Wingdings" panose="05000000000000000000" pitchFamily="2" charset="2"/>
              <a:buChar char="§"/>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Political awareness</a:t>
            </a:r>
            <a:r>
              <a:rPr kumimoji="0" lang="en-US" altLang="en-US" sz="2400" b="0" i="0" u="none" strike="noStrike" cap="none" normalizeH="0" baseline="0" dirty="0">
                <a:ln>
                  <a:noFill/>
                </a:ln>
                <a:solidFill>
                  <a:schemeClr val="tx1"/>
                </a:solidFill>
                <a:effectLst/>
                <a:latin typeface="Arial" panose="020B0604020202020204" pitchFamily="34" charset="0"/>
              </a:rPr>
              <a:t> → Seeds of </a:t>
            </a:r>
            <a:r>
              <a:rPr kumimoji="0" lang="en-US" altLang="en-US" sz="2400" b="1" i="0" u="none" strike="noStrike" cap="none" normalizeH="0" baseline="0" dirty="0">
                <a:ln>
                  <a:noFill/>
                </a:ln>
                <a:solidFill>
                  <a:schemeClr val="tx1"/>
                </a:solidFill>
                <a:effectLst/>
                <a:latin typeface="Arial" panose="020B0604020202020204" pitchFamily="34" charset="0"/>
              </a:rPr>
              <a:t>Indian Nationalism</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Introduction to democratic institutions &amp; modern governance.</a:t>
            </a:r>
            <a:br>
              <a:rPr lang="en-US" altLang="en-US" sz="2400" b="1" dirty="0">
                <a:latin typeface="Arial" panose="020B0604020202020204" pitchFamily="34" charset="0"/>
              </a:rPr>
            </a:br>
            <a:r>
              <a:rPr kumimoji="0" lang="en-US" altLang="en-US" sz="2000" b="1" i="0" u="none" strike="noStrike" cap="none" normalizeH="0" baseline="0" dirty="0">
                <a:ln>
                  <a:noFill/>
                </a:ln>
                <a:solidFill>
                  <a:schemeClr val="tx1"/>
                </a:solidFill>
                <a:effectLst/>
                <a:latin typeface="Arial" panose="020B0604020202020204" pitchFamily="34" charset="0"/>
              </a:rPr>
              <a:t>Legacy:</a:t>
            </a:r>
            <a:r>
              <a:rPr kumimoji="0" lang="en-US" altLang="en-US" sz="2000" b="0" i="0" u="none" strike="noStrike" cap="none" normalizeH="0" baseline="0" dirty="0">
                <a:ln>
                  <a:noFill/>
                </a:ln>
                <a:solidFill>
                  <a:schemeClr val="tx1"/>
                </a:solidFill>
                <a:effectLst/>
                <a:latin typeface="Arial" panose="020B0604020202020204" pitchFamily="34" charset="0"/>
              </a:rPr>
              <a:t> Inspired leaders like Gandhi, Nehru, and Ambedkar. </a:t>
            </a:r>
          </a:p>
        </p:txBody>
      </p:sp>
      <p:sp>
        <p:nvSpPr>
          <p:cNvPr id="4" name="Slide Number Placeholder 3">
            <a:extLst>
              <a:ext uri="{FF2B5EF4-FFF2-40B4-BE49-F238E27FC236}">
                <a16:creationId xmlns:a16="http://schemas.microsoft.com/office/drawing/2014/main" id="{BD0459AA-603D-ACE5-828B-3BF2E712FB18}"/>
              </a:ext>
            </a:extLst>
          </p:cNvPr>
          <p:cNvSpPr>
            <a:spLocks noGrp="1"/>
          </p:cNvSpPr>
          <p:nvPr>
            <p:ph type="sldNum" sz="quarter" idx="12"/>
          </p:nvPr>
        </p:nvSpPr>
        <p:spPr/>
        <p:txBody>
          <a:bodyPr/>
          <a:lstStyle/>
          <a:p>
            <a:fld id="{71766878-3199-4EAB-94E7-2D6D11070E14}" type="slidenum">
              <a:rPr lang="en-US" smtClean="0"/>
              <a:t>18</a:t>
            </a:fld>
            <a:endParaRPr lang="en-US" dirty="0"/>
          </a:p>
        </p:txBody>
      </p:sp>
    </p:spTree>
    <p:extLst>
      <p:ext uri="{BB962C8B-B14F-4D97-AF65-F5344CB8AC3E}">
        <p14:creationId xmlns:p14="http://schemas.microsoft.com/office/powerpoint/2010/main" val="3793179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B37BC-C8FF-8BB3-5E95-A5ACFD9229E4}"/>
              </a:ext>
            </a:extLst>
          </p:cNvPr>
          <p:cNvSpPr>
            <a:spLocks noGrp="1"/>
          </p:cNvSpPr>
          <p:nvPr>
            <p:ph type="title"/>
          </p:nvPr>
        </p:nvSpPr>
        <p:spPr/>
        <p:txBody>
          <a:bodyPr/>
          <a:lstStyle/>
          <a:p>
            <a:r>
              <a:rPr lang="en-GB" dirty="0"/>
              <a:t>Limitations of the New Education System</a:t>
            </a:r>
            <a:endParaRPr lang="en-IN" dirty="0"/>
          </a:p>
        </p:txBody>
      </p:sp>
      <p:sp>
        <p:nvSpPr>
          <p:cNvPr id="3" name="Content Placeholder 2">
            <a:extLst>
              <a:ext uri="{FF2B5EF4-FFF2-40B4-BE49-F238E27FC236}">
                <a16:creationId xmlns:a16="http://schemas.microsoft.com/office/drawing/2014/main" id="{010FB20B-CE9B-6738-7BCC-4D0132268B02}"/>
              </a:ext>
            </a:extLst>
          </p:cNvPr>
          <p:cNvSpPr>
            <a:spLocks noGrp="1"/>
          </p:cNvSpPr>
          <p:nvPr>
            <p:ph idx="1"/>
          </p:nvPr>
        </p:nvSpPr>
        <p:spPr>
          <a:xfrm>
            <a:off x="1024128" y="2142000"/>
            <a:ext cx="8098607" cy="4023360"/>
          </a:xfrm>
        </p:spPr>
        <p:txBody>
          <a:bodyPr>
            <a:normAutofit fontScale="85000" lnSpcReduction="20000"/>
          </a:bodyPr>
          <a:lstStyle/>
          <a:p>
            <a:pPr>
              <a:buFont typeface="Arial" panose="020B0604020202020204" pitchFamily="34" charset="0"/>
              <a:buChar char="•"/>
            </a:pPr>
            <a:r>
              <a:rPr lang="en-GB" sz="2800" b="1" dirty="0"/>
              <a:t>Economic Neglect:</a:t>
            </a:r>
            <a:r>
              <a:rPr lang="en-GB" sz="2800" dirty="0"/>
              <a:t> Education did not promote industrial or vocational skills.</a:t>
            </a:r>
          </a:p>
          <a:p>
            <a:pPr>
              <a:buFont typeface="Arial" panose="020B0604020202020204" pitchFamily="34" charset="0"/>
              <a:buChar char="•"/>
            </a:pPr>
            <a:r>
              <a:rPr lang="en-GB" sz="2800" dirty="0"/>
              <a:t>Lack of technical and </a:t>
            </a:r>
            <a:r>
              <a:rPr lang="en-GB" sz="2800" b="1" dirty="0"/>
              <a:t>Vocational education (Gandhi’s lament and </a:t>
            </a:r>
            <a:r>
              <a:rPr lang="en-GB" sz="2800" b="1" i="1" dirty="0"/>
              <a:t>Nai </a:t>
            </a:r>
            <a:r>
              <a:rPr lang="en-GB" sz="2800" b="1" i="1" dirty="0" err="1"/>
              <a:t>Talim</a:t>
            </a:r>
            <a:r>
              <a:rPr lang="en-GB" sz="2800" b="1" dirty="0"/>
              <a:t>)</a:t>
            </a:r>
          </a:p>
          <a:p>
            <a:pPr>
              <a:buFont typeface="Arial" panose="020B0604020202020204" pitchFamily="34" charset="0"/>
              <a:buChar char="•"/>
            </a:pPr>
            <a:r>
              <a:rPr lang="en-GB" sz="2800" b="1" dirty="0"/>
              <a:t>Limited Reach:</a:t>
            </a:r>
            <a:r>
              <a:rPr lang="en-GB" sz="2800" dirty="0"/>
              <a:t> Only a small elite received education.</a:t>
            </a:r>
          </a:p>
          <a:p>
            <a:pPr>
              <a:buFont typeface="Arial" panose="020B0604020202020204" pitchFamily="34" charset="0"/>
              <a:buChar char="•"/>
            </a:pPr>
            <a:r>
              <a:rPr lang="en-GB" sz="2800" b="1" dirty="0"/>
              <a:t>Class &amp; Caste Divide:</a:t>
            </a:r>
            <a:endParaRPr lang="en-GB" sz="2800" dirty="0"/>
          </a:p>
          <a:p>
            <a:pPr marL="742950" lvl="1" indent="-285750">
              <a:buFont typeface="Arial" panose="020B0604020202020204" pitchFamily="34" charset="0"/>
              <a:buChar char="•"/>
            </a:pPr>
            <a:r>
              <a:rPr lang="en-GB" sz="2400" dirty="0">
                <a:highlight>
                  <a:srgbClr val="FFFF00"/>
                </a:highlight>
              </a:rPr>
              <a:t>Benefited urban, upper-caste elites.</a:t>
            </a:r>
          </a:p>
          <a:p>
            <a:pPr marL="742950" lvl="1" indent="-285750">
              <a:buFont typeface="Arial" panose="020B0604020202020204" pitchFamily="34" charset="0"/>
              <a:buChar char="•"/>
            </a:pPr>
            <a:r>
              <a:rPr lang="en-GB" sz="2400" dirty="0">
                <a:highlight>
                  <a:srgbClr val="FFFF00"/>
                </a:highlight>
              </a:rPr>
              <a:t>Rural and lower-caste masses remained largely uneducated.</a:t>
            </a:r>
          </a:p>
          <a:p>
            <a:pPr marL="742950" lvl="1" indent="-285750">
              <a:buFont typeface="Arial" panose="020B0604020202020204" pitchFamily="34" charset="0"/>
              <a:buChar char="•"/>
            </a:pPr>
            <a:r>
              <a:rPr lang="en-GB" sz="2400" dirty="0">
                <a:highlight>
                  <a:srgbClr val="FFFF00"/>
                </a:highlight>
              </a:rPr>
              <a:t>Gap between those who </a:t>
            </a:r>
            <a:r>
              <a:rPr lang="en-GB" sz="2400" b="1" dirty="0">
                <a:highlight>
                  <a:srgbClr val="FFFF00"/>
                </a:highlight>
              </a:rPr>
              <a:t>“work with mind” (white collar, </a:t>
            </a:r>
            <a:r>
              <a:rPr lang="en-GB" sz="2400" b="1" i="1" dirty="0">
                <a:highlight>
                  <a:srgbClr val="FFFF00"/>
                </a:highlight>
              </a:rPr>
              <a:t>babu</a:t>
            </a:r>
            <a:r>
              <a:rPr lang="en-GB" sz="2400" b="1" dirty="0">
                <a:highlight>
                  <a:srgbClr val="FFFF00"/>
                </a:highlight>
              </a:rPr>
              <a:t>)</a:t>
            </a:r>
            <a:r>
              <a:rPr lang="en-GB" sz="2400" dirty="0">
                <a:highlight>
                  <a:srgbClr val="FFFF00"/>
                </a:highlight>
              </a:rPr>
              <a:t> and </a:t>
            </a:r>
            <a:r>
              <a:rPr lang="en-GB" sz="2400" b="1" dirty="0">
                <a:highlight>
                  <a:srgbClr val="FFFF00"/>
                </a:highlight>
              </a:rPr>
              <a:t>“work with hand” (blue collar)</a:t>
            </a:r>
          </a:p>
          <a:p>
            <a:pPr>
              <a:buFont typeface="Arial" panose="020B0604020202020204" pitchFamily="34" charset="0"/>
              <a:buChar char="•"/>
            </a:pPr>
            <a:r>
              <a:rPr lang="en-GB" sz="2800" b="1" dirty="0"/>
              <a:t>Enduring Impact:</a:t>
            </a:r>
            <a:r>
              <a:rPr lang="en-GB" sz="2800" dirty="0"/>
              <a:t> Social divide in education still persists today.</a:t>
            </a:r>
          </a:p>
          <a:p>
            <a:endParaRPr lang="en-IN" sz="2800" dirty="0"/>
          </a:p>
        </p:txBody>
      </p:sp>
      <p:sp>
        <p:nvSpPr>
          <p:cNvPr id="4" name="Slide Number Placeholder 3">
            <a:extLst>
              <a:ext uri="{FF2B5EF4-FFF2-40B4-BE49-F238E27FC236}">
                <a16:creationId xmlns:a16="http://schemas.microsoft.com/office/drawing/2014/main" id="{09365D8B-C448-2228-058A-C5D29EC0E3AB}"/>
              </a:ext>
            </a:extLst>
          </p:cNvPr>
          <p:cNvSpPr>
            <a:spLocks noGrp="1"/>
          </p:cNvSpPr>
          <p:nvPr>
            <p:ph type="sldNum" sz="quarter" idx="12"/>
          </p:nvPr>
        </p:nvSpPr>
        <p:spPr/>
        <p:txBody>
          <a:bodyPr/>
          <a:lstStyle/>
          <a:p>
            <a:fld id="{71766878-3199-4EAB-94E7-2D6D11070E14}" type="slidenum">
              <a:rPr lang="en-US" smtClean="0"/>
              <a:t>19</a:t>
            </a:fld>
            <a:endParaRPr lang="en-US" dirty="0"/>
          </a:p>
        </p:txBody>
      </p:sp>
      <p:pic>
        <p:nvPicPr>
          <p:cNvPr id="17410" name="Picture 2" descr="A Students History of Education in India 1800-1973">
            <a:extLst>
              <a:ext uri="{FF2B5EF4-FFF2-40B4-BE49-F238E27FC236}">
                <a16:creationId xmlns:a16="http://schemas.microsoft.com/office/drawing/2014/main" id="{B0622BB8-26C1-0976-6646-99154D1CC9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1565" y="2448268"/>
            <a:ext cx="2511535" cy="3410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5891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CBD65-E6D2-7D8C-FFB1-BEA32B777672}"/>
              </a:ext>
            </a:extLst>
          </p:cNvPr>
          <p:cNvSpPr>
            <a:spLocks noGrp="1"/>
          </p:cNvSpPr>
          <p:nvPr>
            <p:ph type="title"/>
          </p:nvPr>
        </p:nvSpPr>
        <p:spPr/>
        <p:txBody>
          <a:bodyPr>
            <a:normAutofit/>
          </a:bodyPr>
          <a:lstStyle/>
          <a:p>
            <a:r>
              <a:rPr lang="en-GB" b="1" dirty="0"/>
              <a:t>Key Policy Mistakes &amp; Their Effects</a:t>
            </a:r>
            <a:br>
              <a:rPr lang="en-GB" b="1" dirty="0"/>
            </a:br>
            <a:endParaRPr lang="en-IN" dirty="0"/>
          </a:p>
        </p:txBody>
      </p:sp>
      <p:sp>
        <p:nvSpPr>
          <p:cNvPr id="5" name="Rectangle 1">
            <a:extLst>
              <a:ext uri="{FF2B5EF4-FFF2-40B4-BE49-F238E27FC236}">
                <a16:creationId xmlns:a16="http://schemas.microsoft.com/office/drawing/2014/main" id="{D7DAC697-45B6-FD48-D47A-8C7F3184F733}"/>
              </a:ext>
            </a:extLst>
          </p:cNvPr>
          <p:cNvSpPr>
            <a:spLocks noGrp="1" noChangeArrowheads="1"/>
          </p:cNvSpPr>
          <p:nvPr>
            <p:ph idx="1"/>
          </p:nvPr>
        </p:nvSpPr>
        <p:spPr bwMode="auto">
          <a:xfrm>
            <a:off x="1024129" y="2084832"/>
            <a:ext cx="796147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panose="020B0604020202020204" pitchFamily="34" charset="0"/>
              </a:rPr>
              <a:t>Neglect of Indigenous Education:</a:t>
            </a:r>
            <a:r>
              <a:rPr kumimoji="0" lang="en-US" altLang="en-US" sz="2400" b="0" i="0" u="none" strike="noStrike" cap="none" normalizeH="0" baseline="0" dirty="0">
                <a:ln>
                  <a:noFill/>
                </a:ln>
                <a:solidFill>
                  <a:schemeClr val="tx1"/>
                </a:solidFill>
                <a:effectLst/>
                <a:latin typeface="Arial" panose="020B0604020202020204" pitchFamily="34" charset="0"/>
              </a:rPr>
              <a:t> </a:t>
            </a: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Led to its decline.</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1" i="0" u="none" strike="noStrike" cap="none" normalizeH="0" baseline="0" dirty="0">
                <a:ln>
                  <a:noFill/>
                </a:ln>
                <a:solidFill>
                  <a:schemeClr val="tx1"/>
                </a:solidFill>
                <a:effectLst/>
                <a:latin typeface="Arial" panose="020B0604020202020204" pitchFamily="34" charset="0"/>
              </a:rPr>
              <a:t>English-Centric Model:</a:t>
            </a:r>
            <a:r>
              <a:rPr kumimoji="0" lang="en-US" altLang="en-US" sz="2400" b="0" i="0" u="none" strike="noStrike" cap="none" normalizeH="0" baseline="0" dirty="0">
                <a:ln>
                  <a:noFill/>
                </a:ln>
                <a:solidFill>
                  <a:schemeClr val="tx1"/>
                </a:solidFill>
                <a:effectLst/>
                <a:latin typeface="Arial" panose="020B0604020202020204" pitchFamily="34" charset="0"/>
              </a:rPr>
              <a:t> Ignored regional languages.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panose="020B0604020202020204" pitchFamily="34" charset="0"/>
              </a:rPr>
              <a:t>Downward Filtration Theory:</a:t>
            </a:r>
            <a:r>
              <a:rPr kumimoji="0" lang="en-US" altLang="en-US" sz="2400" b="0" i="0" u="none" strike="noStrike" cap="none" normalizeH="0" baseline="0" dirty="0">
                <a:ln>
                  <a:noFill/>
                </a:ln>
                <a:solidFill>
                  <a:schemeClr val="tx1"/>
                </a:solidFill>
                <a:effectLst/>
                <a:latin typeface="Arial" panose="020B0604020202020204" pitchFamily="34" charset="0"/>
              </a:rPr>
              <a:t> Kept education restricted to the elite. </a:t>
            </a:r>
            <a:r>
              <a:rPr kumimoji="0" lang="en-US" altLang="en-US" sz="2400" b="0" i="1" u="none" strike="noStrike" cap="none" normalizeH="0" baseline="0" dirty="0">
                <a:ln>
                  <a:noFill/>
                </a:ln>
                <a:solidFill>
                  <a:schemeClr val="tx1"/>
                </a:solidFill>
                <a:effectLst/>
                <a:latin typeface="Arial" panose="020B0604020202020204" pitchFamily="34" charset="0"/>
              </a:rPr>
              <a:t>Created </a:t>
            </a:r>
            <a:r>
              <a:rPr kumimoji="0" lang="en-US" altLang="en-US" sz="2400" b="1" i="1" u="none" strike="noStrike" cap="none" normalizeH="0" baseline="0" dirty="0">
                <a:ln>
                  <a:noFill/>
                </a:ln>
                <a:solidFill>
                  <a:schemeClr val="tx1"/>
                </a:solidFill>
                <a:effectLst/>
                <a:latin typeface="Arial" panose="020B0604020202020204" pitchFamily="34" charset="0"/>
              </a:rPr>
              <a:t>social and economic divides</a:t>
            </a:r>
            <a:r>
              <a:rPr kumimoji="0" lang="en-US" altLang="en-US" sz="2400" b="0" i="1" u="none" strike="noStrike" cap="none" normalizeH="0" baseline="0" dirty="0">
                <a:ln>
                  <a:noFill/>
                </a:ln>
                <a:solidFill>
                  <a:schemeClr val="tx1"/>
                </a:solidFill>
                <a:effectLst/>
                <a:latin typeface="Arial" panose="020B0604020202020204" pitchFamily="34" charset="0"/>
              </a:rPr>
              <a:t> in access to education. </a:t>
            </a:r>
          </a:p>
        </p:txBody>
      </p:sp>
      <p:sp>
        <p:nvSpPr>
          <p:cNvPr id="4" name="Slide Number Placeholder 3">
            <a:extLst>
              <a:ext uri="{FF2B5EF4-FFF2-40B4-BE49-F238E27FC236}">
                <a16:creationId xmlns:a16="http://schemas.microsoft.com/office/drawing/2014/main" id="{9DD2D74A-44E3-6D63-5F9C-62265BB5728A}"/>
              </a:ext>
            </a:extLst>
          </p:cNvPr>
          <p:cNvSpPr>
            <a:spLocks noGrp="1"/>
          </p:cNvSpPr>
          <p:nvPr>
            <p:ph type="sldNum" sz="quarter" idx="12"/>
          </p:nvPr>
        </p:nvSpPr>
        <p:spPr/>
        <p:txBody>
          <a:bodyPr/>
          <a:lstStyle/>
          <a:p>
            <a:fld id="{71766878-3199-4EAB-94E7-2D6D11070E14}" type="slidenum">
              <a:rPr lang="en-US" smtClean="0"/>
              <a:t>20</a:t>
            </a:fld>
            <a:endParaRPr lang="en-US" dirty="0"/>
          </a:p>
        </p:txBody>
      </p:sp>
    </p:spTree>
    <p:extLst>
      <p:ext uri="{BB962C8B-B14F-4D97-AF65-F5344CB8AC3E}">
        <p14:creationId xmlns:p14="http://schemas.microsoft.com/office/powerpoint/2010/main" val="29764866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A5FA8-FF19-438D-FD0D-50EB03DB7F4E}"/>
              </a:ext>
            </a:extLst>
          </p:cNvPr>
          <p:cNvSpPr>
            <a:spLocks noGrp="1"/>
          </p:cNvSpPr>
          <p:nvPr>
            <p:ph type="title"/>
          </p:nvPr>
        </p:nvSpPr>
        <p:spPr/>
        <p:txBody>
          <a:bodyPr/>
          <a:lstStyle/>
          <a:p>
            <a:r>
              <a:rPr lang="en-GB" dirty="0"/>
              <a:t>Lack of East-West Educational Synthesis</a:t>
            </a:r>
            <a:endParaRPr lang="en-IN" dirty="0"/>
          </a:p>
        </p:txBody>
      </p:sp>
      <p:sp>
        <p:nvSpPr>
          <p:cNvPr id="8" name="Rectangle 4">
            <a:extLst>
              <a:ext uri="{FF2B5EF4-FFF2-40B4-BE49-F238E27FC236}">
                <a16:creationId xmlns:a16="http://schemas.microsoft.com/office/drawing/2014/main" id="{E6C7D331-F287-7E27-FCB9-6858394A147F}"/>
              </a:ext>
            </a:extLst>
          </p:cNvPr>
          <p:cNvSpPr>
            <a:spLocks noGrp="1" noChangeArrowheads="1"/>
          </p:cNvSpPr>
          <p:nvPr>
            <p:ph idx="1"/>
          </p:nvPr>
        </p:nvSpPr>
        <p:spPr bwMode="auto">
          <a:xfrm>
            <a:off x="829728" y="2593784"/>
            <a:ext cx="843596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Failure to integrate Western and Indian knowledge.</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panose="020B0604020202020204" pitchFamily="34" charset="0"/>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British officials:</a:t>
            </a: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Many dismissed Indian culture as inferior. </a:t>
            </a:r>
          </a:p>
          <a:p>
            <a:pPr marL="0" marR="0" lvl="0" indent="0" algn="l" defTabSz="914400" rtl="0" eaLnBrk="0" fontAlgn="base" latinLnBrk="0" hangingPunct="0">
              <a:lnSpc>
                <a:spcPct val="100000"/>
              </a:lnSpc>
              <a:spcBef>
                <a:spcPct val="0"/>
              </a:spcBef>
              <a:spcAft>
                <a:spcPct val="0"/>
              </a:spcAft>
              <a:buClrTx/>
              <a:buSzTx/>
              <a:buNone/>
              <a:tabLst/>
            </a:pPr>
            <a:br>
              <a:rPr lang="en-US" altLang="en-US" sz="2400" dirty="0">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Lost opportunity to create a </a:t>
            </a:r>
            <a:r>
              <a:rPr kumimoji="0" lang="en-US" altLang="en-US" sz="2400" b="1" i="0" u="none" strike="noStrike" cap="none" normalizeH="0" baseline="0" dirty="0">
                <a:ln>
                  <a:noFill/>
                </a:ln>
                <a:solidFill>
                  <a:schemeClr val="tx1"/>
                </a:solidFill>
                <a:effectLst/>
                <a:latin typeface="Arial" panose="020B0604020202020204" pitchFamily="34" charset="0"/>
              </a:rPr>
              <a:t>blended education model</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
        <p:nvSpPr>
          <p:cNvPr id="4" name="Slide Number Placeholder 3">
            <a:extLst>
              <a:ext uri="{FF2B5EF4-FFF2-40B4-BE49-F238E27FC236}">
                <a16:creationId xmlns:a16="http://schemas.microsoft.com/office/drawing/2014/main" id="{9D03057A-BA8C-D22B-24BB-AD78EF569E83}"/>
              </a:ext>
            </a:extLst>
          </p:cNvPr>
          <p:cNvSpPr>
            <a:spLocks noGrp="1"/>
          </p:cNvSpPr>
          <p:nvPr>
            <p:ph type="sldNum" sz="quarter" idx="12"/>
          </p:nvPr>
        </p:nvSpPr>
        <p:spPr/>
        <p:txBody>
          <a:bodyPr/>
          <a:lstStyle/>
          <a:p>
            <a:fld id="{71766878-3199-4EAB-94E7-2D6D11070E14}" type="slidenum">
              <a:rPr lang="en-US" smtClean="0"/>
              <a:t>21</a:t>
            </a:fld>
            <a:endParaRPr lang="en-US" dirty="0"/>
          </a:p>
        </p:txBody>
      </p:sp>
    </p:spTree>
    <p:extLst>
      <p:ext uri="{BB962C8B-B14F-4D97-AF65-F5344CB8AC3E}">
        <p14:creationId xmlns:p14="http://schemas.microsoft.com/office/powerpoint/2010/main" val="975612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CB32E-33C0-5D35-0DB5-B7CFC7D34E33}"/>
              </a:ext>
            </a:extLst>
          </p:cNvPr>
          <p:cNvSpPr>
            <a:spLocks noGrp="1"/>
          </p:cNvSpPr>
          <p:nvPr>
            <p:ph type="title"/>
          </p:nvPr>
        </p:nvSpPr>
        <p:spPr/>
        <p:txBody>
          <a:bodyPr/>
          <a:lstStyle/>
          <a:p>
            <a:r>
              <a:rPr lang="en-IN" dirty="0"/>
              <a:t>Legacy</a:t>
            </a:r>
          </a:p>
        </p:txBody>
      </p:sp>
      <p:sp>
        <p:nvSpPr>
          <p:cNvPr id="3" name="Content Placeholder 2">
            <a:extLst>
              <a:ext uri="{FF2B5EF4-FFF2-40B4-BE49-F238E27FC236}">
                <a16:creationId xmlns:a16="http://schemas.microsoft.com/office/drawing/2014/main" id="{C5E7F9AE-3A8D-25A6-8EC3-A3E5CE6FC5B2}"/>
              </a:ext>
            </a:extLst>
          </p:cNvPr>
          <p:cNvSpPr>
            <a:spLocks noGrp="1"/>
          </p:cNvSpPr>
          <p:nvPr>
            <p:ph idx="1"/>
          </p:nvPr>
        </p:nvSpPr>
        <p:spPr/>
        <p:txBody>
          <a:bodyPr>
            <a:normAutofit/>
          </a:bodyPr>
          <a:lstStyle/>
          <a:p>
            <a:pPr>
              <a:buFont typeface="Arial" panose="020B0604020202020204" pitchFamily="34" charset="0"/>
              <a:buChar char="•"/>
            </a:pPr>
            <a:r>
              <a:rPr lang="en-GB" sz="2800" b="1" dirty="0"/>
              <a:t>Transformation in Indian Society:</a:t>
            </a:r>
            <a:r>
              <a:rPr lang="en-GB" sz="2800" dirty="0"/>
              <a:t> Education fostered literature, press, social reforms, and nationalism.</a:t>
            </a:r>
          </a:p>
          <a:p>
            <a:pPr>
              <a:buFont typeface="Arial" panose="020B0604020202020204" pitchFamily="34" charset="0"/>
              <a:buChar char="•"/>
            </a:pPr>
            <a:r>
              <a:rPr lang="en-GB" sz="2800" b="1" dirty="0"/>
              <a:t>Seeds of the Independence Movement:</a:t>
            </a:r>
            <a:r>
              <a:rPr lang="en-GB" sz="2800" dirty="0"/>
              <a:t> Awareness of colonial exploitation led to organized resistance.</a:t>
            </a:r>
          </a:p>
          <a:p>
            <a:pPr>
              <a:buFont typeface="Arial" panose="020B0604020202020204" pitchFamily="34" charset="0"/>
              <a:buChar char="•"/>
            </a:pPr>
            <a:r>
              <a:rPr lang="en-GB" sz="2800" b="1" dirty="0"/>
              <a:t>Continuing Relevance:</a:t>
            </a:r>
            <a:r>
              <a:rPr lang="en-GB" sz="2800" dirty="0"/>
              <a:t> Challenges of access and equity in education persist in India even today.</a:t>
            </a:r>
          </a:p>
          <a:p>
            <a:pPr marL="0" indent="0">
              <a:buNone/>
            </a:pPr>
            <a:r>
              <a:rPr lang="en-GB" sz="2800" i="1" dirty="0"/>
              <a:t>Education system was a paradox—while it empowered Indians intellectually, it also reinforced social inequalities.</a:t>
            </a:r>
            <a:endParaRPr lang="en-GB" sz="2800" dirty="0"/>
          </a:p>
          <a:p>
            <a:pPr marL="0" indent="0">
              <a:buNone/>
            </a:pPr>
            <a:endParaRPr lang="en-IN" dirty="0"/>
          </a:p>
        </p:txBody>
      </p:sp>
      <p:sp>
        <p:nvSpPr>
          <p:cNvPr id="4" name="Slide Number Placeholder 3">
            <a:extLst>
              <a:ext uri="{FF2B5EF4-FFF2-40B4-BE49-F238E27FC236}">
                <a16:creationId xmlns:a16="http://schemas.microsoft.com/office/drawing/2014/main" id="{EB8E4BB4-DDAD-A224-BF2B-4554EA0A488D}"/>
              </a:ext>
            </a:extLst>
          </p:cNvPr>
          <p:cNvSpPr>
            <a:spLocks noGrp="1"/>
          </p:cNvSpPr>
          <p:nvPr>
            <p:ph type="sldNum" sz="quarter" idx="12"/>
          </p:nvPr>
        </p:nvSpPr>
        <p:spPr/>
        <p:txBody>
          <a:bodyPr/>
          <a:lstStyle/>
          <a:p>
            <a:fld id="{71766878-3199-4EAB-94E7-2D6D11070E14}" type="slidenum">
              <a:rPr lang="en-US" smtClean="0"/>
              <a:t>22</a:t>
            </a:fld>
            <a:endParaRPr lang="en-US" dirty="0"/>
          </a:p>
        </p:txBody>
      </p:sp>
    </p:spTree>
    <p:extLst>
      <p:ext uri="{BB962C8B-B14F-4D97-AF65-F5344CB8AC3E}">
        <p14:creationId xmlns:p14="http://schemas.microsoft.com/office/powerpoint/2010/main" val="962678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083" y="157461"/>
            <a:ext cx="10515600" cy="404131"/>
          </a:xfrm>
        </p:spPr>
        <p:txBody>
          <a:bodyPr>
            <a:normAutofit fontScale="90000"/>
          </a:bodyPr>
          <a:lstStyle/>
          <a:p>
            <a:r>
              <a:rPr lang="en-US" dirty="0"/>
              <a:t>Regional variations</a:t>
            </a:r>
          </a:p>
        </p:txBody>
      </p:sp>
      <p:sp>
        <p:nvSpPr>
          <p:cNvPr id="4" name="Slide Number Placeholder 3"/>
          <p:cNvSpPr>
            <a:spLocks noGrp="1"/>
          </p:cNvSpPr>
          <p:nvPr>
            <p:ph type="sldNum" sz="quarter" idx="12"/>
          </p:nvPr>
        </p:nvSpPr>
        <p:spPr/>
        <p:txBody>
          <a:bodyPr/>
          <a:lstStyle/>
          <a:p>
            <a:fld id="{71766878-3199-4EAB-94E7-2D6D11070E14}" type="slidenum">
              <a:rPr lang="en-US" smtClean="0"/>
              <a:t>23</a:t>
            </a:fld>
            <a:endParaRPr lang="en-US" dirty="0"/>
          </a:p>
        </p:txBody>
      </p:sp>
      <p:pic>
        <p:nvPicPr>
          <p:cNvPr id="5" name="Picture 4"/>
          <p:cNvPicPr>
            <a:picLocks noChangeAspect="1"/>
          </p:cNvPicPr>
          <p:nvPr/>
        </p:nvPicPr>
        <p:blipFill rotWithShape="1">
          <a:blip r:embed="rId3"/>
          <a:srcRect l="4141"/>
          <a:stretch/>
        </p:blipFill>
        <p:spPr>
          <a:xfrm rot="5400000">
            <a:off x="2623881" y="-634575"/>
            <a:ext cx="6098778" cy="8886372"/>
          </a:xfrm>
          <a:prstGeom prst="rect">
            <a:avLst/>
          </a:prstGeom>
        </p:spPr>
      </p:pic>
      <p:sp>
        <p:nvSpPr>
          <p:cNvPr id="6" name="Rectangle 5"/>
          <p:cNvSpPr/>
          <p:nvPr/>
        </p:nvSpPr>
        <p:spPr>
          <a:xfrm flipH="1">
            <a:off x="4349161" y="2039256"/>
            <a:ext cx="1016000" cy="4666343"/>
          </a:xfrm>
          <a:prstGeom prst="rect">
            <a:avLst/>
          </a:prstGeom>
          <a:solidFill>
            <a:srgbClr val="FFFF66">
              <a:alpha val="49020"/>
            </a:srgbClr>
          </a:solidFill>
          <a:ln w="28575">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Rectangle 6"/>
          <p:cNvSpPr/>
          <p:nvPr/>
        </p:nvSpPr>
        <p:spPr>
          <a:xfrm>
            <a:off x="1354092" y="5254455"/>
            <a:ext cx="8762363" cy="493202"/>
          </a:xfrm>
          <a:prstGeom prst="rect">
            <a:avLst/>
          </a:prstGeom>
          <a:noFill/>
          <a:ln w="28575">
            <a:solidFill>
              <a:srgbClr val="00B05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p:cNvSpPr/>
          <p:nvPr/>
        </p:nvSpPr>
        <p:spPr>
          <a:xfrm flipH="1">
            <a:off x="8222343" y="2039257"/>
            <a:ext cx="1016000" cy="4666343"/>
          </a:xfrm>
          <a:prstGeom prst="rect">
            <a:avLst/>
          </a:prstGeom>
          <a:solidFill>
            <a:srgbClr val="FFFF66">
              <a:alpha val="49020"/>
            </a:srgbClr>
          </a:solidFill>
          <a:ln w="28575">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Rectangle 8"/>
          <p:cNvSpPr/>
          <p:nvPr/>
        </p:nvSpPr>
        <p:spPr>
          <a:xfrm>
            <a:off x="1230083" y="3961862"/>
            <a:ext cx="8886373" cy="493202"/>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TextBox 10"/>
          <p:cNvSpPr txBox="1"/>
          <p:nvPr/>
        </p:nvSpPr>
        <p:spPr>
          <a:xfrm>
            <a:off x="10473222" y="5101326"/>
            <a:ext cx="1157946" cy="646331"/>
          </a:xfrm>
          <a:prstGeom prst="rect">
            <a:avLst/>
          </a:prstGeom>
          <a:noFill/>
        </p:spPr>
        <p:txBody>
          <a:bodyPr wrap="none" rtlCol="0">
            <a:spAutoFit/>
          </a:bodyPr>
          <a:lstStyle/>
          <a:p>
            <a:r>
              <a:rPr lang="en-US" dirty="0" err="1"/>
              <a:t>Nurullah</a:t>
            </a:r>
            <a:r>
              <a:rPr lang="en-US" dirty="0"/>
              <a:t> </a:t>
            </a:r>
          </a:p>
          <a:p>
            <a:r>
              <a:rPr lang="en-US" dirty="0"/>
              <a:t>and Naik</a:t>
            </a:r>
          </a:p>
        </p:txBody>
      </p:sp>
      <p:sp>
        <p:nvSpPr>
          <p:cNvPr id="12" name="Rectangle 11"/>
          <p:cNvSpPr/>
          <p:nvPr/>
        </p:nvSpPr>
        <p:spPr>
          <a:xfrm>
            <a:off x="1226076" y="5843065"/>
            <a:ext cx="8886373" cy="396089"/>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55206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24363-D82F-C08B-CEAC-288B08EB74F3}"/>
              </a:ext>
            </a:extLst>
          </p:cNvPr>
          <p:cNvSpPr>
            <a:spLocks noGrp="1"/>
          </p:cNvSpPr>
          <p:nvPr>
            <p:ph type="title"/>
          </p:nvPr>
        </p:nvSpPr>
        <p:spPr/>
        <p:txBody>
          <a:bodyPr/>
          <a:lstStyle/>
          <a:p>
            <a:r>
              <a:rPr lang="en-IN" dirty="0"/>
              <a:t>COMPULSORY EDUCATION ACTS</a:t>
            </a:r>
          </a:p>
        </p:txBody>
      </p:sp>
      <p:pic>
        <p:nvPicPr>
          <p:cNvPr id="5" name="Content Placeholder 4" descr="A close-up of a document&#10;&#10;AI-generated content may be incorrect.">
            <a:extLst>
              <a:ext uri="{FF2B5EF4-FFF2-40B4-BE49-F238E27FC236}">
                <a16:creationId xmlns:a16="http://schemas.microsoft.com/office/drawing/2014/main" id="{754EB5EF-75F4-62CD-4E28-B59C38E3CB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8772" y="2286000"/>
            <a:ext cx="9430594" cy="4022725"/>
          </a:xfrm>
        </p:spPr>
      </p:pic>
    </p:spTree>
    <p:extLst>
      <p:ext uri="{BB962C8B-B14F-4D97-AF65-F5344CB8AC3E}">
        <p14:creationId xmlns:p14="http://schemas.microsoft.com/office/powerpoint/2010/main" val="1738561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871" y="393421"/>
            <a:ext cx="11062354" cy="827850"/>
          </a:xfrm>
        </p:spPr>
        <p:txBody>
          <a:bodyPr>
            <a:noAutofit/>
          </a:bodyPr>
          <a:lstStyle/>
          <a:p>
            <a:r>
              <a:rPr lang="en-US" sz="4000" dirty="0"/>
              <a:t>Progress in Compulsory education: 1937-45</a:t>
            </a:r>
          </a:p>
        </p:txBody>
      </p:sp>
      <p:sp>
        <p:nvSpPr>
          <p:cNvPr id="5" name="Slide Number Placeholder 4"/>
          <p:cNvSpPr>
            <a:spLocks noGrp="1"/>
          </p:cNvSpPr>
          <p:nvPr>
            <p:ph type="sldNum" sz="quarter" idx="12"/>
          </p:nvPr>
        </p:nvSpPr>
        <p:spPr/>
        <p:txBody>
          <a:bodyPr/>
          <a:lstStyle/>
          <a:p>
            <a:fld id="{71766878-3199-4EAB-94E7-2D6D11070E14}" type="slidenum">
              <a:rPr lang="en-US" smtClean="0"/>
              <a:t>25</a:t>
            </a:fld>
            <a:endParaRPr lang="en-US" dirty="0"/>
          </a:p>
        </p:txBody>
      </p:sp>
      <p:pic>
        <p:nvPicPr>
          <p:cNvPr id="4" name="Picture 3"/>
          <p:cNvPicPr>
            <a:picLocks noChangeAspect="1"/>
          </p:cNvPicPr>
          <p:nvPr/>
        </p:nvPicPr>
        <p:blipFill>
          <a:blip r:embed="rId2"/>
          <a:stretch>
            <a:fillRect/>
          </a:stretch>
        </p:blipFill>
        <p:spPr>
          <a:xfrm>
            <a:off x="739502" y="1472520"/>
            <a:ext cx="5494653" cy="5029880"/>
          </a:xfrm>
          <a:prstGeom prst="rect">
            <a:avLst/>
          </a:prstGeom>
        </p:spPr>
      </p:pic>
      <p:sp>
        <p:nvSpPr>
          <p:cNvPr id="6" name="Rectangle 5"/>
          <p:cNvSpPr/>
          <p:nvPr/>
        </p:nvSpPr>
        <p:spPr>
          <a:xfrm>
            <a:off x="678542" y="3481578"/>
            <a:ext cx="5494653" cy="415865"/>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TextBox 6"/>
          <p:cNvSpPr txBox="1"/>
          <p:nvPr/>
        </p:nvSpPr>
        <p:spPr>
          <a:xfrm>
            <a:off x="6830339" y="1387102"/>
            <a:ext cx="5120869" cy="4524315"/>
          </a:xfrm>
          <a:prstGeom prst="rect">
            <a:avLst/>
          </a:prstGeom>
          <a:noFill/>
        </p:spPr>
        <p:txBody>
          <a:bodyPr wrap="square" rtlCol="0">
            <a:spAutoFit/>
          </a:bodyPr>
          <a:lstStyle/>
          <a:p>
            <a:r>
              <a:rPr lang="en-US" dirty="0"/>
              <a:t>If these statistics are compared with those of 1936-37, it will be noticed that </a:t>
            </a:r>
            <a:r>
              <a:rPr lang="en-US" b="1" dirty="0"/>
              <a:t>the best progress was made in Bombay where compulsion was introduced in several municipal areas and in all villages </a:t>
            </a:r>
            <a:r>
              <a:rPr lang="en-US" dirty="0"/>
              <a:t>with a population of 1,000 or more. .</a:t>
            </a:r>
          </a:p>
          <a:p>
            <a:endParaRPr lang="en-US" dirty="0"/>
          </a:p>
          <a:p>
            <a:r>
              <a:rPr lang="en-US" dirty="0"/>
              <a:t>In </a:t>
            </a:r>
            <a:r>
              <a:rPr lang="en-US" b="1" dirty="0"/>
              <a:t>other parts of India, the progress can only be called poor</a:t>
            </a:r>
            <a:r>
              <a:rPr lang="en-US" dirty="0"/>
              <a:t>. When it is remembered that the nation was irrevocably committed to the introduction of compulsory education for boys and girls in the age group of 6 to 14 before 1960-61, it becomes at once evident that the </a:t>
            </a:r>
            <a:r>
              <a:rPr lang="en-US" b="1" dirty="0"/>
              <a:t>progress of compulsory education in the past, if it can be called progress at all, was extremely disappointing</a:t>
            </a:r>
          </a:p>
        </p:txBody>
      </p:sp>
      <p:sp>
        <p:nvSpPr>
          <p:cNvPr id="8" name="TextBox 7"/>
          <p:cNvSpPr txBox="1"/>
          <p:nvPr/>
        </p:nvSpPr>
        <p:spPr>
          <a:xfrm>
            <a:off x="7097486" y="6429829"/>
            <a:ext cx="1872629" cy="369332"/>
          </a:xfrm>
          <a:prstGeom prst="rect">
            <a:avLst/>
          </a:prstGeom>
          <a:noFill/>
        </p:spPr>
        <p:txBody>
          <a:bodyPr wrap="none" rtlCol="0">
            <a:spAutoFit/>
          </a:bodyPr>
          <a:lstStyle/>
          <a:p>
            <a:r>
              <a:rPr lang="en-US" dirty="0" err="1"/>
              <a:t>Nurullah</a:t>
            </a:r>
            <a:r>
              <a:rPr lang="en-US" dirty="0"/>
              <a:t> and </a:t>
            </a:r>
            <a:r>
              <a:rPr lang="en-US" dirty="0" err="1"/>
              <a:t>Naik</a:t>
            </a:r>
            <a:endParaRPr lang="en-US" dirty="0"/>
          </a:p>
        </p:txBody>
      </p:sp>
      <p:sp>
        <p:nvSpPr>
          <p:cNvPr id="9" name="Rectangle 8">
            <a:extLst>
              <a:ext uri="{FF2B5EF4-FFF2-40B4-BE49-F238E27FC236}">
                <a16:creationId xmlns:a16="http://schemas.microsoft.com/office/drawing/2014/main" id="{5D656D2C-3430-FB41-B1E9-58072AE20DB9}"/>
              </a:ext>
            </a:extLst>
          </p:cNvPr>
          <p:cNvSpPr/>
          <p:nvPr/>
        </p:nvSpPr>
        <p:spPr>
          <a:xfrm>
            <a:off x="739502" y="4148692"/>
            <a:ext cx="5494653" cy="415865"/>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824122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93662"/>
            <a:ext cx="10406063" cy="1035050"/>
          </a:xfrm>
        </p:spPr>
        <p:txBody>
          <a:bodyPr>
            <a:noAutofit/>
          </a:bodyPr>
          <a:lstStyle/>
          <a:p>
            <a:r>
              <a:rPr lang="en-US" sz="4000" dirty="0"/>
              <a:t>State of Education at </a:t>
            </a:r>
            <a:r>
              <a:rPr lang="en-US" sz="4000" b="1" dirty="0"/>
              <a:t>India’s Independence</a:t>
            </a:r>
          </a:p>
        </p:txBody>
      </p:sp>
      <p:sp>
        <p:nvSpPr>
          <p:cNvPr id="3" name="Content Placeholder 2"/>
          <p:cNvSpPr>
            <a:spLocks noGrp="1"/>
          </p:cNvSpPr>
          <p:nvPr>
            <p:ph idx="1"/>
          </p:nvPr>
        </p:nvSpPr>
        <p:spPr>
          <a:xfrm>
            <a:off x="1115736" y="1214743"/>
            <a:ext cx="10128526" cy="5514976"/>
          </a:xfrm>
        </p:spPr>
        <p:txBody>
          <a:bodyPr>
            <a:normAutofit/>
          </a:bodyPr>
          <a:lstStyle/>
          <a:p>
            <a:r>
              <a:rPr lang="en-US" sz="2400" dirty="0">
                <a:solidFill>
                  <a:srgbClr val="FF0000"/>
                </a:solidFill>
              </a:rPr>
              <a:t>Population in 1947 : </a:t>
            </a:r>
            <a:r>
              <a:rPr lang="en-US" sz="2400" b="1" dirty="0">
                <a:solidFill>
                  <a:srgbClr val="FF0000"/>
                </a:solidFill>
              </a:rPr>
              <a:t>around 406 million</a:t>
            </a:r>
            <a:r>
              <a:rPr lang="en-US" sz="2400" dirty="0"/>
              <a:t> (India + Pakistan combined)</a:t>
            </a:r>
          </a:p>
          <a:p>
            <a:r>
              <a:rPr lang="en-US" sz="2400" dirty="0">
                <a:solidFill>
                  <a:srgbClr val="FF0000"/>
                </a:solidFill>
              </a:rPr>
              <a:t>Elementary Education: </a:t>
            </a:r>
          </a:p>
          <a:p>
            <a:pPr lvl="1"/>
            <a:r>
              <a:rPr lang="en-US" sz="2000" b="1" dirty="0"/>
              <a:t>Elementary schools: </a:t>
            </a:r>
            <a:r>
              <a:rPr lang="en-US" sz="2000" b="1" dirty="0">
                <a:solidFill>
                  <a:srgbClr val="FF0000"/>
                </a:solidFill>
              </a:rPr>
              <a:t>1.72 lakhs </a:t>
            </a:r>
            <a:r>
              <a:rPr lang="en-US" sz="2000" dirty="0"/>
              <a:t>(decline from 1.89 lakhs in 1936-37)</a:t>
            </a:r>
          </a:p>
          <a:p>
            <a:pPr lvl="1"/>
            <a:r>
              <a:rPr lang="en-US" sz="2000" b="1" dirty="0"/>
              <a:t>Number of pupils</a:t>
            </a:r>
            <a:r>
              <a:rPr lang="en-US" sz="2000" dirty="0"/>
              <a:t> :  </a:t>
            </a:r>
            <a:r>
              <a:rPr lang="en-US" sz="2000" b="1" dirty="0">
                <a:solidFill>
                  <a:srgbClr val="FF0000"/>
                </a:solidFill>
              </a:rPr>
              <a:t>1.3 crore </a:t>
            </a:r>
            <a:r>
              <a:rPr lang="en-US" sz="2000" dirty="0"/>
              <a:t>(increase from 1.05 crore in 1937)</a:t>
            </a:r>
          </a:p>
          <a:p>
            <a:pPr lvl="1"/>
            <a:r>
              <a:rPr lang="en-US" sz="2000" b="1" dirty="0"/>
              <a:t>Expenditure</a:t>
            </a:r>
            <a:r>
              <a:rPr lang="en-US" sz="2000" dirty="0"/>
              <a:t>: </a:t>
            </a:r>
            <a:r>
              <a:rPr lang="en-US" sz="2000" b="1" dirty="0"/>
              <a:t>15.5 crores</a:t>
            </a:r>
          </a:p>
          <a:p>
            <a:r>
              <a:rPr lang="en-US" sz="2400" dirty="0">
                <a:solidFill>
                  <a:srgbClr val="FF0000"/>
                </a:solidFill>
              </a:rPr>
              <a:t>Secondary Education:</a:t>
            </a:r>
          </a:p>
          <a:p>
            <a:pPr lvl="1"/>
            <a:r>
              <a:rPr lang="en-US" sz="2000" b="1" dirty="0"/>
              <a:t>Number of schools</a:t>
            </a:r>
            <a:r>
              <a:rPr lang="en-US" sz="2000" dirty="0"/>
              <a:t>: </a:t>
            </a:r>
            <a:r>
              <a:rPr lang="en-US" sz="2000" b="1" dirty="0">
                <a:solidFill>
                  <a:srgbClr val="FF0000"/>
                </a:solidFill>
              </a:rPr>
              <a:t>17,250</a:t>
            </a:r>
            <a:r>
              <a:rPr lang="en-US" sz="2000" dirty="0">
                <a:solidFill>
                  <a:srgbClr val="FF0000"/>
                </a:solidFill>
              </a:rPr>
              <a:t> (I</a:t>
            </a:r>
            <a:r>
              <a:rPr lang="en-US" sz="2000" dirty="0"/>
              <a:t>ncrease from 13,400 in 1936-37)</a:t>
            </a:r>
          </a:p>
          <a:p>
            <a:pPr lvl="1"/>
            <a:r>
              <a:rPr lang="en-US" sz="2000" b="1" dirty="0"/>
              <a:t>Number of Pupils</a:t>
            </a:r>
            <a:r>
              <a:rPr lang="en-US" sz="2000" dirty="0"/>
              <a:t>: </a:t>
            </a:r>
            <a:r>
              <a:rPr lang="en-US" sz="2000" b="1" dirty="0">
                <a:solidFill>
                  <a:srgbClr val="FF0000"/>
                </a:solidFill>
              </a:rPr>
              <a:t>36.06 lakhs</a:t>
            </a:r>
            <a:r>
              <a:rPr lang="en-US" sz="2000" dirty="0">
                <a:solidFill>
                  <a:srgbClr val="FF0000"/>
                </a:solidFill>
              </a:rPr>
              <a:t> </a:t>
            </a:r>
            <a:r>
              <a:rPr lang="en-US" sz="2000" dirty="0"/>
              <a:t>(Increase from   23.93 lakhs in 1936-37)</a:t>
            </a:r>
          </a:p>
          <a:p>
            <a:pPr lvl="1"/>
            <a:r>
              <a:rPr lang="en-US" sz="2000" b="1" dirty="0"/>
              <a:t>Expenditure: 17.9 crores</a:t>
            </a:r>
          </a:p>
          <a:p>
            <a:r>
              <a:rPr lang="en-US" sz="2400" dirty="0"/>
              <a:t>Higher Education: </a:t>
            </a:r>
          </a:p>
          <a:p>
            <a:pPr lvl="1"/>
            <a:r>
              <a:rPr lang="en-US" sz="2000" b="1" dirty="0">
                <a:solidFill>
                  <a:srgbClr val="FF0000"/>
                </a:solidFill>
              </a:rPr>
              <a:t>15 Universities</a:t>
            </a:r>
            <a:r>
              <a:rPr lang="en-US" sz="2000" dirty="0"/>
              <a:t>, 16,000 students , expenditure – 2.03 crores</a:t>
            </a:r>
          </a:p>
          <a:p>
            <a:pPr lvl="1"/>
            <a:r>
              <a:rPr lang="en-US" sz="2000" b="1" dirty="0">
                <a:solidFill>
                  <a:srgbClr val="FF0000"/>
                </a:solidFill>
              </a:rPr>
              <a:t>300 Arts and Science Colleges</a:t>
            </a:r>
            <a:r>
              <a:rPr lang="en-US" sz="2000" b="1" dirty="0"/>
              <a:t>, </a:t>
            </a:r>
            <a:r>
              <a:rPr lang="en-US" sz="2000" dirty="0"/>
              <a:t>Pupils: 96,000 , expenditure- 3.53 crores</a:t>
            </a:r>
          </a:p>
          <a:p>
            <a:pPr lvl="1"/>
            <a:r>
              <a:rPr lang="en-US" sz="2000" b="1" dirty="0">
                <a:solidFill>
                  <a:srgbClr val="FF0000"/>
                </a:solidFill>
              </a:rPr>
              <a:t>16 engineering and technical colleges</a:t>
            </a:r>
            <a:r>
              <a:rPr lang="en-US" sz="2000" dirty="0">
                <a:solidFill>
                  <a:srgbClr val="FF0000"/>
                </a:solidFill>
              </a:rPr>
              <a:t>, </a:t>
            </a:r>
            <a:r>
              <a:rPr lang="en-US" sz="2000" dirty="0"/>
              <a:t>72,000 students; expenditure – 2.73 crores </a:t>
            </a:r>
          </a:p>
        </p:txBody>
      </p:sp>
      <p:sp>
        <p:nvSpPr>
          <p:cNvPr id="6" name="Slide Number Placeholder 5"/>
          <p:cNvSpPr>
            <a:spLocks noGrp="1"/>
          </p:cNvSpPr>
          <p:nvPr>
            <p:ph type="sldNum" sz="quarter" idx="12"/>
          </p:nvPr>
        </p:nvSpPr>
        <p:spPr/>
        <p:txBody>
          <a:bodyPr/>
          <a:lstStyle/>
          <a:p>
            <a:fld id="{71766878-3199-4EAB-94E7-2D6D11070E14}" type="slidenum">
              <a:rPr lang="en-US" smtClean="0"/>
              <a:t>26</a:t>
            </a:fld>
            <a:endParaRPr lang="en-US" dirty="0"/>
          </a:p>
        </p:txBody>
      </p:sp>
      <p:sp>
        <p:nvSpPr>
          <p:cNvPr id="4" name="TextBox 3"/>
          <p:cNvSpPr txBox="1"/>
          <p:nvPr/>
        </p:nvSpPr>
        <p:spPr>
          <a:xfrm>
            <a:off x="7141029" y="6313715"/>
            <a:ext cx="1120820" cy="369332"/>
          </a:xfrm>
          <a:prstGeom prst="rect">
            <a:avLst/>
          </a:prstGeom>
          <a:noFill/>
        </p:spPr>
        <p:txBody>
          <a:bodyPr wrap="none" rtlCol="0">
            <a:spAutoFit/>
          </a:bodyPr>
          <a:lstStyle/>
          <a:p>
            <a:r>
              <a:rPr lang="en-US" dirty="0"/>
              <a:t>S C Ghosh</a:t>
            </a:r>
          </a:p>
        </p:txBody>
      </p:sp>
    </p:spTree>
    <p:extLst>
      <p:ext uri="{BB962C8B-B14F-4D97-AF65-F5344CB8AC3E}">
        <p14:creationId xmlns:p14="http://schemas.microsoft.com/office/powerpoint/2010/main" val="1721447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D1D13C7-DFF8-BAB4-4D01-894917C4B8B4}"/>
              </a:ext>
            </a:extLst>
          </p:cNvPr>
          <p:cNvPicPr>
            <a:picLocks noChangeAspect="1"/>
          </p:cNvPicPr>
          <p:nvPr/>
        </p:nvPicPr>
        <p:blipFill>
          <a:blip r:embed="rId3"/>
          <a:stretch>
            <a:fillRect/>
          </a:stretch>
        </p:blipFill>
        <p:spPr>
          <a:xfrm>
            <a:off x="7547429" y="591166"/>
            <a:ext cx="4438906" cy="1693603"/>
          </a:xfrm>
          <a:prstGeom prst="rect">
            <a:avLst/>
          </a:prstGeom>
        </p:spPr>
      </p:pic>
      <p:sp>
        <p:nvSpPr>
          <p:cNvPr id="4" name="Slide Number Placeholder 3">
            <a:extLst>
              <a:ext uri="{FF2B5EF4-FFF2-40B4-BE49-F238E27FC236}">
                <a16:creationId xmlns:a16="http://schemas.microsoft.com/office/drawing/2014/main" id="{C71A5660-B8D6-A68A-C5A7-6BFBFBD58BBD}"/>
              </a:ext>
            </a:extLst>
          </p:cNvPr>
          <p:cNvSpPr>
            <a:spLocks noGrp="1"/>
          </p:cNvSpPr>
          <p:nvPr>
            <p:ph type="sldNum" sz="quarter" idx="12"/>
          </p:nvPr>
        </p:nvSpPr>
        <p:spPr/>
        <p:txBody>
          <a:bodyPr/>
          <a:lstStyle/>
          <a:p>
            <a:fld id="{D57F1E4F-1CFF-5643-939E-217C01CDF565}" type="slidenum">
              <a:rPr lang="en-US" smtClean="0"/>
              <a:pPr/>
              <a:t>27</a:t>
            </a:fld>
            <a:endParaRPr lang="en-US" dirty="0"/>
          </a:p>
        </p:txBody>
      </p:sp>
      <p:pic>
        <p:nvPicPr>
          <p:cNvPr id="8" name="Picture 7">
            <a:extLst>
              <a:ext uri="{FF2B5EF4-FFF2-40B4-BE49-F238E27FC236}">
                <a16:creationId xmlns:a16="http://schemas.microsoft.com/office/drawing/2014/main" id="{B49512C3-3DF0-2763-2ED2-DFAF8B324E0F}"/>
              </a:ext>
            </a:extLst>
          </p:cNvPr>
          <p:cNvPicPr>
            <a:picLocks noChangeAspect="1"/>
          </p:cNvPicPr>
          <p:nvPr/>
        </p:nvPicPr>
        <p:blipFill>
          <a:blip r:embed="rId4"/>
          <a:stretch>
            <a:fillRect/>
          </a:stretch>
        </p:blipFill>
        <p:spPr>
          <a:xfrm>
            <a:off x="507133" y="1039597"/>
            <a:ext cx="7040296" cy="5132603"/>
          </a:xfrm>
          <a:prstGeom prst="rect">
            <a:avLst/>
          </a:prstGeom>
        </p:spPr>
      </p:pic>
      <p:sp>
        <p:nvSpPr>
          <p:cNvPr id="9" name="Title 1">
            <a:extLst>
              <a:ext uri="{FF2B5EF4-FFF2-40B4-BE49-F238E27FC236}">
                <a16:creationId xmlns:a16="http://schemas.microsoft.com/office/drawing/2014/main" id="{0F562070-49CD-3183-985A-D57E75EC2DEA}"/>
              </a:ext>
            </a:extLst>
          </p:cNvPr>
          <p:cNvSpPr txBox="1">
            <a:spLocks/>
          </p:cNvSpPr>
          <p:nvPr/>
        </p:nvSpPr>
        <p:spPr>
          <a:xfrm>
            <a:off x="158870" y="368554"/>
            <a:ext cx="6247476" cy="648184"/>
          </a:xfrm>
          <a:prstGeom prst="rect">
            <a:avLst/>
          </a:prstGeom>
        </p:spPr>
        <p:txBody>
          <a:bodyPr>
            <a:no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sz="2800">
                <a:latin typeface="Times New Roman" panose="02020603050405020304" pitchFamily="18" charset="0"/>
                <a:cs typeface="Times New Roman" panose="02020603050405020304" pitchFamily="18" charset="0"/>
              </a:rPr>
              <a:t>Schools in Colonial India -1929 </a:t>
            </a:r>
            <a:endParaRPr lang="en-GB" sz="2800"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6117BCC-B631-9C76-4E5C-57E5E32096AF}"/>
              </a:ext>
            </a:extLst>
          </p:cNvPr>
          <p:cNvSpPr/>
          <p:nvPr/>
        </p:nvSpPr>
        <p:spPr>
          <a:xfrm>
            <a:off x="1712686" y="2518227"/>
            <a:ext cx="2227943" cy="309301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a:t>
            </a:r>
          </a:p>
        </p:txBody>
      </p:sp>
      <p:sp>
        <p:nvSpPr>
          <p:cNvPr id="11" name="TextBox 10">
            <a:extLst>
              <a:ext uri="{FF2B5EF4-FFF2-40B4-BE49-F238E27FC236}">
                <a16:creationId xmlns:a16="http://schemas.microsoft.com/office/drawing/2014/main" id="{60F22621-A2A8-25EB-B0C4-026FE611B017}"/>
              </a:ext>
            </a:extLst>
          </p:cNvPr>
          <p:cNvSpPr txBox="1"/>
          <p:nvPr/>
        </p:nvSpPr>
        <p:spPr>
          <a:xfrm>
            <a:off x="2270538" y="2284769"/>
            <a:ext cx="880007" cy="276999"/>
          </a:xfrm>
          <a:prstGeom prst="rect">
            <a:avLst/>
          </a:prstGeom>
          <a:noFill/>
        </p:spPr>
        <p:txBody>
          <a:bodyPr wrap="square" rtlCol="0">
            <a:spAutoFit/>
          </a:bodyPr>
          <a:lstStyle/>
          <a:p>
            <a:r>
              <a:rPr lang="en-IN" sz="1200" b="1" dirty="0">
                <a:solidFill>
                  <a:srgbClr val="FF9900"/>
                </a:solidFill>
              </a:rPr>
              <a:t>LOCAL</a:t>
            </a:r>
            <a:endParaRPr lang="en-IN" b="1" dirty="0">
              <a:solidFill>
                <a:srgbClr val="FF9900"/>
              </a:solidFill>
            </a:endParaRPr>
          </a:p>
        </p:txBody>
      </p:sp>
      <p:sp>
        <p:nvSpPr>
          <p:cNvPr id="12" name="TextBox 11">
            <a:extLst>
              <a:ext uri="{FF2B5EF4-FFF2-40B4-BE49-F238E27FC236}">
                <a16:creationId xmlns:a16="http://schemas.microsoft.com/office/drawing/2014/main" id="{FF2E16BF-9ED1-0AC4-363F-44788C8EA771}"/>
              </a:ext>
            </a:extLst>
          </p:cNvPr>
          <p:cNvSpPr txBox="1"/>
          <p:nvPr/>
        </p:nvSpPr>
        <p:spPr>
          <a:xfrm>
            <a:off x="4143243" y="2262998"/>
            <a:ext cx="880007" cy="276999"/>
          </a:xfrm>
          <a:prstGeom prst="rect">
            <a:avLst/>
          </a:prstGeom>
          <a:noFill/>
        </p:spPr>
        <p:txBody>
          <a:bodyPr wrap="square" rtlCol="0">
            <a:spAutoFit/>
          </a:bodyPr>
          <a:lstStyle/>
          <a:p>
            <a:r>
              <a:rPr lang="en-IN" sz="1200" b="1" dirty="0">
                <a:solidFill>
                  <a:srgbClr val="0070C0"/>
                </a:solidFill>
              </a:rPr>
              <a:t>STATE</a:t>
            </a:r>
            <a:endParaRPr lang="en-IN" b="1" dirty="0">
              <a:solidFill>
                <a:srgbClr val="0070C0"/>
              </a:solidFill>
            </a:endParaRPr>
          </a:p>
        </p:txBody>
      </p:sp>
      <p:pic>
        <p:nvPicPr>
          <p:cNvPr id="13" name="Picture 4" descr="Hartog, Sir Philip Joseph - Banglapedia">
            <a:extLst>
              <a:ext uri="{FF2B5EF4-FFF2-40B4-BE49-F238E27FC236}">
                <a16:creationId xmlns:a16="http://schemas.microsoft.com/office/drawing/2014/main" id="{A44ED85C-FF6B-5E7D-E094-BEA944697A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36923" y="2680434"/>
            <a:ext cx="1890435" cy="244511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8D497E80-B0D2-8CE7-7A55-6B94BF4E50AC}"/>
              </a:ext>
            </a:extLst>
          </p:cNvPr>
          <p:cNvSpPr txBox="1"/>
          <p:nvPr/>
        </p:nvSpPr>
        <p:spPr>
          <a:xfrm>
            <a:off x="8336923" y="5426580"/>
            <a:ext cx="1799260" cy="369332"/>
          </a:xfrm>
          <a:prstGeom prst="rect">
            <a:avLst/>
          </a:prstGeom>
          <a:noFill/>
        </p:spPr>
        <p:txBody>
          <a:bodyPr wrap="square" rtlCol="0">
            <a:spAutoFit/>
          </a:bodyPr>
          <a:lstStyle/>
          <a:p>
            <a:r>
              <a:rPr lang="en-IN" dirty="0"/>
              <a:t>Philip Hartog</a:t>
            </a:r>
          </a:p>
        </p:txBody>
      </p:sp>
      <p:sp>
        <p:nvSpPr>
          <p:cNvPr id="2" name="Rectangle 1">
            <a:extLst>
              <a:ext uri="{FF2B5EF4-FFF2-40B4-BE49-F238E27FC236}">
                <a16:creationId xmlns:a16="http://schemas.microsoft.com/office/drawing/2014/main" id="{CC9FAA67-01A4-EFEA-4431-9E9FE140C9E5}"/>
              </a:ext>
            </a:extLst>
          </p:cNvPr>
          <p:cNvSpPr/>
          <p:nvPr/>
        </p:nvSpPr>
        <p:spPr>
          <a:xfrm>
            <a:off x="4982029" y="2401497"/>
            <a:ext cx="1351660" cy="320974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a:t>
            </a:r>
          </a:p>
        </p:txBody>
      </p:sp>
    </p:spTree>
    <p:extLst>
      <p:ext uri="{BB962C8B-B14F-4D97-AF65-F5344CB8AC3E}">
        <p14:creationId xmlns:p14="http://schemas.microsoft.com/office/powerpoint/2010/main" val="1264043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4419C8-C0FF-753B-972E-77F491472934}"/>
              </a:ext>
            </a:extLst>
          </p:cNvPr>
          <p:cNvSpPr>
            <a:spLocks noGrp="1"/>
          </p:cNvSpPr>
          <p:nvPr>
            <p:ph type="dt" sz="half" idx="10"/>
          </p:nvPr>
        </p:nvSpPr>
        <p:spPr/>
        <p:txBody>
          <a:bodyPr/>
          <a:lstStyle/>
          <a:p>
            <a:fld id="{B9F13C14-5F9A-46FD-A259-8885D2533FF9}" type="datetime1">
              <a:rPr lang="en-US" smtClean="0"/>
              <a:t>7/3/2026</a:t>
            </a:fld>
            <a:endParaRPr lang="en-US" dirty="0"/>
          </a:p>
        </p:txBody>
      </p:sp>
      <p:sp>
        <p:nvSpPr>
          <p:cNvPr id="4" name="Footer Placeholder 3">
            <a:extLst>
              <a:ext uri="{FF2B5EF4-FFF2-40B4-BE49-F238E27FC236}">
                <a16:creationId xmlns:a16="http://schemas.microsoft.com/office/drawing/2014/main" id="{FBEEBA07-1BBE-F569-A15E-6BE86FA238BC}"/>
              </a:ext>
            </a:extLst>
          </p:cNvPr>
          <p:cNvSpPr>
            <a:spLocks noGrp="1"/>
          </p:cNvSpPr>
          <p:nvPr>
            <p:ph type="ftr" sz="quarter" idx="11"/>
          </p:nvPr>
        </p:nvSpPr>
        <p:spPr/>
        <p:txBody>
          <a:bodyPr/>
          <a:lstStyle/>
          <a:p>
            <a:endParaRPr lang="en-US" dirty="0"/>
          </a:p>
        </p:txBody>
      </p:sp>
      <p:sp>
        <p:nvSpPr>
          <p:cNvPr id="2" name="Slide Number Placeholder 1">
            <a:extLst>
              <a:ext uri="{FF2B5EF4-FFF2-40B4-BE49-F238E27FC236}">
                <a16:creationId xmlns:a16="http://schemas.microsoft.com/office/drawing/2014/main" id="{E07BC2FF-F9F4-BB7B-7547-6D928AFD0B59}"/>
              </a:ext>
            </a:extLst>
          </p:cNvPr>
          <p:cNvSpPr>
            <a:spLocks noGrp="1"/>
          </p:cNvSpPr>
          <p:nvPr>
            <p:ph type="sldNum" sz="quarter" idx="12"/>
          </p:nvPr>
        </p:nvSpPr>
        <p:spPr/>
        <p:txBody>
          <a:bodyPr>
            <a:normAutofit/>
          </a:bodyPr>
          <a:lstStyle/>
          <a:p>
            <a:fld id="{D57F1E4F-1CFF-5643-939E-217C01CDF565}" type="slidenum">
              <a:rPr lang="en-US" smtClean="0"/>
              <a:pPr/>
              <a:t>28</a:t>
            </a:fld>
            <a:endParaRPr lang="en-US" dirty="0"/>
          </a:p>
        </p:txBody>
      </p:sp>
      <p:pic>
        <p:nvPicPr>
          <p:cNvPr id="5" name="Picture 2" descr="https://lh6.googleusercontent.com/pJMkjbdABj8gk4qeHUsqIi4wvmy9Dy5u8TMdfxwcF2E13ojSzVJnuNNr2BUebOVGIk2rD4sPeCHmawlWjGZsgOzyWwBII-XkYBafE1mYNX2Ahxyx5LGvQnWTpqQy_USkTarwAIBihXWat8nWlKv2ubgY_dF3uGhLXZu4mpgahHQPzX_bxDlYSELixQ">
            <a:extLst>
              <a:ext uri="{FF2B5EF4-FFF2-40B4-BE49-F238E27FC236}">
                <a16:creationId xmlns:a16="http://schemas.microsoft.com/office/drawing/2014/main" id="{1769E26B-8990-0ED0-43BF-C7D5446F0E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5784"/>
          <a:stretch/>
        </p:blipFill>
        <p:spPr bwMode="auto">
          <a:xfrm>
            <a:off x="2258979" y="202516"/>
            <a:ext cx="6910363" cy="406468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6" name="Picture 2" descr="https://lh6.googleusercontent.com/pJMkjbdABj8gk4qeHUsqIi4wvmy9Dy5u8TMdfxwcF2E13ojSzVJnuNNr2BUebOVGIk2rD4sPeCHmawlWjGZsgOzyWwBII-XkYBafE1mYNX2Ahxyx5LGvQnWTpqQy_USkTarwAIBihXWat8nWlKv2ubgY_dF3uGhLXZu4mpgahHQPzX_bxDlYSELixQ">
            <a:extLst>
              <a:ext uri="{FF2B5EF4-FFF2-40B4-BE49-F238E27FC236}">
                <a16:creationId xmlns:a16="http://schemas.microsoft.com/office/drawing/2014/main" id="{701D355F-150F-D9FF-2F65-722BE79458D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5196"/>
          <a:stretch/>
        </p:blipFill>
        <p:spPr bwMode="auto">
          <a:xfrm>
            <a:off x="2249258" y="4604121"/>
            <a:ext cx="6912120" cy="136124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Footer Placeholder 7">
            <a:extLst>
              <a:ext uri="{FF2B5EF4-FFF2-40B4-BE49-F238E27FC236}">
                <a16:creationId xmlns:a16="http://schemas.microsoft.com/office/drawing/2014/main" id="{4172F8E8-A719-9A43-8934-28EBBB5B0802}"/>
              </a:ext>
            </a:extLst>
          </p:cNvPr>
          <p:cNvSpPr txBox="1">
            <a:spLocks/>
          </p:cNvSpPr>
          <p:nvPr/>
        </p:nvSpPr>
        <p:spPr>
          <a:xfrm>
            <a:off x="161183" y="6232837"/>
            <a:ext cx="9719663" cy="378754"/>
          </a:xfrm>
          <a:prstGeom prst="rect">
            <a:avLst/>
          </a:prstGeom>
        </p:spPr>
        <p:txBody>
          <a:bodyPr vert="horz" lIns="91440" tIns="45720" rIns="91440" bIns="45720" rtlCol="0" anchor="ctr"/>
          <a:lstStyle>
            <a:defPPr>
              <a:defRPr lang="en-US"/>
            </a:defPPr>
            <a:lvl1pPr marL="0" algn="l" defTabSz="457200" rtl="0" eaLnBrk="1" latinLnBrk="0" hangingPunct="1">
              <a:defRPr sz="1050" kern="1200">
                <a:solidFill>
                  <a:schemeClr val="tx2">
                    <a:lumMod val="20000"/>
                    <a:lumOff val="8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latin typeface="Times New Roman" panose="02020603050405020304" pitchFamily="18" charset="0"/>
                <a:cs typeface="Times New Roman" panose="02020603050405020304" pitchFamily="18" charset="0"/>
              </a:rPr>
              <a:t>UDISE [Dataset] (2020) Department of School Education, Ministry of Education, Government of India &lt;https://dashboard.udiseplus.gov.in/#/reportDashboard/sReport&gt;</a:t>
            </a:r>
          </a:p>
        </p:txBody>
      </p:sp>
      <p:sp>
        <p:nvSpPr>
          <p:cNvPr id="8" name="Rectangle 7">
            <a:extLst>
              <a:ext uri="{FF2B5EF4-FFF2-40B4-BE49-F238E27FC236}">
                <a16:creationId xmlns:a16="http://schemas.microsoft.com/office/drawing/2014/main" id="{325110BB-EA88-9112-A102-1BAC17533C8B}"/>
              </a:ext>
            </a:extLst>
          </p:cNvPr>
          <p:cNvSpPr/>
          <p:nvPr/>
        </p:nvSpPr>
        <p:spPr>
          <a:xfrm>
            <a:off x="4492171" y="1139371"/>
            <a:ext cx="827315" cy="460828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a:t>
            </a:r>
          </a:p>
        </p:txBody>
      </p:sp>
      <p:sp>
        <p:nvSpPr>
          <p:cNvPr id="9" name="Rectangle 8">
            <a:extLst>
              <a:ext uri="{FF2B5EF4-FFF2-40B4-BE49-F238E27FC236}">
                <a16:creationId xmlns:a16="http://schemas.microsoft.com/office/drawing/2014/main" id="{7A4CD8C5-D7CB-73B8-ACC3-B69DC13D55EB}"/>
              </a:ext>
            </a:extLst>
          </p:cNvPr>
          <p:cNvSpPr/>
          <p:nvPr/>
        </p:nvSpPr>
        <p:spPr>
          <a:xfrm>
            <a:off x="1886857" y="5421086"/>
            <a:ext cx="7649029" cy="297543"/>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a:t>
            </a:r>
          </a:p>
        </p:txBody>
      </p:sp>
      <p:cxnSp>
        <p:nvCxnSpPr>
          <p:cNvPr id="10" name="Straight Connector 9">
            <a:extLst>
              <a:ext uri="{FF2B5EF4-FFF2-40B4-BE49-F238E27FC236}">
                <a16:creationId xmlns:a16="http://schemas.microsoft.com/office/drawing/2014/main" id="{682986AD-C573-4962-84E8-3F7E0BA67EEF}"/>
              </a:ext>
            </a:extLst>
          </p:cNvPr>
          <p:cNvCxnSpPr>
            <a:cxnSpLocks/>
          </p:cNvCxnSpPr>
          <p:nvPr/>
        </p:nvCxnSpPr>
        <p:spPr>
          <a:xfrm>
            <a:off x="239698" y="6230431"/>
            <a:ext cx="10600773" cy="1"/>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AC5E089-F01A-F294-2515-15D8D917BC80}"/>
              </a:ext>
            </a:extLst>
          </p:cNvPr>
          <p:cNvSpPr txBox="1"/>
          <p:nvPr/>
        </p:nvSpPr>
        <p:spPr>
          <a:xfrm>
            <a:off x="3612164" y="1107938"/>
            <a:ext cx="880007" cy="276999"/>
          </a:xfrm>
          <a:prstGeom prst="rect">
            <a:avLst/>
          </a:prstGeom>
          <a:noFill/>
        </p:spPr>
        <p:txBody>
          <a:bodyPr wrap="square" rtlCol="0">
            <a:spAutoFit/>
          </a:bodyPr>
          <a:lstStyle/>
          <a:p>
            <a:r>
              <a:rPr lang="en-IN" sz="1200" b="1" dirty="0">
                <a:solidFill>
                  <a:srgbClr val="0070C0"/>
                </a:solidFill>
              </a:rPr>
              <a:t>STATE</a:t>
            </a:r>
            <a:endParaRPr lang="en-IN" b="1" dirty="0">
              <a:solidFill>
                <a:srgbClr val="0070C0"/>
              </a:solidFill>
            </a:endParaRPr>
          </a:p>
        </p:txBody>
      </p:sp>
      <p:sp>
        <p:nvSpPr>
          <p:cNvPr id="13" name="TextBox 12">
            <a:extLst>
              <a:ext uri="{FF2B5EF4-FFF2-40B4-BE49-F238E27FC236}">
                <a16:creationId xmlns:a16="http://schemas.microsoft.com/office/drawing/2014/main" id="{E3940F7A-CA78-0DCE-46ED-C46DAA92C2B3}"/>
              </a:ext>
            </a:extLst>
          </p:cNvPr>
          <p:cNvSpPr txBox="1"/>
          <p:nvPr/>
        </p:nvSpPr>
        <p:spPr>
          <a:xfrm>
            <a:off x="6672671" y="1050294"/>
            <a:ext cx="880007" cy="261610"/>
          </a:xfrm>
          <a:prstGeom prst="rect">
            <a:avLst/>
          </a:prstGeom>
          <a:noFill/>
        </p:spPr>
        <p:txBody>
          <a:bodyPr wrap="square" rtlCol="0">
            <a:spAutoFit/>
          </a:bodyPr>
          <a:lstStyle/>
          <a:p>
            <a:r>
              <a:rPr lang="en-IN" sz="1100" b="1" dirty="0">
                <a:solidFill>
                  <a:srgbClr val="00B050"/>
                </a:solidFill>
              </a:rPr>
              <a:t>CENTER</a:t>
            </a:r>
            <a:endParaRPr lang="en-IN" sz="1600" b="1" dirty="0">
              <a:solidFill>
                <a:srgbClr val="00B050"/>
              </a:solidFill>
            </a:endParaRPr>
          </a:p>
        </p:txBody>
      </p:sp>
      <p:sp>
        <p:nvSpPr>
          <p:cNvPr id="14" name="TextBox 13">
            <a:extLst>
              <a:ext uri="{FF2B5EF4-FFF2-40B4-BE49-F238E27FC236}">
                <a16:creationId xmlns:a16="http://schemas.microsoft.com/office/drawing/2014/main" id="{3EBE4B4F-496C-14CD-F091-479029486159}"/>
              </a:ext>
            </a:extLst>
          </p:cNvPr>
          <p:cNvSpPr txBox="1"/>
          <p:nvPr/>
        </p:nvSpPr>
        <p:spPr>
          <a:xfrm>
            <a:off x="4492171" y="1098093"/>
            <a:ext cx="880007" cy="276999"/>
          </a:xfrm>
          <a:prstGeom prst="rect">
            <a:avLst/>
          </a:prstGeom>
          <a:noFill/>
        </p:spPr>
        <p:txBody>
          <a:bodyPr wrap="square" rtlCol="0">
            <a:spAutoFit/>
          </a:bodyPr>
          <a:lstStyle/>
          <a:p>
            <a:r>
              <a:rPr lang="en-IN" sz="1200" b="1" dirty="0">
                <a:solidFill>
                  <a:srgbClr val="FF9900"/>
                </a:solidFill>
              </a:rPr>
              <a:t>LOCAL</a:t>
            </a:r>
            <a:endParaRPr lang="en-IN" b="1" dirty="0">
              <a:solidFill>
                <a:srgbClr val="FF9900"/>
              </a:solidFill>
            </a:endParaRPr>
          </a:p>
        </p:txBody>
      </p:sp>
      <p:cxnSp>
        <p:nvCxnSpPr>
          <p:cNvPr id="16" name="Straight Arrow Connector 15">
            <a:extLst>
              <a:ext uri="{FF2B5EF4-FFF2-40B4-BE49-F238E27FC236}">
                <a16:creationId xmlns:a16="http://schemas.microsoft.com/office/drawing/2014/main" id="{21EC96A3-C86C-387C-3EC3-6AE05E590BBA}"/>
              </a:ext>
            </a:extLst>
          </p:cNvPr>
          <p:cNvCxnSpPr>
            <a:cxnSpLocks/>
          </p:cNvCxnSpPr>
          <p:nvPr/>
        </p:nvCxnSpPr>
        <p:spPr>
          <a:xfrm>
            <a:off x="793973" y="5596802"/>
            <a:ext cx="109288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ight Brace 19">
            <a:extLst>
              <a:ext uri="{FF2B5EF4-FFF2-40B4-BE49-F238E27FC236}">
                <a16:creationId xmlns:a16="http://schemas.microsoft.com/office/drawing/2014/main" id="{AFD0BDD3-3E9C-67BD-4A1A-C3160BF25055}"/>
              </a:ext>
            </a:extLst>
          </p:cNvPr>
          <p:cNvSpPr/>
          <p:nvPr/>
        </p:nvSpPr>
        <p:spPr>
          <a:xfrm>
            <a:off x="4905828" y="3077029"/>
            <a:ext cx="261258" cy="1110342"/>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Rectangle 11">
            <a:extLst>
              <a:ext uri="{FF2B5EF4-FFF2-40B4-BE49-F238E27FC236}">
                <a16:creationId xmlns:a16="http://schemas.microsoft.com/office/drawing/2014/main" id="{5D211D66-C468-1334-E39B-401368732A7F}"/>
              </a:ext>
            </a:extLst>
          </p:cNvPr>
          <p:cNvSpPr/>
          <p:nvPr/>
        </p:nvSpPr>
        <p:spPr>
          <a:xfrm>
            <a:off x="7380003" y="1139371"/>
            <a:ext cx="827315" cy="4608286"/>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a:t>
            </a:r>
          </a:p>
        </p:txBody>
      </p:sp>
    </p:spTree>
    <p:extLst>
      <p:ext uri="{BB962C8B-B14F-4D97-AF65-F5344CB8AC3E}">
        <p14:creationId xmlns:p14="http://schemas.microsoft.com/office/powerpoint/2010/main" val="1332543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1AFE823-D6BF-4097-B643-3766923EDB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9331" y="0"/>
            <a:ext cx="5564187"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10CF43-C148-0677-2797-C6DD0FEF4F0D}"/>
              </a:ext>
            </a:extLst>
          </p:cNvPr>
          <p:cNvSpPr>
            <a:spLocks noGrp="1"/>
          </p:cNvSpPr>
          <p:nvPr>
            <p:ph type="dt" sz="half" idx="10"/>
          </p:nvPr>
        </p:nvSpPr>
        <p:spPr/>
        <p:txBody>
          <a:bodyPr/>
          <a:lstStyle/>
          <a:p>
            <a:fld id="{1E2618BC-A11B-4137-A8C3-5FBB210D7812}" type="datetime1">
              <a:rPr lang="en-US" smtClean="0"/>
              <a:t>7/3/2026</a:t>
            </a:fld>
            <a:endParaRPr lang="en-US" dirty="0"/>
          </a:p>
        </p:txBody>
      </p:sp>
      <p:sp>
        <p:nvSpPr>
          <p:cNvPr id="2" name="Footer Placeholder 1">
            <a:extLst>
              <a:ext uri="{FF2B5EF4-FFF2-40B4-BE49-F238E27FC236}">
                <a16:creationId xmlns:a16="http://schemas.microsoft.com/office/drawing/2014/main" id="{1D27C731-30E0-FB82-FED0-85D7B76318A4}"/>
              </a:ext>
            </a:extLst>
          </p:cNvPr>
          <p:cNvSpPr>
            <a:spLocks noGrp="1"/>
          </p:cNvSpPr>
          <p:nvPr>
            <p:ph type="ftr" sz="quarter" idx="11"/>
          </p:nvPr>
        </p:nvSpPr>
        <p:spPr/>
        <p:txBody>
          <a:bodyPr/>
          <a:lstStyle/>
          <a:p>
            <a:endParaRPr lang="en-US" dirty="0"/>
          </a:p>
        </p:txBody>
      </p:sp>
      <p:sp>
        <p:nvSpPr>
          <p:cNvPr id="3" name="Slide Number Placeholder 2">
            <a:extLst>
              <a:ext uri="{FF2B5EF4-FFF2-40B4-BE49-F238E27FC236}">
                <a16:creationId xmlns:a16="http://schemas.microsoft.com/office/drawing/2014/main" id="{73D2351F-6DB5-825B-7DF5-CE54CA9F042F}"/>
              </a:ext>
            </a:extLst>
          </p:cNvPr>
          <p:cNvSpPr>
            <a:spLocks noGrp="1"/>
          </p:cNvSpPr>
          <p:nvPr>
            <p:ph type="sldNum" sz="quarter" idx="12"/>
          </p:nvPr>
        </p:nvSpPr>
        <p:spPr/>
        <p:txBody>
          <a:bodyPr>
            <a:normAutofit/>
          </a:bodyPr>
          <a:lstStyle/>
          <a:p>
            <a:fld id="{D57F1E4F-1CFF-5643-939E-217C01CDF565}" type="slidenum">
              <a:rPr lang="en-US" smtClean="0"/>
              <a:pPr/>
              <a:t>29</a:t>
            </a:fld>
            <a:endParaRPr lang="en-US" dirty="0"/>
          </a:p>
        </p:txBody>
      </p:sp>
      <p:cxnSp>
        <p:nvCxnSpPr>
          <p:cNvPr id="7" name="Straight Arrow Connector 6">
            <a:extLst>
              <a:ext uri="{FF2B5EF4-FFF2-40B4-BE49-F238E27FC236}">
                <a16:creationId xmlns:a16="http://schemas.microsoft.com/office/drawing/2014/main" id="{733F81CE-4CB2-0CC3-02AB-89C3D5279590}"/>
              </a:ext>
            </a:extLst>
          </p:cNvPr>
          <p:cNvCxnSpPr>
            <a:cxnSpLocks/>
          </p:cNvCxnSpPr>
          <p:nvPr/>
        </p:nvCxnSpPr>
        <p:spPr>
          <a:xfrm>
            <a:off x="1952171" y="740229"/>
            <a:ext cx="89988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CDAD148-5B33-0EA2-66F3-8501DE7368A7}"/>
              </a:ext>
            </a:extLst>
          </p:cNvPr>
          <p:cNvCxnSpPr>
            <a:cxnSpLocks/>
          </p:cNvCxnSpPr>
          <p:nvPr/>
        </p:nvCxnSpPr>
        <p:spPr>
          <a:xfrm>
            <a:off x="1952171" y="1291771"/>
            <a:ext cx="899886" cy="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4654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document&#10;&#10;AI-generated content may be incorrect.">
            <a:extLst>
              <a:ext uri="{FF2B5EF4-FFF2-40B4-BE49-F238E27FC236}">
                <a16:creationId xmlns:a16="http://schemas.microsoft.com/office/drawing/2014/main" id="{52B6BF30-923B-43FB-7D27-0EE7BE8B2436}"/>
              </a:ext>
            </a:extLst>
          </p:cNvPr>
          <p:cNvPicPr>
            <a:picLocks noChangeAspect="1"/>
          </p:cNvPicPr>
          <p:nvPr/>
        </p:nvPicPr>
        <p:blipFill>
          <a:blip r:embed="rId2"/>
          <a:stretch>
            <a:fillRect/>
          </a:stretch>
        </p:blipFill>
        <p:spPr>
          <a:xfrm>
            <a:off x="251668" y="271943"/>
            <a:ext cx="9207285" cy="3805107"/>
          </a:xfrm>
          <a:prstGeom prst="rect">
            <a:avLst/>
          </a:prstGeom>
        </p:spPr>
      </p:pic>
    </p:spTree>
    <p:extLst>
      <p:ext uri="{BB962C8B-B14F-4D97-AF65-F5344CB8AC3E}">
        <p14:creationId xmlns:p14="http://schemas.microsoft.com/office/powerpoint/2010/main" val="730479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untry&#10;&#10;AI-generated content may be incorrect.">
            <a:extLst>
              <a:ext uri="{FF2B5EF4-FFF2-40B4-BE49-F238E27FC236}">
                <a16:creationId xmlns:a16="http://schemas.microsoft.com/office/drawing/2014/main" id="{9A03D565-2C38-BD20-895A-AECB51E0D6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04" y="386363"/>
            <a:ext cx="10074992" cy="6085273"/>
          </a:xfrm>
          <a:prstGeom prst="rect">
            <a:avLst/>
          </a:prstGeom>
        </p:spPr>
      </p:pic>
    </p:spTree>
    <p:extLst>
      <p:ext uri="{BB962C8B-B14F-4D97-AF65-F5344CB8AC3E}">
        <p14:creationId xmlns:p14="http://schemas.microsoft.com/office/powerpoint/2010/main" val="4105263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CA0CFF2F-FB37-D15E-266A-CCF6958EB529}"/>
              </a:ext>
            </a:extLst>
          </p:cNvPr>
          <p:cNvSpPr>
            <a:spLocks noGrp="1"/>
          </p:cNvSpPr>
          <p:nvPr>
            <p:ph type="title"/>
          </p:nvPr>
        </p:nvSpPr>
        <p:spPr>
          <a:xfrm>
            <a:off x="214248" y="15082"/>
            <a:ext cx="9692640" cy="893262"/>
          </a:xfrm>
        </p:spPr>
        <p:txBody>
          <a:bodyPr/>
          <a:lstStyle/>
          <a:p>
            <a:r>
              <a:rPr lang="en-IN" dirty="0"/>
              <a:t>STATE EDUCATION ACTS</a:t>
            </a:r>
          </a:p>
        </p:txBody>
      </p:sp>
      <p:sp>
        <p:nvSpPr>
          <p:cNvPr id="23" name="Content Placeholder 22">
            <a:extLst>
              <a:ext uri="{FF2B5EF4-FFF2-40B4-BE49-F238E27FC236}">
                <a16:creationId xmlns:a16="http://schemas.microsoft.com/office/drawing/2014/main" id="{71AAE210-E412-B8BD-1583-D6893CB5879F}"/>
              </a:ext>
            </a:extLst>
          </p:cNvPr>
          <p:cNvSpPr>
            <a:spLocks noGrp="1"/>
          </p:cNvSpPr>
          <p:nvPr>
            <p:ph idx="1"/>
          </p:nvPr>
        </p:nvSpPr>
        <p:spPr>
          <a:xfrm>
            <a:off x="69437" y="1109910"/>
            <a:ext cx="6973832" cy="5457909"/>
          </a:xfrm>
        </p:spPr>
        <p:txBody>
          <a:bodyPr>
            <a:normAutofit/>
          </a:bodyPr>
          <a:lstStyle/>
          <a:p>
            <a:r>
              <a:rPr lang="en-GB" sz="1800" b="1" i="0" u="none" strike="noStrike" dirty="0">
                <a:solidFill>
                  <a:srgbClr val="000000"/>
                </a:solidFill>
                <a:effectLst/>
                <a:latin typeface="Times New Roman" panose="02020603050405020304" pitchFamily="18" charset="0"/>
              </a:rPr>
              <a:t>Maharashtra and Gujarat</a:t>
            </a:r>
            <a:r>
              <a:rPr lang="en-GB" sz="1800" b="0" i="0" u="none" strike="noStrike" dirty="0">
                <a:solidFill>
                  <a:srgbClr val="000000"/>
                </a:solidFill>
                <a:effectLst/>
                <a:latin typeface="Times New Roman" panose="02020603050405020304" pitchFamily="18" charset="0"/>
              </a:rPr>
              <a:t> (which were part of Bombay in 1947-1960) followed a different trajectory. The Bombay Primary Education Act- 1947 (later amended and renamed as Maharashtra Primary Education Act) </a:t>
            </a:r>
            <a:r>
              <a:rPr lang="en-GB" sz="1800" b="0" i="0" u="none" strike="noStrike" dirty="0">
                <a:solidFill>
                  <a:srgbClr val="000000"/>
                </a:solidFill>
                <a:effectLst/>
                <a:highlight>
                  <a:srgbClr val="66CCFF"/>
                </a:highlight>
                <a:latin typeface="Times New Roman" panose="02020603050405020304" pitchFamily="18" charset="0"/>
              </a:rPr>
              <a:t>entrusted the District school boards, Municipalities, and Municipal school boards with powers to establish and manage.</a:t>
            </a:r>
          </a:p>
          <a:p>
            <a:r>
              <a:rPr lang="en-GB" sz="1800" b="1" i="0" u="none" strike="noStrike" dirty="0">
                <a:solidFill>
                  <a:srgbClr val="000000"/>
                </a:solidFill>
                <a:effectLst/>
                <a:latin typeface="Times New Roman" panose="02020603050405020304" pitchFamily="18" charset="0"/>
              </a:rPr>
              <a:t>Andhra Pradesh :  </a:t>
            </a:r>
            <a:r>
              <a:rPr lang="en-GB" sz="1800" b="0" i="0" u="none" strike="noStrike" dirty="0">
                <a:solidFill>
                  <a:srgbClr val="000000"/>
                </a:solidFill>
                <a:effectLst/>
                <a:latin typeface="Times New Roman" panose="02020603050405020304" pitchFamily="18" charset="0"/>
              </a:rPr>
              <a:t>The Andhra Pradesh Primary Education Act- 1982</a:t>
            </a:r>
            <a:r>
              <a:rPr lang="en-GB" sz="1800" b="0" i="0" u="none" strike="noStrike" dirty="0">
                <a:solidFill>
                  <a:srgbClr val="000000"/>
                </a:solidFill>
                <a:effectLst/>
                <a:highlight>
                  <a:srgbClr val="66CCFF"/>
                </a:highlight>
                <a:latin typeface="Times New Roman" panose="02020603050405020304" pitchFamily="18" charset="0"/>
              </a:rPr>
              <a:t>, vested the power to ensure free and compulsory education to local authorities- (municipal corporation/</a:t>
            </a:r>
            <a:r>
              <a:rPr lang="en-GB" sz="1800" b="0" i="0" u="none" strike="noStrike" dirty="0" err="1">
                <a:solidFill>
                  <a:srgbClr val="000000"/>
                </a:solidFill>
                <a:effectLst/>
                <a:highlight>
                  <a:srgbClr val="66CCFF"/>
                </a:highlight>
                <a:latin typeface="Times New Roman" panose="02020603050405020304" pitchFamily="18" charset="0"/>
              </a:rPr>
              <a:t>muncipal</a:t>
            </a:r>
            <a:r>
              <a:rPr lang="en-GB" sz="1800" b="0" i="0" u="none" strike="noStrike" dirty="0">
                <a:solidFill>
                  <a:srgbClr val="000000"/>
                </a:solidFill>
                <a:effectLst/>
                <a:highlight>
                  <a:srgbClr val="66CCFF"/>
                </a:highlight>
                <a:latin typeface="Times New Roman" panose="02020603050405020304" pitchFamily="18" charset="0"/>
              </a:rPr>
              <a:t> council, </a:t>
            </a:r>
            <a:r>
              <a:rPr lang="en-GB" sz="1800" b="0" i="0" u="none" strike="noStrike" dirty="0" err="1">
                <a:solidFill>
                  <a:srgbClr val="000000"/>
                </a:solidFill>
                <a:effectLst/>
                <a:highlight>
                  <a:srgbClr val="66CCFF"/>
                </a:highlight>
                <a:latin typeface="Times New Roman" panose="02020603050405020304" pitchFamily="18" charset="0"/>
              </a:rPr>
              <a:t>Zillla</a:t>
            </a:r>
            <a:r>
              <a:rPr lang="en-GB" sz="1800" b="0" i="0" u="none" strike="noStrike" dirty="0">
                <a:solidFill>
                  <a:srgbClr val="000000"/>
                </a:solidFill>
                <a:effectLst/>
                <a:highlight>
                  <a:srgbClr val="66CCFF"/>
                </a:highlight>
                <a:latin typeface="Times New Roman" panose="02020603050405020304" pitchFamily="18" charset="0"/>
              </a:rPr>
              <a:t> </a:t>
            </a:r>
            <a:r>
              <a:rPr lang="en-GB" sz="1800" b="0" i="0" u="none" strike="noStrike" dirty="0" err="1">
                <a:solidFill>
                  <a:srgbClr val="000000"/>
                </a:solidFill>
                <a:effectLst/>
                <a:highlight>
                  <a:srgbClr val="66CCFF"/>
                </a:highlight>
                <a:latin typeface="Times New Roman" panose="02020603050405020304" pitchFamily="18" charset="0"/>
              </a:rPr>
              <a:t>Praja</a:t>
            </a:r>
            <a:r>
              <a:rPr lang="en-GB" sz="1800" b="0" i="0" u="none" strike="noStrike" dirty="0">
                <a:solidFill>
                  <a:srgbClr val="000000"/>
                </a:solidFill>
                <a:effectLst/>
                <a:highlight>
                  <a:srgbClr val="66CCFF"/>
                </a:highlight>
                <a:latin typeface="Times New Roman" panose="02020603050405020304" pitchFamily="18" charset="0"/>
              </a:rPr>
              <a:t> Parishad, Mandala </a:t>
            </a:r>
            <a:r>
              <a:rPr lang="en-GB" sz="1800" b="0" i="0" u="none" strike="noStrike" dirty="0" err="1">
                <a:solidFill>
                  <a:srgbClr val="000000"/>
                </a:solidFill>
                <a:effectLst/>
                <a:highlight>
                  <a:srgbClr val="66CCFF"/>
                </a:highlight>
                <a:latin typeface="Times New Roman" panose="02020603050405020304" pitchFamily="18" charset="0"/>
              </a:rPr>
              <a:t>Praja</a:t>
            </a:r>
            <a:r>
              <a:rPr lang="en-GB" sz="1800" b="0" i="0" u="none" strike="noStrike" dirty="0">
                <a:solidFill>
                  <a:srgbClr val="000000"/>
                </a:solidFill>
                <a:effectLst/>
                <a:highlight>
                  <a:srgbClr val="66CCFF"/>
                </a:highlight>
                <a:latin typeface="Times New Roman" panose="02020603050405020304" pitchFamily="18" charset="0"/>
              </a:rPr>
              <a:t> Parishad).</a:t>
            </a:r>
          </a:p>
          <a:p>
            <a:r>
              <a:rPr lang="en-GB" sz="1800" b="1" i="0" u="none" strike="noStrike" dirty="0">
                <a:solidFill>
                  <a:srgbClr val="000000"/>
                </a:solidFill>
                <a:effectLst/>
                <a:latin typeface="Times New Roman" panose="02020603050405020304" pitchFamily="18" charset="0"/>
              </a:rPr>
              <a:t>Karnataka: Karnataka Education Act- 1983 </a:t>
            </a:r>
            <a:r>
              <a:rPr lang="en-GB" sz="1800" b="0" i="0" u="none" strike="noStrike" dirty="0">
                <a:solidFill>
                  <a:srgbClr val="000000"/>
                </a:solidFill>
                <a:effectLst/>
                <a:highlight>
                  <a:srgbClr val="FF5050"/>
                </a:highlight>
                <a:latin typeface="Times New Roman" panose="02020603050405020304" pitchFamily="18" charset="0"/>
              </a:rPr>
              <a:t>gave sweeping powers to the state to regulate general education including  the establishment and recognition of schools, the appointment of teachers in government schools.  </a:t>
            </a:r>
            <a:r>
              <a:rPr lang="en-GB" sz="1800" b="0" i="0" u="none" strike="noStrike" dirty="0">
                <a:solidFill>
                  <a:srgbClr val="000000"/>
                </a:solidFill>
                <a:effectLst/>
                <a:latin typeface="Times New Roman" panose="02020603050405020304" pitchFamily="18" charset="0"/>
              </a:rPr>
              <a:t>The state to take over the management, of educational institutions, including local authority schools and private schools, all in “public interest”</a:t>
            </a:r>
            <a:endParaRPr lang="en-GB" dirty="0">
              <a:solidFill>
                <a:srgbClr val="000000"/>
              </a:solidFill>
              <a:latin typeface="Times New Roman" panose="02020603050405020304" pitchFamily="18" charset="0"/>
            </a:endParaRPr>
          </a:p>
          <a:p>
            <a:r>
              <a:rPr lang="en-IN" b="1" dirty="0"/>
              <a:t>Uttar Pradesh</a:t>
            </a:r>
            <a:r>
              <a:rPr lang="en-IN" dirty="0"/>
              <a:t>: </a:t>
            </a:r>
            <a:r>
              <a:rPr lang="en-GB" sz="1800" b="0" i="0" u="none" strike="noStrike" dirty="0">
                <a:solidFill>
                  <a:srgbClr val="000000"/>
                </a:solidFill>
                <a:effectLst/>
                <a:highlight>
                  <a:srgbClr val="FF5050"/>
                </a:highlight>
                <a:latin typeface="Times New Roman" panose="02020603050405020304" pitchFamily="18" charset="0"/>
              </a:rPr>
              <a:t> the </a:t>
            </a:r>
            <a:r>
              <a:rPr lang="en-GB" sz="1800" i="0" u="none" strike="noStrike" dirty="0">
                <a:solidFill>
                  <a:srgbClr val="000000"/>
                </a:solidFill>
                <a:effectLst/>
                <a:highlight>
                  <a:srgbClr val="FF5050"/>
                </a:highlight>
                <a:latin typeface="Times New Roman" panose="02020603050405020304" pitchFamily="18" charset="0"/>
              </a:rPr>
              <a:t>Basic Education Act of 1972, brought all the local body and/or zilla parishad schools under the state government's direct control, </a:t>
            </a:r>
            <a:r>
              <a:rPr lang="en-GB" sz="1800" b="0" i="0" u="none" strike="noStrike" dirty="0">
                <a:solidFill>
                  <a:srgbClr val="000000"/>
                </a:solidFill>
                <a:effectLst/>
                <a:highlight>
                  <a:srgbClr val="FF5050"/>
                </a:highlight>
                <a:latin typeface="Times New Roman" panose="02020603050405020304" pitchFamily="18" charset="0"/>
              </a:rPr>
              <a:t>teacher appointment became more centralized, and their salaries were paid by the state government directly</a:t>
            </a:r>
            <a:r>
              <a:rPr lang="en-GB" sz="1800" b="1" i="0" u="none" strike="noStrike" dirty="0">
                <a:solidFill>
                  <a:srgbClr val="000000"/>
                </a:solidFill>
                <a:effectLst/>
                <a:highlight>
                  <a:srgbClr val="FF5050"/>
                </a:highlight>
                <a:latin typeface="Times New Roman" panose="02020603050405020304" pitchFamily="18" charset="0"/>
              </a:rPr>
              <a:t> </a:t>
            </a:r>
            <a:endParaRPr lang="en-IN" dirty="0">
              <a:highlight>
                <a:srgbClr val="FF5050"/>
              </a:highlight>
            </a:endParaRPr>
          </a:p>
        </p:txBody>
      </p:sp>
      <p:sp>
        <p:nvSpPr>
          <p:cNvPr id="21" name="Slide Number Placeholder 20">
            <a:extLst>
              <a:ext uri="{FF2B5EF4-FFF2-40B4-BE49-F238E27FC236}">
                <a16:creationId xmlns:a16="http://schemas.microsoft.com/office/drawing/2014/main" id="{C8C07E6A-9198-DC90-E277-010079989578}"/>
              </a:ext>
            </a:extLst>
          </p:cNvPr>
          <p:cNvSpPr>
            <a:spLocks noGrp="1"/>
          </p:cNvSpPr>
          <p:nvPr>
            <p:ph type="sldNum" sz="quarter" idx="12"/>
          </p:nvPr>
        </p:nvSpPr>
        <p:spPr/>
        <p:txBody>
          <a:bodyPr/>
          <a:lstStyle/>
          <a:p>
            <a:fld id="{D57F1E4F-1CFF-5643-939E-217C01CDF565}" type="slidenum">
              <a:rPr lang="en-US" smtClean="0"/>
              <a:pPr/>
              <a:t>32</a:t>
            </a:fld>
            <a:endParaRPr lang="en-US" dirty="0"/>
          </a:p>
        </p:txBody>
      </p:sp>
      <p:pic>
        <p:nvPicPr>
          <p:cNvPr id="24" name="Picture 2">
            <a:extLst>
              <a:ext uri="{FF2B5EF4-FFF2-40B4-BE49-F238E27FC236}">
                <a16:creationId xmlns:a16="http://schemas.microsoft.com/office/drawing/2014/main" id="{CE00D001-AB2B-F7EC-344D-D55BBD0E90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00624" y="754743"/>
            <a:ext cx="4877128" cy="6011182"/>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902EDD6D-EA69-7175-2943-BA5428996585}"/>
              </a:ext>
            </a:extLst>
          </p:cNvPr>
          <p:cNvSpPr/>
          <p:nvPr/>
        </p:nvSpPr>
        <p:spPr>
          <a:xfrm>
            <a:off x="8759372" y="2484241"/>
            <a:ext cx="1117930" cy="8932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A41CDC10-8762-9CC2-768A-187A3CD935A9}"/>
              </a:ext>
            </a:extLst>
          </p:cNvPr>
          <p:cNvSpPr/>
          <p:nvPr/>
        </p:nvSpPr>
        <p:spPr>
          <a:xfrm>
            <a:off x="7215334" y="3480496"/>
            <a:ext cx="2547257" cy="206948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693BA034-6D1B-27DB-53B3-7C53225B4AA4}"/>
              </a:ext>
            </a:extLst>
          </p:cNvPr>
          <p:cNvSpPr/>
          <p:nvPr/>
        </p:nvSpPr>
        <p:spPr>
          <a:xfrm>
            <a:off x="145143" y="1139371"/>
            <a:ext cx="6898126" cy="2341125"/>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a:t>
            </a:r>
          </a:p>
        </p:txBody>
      </p:sp>
      <p:sp>
        <p:nvSpPr>
          <p:cNvPr id="30" name="Rectangle 29">
            <a:extLst>
              <a:ext uri="{FF2B5EF4-FFF2-40B4-BE49-F238E27FC236}">
                <a16:creationId xmlns:a16="http://schemas.microsoft.com/office/drawing/2014/main" id="{80D110A3-D14F-B224-8E46-6BC348ACC691}"/>
              </a:ext>
            </a:extLst>
          </p:cNvPr>
          <p:cNvSpPr/>
          <p:nvPr/>
        </p:nvSpPr>
        <p:spPr>
          <a:xfrm>
            <a:off x="109187" y="3613816"/>
            <a:ext cx="6973832" cy="2707157"/>
          </a:xfrm>
          <a:prstGeom prst="rect">
            <a:avLst/>
          </a:prstGeom>
          <a:noFill/>
          <a:ln w="28575">
            <a:solidFill>
              <a:srgbClr val="FF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v</a:t>
            </a:r>
          </a:p>
        </p:txBody>
      </p:sp>
    </p:spTree>
    <p:extLst>
      <p:ext uri="{BB962C8B-B14F-4D97-AF65-F5344CB8AC3E}">
        <p14:creationId xmlns:p14="http://schemas.microsoft.com/office/powerpoint/2010/main" val="428955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Oval 81">
            <a:extLst>
              <a:ext uri="{FF2B5EF4-FFF2-40B4-BE49-F238E27FC236}">
                <a16:creationId xmlns:a16="http://schemas.microsoft.com/office/drawing/2014/main" id="{75E4E93E-285D-48CB-A9FE-7B5C2C4B43EA}"/>
              </a:ext>
            </a:extLst>
          </p:cNvPr>
          <p:cNvSpPr/>
          <p:nvPr/>
        </p:nvSpPr>
        <p:spPr>
          <a:xfrm>
            <a:off x="7135117" y="5894714"/>
            <a:ext cx="684217" cy="62336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highlight>
                <a:srgbClr val="00FF00"/>
              </a:highlight>
            </a:endParaRPr>
          </a:p>
        </p:txBody>
      </p:sp>
      <p:sp>
        <p:nvSpPr>
          <p:cNvPr id="81" name="Hexagon 80">
            <a:extLst>
              <a:ext uri="{FF2B5EF4-FFF2-40B4-BE49-F238E27FC236}">
                <a16:creationId xmlns:a16="http://schemas.microsoft.com/office/drawing/2014/main" id="{509925C6-AD62-457B-AC81-24775ABF3E9E}"/>
              </a:ext>
            </a:extLst>
          </p:cNvPr>
          <p:cNvSpPr/>
          <p:nvPr/>
        </p:nvSpPr>
        <p:spPr>
          <a:xfrm>
            <a:off x="5288140" y="4086743"/>
            <a:ext cx="684217" cy="623366"/>
          </a:xfrm>
          <a:prstGeom prst="hexagon">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highlight>
                <a:srgbClr val="00FF00"/>
              </a:highlight>
            </a:endParaRPr>
          </a:p>
        </p:txBody>
      </p:sp>
      <p:sp>
        <p:nvSpPr>
          <p:cNvPr id="80" name="Hexagon 79">
            <a:extLst>
              <a:ext uri="{FF2B5EF4-FFF2-40B4-BE49-F238E27FC236}">
                <a16:creationId xmlns:a16="http://schemas.microsoft.com/office/drawing/2014/main" id="{986CDA94-85E3-419F-92FA-4E1EF0DA4E2D}"/>
              </a:ext>
            </a:extLst>
          </p:cNvPr>
          <p:cNvSpPr/>
          <p:nvPr/>
        </p:nvSpPr>
        <p:spPr>
          <a:xfrm>
            <a:off x="2091340" y="4098473"/>
            <a:ext cx="684217" cy="623366"/>
          </a:xfrm>
          <a:prstGeom prst="hexagon">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highlight>
                <a:srgbClr val="00FF00"/>
              </a:highlight>
            </a:endParaRPr>
          </a:p>
        </p:txBody>
      </p:sp>
      <p:sp>
        <p:nvSpPr>
          <p:cNvPr id="79" name="Rectangle 78">
            <a:extLst>
              <a:ext uri="{FF2B5EF4-FFF2-40B4-BE49-F238E27FC236}">
                <a16:creationId xmlns:a16="http://schemas.microsoft.com/office/drawing/2014/main" id="{2041497E-2C56-4DF6-BB56-58FACCD0277C}"/>
              </a:ext>
            </a:extLst>
          </p:cNvPr>
          <p:cNvSpPr/>
          <p:nvPr/>
        </p:nvSpPr>
        <p:spPr>
          <a:xfrm>
            <a:off x="9909169" y="2500024"/>
            <a:ext cx="684217" cy="623366"/>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highlight>
                <a:srgbClr val="00FF00"/>
              </a:highlight>
            </a:endParaRPr>
          </a:p>
        </p:txBody>
      </p:sp>
      <p:sp>
        <p:nvSpPr>
          <p:cNvPr id="78" name="Rectangle 77">
            <a:extLst>
              <a:ext uri="{FF2B5EF4-FFF2-40B4-BE49-F238E27FC236}">
                <a16:creationId xmlns:a16="http://schemas.microsoft.com/office/drawing/2014/main" id="{612D2BB0-1253-4CE4-BF38-64BDDEE2640E}"/>
              </a:ext>
            </a:extLst>
          </p:cNvPr>
          <p:cNvSpPr/>
          <p:nvPr/>
        </p:nvSpPr>
        <p:spPr>
          <a:xfrm>
            <a:off x="7078786" y="2473268"/>
            <a:ext cx="684217" cy="623366"/>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highlight>
                <a:srgbClr val="00FF00"/>
              </a:highlight>
            </a:endParaRPr>
          </a:p>
        </p:txBody>
      </p:sp>
      <p:sp>
        <p:nvSpPr>
          <p:cNvPr id="77" name="Rectangle 76">
            <a:extLst>
              <a:ext uri="{FF2B5EF4-FFF2-40B4-BE49-F238E27FC236}">
                <a16:creationId xmlns:a16="http://schemas.microsoft.com/office/drawing/2014/main" id="{D3E3075A-6CBB-42FB-83B2-EEEEAA16E703}"/>
              </a:ext>
            </a:extLst>
          </p:cNvPr>
          <p:cNvSpPr/>
          <p:nvPr/>
        </p:nvSpPr>
        <p:spPr>
          <a:xfrm>
            <a:off x="3975748" y="2453636"/>
            <a:ext cx="684217" cy="623366"/>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highlight>
                <a:srgbClr val="00FF00"/>
              </a:highlight>
            </a:endParaRPr>
          </a:p>
        </p:txBody>
      </p:sp>
      <p:sp>
        <p:nvSpPr>
          <p:cNvPr id="76" name="Hexagon 75">
            <a:extLst>
              <a:ext uri="{FF2B5EF4-FFF2-40B4-BE49-F238E27FC236}">
                <a16:creationId xmlns:a16="http://schemas.microsoft.com/office/drawing/2014/main" id="{6EC757E5-1986-49AC-9ED9-6AE1F401923B}"/>
              </a:ext>
            </a:extLst>
          </p:cNvPr>
          <p:cNvSpPr/>
          <p:nvPr/>
        </p:nvSpPr>
        <p:spPr>
          <a:xfrm>
            <a:off x="5573039" y="819020"/>
            <a:ext cx="684217" cy="623366"/>
          </a:xfrm>
          <a:prstGeom prst="hexagon">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highlight>
                <a:srgbClr val="00FF00"/>
              </a:highlight>
            </a:endParaRPr>
          </a:p>
        </p:txBody>
      </p:sp>
      <p:sp>
        <p:nvSpPr>
          <p:cNvPr id="71" name="Oval 70">
            <a:extLst>
              <a:ext uri="{FF2B5EF4-FFF2-40B4-BE49-F238E27FC236}">
                <a16:creationId xmlns:a16="http://schemas.microsoft.com/office/drawing/2014/main" id="{7E65BD5E-74E2-4D0A-BE0E-62C68929D822}"/>
              </a:ext>
            </a:extLst>
          </p:cNvPr>
          <p:cNvSpPr/>
          <p:nvPr/>
        </p:nvSpPr>
        <p:spPr>
          <a:xfrm>
            <a:off x="1205509" y="116192"/>
            <a:ext cx="684217" cy="62336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highlight>
                <a:srgbClr val="00FF00"/>
              </a:highlight>
            </a:endParaRPr>
          </a:p>
        </p:txBody>
      </p:sp>
      <p:sp>
        <p:nvSpPr>
          <p:cNvPr id="72" name="Oval 71">
            <a:extLst>
              <a:ext uri="{FF2B5EF4-FFF2-40B4-BE49-F238E27FC236}">
                <a16:creationId xmlns:a16="http://schemas.microsoft.com/office/drawing/2014/main" id="{68F184C5-C39E-47A8-9D9C-40C6511DF67F}"/>
              </a:ext>
            </a:extLst>
          </p:cNvPr>
          <p:cNvSpPr/>
          <p:nvPr/>
        </p:nvSpPr>
        <p:spPr>
          <a:xfrm>
            <a:off x="2602962" y="851331"/>
            <a:ext cx="684217" cy="62336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highlight>
                <a:srgbClr val="00FF00"/>
              </a:highlight>
            </a:endParaRPr>
          </a:p>
        </p:txBody>
      </p:sp>
      <p:grpSp>
        <p:nvGrpSpPr>
          <p:cNvPr id="43" name="Group 42" descr="timeline">
            <a:extLst>
              <a:ext uri="{FF2B5EF4-FFF2-40B4-BE49-F238E27FC236}">
                <a16:creationId xmlns:a16="http://schemas.microsoft.com/office/drawing/2014/main" id="{915DE441-0B8B-4BCE-8E3B-4246BC09E7A1}"/>
              </a:ext>
            </a:extLst>
          </p:cNvPr>
          <p:cNvGrpSpPr/>
          <p:nvPr/>
        </p:nvGrpSpPr>
        <p:grpSpPr>
          <a:xfrm>
            <a:off x="859914" y="815418"/>
            <a:ext cx="10278189" cy="5752254"/>
            <a:chOff x="976547" y="1458965"/>
            <a:chExt cx="10278189" cy="5752254"/>
          </a:xfrm>
        </p:grpSpPr>
        <p:grpSp>
          <p:nvGrpSpPr>
            <p:cNvPr id="12" name="Group 11">
              <a:extLst>
                <a:ext uri="{FF2B5EF4-FFF2-40B4-BE49-F238E27FC236}">
                  <a16:creationId xmlns:a16="http://schemas.microsoft.com/office/drawing/2014/main" id="{76FAB540-C491-4F6D-A6FE-A267705EEA5B}"/>
                </a:ext>
              </a:extLst>
            </p:cNvPr>
            <p:cNvGrpSpPr/>
            <p:nvPr/>
          </p:nvGrpSpPr>
          <p:grpSpPr>
            <a:xfrm rot="5400000" flipH="1">
              <a:off x="9555848" y="2219844"/>
              <a:ext cx="1624126" cy="1773651"/>
              <a:chOff x="6415077" y="1171530"/>
              <a:chExt cx="1890380" cy="1890380"/>
            </a:xfrm>
          </p:grpSpPr>
          <p:sp>
            <p:nvSpPr>
              <p:cNvPr id="10" name="Arc 9">
                <a:extLst>
                  <a:ext uri="{FF2B5EF4-FFF2-40B4-BE49-F238E27FC236}">
                    <a16:creationId xmlns:a16="http://schemas.microsoft.com/office/drawing/2014/main" id="{8065E7CB-23F1-435F-AF44-714D3ED3AEEC}"/>
                  </a:ext>
                </a:extLst>
              </p:cNvPr>
              <p:cNvSpPr/>
              <p:nvPr/>
            </p:nvSpPr>
            <p:spPr>
              <a:xfrm>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Arc 10">
                <a:extLst>
                  <a:ext uri="{FF2B5EF4-FFF2-40B4-BE49-F238E27FC236}">
                    <a16:creationId xmlns:a16="http://schemas.microsoft.com/office/drawing/2014/main" id="{35E4FBCD-37DC-40E0-9AC8-B2466900D8BE}"/>
                  </a:ext>
                </a:extLst>
              </p:cNvPr>
              <p:cNvSpPr/>
              <p:nvPr/>
            </p:nvSpPr>
            <p:spPr>
              <a:xfrm flipH="1">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46" name="Group 45">
              <a:extLst>
                <a:ext uri="{FF2B5EF4-FFF2-40B4-BE49-F238E27FC236}">
                  <a16:creationId xmlns:a16="http://schemas.microsoft.com/office/drawing/2014/main" id="{5CFEE95A-087F-4F9C-876F-9F92595763B6}"/>
                </a:ext>
              </a:extLst>
            </p:cNvPr>
            <p:cNvGrpSpPr/>
            <p:nvPr/>
          </p:nvGrpSpPr>
          <p:grpSpPr>
            <a:xfrm rot="16200000" flipH="1">
              <a:off x="1051310" y="3843465"/>
              <a:ext cx="1624126" cy="1773651"/>
              <a:chOff x="6415077" y="1171530"/>
              <a:chExt cx="1890380" cy="1890380"/>
            </a:xfrm>
          </p:grpSpPr>
          <p:sp>
            <p:nvSpPr>
              <p:cNvPr id="47" name="Arc 46">
                <a:extLst>
                  <a:ext uri="{FF2B5EF4-FFF2-40B4-BE49-F238E27FC236}">
                    <a16:creationId xmlns:a16="http://schemas.microsoft.com/office/drawing/2014/main" id="{0BEF374B-D633-4C49-A916-320DB8732251}"/>
                  </a:ext>
                </a:extLst>
              </p:cNvPr>
              <p:cNvSpPr/>
              <p:nvPr/>
            </p:nvSpPr>
            <p:spPr>
              <a:xfrm>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8" name="Arc 47">
                <a:extLst>
                  <a:ext uri="{FF2B5EF4-FFF2-40B4-BE49-F238E27FC236}">
                    <a16:creationId xmlns:a16="http://schemas.microsoft.com/office/drawing/2014/main" id="{7EA3C2CD-982C-4EAD-AF27-8F363D90EDB9}"/>
                  </a:ext>
                </a:extLst>
              </p:cNvPr>
              <p:cNvSpPr/>
              <p:nvPr/>
            </p:nvSpPr>
            <p:spPr>
              <a:xfrm flipH="1">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sp>
          <p:nvSpPr>
            <p:cNvPr id="7" name="Arc 6">
              <a:extLst>
                <a:ext uri="{FF2B5EF4-FFF2-40B4-BE49-F238E27FC236}">
                  <a16:creationId xmlns:a16="http://schemas.microsoft.com/office/drawing/2014/main" id="{AF71C86D-5144-4D25-B6A2-918DC4160A1F}"/>
                </a:ext>
              </a:extLst>
            </p:cNvPr>
            <p:cNvSpPr/>
            <p:nvPr/>
          </p:nvSpPr>
          <p:spPr>
            <a:xfrm rot="16200000" flipH="1">
              <a:off x="1705996" y="1478703"/>
              <a:ext cx="834433" cy="794957"/>
            </a:xfrm>
            <a:custGeom>
              <a:avLst/>
              <a:gdLst>
                <a:gd name="connsiteX0" fmla="*/ 834432 w 1668865"/>
                <a:gd name="connsiteY0" fmla="*/ 0 h 1589914"/>
                <a:gd name="connsiteX1" fmla="*/ 1668865 w 1668865"/>
                <a:gd name="connsiteY1" fmla="*/ 794957 h 1589914"/>
                <a:gd name="connsiteX2" fmla="*/ 834433 w 1668865"/>
                <a:gd name="connsiteY2" fmla="*/ 794957 h 1589914"/>
                <a:gd name="connsiteX3" fmla="*/ 834432 w 1668865"/>
                <a:gd name="connsiteY3" fmla="*/ 0 h 1589914"/>
                <a:gd name="connsiteX0" fmla="*/ 834432 w 1668865"/>
                <a:gd name="connsiteY0" fmla="*/ 0 h 1589914"/>
                <a:gd name="connsiteX1" fmla="*/ 1668865 w 1668865"/>
                <a:gd name="connsiteY1" fmla="*/ 794957 h 1589914"/>
                <a:gd name="connsiteX0" fmla="*/ 0 w 834433"/>
                <a:gd name="connsiteY0" fmla="*/ 0 h 794957"/>
                <a:gd name="connsiteX1" fmla="*/ 834433 w 834433"/>
                <a:gd name="connsiteY1" fmla="*/ 794957 h 794957"/>
                <a:gd name="connsiteX2" fmla="*/ 1 w 834433"/>
                <a:gd name="connsiteY2" fmla="*/ 794957 h 794957"/>
                <a:gd name="connsiteX3" fmla="*/ 0 w 834433"/>
                <a:gd name="connsiteY3" fmla="*/ 0 h 794957"/>
                <a:gd name="connsiteX0" fmla="*/ 64295 w 834433"/>
                <a:gd name="connsiteY0" fmla="*/ 0 h 794957"/>
                <a:gd name="connsiteX1" fmla="*/ 834433 w 834433"/>
                <a:gd name="connsiteY1" fmla="*/ 794957 h 794957"/>
              </a:gdLst>
              <a:ahLst/>
              <a:cxnLst>
                <a:cxn ang="0">
                  <a:pos x="connsiteX0" y="connsiteY0"/>
                </a:cxn>
                <a:cxn ang="0">
                  <a:pos x="connsiteX1" y="connsiteY1"/>
                </a:cxn>
              </a:cxnLst>
              <a:rect l="l" t="t" r="r" b="b"/>
              <a:pathLst>
                <a:path w="834433" h="794957" stroke="0" extrusionOk="0">
                  <a:moveTo>
                    <a:pt x="0" y="0"/>
                  </a:moveTo>
                  <a:cubicBezTo>
                    <a:pt x="460845" y="0"/>
                    <a:pt x="834433" y="355914"/>
                    <a:pt x="834433" y="794957"/>
                  </a:cubicBezTo>
                  <a:lnTo>
                    <a:pt x="1" y="794957"/>
                  </a:lnTo>
                  <a:cubicBezTo>
                    <a:pt x="1" y="529971"/>
                    <a:pt x="0" y="264986"/>
                    <a:pt x="0" y="0"/>
                  </a:cubicBezTo>
                  <a:close/>
                </a:path>
                <a:path w="834433" h="794957" fill="none">
                  <a:moveTo>
                    <a:pt x="64295" y="0"/>
                  </a:moveTo>
                  <a:cubicBezTo>
                    <a:pt x="525140" y="0"/>
                    <a:pt x="834433" y="355914"/>
                    <a:pt x="834433" y="794957"/>
                  </a:cubicBezTo>
                </a:path>
              </a:pathLst>
            </a:cu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Arc 12">
              <a:extLst>
                <a:ext uri="{FF2B5EF4-FFF2-40B4-BE49-F238E27FC236}">
                  <a16:creationId xmlns:a16="http://schemas.microsoft.com/office/drawing/2014/main" id="{5507F1A1-1EB3-4835-A723-6E0CC155369B}"/>
                </a:ext>
              </a:extLst>
            </p:cNvPr>
            <p:cNvSpPr/>
            <p:nvPr/>
          </p:nvSpPr>
          <p:spPr>
            <a:xfrm rot="5400000" flipH="1">
              <a:off x="5908738" y="5581830"/>
              <a:ext cx="1668865" cy="1589914"/>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26" name="Straight Connector 25">
              <a:extLst>
                <a:ext uri="{FF2B5EF4-FFF2-40B4-BE49-F238E27FC236}">
                  <a16:creationId xmlns:a16="http://schemas.microsoft.com/office/drawing/2014/main" id="{A91AC131-C2D0-4567-9511-EA65CA7EE241}"/>
                </a:ext>
              </a:extLst>
            </p:cNvPr>
            <p:cNvCxnSpPr>
              <a:cxnSpLocks/>
            </p:cNvCxnSpPr>
            <p:nvPr/>
          </p:nvCxnSpPr>
          <p:spPr>
            <a:xfrm flipH="1">
              <a:off x="2489536" y="2293398"/>
              <a:ext cx="78959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CA0A091F-631C-4120-B174-67D45A6A138C}"/>
                </a:ext>
              </a:extLst>
            </p:cNvPr>
            <p:cNvCxnSpPr>
              <a:cxnSpLocks/>
            </p:cNvCxnSpPr>
            <p:nvPr/>
          </p:nvCxnSpPr>
          <p:spPr>
            <a:xfrm flipH="1">
              <a:off x="1849703" y="3918227"/>
              <a:ext cx="853579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BF890A1-93BF-4879-9ED9-E25DBB7E6053}"/>
                </a:ext>
              </a:extLst>
            </p:cNvPr>
            <p:cNvCxnSpPr>
              <a:cxnSpLocks/>
              <a:stCxn id="13" idx="2"/>
            </p:cNvCxnSpPr>
            <p:nvPr/>
          </p:nvCxnSpPr>
          <p:spPr>
            <a:xfrm flipH="1" flipV="1">
              <a:off x="1849705" y="5542113"/>
              <a:ext cx="4893466" cy="2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4" name="Oval 53" descr="timeline markers">
            <a:extLst>
              <a:ext uri="{FF2B5EF4-FFF2-40B4-BE49-F238E27FC236}">
                <a16:creationId xmlns:a16="http://schemas.microsoft.com/office/drawing/2014/main" id="{860921B8-3D91-48AB-A236-95079DA8AD01}"/>
              </a:ext>
            </a:extLst>
          </p:cNvPr>
          <p:cNvSpPr/>
          <p:nvPr/>
        </p:nvSpPr>
        <p:spPr>
          <a:xfrm>
            <a:off x="1510869" y="869163"/>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105" name="Oval 104" descr="timeline markers">
            <a:extLst>
              <a:ext uri="{FF2B5EF4-FFF2-40B4-BE49-F238E27FC236}">
                <a16:creationId xmlns:a16="http://schemas.microsoft.com/office/drawing/2014/main" id="{E92417A0-A309-465F-88E7-0DED361313C1}"/>
              </a:ext>
            </a:extLst>
          </p:cNvPr>
          <p:cNvSpPr/>
          <p:nvPr/>
        </p:nvSpPr>
        <p:spPr>
          <a:xfrm>
            <a:off x="7308262" y="5626158"/>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106" name="Oval 105" descr="timeline markers">
            <a:extLst>
              <a:ext uri="{FF2B5EF4-FFF2-40B4-BE49-F238E27FC236}">
                <a16:creationId xmlns:a16="http://schemas.microsoft.com/office/drawing/2014/main" id="{9E78D0A5-5816-4D38-925E-3537C6B2CF07}"/>
              </a:ext>
            </a:extLst>
          </p:cNvPr>
          <p:cNvSpPr/>
          <p:nvPr/>
        </p:nvSpPr>
        <p:spPr>
          <a:xfrm>
            <a:off x="8817291" y="1578025"/>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49" name="Oval 48" descr="timeline markers">
            <a:extLst>
              <a:ext uri="{FF2B5EF4-FFF2-40B4-BE49-F238E27FC236}">
                <a16:creationId xmlns:a16="http://schemas.microsoft.com/office/drawing/2014/main" id="{622D506C-97B8-4644-B042-7E8CE19853AA}"/>
              </a:ext>
            </a:extLst>
          </p:cNvPr>
          <p:cNvSpPr/>
          <p:nvPr/>
        </p:nvSpPr>
        <p:spPr>
          <a:xfrm>
            <a:off x="5790704" y="1579537"/>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51" name="Oval 50" descr="timeline markers">
            <a:extLst>
              <a:ext uri="{FF2B5EF4-FFF2-40B4-BE49-F238E27FC236}">
                <a16:creationId xmlns:a16="http://schemas.microsoft.com/office/drawing/2014/main" id="{C7A29A1C-DE28-456E-9424-2874FB1671AE}"/>
              </a:ext>
            </a:extLst>
          </p:cNvPr>
          <p:cNvSpPr/>
          <p:nvPr/>
        </p:nvSpPr>
        <p:spPr>
          <a:xfrm>
            <a:off x="2895824" y="1552555"/>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58" name="Oval 57" descr="timeline markers">
            <a:extLst>
              <a:ext uri="{FF2B5EF4-FFF2-40B4-BE49-F238E27FC236}">
                <a16:creationId xmlns:a16="http://schemas.microsoft.com/office/drawing/2014/main" id="{B8831499-4BC8-4EB5-94F3-B6D3CBDA2B29}"/>
              </a:ext>
            </a:extLst>
          </p:cNvPr>
          <p:cNvSpPr/>
          <p:nvPr/>
        </p:nvSpPr>
        <p:spPr>
          <a:xfrm rot="20704863">
            <a:off x="10169196" y="3217462"/>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62" name="Oval 61" descr="timeline markers">
            <a:extLst>
              <a:ext uri="{FF2B5EF4-FFF2-40B4-BE49-F238E27FC236}">
                <a16:creationId xmlns:a16="http://schemas.microsoft.com/office/drawing/2014/main" id="{40A4A70A-AD53-4EE1-8006-82A5BAFB4AE1}"/>
              </a:ext>
            </a:extLst>
          </p:cNvPr>
          <p:cNvSpPr/>
          <p:nvPr/>
        </p:nvSpPr>
        <p:spPr>
          <a:xfrm>
            <a:off x="7347343" y="3181807"/>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65" name="Oval 64" descr="timeline markers">
            <a:extLst>
              <a:ext uri="{FF2B5EF4-FFF2-40B4-BE49-F238E27FC236}">
                <a16:creationId xmlns:a16="http://schemas.microsoft.com/office/drawing/2014/main" id="{5453CADB-6E1A-44EF-8592-29F394DA29EE}"/>
              </a:ext>
            </a:extLst>
          </p:cNvPr>
          <p:cNvSpPr/>
          <p:nvPr/>
        </p:nvSpPr>
        <p:spPr>
          <a:xfrm>
            <a:off x="4173421" y="3154237"/>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135" name="Rectangle 134">
            <a:extLst>
              <a:ext uri="{FF2B5EF4-FFF2-40B4-BE49-F238E27FC236}">
                <a16:creationId xmlns:a16="http://schemas.microsoft.com/office/drawing/2014/main" id="{5B1B60B5-B2BB-4222-8241-D331D2956B37}"/>
              </a:ext>
            </a:extLst>
          </p:cNvPr>
          <p:cNvSpPr/>
          <p:nvPr/>
        </p:nvSpPr>
        <p:spPr>
          <a:xfrm>
            <a:off x="1028043" y="318650"/>
            <a:ext cx="1039150" cy="276999"/>
          </a:xfrm>
          <a:prstGeom prst="rect">
            <a:avLst/>
          </a:prstGeom>
          <a:noFill/>
        </p:spPr>
        <p:txBody>
          <a:bodyPr wrap="square" lIns="91440" tIns="45720" rIns="91440" bIns="45720">
            <a:spAutoFit/>
          </a:bodyPr>
          <a:lstStyle/>
          <a:p>
            <a:pPr algn="ctr"/>
            <a:r>
              <a:rPr lang="en-US" sz="1200" dirty="0">
                <a:ln w="0"/>
                <a:effectLst>
                  <a:outerShdw blurRad="38100" dist="19050" dir="2700000" algn="tl" rotWithShape="0">
                    <a:schemeClr val="dk1">
                      <a:alpha val="40000"/>
                    </a:schemeClr>
                  </a:outerShdw>
                </a:effectLst>
                <a:latin typeface="Century" panose="02040604050505020304" pitchFamily="18" charset="0"/>
              </a:rPr>
              <a:t>1950</a:t>
            </a:r>
            <a:endParaRPr lang="en-US" sz="1200" b="0" cap="none" spc="0" dirty="0">
              <a:ln w="0"/>
              <a:effectLst>
                <a:outerShdw blurRad="38100" dist="19050" dir="2700000" algn="tl" rotWithShape="0">
                  <a:schemeClr val="dk1">
                    <a:alpha val="40000"/>
                  </a:schemeClr>
                </a:outerShdw>
              </a:effectLst>
              <a:latin typeface="Century" panose="02040604050505020304" pitchFamily="18" charset="0"/>
            </a:endParaRPr>
          </a:p>
        </p:txBody>
      </p:sp>
      <p:sp>
        <p:nvSpPr>
          <p:cNvPr id="136" name="Rectangle 135">
            <a:extLst>
              <a:ext uri="{FF2B5EF4-FFF2-40B4-BE49-F238E27FC236}">
                <a16:creationId xmlns:a16="http://schemas.microsoft.com/office/drawing/2014/main" id="{9EBE4A92-D505-4DA9-BE8E-A8B4EC25D482}"/>
              </a:ext>
            </a:extLst>
          </p:cNvPr>
          <p:cNvSpPr/>
          <p:nvPr/>
        </p:nvSpPr>
        <p:spPr>
          <a:xfrm>
            <a:off x="2425622" y="1042482"/>
            <a:ext cx="1039150" cy="276999"/>
          </a:xfrm>
          <a:prstGeom prst="rect">
            <a:avLst/>
          </a:prstGeom>
          <a:noFill/>
        </p:spPr>
        <p:txBody>
          <a:bodyPr wrap="square" lIns="91440" tIns="45720" rIns="91440" bIns="45720">
            <a:spAutoFit/>
          </a:bodyPr>
          <a:lstStyle/>
          <a:p>
            <a:pPr algn="ctr"/>
            <a:r>
              <a:rPr lang="en-US" sz="1200" dirty="0">
                <a:ln w="0"/>
                <a:effectLst>
                  <a:outerShdw blurRad="38100" dist="19050" dir="2700000" algn="tl" rotWithShape="0">
                    <a:schemeClr val="dk1">
                      <a:alpha val="40000"/>
                    </a:schemeClr>
                  </a:outerShdw>
                </a:effectLst>
                <a:latin typeface="Century" panose="02040604050505020304" pitchFamily="18" charset="0"/>
              </a:rPr>
              <a:t>1951-54</a:t>
            </a:r>
            <a:endParaRPr lang="en-US" sz="1200" b="0" cap="none" spc="0" dirty="0">
              <a:ln w="0"/>
              <a:effectLst>
                <a:outerShdw blurRad="38100" dist="19050" dir="2700000" algn="tl" rotWithShape="0">
                  <a:schemeClr val="dk1">
                    <a:alpha val="40000"/>
                  </a:schemeClr>
                </a:outerShdw>
              </a:effectLst>
              <a:latin typeface="Century" panose="02040604050505020304" pitchFamily="18" charset="0"/>
            </a:endParaRPr>
          </a:p>
        </p:txBody>
      </p:sp>
      <p:sp>
        <p:nvSpPr>
          <p:cNvPr id="138" name="Rectangle 137">
            <a:extLst>
              <a:ext uri="{FF2B5EF4-FFF2-40B4-BE49-F238E27FC236}">
                <a16:creationId xmlns:a16="http://schemas.microsoft.com/office/drawing/2014/main" id="{3E1E0AC3-CB57-42A0-94F8-0C826BD3E3BC}"/>
              </a:ext>
            </a:extLst>
          </p:cNvPr>
          <p:cNvSpPr/>
          <p:nvPr/>
        </p:nvSpPr>
        <p:spPr>
          <a:xfrm>
            <a:off x="5395573" y="989084"/>
            <a:ext cx="1039150" cy="276999"/>
          </a:xfrm>
          <a:prstGeom prst="rect">
            <a:avLst/>
          </a:prstGeom>
          <a:noFill/>
        </p:spPr>
        <p:txBody>
          <a:bodyPr wrap="square" lIns="91440" tIns="45720" rIns="91440" bIns="45720">
            <a:spAutoFit/>
          </a:bodyPr>
          <a:lstStyle/>
          <a:p>
            <a:pPr algn="ctr"/>
            <a:r>
              <a:rPr lang="en-US" sz="1200" dirty="0">
                <a:ln w="0"/>
                <a:effectLst>
                  <a:outerShdw blurRad="38100" dist="19050" dir="2700000" algn="tl" rotWithShape="0">
                    <a:schemeClr val="dk1">
                      <a:alpha val="40000"/>
                    </a:schemeClr>
                  </a:outerShdw>
                </a:effectLst>
                <a:latin typeface="Century" panose="02040604050505020304" pitchFamily="18" charset="0"/>
              </a:rPr>
              <a:t>1966</a:t>
            </a:r>
            <a:endParaRPr lang="en-US" sz="1200" b="0" cap="none" spc="0" dirty="0">
              <a:ln w="0"/>
              <a:effectLst>
                <a:outerShdw blurRad="38100" dist="19050" dir="2700000" algn="tl" rotWithShape="0">
                  <a:schemeClr val="dk1">
                    <a:alpha val="40000"/>
                  </a:schemeClr>
                </a:outerShdw>
              </a:effectLst>
              <a:latin typeface="Century" panose="02040604050505020304" pitchFamily="18" charset="0"/>
            </a:endParaRPr>
          </a:p>
        </p:txBody>
      </p:sp>
      <p:sp>
        <p:nvSpPr>
          <p:cNvPr id="139" name="Rectangle 138">
            <a:extLst>
              <a:ext uri="{FF2B5EF4-FFF2-40B4-BE49-F238E27FC236}">
                <a16:creationId xmlns:a16="http://schemas.microsoft.com/office/drawing/2014/main" id="{5A83FCF1-ABE7-4536-BC1C-A9786E2C67F5}"/>
              </a:ext>
            </a:extLst>
          </p:cNvPr>
          <p:cNvSpPr/>
          <p:nvPr/>
        </p:nvSpPr>
        <p:spPr>
          <a:xfrm>
            <a:off x="9699237" y="2691815"/>
            <a:ext cx="1039150" cy="276999"/>
          </a:xfrm>
          <a:prstGeom prst="rect">
            <a:avLst/>
          </a:prstGeom>
          <a:noFill/>
        </p:spPr>
        <p:txBody>
          <a:bodyPr wrap="square" lIns="91440" tIns="45720" rIns="91440" bIns="45720">
            <a:spAutoFit/>
          </a:bodyPr>
          <a:lstStyle/>
          <a:p>
            <a:pPr algn="ctr"/>
            <a:r>
              <a:rPr lang="en-US" sz="1200" dirty="0">
                <a:ln w="0"/>
                <a:effectLst>
                  <a:outerShdw blurRad="38100" dist="19050" dir="2700000" algn="tl" rotWithShape="0">
                    <a:schemeClr val="dk1">
                      <a:alpha val="40000"/>
                    </a:schemeClr>
                  </a:outerShdw>
                </a:effectLst>
                <a:latin typeface="Century" panose="02040604050505020304" pitchFamily="18" charset="0"/>
              </a:rPr>
              <a:t>1984</a:t>
            </a:r>
            <a:endParaRPr lang="en-US" sz="1200" b="0" cap="none" spc="0" dirty="0">
              <a:ln w="0"/>
              <a:effectLst>
                <a:outerShdw blurRad="38100" dist="19050" dir="2700000" algn="tl" rotWithShape="0">
                  <a:schemeClr val="dk1">
                    <a:alpha val="40000"/>
                  </a:schemeClr>
                </a:outerShdw>
              </a:effectLst>
              <a:latin typeface="Century" panose="02040604050505020304" pitchFamily="18" charset="0"/>
            </a:endParaRPr>
          </a:p>
        </p:txBody>
      </p:sp>
      <p:sp>
        <p:nvSpPr>
          <p:cNvPr id="150" name="Text Placeholder 33">
            <a:extLst>
              <a:ext uri="{FF2B5EF4-FFF2-40B4-BE49-F238E27FC236}">
                <a16:creationId xmlns:a16="http://schemas.microsoft.com/office/drawing/2014/main" id="{7BA2AEE7-6171-4E64-B3EC-49424F583281}"/>
              </a:ext>
            </a:extLst>
          </p:cNvPr>
          <p:cNvSpPr txBox="1">
            <a:spLocks/>
          </p:cNvSpPr>
          <p:nvPr/>
        </p:nvSpPr>
        <p:spPr>
          <a:xfrm>
            <a:off x="10119" y="959038"/>
            <a:ext cx="1539078" cy="60166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1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sz="1200" dirty="0">
                <a:solidFill>
                  <a:srgbClr val="000000"/>
                </a:solidFill>
                <a:highlight>
                  <a:srgbClr val="FFFF00"/>
                </a:highlight>
                <a:latin typeface="Times New Roman" panose="02020603050405020304" pitchFamily="18" charset="0"/>
              </a:rPr>
              <a:t>A highly centralised two-tier Federal system was adopted</a:t>
            </a:r>
          </a:p>
        </p:txBody>
      </p:sp>
      <p:sp>
        <p:nvSpPr>
          <p:cNvPr id="153" name="Text Placeholder 37">
            <a:extLst>
              <a:ext uri="{FF2B5EF4-FFF2-40B4-BE49-F238E27FC236}">
                <a16:creationId xmlns:a16="http://schemas.microsoft.com/office/drawing/2014/main" id="{A3B88D99-80A8-4D62-B818-9B7C66C26137}"/>
              </a:ext>
            </a:extLst>
          </p:cNvPr>
          <p:cNvSpPr txBox="1">
            <a:spLocks/>
          </p:cNvSpPr>
          <p:nvPr/>
        </p:nvSpPr>
        <p:spPr>
          <a:xfrm>
            <a:off x="-132867" y="775667"/>
            <a:ext cx="1879607" cy="326165"/>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800" b="1" kern="1200">
                <a:solidFill>
                  <a:schemeClr val="tx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dirty="0">
                <a:latin typeface="Century" panose="02040604050505020304" pitchFamily="18" charset="0"/>
              </a:rPr>
              <a:t>Constitution of India</a:t>
            </a:r>
          </a:p>
        </p:txBody>
      </p:sp>
      <p:sp>
        <p:nvSpPr>
          <p:cNvPr id="158" name="Text Placeholder 37">
            <a:extLst>
              <a:ext uri="{FF2B5EF4-FFF2-40B4-BE49-F238E27FC236}">
                <a16:creationId xmlns:a16="http://schemas.microsoft.com/office/drawing/2014/main" id="{FF2E5442-B376-40AA-AA44-41ADA61064EA}"/>
              </a:ext>
            </a:extLst>
          </p:cNvPr>
          <p:cNvSpPr txBox="1">
            <a:spLocks/>
          </p:cNvSpPr>
          <p:nvPr/>
        </p:nvSpPr>
        <p:spPr>
          <a:xfrm>
            <a:off x="2006579" y="1725972"/>
            <a:ext cx="1909679" cy="359264"/>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800" b="1" kern="1200">
                <a:solidFill>
                  <a:schemeClr val="tx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dirty="0">
                <a:latin typeface="Century" panose="02040604050505020304" pitchFamily="18" charset="0"/>
              </a:rPr>
              <a:t>Kher Committee Report</a:t>
            </a:r>
          </a:p>
        </p:txBody>
      </p:sp>
      <p:sp>
        <p:nvSpPr>
          <p:cNvPr id="166" name="TextBox 165">
            <a:extLst>
              <a:ext uri="{FF2B5EF4-FFF2-40B4-BE49-F238E27FC236}">
                <a16:creationId xmlns:a16="http://schemas.microsoft.com/office/drawing/2014/main" id="{D1CA1343-63F3-4CAC-B6FE-1102CADDCB1F}"/>
              </a:ext>
            </a:extLst>
          </p:cNvPr>
          <p:cNvSpPr txBox="1"/>
          <p:nvPr/>
        </p:nvSpPr>
        <p:spPr>
          <a:xfrm>
            <a:off x="2006578" y="1919197"/>
            <a:ext cx="1909679" cy="830996"/>
          </a:xfrm>
          <a:prstGeom prst="rect">
            <a:avLst/>
          </a:prstGeom>
          <a:noFill/>
        </p:spPr>
        <p:txBody>
          <a:bodyPr wrap="square">
            <a:spAutoFit/>
          </a:bodyPr>
          <a:lstStyle/>
          <a:p>
            <a:pPr algn="ctr"/>
            <a:r>
              <a:rPr lang="en-IN" sz="1200" dirty="0">
                <a:solidFill>
                  <a:srgbClr val="000000"/>
                </a:solidFill>
                <a:highlight>
                  <a:srgbClr val="FFFF00"/>
                </a:highlight>
                <a:latin typeface="Times New Roman" panose="02020603050405020304" pitchFamily="18" charset="0"/>
              </a:rPr>
              <a:t>Local administration caused teacher harassment. Safeguards were recommended</a:t>
            </a:r>
            <a:r>
              <a:rPr lang="en-IN" sz="1200" dirty="0">
                <a:solidFill>
                  <a:srgbClr val="000000"/>
                </a:solidFill>
                <a:latin typeface="Times New Roman" panose="02020603050405020304" pitchFamily="18" charset="0"/>
              </a:rPr>
              <a:t>.</a:t>
            </a:r>
          </a:p>
        </p:txBody>
      </p:sp>
      <p:sp>
        <p:nvSpPr>
          <p:cNvPr id="169" name="Text Placeholder 37">
            <a:extLst>
              <a:ext uri="{FF2B5EF4-FFF2-40B4-BE49-F238E27FC236}">
                <a16:creationId xmlns:a16="http://schemas.microsoft.com/office/drawing/2014/main" id="{D6AC038F-FDBE-4CC3-A1C0-9B302DB762F7}"/>
              </a:ext>
            </a:extLst>
          </p:cNvPr>
          <p:cNvSpPr txBox="1">
            <a:spLocks/>
          </p:cNvSpPr>
          <p:nvPr/>
        </p:nvSpPr>
        <p:spPr>
          <a:xfrm>
            <a:off x="4991641" y="1716110"/>
            <a:ext cx="1909679" cy="372801"/>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800" b="1" kern="1200">
                <a:solidFill>
                  <a:schemeClr val="tx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dirty="0">
                <a:latin typeface="Century" panose="02040604050505020304" pitchFamily="18" charset="0"/>
              </a:rPr>
              <a:t>Kothari Commission</a:t>
            </a:r>
          </a:p>
        </p:txBody>
      </p:sp>
      <p:sp>
        <p:nvSpPr>
          <p:cNvPr id="170" name="TextBox 169">
            <a:extLst>
              <a:ext uri="{FF2B5EF4-FFF2-40B4-BE49-F238E27FC236}">
                <a16:creationId xmlns:a16="http://schemas.microsoft.com/office/drawing/2014/main" id="{D627D2B2-9787-462D-8CB6-459D7BB6AE6D}"/>
              </a:ext>
            </a:extLst>
          </p:cNvPr>
          <p:cNvSpPr txBox="1"/>
          <p:nvPr/>
        </p:nvSpPr>
        <p:spPr>
          <a:xfrm>
            <a:off x="5266572" y="1875252"/>
            <a:ext cx="1539856" cy="830997"/>
          </a:xfrm>
          <a:prstGeom prst="rect">
            <a:avLst/>
          </a:prstGeom>
          <a:noFill/>
        </p:spPr>
        <p:txBody>
          <a:bodyPr wrap="square">
            <a:spAutoFit/>
          </a:bodyPr>
          <a:lstStyle/>
          <a:p>
            <a:pPr algn="ctr"/>
            <a:r>
              <a:rPr lang="en-IN" sz="1200" dirty="0">
                <a:solidFill>
                  <a:srgbClr val="000000"/>
                </a:solidFill>
                <a:highlight>
                  <a:srgbClr val="FF9900"/>
                </a:highlight>
                <a:latin typeface="Times New Roman" panose="02020603050405020304" pitchFamily="18" charset="0"/>
              </a:rPr>
              <a:t>Advocated for a greater role of state governments in education governance</a:t>
            </a:r>
          </a:p>
        </p:txBody>
      </p:sp>
      <p:sp>
        <p:nvSpPr>
          <p:cNvPr id="171" name="Text Placeholder 37">
            <a:extLst>
              <a:ext uri="{FF2B5EF4-FFF2-40B4-BE49-F238E27FC236}">
                <a16:creationId xmlns:a16="http://schemas.microsoft.com/office/drawing/2014/main" id="{5340524C-5709-4ADB-B3F9-195B98B6657E}"/>
              </a:ext>
            </a:extLst>
          </p:cNvPr>
          <p:cNvSpPr txBox="1">
            <a:spLocks/>
          </p:cNvSpPr>
          <p:nvPr/>
        </p:nvSpPr>
        <p:spPr>
          <a:xfrm>
            <a:off x="9230769" y="3426543"/>
            <a:ext cx="2232118" cy="326165"/>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800" b="1" kern="1200">
                <a:solidFill>
                  <a:schemeClr val="tx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dirty="0">
                <a:latin typeface="Century" panose="02040604050505020304" pitchFamily="18" charset="0"/>
              </a:rPr>
              <a:t>Planning Commission</a:t>
            </a:r>
          </a:p>
        </p:txBody>
      </p:sp>
      <p:sp>
        <p:nvSpPr>
          <p:cNvPr id="172" name="TextBox 171">
            <a:extLst>
              <a:ext uri="{FF2B5EF4-FFF2-40B4-BE49-F238E27FC236}">
                <a16:creationId xmlns:a16="http://schemas.microsoft.com/office/drawing/2014/main" id="{80ECBC71-F4CA-4A7E-AAAE-F3748B707826}"/>
              </a:ext>
            </a:extLst>
          </p:cNvPr>
          <p:cNvSpPr txBox="1"/>
          <p:nvPr/>
        </p:nvSpPr>
        <p:spPr>
          <a:xfrm>
            <a:off x="9199758" y="3617680"/>
            <a:ext cx="2219429" cy="830997"/>
          </a:xfrm>
          <a:prstGeom prst="rect">
            <a:avLst/>
          </a:prstGeom>
          <a:noFill/>
        </p:spPr>
        <p:txBody>
          <a:bodyPr wrap="square">
            <a:spAutoFit/>
          </a:bodyPr>
          <a:lstStyle/>
          <a:p>
            <a:pPr algn="ctr"/>
            <a:r>
              <a:rPr lang="en-IN" sz="1200" dirty="0">
                <a:solidFill>
                  <a:srgbClr val="000000"/>
                </a:solidFill>
                <a:latin typeface="Times New Roman" panose="02020603050405020304" pitchFamily="18" charset="0"/>
              </a:rPr>
              <a:t>Recommended a multi-level planning framework with districts being treated as sub-states</a:t>
            </a:r>
          </a:p>
        </p:txBody>
      </p:sp>
      <p:sp>
        <p:nvSpPr>
          <p:cNvPr id="173" name="Oval 172" descr="timeline markers">
            <a:extLst>
              <a:ext uri="{FF2B5EF4-FFF2-40B4-BE49-F238E27FC236}">
                <a16:creationId xmlns:a16="http://schemas.microsoft.com/office/drawing/2014/main" id="{C0003932-2026-47C5-8D6E-53C47E25FE31}"/>
              </a:ext>
            </a:extLst>
          </p:cNvPr>
          <p:cNvSpPr/>
          <p:nvPr/>
        </p:nvSpPr>
        <p:spPr>
          <a:xfrm>
            <a:off x="2341014" y="4834679"/>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175" name="Oval 174" descr="timeline markers">
            <a:extLst>
              <a:ext uri="{FF2B5EF4-FFF2-40B4-BE49-F238E27FC236}">
                <a16:creationId xmlns:a16="http://schemas.microsoft.com/office/drawing/2014/main" id="{1CD6915A-777E-4C46-821F-025AF112AEF8}"/>
              </a:ext>
            </a:extLst>
          </p:cNvPr>
          <p:cNvSpPr/>
          <p:nvPr/>
        </p:nvSpPr>
        <p:spPr>
          <a:xfrm>
            <a:off x="5561531" y="4834679"/>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187" name="Rectangle 186">
            <a:extLst>
              <a:ext uri="{FF2B5EF4-FFF2-40B4-BE49-F238E27FC236}">
                <a16:creationId xmlns:a16="http://schemas.microsoft.com/office/drawing/2014/main" id="{0C9CFCEB-70C0-4A34-B10B-6F34A09A3024}"/>
              </a:ext>
            </a:extLst>
          </p:cNvPr>
          <p:cNvSpPr/>
          <p:nvPr/>
        </p:nvSpPr>
        <p:spPr>
          <a:xfrm>
            <a:off x="6901320" y="2662003"/>
            <a:ext cx="1039150" cy="276999"/>
          </a:xfrm>
          <a:prstGeom prst="rect">
            <a:avLst/>
          </a:prstGeom>
          <a:noFill/>
        </p:spPr>
        <p:txBody>
          <a:bodyPr wrap="square" lIns="91440" tIns="45720" rIns="91440" bIns="45720">
            <a:spAutoFit/>
          </a:bodyPr>
          <a:lstStyle/>
          <a:p>
            <a:pPr algn="ctr"/>
            <a:r>
              <a:rPr lang="en-US" sz="1200" b="0" cap="none" spc="0" dirty="0">
                <a:ln w="0"/>
                <a:effectLst>
                  <a:outerShdw blurRad="38100" dist="19050" dir="2700000" algn="tl" rotWithShape="0">
                    <a:schemeClr val="dk1">
                      <a:alpha val="40000"/>
                    </a:schemeClr>
                  </a:outerShdw>
                </a:effectLst>
                <a:latin typeface="Century" panose="02040604050505020304" pitchFamily="18" charset="0"/>
              </a:rPr>
              <a:t>1992-93</a:t>
            </a:r>
          </a:p>
        </p:txBody>
      </p:sp>
      <p:sp>
        <p:nvSpPr>
          <p:cNvPr id="188" name="Rectangle 187">
            <a:extLst>
              <a:ext uri="{FF2B5EF4-FFF2-40B4-BE49-F238E27FC236}">
                <a16:creationId xmlns:a16="http://schemas.microsoft.com/office/drawing/2014/main" id="{6E194AEF-E4BE-4492-9CD1-E0C8F8F77472}"/>
              </a:ext>
            </a:extLst>
          </p:cNvPr>
          <p:cNvSpPr/>
          <p:nvPr/>
        </p:nvSpPr>
        <p:spPr>
          <a:xfrm>
            <a:off x="3757093" y="2652457"/>
            <a:ext cx="1064118" cy="284090"/>
          </a:xfrm>
          <a:prstGeom prst="rect">
            <a:avLst/>
          </a:prstGeom>
          <a:noFill/>
        </p:spPr>
        <p:txBody>
          <a:bodyPr wrap="square" lIns="91440" tIns="45720" rIns="91440" bIns="45720">
            <a:spAutoFit/>
          </a:bodyPr>
          <a:lstStyle/>
          <a:p>
            <a:pPr algn="ctr"/>
            <a:r>
              <a:rPr lang="en-US" sz="1200" dirty="0">
                <a:ln w="0"/>
                <a:effectLst>
                  <a:outerShdw blurRad="38100" dist="19050" dir="2700000" algn="tl" rotWithShape="0">
                    <a:schemeClr val="dk1">
                      <a:alpha val="40000"/>
                    </a:schemeClr>
                  </a:outerShdw>
                </a:effectLst>
                <a:latin typeface="Century" panose="02040604050505020304" pitchFamily="18" charset="0"/>
              </a:rPr>
              <a:t>1992</a:t>
            </a:r>
            <a:endParaRPr lang="en-US" sz="1200" b="0" cap="none" spc="0" dirty="0">
              <a:ln w="0"/>
              <a:effectLst>
                <a:outerShdw blurRad="38100" dist="19050" dir="2700000" algn="tl" rotWithShape="0">
                  <a:schemeClr val="dk1">
                    <a:alpha val="40000"/>
                  </a:schemeClr>
                </a:outerShdw>
              </a:effectLst>
              <a:latin typeface="Century" panose="02040604050505020304" pitchFamily="18" charset="0"/>
            </a:endParaRPr>
          </a:p>
        </p:txBody>
      </p:sp>
      <p:sp>
        <p:nvSpPr>
          <p:cNvPr id="189" name="Rectangle 188">
            <a:extLst>
              <a:ext uri="{FF2B5EF4-FFF2-40B4-BE49-F238E27FC236}">
                <a16:creationId xmlns:a16="http://schemas.microsoft.com/office/drawing/2014/main" id="{23F935F4-41D6-4950-B204-CF666FE5F28A}"/>
              </a:ext>
            </a:extLst>
          </p:cNvPr>
          <p:cNvSpPr/>
          <p:nvPr/>
        </p:nvSpPr>
        <p:spPr>
          <a:xfrm>
            <a:off x="1934622" y="4303233"/>
            <a:ext cx="1039150" cy="276999"/>
          </a:xfrm>
          <a:prstGeom prst="rect">
            <a:avLst/>
          </a:prstGeom>
          <a:noFill/>
        </p:spPr>
        <p:txBody>
          <a:bodyPr wrap="square" lIns="91440" tIns="45720" rIns="91440" bIns="45720">
            <a:spAutoFit/>
          </a:bodyPr>
          <a:lstStyle/>
          <a:p>
            <a:pPr algn="ctr"/>
            <a:r>
              <a:rPr lang="en-US" sz="1200" dirty="0">
                <a:ln w="0"/>
                <a:effectLst>
                  <a:outerShdw blurRad="38100" dist="19050" dir="2700000" algn="tl" rotWithShape="0">
                    <a:schemeClr val="dk1">
                      <a:alpha val="40000"/>
                    </a:schemeClr>
                  </a:outerShdw>
                </a:effectLst>
                <a:latin typeface="Century" panose="02040604050505020304" pitchFamily="18" charset="0"/>
              </a:rPr>
              <a:t>2001</a:t>
            </a:r>
            <a:endParaRPr lang="en-US" sz="1200" b="0" cap="none" spc="0" dirty="0">
              <a:ln w="0"/>
              <a:effectLst>
                <a:outerShdw blurRad="38100" dist="19050" dir="2700000" algn="tl" rotWithShape="0">
                  <a:schemeClr val="dk1">
                    <a:alpha val="40000"/>
                  </a:schemeClr>
                </a:outerShdw>
              </a:effectLst>
              <a:latin typeface="Century" panose="02040604050505020304" pitchFamily="18" charset="0"/>
            </a:endParaRPr>
          </a:p>
        </p:txBody>
      </p:sp>
      <p:sp>
        <p:nvSpPr>
          <p:cNvPr id="190" name="Rectangle 189">
            <a:extLst>
              <a:ext uri="{FF2B5EF4-FFF2-40B4-BE49-F238E27FC236}">
                <a16:creationId xmlns:a16="http://schemas.microsoft.com/office/drawing/2014/main" id="{4077B6C2-7180-455B-918B-CE8ABBE4EE43}"/>
              </a:ext>
            </a:extLst>
          </p:cNvPr>
          <p:cNvSpPr/>
          <p:nvPr/>
        </p:nvSpPr>
        <p:spPr>
          <a:xfrm>
            <a:off x="5114736" y="4271657"/>
            <a:ext cx="1039150" cy="276999"/>
          </a:xfrm>
          <a:prstGeom prst="rect">
            <a:avLst/>
          </a:prstGeom>
          <a:noFill/>
        </p:spPr>
        <p:txBody>
          <a:bodyPr wrap="square" lIns="91440" tIns="45720" rIns="91440" bIns="45720">
            <a:spAutoFit/>
          </a:bodyPr>
          <a:lstStyle/>
          <a:p>
            <a:pPr algn="ctr"/>
            <a:r>
              <a:rPr lang="en-US" sz="1200" dirty="0">
                <a:ln w="0"/>
                <a:effectLst>
                  <a:outerShdw blurRad="38100" dist="19050" dir="2700000" algn="tl" rotWithShape="0">
                    <a:schemeClr val="dk1">
                      <a:alpha val="40000"/>
                    </a:schemeClr>
                  </a:outerShdw>
                </a:effectLst>
                <a:latin typeface="Century" panose="02040604050505020304" pitchFamily="18" charset="0"/>
              </a:rPr>
              <a:t>2009</a:t>
            </a:r>
            <a:endParaRPr lang="en-US" sz="1200" b="0" cap="none" spc="0" dirty="0">
              <a:ln w="0"/>
              <a:effectLst>
                <a:outerShdw blurRad="38100" dist="19050" dir="2700000" algn="tl" rotWithShape="0">
                  <a:schemeClr val="dk1">
                    <a:alpha val="40000"/>
                  </a:schemeClr>
                </a:outerShdw>
              </a:effectLst>
              <a:latin typeface="Century" panose="02040604050505020304" pitchFamily="18" charset="0"/>
            </a:endParaRPr>
          </a:p>
        </p:txBody>
      </p:sp>
      <p:sp>
        <p:nvSpPr>
          <p:cNvPr id="191" name="Rectangle 190">
            <a:extLst>
              <a:ext uri="{FF2B5EF4-FFF2-40B4-BE49-F238E27FC236}">
                <a16:creationId xmlns:a16="http://schemas.microsoft.com/office/drawing/2014/main" id="{4DD4CCE9-78C7-4475-AD6C-1507E26B93B4}"/>
              </a:ext>
            </a:extLst>
          </p:cNvPr>
          <p:cNvSpPr/>
          <p:nvPr/>
        </p:nvSpPr>
        <p:spPr>
          <a:xfrm>
            <a:off x="6959740" y="6098189"/>
            <a:ext cx="1039150" cy="276999"/>
          </a:xfrm>
          <a:prstGeom prst="rect">
            <a:avLst/>
          </a:prstGeom>
          <a:noFill/>
        </p:spPr>
        <p:txBody>
          <a:bodyPr wrap="square" lIns="91440" tIns="45720" rIns="91440" bIns="45720">
            <a:spAutoFit/>
          </a:bodyPr>
          <a:lstStyle/>
          <a:p>
            <a:pPr algn="ctr"/>
            <a:r>
              <a:rPr lang="en-US" sz="1200" dirty="0">
                <a:ln w="0"/>
                <a:effectLst>
                  <a:outerShdw blurRad="38100" dist="19050" dir="2700000" algn="tl" rotWithShape="0">
                    <a:schemeClr val="dk1">
                      <a:alpha val="40000"/>
                    </a:schemeClr>
                  </a:outerShdw>
                </a:effectLst>
                <a:latin typeface="Century" panose="02040604050505020304" pitchFamily="18" charset="0"/>
              </a:rPr>
              <a:t>2020</a:t>
            </a:r>
            <a:endParaRPr lang="en-US" sz="1200" b="0" cap="none" spc="0" dirty="0">
              <a:ln w="0"/>
              <a:effectLst>
                <a:outerShdw blurRad="38100" dist="19050" dir="2700000" algn="tl" rotWithShape="0">
                  <a:schemeClr val="dk1">
                    <a:alpha val="40000"/>
                  </a:schemeClr>
                </a:outerShdw>
              </a:effectLst>
              <a:latin typeface="Century" panose="02040604050505020304" pitchFamily="18" charset="0"/>
            </a:endParaRPr>
          </a:p>
        </p:txBody>
      </p:sp>
      <p:sp>
        <p:nvSpPr>
          <p:cNvPr id="193" name="TextBox 192">
            <a:extLst>
              <a:ext uri="{FF2B5EF4-FFF2-40B4-BE49-F238E27FC236}">
                <a16:creationId xmlns:a16="http://schemas.microsoft.com/office/drawing/2014/main" id="{AD8D986E-6089-4B8D-B19E-F564ACEDDB4F}"/>
              </a:ext>
            </a:extLst>
          </p:cNvPr>
          <p:cNvSpPr txBox="1"/>
          <p:nvPr/>
        </p:nvSpPr>
        <p:spPr>
          <a:xfrm>
            <a:off x="6251814" y="3443181"/>
            <a:ext cx="2167310" cy="461665"/>
          </a:xfrm>
          <a:prstGeom prst="rect">
            <a:avLst/>
          </a:prstGeom>
          <a:noFill/>
        </p:spPr>
        <p:txBody>
          <a:bodyPr wrap="square">
            <a:spAutoFit/>
          </a:bodyPr>
          <a:lstStyle/>
          <a:p>
            <a:pPr algn="ctr"/>
            <a:r>
              <a:rPr lang="en-IN" sz="1200" b="1" dirty="0">
                <a:latin typeface="Century" panose="02040604050505020304" pitchFamily="18" charset="0"/>
              </a:rPr>
              <a:t>73rd and 74th constitutional amendments </a:t>
            </a:r>
          </a:p>
        </p:txBody>
      </p:sp>
      <p:sp>
        <p:nvSpPr>
          <p:cNvPr id="195" name="TextBox 194">
            <a:extLst>
              <a:ext uri="{FF2B5EF4-FFF2-40B4-BE49-F238E27FC236}">
                <a16:creationId xmlns:a16="http://schemas.microsoft.com/office/drawing/2014/main" id="{2D96A2D1-A141-4103-BA87-0C10E8371D94}"/>
              </a:ext>
            </a:extLst>
          </p:cNvPr>
          <p:cNvSpPr txBox="1"/>
          <p:nvPr/>
        </p:nvSpPr>
        <p:spPr>
          <a:xfrm>
            <a:off x="6271358" y="3825345"/>
            <a:ext cx="2167310" cy="830997"/>
          </a:xfrm>
          <a:prstGeom prst="rect">
            <a:avLst/>
          </a:prstGeom>
          <a:noFill/>
        </p:spPr>
        <p:txBody>
          <a:bodyPr wrap="square">
            <a:spAutoFit/>
          </a:bodyPr>
          <a:lstStyle/>
          <a:p>
            <a:pPr algn="ctr"/>
            <a:r>
              <a:rPr lang="en-IN" sz="1200" b="1" dirty="0">
                <a:solidFill>
                  <a:srgbClr val="000000"/>
                </a:solidFill>
                <a:highlight>
                  <a:srgbClr val="00FF00"/>
                </a:highlight>
                <a:latin typeface="Times New Roman" panose="02020603050405020304" pitchFamily="18" charset="0"/>
              </a:rPr>
              <a:t>Mandated decentralization</a:t>
            </a:r>
            <a:r>
              <a:rPr lang="en-IN" sz="1200" dirty="0">
                <a:solidFill>
                  <a:srgbClr val="000000"/>
                </a:solidFill>
                <a:highlight>
                  <a:srgbClr val="00FF00"/>
                </a:highlight>
                <a:latin typeface="Times New Roman" panose="02020603050405020304" pitchFamily="18" charset="0"/>
              </a:rPr>
              <a:t>-criticized for being unsuccessful as PRIs lacked the resources carry out their duties</a:t>
            </a:r>
          </a:p>
        </p:txBody>
      </p:sp>
      <p:sp>
        <p:nvSpPr>
          <p:cNvPr id="196" name="TextBox 195">
            <a:extLst>
              <a:ext uri="{FF2B5EF4-FFF2-40B4-BE49-F238E27FC236}">
                <a16:creationId xmlns:a16="http://schemas.microsoft.com/office/drawing/2014/main" id="{45078831-7E00-41F8-BF79-5B263287468C}"/>
              </a:ext>
            </a:extLst>
          </p:cNvPr>
          <p:cNvSpPr txBox="1"/>
          <p:nvPr/>
        </p:nvSpPr>
        <p:spPr>
          <a:xfrm>
            <a:off x="3128026" y="3344545"/>
            <a:ext cx="2167310" cy="276999"/>
          </a:xfrm>
          <a:prstGeom prst="rect">
            <a:avLst/>
          </a:prstGeom>
          <a:noFill/>
        </p:spPr>
        <p:txBody>
          <a:bodyPr wrap="square">
            <a:spAutoFit/>
          </a:bodyPr>
          <a:lstStyle/>
          <a:p>
            <a:pPr algn="ctr"/>
            <a:r>
              <a:rPr lang="en-IN" sz="1200" b="1" dirty="0">
                <a:latin typeface="Century" panose="02040604050505020304" pitchFamily="18" charset="0"/>
              </a:rPr>
              <a:t>NPE &amp; </a:t>
            </a:r>
            <a:r>
              <a:rPr lang="en-IN" sz="1200" b="1" dirty="0" err="1">
                <a:latin typeface="Century" panose="02040604050505020304" pitchFamily="18" charset="0"/>
              </a:rPr>
              <a:t>PoA</a:t>
            </a:r>
            <a:endParaRPr lang="en-IN" sz="1200" b="1" dirty="0">
              <a:latin typeface="Century" panose="02040604050505020304" pitchFamily="18" charset="0"/>
            </a:endParaRPr>
          </a:p>
        </p:txBody>
      </p:sp>
      <p:sp>
        <p:nvSpPr>
          <p:cNvPr id="198" name="TextBox 197">
            <a:extLst>
              <a:ext uri="{FF2B5EF4-FFF2-40B4-BE49-F238E27FC236}">
                <a16:creationId xmlns:a16="http://schemas.microsoft.com/office/drawing/2014/main" id="{1C1EABAF-63DF-4BEF-BAD2-C7093EF56836}"/>
              </a:ext>
            </a:extLst>
          </p:cNvPr>
          <p:cNvSpPr txBox="1"/>
          <p:nvPr/>
        </p:nvSpPr>
        <p:spPr>
          <a:xfrm>
            <a:off x="3117447" y="3551461"/>
            <a:ext cx="2167310" cy="830997"/>
          </a:xfrm>
          <a:prstGeom prst="rect">
            <a:avLst/>
          </a:prstGeom>
          <a:noFill/>
        </p:spPr>
        <p:txBody>
          <a:bodyPr wrap="square">
            <a:spAutoFit/>
          </a:bodyPr>
          <a:lstStyle/>
          <a:p>
            <a:pPr algn="ctr"/>
            <a:r>
              <a:rPr lang="en-IN" sz="1200" dirty="0">
                <a:solidFill>
                  <a:srgbClr val="000000"/>
                </a:solidFill>
                <a:latin typeface="Times New Roman" panose="02020603050405020304" pitchFamily="18" charset="0"/>
              </a:rPr>
              <a:t>envisaged district and village-level bodies to plan, implement and administer educational programmes</a:t>
            </a:r>
          </a:p>
        </p:txBody>
      </p:sp>
      <p:sp>
        <p:nvSpPr>
          <p:cNvPr id="199" name="TextBox 198">
            <a:extLst>
              <a:ext uri="{FF2B5EF4-FFF2-40B4-BE49-F238E27FC236}">
                <a16:creationId xmlns:a16="http://schemas.microsoft.com/office/drawing/2014/main" id="{06E98D74-9DEF-4C56-BF79-261211FE20D9}"/>
              </a:ext>
            </a:extLst>
          </p:cNvPr>
          <p:cNvSpPr txBox="1"/>
          <p:nvPr/>
        </p:nvSpPr>
        <p:spPr>
          <a:xfrm>
            <a:off x="1370542" y="5029776"/>
            <a:ext cx="2167310" cy="461665"/>
          </a:xfrm>
          <a:prstGeom prst="rect">
            <a:avLst/>
          </a:prstGeom>
          <a:noFill/>
        </p:spPr>
        <p:txBody>
          <a:bodyPr wrap="square">
            <a:spAutoFit/>
          </a:bodyPr>
          <a:lstStyle/>
          <a:p>
            <a:pPr algn="ctr"/>
            <a:r>
              <a:rPr lang="en-IN" sz="1200" b="1" dirty="0">
                <a:latin typeface="Century" panose="02040604050505020304" pitchFamily="18" charset="0"/>
              </a:rPr>
              <a:t>Sarva Shiksha Abhiyan, Central schemes</a:t>
            </a:r>
          </a:p>
        </p:txBody>
      </p:sp>
      <p:sp>
        <p:nvSpPr>
          <p:cNvPr id="200" name="TextBox 199">
            <a:extLst>
              <a:ext uri="{FF2B5EF4-FFF2-40B4-BE49-F238E27FC236}">
                <a16:creationId xmlns:a16="http://schemas.microsoft.com/office/drawing/2014/main" id="{EFB03B6F-CB59-43D4-B9A1-53BE07AB5D8B}"/>
              </a:ext>
            </a:extLst>
          </p:cNvPr>
          <p:cNvSpPr txBox="1"/>
          <p:nvPr/>
        </p:nvSpPr>
        <p:spPr>
          <a:xfrm>
            <a:off x="1603523" y="5411385"/>
            <a:ext cx="1978687" cy="1015663"/>
          </a:xfrm>
          <a:prstGeom prst="rect">
            <a:avLst/>
          </a:prstGeom>
          <a:noFill/>
        </p:spPr>
        <p:txBody>
          <a:bodyPr wrap="square">
            <a:spAutoFit/>
          </a:bodyPr>
          <a:lstStyle/>
          <a:p>
            <a:pPr algn="ctr"/>
            <a:r>
              <a:rPr lang="en-IN" sz="1200" dirty="0">
                <a:solidFill>
                  <a:srgbClr val="000000"/>
                </a:solidFill>
                <a:latin typeface="Times New Roman" panose="02020603050405020304" pitchFamily="18" charset="0"/>
              </a:rPr>
              <a:t>Funding for Education from Centre- also controls education ; District level Planning Village Edu Committees</a:t>
            </a:r>
          </a:p>
        </p:txBody>
      </p:sp>
      <p:sp>
        <p:nvSpPr>
          <p:cNvPr id="201" name="TextBox 200">
            <a:extLst>
              <a:ext uri="{FF2B5EF4-FFF2-40B4-BE49-F238E27FC236}">
                <a16:creationId xmlns:a16="http://schemas.microsoft.com/office/drawing/2014/main" id="{38DD25D8-94F0-471E-8A43-F59F881DD017}"/>
              </a:ext>
            </a:extLst>
          </p:cNvPr>
          <p:cNvSpPr txBox="1"/>
          <p:nvPr/>
        </p:nvSpPr>
        <p:spPr>
          <a:xfrm>
            <a:off x="4495481" y="5231358"/>
            <a:ext cx="2167310" cy="830997"/>
          </a:xfrm>
          <a:prstGeom prst="rect">
            <a:avLst/>
          </a:prstGeom>
          <a:noFill/>
        </p:spPr>
        <p:txBody>
          <a:bodyPr wrap="square">
            <a:spAutoFit/>
          </a:bodyPr>
          <a:lstStyle/>
          <a:p>
            <a:pPr algn="ctr"/>
            <a:r>
              <a:rPr lang="en-IN" sz="1200" dirty="0">
                <a:solidFill>
                  <a:srgbClr val="000000"/>
                </a:solidFill>
                <a:latin typeface="Times New Roman" panose="02020603050405020304" pitchFamily="18" charset="0"/>
              </a:rPr>
              <a:t>Assigns duties to local governments without empowering them. There is limited fiscal transfer</a:t>
            </a:r>
          </a:p>
        </p:txBody>
      </p:sp>
      <p:sp>
        <p:nvSpPr>
          <p:cNvPr id="202" name="TextBox 201">
            <a:extLst>
              <a:ext uri="{FF2B5EF4-FFF2-40B4-BE49-F238E27FC236}">
                <a16:creationId xmlns:a16="http://schemas.microsoft.com/office/drawing/2014/main" id="{B98BEE9E-EADF-4B3D-AB36-B7A252C44DD1}"/>
              </a:ext>
            </a:extLst>
          </p:cNvPr>
          <p:cNvSpPr txBox="1"/>
          <p:nvPr/>
        </p:nvSpPr>
        <p:spPr>
          <a:xfrm>
            <a:off x="4570341" y="5040619"/>
            <a:ext cx="2167310" cy="276999"/>
          </a:xfrm>
          <a:prstGeom prst="rect">
            <a:avLst/>
          </a:prstGeom>
          <a:noFill/>
        </p:spPr>
        <p:txBody>
          <a:bodyPr wrap="square">
            <a:spAutoFit/>
          </a:bodyPr>
          <a:lstStyle/>
          <a:p>
            <a:pPr algn="ctr"/>
            <a:r>
              <a:rPr lang="en-IN" sz="1200" b="1" dirty="0">
                <a:latin typeface="Century" panose="02040604050505020304" pitchFamily="18" charset="0"/>
              </a:rPr>
              <a:t>RTE Act</a:t>
            </a:r>
          </a:p>
        </p:txBody>
      </p:sp>
      <p:sp>
        <p:nvSpPr>
          <p:cNvPr id="203" name="TextBox 202">
            <a:extLst>
              <a:ext uri="{FF2B5EF4-FFF2-40B4-BE49-F238E27FC236}">
                <a16:creationId xmlns:a16="http://schemas.microsoft.com/office/drawing/2014/main" id="{DD58453E-917E-4A56-8B2A-927C7E07B77A}"/>
              </a:ext>
            </a:extLst>
          </p:cNvPr>
          <p:cNvSpPr txBox="1"/>
          <p:nvPr/>
        </p:nvSpPr>
        <p:spPr>
          <a:xfrm>
            <a:off x="7919694" y="5577513"/>
            <a:ext cx="2167310" cy="276999"/>
          </a:xfrm>
          <a:prstGeom prst="rect">
            <a:avLst/>
          </a:prstGeom>
          <a:noFill/>
        </p:spPr>
        <p:txBody>
          <a:bodyPr wrap="square">
            <a:spAutoFit/>
          </a:bodyPr>
          <a:lstStyle/>
          <a:p>
            <a:pPr algn="ctr"/>
            <a:r>
              <a:rPr lang="en-IN" sz="1200" b="1" dirty="0">
                <a:latin typeface="Century" panose="02040604050505020304" pitchFamily="18" charset="0"/>
              </a:rPr>
              <a:t>National Education Policy</a:t>
            </a:r>
          </a:p>
        </p:txBody>
      </p:sp>
      <p:sp>
        <p:nvSpPr>
          <p:cNvPr id="204" name="TextBox 203">
            <a:extLst>
              <a:ext uri="{FF2B5EF4-FFF2-40B4-BE49-F238E27FC236}">
                <a16:creationId xmlns:a16="http://schemas.microsoft.com/office/drawing/2014/main" id="{E67ED6C0-D80D-47F5-904B-DED287B7AA9E}"/>
              </a:ext>
            </a:extLst>
          </p:cNvPr>
          <p:cNvSpPr txBox="1"/>
          <p:nvPr/>
        </p:nvSpPr>
        <p:spPr>
          <a:xfrm>
            <a:off x="7902600" y="5782431"/>
            <a:ext cx="2167310" cy="646331"/>
          </a:xfrm>
          <a:prstGeom prst="rect">
            <a:avLst/>
          </a:prstGeom>
          <a:noFill/>
        </p:spPr>
        <p:txBody>
          <a:bodyPr wrap="square">
            <a:spAutoFit/>
          </a:bodyPr>
          <a:lstStyle/>
          <a:p>
            <a:pPr algn="ctr"/>
            <a:r>
              <a:rPr lang="en-IN" sz="1200" dirty="0">
                <a:solidFill>
                  <a:srgbClr val="000000"/>
                </a:solidFill>
                <a:latin typeface="Times New Roman" panose="02020603050405020304" pitchFamily="18" charset="0"/>
              </a:rPr>
              <a:t>Silent about PRIs, urban local bodies or educational decentralization</a:t>
            </a:r>
          </a:p>
        </p:txBody>
      </p:sp>
      <p:sp>
        <p:nvSpPr>
          <p:cNvPr id="74" name="TextBox 73">
            <a:extLst>
              <a:ext uri="{FF2B5EF4-FFF2-40B4-BE49-F238E27FC236}">
                <a16:creationId xmlns:a16="http://schemas.microsoft.com/office/drawing/2014/main" id="{808EBF24-B8D4-4DD8-BABF-B522754C203E}"/>
              </a:ext>
            </a:extLst>
          </p:cNvPr>
          <p:cNvSpPr txBox="1"/>
          <p:nvPr/>
        </p:nvSpPr>
        <p:spPr>
          <a:xfrm>
            <a:off x="1205509" y="-29616"/>
            <a:ext cx="9195665" cy="1200329"/>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Post-colonial India</a:t>
            </a:r>
          </a:p>
          <a:p>
            <a:pPr algn="ctr"/>
            <a:r>
              <a:rPr lang="en-US" sz="2400" b="1" dirty="0">
                <a:latin typeface="Times New Roman" panose="02020603050405020304" pitchFamily="18" charset="0"/>
                <a:cs typeface="Times New Roman" panose="02020603050405020304" pitchFamily="18" charset="0"/>
              </a:rPr>
              <a:t>currents of centralization and decentralization </a:t>
            </a:r>
            <a:endParaRPr lang="en-IN" sz="2400" b="1" dirty="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p:txBody>
      </p:sp>
      <p:sp>
        <p:nvSpPr>
          <p:cNvPr id="66" name="Rectangle 65">
            <a:extLst>
              <a:ext uri="{FF2B5EF4-FFF2-40B4-BE49-F238E27FC236}">
                <a16:creationId xmlns:a16="http://schemas.microsoft.com/office/drawing/2014/main" id="{4C98847C-29B5-40D7-ADCE-BF4EEBCE250C}"/>
              </a:ext>
            </a:extLst>
          </p:cNvPr>
          <p:cNvSpPr/>
          <p:nvPr/>
        </p:nvSpPr>
        <p:spPr>
          <a:xfrm>
            <a:off x="183764" y="5795122"/>
            <a:ext cx="1589915" cy="9535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94373544-2CF9-4F82-BE0C-6AC0BC254384}"/>
              </a:ext>
            </a:extLst>
          </p:cNvPr>
          <p:cNvSpPr/>
          <p:nvPr/>
        </p:nvSpPr>
        <p:spPr>
          <a:xfrm>
            <a:off x="245174" y="6021725"/>
            <a:ext cx="155883" cy="14613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0000"/>
              </a:highlight>
            </a:endParaRPr>
          </a:p>
        </p:txBody>
      </p:sp>
      <p:sp>
        <p:nvSpPr>
          <p:cNvPr id="68" name="Rectangle 67">
            <a:extLst>
              <a:ext uri="{FF2B5EF4-FFF2-40B4-BE49-F238E27FC236}">
                <a16:creationId xmlns:a16="http://schemas.microsoft.com/office/drawing/2014/main" id="{CDC1BABA-6560-4FB9-BB02-41D461C4DEBA}"/>
              </a:ext>
            </a:extLst>
          </p:cNvPr>
          <p:cNvSpPr/>
          <p:nvPr/>
        </p:nvSpPr>
        <p:spPr>
          <a:xfrm>
            <a:off x="245174" y="6274782"/>
            <a:ext cx="155883" cy="14613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0000"/>
              </a:highlight>
            </a:endParaRPr>
          </a:p>
        </p:txBody>
      </p:sp>
      <p:sp>
        <p:nvSpPr>
          <p:cNvPr id="69" name="Text Placeholder 37">
            <a:extLst>
              <a:ext uri="{FF2B5EF4-FFF2-40B4-BE49-F238E27FC236}">
                <a16:creationId xmlns:a16="http://schemas.microsoft.com/office/drawing/2014/main" id="{17A17E25-97FF-4465-8ADC-3ECB2EB89EBA}"/>
              </a:ext>
            </a:extLst>
          </p:cNvPr>
          <p:cNvSpPr txBox="1">
            <a:spLocks/>
          </p:cNvSpPr>
          <p:nvPr/>
        </p:nvSpPr>
        <p:spPr>
          <a:xfrm>
            <a:off x="141217" y="5945744"/>
            <a:ext cx="1773652" cy="326165"/>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800" b="1" kern="1200">
                <a:solidFill>
                  <a:schemeClr val="tx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b="0" dirty="0">
                <a:latin typeface="Century" panose="02040604050505020304" pitchFamily="18" charset="0"/>
              </a:rPr>
              <a:t>centralization</a:t>
            </a:r>
          </a:p>
        </p:txBody>
      </p:sp>
      <p:sp>
        <p:nvSpPr>
          <p:cNvPr id="70" name="Text Placeholder 37">
            <a:extLst>
              <a:ext uri="{FF2B5EF4-FFF2-40B4-BE49-F238E27FC236}">
                <a16:creationId xmlns:a16="http://schemas.microsoft.com/office/drawing/2014/main" id="{58FCC2B0-0929-47FA-BD1D-0DB002FDD30B}"/>
              </a:ext>
            </a:extLst>
          </p:cNvPr>
          <p:cNvSpPr txBox="1">
            <a:spLocks/>
          </p:cNvSpPr>
          <p:nvPr/>
        </p:nvSpPr>
        <p:spPr>
          <a:xfrm>
            <a:off x="216356" y="6197549"/>
            <a:ext cx="1773652" cy="326165"/>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800" b="1" kern="1200">
                <a:solidFill>
                  <a:schemeClr val="tx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b="0" dirty="0">
                <a:latin typeface="Century" panose="02040604050505020304" pitchFamily="18" charset="0"/>
              </a:rPr>
              <a:t>decentralization</a:t>
            </a:r>
          </a:p>
        </p:txBody>
      </p:sp>
      <p:sp>
        <p:nvSpPr>
          <p:cNvPr id="2" name="Oval 1">
            <a:extLst>
              <a:ext uri="{FF2B5EF4-FFF2-40B4-BE49-F238E27FC236}">
                <a16:creationId xmlns:a16="http://schemas.microsoft.com/office/drawing/2014/main" id="{BD37A31B-FC03-3B5C-DD19-6391E2631B7B}"/>
              </a:ext>
            </a:extLst>
          </p:cNvPr>
          <p:cNvSpPr/>
          <p:nvPr/>
        </p:nvSpPr>
        <p:spPr>
          <a:xfrm>
            <a:off x="8484886" y="859449"/>
            <a:ext cx="684217" cy="623366"/>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highlight>
                <a:srgbClr val="00FF00"/>
              </a:highlight>
            </a:endParaRPr>
          </a:p>
        </p:txBody>
      </p:sp>
      <p:sp>
        <p:nvSpPr>
          <p:cNvPr id="3" name="Text Placeholder 37">
            <a:extLst>
              <a:ext uri="{FF2B5EF4-FFF2-40B4-BE49-F238E27FC236}">
                <a16:creationId xmlns:a16="http://schemas.microsoft.com/office/drawing/2014/main" id="{5A32B798-6CA0-35A1-C5B4-EAD96FF6E005}"/>
              </a:ext>
            </a:extLst>
          </p:cNvPr>
          <p:cNvSpPr txBox="1">
            <a:spLocks/>
          </p:cNvSpPr>
          <p:nvPr/>
        </p:nvSpPr>
        <p:spPr>
          <a:xfrm>
            <a:off x="2006579" y="1725922"/>
            <a:ext cx="1909679" cy="359264"/>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800" b="1" kern="1200">
                <a:solidFill>
                  <a:schemeClr val="tx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dirty="0">
                <a:latin typeface="Century" panose="02040604050505020304" pitchFamily="18" charset="0"/>
              </a:rPr>
              <a:t>Kher Committee Report</a:t>
            </a:r>
          </a:p>
        </p:txBody>
      </p:sp>
      <p:sp>
        <p:nvSpPr>
          <p:cNvPr id="4" name="Text Placeholder 37">
            <a:extLst>
              <a:ext uri="{FF2B5EF4-FFF2-40B4-BE49-F238E27FC236}">
                <a16:creationId xmlns:a16="http://schemas.microsoft.com/office/drawing/2014/main" id="{AEEF1AE0-255B-8673-1905-52781FD72917}"/>
              </a:ext>
            </a:extLst>
          </p:cNvPr>
          <p:cNvSpPr txBox="1">
            <a:spLocks/>
          </p:cNvSpPr>
          <p:nvPr/>
        </p:nvSpPr>
        <p:spPr>
          <a:xfrm>
            <a:off x="7914236" y="1721062"/>
            <a:ext cx="1909679" cy="359264"/>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800" b="1" kern="1200">
                <a:solidFill>
                  <a:schemeClr val="tx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dirty="0">
                <a:latin typeface="Century" panose="02040604050505020304" pitchFamily="18" charset="0"/>
              </a:rPr>
              <a:t>State Education Acts</a:t>
            </a:r>
          </a:p>
        </p:txBody>
      </p:sp>
      <p:sp>
        <p:nvSpPr>
          <p:cNvPr id="5" name="TextBox 4">
            <a:extLst>
              <a:ext uri="{FF2B5EF4-FFF2-40B4-BE49-F238E27FC236}">
                <a16:creationId xmlns:a16="http://schemas.microsoft.com/office/drawing/2014/main" id="{59206692-04E4-1C12-1223-E16E78FD4225}"/>
              </a:ext>
            </a:extLst>
          </p:cNvPr>
          <p:cNvSpPr txBox="1"/>
          <p:nvPr/>
        </p:nvSpPr>
        <p:spPr>
          <a:xfrm>
            <a:off x="7972935" y="1938175"/>
            <a:ext cx="1909679" cy="646331"/>
          </a:xfrm>
          <a:prstGeom prst="rect">
            <a:avLst/>
          </a:prstGeom>
          <a:noFill/>
        </p:spPr>
        <p:txBody>
          <a:bodyPr wrap="square">
            <a:spAutoFit/>
          </a:bodyPr>
          <a:lstStyle/>
          <a:p>
            <a:pPr algn="ctr"/>
            <a:r>
              <a:rPr lang="en-IN" sz="1200" dirty="0">
                <a:solidFill>
                  <a:srgbClr val="000000"/>
                </a:solidFill>
                <a:highlight>
                  <a:srgbClr val="FF9900"/>
                </a:highlight>
                <a:latin typeface="Times New Roman" panose="02020603050405020304" pitchFamily="18" charset="0"/>
              </a:rPr>
              <a:t>Took control of Education</a:t>
            </a:r>
          </a:p>
          <a:p>
            <a:pPr algn="ctr"/>
            <a:r>
              <a:rPr lang="en-IN" sz="1200" dirty="0">
                <a:solidFill>
                  <a:srgbClr val="000000"/>
                </a:solidFill>
                <a:highlight>
                  <a:srgbClr val="FF9900"/>
                </a:highlight>
                <a:latin typeface="Times New Roman" panose="02020603050405020304" pitchFamily="18" charset="0"/>
              </a:rPr>
              <a:t>from local bodies. Controls funds and functionaries </a:t>
            </a:r>
          </a:p>
        </p:txBody>
      </p:sp>
      <p:sp>
        <p:nvSpPr>
          <p:cNvPr id="6" name="Rectangle 5">
            <a:extLst>
              <a:ext uri="{FF2B5EF4-FFF2-40B4-BE49-F238E27FC236}">
                <a16:creationId xmlns:a16="http://schemas.microsoft.com/office/drawing/2014/main" id="{34E05110-C184-1992-1FCC-67AEA008CF78}"/>
              </a:ext>
            </a:extLst>
          </p:cNvPr>
          <p:cNvSpPr/>
          <p:nvPr/>
        </p:nvSpPr>
        <p:spPr>
          <a:xfrm>
            <a:off x="8297716" y="952701"/>
            <a:ext cx="1039150" cy="461665"/>
          </a:xfrm>
          <a:prstGeom prst="rect">
            <a:avLst/>
          </a:prstGeom>
          <a:noFill/>
        </p:spPr>
        <p:txBody>
          <a:bodyPr wrap="square" lIns="91440" tIns="45720" rIns="91440" bIns="45720">
            <a:spAutoFit/>
          </a:bodyPr>
          <a:lstStyle/>
          <a:p>
            <a:pPr algn="ctr"/>
            <a:r>
              <a:rPr lang="en-US" sz="1200" dirty="0">
                <a:ln w="0"/>
                <a:effectLst>
                  <a:outerShdw blurRad="38100" dist="19050" dir="2700000" algn="tl" rotWithShape="0">
                    <a:schemeClr val="dk1">
                      <a:alpha val="40000"/>
                    </a:schemeClr>
                  </a:outerShdw>
                </a:effectLst>
                <a:latin typeface="Century" panose="02040604050505020304" pitchFamily="18" charset="0"/>
              </a:rPr>
              <a:t>1970-</a:t>
            </a:r>
          </a:p>
          <a:p>
            <a:pPr algn="ctr"/>
            <a:r>
              <a:rPr lang="en-US" sz="1200" dirty="0">
                <a:ln w="0"/>
                <a:effectLst>
                  <a:outerShdw blurRad="38100" dist="19050" dir="2700000" algn="tl" rotWithShape="0">
                    <a:schemeClr val="dk1">
                      <a:alpha val="40000"/>
                    </a:schemeClr>
                  </a:outerShdw>
                </a:effectLst>
                <a:latin typeface="Century" panose="02040604050505020304" pitchFamily="18" charset="0"/>
              </a:rPr>
              <a:t>1990</a:t>
            </a:r>
            <a:endParaRPr lang="en-US" sz="1200" b="0" cap="none" spc="0" dirty="0">
              <a:ln w="0"/>
              <a:effectLst>
                <a:outerShdw blurRad="38100" dist="19050" dir="2700000" algn="tl" rotWithShape="0">
                  <a:schemeClr val="dk1">
                    <a:alpha val="40000"/>
                  </a:schemeClr>
                </a:outerShdw>
              </a:effectLst>
              <a:latin typeface="Century" panose="02040604050505020304" pitchFamily="18" charset="0"/>
            </a:endParaRPr>
          </a:p>
        </p:txBody>
      </p:sp>
      <p:sp>
        <p:nvSpPr>
          <p:cNvPr id="8" name="Hexagon 7">
            <a:extLst>
              <a:ext uri="{FF2B5EF4-FFF2-40B4-BE49-F238E27FC236}">
                <a16:creationId xmlns:a16="http://schemas.microsoft.com/office/drawing/2014/main" id="{7B6231D5-9C05-4F17-2FEA-F29FB2928CF9}"/>
              </a:ext>
            </a:extLst>
          </p:cNvPr>
          <p:cNvSpPr/>
          <p:nvPr/>
        </p:nvSpPr>
        <p:spPr>
          <a:xfrm>
            <a:off x="246183" y="6511964"/>
            <a:ext cx="155883" cy="146133"/>
          </a:xfrm>
          <a:prstGeom prst="hexagon">
            <a:avLst/>
          </a:prstGeom>
          <a:solidFill>
            <a:srgbClr val="FF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0000"/>
              </a:highlight>
            </a:endParaRPr>
          </a:p>
        </p:txBody>
      </p:sp>
      <p:sp>
        <p:nvSpPr>
          <p:cNvPr id="9" name="Text Placeholder 37">
            <a:extLst>
              <a:ext uri="{FF2B5EF4-FFF2-40B4-BE49-F238E27FC236}">
                <a16:creationId xmlns:a16="http://schemas.microsoft.com/office/drawing/2014/main" id="{DD8C78B3-5155-A5E9-3172-4E734803AA98}"/>
              </a:ext>
            </a:extLst>
          </p:cNvPr>
          <p:cNvSpPr txBox="1">
            <a:spLocks/>
          </p:cNvSpPr>
          <p:nvPr/>
        </p:nvSpPr>
        <p:spPr>
          <a:xfrm>
            <a:off x="245173" y="6434731"/>
            <a:ext cx="1125369" cy="326165"/>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1800" b="1" kern="1200">
                <a:solidFill>
                  <a:schemeClr val="tx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b="0" dirty="0">
                <a:latin typeface="Century" panose="02040604050505020304" pitchFamily="18" charset="0"/>
              </a:rPr>
              <a:t>mixed</a:t>
            </a:r>
          </a:p>
        </p:txBody>
      </p:sp>
      <p:sp>
        <p:nvSpPr>
          <p:cNvPr id="14" name="Slide Number Placeholder 3">
            <a:extLst>
              <a:ext uri="{FF2B5EF4-FFF2-40B4-BE49-F238E27FC236}">
                <a16:creationId xmlns:a16="http://schemas.microsoft.com/office/drawing/2014/main" id="{D9F712EE-B5CA-EFD6-A4BA-5E427346A10D}"/>
              </a:ext>
            </a:extLst>
          </p:cNvPr>
          <p:cNvSpPr>
            <a:spLocks noGrp="1"/>
          </p:cNvSpPr>
          <p:nvPr>
            <p:ph type="sldNum" sz="quarter" idx="12"/>
          </p:nvPr>
        </p:nvSpPr>
        <p:spPr/>
        <p:txBody>
          <a:bodyPr/>
          <a:lstStyle>
            <a:lvl1pPr>
              <a:defRPr>
                <a:highlight>
                  <a:srgbClr val="FFFF00"/>
                </a:highlight>
              </a:defRPr>
            </a:lvl1pPr>
          </a:lstStyle>
          <a:p>
            <a:fld id="{D57F1E4F-1CFF-5643-939E-217C01CDF565}" type="slidenum">
              <a:rPr lang="en-US" smtClean="0"/>
              <a:pPr/>
              <a:t>33</a:t>
            </a:fld>
            <a:endParaRPr lang="en-US" dirty="0"/>
          </a:p>
        </p:txBody>
      </p:sp>
    </p:spTree>
    <p:extLst>
      <p:ext uri="{BB962C8B-B14F-4D97-AF65-F5344CB8AC3E}">
        <p14:creationId xmlns:p14="http://schemas.microsoft.com/office/powerpoint/2010/main" val="27895345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26600</TotalTime>
  <Words>2551</Words>
  <Application>Microsoft Office PowerPoint</Application>
  <PresentationFormat>Widescreen</PresentationFormat>
  <Paragraphs>283</Paragraphs>
  <Slides>33</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Arial</vt:lpstr>
      <vt:lpstr>Calibri</vt:lpstr>
      <vt:lpstr>Century</vt:lpstr>
      <vt:lpstr>Faustina</vt:lpstr>
      <vt:lpstr>Times New Roman</vt:lpstr>
      <vt:lpstr>Tw Cen MT</vt:lpstr>
      <vt:lpstr>Tw Cen MT Condensed</vt:lpstr>
      <vt:lpstr>Wingdings</vt:lpstr>
      <vt:lpstr>Wingdings 3</vt:lpstr>
      <vt:lpstr>Integral</vt:lpstr>
      <vt:lpstr>Impact of British education on Indian society</vt:lpstr>
      <vt:lpstr>TIMELINE OF EDUCATION IN COLONIAL INDIA</vt:lpstr>
      <vt:lpstr>Effects of the WESTERN Education in BRITISH India </vt:lpstr>
      <vt:lpstr>Growth of Literature and Press</vt:lpstr>
      <vt:lpstr>Social and Religious Reforms</vt:lpstr>
      <vt:lpstr>PowerPoint Presentation</vt:lpstr>
      <vt:lpstr>Impact on Political Awakening</vt:lpstr>
      <vt:lpstr>PowerPoint Presentation</vt:lpstr>
      <vt:lpstr>Role of Western Thought in Nationalism</vt:lpstr>
      <vt:lpstr>Role of Western Thought in Nationalism</vt:lpstr>
      <vt:lpstr>Changing Western Attitudes Towards Indian Knowledge</vt:lpstr>
      <vt:lpstr>Cultural Synthesis &amp; Identity Crisis</vt:lpstr>
      <vt:lpstr>Education in India During the British Period</vt:lpstr>
      <vt:lpstr>How did British rule shape Indian education?</vt:lpstr>
      <vt:lpstr>Contributions of British Education Policies</vt:lpstr>
      <vt:lpstr>British View of India’s Role</vt:lpstr>
      <vt:lpstr>British Failure to Create a National Education System</vt:lpstr>
      <vt:lpstr>Influence on Social &amp; Political Reforms</vt:lpstr>
      <vt:lpstr>Limitations of the New Education System</vt:lpstr>
      <vt:lpstr>Key Policy Mistakes &amp; Their Effects </vt:lpstr>
      <vt:lpstr>Lack of East-West Educational Synthesis</vt:lpstr>
      <vt:lpstr>Legacy</vt:lpstr>
      <vt:lpstr>Regional variations</vt:lpstr>
      <vt:lpstr>COMPULSORY EDUCATION ACTS</vt:lpstr>
      <vt:lpstr>Progress in Compulsory education: 1937-45</vt:lpstr>
      <vt:lpstr>State of Education at India’s Independence</vt:lpstr>
      <vt:lpstr>PowerPoint Presentation</vt:lpstr>
      <vt:lpstr>PowerPoint Presentation</vt:lpstr>
      <vt:lpstr>PowerPoint Presentation</vt:lpstr>
      <vt:lpstr>PowerPoint Presentation</vt:lpstr>
      <vt:lpstr>PowerPoint Presentation</vt:lpstr>
      <vt:lpstr>STATE EDUCATION ACTS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PUBP 233 INTRODUCTION TO DEMOGRAPHY (Population and society)</dc:title>
  <dc:creator>9188</dc:creator>
  <cp:lastModifiedBy>Shivakumar Jolad</cp:lastModifiedBy>
  <cp:revision>75</cp:revision>
  <dcterms:created xsi:type="dcterms:W3CDTF">2022-01-03T11:44:27Z</dcterms:created>
  <dcterms:modified xsi:type="dcterms:W3CDTF">2026-07-03T08:31:12Z</dcterms:modified>
</cp:coreProperties>
</file>