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9"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20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93" autoAdjust="0"/>
    <p:restoredTop sz="81846"/>
  </p:normalViewPr>
  <p:slideViewPr>
    <p:cSldViewPr snapToGrid="0">
      <p:cViewPr varScale="1">
        <p:scale>
          <a:sx n="73" d="100"/>
          <a:sy n="73" d="100"/>
        </p:scale>
        <p:origin x="1176"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454562-7E81-7C4E-92D2-5688A7C8397C}"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05C90-1CE8-BF41-8E55-5EDD54F24EA9}" type="slidenum">
              <a:rPr lang="en-US" smtClean="0"/>
              <a:t>‹#›</a:t>
            </a:fld>
            <a:endParaRPr lang="en-US"/>
          </a:p>
        </p:txBody>
      </p:sp>
    </p:spTree>
    <p:extLst>
      <p:ext uri="{BB962C8B-B14F-4D97-AF65-F5344CB8AC3E}">
        <p14:creationId xmlns:p14="http://schemas.microsoft.com/office/powerpoint/2010/main" val="175348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3854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c6f73a04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Modern states see it as their legal duty and not merely a right to ensure that parents send their children to school and they children attend school</a:t>
            </a:r>
            <a:endParaRPr/>
          </a:p>
        </p:txBody>
      </p:sp>
    </p:spTree>
    <p:extLst>
      <p:ext uri="{BB962C8B-B14F-4D97-AF65-F5344CB8AC3E}">
        <p14:creationId xmlns:p14="http://schemas.microsoft.com/office/powerpoint/2010/main" val="2620183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7030685b0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030685b0a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dirty="0"/>
              <a:t>India is the largest single producer of the world’s illiterates </a:t>
            </a:r>
            <a:endParaRPr dirty="0"/>
          </a:p>
        </p:txBody>
      </p:sp>
    </p:spTree>
    <p:extLst>
      <p:ext uri="{BB962C8B-B14F-4D97-AF65-F5344CB8AC3E}">
        <p14:creationId xmlns:p14="http://schemas.microsoft.com/office/powerpoint/2010/main" val="3612959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7030685b0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7030685b0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Factors of low levels of per capita income, high poverty are irrelevant </a:t>
            </a:r>
            <a:endParaRPr/>
          </a:p>
          <a:p>
            <a:pPr marL="457200" lvl="0" indent="-317500" algn="l" rtl="0">
              <a:spcBef>
                <a:spcPts val="0"/>
              </a:spcBef>
              <a:spcAft>
                <a:spcPts val="0"/>
              </a:spcAft>
              <a:buSzPts val="1400"/>
              <a:buChar char="-"/>
            </a:pPr>
            <a:r>
              <a:rPr lang="en"/>
              <a:t>Policy makers don’t see mass education as important for the modernization of India </a:t>
            </a:r>
            <a:endParaRPr/>
          </a:p>
          <a:p>
            <a:pPr marL="457200" lvl="0" indent="-317500" algn="l" rtl="0">
              <a:spcBef>
                <a:spcPts val="0"/>
              </a:spcBef>
              <a:spcAft>
                <a:spcPts val="0"/>
              </a:spcAft>
              <a:buSzPts val="1400"/>
              <a:buChar char="-"/>
            </a:pPr>
            <a:r>
              <a:rPr lang="en"/>
              <a:t>Belief that poor children should learn to work, their education will lead to unemployment and social and political disorder, should “work with their hands rather than with their heads”  </a:t>
            </a:r>
            <a:endParaRPr/>
          </a:p>
          <a:p>
            <a:pPr marL="457200" lvl="0" indent="-317500" algn="l" rtl="0">
              <a:spcBef>
                <a:spcPts val="0"/>
              </a:spcBef>
              <a:spcAft>
                <a:spcPts val="0"/>
              </a:spcAft>
              <a:buSzPts val="1400"/>
              <a:buChar char="-"/>
            </a:pPr>
            <a:r>
              <a:rPr lang="en"/>
              <a:t>Powerful forces of both institutions and beliefs resist any kind of social mobility of a group and therefore mass education remains a pretense </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93870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7030685b0a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7030685b0a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9643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7030685b0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7030685b0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2750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30685b0a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30685b0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3665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030685b0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7030685b0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So government proposes that measures be taken to improve the working conditions of children rather than remove them from the work forces</a:t>
            </a:r>
            <a:endParaRPr/>
          </a:p>
          <a:p>
            <a:pPr marL="457200" lvl="0" indent="-317500" algn="l" rtl="0">
              <a:spcBef>
                <a:spcPts val="0"/>
              </a:spcBef>
              <a:spcAft>
                <a:spcPts val="0"/>
              </a:spcAft>
              <a:buSzPts val="1400"/>
              <a:buChar char="-"/>
            </a:pPr>
            <a:r>
              <a:rPr lang="en"/>
              <a:t>Committee on child labour and India’s Education Ministry have attitudes of letting children be in the workforce rather than promoting compulsory primary education </a:t>
            </a:r>
            <a:endParaRPr/>
          </a:p>
        </p:txBody>
      </p:sp>
    </p:spTree>
    <p:extLst>
      <p:ext uri="{BB962C8B-B14F-4D97-AF65-F5344CB8AC3E}">
        <p14:creationId xmlns:p14="http://schemas.microsoft.com/office/powerpoint/2010/main" val="232418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7030685b0a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7030685b0a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extLst>
      <p:ext uri="{BB962C8B-B14F-4D97-AF65-F5344CB8AC3E}">
        <p14:creationId xmlns:p14="http://schemas.microsoft.com/office/powerpoint/2010/main" val="1976192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7030685b0a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7030685b0a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Literacy and per capita income -- China, Indonesia, Tanzania, Philippines all have more </a:t>
            </a:r>
            <a:endParaRPr/>
          </a:p>
          <a:p>
            <a:pPr marL="457200" lvl="0" indent="-317500" algn="l" rtl="0">
              <a:spcBef>
                <a:spcPts val="0"/>
              </a:spcBef>
              <a:spcAft>
                <a:spcPts val="0"/>
              </a:spcAft>
              <a:buSzPts val="1400"/>
              <a:buChar char="-"/>
            </a:pPr>
            <a:r>
              <a:rPr lang="en"/>
              <a:t>Prior to rapid economic growth -- Japan, South Korea, China </a:t>
            </a:r>
            <a:endParaRPr/>
          </a:p>
        </p:txBody>
      </p:sp>
    </p:spTree>
    <p:extLst>
      <p:ext uri="{BB962C8B-B14F-4D97-AF65-F5344CB8AC3E}">
        <p14:creationId xmlns:p14="http://schemas.microsoft.com/office/powerpoint/2010/main" val="3549738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7030685b0a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7030685b0a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extLst>
      <p:ext uri="{BB962C8B-B14F-4D97-AF65-F5344CB8AC3E}">
        <p14:creationId xmlns:p14="http://schemas.microsoft.com/office/powerpoint/2010/main" val="87538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44245DA-3A76-3143-8523-D9A2A93DB44D}"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3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A3026F7-67CD-F543-8B15-73E61A560F1C}"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745801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95F684C-2EF0-E34A-A7F5-22B4CD53DCC5}"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29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E146B5D-2A27-4A43-B48C-047912944B7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692275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A7BEE5-9369-0F45-A964-0F192E77D9DC}" type="datetime1">
              <a:rPr lang="en-IN" smtClean="0"/>
              <a:t>03-07-2026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4285741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4816F48-C5A2-8149-B3B1-A3E341CF0FA4}" type="datetime1">
              <a:rPr lang="en-IN" smtClean="0"/>
              <a:t>03-07-2026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337267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58C16-CE53-7840-9650-C0D880F933FE}" type="datetime1">
              <a:rPr lang="en-IN" smtClean="0"/>
              <a:t>03-07-2026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113203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3349253-D29A-E447-9AD1-9767E738CFB1}"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296624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4F8A5D8-61A5-4C47-A134-232010EFB26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0407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A54DEBF-8463-7D4F-9AD3-55A5D8886D8A}"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3728843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5437625-6131-A94D-8A42-0230E1DEB5EF}"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24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337673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AC7BF71-686A-B04E-A049-BE68181557DA}" type="datetime1">
              <a:rPr lang="en-IN" smtClean="0"/>
              <a:t>03-07-2026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EC99F6A-E93D-4C9C-AA2B-FA96051C5F3E}"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02216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746579"/>
            <a:ext cx="9966960" cy="928279"/>
          </a:xfrm>
        </p:spPr>
        <p:txBody>
          <a:bodyPr>
            <a:normAutofit fontScale="90000"/>
          </a:bodyPr>
          <a:lstStyle/>
          <a:p>
            <a:pPr algn="ctr"/>
            <a:r>
              <a:rPr lang="en-US" sz="4400" dirty="0"/>
              <a:t>PUBP309: EDUCATION POLICY</a:t>
            </a:r>
            <a:br>
              <a:rPr lang="en-US" sz="4400" dirty="0"/>
            </a:br>
            <a:endParaRPr lang="en-US" sz="4400" dirty="0"/>
          </a:p>
        </p:txBody>
      </p:sp>
      <p:sp>
        <p:nvSpPr>
          <p:cNvPr id="3" name="Subtitle 2"/>
          <p:cNvSpPr>
            <a:spLocks noGrp="1"/>
          </p:cNvSpPr>
          <p:nvPr>
            <p:ph type="subTitle" idx="1"/>
          </p:nvPr>
        </p:nvSpPr>
        <p:spPr>
          <a:xfrm>
            <a:off x="9121425" y="5270395"/>
            <a:ext cx="2060252" cy="1069848"/>
          </a:xfrm>
        </p:spPr>
        <p:txBody>
          <a:bodyPr/>
          <a:lstStyle/>
          <a:p>
            <a:pPr algn="ctr"/>
            <a:r>
              <a:rPr lang="en-US" dirty="0"/>
              <a:t>Shivakumar Jolad</a:t>
            </a:r>
          </a:p>
          <a:p>
            <a:pPr algn="ctr"/>
            <a:r>
              <a:rPr lang="en-US" dirty="0"/>
              <a:t>FLAME University</a:t>
            </a:r>
          </a:p>
        </p:txBody>
      </p:sp>
      <p:sp>
        <p:nvSpPr>
          <p:cNvPr id="6" name="Slide Number Placeholder 5">
            <a:extLst>
              <a:ext uri="{FF2B5EF4-FFF2-40B4-BE49-F238E27FC236}">
                <a16:creationId xmlns:a16="http://schemas.microsoft.com/office/drawing/2014/main" id="{8D1E6D7E-851E-854F-AC8A-C99D45C2FA51}"/>
              </a:ext>
            </a:extLst>
          </p:cNvPr>
          <p:cNvSpPr>
            <a:spLocks noGrp="1"/>
          </p:cNvSpPr>
          <p:nvPr>
            <p:ph type="sldNum" sz="quarter" idx="12"/>
          </p:nvPr>
        </p:nvSpPr>
        <p:spPr/>
        <p:txBody>
          <a:bodyPr/>
          <a:lstStyle/>
          <a:p>
            <a:fld id="{AEC99F6A-E93D-4C9C-AA2B-FA96051C5F3E}" type="slidenum">
              <a:rPr lang="en-US" smtClean="0"/>
              <a:t>1</a:t>
            </a:fld>
            <a:endParaRPr lang="en-US"/>
          </a:p>
        </p:txBody>
      </p:sp>
      <p:sp>
        <p:nvSpPr>
          <p:cNvPr id="5" name="TextBox 4"/>
          <p:cNvSpPr txBox="1"/>
          <p:nvPr/>
        </p:nvSpPr>
        <p:spPr>
          <a:xfrm>
            <a:off x="1978765" y="5805319"/>
            <a:ext cx="6293198" cy="461665"/>
          </a:xfrm>
          <a:prstGeom prst="rect">
            <a:avLst/>
          </a:prstGeom>
          <a:noFill/>
        </p:spPr>
        <p:txBody>
          <a:bodyPr wrap="none" rtlCol="0">
            <a:spAutoFit/>
          </a:bodyPr>
          <a:lstStyle/>
          <a:p>
            <a:r>
              <a:rPr lang="en-US" sz="2400" b="1" dirty="0">
                <a:solidFill>
                  <a:srgbClr val="0070C0"/>
                </a:solidFill>
              </a:rPr>
              <a:t>Child </a:t>
            </a:r>
            <a:r>
              <a:rPr lang="en-US" sz="2400" b="1" dirty="0" err="1">
                <a:solidFill>
                  <a:srgbClr val="0070C0"/>
                </a:solidFill>
              </a:rPr>
              <a:t>Labour</a:t>
            </a:r>
            <a:r>
              <a:rPr lang="en-US" sz="2400" b="1" dirty="0">
                <a:solidFill>
                  <a:srgbClr val="0070C0"/>
                </a:solidFill>
              </a:rPr>
              <a:t> in India – Problem and </a:t>
            </a:r>
            <a:r>
              <a:rPr lang="en-US" sz="2400" b="1" dirty="0" err="1">
                <a:solidFill>
                  <a:srgbClr val="0070C0"/>
                </a:solidFill>
              </a:rPr>
              <a:t>Legsilation</a:t>
            </a:r>
            <a:endParaRPr lang="en-US" sz="2400" b="1" dirty="0">
              <a:solidFill>
                <a:srgbClr val="0070C0"/>
              </a:solidFill>
            </a:endParaRPr>
          </a:p>
        </p:txBody>
      </p:sp>
    </p:spTree>
    <p:extLst>
      <p:ext uri="{BB962C8B-B14F-4D97-AF65-F5344CB8AC3E}">
        <p14:creationId xmlns:p14="http://schemas.microsoft.com/office/powerpoint/2010/main" val="1218674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pPr algn="ctr">
              <a:spcBef>
                <a:spcPts val="0"/>
              </a:spcBef>
            </a:pPr>
            <a:r>
              <a:rPr lang="en" sz="4000" dirty="0"/>
              <a:t>Child and the State in India (1990)</a:t>
            </a:r>
            <a:br>
              <a:rPr lang="en" sz="4000" dirty="0"/>
            </a:br>
            <a:r>
              <a:rPr lang="en" sz="4000" dirty="0"/>
              <a:t>CH1- The ARGUMENT</a:t>
            </a:r>
            <a:endParaRPr sz="4000" dirty="0"/>
          </a:p>
        </p:txBody>
      </p:sp>
      <p:sp>
        <p:nvSpPr>
          <p:cNvPr id="67" name="Google Shape;67;p13"/>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algn="ctr"/>
            <a:r>
              <a:rPr lang="en-US" sz="3200" dirty="0"/>
              <a:t>Slide support</a:t>
            </a:r>
            <a:br>
              <a:rPr lang="en-US" sz="3200" dirty="0"/>
            </a:br>
            <a:r>
              <a:rPr lang="en-US" sz="3200" dirty="0"/>
              <a:t>ISHA DOSHI</a:t>
            </a:r>
          </a:p>
          <a:p>
            <a:pPr algn="ctr">
              <a:spcBef>
                <a:spcPts val="0"/>
              </a:spcBef>
            </a:pPr>
            <a:endParaRPr sz="3200" dirty="0"/>
          </a:p>
        </p:txBody>
      </p:sp>
      <p:pic>
        <p:nvPicPr>
          <p:cNvPr id="3" name="Picture 2" descr="The Child and the State in India: Child Labor and Education Policy in  Comparative Perspective eBook : Weiner, Myron: Amazon.in: Kindle Store">
            <a:extLst>
              <a:ext uri="{FF2B5EF4-FFF2-40B4-BE49-F238E27FC236}">
                <a16:creationId xmlns:a16="http://schemas.microsoft.com/office/drawing/2014/main" id="{1D0837A5-3FF1-47D9-6107-CF237D9275CF}"/>
              </a:ext>
            </a:extLst>
          </p:cNvPr>
          <p:cNvPicPr>
            <a:picLocks noChangeAspect="1"/>
          </p:cNvPicPr>
          <p:nvPr/>
        </p:nvPicPr>
        <p:blipFill>
          <a:blip r:embed="rId3"/>
          <a:stretch>
            <a:fillRect/>
          </a:stretch>
        </p:blipFill>
        <p:spPr>
          <a:xfrm>
            <a:off x="8963210" y="434823"/>
            <a:ext cx="2495180" cy="3763469"/>
          </a:xfrm>
          <a:prstGeom prst="rect">
            <a:avLst/>
          </a:prstGeom>
        </p:spPr>
      </p:pic>
    </p:spTree>
    <p:extLst>
      <p:ext uri="{BB962C8B-B14F-4D97-AF65-F5344CB8AC3E}">
        <p14:creationId xmlns:p14="http://schemas.microsoft.com/office/powerpoint/2010/main" val="242316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1192590" y="630842"/>
            <a:ext cx="11360800" cy="943200"/>
          </a:xfrm>
          <a:prstGeom prst="rect">
            <a:avLst/>
          </a:prstGeom>
        </p:spPr>
        <p:txBody>
          <a:bodyPr spcFirstLastPara="1" vert="horz" wrap="square" lIns="121900" tIns="121900" rIns="121900" bIns="121900" rtlCol="0" anchor="t" anchorCtr="0">
            <a:noAutofit/>
          </a:bodyPr>
          <a:lstStyle/>
          <a:p>
            <a:r>
              <a:rPr lang="en" dirty="0"/>
              <a:t>The Problem Explained</a:t>
            </a:r>
            <a:endParaRPr dirty="0"/>
          </a:p>
        </p:txBody>
      </p:sp>
      <p:sp>
        <p:nvSpPr>
          <p:cNvPr id="73" name="Google Shape;73;p14"/>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indent="-440256">
              <a:lnSpc>
                <a:spcPct val="200000"/>
              </a:lnSpc>
              <a:buSzPts val="1600"/>
              <a:buChar char="-"/>
            </a:pPr>
            <a:r>
              <a:rPr lang="en" sz="2133" dirty="0"/>
              <a:t>In most modern states: state is the ultimate protector of children</a:t>
            </a:r>
            <a:endParaRPr sz="2133" dirty="0"/>
          </a:p>
          <a:p>
            <a:pPr indent="-440256">
              <a:lnSpc>
                <a:spcPct val="200000"/>
              </a:lnSpc>
              <a:buSzPts val="1600"/>
              <a:buChar char="-"/>
            </a:pPr>
            <a:r>
              <a:rPr lang="en" sz="2133" b="1" dirty="0"/>
              <a:t>But in India: Primary education isn’t compulsory + child labour isn’t illegal</a:t>
            </a:r>
            <a:endParaRPr sz="2133" b="1" dirty="0"/>
          </a:p>
          <a:p>
            <a:pPr indent="-440256">
              <a:lnSpc>
                <a:spcPct val="200000"/>
              </a:lnSpc>
              <a:buSzPts val="1600"/>
              <a:buChar char="-"/>
            </a:pPr>
            <a:r>
              <a:rPr lang="en" sz="2133" dirty="0"/>
              <a:t>82.2 million children between 6-14 years are not in school, 13.6-44 million work as child labourers </a:t>
            </a:r>
            <a:endParaRPr sz="2133" dirty="0"/>
          </a:p>
          <a:p>
            <a:pPr indent="-440256">
              <a:lnSpc>
                <a:spcPct val="200000"/>
              </a:lnSpc>
              <a:buSzPts val="1600"/>
              <a:buChar char="-"/>
            </a:pPr>
            <a:r>
              <a:rPr lang="en" sz="2133" dirty="0"/>
              <a:t>Indian law prohibits child labour in factories, but not in cottage industries, family households, restaurants or agriculture </a:t>
            </a:r>
            <a:endParaRPr sz="2133" dirty="0"/>
          </a:p>
        </p:txBody>
      </p:sp>
      <p:sp>
        <p:nvSpPr>
          <p:cNvPr id="2" name="TextBox 1">
            <a:extLst>
              <a:ext uri="{FF2B5EF4-FFF2-40B4-BE49-F238E27FC236}">
                <a16:creationId xmlns:a16="http://schemas.microsoft.com/office/drawing/2014/main" id="{A7DC669D-E5FA-C5E8-3B3C-15E7712A5211}"/>
              </a:ext>
            </a:extLst>
          </p:cNvPr>
          <p:cNvSpPr txBox="1"/>
          <p:nvPr/>
        </p:nvSpPr>
        <p:spPr>
          <a:xfrm>
            <a:off x="6872990" y="5973580"/>
            <a:ext cx="3422754" cy="400110"/>
          </a:xfrm>
          <a:prstGeom prst="rect">
            <a:avLst/>
          </a:prstGeom>
          <a:noFill/>
        </p:spPr>
        <p:txBody>
          <a:bodyPr wrap="square" rtlCol="0">
            <a:spAutoFit/>
          </a:bodyPr>
          <a:lstStyle/>
          <a:p>
            <a:r>
              <a:rPr lang="en-IN" sz="2000" b="1" dirty="0">
                <a:highlight>
                  <a:srgbClr val="FFFF00"/>
                </a:highlight>
              </a:rPr>
              <a:t>Time period: 1985-1990</a:t>
            </a:r>
          </a:p>
        </p:txBody>
      </p:sp>
    </p:spTree>
    <p:extLst>
      <p:ext uri="{BB962C8B-B14F-4D97-AF65-F5344CB8AC3E}">
        <p14:creationId xmlns:p14="http://schemas.microsoft.com/office/powerpoint/2010/main" val="2780930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831199" y="578378"/>
            <a:ext cx="11360801" cy="943200"/>
          </a:xfrm>
          <a:prstGeom prst="rect">
            <a:avLst/>
          </a:prstGeom>
        </p:spPr>
        <p:txBody>
          <a:bodyPr spcFirstLastPara="1" vert="horz" wrap="square" lIns="121900" tIns="121900" rIns="121900" bIns="121900" rtlCol="0" anchor="t" anchorCtr="0">
            <a:noAutofit/>
          </a:bodyPr>
          <a:lstStyle/>
          <a:p>
            <a:r>
              <a:rPr lang="en" sz="4800" dirty="0"/>
              <a:t>The Problem Explained: Country Comparisons</a:t>
            </a:r>
            <a:endParaRPr sz="4800" dirty="0"/>
          </a:p>
        </p:txBody>
      </p:sp>
      <p:sp>
        <p:nvSpPr>
          <p:cNvPr id="79" name="Google Shape;79;p15"/>
          <p:cNvSpPr txBox="1">
            <a:spLocks noGrp="1"/>
          </p:cNvSpPr>
          <p:nvPr>
            <p:ph type="body" idx="1"/>
          </p:nvPr>
        </p:nvSpPr>
        <p:spPr>
          <a:xfrm>
            <a:off x="415600" y="1586833"/>
            <a:ext cx="11360800" cy="4403600"/>
          </a:xfrm>
          <a:prstGeom prst="rect">
            <a:avLst/>
          </a:prstGeom>
        </p:spPr>
        <p:txBody>
          <a:bodyPr spcFirstLastPara="1" vert="horz" wrap="square" lIns="121900" tIns="121900" rIns="121900" bIns="121900" rtlCol="0" anchor="t" anchorCtr="0">
            <a:noAutofit/>
          </a:bodyPr>
          <a:lstStyle/>
          <a:p>
            <a:pPr indent="-440256">
              <a:lnSpc>
                <a:spcPct val="150000"/>
              </a:lnSpc>
              <a:buSzPts val="1600"/>
              <a:buChar char="-"/>
            </a:pPr>
            <a:r>
              <a:rPr lang="en" sz="2133" dirty="0"/>
              <a:t>Poverty has never historically been a deterrent for introducing compulsory education, neither has low per capita income </a:t>
            </a:r>
            <a:endParaRPr sz="2133" dirty="0"/>
          </a:p>
          <a:p>
            <a:pPr indent="-440256">
              <a:lnSpc>
                <a:spcPct val="150000"/>
              </a:lnSpc>
              <a:buSzPts val="1600"/>
              <a:buChar char="-"/>
            </a:pPr>
            <a:r>
              <a:rPr lang="en" sz="2133" dirty="0"/>
              <a:t>Eg: African countries like Botswana, Gambia, Ghana, Libya, etc. </a:t>
            </a:r>
            <a:endParaRPr sz="2133" dirty="0"/>
          </a:p>
          <a:p>
            <a:pPr indent="-440256">
              <a:lnSpc>
                <a:spcPct val="150000"/>
              </a:lnSpc>
              <a:buSzPts val="1600"/>
              <a:buChar char="-"/>
            </a:pPr>
            <a:r>
              <a:rPr lang="en" sz="2133" dirty="0"/>
              <a:t>China: </a:t>
            </a:r>
            <a:r>
              <a:rPr lang="en" sz="2133" i="1" dirty="0"/>
              <a:t>comparable</a:t>
            </a:r>
            <a:r>
              <a:rPr lang="en" sz="2133" dirty="0"/>
              <a:t> illiteracy rate to India 40 years ago, has now </a:t>
            </a:r>
            <a:r>
              <a:rPr lang="en" sz="2133" i="1" dirty="0"/>
              <a:t>halved</a:t>
            </a:r>
            <a:endParaRPr sz="2133" i="1" dirty="0"/>
          </a:p>
          <a:p>
            <a:pPr indent="-440256">
              <a:lnSpc>
                <a:spcPct val="150000"/>
              </a:lnSpc>
              <a:buSzPts val="1600"/>
              <a:buChar char="-"/>
            </a:pPr>
            <a:r>
              <a:rPr lang="en" sz="2133" b="1" dirty="0"/>
              <a:t>Governments even introduced compulsory education when poverty rates were high eg: Germany, Scotland, Austria, Japan </a:t>
            </a:r>
            <a:endParaRPr sz="2133" b="1" dirty="0"/>
          </a:p>
          <a:p>
            <a:pPr indent="-440256">
              <a:lnSpc>
                <a:spcPct val="150000"/>
              </a:lnSpc>
              <a:buSzPts val="1600"/>
              <a:buChar char="-"/>
            </a:pPr>
            <a:r>
              <a:rPr lang="en" sz="2133" dirty="0"/>
              <a:t>BUT India: between 1961-1981 total number of illiterates </a:t>
            </a:r>
            <a:r>
              <a:rPr lang="en" sz="2133" b="1" dirty="0"/>
              <a:t>increased </a:t>
            </a:r>
            <a:r>
              <a:rPr lang="en" sz="2133" dirty="0"/>
              <a:t>by 5 million per year</a:t>
            </a:r>
            <a:endParaRPr sz="2133" dirty="0"/>
          </a:p>
        </p:txBody>
      </p:sp>
      <p:sp>
        <p:nvSpPr>
          <p:cNvPr id="2" name="TextBox 1">
            <a:extLst>
              <a:ext uri="{FF2B5EF4-FFF2-40B4-BE49-F238E27FC236}">
                <a16:creationId xmlns:a16="http://schemas.microsoft.com/office/drawing/2014/main" id="{08F97FFD-64C1-116D-D163-34F1293154D7}"/>
              </a:ext>
            </a:extLst>
          </p:cNvPr>
          <p:cNvSpPr txBox="1"/>
          <p:nvPr/>
        </p:nvSpPr>
        <p:spPr>
          <a:xfrm>
            <a:off x="6872990" y="5973580"/>
            <a:ext cx="3422754" cy="400110"/>
          </a:xfrm>
          <a:prstGeom prst="rect">
            <a:avLst/>
          </a:prstGeom>
          <a:noFill/>
        </p:spPr>
        <p:txBody>
          <a:bodyPr wrap="square" rtlCol="0">
            <a:spAutoFit/>
          </a:bodyPr>
          <a:lstStyle/>
          <a:p>
            <a:r>
              <a:rPr lang="en-IN" sz="2000" b="1" dirty="0">
                <a:highlight>
                  <a:srgbClr val="FFFF00"/>
                </a:highlight>
              </a:rPr>
              <a:t>Time period: 1985-1990</a:t>
            </a:r>
          </a:p>
        </p:txBody>
      </p:sp>
    </p:spTree>
    <p:extLst>
      <p:ext uri="{BB962C8B-B14F-4D97-AF65-F5344CB8AC3E}">
        <p14:creationId xmlns:p14="http://schemas.microsoft.com/office/powerpoint/2010/main" val="3859546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925265" y="848200"/>
            <a:ext cx="11360800" cy="943200"/>
          </a:xfrm>
          <a:prstGeom prst="rect">
            <a:avLst/>
          </a:prstGeom>
        </p:spPr>
        <p:txBody>
          <a:bodyPr spcFirstLastPara="1" vert="horz" wrap="square" lIns="121900" tIns="121900" rIns="121900" bIns="121900" rtlCol="0" anchor="t" anchorCtr="0">
            <a:noAutofit/>
          </a:bodyPr>
          <a:lstStyle/>
          <a:p>
            <a:r>
              <a:rPr lang="en" dirty="0"/>
              <a:t>The Problem Explained: India’s Problem</a:t>
            </a:r>
            <a:endParaRPr dirty="0"/>
          </a:p>
        </p:txBody>
      </p:sp>
      <p:sp>
        <p:nvSpPr>
          <p:cNvPr id="85" name="Google Shape;85;p16"/>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lnSpc>
                <a:spcPct val="150000"/>
              </a:lnSpc>
              <a:buNone/>
            </a:pPr>
            <a:r>
              <a:rPr lang="en" sz="2133" dirty="0"/>
              <a:t>Core Problem: belief system </a:t>
            </a:r>
            <a:endParaRPr sz="2133" dirty="0"/>
          </a:p>
          <a:p>
            <a:pPr indent="-440256">
              <a:lnSpc>
                <a:spcPct val="150000"/>
              </a:lnSpc>
              <a:spcBef>
                <a:spcPts val="2133"/>
              </a:spcBef>
              <a:buSzPts val="1600"/>
              <a:buChar char="-"/>
            </a:pPr>
            <a:r>
              <a:rPr lang="en" sz="2133" b="1" dirty="0"/>
              <a:t>Indian view of social order and roles of upper and lower class</a:t>
            </a:r>
            <a:endParaRPr sz="2133" b="1" dirty="0"/>
          </a:p>
          <a:p>
            <a:pPr marL="0" indent="0" algn="ctr">
              <a:lnSpc>
                <a:spcPct val="150000"/>
              </a:lnSpc>
              <a:spcBef>
                <a:spcPts val="2133"/>
              </a:spcBef>
              <a:buNone/>
            </a:pPr>
            <a:r>
              <a:rPr lang="en" sz="2133" i="1" dirty="0">
                <a:highlight>
                  <a:srgbClr val="FFFF00"/>
                </a:highlight>
              </a:rPr>
              <a:t>“The Indian position rests on deeply held beliefs that there is a division between people who work with their minds and rule and people who work with their hands and are ruled, and that education should reinforce rather than break down this division”</a:t>
            </a:r>
            <a:r>
              <a:rPr lang="en" sz="2133" i="1" dirty="0"/>
              <a:t> </a:t>
            </a:r>
            <a:endParaRPr sz="2133" i="1" dirty="0"/>
          </a:p>
          <a:p>
            <a:pPr marL="0" indent="0">
              <a:lnSpc>
                <a:spcPct val="150000"/>
              </a:lnSpc>
              <a:spcBef>
                <a:spcPts val="2133"/>
              </a:spcBef>
              <a:spcAft>
                <a:spcPts val="2133"/>
              </a:spcAft>
              <a:buNone/>
            </a:pPr>
            <a:r>
              <a:rPr lang="en" sz="2133" b="1" dirty="0"/>
              <a:t>Closely linked to religious notions that underlie the hierarchical caste system</a:t>
            </a:r>
            <a:r>
              <a:rPr lang="en" sz="2133" dirty="0"/>
              <a:t> </a:t>
            </a:r>
            <a:endParaRPr sz="2133" dirty="0"/>
          </a:p>
        </p:txBody>
      </p:sp>
    </p:spTree>
    <p:extLst>
      <p:ext uri="{BB962C8B-B14F-4D97-AF65-F5344CB8AC3E}">
        <p14:creationId xmlns:p14="http://schemas.microsoft.com/office/powerpoint/2010/main" val="446516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1487397" y="765967"/>
            <a:ext cx="8541023" cy="943200"/>
          </a:xfrm>
          <a:prstGeom prst="rect">
            <a:avLst/>
          </a:prstGeom>
        </p:spPr>
        <p:txBody>
          <a:bodyPr spcFirstLastPara="1" vert="horz" wrap="square" lIns="121900" tIns="121900" rIns="121900" bIns="121900" rtlCol="0" anchor="t" anchorCtr="0">
            <a:noAutofit/>
          </a:bodyPr>
          <a:lstStyle/>
          <a:p>
            <a:r>
              <a:rPr lang="en" dirty="0"/>
              <a:t>Gap in Rhetoric and Reality</a:t>
            </a:r>
            <a:endParaRPr dirty="0"/>
          </a:p>
        </p:txBody>
      </p:sp>
      <p:sp>
        <p:nvSpPr>
          <p:cNvPr id="91" name="Google Shape;91;p17"/>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lnSpc>
                <a:spcPct val="150000"/>
              </a:lnSpc>
              <a:buNone/>
            </a:pPr>
            <a:r>
              <a:rPr lang="en" sz="2133" b="1" dirty="0"/>
              <a:t>Rhetoric:</a:t>
            </a:r>
            <a:endParaRPr sz="2133" b="1" dirty="0"/>
          </a:p>
          <a:p>
            <a:pPr marL="0" indent="0">
              <a:lnSpc>
                <a:spcPct val="150000"/>
              </a:lnSpc>
              <a:spcBef>
                <a:spcPts val="2133"/>
              </a:spcBef>
              <a:buNone/>
            </a:pPr>
            <a:r>
              <a:rPr lang="en" sz="2133" dirty="0"/>
              <a:t>Universal Primary Education: Gopal Krishna Gokhale, provincial governments in the 1930s, Indian Constitution in 1950, Planning Commission, Parliament, State Governments, Compulsory Primary Education Acts passed </a:t>
            </a:r>
            <a:endParaRPr sz="2133" dirty="0"/>
          </a:p>
          <a:p>
            <a:pPr marL="0" indent="0">
              <a:lnSpc>
                <a:spcPct val="150000"/>
              </a:lnSpc>
              <a:spcBef>
                <a:spcPts val="2133"/>
              </a:spcBef>
              <a:buNone/>
            </a:pPr>
            <a:r>
              <a:rPr lang="en" sz="2133" b="1" dirty="0"/>
              <a:t>Legislations for Restricting Child Labour: </a:t>
            </a:r>
            <a:r>
              <a:rPr lang="en" sz="2133" dirty="0"/>
              <a:t>passed by the British early 1900s, Royal Commission on Labour in 1932, Indian Constitution, acts passed by Parliament </a:t>
            </a:r>
            <a:endParaRPr sz="2133" dirty="0"/>
          </a:p>
          <a:p>
            <a:pPr marL="0" indent="0">
              <a:lnSpc>
                <a:spcPct val="150000"/>
              </a:lnSpc>
              <a:spcBef>
                <a:spcPts val="2133"/>
              </a:spcBef>
              <a:spcAft>
                <a:spcPts val="2133"/>
              </a:spcAft>
              <a:buNone/>
            </a:pPr>
            <a:r>
              <a:rPr lang="en" sz="2133" dirty="0"/>
              <a:t>Ministry of Labour set up committee for children  </a:t>
            </a:r>
            <a:endParaRPr sz="2133" dirty="0"/>
          </a:p>
        </p:txBody>
      </p:sp>
    </p:spTree>
    <p:extLst>
      <p:ext uri="{BB962C8B-B14F-4D97-AF65-F5344CB8AC3E}">
        <p14:creationId xmlns:p14="http://schemas.microsoft.com/office/powerpoint/2010/main" val="3041966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977731" y="683308"/>
            <a:ext cx="11360800" cy="943200"/>
          </a:xfrm>
          <a:prstGeom prst="rect">
            <a:avLst/>
          </a:prstGeom>
        </p:spPr>
        <p:txBody>
          <a:bodyPr spcFirstLastPara="1" vert="horz" wrap="square" lIns="121900" tIns="121900" rIns="121900" bIns="121900" rtlCol="0" anchor="t" anchorCtr="0">
            <a:noAutofit/>
          </a:bodyPr>
          <a:lstStyle/>
          <a:p>
            <a:r>
              <a:rPr lang="en" dirty="0"/>
              <a:t>Gap in Rhetoric and Reality</a:t>
            </a:r>
            <a:endParaRPr dirty="0"/>
          </a:p>
        </p:txBody>
      </p:sp>
      <p:sp>
        <p:nvSpPr>
          <p:cNvPr id="97" name="Google Shape;97;p18"/>
          <p:cNvSpPr txBox="1">
            <a:spLocks noGrp="1"/>
          </p:cNvSpPr>
          <p:nvPr>
            <p:ph type="body" idx="1"/>
          </p:nvPr>
        </p:nvSpPr>
        <p:spPr>
          <a:xfrm>
            <a:off x="1191718" y="1688433"/>
            <a:ext cx="10584682" cy="4403600"/>
          </a:xfrm>
          <a:prstGeom prst="rect">
            <a:avLst/>
          </a:prstGeom>
        </p:spPr>
        <p:txBody>
          <a:bodyPr spcFirstLastPara="1" vert="horz" wrap="square" lIns="121900" tIns="121900" rIns="121900" bIns="121900" rtlCol="0" anchor="t" anchorCtr="0">
            <a:noAutofit/>
          </a:bodyPr>
          <a:lstStyle/>
          <a:p>
            <a:pPr marL="0" indent="0">
              <a:lnSpc>
                <a:spcPct val="115000"/>
              </a:lnSpc>
              <a:buNone/>
            </a:pPr>
            <a:r>
              <a:rPr lang="en" sz="2133" b="1" dirty="0"/>
              <a:t>Reality:</a:t>
            </a:r>
            <a:endParaRPr sz="2133" b="1" dirty="0"/>
          </a:p>
          <a:p>
            <a:pPr marL="0" indent="0">
              <a:lnSpc>
                <a:spcPct val="115000"/>
              </a:lnSpc>
              <a:spcBef>
                <a:spcPts val="2133"/>
              </a:spcBef>
              <a:buNone/>
            </a:pPr>
            <a:r>
              <a:rPr lang="en" sz="2133" dirty="0">
                <a:highlight>
                  <a:srgbClr val="FFFF00"/>
                </a:highlight>
              </a:rPr>
              <a:t>1981 Census:</a:t>
            </a:r>
            <a:endParaRPr sz="2133" dirty="0">
              <a:highlight>
                <a:srgbClr val="FFFF00"/>
              </a:highlight>
            </a:endParaRPr>
          </a:p>
          <a:p>
            <a:pPr indent="-440256">
              <a:lnSpc>
                <a:spcPct val="115000"/>
              </a:lnSpc>
              <a:spcBef>
                <a:spcPts val="2133"/>
              </a:spcBef>
              <a:buSzPts val="1600"/>
              <a:buChar char="-"/>
            </a:pPr>
            <a:r>
              <a:rPr lang="en" sz="2133" dirty="0"/>
              <a:t>82.2 million of 158.8 million children between 6-14 years not in school </a:t>
            </a:r>
            <a:endParaRPr sz="2133" dirty="0"/>
          </a:p>
          <a:p>
            <a:pPr indent="-440256">
              <a:lnSpc>
                <a:spcPct val="115000"/>
              </a:lnSpc>
              <a:buSzPts val="1600"/>
              <a:buChar char="-"/>
            </a:pPr>
            <a:r>
              <a:rPr lang="en" sz="2133" dirty="0"/>
              <a:t>Only 52.2 million of 123.7 million rural children between 6-14 years in school </a:t>
            </a:r>
            <a:endParaRPr sz="2133" dirty="0"/>
          </a:p>
          <a:p>
            <a:pPr indent="-440256">
              <a:lnSpc>
                <a:spcPct val="115000"/>
              </a:lnSpc>
              <a:buSzPts val="1600"/>
              <a:buChar char="-"/>
            </a:pPr>
            <a:r>
              <a:rPr lang="en" sz="2133" dirty="0"/>
              <a:t>24.4 million of 35.1 million urban children between 6-14 years in school </a:t>
            </a:r>
            <a:endParaRPr sz="2133" dirty="0"/>
          </a:p>
          <a:p>
            <a:pPr indent="-440256">
              <a:lnSpc>
                <a:spcPct val="115000"/>
              </a:lnSpc>
              <a:buSzPts val="1600"/>
              <a:buChar char="-"/>
            </a:pPr>
            <a:r>
              <a:rPr lang="en" sz="2133" dirty="0"/>
              <a:t>Only 41.4% of India’s population above 5 was literate</a:t>
            </a:r>
            <a:endParaRPr sz="2133" dirty="0"/>
          </a:p>
          <a:p>
            <a:pPr marL="0" indent="0">
              <a:lnSpc>
                <a:spcPct val="115000"/>
              </a:lnSpc>
              <a:spcBef>
                <a:spcPts val="2133"/>
              </a:spcBef>
              <a:buNone/>
            </a:pPr>
            <a:r>
              <a:rPr lang="en" sz="2133" dirty="0"/>
              <a:t>Moreover, </a:t>
            </a:r>
            <a:r>
              <a:rPr lang="en" sz="2133" b="1" dirty="0"/>
              <a:t>increase</a:t>
            </a:r>
            <a:r>
              <a:rPr lang="en" sz="2133" dirty="0"/>
              <a:t> in number of illiterates over the years </a:t>
            </a:r>
            <a:endParaRPr sz="2133" dirty="0"/>
          </a:p>
          <a:p>
            <a:pPr marL="0" indent="0">
              <a:lnSpc>
                <a:spcPct val="115000"/>
              </a:lnSpc>
              <a:spcBef>
                <a:spcPts val="2133"/>
              </a:spcBef>
              <a:buNone/>
            </a:pPr>
            <a:endParaRPr sz="2133" dirty="0"/>
          </a:p>
          <a:p>
            <a:pPr marL="0" indent="0">
              <a:lnSpc>
                <a:spcPct val="115000"/>
              </a:lnSpc>
              <a:spcBef>
                <a:spcPts val="2133"/>
              </a:spcBef>
              <a:spcAft>
                <a:spcPts val="2133"/>
              </a:spcAft>
              <a:buNone/>
            </a:pPr>
            <a:endParaRPr sz="2133" b="1" dirty="0"/>
          </a:p>
        </p:txBody>
      </p:sp>
    </p:spTree>
    <p:extLst>
      <p:ext uri="{BB962C8B-B14F-4D97-AF65-F5344CB8AC3E}">
        <p14:creationId xmlns:p14="http://schemas.microsoft.com/office/powerpoint/2010/main" val="1988886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2228066" y="614601"/>
            <a:ext cx="8161033" cy="5387233"/>
          </a:xfrm>
          <a:prstGeom prst="rect">
            <a:avLst/>
          </a:prstGeom>
          <a:noFill/>
          <a:ln>
            <a:noFill/>
          </a:ln>
        </p:spPr>
      </p:pic>
    </p:spTree>
    <p:extLst>
      <p:ext uri="{BB962C8B-B14F-4D97-AF65-F5344CB8AC3E}">
        <p14:creationId xmlns:p14="http://schemas.microsoft.com/office/powerpoint/2010/main" val="1958290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1052682" y="668318"/>
            <a:ext cx="9627810" cy="943200"/>
          </a:xfrm>
          <a:prstGeom prst="rect">
            <a:avLst/>
          </a:prstGeom>
        </p:spPr>
        <p:txBody>
          <a:bodyPr spcFirstLastPara="1" vert="horz" wrap="square" lIns="121900" tIns="121900" rIns="121900" bIns="121900" rtlCol="0" anchor="t" anchorCtr="0">
            <a:noAutofit/>
          </a:bodyPr>
          <a:lstStyle/>
          <a:p>
            <a:r>
              <a:rPr lang="en" dirty="0"/>
              <a:t>Main Arguments</a:t>
            </a:r>
            <a:endParaRPr dirty="0"/>
          </a:p>
        </p:txBody>
      </p:sp>
      <p:sp>
        <p:nvSpPr>
          <p:cNvPr id="108" name="Google Shape;108;p20"/>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indent="-431789">
              <a:lnSpc>
                <a:spcPct val="150000"/>
              </a:lnSpc>
              <a:buSzPts val="1500"/>
              <a:buChar char="-"/>
            </a:pPr>
            <a:r>
              <a:rPr lang="en" b="1" dirty="0"/>
              <a:t>Government has accepted child labour as a “harsh reality”</a:t>
            </a:r>
            <a:endParaRPr b="1" dirty="0"/>
          </a:p>
          <a:p>
            <a:pPr indent="-431789">
              <a:lnSpc>
                <a:spcPct val="150000"/>
              </a:lnSpc>
              <a:buSzPts val="1500"/>
              <a:buChar char="-"/>
            </a:pPr>
            <a:r>
              <a:rPr lang="en" dirty="0"/>
              <a:t>Haven’t given up goals of ending child labour, but cannot be implemented currently because of prevailing social and economic conditions:</a:t>
            </a:r>
            <a:endParaRPr dirty="0"/>
          </a:p>
          <a:p>
            <a:pPr lvl="1" indent="-431789">
              <a:lnSpc>
                <a:spcPct val="150000"/>
              </a:lnSpc>
              <a:spcBef>
                <a:spcPts val="0"/>
              </a:spcBef>
              <a:buSzPts val="1500"/>
              <a:buChar char="-"/>
            </a:pPr>
            <a:r>
              <a:rPr lang="en" sz="2000" dirty="0"/>
              <a:t>Chronic poverty </a:t>
            </a:r>
            <a:endParaRPr sz="2000" dirty="0"/>
          </a:p>
          <a:p>
            <a:pPr lvl="1" indent="-431789">
              <a:lnSpc>
                <a:spcPct val="150000"/>
              </a:lnSpc>
              <a:spcBef>
                <a:spcPts val="0"/>
              </a:spcBef>
              <a:buSzPts val="1500"/>
              <a:buChar char="-"/>
            </a:pPr>
            <a:r>
              <a:rPr lang="en" sz="2000" dirty="0"/>
              <a:t>Parents do not believe they will benefit economically through education </a:t>
            </a:r>
            <a:endParaRPr sz="2000" dirty="0"/>
          </a:p>
          <a:p>
            <a:pPr lvl="1" indent="-431789">
              <a:lnSpc>
                <a:spcPct val="150000"/>
              </a:lnSpc>
              <a:spcBef>
                <a:spcPts val="0"/>
              </a:spcBef>
              <a:buSzPts val="1500"/>
              <a:buChar char="-"/>
            </a:pPr>
            <a:r>
              <a:rPr lang="en" sz="2000" dirty="0"/>
              <a:t>Belief that children acquire skills through employment not education </a:t>
            </a:r>
            <a:endParaRPr sz="2000" dirty="0"/>
          </a:p>
          <a:p>
            <a:pPr lvl="1" indent="-431789">
              <a:lnSpc>
                <a:spcPct val="150000"/>
              </a:lnSpc>
              <a:spcBef>
                <a:spcPts val="0"/>
              </a:spcBef>
              <a:buSzPts val="1500"/>
              <a:buChar char="-"/>
            </a:pPr>
            <a:r>
              <a:rPr lang="en" sz="2000" dirty="0"/>
              <a:t>Employers prefer children for cheap labour, supple fingers, more pliable </a:t>
            </a:r>
            <a:endParaRPr sz="2000" dirty="0"/>
          </a:p>
          <a:p>
            <a:pPr indent="0">
              <a:lnSpc>
                <a:spcPct val="150000"/>
              </a:lnSpc>
              <a:spcBef>
                <a:spcPts val="2133"/>
              </a:spcBef>
              <a:spcAft>
                <a:spcPts val="2133"/>
              </a:spcAft>
              <a:buNone/>
            </a:pPr>
            <a:endParaRPr dirty="0"/>
          </a:p>
        </p:txBody>
      </p:sp>
    </p:spTree>
    <p:extLst>
      <p:ext uri="{BB962C8B-B14F-4D97-AF65-F5344CB8AC3E}">
        <p14:creationId xmlns:p14="http://schemas.microsoft.com/office/powerpoint/2010/main" val="244130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1431560" y="593367"/>
            <a:ext cx="10344839" cy="943200"/>
          </a:xfrm>
          <a:prstGeom prst="rect">
            <a:avLst/>
          </a:prstGeom>
        </p:spPr>
        <p:txBody>
          <a:bodyPr spcFirstLastPara="1" vert="horz" wrap="square" lIns="121900" tIns="121900" rIns="121900" bIns="121900" rtlCol="0" anchor="t" anchorCtr="0">
            <a:noAutofit/>
          </a:bodyPr>
          <a:lstStyle/>
          <a:p>
            <a:r>
              <a:rPr lang="en" dirty="0"/>
              <a:t>Main Arguments</a:t>
            </a:r>
            <a:endParaRPr dirty="0"/>
          </a:p>
        </p:txBody>
      </p:sp>
      <p:sp>
        <p:nvSpPr>
          <p:cNvPr id="114" name="Google Shape;114;p21"/>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indent="-431789">
              <a:lnSpc>
                <a:spcPct val="200000"/>
              </a:lnSpc>
              <a:buSzPts val="1500"/>
              <a:buChar char="-"/>
            </a:pPr>
            <a:r>
              <a:rPr lang="en"/>
              <a:t>State thus ought not to intervene as a matter of “social justice” for the poor </a:t>
            </a:r>
            <a:endParaRPr/>
          </a:p>
          <a:p>
            <a:pPr indent="-431789">
              <a:lnSpc>
                <a:spcPct val="200000"/>
              </a:lnSpc>
              <a:buSzPts val="1500"/>
              <a:buChar char="-"/>
            </a:pPr>
            <a:r>
              <a:rPr lang="en"/>
              <a:t>With improvement in employment and income of the poor, they will automatically send their children to school </a:t>
            </a:r>
            <a:endParaRPr/>
          </a:p>
          <a:p>
            <a:pPr indent="-431789">
              <a:lnSpc>
                <a:spcPct val="200000"/>
              </a:lnSpc>
              <a:buSzPts val="1500"/>
              <a:buChar char="-"/>
            </a:pPr>
            <a:r>
              <a:rPr lang="en"/>
              <a:t>Changes in technology will reduce demand for unskilled child labour </a:t>
            </a:r>
            <a:endParaRPr/>
          </a:p>
          <a:p>
            <a:pPr indent="-431789">
              <a:lnSpc>
                <a:spcPct val="200000"/>
              </a:lnSpc>
              <a:buSzPts val="1500"/>
              <a:buChar char="-"/>
            </a:pPr>
            <a:r>
              <a:rPr lang="en"/>
              <a:t>Improvement in national budget will allow government to spend more on primary edu.</a:t>
            </a:r>
            <a:endParaRPr/>
          </a:p>
          <a:p>
            <a:pPr marL="0" indent="0">
              <a:lnSpc>
                <a:spcPct val="200000"/>
              </a:lnSpc>
              <a:spcBef>
                <a:spcPts val="2133"/>
              </a:spcBef>
              <a:spcAft>
                <a:spcPts val="2133"/>
              </a:spcAft>
              <a:buNone/>
            </a:pPr>
            <a:endParaRPr/>
          </a:p>
        </p:txBody>
      </p:sp>
    </p:spTree>
    <p:extLst>
      <p:ext uri="{BB962C8B-B14F-4D97-AF65-F5344CB8AC3E}">
        <p14:creationId xmlns:p14="http://schemas.microsoft.com/office/powerpoint/2010/main" val="2081226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1843790" y="593367"/>
            <a:ext cx="9932610" cy="943200"/>
          </a:xfrm>
          <a:prstGeom prst="rect">
            <a:avLst/>
          </a:prstGeom>
        </p:spPr>
        <p:txBody>
          <a:bodyPr spcFirstLastPara="1" vert="horz" wrap="square" lIns="121900" tIns="121900" rIns="121900" bIns="121900" rtlCol="0" anchor="t" anchorCtr="0">
            <a:noAutofit/>
          </a:bodyPr>
          <a:lstStyle/>
          <a:p>
            <a:r>
              <a:rPr lang="en" dirty="0"/>
              <a:t>Counter Evidence from other Countries</a:t>
            </a:r>
            <a:endParaRPr dirty="0"/>
          </a:p>
        </p:txBody>
      </p:sp>
      <p:sp>
        <p:nvSpPr>
          <p:cNvPr id="120" name="Google Shape;120;p22"/>
          <p:cNvSpPr txBox="1">
            <a:spLocks noGrp="1"/>
          </p:cNvSpPr>
          <p:nvPr>
            <p:ph type="body" idx="1"/>
          </p:nvPr>
        </p:nvSpPr>
        <p:spPr>
          <a:xfrm>
            <a:off x="1521502" y="1688433"/>
            <a:ext cx="10254898" cy="4403600"/>
          </a:xfrm>
          <a:prstGeom prst="rect">
            <a:avLst/>
          </a:prstGeom>
        </p:spPr>
        <p:txBody>
          <a:bodyPr spcFirstLastPara="1" vert="horz" wrap="square" lIns="121900" tIns="121900" rIns="121900" bIns="121900" rtlCol="0" anchor="t" anchorCtr="0">
            <a:noAutofit/>
          </a:bodyPr>
          <a:lstStyle/>
          <a:p>
            <a:pPr indent="-431789">
              <a:lnSpc>
                <a:spcPct val="200000"/>
              </a:lnSpc>
              <a:buSzPts val="1500"/>
              <a:buChar char="-"/>
            </a:pPr>
            <a:r>
              <a:rPr lang="en" b="1" dirty="0"/>
              <a:t>No clear relationship between literacy and per capita income </a:t>
            </a:r>
            <a:endParaRPr b="1" dirty="0"/>
          </a:p>
          <a:p>
            <a:pPr indent="-431789">
              <a:lnSpc>
                <a:spcPct val="200000"/>
              </a:lnSpc>
              <a:buSzPts val="1500"/>
              <a:buChar char="-"/>
            </a:pPr>
            <a:r>
              <a:rPr lang="en" dirty="0">
                <a:highlight>
                  <a:srgbClr val="FFFF00"/>
                </a:highlight>
              </a:rPr>
              <a:t>Spectacular primary-school attendance rates achieved even before rapid economic growth</a:t>
            </a:r>
            <a:endParaRPr dirty="0">
              <a:highlight>
                <a:srgbClr val="FFFF00"/>
              </a:highlight>
            </a:endParaRPr>
          </a:p>
          <a:p>
            <a:pPr indent="-431789">
              <a:lnSpc>
                <a:spcPct val="200000"/>
              </a:lnSpc>
              <a:buSzPts val="1500"/>
              <a:buChar char="-"/>
            </a:pPr>
            <a:r>
              <a:rPr lang="en" dirty="0"/>
              <a:t>Resource constraints are also not a sufficient explanation </a:t>
            </a:r>
            <a:endParaRPr dirty="0"/>
          </a:p>
        </p:txBody>
      </p:sp>
    </p:spTree>
    <p:extLst>
      <p:ext uri="{BB962C8B-B14F-4D97-AF65-F5344CB8AC3E}">
        <p14:creationId xmlns:p14="http://schemas.microsoft.com/office/powerpoint/2010/main" val="75590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1469036" y="593367"/>
            <a:ext cx="10307364" cy="943200"/>
          </a:xfrm>
          <a:prstGeom prst="rect">
            <a:avLst/>
          </a:prstGeom>
        </p:spPr>
        <p:txBody>
          <a:bodyPr spcFirstLastPara="1" vert="horz" wrap="square" lIns="121900" tIns="121900" rIns="121900" bIns="121900" rtlCol="0" anchor="t" anchorCtr="0">
            <a:noAutofit/>
          </a:bodyPr>
          <a:lstStyle/>
          <a:p>
            <a:r>
              <a:rPr lang="en" dirty="0"/>
              <a:t>Takeaways</a:t>
            </a:r>
            <a:endParaRPr dirty="0"/>
          </a:p>
        </p:txBody>
      </p:sp>
      <p:sp>
        <p:nvSpPr>
          <p:cNvPr id="126" name="Google Shape;126;p23"/>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indent="-440256">
              <a:lnSpc>
                <a:spcPct val="200000"/>
              </a:lnSpc>
              <a:buSzPts val="1600"/>
              <a:buChar char="-"/>
            </a:pPr>
            <a:r>
              <a:rPr lang="en" sz="2133" dirty="0"/>
              <a:t>Lack of India’s efforts stem from attitude of important actors towards child labour and compulsory primary education </a:t>
            </a:r>
            <a:endParaRPr sz="2133" dirty="0"/>
          </a:p>
          <a:p>
            <a:pPr indent="-440256">
              <a:lnSpc>
                <a:spcPct val="200000"/>
              </a:lnSpc>
              <a:buSzPts val="1600"/>
              <a:buChar char="-"/>
            </a:pPr>
            <a:r>
              <a:rPr lang="en" sz="2133" b="1" dirty="0"/>
              <a:t>Most harmful - attitudes of officialdom - government, ministries, committees, ministries </a:t>
            </a:r>
            <a:endParaRPr sz="2133" b="1" dirty="0"/>
          </a:p>
          <a:p>
            <a:pPr indent="-440256">
              <a:lnSpc>
                <a:spcPct val="200000"/>
              </a:lnSpc>
              <a:buSzPts val="1600"/>
              <a:buChar char="-"/>
            </a:pPr>
            <a:r>
              <a:rPr lang="en" sz="2133" dirty="0"/>
              <a:t>Very little political support for both </a:t>
            </a:r>
            <a:endParaRPr sz="2133" dirty="0"/>
          </a:p>
        </p:txBody>
      </p:sp>
    </p:spTree>
    <p:extLst>
      <p:ext uri="{BB962C8B-B14F-4D97-AF65-F5344CB8AC3E}">
        <p14:creationId xmlns:p14="http://schemas.microsoft.com/office/powerpoint/2010/main" val="3843400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8EAD4-6B6B-5144-AFD6-3523B0E48169}"/>
              </a:ext>
            </a:extLst>
          </p:cNvPr>
          <p:cNvSpPr>
            <a:spLocks noGrp="1"/>
          </p:cNvSpPr>
          <p:nvPr>
            <p:ph type="ctrTitle"/>
          </p:nvPr>
        </p:nvSpPr>
        <p:spPr/>
        <p:txBody>
          <a:bodyPr/>
          <a:lstStyle/>
          <a:p>
            <a:r>
              <a:rPr lang="en-US" dirty="0"/>
              <a:t>India’s Working Children</a:t>
            </a:r>
          </a:p>
        </p:txBody>
      </p:sp>
      <p:sp>
        <p:nvSpPr>
          <p:cNvPr id="3" name="Subtitle 2">
            <a:extLst>
              <a:ext uri="{FF2B5EF4-FFF2-40B4-BE49-F238E27FC236}">
                <a16:creationId xmlns:a16="http://schemas.microsoft.com/office/drawing/2014/main" id="{86B3AF64-B5C7-F341-802A-BAB47D88BE51}"/>
              </a:ext>
            </a:extLst>
          </p:cNvPr>
          <p:cNvSpPr>
            <a:spLocks noGrp="1"/>
          </p:cNvSpPr>
          <p:nvPr>
            <p:ph type="subTitle" idx="1"/>
          </p:nvPr>
        </p:nvSpPr>
        <p:spPr/>
        <p:txBody>
          <a:bodyPr/>
          <a:lstStyle/>
          <a:p>
            <a:r>
              <a:rPr lang="en-US" dirty="0"/>
              <a:t>Smriti Jalihal</a:t>
            </a:r>
          </a:p>
        </p:txBody>
      </p:sp>
      <p:pic>
        <p:nvPicPr>
          <p:cNvPr id="5" name="Picture 4" descr="The Child and the State in India: Child Labor and Education Policy in  Comparative Perspective eBook : Weiner, Myron: Amazon.in: Kindle Store">
            <a:extLst>
              <a:ext uri="{FF2B5EF4-FFF2-40B4-BE49-F238E27FC236}">
                <a16:creationId xmlns:a16="http://schemas.microsoft.com/office/drawing/2014/main" id="{0DF58017-8F08-78AA-209B-B9283D868BCD}"/>
              </a:ext>
            </a:extLst>
          </p:cNvPr>
          <p:cNvPicPr>
            <a:picLocks noChangeAspect="1"/>
          </p:cNvPicPr>
          <p:nvPr/>
        </p:nvPicPr>
        <p:blipFill>
          <a:blip r:embed="rId2"/>
          <a:stretch>
            <a:fillRect/>
          </a:stretch>
        </p:blipFill>
        <p:spPr>
          <a:xfrm>
            <a:off x="8963210" y="434823"/>
            <a:ext cx="2495180" cy="3763469"/>
          </a:xfrm>
          <a:prstGeom prst="rect">
            <a:avLst/>
          </a:prstGeom>
        </p:spPr>
      </p:pic>
    </p:spTree>
    <p:extLst>
      <p:ext uri="{BB962C8B-B14F-4D97-AF65-F5344CB8AC3E}">
        <p14:creationId xmlns:p14="http://schemas.microsoft.com/office/powerpoint/2010/main" val="2825924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3BB3F-DF3E-F143-AAF9-7E41999C7292}"/>
              </a:ext>
            </a:extLst>
          </p:cNvPr>
          <p:cNvSpPr>
            <a:spLocks noGrp="1"/>
          </p:cNvSpPr>
          <p:nvPr>
            <p:ph type="title"/>
          </p:nvPr>
        </p:nvSpPr>
        <p:spPr/>
        <p:txBody>
          <a:bodyPr/>
          <a:lstStyle/>
          <a:p>
            <a:r>
              <a:rPr lang="en-US" dirty="0"/>
              <a:t>Who are these children?</a:t>
            </a:r>
          </a:p>
        </p:txBody>
      </p:sp>
      <p:sp>
        <p:nvSpPr>
          <p:cNvPr id="3" name="Content Placeholder 2">
            <a:extLst>
              <a:ext uri="{FF2B5EF4-FFF2-40B4-BE49-F238E27FC236}">
                <a16:creationId xmlns:a16="http://schemas.microsoft.com/office/drawing/2014/main" id="{B4FB35C1-A413-5F4B-A866-C71DD21C7D93}"/>
              </a:ext>
            </a:extLst>
          </p:cNvPr>
          <p:cNvSpPr>
            <a:spLocks noGrp="1"/>
          </p:cNvSpPr>
          <p:nvPr>
            <p:ph idx="1"/>
          </p:nvPr>
        </p:nvSpPr>
        <p:spPr/>
        <p:txBody>
          <a:bodyPr>
            <a:normAutofit/>
          </a:bodyPr>
          <a:lstStyle/>
          <a:p>
            <a:r>
              <a:rPr lang="en-US" dirty="0"/>
              <a:t>From families who have a very low per capita income</a:t>
            </a:r>
          </a:p>
          <a:p>
            <a:r>
              <a:rPr lang="en-US" dirty="0"/>
              <a:t>Children are forced to work</a:t>
            </a:r>
          </a:p>
          <a:p>
            <a:r>
              <a:rPr lang="en-US" dirty="0"/>
              <a:t>Agricultural workers, bonded laborers</a:t>
            </a:r>
          </a:p>
          <a:p>
            <a:r>
              <a:rPr lang="en-US" dirty="0"/>
              <a:t>Ex- untouchables</a:t>
            </a:r>
          </a:p>
          <a:p>
            <a:r>
              <a:rPr lang="en-US" dirty="0"/>
              <a:t>University of Hyderabad- Study showed that 9,00,000 boys and 6,46,000 girls enrolled in grade 1 in Andhra Pradesh and 2,30,000 boys and 1,26,000 girls enrolled in grade 5</a:t>
            </a:r>
          </a:p>
          <a:p>
            <a:r>
              <a:rPr lang="en-US" dirty="0"/>
              <a:t>All child laborers are not reported as some help their parents in small cottage industries</a:t>
            </a:r>
          </a:p>
          <a:p>
            <a:endParaRPr lang="en-US" dirty="0"/>
          </a:p>
        </p:txBody>
      </p:sp>
      <p:sp>
        <p:nvSpPr>
          <p:cNvPr id="4" name="TextBox 3">
            <a:extLst>
              <a:ext uri="{FF2B5EF4-FFF2-40B4-BE49-F238E27FC236}">
                <a16:creationId xmlns:a16="http://schemas.microsoft.com/office/drawing/2014/main" id="{691FE1B9-A772-F2A0-49A2-3D01A2ADF134}"/>
              </a:ext>
            </a:extLst>
          </p:cNvPr>
          <p:cNvSpPr txBox="1"/>
          <p:nvPr/>
        </p:nvSpPr>
        <p:spPr>
          <a:xfrm>
            <a:off x="6872990" y="5973580"/>
            <a:ext cx="3422754" cy="400110"/>
          </a:xfrm>
          <a:prstGeom prst="rect">
            <a:avLst/>
          </a:prstGeom>
          <a:noFill/>
        </p:spPr>
        <p:txBody>
          <a:bodyPr wrap="square" rtlCol="0">
            <a:spAutoFit/>
          </a:bodyPr>
          <a:lstStyle/>
          <a:p>
            <a:r>
              <a:rPr lang="en-IN" sz="2000" b="1" dirty="0">
                <a:highlight>
                  <a:srgbClr val="FFFF00"/>
                </a:highlight>
              </a:rPr>
              <a:t>Time period: 1985-1990</a:t>
            </a:r>
          </a:p>
        </p:txBody>
      </p:sp>
    </p:spTree>
    <p:extLst>
      <p:ext uri="{BB962C8B-B14F-4D97-AF65-F5344CB8AC3E}">
        <p14:creationId xmlns:p14="http://schemas.microsoft.com/office/powerpoint/2010/main" val="989986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BD311-5E57-C04E-B3D3-756A845BE671}"/>
              </a:ext>
            </a:extLst>
          </p:cNvPr>
          <p:cNvSpPr>
            <a:spLocks noGrp="1"/>
          </p:cNvSpPr>
          <p:nvPr>
            <p:ph type="title"/>
          </p:nvPr>
        </p:nvSpPr>
        <p:spPr/>
        <p:txBody>
          <a:bodyPr/>
          <a:lstStyle/>
          <a:p>
            <a:r>
              <a:rPr lang="en-US" dirty="0"/>
              <a:t>Legislation</a:t>
            </a:r>
          </a:p>
        </p:txBody>
      </p:sp>
      <p:sp>
        <p:nvSpPr>
          <p:cNvPr id="3" name="Content Placeholder 2">
            <a:extLst>
              <a:ext uri="{FF2B5EF4-FFF2-40B4-BE49-F238E27FC236}">
                <a16:creationId xmlns:a16="http://schemas.microsoft.com/office/drawing/2014/main" id="{3C9D599C-4BA1-0F41-9219-E9BE9A9F31E3}"/>
              </a:ext>
            </a:extLst>
          </p:cNvPr>
          <p:cNvSpPr>
            <a:spLocks noGrp="1"/>
          </p:cNvSpPr>
          <p:nvPr>
            <p:ph idx="1"/>
          </p:nvPr>
        </p:nvSpPr>
        <p:spPr/>
        <p:txBody>
          <a:bodyPr/>
          <a:lstStyle/>
          <a:p>
            <a:r>
              <a:rPr lang="en-US" b="1" dirty="0"/>
              <a:t>Laws</a:t>
            </a:r>
            <a:r>
              <a:rPr lang="en-US" dirty="0"/>
              <a:t>: </a:t>
            </a:r>
            <a:r>
              <a:rPr lang="en-US" dirty="0">
                <a:highlight>
                  <a:srgbClr val="FFFF00"/>
                </a:highlight>
              </a:rPr>
              <a:t>Factories Act of 1948 (Units employing ten or more workers using power and 20 or more workers not using power, cannot employ children)</a:t>
            </a:r>
          </a:p>
          <a:p>
            <a:r>
              <a:rPr lang="en-US" dirty="0"/>
              <a:t>Employment of Children Act (Prohibition of the employment of children under 14)</a:t>
            </a:r>
          </a:p>
          <a:p>
            <a:endParaRPr lang="en-US" dirty="0"/>
          </a:p>
        </p:txBody>
      </p:sp>
    </p:spTree>
    <p:extLst>
      <p:ext uri="{BB962C8B-B14F-4D97-AF65-F5344CB8AC3E}">
        <p14:creationId xmlns:p14="http://schemas.microsoft.com/office/powerpoint/2010/main" val="109477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792AF-513A-7341-90B4-11AAC08AC6F8}"/>
              </a:ext>
            </a:extLst>
          </p:cNvPr>
          <p:cNvSpPr>
            <a:spLocks noGrp="1"/>
          </p:cNvSpPr>
          <p:nvPr>
            <p:ph type="title"/>
          </p:nvPr>
        </p:nvSpPr>
        <p:spPr/>
        <p:txBody>
          <a:bodyPr/>
          <a:lstStyle/>
          <a:p>
            <a:r>
              <a:rPr lang="en-US" dirty="0"/>
              <a:t>Where do these children usually work?</a:t>
            </a:r>
          </a:p>
        </p:txBody>
      </p:sp>
      <p:sp>
        <p:nvSpPr>
          <p:cNvPr id="3" name="Content Placeholder 2">
            <a:extLst>
              <a:ext uri="{FF2B5EF4-FFF2-40B4-BE49-F238E27FC236}">
                <a16:creationId xmlns:a16="http://schemas.microsoft.com/office/drawing/2014/main" id="{EFF05966-92A1-9A41-BE75-F531583BAAE6}"/>
              </a:ext>
            </a:extLst>
          </p:cNvPr>
          <p:cNvSpPr>
            <a:spLocks noGrp="1"/>
          </p:cNvSpPr>
          <p:nvPr>
            <p:ph idx="1"/>
          </p:nvPr>
        </p:nvSpPr>
        <p:spPr/>
        <p:txBody>
          <a:bodyPr/>
          <a:lstStyle/>
          <a:p>
            <a:r>
              <a:rPr lang="en-US" b="1" dirty="0"/>
              <a:t>Cottage Industries</a:t>
            </a:r>
          </a:p>
          <a:p>
            <a:r>
              <a:rPr lang="en-US" dirty="0"/>
              <a:t>Household industries</a:t>
            </a:r>
          </a:p>
          <a:p>
            <a:r>
              <a:rPr lang="en-US" dirty="0"/>
              <a:t>Factory sheds</a:t>
            </a:r>
          </a:p>
          <a:p>
            <a:r>
              <a:rPr lang="en-US" dirty="0"/>
              <a:t>Diamond Cutting</a:t>
            </a:r>
          </a:p>
          <a:p>
            <a:r>
              <a:rPr lang="en-US" dirty="0"/>
              <a:t>Carpet industry</a:t>
            </a:r>
          </a:p>
          <a:p>
            <a:r>
              <a:rPr lang="en-US" dirty="0"/>
              <a:t>Textile industry </a:t>
            </a:r>
          </a:p>
          <a:p>
            <a:r>
              <a:rPr lang="en-US" dirty="0"/>
              <a:t>Brassware and </a:t>
            </a:r>
            <a:r>
              <a:rPr lang="en-US" b="1" dirty="0"/>
              <a:t>bidi manufacturing</a:t>
            </a:r>
          </a:p>
          <a:p>
            <a:r>
              <a:rPr lang="en-US" b="1" dirty="0"/>
              <a:t>Rag pickers</a:t>
            </a:r>
          </a:p>
        </p:txBody>
      </p:sp>
    </p:spTree>
    <p:extLst>
      <p:ext uri="{BB962C8B-B14F-4D97-AF65-F5344CB8AC3E}">
        <p14:creationId xmlns:p14="http://schemas.microsoft.com/office/powerpoint/2010/main" val="1175488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953F7-A3C4-254E-8671-037D02592699}"/>
              </a:ext>
            </a:extLst>
          </p:cNvPr>
          <p:cNvSpPr>
            <a:spLocks noGrp="1"/>
          </p:cNvSpPr>
          <p:nvPr>
            <p:ph type="title"/>
          </p:nvPr>
        </p:nvSpPr>
        <p:spPr/>
        <p:txBody>
          <a:bodyPr/>
          <a:lstStyle/>
          <a:p>
            <a:r>
              <a:rPr lang="en-US" dirty="0"/>
              <a:t>How many child laborers?</a:t>
            </a:r>
          </a:p>
        </p:txBody>
      </p:sp>
      <p:sp>
        <p:nvSpPr>
          <p:cNvPr id="3" name="Content Placeholder 2">
            <a:extLst>
              <a:ext uri="{FF2B5EF4-FFF2-40B4-BE49-F238E27FC236}">
                <a16:creationId xmlns:a16="http://schemas.microsoft.com/office/drawing/2014/main" id="{1986C251-F09E-2040-9A4C-31AFB8CFA12C}"/>
              </a:ext>
            </a:extLst>
          </p:cNvPr>
          <p:cNvSpPr>
            <a:spLocks noGrp="1"/>
          </p:cNvSpPr>
          <p:nvPr>
            <p:ph idx="1"/>
          </p:nvPr>
        </p:nvSpPr>
        <p:spPr/>
        <p:txBody>
          <a:bodyPr/>
          <a:lstStyle/>
          <a:p>
            <a:r>
              <a:rPr lang="en-US" dirty="0"/>
              <a:t>NSSO (1983): 17.4 million child laborers</a:t>
            </a:r>
          </a:p>
          <a:p>
            <a:r>
              <a:rPr lang="en-US" dirty="0"/>
              <a:t>Operations Research Group of Baroda: 44 million</a:t>
            </a:r>
          </a:p>
        </p:txBody>
      </p:sp>
    </p:spTree>
    <p:extLst>
      <p:ext uri="{BB962C8B-B14F-4D97-AF65-F5344CB8AC3E}">
        <p14:creationId xmlns:p14="http://schemas.microsoft.com/office/powerpoint/2010/main" val="4052218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1F4BF-D53C-2A4E-AD97-C407668F2F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A975CC-7902-3748-A084-CE02C3DF3FE5}"/>
              </a:ext>
            </a:extLst>
          </p:cNvPr>
          <p:cNvSpPr>
            <a:spLocks noGrp="1"/>
          </p:cNvSpPr>
          <p:nvPr>
            <p:ph idx="1"/>
          </p:nvPr>
        </p:nvSpPr>
        <p:spPr/>
        <p:txBody>
          <a:bodyPr/>
          <a:lstStyle/>
          <a:p>
            <a:r>
              <a:rPr lang="en-US" dirty="0"/>
              <a:t>Andhra Pradesh has the highest incidence of child labor (also lowest literacy rate)</a:t>
            </a:r>
          </a:p>
          <a:p>
            <a:r>
              <a:rPr lang="en-US" dirty="0"/>
              <a:t>Kerala has the lowest incidence of child labor (highest literacy rate)</a:t>
            </a:r>
          </a:p>
        </p:txBody>
      </p:sp>
    </p:spTree>
    <p:extLst>
      <p:ext uri="{BB962C8B-B14F-4D97-AF65-F5344CB8AC3E}">
        <p14:creationId xmlns:p14="http://schemas.microsoft.com/office/powerpoint/2010/main" val="2760560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488C-D0DE-1C42-945B-EA5B3E20A245}"/>
              </a:ext>
            </a:extLst>
          </p:cNvPr>
          <p:cNvSpPr>
            <a:spLocks noGrp="1"/>
          </p:cNvSpPr>
          <p:nvPr>
            <p:ph type="title"/>
          </p:nvPr>
        </p:nvSpPr>
        <p:spPr/>
        <p:txBody>
          <a:bodyPr/>
          <a:lstStyle/>
          <a:p>
            <a:r>
              <a:rPr lang="en-US" dirty="0"/>
              <a:t>Bangalore City Market</a:t>
            </a:r>
          </a:p>
        </p:txBody>
      </p:sp>
      <p:sp>
        <p:nvSpPr>
          <p:cNvPr id="3" name="Content Placeholder 2">
            <a:extLst>
              <a:ext uri="{FF2B5EF4-FFF2-40B4-BE49-F238E27FC236}">
                <a16:creationId xmlns:a16="http://schemas.microsoft.com/office/drawing/2014/main" id="{59009BA8-1B12-7E49-B552-6B8B5D27FC5A}"/>
              </a:ext>
            </a:extLst>
          </p:cNvPr>
          <p:cNvSpPr>
            <a:spLocks noGrp="1"/>
          </p:cNvSpPr>
          <p:nvPr>
            <p:ph idx="1"/>
          </p:nvPr>
        </p:nvSpPr>
        <p:spPr/>
        <p:txBody>
          <a:bodyPr/>
          <a:lstStyle/>
          <a:p>
            <a:r>
              <a:rPr lang="en-US" b="1" dirty="0"/>
              <a:t>Case study of a child worker who became a boss and employed more child workers (cyclical effect): </a:t>
            </a:r>
            <a:r>
              <a:rPr lang="en-US" dirty="0"/>
              <a:t>more profits as you do not need to pay the minimum wage</a:t>
            </a:r>
          </a:p>
          <a:p>
            <a:r>
              <a:rPr lang="en-US" b="1" dirty="0"/>
              <a:t>Numerous children work as shop assistants- few in school who work part time, others work full time.</a:t>
            </a:r>
          </a:p>
          <a:p>
            <a:r>
              <a:rPr lang="en-US" dirty="0"/>
              <a:t>Takes a lot of years for pay to increase</a:t>
            </a:r>
          </a:p>
          <a:p>
            <a:r>
              <a:rPr lang="en-US" dirty="0"/>
              <a:t>Increased because the number of stalls and restaurants have also increased</a:t>
            </a:r>
          </a:p>
        </p:txBody>
      </p:sp>
    </p:spTree>
    <p:extLst>
      <p:ext uri="{BB962C8B-B14F-4D97-AF65-F5344CB8AC3E}">
        <p14:creationId xmlns:p14="http://schemas.microsoft.com/office/powerpoint/2010/main" val="685193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01C9-8175-FE41-B1C4-C062A3E60E37}"/>
              </a:ext>
            </a:extLst>
          </p:cNvPr>
          <p:cNvSpPr>
            <a:spLocks noGrp="1"/>
          </p:cNvSpPr>
          <p:nvPr>
            <p:ph type="title"/>
          </p:nvPr>
        </p:nvSpPr>
        <p:spPr/>
        <p:txBody>
          <a:bodyPr/>
          <a:lstStyle/>
          <a:p>
            <a:pPr algn="ctr"/>
            <a:r>
              <a:rPr lang="en-US" dirty="0"/>
              <a:t>Street Children of </a:t>
            </a:r>
            <a:r>
              <a:rPr lang="en-US" dirty="0" err="1"/>
              <a:t>Secunderabad</a:t>
            </a:r>
            <a:endParaRPr lang="en-US" dirty="0"/>
          </a:p>
        </p:txBody>
      </p:sp>
      <p:sp>
        <p:nvSpPr>
          <p:cNvPr id="3" name="Content Placeholder 2">
            <a:extLst>
              <a:ext uri="{FF2B5EF4-FFF2-40B4-BE49-F238E27FC236}">
                <a16:creationId xmlns:a16="http://schemas.microsoft.com/office/drawing/2014/main" id="{87908680-EAF4-8D47-AE49-0457EB38A672}"/>
              </a:ext>
            </a:extLst>
          </p:cNvPr>
          <p:cNvSpPr>
            <a:spLocks noGrp="1"/>
          </p:cNvSpPr>
          <p:nvPr>
            <p:ph idx="1"/>
          </p:nvPr>
        </p:nvSpPr>
        <p:spPr/>
        <p:txBody>
          <a:bodyPr/>
          <a:lstStyle/>
          <a:p>
            <a:r>
              <a:rPr lang="en-US" dirty="0"/>
              <a:t>Numerous children working as </a:t>
            </a:r>
            <a:r>
              <a:rPr lang="en-US" b="1" dirty="0"/>
              <a:t>beggars, rag pickers, prostitutes and vendors</a:t>
            </a:r>
          </a:p>
          <a:p>
            <a:r>
              <a:rPr lang="en-US" dirty="0"/>
              <a:t>Violence at home</a:t>
            </a:r>
          </a:p>
          <a:p>
            <a:r>
              <a:rPr lang="en-US" dirty="0" err="1"/>
              <a:t>Centres</a:t>
            </a:r>
            <a:r>
              <a:rPr lang="en-US" dirty="0"/>
              <a:t> like </a:t>
            </a:r>
            <a:r>
              <a:rPr lang="en-US" dirty="0" err="1"/>
              <a:t>Prema</a:t>
            </a:r>
            <a:r>
              <a:rPr lang="en-US" dirty="0"/>
              <a:t> </a:t>
            </a:r>
            <a:r>
              <a:rPr lang="en-US" dirty="0" err="1"/>
              <a:t>Seva</a:t>
            </a:r>
            <a:r>
              <a:rPr lang="en-US" dirty="0"/>
              <a:t> </a:t>
            </a:r>
            <a:r>
              <a:rPr lang="en-US" dirty="0" err="1"/>
              <a:t>Sadan</a:t>
            </a:r>
            <a:r>
              <a:rPr lang="en-US" dirty="0"/>
              <a:t> that feeds and houses children who have fled from domestic households</a:t>
            </a:r>
          </a:p>
          <a:p>
            <a:r>
              <a:rPr lang="en-US" b="1" dirty="0"/>
              <a:t>Poor parents come there to admit their children</a:t>
            </a:r>
          </a:p>
        </p:txBody>
      </p:sp>
    </p:spTree>
    <p:extLst>
      <p:ext uri="{BB962C8B-B14F-4D97-AF65-F5344CB8AC3E}">
        <p14:creationId xmlns:p14="http://schemas.microsoft.com/office/powerpoint/2010/main" val="266622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88AA-EC8B-D141-9835-7312608E5AFA}"/>
              </a:ext>
            </a:extLst>
          </p:cNvPr>
          <p:cNvSpPr>
            <a:spLocks noGrp="1"/>
          </p:cNvSpPr>
          <p:nvPr>
            <p:ph type="title"/>
          </p:nvPr>
        </p:nvSpPr>
        <p:spPr/>
        <p:txBody>
          <a:bodyPr/>
          <a:lstStyle/>
          <a:p>
            <a:r>
              <a:rPr lang="en-US" dirty="0"/>
              <a:t>Match Industry of </a:t>
            </a:r>
            <a:r>
              <a:rPr lang="en-US" dirty="0" err="1"/>
              <a:t>Sivakasi</a:t>
            </a:r>
            <a:endParaRPr lang="en-US" dirty="0"/>
          </a:p>
        </p:txBody>
      </p:sp>
      <p:sp>
        <p:nvSpPr>
          <p:cNvPr id="3" name="Content Placeholder 2">
            <a:extLst>
              <a:ext uri="{FF2B5EF4-FFF2-40B4-BE49-F238E27FC236}">
                <a16:creationId xmlns:a16="http://schemas.microsoft.com/office/drawing/2014/main" id="{EED72766-FFE4-984F-875C-D1AFC9E503DC}"/>
              </a:ext>
            </a:extLst>
          </p:cNvPr>
          <p:cNvSpPr>
            <a:spLocks noGrp="1"/>
          </p:cNvSpPr>
          <p:nvPr>
            <p:ph idx="1"/>
          </p:nvPr>
        </p:nvSpPr>
        <p:spPr/>
        <p:txBody>
          <a:bodyPr>
            <a:normAutofit lnSpcReduction="10000"/>
          </a:bodyPr>
          <a:lstStyle/>
          <a:p>
            <a:r>
              <a:rPr lang="en-US" dirty="0"/>
              <a:t>Most publicized </a:t>
            </a:r>
            <a:r>
              <a:rPr lang="en-US" dirty="0" err="1"/>
              <a:t>centre</a:t>
            </a:r>
            <a:r>
              <a:rPr lang="en-US" dirty="0"/>
              <a:t> of child labor in India</a:t>
            </a:r>
          </a:p>
          <a:p>
            <a:r>
              <a:rPr lang="en-US" b="1" dirty="0"/>
              <a:t>Largest single concentration of child labor in the world (45,000)</a:t>
            </a:r>
          </a:p>
          <a:p>
            <a:r>
              <a:rPr lang="en-US" dirty="0"/>
              <a:t>Children employed in match, fireworks and printing industries</a:t>
            </a:r>
          </a:p>
          <a:p>
            <a:r>
              <a:rPr lang="en-US" dirty="0"/>
              <a:t>Children from nearby villages, agent</a:t>
            </a:r>
          </a:p>
          <a:p>
            <a:r>
              <a:rPr lang="en-US" dirty="0"/>
              <a:t>Child labor is legally permitted in the small “family owned” workshops, but not in the factories</a:t>
            </a:r>
          </a:p>
          <a:p>
            <a:r>
              <a:rPr lang="en-US" dirty="0"/>
              <a:t>Violation of Minimum Wages Act</a:t>
            </a:r>
          </a:p>
          <a:p>
            <a:r>
              <a:rPr lang="en-US" dirty="0"/>
              <a:t>Remedial Measures?! Wages for children to be raised, higher excise tax, children should not have to travel so much, provision of lunches and free health care at workplace</a:t>
            </a:r>
          </a:p>
        </p:txBody>
      </p:sp>
    </p:spTree>
    <p:extLst>
      <p:ext uri="{BB962C8B-B14F-4D97-AF65-F5344CB8AC3E}">
        <p14:creationId xmlns:p14="http://schemas.microsoft.com/office/powerpoint/2010/main" val="552556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B159-CB46-A04B-924D-DEECF409DFB4}"/>
              </a:ext>
            </a:extLst>
          </p:cNvPr>
          <p:cNvSpPr>
            <a:spLocks noGrp="1"/>
          </p:cNvSpPr>
          <p:nvPr>
            <p:ph type="title"/>
          </p:nvPr>
        </p:nvSpPr>
        <p:spPr/>
        <p:txBody>
          <a:bodyPr/>
          <a:lstStyle/>
          <a:p>
            <a:r>
              <a:rPr lang="en-US" dirty="0"/>
              <a:t>Glass Factories of Firozabad</a:t>
            </a:r>
          </a:p>
        </p:txBody>
      </p:sp>
      <p:sp>
        <p:nvSpPr>
          <p:cNvPr id="3" name="Content Placeholder 2">
            <a:extLst>
              <a:ext uri="{FF2B5EF4-FFF2-40B4-BE49-F238E27FC236}">
                <a16:creationId xmlns:a16="http://schemas.microsoft.com/office/drawing/2014/main" id="{37261078-4F7B-4D4D-B891-A36755BE6F84}"/>
              </a:ext>
            </a:extLst>
          </p:cNvPr>
          <p:cNvSpPr>
            <a:spLocks noGrp="1"/>
          </p:cNvSpPr>
          <p:nvPr>
            <p:ph idx="1"/>
          </p:nvPr>
        </p:nvSpPr>
        <p:spPr/>
        <p:txBody>
          <a:bodyPr/>
          <a:lstStyle/>
          <a:p>
            <a:r>
              <a:rPr lang="en-US" dirty="0"/>
              <a:t>Children are paid 10 rupees per 12 hour shift and their daily wage doubles when they are old enough to blow glass</a:t>
            </a:r>
          </a:p>
          <a:p>
            <a:r>
              <a:rPr lang="en-US" dirty="0"/>
              <a:t>Labor Law Department of Government of Uttar Pradesh- 13% of the 70,000 workers there are children</a:t>
            </a:r>
          </a:p>
          <a:p>
            <a:endParaRPr lang="en-US" dirty="0"/>
          </a:p>
        </p:txBody>
      </p:sp>
    </p:spTree>
    <p:extLst>
      <p:ext uri="{BB962C8B-B14F-4D97-AF65-F5344CB8AC3E}">
        <p14:creationId xmlns:p14="http://schemas.microsoft.com/office/powerpoint/2010/main" val="10389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281D-599F-DA45-B0D3-2BF7B5B49630}"/>
              </a:ext>
            </a:extLst>
          </p:cNvPr>
          <p:cNvSpPr>
            <a:spLocks noGrp="1"/>
          </p:cNvSpPr>
          <p:nvPr>
            <p:ph type="title"/>
          </p:nvPr>
        </p:nvSpPr>
        <p:spPr/>
        <p:txBody>
          <a:bodyPr/>
          <a:lstStyle/>
          <a:p>
            <a:r>
              <a:rPr lang="en-US" dirty="0"/>
              <a:t>Pottery Industry of </a:t>
            </a:r>
            <a:r>
              <a:rPr lang="en-US" dirty="0" err="1"/>
              <a:t>Khurja</a:t>
            </a:r>
            <a:endParaRPr lang="en-US" dirty="0"/>
          </a:p>
        </p:txBody>
      </p:sp>
      <p:sp>
        <p:nvSpPr>
          <p:cNvPr id="3" name="Content Placeholder 2">
            <a:extLst>
              <a:ext uri="{FF2B5EF4-FFF2-40B4-BE49-F238E27FC236}">
                <a16:creationId xmlns:a16="http://schemas.microsoft.com/office/drawing/2014/main" id="{1264321E-D360-B747-B36D-C837A722DE83}"/>
              </a:ext>
            </a:extLst>
          </p:cNvPr>
          <p:cNvSpPr>
            <a:spLocks noGrp="1"/>
          </p:cNvSpPr>
          <p:nvPr>
            <p:ph idx="1"/>
          </p:nvPr>
        </p:nvSpPr>
        <p:spPr/>
        <p:txBody>
          <a:bodyPr/>
          <a:lstStyle/>
          <a:p>
            <a:r>
              <a:rPr lang="en-US" dirty="0"/>
              <a:t>5000 children employed</a:t>
            </a:r>
          </a:p>
          <a:p>
            <a:r>
              <a:rPr lang="en-US" dirty="0"/>
              <a:t>Most children are the kids of potters who work in the same factories</a:t>
            </a:r>
          </a:p>
          <a:p>
            <a:r>
              <a:rPr lang="en-US" dirty="0"/>
              <a:t>Children who joined the factory earlier, earned more as compared to others later in life</a:t>
            </a:r>
          </a:p>
          <a:p>
            <a:r>
              <a:rPr lang="en-US" dirty="0"/>
              <a:t>Relation between early entrance into labor force, nutrition and life time wage earning capacity</a:t>
            </a:r>
          </a:p>
          <a:p>
            <a:endParaRPr lang="en-US" dirty="0"/>
          </a:p>
        </p:txBody>
      </p:sp>
    </p:spTree>
    <p:extLst>
      <p:ext uri="{BB962C8B-B14F-4D97-AF65-F5344CB8AC3E}">
        <p14:creationId xmlns:p14="http://schemas.microsoft.com/office/powerpoint/2010/main" val="3667069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76850-04B5-5344-96AB-19208C95FFCA}"/>
              </a:ext>
            </a:extLst>
          </p:cNvPr>
          <p:cNvSpPr>
            <a:spLocks noGrp="1"/>
          </p:cNvSpPr>
          <p:nvPr>
            <p:ph type="title"/>
          </p:nvPr>
        </p:nvSpPr>
        <p:spPr/>
        <p:txBody>
          <a:bodyPr/>
          <a:lstStyle/>
          <a:p>
            <a:r>
              <a:rPr lang="en-US" dirty="0"/>
              <a:t>Village Near Pune</a:t>
            </a:r>
          </a:p>
        </p:txBody>
      </p:sp>
      <p:sp>
        <p:nvSpPr>
          <p:cNvPr id="3" name="Content Placeholder 2">
            <a:extLst>
              <a:ext uri="{FF2B5EF4-FFF2-40B4-BE49-F238E27FC236}">
                <a16:creationId xmlns:a16="http://schemas.microsoft.com/office/drawing/2014/main" id="{4FCBD830-A5CB-D04B-A640-4EB2BE9183A1}"/>
              </a:ext>
            </a:extLst>
          </p:cNvPr>
          <p:cNvSpPr>
            <a:spLocks noGrp="1"/>
          </p:cNvSpPr>
          <p:nvPr>
            <p:ph idx="1"/>
          </p:nvPr>
        </p:nvSpPr>
        <p:spPr/>
        <p:txBody>
          <a:bodyPr/>
          <a:lstStyle/>
          <a:p>
            <a:r>
              <a:rPr lang="en-US" dirty="0"/>
              <a:t>Unpaid domestic work</a:t>
            </a:r>
          </a:p>
          <a:p>
            <a:r>
              <a:rPr lang="en-US" dirty="0"/>
              <a:t>Non formal education program</a:t>
            </a:r>
          </a:p>
          <a:p>
            <a:r>
              <a:rPr lang="en-US" dirty="0"/>
              <a:t>Instruction of basic health and science</a:t>
            </a:r>
          </a:p>
          <a:p>
            <a:r>
              <a:rPr lang="en-US" dirty="0"/>
              <a:t>Children did not regard their parents decision of schooling as </a:t>
            </a:r>
            <a:r>
              <a:rPr lang="en-US" dirty="0" err="1"/>
              <a:t>choiceless</a:t>
            </a:r>
            <a:endParaRPr lang="en-US" dirty="0"/>
          </a:p>
        </p:txBody>
      </p:sp>
    </p:spTree>
    <p:extLst>
      <p:ext uri="{BB962C8B-B14F-4D97-AF65-F5344CB8AC3E}">
        <p14:creationId xmlns:p14="http://schemas.microsoft.com/office/powerpoint/2010/main" val="828713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A467-F05A-924A-ACEF-0BE04414765F}"/>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94084998-E5B5-3546-A5DF-61569098FFFB}"/>
              </a:ext>
            </a:extLst>
          </p:cNvPr>
          <p:cNvSpPr>
            <a:spLocks noGrp="1"/>
          </p:cNvSpPr>
          <p:nvPr>
            <p:ph idx="1"/>
          </p:nvPr>
        </p:nvSpPr>
        <p:spPr/>
        <p:txBody>
          <a:bodyPr>
            <a:normAutofit/>
          </a:bodyPr>
          <a:lstStyle/>
          <a:p>
            <a:r>
              <a:rPr lang="en-IN" dirty="0"/>
              <a:t>Child </a:t>
            </a:r>
            <a:r>
              <a:rPr lang="en-IN" dirty="0" err="1"/>
              <a:t>labor</a:t>
            </a:r>
            <a:r>
              <a:rPr lang="en-IN" dirty="0"/>
              <a:t> in India is largely a preindustrial, precapitalistic </a:t>
            </a:r>
            <a:r>
              <a:rPr lang="en-IN" dirty="0" err="1"/>
              <a:t>labor</a:t>
            </a:r>
            <a:r>
              <a:rPr lang="en-IN" dirty="0"/>
              <a:t> force</a:t>
            </a:r>
          </a:p>
          <a:p>
            <a:r>
              <a:rPr lang="en-IN" dirty="0"/>
              <a:t>Child </a:t>
            </a:r>
            <a:r>
              <a:rPr lang="en-IN" dirty="0" err="1"/>
              <a:t>labor</a:t>
            </a:r>
            <a:r>
              <a:rPr lang="en-IN" dirty="0"/>
              <a:t> in India is not the product of industrialism and capitalism, but represents the persistence of the traditional role of the child as a worker</a:t>
            </a:r>
          </a:p>
          <a:p>
            <a:r>
              <a:rPr lang="en-IN" dirty="0"/>
              <a:t>Most child workers are illiterate</a:t>
            </a:r>
          </a:p>
          <a:p>
            <a:r>
              <a:rPr lang="en-IN" dirty="0"/>
              <a:t>Few children outside of agriculture can be said to be apprentices learning traditional family  skills – engaged in relatively new occupations</a:t>
            </a:r>
          </a:p>
          <a:p>
            <a:r>
              <a:rPr lang="en-IN" dirty="0"/>
              <a:t>The “skills” acquired by the children are rarely those that could not be acquired at an older age. Indeed, the skills are typically of a low level: simple, routinized, manual tasks or carting </a:t>
            </a:r>
            <a:endParaRPr lang="en-US" dirty="0"/>
          </a:p>
        </p:txBody>
      </p:sp>
    </p:spTree>
    <p:extLst>
      <p:ext uri="{BB962C8B-B14F-4D97-AF65-F5344CB8AC3E}">
        <p14:creationId xmlns:p14="http://schemas.microsoft.com/office/powerpoint/2010/main" val="2872501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4F8B-E125-3843-AE73-BC13392D1A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0A8565-DA81-174D-AC35-B4C2E39CE1D0}"/>
              </a:ext>
            </a:extLst>
          </p:cNvPr>
          <p:cNvSpPr>
            <a:spLocks noGrp="1"/>
          </p:cNvSpPr>
          <p:nvPr>
            <p:ph idx="1"/>
          </p:nvPr>
        </p:nvSpPr>
        <p:spPr/>
        <p:txBody>
          <a:bodyPr/>
          <a:lstStyle/>
          <a:p>
            <a:r>
              <a:rPr lang="en-IN" dirty="0"/>
              <a:t>Early entrance into the </a:t>
            </a:r>
            <a:r>
              <a:rPr lang="en-IN" dirty="0" err="1"/>
              <a:t>labor</a:t>
            </a:r>
            <a:r>
              <a:rPr lang="en-IN" dirty="0"/>
              <a:t> force is no assurance of a higher wage later. Wages paid to adults are not determined by whether or not they worked as children </a:t>
            </a:r>
          </a:p>
          <a:p>
            <a:r>
              <a:rPr lang="en-IN" dirty="0"/>
              <a:t>Restrictions on child </a:t>
            </a:r>
            <a:r>
              <a:rPr lang="en-IN" dirty="0" err="1"/>
              <a:t>labor</a:t>
            </a:r>
            <a:r>
              <a:rPr lang="en-IN" dirty="0"/>
              <a:t> has led to the sprouting of smaller factories where conditions are worse and wages are lower</a:t>
            </a:r>
          </a:p>
          <a:p>
            <a:r>
              <a:rPr lang="en-IN" dirty="0"/>
              <a:t>Financial  contributions  by  children  to  household  income  are often small</a:t>
            </a:r>
          </a:p>
          <a:p>
            <a:endParaRPr lang="en-US" dirty="0"/>
          </a:p>
        </p:txBody>
      </p:sp>
    </p:spTree>
    <p:extLst>
      <p:ext uri="{BB962C8B-B14F-4D97-AF65-F5344CB8AC3E}">
        <p14:creationId xmlns:p14="http://schemas.microsoft.com/office/powerpoint/2010/main" val="1141451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D4DEA-E713-D2FB-961B-F297EB822BC4}"/>
              </a:ext>
            </a:extLst>
          </p:cNvPr>
          <p:cNvSpPr>
            <a:spLocks noGrp="1"/>
          </p:cNvSpPr>
          <p:nvPr>
            <p:ph type="title"/>
          </p:nvPr>
        </p:nvSpPr>
        <p:spPr>
          <a:xfrm>
            <a:off x="472190" y="5152211"/>
            <a:ext cx="7772400" cy="1463040"/>
          </a:xfrm>
        </p:spPr>
        <p:txBody>
          <a:bodyPr>
            <a:normAutofit fontScale="90000"/>
          </a:bodyPr>
          <a:lstStyle/>
          <a:p>
            <a:pPr algn="ctr"/>
            <a:r>
              <a:rPr lang="en-GB" dirty="0"/>
              <a:t>India’s Position on Child Labour</a:t>
            </a:r>
            <a:br>
              <a:rPr lang="en-GB" dirty="0"/>
            </a:br>
            <a:r>
              <a:rPr lang="en-GB" sz="3600" dirty="0"/>
              <a:t>(Quick in understanding, but slow in improvement)</a:t>
            </a:r>
            <a:r>
              <a:rPr lang="en-GB" dirty="0"/>
              <a:t> </a:t>
            </a:r>
            <a:br>
              <a:rPr lang="en-GB" dirty="0"/>
            </a:br>
            <a:endParaRPr lang="en-IN" dirty="0"/>
          </a:p>
        </p:txBody>
      </p:sp>
      <p:sp>
        <p:nvSpPr>
          <p:cNvPr id="3" name="Text Placeholder 2">
            <a:extLst>
              <a:ext uri="{FF2B5EF4-FFF2-40B4-BE49-F238E27FC236}">
                <a16:creationId xmlns:a16="http://schemas.microsoft.com/office/drawing/2014/main" id="{BE394FEC-15DA-9BBD-A0B7-BFEB12D54533}"/>
              </a:ext>
            </a:extLst>
          </p:cNvPr>
          <p:cNvSpPr>
            <a:spLocks noGrp="1"/>
          </p:cNvSpPr>
          <p:nvPr>
            <p:ph type="body" idx="1"/>
          </p:nvPr>
        </p:nvSpPr>
        <p:spPr/>
        <p:txBody>
          <a:bodyPr/>
          <a:lstStyle/>
          <a:p>
            <a:r>
              <a:rPr lang="en-US" dirty="0">
                <a:solidFill>
                  <a:schemeClr val="bg2">
                    <a:lumMod val="50000"/>
                  </a:schemeClr>
                </a:solidFill>
              </a:rPr>
              <a:t>Muskan Agarwal </a:t>
            </a:r>
          </a:p>
          <a:p>
            <a:endParaRPr lang="en-IN" dirty="0"/>
          </a:p>
        </p:txBody>
      </p:sp>
      <p:sp>
        <p:nvSpPr>
          <p:cNvPr id="4" name="Slide Number Placeholder 3">
            <a:extLst>
              <a:ext uri="{FF2B5EF4-FFF2-40B4-BE49-F238E27FC236}">
                <a16:creationId xmlns:a16="http://schemas.microsoft.com/office/drawing/2014/main" id="{338F40D2-4958-5DF7-90DF-46C0709B121E}"/>
              </a:ext>
            </a:extLst>
          </p:cNvPr>
          <p:cNvSpPr>
            <a:spLocks noGrp="1"/>
          </p:cNvSpPr>
          <p:nvPr>
            <p:ph type="sldNum" sz="quarter" idx="12"/>
          </p:nvPr>
        </p:nvSpPr>
        <p:spPr/>
        <p:txBody>
          <a:bodyPr/>
          <a:lstStyle/>
          <a:p>
            <a:fld id="{AEC99F6A-E93D-4C9C-AA2B-FA96051C5F3E}" type="slidenum">
              <a:rPr lang="en-US" smtClean="0"/>
              <a:t>27</a:t>
            </a:fld>
            <a:endParaRPr lang="en-US"/>
          </a:p>
        </p:txBody>
      </p:sp>
      <p:pic>
        <p:nvPicPr>
          <p:cNvPr id="6" name="Picture 5" descr="The Child and the State in India: Child Labor and Education Policy in  Comparative Perspective eBook : Weiner, Myron: Amazon.in: Kindle Store">
            <a:extLst>
              <a:ext uri="{FF2B5EF4-FFF2-40B4-BE49-F238E27FC236}">
                <a16:creationId xmlns:a16="http://schemas.microsoft.com/office/drawing/2014/main" id="{E9523298-C60F-D8AD-D1A4-0FAB85C2EF6F}"/>
              </a:ext>
            </a:extLst>
          </p:cNvPr>
          <p:cNvPicPr>
            <a:picLocks noChangeAspect="1"/>
          </p:cNvPicPr>
          <p:nvPr/>
        </p:nvPicPr>
        <p:blipFill>
          <a:blip r:embed="rId2"/>
          <a:stretch>
            <a:fillRect/>
          </a:stretch>
        </p:blipFill>
        <p:spPr>
          <a:xfrm>
            <a:off x="8963210" y="434823"/>
            <a:ext cx="2495180" cy="3763469"/>
          </a:xfrm>
          <a:prstGeom prst="rect">
            <a:avLst/>
          </a:prstGeom>
        </p:spPr>
      </p:pic>
    </p:spTree>
    <p:extLst>
      <p:ext uri="{BB962C8B-B14F-4D97-AF65-F5344CB8AC3E}">
        <p14:creationId xmlns:p14="http://schemas.microsoft.com/office/powerpoint/2010/main" val="982884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22D58-CA73-4020-BCD9-05615CFFFEE8}"/>
              </a:ext>
            </a:extLst>
          </p:cNvPr>
          <p:cNvSpPr>
            <a:spLocks noGrp="1"/>
          </p:cNvSpPr>
          <p:nvPr>
            <p:ph type="title"/>
          </p:nvPr>
        </p:nvSpPr>
        <p:spPr>
          <a:xfrm>
            <a:off x="1273628" y="880722"/>
            <a:ext cx="3534747" cy="1242819"/>
          </a:xfrm>
        </p:spPr>
        <p:txBody>
          <a:bodyPr/>
          <a:lstStyle/>
          <a:p>
            <a:pPr algn="ctr"/>
            <a:r>
              <a:rPr lang="en-US" dirty="0"/>
              <a:t>Ideal </a:t>
            </a:r>
          </a:p>
        </p:txBody>
      </p:sp>
      <p:sp>
        <p:nvSpPr>
          <p:cNvPr id="3" name="Content Placeholder 2">
            <a:extLst>
              <a:ext uri="{FF2B5EF4-FFF2-40B4-BE49-F238E27FC236}">
                <a16:creationId xmlns:a16="http://schemas.microsoft.com/office/drawing/2014/main" id="{AE0021F3-BB69-4BA1-99ED-A506462A681A}"/>
              </a:ext>
            </a:extLst>
          </p:cNvPr>
          <p:cNvSpPr>
            <a:spLocks noGrp="1"/>
          </p:cNvSpPr>
          <p:nvPr>
            <p:ph idx="1"/>
          </p:nvPr>
        </p:nvSpPr>
        <p:spPr>
          <a:xfrm>
            <a:off x="489857" y="1231544"/>
            <a:ext cx="5606143" cy="5094612"/>
          </a:xfrm>
        </p:spPr>
        <p:txBody>
          <a:bodyPr>
            <a:normAutofit/>
          </a:bodyPr>
          <a:lstStyle/>
          <a:p>
            <a:pPr marL="0" indent="0" algn="ctr">
              <a:buNone/>
            </a:pPr>
            <a:endParaRPr lang="en-US" sz="2400" dirty="0"/>
          </a:p>
          <a:p>
            <a:pPr marL="0" indent="0" algn="ctr">
              <a:buNone/>
            </a:pPr>
            <a:endParaRPr lang="en-US" sz="2400" dirty="0"/>
          </a:p>
          <a:p>
            <a:pPr marL="0" indent="0" algn="ctr">
              <a:buNone/>
            </a:pPr>
            <a:r>
              <a:rPr lang="en-US" sz="2400" dirty="0"/>
              <a:t>Work in all its forms, paid or unpaid in any processes or occupations which affects the proper and full development of a child </a:t>
            </a:r>
            <a:r>
              <a:rPr lang="en-US" sz="2400" b="1" dirty="0">
                <a:highlight>
                  <a:srgbClr val="FFFF00"/>
                </a:highlight>
              </a:rPr>
              <a:t>should be prohibited for all children up to the age of 14</a:t>
            </a:r>
            <a:r>
              <a:rPr lang="en-US" sz="2400" dirty="0">
                <a:highlight>
                  <a:srgbClr val="FFFF00"/>
                </a:highlight>
              </a:rPr>
              <a:t> </a:t>
            </a:r>
            <a:r>
              <a:rPr lang="en-US" sz="2400" dirty="0"/>
              <a:t>on an urgent basis and they be provided with quality education and enabling environment for their all-round development. </a:t>
            </a:r>
          </a:p>
        </p:txBody>
      </p:sp>
      <p:sp>
        <p:nvSpPr>
          <p:cNvPr id="4" name="Title 1">
            <a:extLst>
              <a:ext uri="{FF2B5EF4-FFF2-40B4-BE49-F238E27FC236}">
                <a16:creationId xmlns:a16="http://schemas.microsoft.com/office/drawing/2014/main" id="{316258C7-B9D5-434C-B32E-3E4F981819AA}"/>
              </a:ext>
            </a:extLst>
          </p:cNvPr>
          <p:cNvSpPr txBox="1">
            <a:spLocks/>
          </p:cNvSpPr>
          <p:nvPr/>
        </p:nvSpPr>
        <p:spPr>
          <a:xfrm>
            <a:off x="6795799" y="849603"/>
            <a:ext cx="3226837" cy="13050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i="1" dirty="0"/>
              <a:t>Reality</a:t>
            </a:r>
            <a:r>
              <a:rPr lang="en-US" dirty="0"/>
              <a:t> </a:t>
            </a:r>
          </a:p>
        </p:txBody>
      </p:sp>
      <p:sp>
        <p:nvSpPr>
          <p:cNvPr id="5" name="Content Placeholder 2">
            <a:extLst>
              <a:ext uri="{FF2B5EF4-FFF2-40B4-BE49-F238E27FC236}">
                <a16:creationId xmlns:a16="http://schemas.microsoft.com/office/drawing/2014/main" id="{D9C424BA-B0D9-4FE9-A7CC-15BD28044740}"/>
              </a:ext>
            </a:extLst>
          </p:cNvPr>
          <p:cNvSpPr txBox="1">
            <a:spLocks/>
          </p:cNvSpPr>
          <p:nvPr/>
        </p:nvSpPr>
        <p:spPr>
          <a:xfrm>
            <a:off x="6879771" y="2122828"/>
            <a:ext cx="4163008" cy="4033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According to Census 2011, number of child laborer's in India between 5-14 years is 4.35 million (main workers) and 3.87 million (marginal workers), which comes to a total of </a:t>
            </a:r>
            <a:r>
              <a:rPr lang="en-US" sz="2400" b="1" dirty="0">
                <a:highlight>
                  <a:srgbClr val="FFFF00"/>
                </a:highlight>
              </a:rPr>
              <a:t>8.22 million.</a:t>
            </a:r>
          </a:p>
        </p:txBody>
      </p:sp>
    </p:spTree>
    <p:extLst>
      <p:ext uri="{BB962C8B-B14F-4D97-AF65-F5344CB8AC3E}">
        <p14:creationId xmlns:p14="http://schemas.microsoft.com/office/powerpoint/2010/main" val="4223750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49E4CC-2A11-4D6C-8B2C-CC2A529A989A}"/>
              </a:ext>
            </a:extLst>
          </p:cNvPr>
          <p:cNvSpPr txBox="1"/>
          <p:nvPr/>
        </p:nvSpPr>
        <p:spPr>
          <a:xfrm>
            <a:off x="3702291" y="3134522"/>
            <a:ext cx="10922000" cy="584775"/>
          </a:xfrm>
          <a:prstGeom prst="rect">
            <a:avLst/>
          </a:prstGeom>
          <a:noFill/>
        </p:spPr>
        <p:txBody>
          <a:bodyPr wrap="square" rtlCol="0">
            <a:spAutoFit/>
          </a:bodyPr>
          <a:lstStyle/>
          <a:p>
            <a:pPr algn="ctr"/>
            <a:r>
              <a:rPr lang="en-US" sz="3200" b="1" dirty="0"/>
              <a:t>Legal Frameworks &amp; Provision </a:t>
            </a:r>
          </a:p>
        </p:txBody>
      </p:sp>
      <p:pic>
        <p:nvPicPr>
          <p:cNvPr id="3" name="Picture 2">
            <a:extLst>
              <a:ext uri="{FF2B5EF4-FFF2-40B4-BE49-F238E27FC236}">
                <a16:creationId xmlns:a16="http://schemas.microsoft.com/office/drawing/2014/main" id="{BCB1B3EA-944C-490E-9FAD-A3669C2E7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7874"/>
            <a:ext cx="5752618" cy="6969569"/>
          </a:xfrm>
          <a:prstGeom prst="rect">
            <a:avLst/>
          </a:prstGeom>
        </p:spPr>
      </p:pic>
    </p:spTree>
    <p:extLst>
      <p:ext uri="{BB962C8B-B14F-4D97-AF65-F5344CB8AC3E}">
        <p14:creationId xmlns:p14="http://schemas.microsoft.com/office/powerpoint/2010/main" val="3756162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BB58D-0645-49C6-AFA7-7309726E4F1A}"/>
              </a:ext>
            </a:extLst>
          </p:cNvPr>
          <p:cNvSpPr>
            <a:spLocks noGrp="1"/>
          </p:cNvSpPr>
          <p:nvPr>
            <p:ph type="title"/>
          </p:nvPr>
        </p:nvSpPr>
        <p:spPr>
          <a:xfrm>
            <a:off x="931506" y="0"/>
            <a:ext cx="10515600" cy="1325563"/>
          </a:xfrm>
        </p:spPr>
        <p:txBody>
          <a:bodyPr/>
          <a:lstStyle/>
          <a:p>
            <a:pPr algn="ctr"/>
            <a:r>
              <a:rPr lang="en-US" dirty="0"/>
              <a:t>International Legal Arrangements </a:t>
            </a:r>
          </a:p>
        </p:txBody>
      </p:sp>
      <p:cxnSp>
        <p:nvCxnSpPr>
          <p:cNvPr id="8" name="Straight Connector 7">
            <a:extLst>
              <a:ext uri="{FF2B5EF4-FFF2-40B4-BE49-F238E27FC236}">
                <a16:creationId xmlns:a16="http://schemas.microsoft.com/office/drawing/2014/main" id="{D2A1D35E-64A6-4859-8B9D-0AB4603DC3CA}"/>
              </a:ext>
            </a:extLst>
          </p:cNvPr>
          <p:cNvCxnSpPr>
            <a:cxnSpLocks/>
          </p:cNvCxnSpPr>
          <p:nvPr/>
        </p:nvCxnSpPr>
        <p:spPr>
          <a:xfrm>
            <a:off x="6096000" y="933061"/>
            <a:ext cx="0" cy="653143"/>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14D1ACEC-C30B-4E58-90CB-FCB4B327811C}"/>
              </a:ext>
            </a:extLst>
          </p:cNvPr>
          <p:cNvCxnSpPr/>
          <p:nvPr/>
        </p:nvCxnSpPr>
        <p:spPr>
          <a:xfrm>
            <a:off x="606490" y="1586204"/>
            <a:ext cx="11019453"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7AF75B45-6886-4134-97DB-D2E531A69884}"/>
              </a:ext>
            </a:extLst>
          </p:cNvPr>
          <p:cNvCxnSpPr>
            <a:cxnSpLocks/>
          </p:cNvCxnSpPr>
          <p:nvPr/>
        </p:nvCxnSpPr>
        <p:spPr>
          <a:xfrm>
            <a:off x="606490" y="1586204"/>
            <a:ext cx="0" cy="951723"/>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1986F66E-69E5-44E2-833C-75313A7483C8}"/>
              </a:ext>
            </a:extLst>
          </p:cNvPr>
          <p:cNvCxnSpPr>
            <a:cxnSpLocks/>
          </p:cNvCxnSpPr>
          <p:nvPr/>
        </p:nvCxnSpPr>
        <p:spPr>
          <a:xfrm>
            <a:off x="6096000" y="1586204"/>
            <a:ext cx="0" cy="951723"/>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93BFF48C-BBFA-478A-B455-B6ECF661D8DF}"/>
              </a:ext>
            </a:extLst>
          </p:cNvPr>
          <p:cNvCxnSpPr>
            <a:cxnSpLocks/>
          </p:cNvCxnSpPr>
          <p:nvPr/>
        </p:nvCxnSpPr>
        <p:spPr>
          <a:xfrm>
            <a:off x="11625943" y="1586204"/>
            <a:ext cx="0" cy="951723"/>
          </a:xfrm>
          <a:prstGeom prst="line">
            <a:avLst/>
          </a:prstGeom>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428C83D4-3ADD-4E53-BD4D-F6D4E4875D98}"/>
              </a:ext>
            </a:extLst>
          </p:cNvPr>
          <p:cNvSpPr/>
          <p:nvPr/>
        </p:nvSpPr>
        <p:spPr>
          <a:xfrm>
            <a:off x="-4671" y="2155397"/>
            <a:ext cx="2640560" cy="64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Article 32 of UNCRC</a:t>
            </a:r>
          </a:p>
        </p:txBody>
      </p:sp>
      <p:sp>
        <p:nvSpPr>
          <p:cNvPr id="20" name="Rectangle 19">
            <a:extLst>
              <a:ext uri="{FF2B5EF4-FFF2-40B4-BE49-F238E27FC236}">
                <a16:creationId xmlns:a16="http://schemas.microsoft.com/office/drawing/2014/main" id="{2FAE192F-77DA-4FD5-97B4-8893762C0E18}"/>
              </a:ext>
            </a:extLst>
          </p:cNvPr>
          <p:cNvSpPr/>
          <p:nvPr/>
        </p:nvSpPr>
        <p:spPr>
          <a:xfrm>
            <a:off x="4775719" y="2125851"/>
            <a:ext cx="2640560" cy="64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ILO Convention</a:t>
            </a:r>
          </a:p>
        </p:txBody>
      </p:sp>
      <p:sp>
        <p:nvSpPr>
          <p:cNvPr id="21" name="Rectangle 20">
            <a:extLst>
              <a:ext uri="{FF2B5EF4-FFF2-40B4-BE49-F238E27FC236}">
                <a16:creationId xmlns:a16="http://schemas.microsoft.com/office/drawing/2014/main" id="{DECA3B3E-DF5B-4EB1-B3FC-8F8F5CF107D0}"/>
              </a:ext>
            </a:extLst>
          </p:cNvPr>
          <p:cNvSpPr/>
          <p:nvPr/>
        </p:nvSpPr>
        <p:spPr>
          <a:xfrm>
            <a:off x="9551440" y="2159047"/>
            <a:ext cx="2640560" cy="64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New SDG </a:t>
            </a:r>
          </a:p>
        </p:txBody>
      </p:sp>
      <p:sp>
        <p:nvSpPr>
          <p:cNvPr id="23" name="Rectangle 22">
            <a:extLst>
              <a:ext uri="{FF2B5EF4-FFF2-40B4-BE49-F238E27FC236}">
                <a16:creationId xmlns:a16="http://schemas.microsoft.com/office/drawing/2014/main" id="{28EC52F0-2813-4BC6-A0BD-4556D3D1F4D2}"/>
              </a:ext>
            </a:extLst>
          </p:cNvPr>
          <p:cNvSpPr/>
          <p:nvPr/>
        </p:nvSpPr>
        <p:spPr>
          <a:xfrm>
            <a:off x="0" y="3028560"/>
            <a:ext cx="3530184" cy="3139321"/>
          </a:xfrm>
          <a:prstGeom prst="rect">
            <a:avLst/>
          </a:prstGeom>
          <a:ln w="19050">
            <a:solidFill>
              <a:schemeClr val="tx1"/>
            </a:solidFill>
          </a:ln>
        </p:spPr>
        <p:txBody>
          <a:bodyPr wrap="square">
            <a:spAutoFit/>
          </a:bodyPr>
          <a:lstStyle/>
          <a:p>
            <a:pPr algn="ctr"/>
            <a:r>
              <a:rPr lang="en-US" dirty="0"/>
              <a:t>Article 32 of the UNCRC “recognizes the right of the child to be protected </a:t>
            </a:r>
            <a:r>
              <a:rPr lang="en-US" dirty="0">
                <a:highlight>
                  <a:srgbClr val="FFFF00"/>
                </a:highlight>
              </a:rPr>
              <a:t>from </a:t>
            </a:r>
            <a:r>
              <a:rPr lang="en-US" b="1" dirty="0">
                <a:highlight>
                  <a:srgbClr val="FFFF00"/>
                </a:highlight>
              </a:rPr>
              <a:t>economic exploitation</a:t>
            </a:r>
            <a:r>
              <a:rPr lang="en-US" dirty="0"/>
              <a:t> and from performing any work that is likely to be harmful or to interfere with the child’s </a:t>
            </a:r>
            <a:r>
              <a:rPr lang="en-US" b="1" dirty="0">
                <a:highlight>
                  <a:srgbClr val="FFFF00"/>
                </a:highlight>
              </a:rPr>
              <a:t>education</a:t>
            </a:r>
            <a:r>
              <a:rPr lang="en-US" dirty="0"/>
              <a:t>, or to be harmful to the child’s health or physical, mental, spiritual, moral or social development.”</a:t>
            </a:r>
          </a:p>
        </p:txBody>
      </p:sp>
      <p:cxnSp>
        <p:nvCxnSpPr>
          <p:cNvPr id="24" name="Straight Connector 23">
            <a:extLst>
              <a:ext uri="{FF2B5EF4-FFF2-40B4-BE49-F238E27FC236}">
                <a16:creationId xmlns:a16="http://schemas.microsoft.com/office/drawing/2014/main" id="{B81C92E3-0C0E-4A53-8DF2-E8A415BD0A8C}"/>
              </a:ext>
            </a:extLst>
          </p:cNvPr>
          <p:cNvCxnSpPr>
            <a:cxnSpLocks/>
          </p:cNvCxnSpPr>
          <p:nvPr/>
        </p:nvCxnSpPr>
        <p:spPr>
          <a:xfrm>
            <a:off x="606490" y="2769611"/>
            <a:ext cx="0" cy="247312"/>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F10842F9-E3F7-4ACE-9E68-5EE8B818114D}"/>
              </a:ext>
            </a:extLst>
          </p:cNvPr>
          <p:cNvCxnSpPr>
            <a:cxnSpLocks/>
          </p:cNvCxnSpPr>
          <p:nvPr/>
        </p:nvCxnSpPr>
        <p:spPr>
          <a:xfrm>
            <a:off x="6095999" y="2781248"/>
            <a:ext cx="0" cy="247312"/>
          </a:xfrm>
          <a:prstGeom prst="line">
            <a:avLst/>
          </a:prstGeom>
        </p:spPr>
        <p:style>
          <a:lnRef idx="3">
            <a:schemeClr val="dk1"/>
          </a:lnRef>
          <a:fillRef idx="0">
            <a:schemeClr val="dk1"/>
          </a:fillRef>
          <a:effectRef idx="2">
            <a:schemeClr val="dk1"/>
          </a:effectRef>
          <a:fontRef idx="minor">
            <a:schemeClr val="tx1"/>
          </a:fontRef>
        </p:style>
      </p:cxnSp>
      <p:sp>
        <p:nvSpPr>
          <p:cNvPr id="27" name="Rectangle 26">
            <a:extLst>
              <a:ext uri="{FF2B5EF4-FFF2-40B4-BE49-F238E27FC236}">
                <a16:creationId xmlns:a16="http://schemas.microsoft.com/office/drawing/2014/main" id="{CB9536AC-B55C-43B9-BC90-DF28EA324DD9}"/>
              </a:ext>
            </a:extLst>
          </p:cNvPr>
          <p:cNvSpPr/>
          <p:nvPr/>
        </p:nvSpPr>
        <p:spPr>
          <a:xfrm>
            <a:off x="4018367" y="3034002"/>
            <a:ext cx="3712800" cy="2308324"/>
          </a:xfrm>
          <a:prstGeom prst="rect">
            <a:avLst/>
          </a:prstGeom>
          <a:ln w="19050">
            <a:solidFill>
              <a:schemeClr val="tx1"/>
            </a:solidFill>
          </a:ln>
        </p:spPr>
        <p:txBody>
          <a:bodyPr wrap="square">
            <a:spAutoFit/>
          </a:bodyPr>
          <a:lstStyle/>
          <a:p>
            <a:pPr algn="ctr"/>
            <a:r>
              <a:rPr lang="en-US" dirty="0"/>
              <a:t>The ILO Convention, 1973 (No. 138) states that, “Any work which is likely to jeopardize children’s physical, mental or moral health, safety or morals (is </a:t>
            </a:r>
            <a:r>
              <a:rPr lang="en-US" b="1" dirty="0">
                <a:highlight>
                  <a:srgbClr val="FFFF00"/>
                </a:highlight>
              </a:rPr>
              <a:t>hazardous</a:t>
            </a:r>
            <a:r>
              <a:rPr lang="en-US" dirty="0"/>
              <a:t> and) should not be done by anyone under the </a:t>
            </a:r>
            <a:r>
              <a:rPr lang="en-US" b="1" dirty="0">
                <a:highlight>
                  <a:srgbClr val="FFFF00"/>
                </a:highlight>
              </a:rPr>
              <a:t>age of 18</a:t>
            </a:r>
            <a:r>
              <a:rPr lang="en-US" dirty="0"/>
              <a:t>.”</a:t>
            </a:r>
          </a:p>
          <a:p>
            <a:pPr algn="ctr"/>
            <a:endParaRPr lang="en-US" dirty="0"/>
          </a:p>
        </p:txBody>
      </p:sp>
      <p:cxnSp>
        <p:nvCxnSpPr>
          <p:cNvPr id="28" name="Straight Connector 27">
            <a:extLst>
              <a:ext uri="{FF2B5EF4-FFF2-40B4-BE49-F238E27FC236}">
                <a16:creationId xmlns:a16="http://schemas.microsoft.com/office/drawing/2014/main" id="{04F92E74-8577-411C-A5D5-50D8868D7987}"/>
              </a:ext>
            </a:extLst>
          </p:cNvPr>
          <p:cNvCxnSpPr>
            <a:cxnSpLocks/>
          </p:cNvCxnSpPr>
          <p:nvPr/>
        </p:nvCxnSpPr>
        <p:spPr>
          <a:xfrm>
            <a:off x="11557519" y="2799157"/>
            <a:ext cx="0" cy="247312"/>
          </a:xfrm>
          <a:prstGeom prst="line">
            <a:avLst/>
          </a:prstGeom>
        </p:spPr>
        <p:style>
          <a:lnRef idx="3">
            <a:schemeClr val="dk1"/>
          </a:lnRef>
          <a:fillRef idx="0">
            <a:schemeClr val="dk1"/>
          </a:fillRef>
          <a:effectRef idx="2">
            <a:schemeClr val="dk1"/>
          </a:effectRef>
          <a:fontRef idx="minor">
            <a:schemeClr val="tx1"/>
          </a:fontRef>
        </p:style>
      </p:cxnSp>
      <p:sp>
        <p:nvSpPr>
          <p:cNvPr id="29" name="Rectangle 28">
            <a:extLst>
              <a:ext uri="{FF2B5EF4-FFF2-40B4-BE49-F238E27FC236}">
                <a16:creationId xmlns:a16="http://schemas.microsoft.com/office/drawing/2014/main" id="{01C90A9B-6C8F-41D7-BA5D-05BAE493DDF9}"/>
              </a:ext>
            </a:extLst>
          </p:cNvPr>
          <p:cNvSpPr/>
          <p:nvPr/>
        </p:nvSpPr>
        <p:spPr>
          <a:xfrm>
            <a:off x="8019740" y="3032959"/>
            <a:ext cx="4172262" cy="2862322"/>
          </a:xfrm>
          <a:prstGeom prst="rect">
            <a:avLst/>
          </a:prstGeom>
          <a:ln w="19050">
            <a:solidFill>
              <a:schemeClr val="tx1"/>
            </a:solidFill>
          </a:ln>
        </p:spPr>
        <p:txBody>
          <a:bodyPr wrap="square">
            <a:spAutoFit/>
          </a:bodyPr>
          <a:lstStyle/>
          <a:p>
            <a:pPr algn="ctr"/>
            <a:r>
              <a:rPr lang="en-US" dirty="0"/>
              <a:t>The </a:t>
            </a:r>
            <a:r>
              <a:rPr lang="en-US" b="1" dirty="0"/>
              <a:t>New Sustainable Development Goals</a:t>
            </a:r>
            <a:r>
              <a:rPr lang="en-US" dirty="0"/>
              <a:t> urge governments to commit that “By 2030, ensure that all girls and boys complete free, equitable and quality </a:t>
            </a:r>
            <a:r>
              <a:rPr lang="en-US" b="1" dirty="0">
                <a:highlight>
                  <a:srgbClr val="FFFF00"/>
                </a:highlight>
              </a:rPr>
              <a:t>primary and secondary education </a:t>
            </a:r>
            <a:r>
              <a:rPr lang="en-US" dirty="0"/>
              <a:t>leading to relevant and effective learning outcomes”. It also states that governments should “Take immediate and effective measures to </a:t>
            </a:r>
            <a:r>
              <a:rPr lang="en-US" b="1" dirty="0">
                <a:highlight>
                  <a:srgbClr val="FFFF00"/>
                </a:highlight>
              </a:rPr>
              <a:t>eradicate forced labour. </a:t>
            </a:r>
          </a:p>
        </p:txBody>
      </p:sp>
    </p:spTree>
    <p:extLst>
      <p:ext uri="{BB962C8B-B14F-4D97-AF65-F5344CB8AC3E}">
        <p14:creationId xmlns:p14="http://schemas.microsoft.com/office/powerpoint/2010/main" val="810881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732A-6DB0-4A4D-ACC8-23FAFF43BA9D}"/>
              </a:ext>
            </a:extLst>
          </p:cNvPr>
          <p:cNvSpPr>
            <a:spLocks noGrp="1"/>
          </p:cNvSpPr>
          <p:nvPr>
            <p:ph type="title"/>
          </p:nvPr>
        </p:nvSpPr>
        <p:spPr>
          <a:xfrm>
            <a:off x="633046" y="151545"/>
            <a:ext cx="10515600" cy="1325563"/>
          </a:xfrm>
        </p:spPr>
        <p:txBody>
          <a:bodyPr/>
          <a:lstStyle/>
          <a:p>
            <a:pPr algn="ctr"/>
            <a:r>
              <a:rPr lang="en-US" dirty="0"/>
              <a:t>Constitutional Framework </a:t>
            </a:r>
          </a:p>
        </p:txBody>
      </p:sp>
      <p:sp>
        <p:nvSpPr>
          <p:cNvPr id="3" name="Content Placeholder 2">
            <a:extLst>
              <a:ext uri="{FF2B5EF4-FFF2-40B4-BE49-F238E27FC236}">
                <a16:creationId xmlns:a16="http://schemas.microsoft.com/office/drawing/2014/main" id="{7D7B7582-4254-4431-9202-56F7F5B959AB}"/>
              </a:ext>
            </a:extLst>
          </p:cNvPr>
          <p:cNvSpPr>
            <a:spLocks noGrp="1"/>
          </p:cNvSpPr>
          <p:nvPr>
            <p:ph idx="1"/>
          </p:nvPr>
        </p:nvSpPr>
        <p:spPr>
          <a:xfrm>
            <a:off x="1266669" y="1477108"/>
            <a:ext cx="10292285" cy="4759569"/>
          </a:xfrm>
        </p:spPr>
        <p:txBody>
          <a:bodyPr>
            <a:normAutofit/>
          </a:bodyPr>
          <a:lstStyle/>
          <a:p>
            <a:r>
              <a:rPr lang="en-US" b="1" dirty="0">
                <a:highlight>
                  <a:srgbClr val="FFFF00"/>
                </a:highlight>
              </a:rPr>
              <a:t>Article 24 </a:t>
            </a:r>
            <a:r>
              <a:rPr lang="en-US" dirty="0"/>
              <a:t>of the Constitution of India protects children below the age of 14 against being </a:t>
            </a:r>
            <a:r>
              <a:rPr lang="en-US" dirty="0">
                <a:highlight>
                  <a:srgbClr val="FFFF00"/>
                </a:highlight>
              </a:rPr>
              <a:t>employed</a:t>
            </a:r>
            <a:r>
              <a:rPr lang="en-US" dirty="0"/>
              <a:t> in any hazardous activities.</a:t>
            </a:r>
          </a:p>
          <a:p>
            <a:r>
              <a:rPr lang="en-US" b="1" dirty="0">
                <a:highlight>
                  <a:srgbClr val="FFFF00"/>
                </a:highlight>
              </a:rPr>
              <a:t>Article 23 </a:t>
            </a:r>
            <a:r>
              <a:rPr lang="en-US" dirty="0"/>
              <a:t>prohibits trafficking and </a:t>
            </a:r>
            <a:r>
              <a:rPr lang="en-US" dirty="0">
                <a:highlight>
                  <a:srgbClr val="FFFF00"/>
                </a:highlight>
              </a:rPr>
              <a:t>forced labour</a:t>
            </a:r>
            <a:r>
              <a:rPr lang="en-US" dirty="0"/>
              <a:t>.  </a:t>
            </a:r>
          </a:p>
          <a:p>
            <a:r>
              <a:rPr lang="en-US" b="1" dirty="0">
                <a:highlight>
                  <a:srgbClr val="FFFF00"/>
                </a:highlight>
              </a:rPr>
              <a:t>Article 21A </a:t>
            </a:r>
            <a:r>
              <a:rPr lang="en-US" dirty="0"/>
              <a:t>specifically states the right to </a:t>
            </a:r>
            <a:r>
              <a:rPr lang="en-US" dirty="0">
                <a:highlight>
                  <a:srgbClr val="FFFF00"/>
                </a:highlight>
              </a:rPr>
              <a:t>education</a:t>
            </a:r>
            <a:r>
              <a:rPr lang="en-US" dirty="0"/>
              <a:t> for all children between the age of 6 and 14. </a:t>
            </a:r>
          </a:p>
          <a:p>
            <a:r>
              <a:rPr lang="en-US" b="1" dirty="0">
                <a:highlight>
                  <a:srgbClr val="FFFF00"/>
                </a:highlight>
              </a:rPr>
              <a:t>Article 39</a:t>
            </a:r>
            <a:r>
              <a:rPr lang="en-US" dirty="0">
                <a:highlight>
                  <a:srgbClr val="FFFF00"/>
                </a:highlight>
              </a:rPr>
              <a:t> </a:t>
            </a:r>
            <a:r>
              <a:rPr lang="en-US" dirty="0"/>
              <a:t>under the directive principles requires the States to ensure that children are protected against </a:t>
            </a:r>
            <a:r>
              <a:rPr lang="en-US" dirty="0">
                <a:highlight>
                  <a:srgbClr val="FFFF00"/>
                </a:highlight>
              </a:rPr>
              <a:t>abuse</a:t>
            </a:r>
            <a:r>
              <a:rPr lang="en-US" dirty="0"/>
              <a:t> and not forced to enter a vocation not suited to their age or strength.</a:t>
            </a:r>
          </a:p>
          <a:p>
            <a:r>
              <a:rPr lang="en-US" b="1" dirty="0">
                <a:highlight>
                  <a:srgbClr val="FFFF00"/>
                </a:highlight>
              </a:rPr>
              <a:t>Article 15 </a:t>
            </a:r>
            <a:r>
              <a:rPr lang="en-US" dirty="0"/>
              <a:t>of the constitution enables the government to make such laws and policies that protect the rights of children and ensure their </a:t>
            </a:r>
            <a:r>
              <a:rPr lang="en-US" dirty="0">
                <a:highlight>
                  <a:srgbClr val="FFFF00"/>
                </a:highlight>
              </a:rPr>
              <a:t>well-being.</a:t>
            </a:r>
          </a:p>
          <a:p>
            <a:endParaRPr lang="en-US" dirty="0"/>
          </a:p>
        </p:txBody>
      </p:sp>
    </p:spTree>
    <p:extLst>
      <p:ext uri="{BB962C8B-B14F-4D97-AF65-F5344CB8AC3E}">
        <p14:creationId xmlns:p14="http://schemas.microsoft.com/office/powerpoint/2010/main" val="1744442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732A-6DB0-4A4D-ACC8-23FAFF43BA9D}"/>
              </a:ext>
            </a:extLst>
          </p:cNvPr>
          <p:cNvSpPr>
            <a:spLocks noGrp="1"/>
          </p:cNvSpPr>
          <p:nvPr>
            <p:ph type="title"/>
          </p:nvPr>
        </p:nvSpPr>
        <p:spPr>
          <a:xfrm>
            <a:off x="774440" y="151545"/>
            <a:ext cx="10374205" cy="828169"/>
          </a:xfrm>
        </p:spPr>
        <p:txBody>
          <a:bodyPr>
            <a:normAutofit/>
          </a:bodyPr>
          <a:lstStyle/>
          <a:p>
            <a:pPr algn="ctr"/>
            <a:r>
              <a:rPr lang="en-US" dirty="0"/>
              <a:t>National Provision </a:t>
            </a:r>
          </a:p>
        </p:txBody>
      </p:sp>
      <p:sp>
        <p:nvSpPr>
          <p:cNvPr id="3" name="Content Placeholder 2">
            <a:extLst>
              <a:ext uri="{FF2B5EF4-FFF2-40B4-BE49-F238E27FC236}">
                <a16:creationId xmlns:a16="http://schemas.microsoft.com/office/drawing/2014/main" id="{7D7B7582-4254-4431-9202-56F7F5B959AB}"/>
              </a:ext>
            </a:extLst>
          </p:cNvPr>
          <p:cNvSpPr>
            <a:spLocks noGrp="1"/>
          </p:cNvSpPr>
          <p:nvPr>
            <p:ph idx="1"/>
          </p:nvPr>
        </p:nvSpPr>
        <p:spPr>
          <a:xfrm>
            <a:off x="1266669" y="1014548"/>
            <a:ext cx="10307118" cy="5294286"/>
          </a:xfrm>
        </p:spPr>
        <p:txBody>
          <a:bodyPr>
            <a:normAutofit/>
          </a:bodyPr>
          <a:lstStyle/>
          <a:p>
            <a:pPr marL="0" indent="0">
              <a:buNone/>
            </a:pPr>
            <a:r>
              <a:rPr lang="en-US" b="1" i="1" dirty="0"/>
              <a:t>Main Act: </a:t>
            </a:r>
            <a:r>
              <a:rPr lang="en-US" dirty="0"/>
              <a:t>Child Labour (Prevention and Regulation) Act, 1986. </a:t>
            </a:r>
          </a:p>
          <a:p>
            <a:pPr marL="0" indent="0">
              <a:buNone/>
            </a:pPr>
            <a:r>
              <a:rPr lang="en-US" b="1" i="1" dirty="0"/>
              <a:t>Details: </a:t>
            </a:r>
            <a:r>
              <a:rPr lang="en-US" dirty="0"/>
              <a:t>Children are prohibited from employment in certain specified occupations and processes below the age of 14.</a:t>
            </a:r>
            <a:endParaRPr lang="en-US" i="1" dirty="0"/>
          </a:p>
          <a:p>
            <a:pPr marL="0" indent="0" algn="ctr">
              <a:buNone/>
            </a:pPr>
            <a:r>
              <a:rPr lang="en-US" b="1" i="1" dirty="0"/>
              <a:t>Other Acts</a:t>
            </a:r>
          </a:p>
          <a:p>
            <a:pPr marL="0" indent="0" algn="ctr">
              <a:buNone/>
            </a:pPr>
            <a:endParaRPr lang="en-US" dirty="0"/>
          </a:p>
        </p:txBody>
      </p:sp>
      <p:cxnSp>
        <p:nvCxnSpPr>
          <p:cNvPr id="5" name="Straight Connector 4">
            <a:extLst>
              <a:ext uri="{FF2B5EF4-FFF2-40B4-BE49-F238E27FC236}">
                <a16:creationId xmlns:a16="http://schemas.microsoft.com/office/drawing/2014/main" id="{63449D68-D8CC-495C-8F12-2E72795756C0}"/>
              </a:ext>
            </a:extLst>
          </p:cNvPr>
          <p:cNvCxnSpPr/>
          <p:nvPr/>
        </p:nvCxnSpPr>
        <p:spPr>
          <a:xfrm>
            <a:off x="6096000" y="2855167"/>
            <a:ext cx="0" cy="573833"/>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D93D4723-422D-4D04-B45B-7AFF6B7FFE9B}"/>
              </a:ext>
            </a:extLst>
          </p:cNvPr>
          <p:cNvCxnSpPr>
            <a:cxnSpLocks/>
          </p:cNvCxnSpPr>
          <p:nvPr/>
        </p:nvCxnSpPr>
        <p:spPr>
          <a:xfrm>
            <a:off x="1567543" y="3429000"/>
            <a:ext cx="9097347" cy="0"/>
          </a:xfrm>
          <a:prstGeom prst="line">
            <a:avLst/>
          </a:prstGeom>
        </p:spPr>
        <p:style>
          <a:lnRef idx="3">
            <a:schemeClr val="dk1"/>
          </a:lnRef>
          <a:fillRef idx="0">
            <a:schemeClr val="dk1"/>
          </a:fillRef>
          <a:effectRef idx="2">
            <a:schemeClr val="dk1"/>
          </a:effectRef>
          <a:fontRef idx="minor">
            <a:schemeClr val="tx1"/>
          </a:fontRef>
        </p:style>
      </p:cxnSp>
      <p:pic>
        <p:nvPicPr>
          <p:cNvPr id="9" name="Graphic 8" descr="Factory">
            <a:extLst>
              <a:ext uri="{FF2B5EF4-FFF2-40B4-BE49-F238E27FC236}">
                <a16:creationId xmlns:a16="http://schemas.microsoft.com/office/drawing/2014/main" id="{889A4A6E-56D8-46DF-BF99-F23A679626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02945" y="3429000"/>
            <a:ext cx="747882" cy="747882"/>
          </a:xfrm>
          <a:prstGeom prst="rect">
            <a:avLst/>
          </a:prstGeom>
        </p:spPr>
      </p:pic>
      <p:sp>
        <p:nvSpPr>
          <p:cNvPr id="10" name="TextBox 9">
            <a:extLst>
              <a:ext uri="{FF2B5EF4-FFF2-40B4-BE49-F238E27FC236}">
                <a16:creationId xmlns:a16="http://schemas.microsoft.com/office/drawing/2014/main" id="{2C864827-60EC-4AB8-AF19-EF23FB31CD3E}"/>
              </a:ext>
            </a:extLst>
          </p:cNvPr>
          <p:cNvSpPr txBox="1"/>
          <p:nvPr/>
        </p:nvSpPr>
        <p:spPr>
          <a:xfrm>
            <a:off x="997091" y="4127419"/>
            <a:ext cx="2185005" cy="646331"/>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b="1" dirty="0"/>
              <a:t>The Factories Act, 1948</a:t>
            </a:r>
          </a:p>
        </p:txBody>
      </p:sp>
      <p:pic>
        <p:nvPicPr>
          <p:cNvPr id="12" name="Graphic 11" descr="Saw blade">
            <a:extLst>
              <a:ext uri="{FF2B5EF4-FFF2-40B4-BE49-F238E27FC236}">
                <a16:creationId xmlns:a16="http://schemas.microsoft.com/office/drawing/2014/main" id="{4444854B-1F5C-4E4C-846D-F345F76F78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44475" y="3457973"/>
            <a:ext cx="747882" cy="747882"/>
          </a:xfrm>
          <a:prstGeom prst="rect">
            <a:avLst/>
          </a:prstGeom>
        </p:spPr>
      </p:pic>
      <p:sp>
        <p:nvSpPr>
          <p:cNvPr id="13" name="TextBox 12">
            <a:extLst>
              <a:ext uri="{FF2B5EF4-FFF2-40B4-BE49-F238E27FC236}">
                <a16:creationId xmlns:a16="http://schemas.microsoft.com/office/drawing/2014/main" id="{E9E98763-5C4C-4243-BDB3-8982EFD5EBB8}"/>
              </a:ext>
            </a:extLst>
          </p:cNvPr>
          <p:cNvSpPr txBox="1"/>
          <p:nvPr/>
        </p:nvSpPr>
        <p:spPr>
          <a:xfrm>
            <a:off x="3623981" y="4178913"/>
            <a:ext cx="2309448" cy="646305"/>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b="1" dirty="0"/>
              <a:t>The Motor Transport Workers Act </a:t>
            </a:r>
          </a:p>
        </p:txBody>
      </p:sp>
      <p:pic>
        <p:nvPicPr>
          <p:cNvPr id="15" name="Graphic 14" descr="Customer review">
            <a:extLst>
              <a:ext uri="{FF2B5EF4-FFF2-40B4-BE49-F238E27FC236}">
                <a16:creationId xmlns:a16="http://schemas.microsoft.com/office/drawing/2014/main" id="{FA631232-2661-4305-8C91-732439C8BB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13296" y="3479901"/>
            <a:ext cx="747882" cy="747882"/>
          </a:xfrm>
          <a:prstGeom prst="rect">
            <a:avLst/>
          </a:prstGeom>
        </p:spPr>
      </p:pic>
      <p:sp>
        <p:nvSpPr>
          <p:cNvPr id="16" name="TextBox 15">
            <a:extLst>
              <a:ext uri="{FF2B5EF4-FFF2-40B4-BE49-F238E27FC236}">
                <a16:creationId xmlns:a16="http://schemas.microsoft.com/office/drawing/2014/main" id="{67211755-8809-4429-BF05-FE94448F474D}"/>
              </a:ext>
            </a:extLst>
          </p:cNvPr>
          <p:cNvSpPr txBox="1"/>
          <p:nvPr/>
        </p:nvSpPr>
        <p:spPr>
          <a:xfrm>
            <a:off x="6726888" y="4247460"/>
            <a:ext cx="2309448" cy="923330"/>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b="1" dirty="0"/>
              <a:t>The Bonded Labour System (Abolition) Act, 1976</a:t>
            </a:r>
          </a:p>
        </p:txBody>
      </p:sp>
      <p:pic>
        <p:nvPicPr>
          <p:cNvPr id="18" name="Graphic 17" descr="Gavel">
            <a:extLst>
              <a:ext uri="{FF2B5EF4-FFF2-40B4-BE49-F238E27FC236}">
                <a16:creationId xmlns:a16="http://schemas.microsoft.com/office/drawing/2014/main" id="{9862A743-AB98-4654-B3A8-DA6EB36C30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55153" y="3419141"/>
            <a:ext cx="757741" cy="757741"/>
          </a:xfrm>
          <a:prstGeom prst="rect">
            <a:avLst/>
          </a:prstGeom>
        </p:spPr>
      </p:pic>
      <p:sp>
        <p:nvSpPr>
          <p:cNvPr id="19" name="TextBox 18">
            <a:extLst>
              <a:ext uri="{FF2B5EF4-FFF2-40B4-BE49-F238E27FC236}">
                <a16:creationId xmlns:a16="http://schemas.microsoft.com/office/drawing/2014/main" id="{CF3514C7-8498-4E76-8C59-D53EC781F4B1}"/>
              </a:ext>
            </a:extLst>
          </p:cNvPr>
          <p:cNvSpPr txBox="1"/>
          <p:nvPr/>
        </p:nvSpPr>
        <p:spPr>
          <a:xfrm>
            <a:off x="9436835" y="4228969"/>
            <a:ext cx="2309448" cy="646331"/>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b="1" dirty="0"/>
              <a:t>The Juvenile Justice Act, 2000</a:t>
            </a:r>
          </a:p>
        </p:txBody>
      </p:sp>
      <p:sp>
        <p:nvSpPr>
          <p:cNvPr id="22" name="TextBox 21">
            <a:extLst>
              <a:ext uri="{FF2B5EF4-FFF2-40B4-BE49-F238E27FC236}">
                <a16:creationId xmlns:a16="http://schemas.microsoft.com/office/drawing/2014/main" id="{26F5A101-F9DC-4757-856B-0A769B971037}"/>
              </a:ext>
            </a:extLst>
          </p:cNvPr>
          <p:cNvSpPr txBox="1"/>
          <p:nvPr/>
        </p:nvSpPr>
        <p:spPr>
          <a:xfrm>
            <a:off x="997091" y="4875300"/>
            <a:ext cx="2185005" cy="1754326"/>
          </a:xfrm>
          <a:prstGeom prst="rect">
            <a:avLst/>
          </a:prstGeom>
          <a:noFill/>
          <a:ln>
            <a:solidFill>
              <a:schemeClr val="tx1"/>
            </a:solidFill>
          </a:ln>
        </p:spPr>
        <p:txBody>
          <a:bodyPr wrap="square" rtlCol="0">
            <a:spAutoFit/>
          </a:bodyPr>
          <a:lstStyle/>
          <a:p>
            <a:pPr algn="ctr"/>
            <a:r>
              <a:rPr lang="en-US" dirty="0"/>
              <a:t>Set out minimum age of employment for children and regulate working conditions such as time and hours of work. </a:t>
            </a:r>
          </a:p>
        </p:txBody>
      </p:sp>
      <p:sp>
        <p:nvSpPr>
          <p:cNvPr id="23" name="TextBox 22">
            <a:extLst>
              <a:ext uri="{FF2B5EF4-FFF2-40B4-BE49-F238E27FC236}">
                <a16:creationId xmlns:a16="http://schemas.microsoft.com/office/drawing/2014/main" id="{07E0B31F-38E6-4778-817A-2D0C945A2F30}"/>
              </a:ext>
            </a:extLst>
          </p:cNvPr>
          <p:cNvSpPr txBox="1"/>
          <p:nvPr/>
        </p:nvSpPr>
        <p:spPr>
          <a:xfrm>
            <a:off x="3615863" y="4945223"/>
            <a:ext cx="2317566" cy="1754326"/>
          </a:xfrm>
          <a:prstGeom prst="rect">
            <a:avLst/>
          </a:prstGeom>
          <a:noFill/>
          <a:ln>
            <a:solidFill>
              <a:schemeClr val="tx1"/>
            </a:solidFill>
          </a:ln>
        </p:spPr>
        <p:txBody>
          <a:bodyPr wrap="square" rtlCol="0">
            <a:spAutoFit/>
          </a:bodyPr>
          <a:lstStyle/>
          <a:p>
            <a:pPr algn="ctr"/>
            <a:r>
              <a:rPr lang="en-US" dirty="0"/>
              <a:t>Set out minimum age of employment for children and regulate working conditions such as time and hours of work. </a:t>
            </a:r>
          </a:p>
        </p:txBody>
      </p:sp>
      <p:sp>
        <p:nvSpPr>
          <p:cNvPr id="24" name="Rectangle 23">
            <a:extLst>
              <a:ext uri="{FF2B5EF4-FFF2-40B4-BE49-F238E27FC236}">
                <a16:creationId xmlns:a16="http://schemas.microsoft.com/office/drawing/2014/main" id="{A9E86476-3250-43D9-820D-B0B276560427}"/>
              </a:ext>
            </a:extLst>
          </p:cNvPr>
          <p:cNvSpPr/>
          <p:nvPr/>
        </p:nvSpPr>
        <p:spPr>
          <a:xfrm>
            <a:off x="6726888" y="5299787"/>
            <a:ext cx="2309448" cy="923330"/>
          </a:xfrm>
          <a:prstGeom prst="rect">
            <a:avLst/>
          </a:prstGeom>
          <a:ln>
            <a:solidFill>
              <a:schemeClr val="tx1"/>
            </a:solidFill>
          </a:ln>
        </p:spPr>
        <p:txBody>
          <a:bodyPr wrap="square">
            <a:spAutoFit/>
          </a:bodyPr>
          <a:lstStyle/>
          <a:p>
            <a:pPr algn="ctr"/>
            <a:r>
              <a:rPr lang="en-US" dirty="0"/>
              <a:t>Prohibits any form of bonded or forced labour in the country.</a:t>
            </a:r>
          </a:p>
        </p:txBody>
      </p:sp>
      <p:sp>
        <p:nvSpPr>
          <p:cNvPr id="25" name="Rectangle 24">
            <a:extLst>
              <a:ext uri="{FF2B5EF4-FFF2-40B4-BE49-F238E27FC236}">
                <a16:creationId xmlns:a16="http://schemas.microsoft.com/office/drawing/2014/main" id="{7AFAAB28-9DD1-4556-A6B2-88C7F58BD321}"/>
              </a:ext>
            </a:extLst>
          </p:cNvPr>
          <p:cNvSpPr/>
          <p:nvPr/>
        </p:nvSpPr>
        <p:spPr>
          <a:xfrm>
            <a:off x="9436835" y="4976850"/>
            <a:ext cx="2475398" cy="1754326"/>
          </a:xfrm>
          <a:prstGeom prst="rect">
            <a:avLst/>
          </a:prstGeom>
          <a:ln>
            <a:solidFill>
              <a:schemeClr val="tx1"/>
            </a:solidFill>
          </a:ln>
        </p:spPr>
        <p:txBody>
          <a:bodyPr wrap="square">
            <a:spAutoFit/>
          </a:bodyPr>
          <a:lstStyle/>
          <a:p>
            <a:pPr algn="ctr"/>
            <a:r>
              <a:rPr lang="en-US" dirty="0"/>
              <a:t>Deals with rehabilitation, care and protection of children in need of care and protection or children in conflict with law.</a:t>
            </a:r>
          </a:p>
        </p:txBody>
      </p:sp>
    </p:spTree>
    <p:extLst>
      <p:ext uri="{BB962C8B-B14F-4D97-AF65-F5344CB8AC3E}">
        <p14:creationId xmlns:p14="http://schemas.microsoft.com/office/powerpoint/2010/main" val="533316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84315</TotalTime>
  <Words>2037</Words>
  <Application>Microsoft Office PowerPoint</Application>
  <PresentationFormat>Widescreen</PresentationFormat>
  <Paragraphs>170</Paragraphs>
  <Slides>32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Tw Cen MT</vt:lpstr>
      <vt:lpstr>Tw Cen MT Condensed</vt:lpstr>
      <vt:lpstr>Wingdings 3</vt:lpstr>
      <vt:lpstr>Integral</vt:lpstr>
      <vt:lpstr>PUBP309: EDUCATION POLICY </vt:lpstr>
      <vt:lpstr>Child and the State in India (1990) CH1- The ARGUMENT</vt:lpstr>
      <vt:lpstr>The Problem Explained</vt:lpstr>
      <vt:lpstr>The Problem Explained: Country Comparisons</vt:lpstr>
      <vt:lpstr>The Problem Explained: India’s Problem</vt:lpstr>
      <vt:lpstr>Gap in Rhetoric and Reality</vt:lpstr>
      <vt:lpstr>Gap in Rhetoric and Reality</vt:lpstr>
      <vt:lpstr>PowerPoint Presentation</vt:lpstr>
      <vt:lpstr>Main Arguments</vt:lpstr>
      <vt:lpstr>Main Arguments</vt:lpstr>
      <vt:lpstr>Counter Evidence from other Countries</vt:lpstr>
      <vt:lpstr>Takeaways</vt:lpstr>
      <vt:lpstr>India’s Working Children</vt:lpstr>
      <vt:lpstr>Who are these children?</vt:lpstr>
      <vt:lpstr>Legislation</vt:lpstr>
      <vt:lpstr>Where do these children usually work?</vt:lpstr>
      <vt:lpstr>How many child laborers?</vt:lpstr>
      <vt:lpstr>PowerPoint Presentation</vt:lpstr>
      <vt:lpstr>Bangalore City Market</vt:lpstr>
      <vt:lpstr>Street Children of Secunderabad</vt:lpstr>
      <vt:lpstr>Match Industry of Sivakasi</vt:lpstr>
      <vt:lpstr>Glass Factories of Firozabad</vt:lpstr>
      <vt:lpstr>Pottery Industry of Khurja</vt:lpstr>
      <vt:lpstr>Village Near Pune</vt:lpstr>
      <vt:lpstr>Takeaways</vt:lpstr>
      <vt:lpstr>PowerPoint Presentation</vt:lpstr>
      <vt:lpstr>India’s Position on Child Labour (Quick in understanding, but slow in improvement)  </vt:lpstr>
      <vt:lpstr>Ideal </vt:lpstr>
      <vt:lpstr>PowerPoint Presentation</vt:lpstr>
      <vt:lpstr>International Legal Arrangements </vt:lpstr>
      <vt:lpstr>Constitutional Framework </vt:lpstr>
      <vt:lpstr>National Provision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 511: Education in Modern india</dc:title>
  <dc:creator>Shivakumar Jolad</dc:creator>
  <cp:lastModifiedBy>Shivakumar Jolad</cp:lastModifiedBy>
  <cp:revision>220</cp:revision>
  <cp:lastPrinted>2017-09-01T06:18:33Z</cp:lastPrinted>
  <dcterms:created xsi:type="dcterms:W3CDTF">2017-10-09T15:53:35Z</dcterms:created>
  <dcterms:modified xsi:type="dcterms:W3CDTF">2026-07-03T06:00:43Z</dcterms:modified>
</cp:coreProperties>
</file>