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3"/>
  </p:notesMasterIdLst>
  <p:sldIdLst>
    <p:sldId id="256" r:id="rId2"/>
    <p:sldId id="257" r:id="rId3"/>
    <p:sldId id="522" r:id="rId4"/>
    <p:sldId id="369" r:id="rId5"/>
    <p:sldId id="372" r:id="rId6"/>
    <p:sldId id="388" r:id="rId7"/>
    <p:sldId id="523" r:id="rId8"/>
    <p:sldId id="434" r:id="rId9"/>
    <p:sldId id="419" r:id="rId10"/>
    <p:sldId id="393" r:id="rId11"/>
    <p:sldId id="505" r:id="rId12"/>
    <p:sldId id="394" r:id="rId13"/>
    <p:sldId id="525" r:id="rId14"/>
    <p:sldId id="310" r:id="rId15"/>
    <p:sldId id="445" r:id="rId16"/>
    <p:sldId id="446" r:id="rId17"/>
    <p:sldId id="311" r:id="rId18"/>
    <p:sldId id="312" r:id="rId19"/>
    <p:sldId id="264" r:id="rId20"/>
    <p:sldId id="447" r:id="rId21"/>
    <p:sldId id="495" r:id="rId22"/>
    <p:sldId id="265" r:id="rId23"/>
    <p:sldId id="259" r:id="rId24"/>
    <p:sldId id="449" r:id="rId25"/>
    <p:sldId id="267" r:id="rId26"/>
    <p:sldId id="458" r:id="rId27"/>
    <p:sldId id="461" r:id="rId28"/>
    <p:sldId id="465" r:id="rId29"/>
    <p:sldId id="460" r:id="rId30"/>
    <p:sldId id="459" r:id="rId31"/>
    <p:sldId id="462" r:id="rId32"/>
    <p:sldId id="463" r:id="rId33"/>
    <p:sldId id="464" r:id="rId34"/>
    <p:sldId id="466" r:id="rId35"/>
    <p:sldId id="529" r:id="rId36"/>
    <p:sldId id="467" r:id="rId37"/>
    <p:sldId id="535" r:id="rId38"/>
    <p:sldId id="536" r:id="rId39"/>
    <p:sldId id="537" r:id="rId40"/>
    <p:sldId id="468" r:id="rId41"/>
    <p:sldId id="469"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2092"/>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82087"/>
  </p:normalViewPr>
  <p:slideViewPr>
    <p:cSldViewPr snapToGrid="0">
      <p:cViewPr varScale="1">
        <p:scale>
          <a:sx n="74" d="100"/>
          <a:sy n="74" d="100"/>
        </p:scale>
        <p:origin x="792"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2" Type="http://schemas.openxmlformats.org/officeDocument/2006/relationships/oleObject" Target="../embeddings/oleObject1.bin"/><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embeddings/oleObject2.bin"/><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a:pPr>
            <a:r>
              <a:rPr lang="en-US" dirty="0"/>
              <a:t>Age group 18-23 years- Bihar and Tamil Nadu (millions)</a:t>
            </a:r>
          </a:p>
        </c:rich>
      </c:tx>
      <c:overlay val="0"/>
      <c:spPr>
        <a:noFill/>
        <a:ln>
          <a:noFill/>
        </a:ln>
        <a:effectLst/>
      </c:spPr>
    </c:title>
    <c:autoTitleDeleted val="0"/>
    <c:plotArea>
      <c:layout/>
      <c:barChart>
        <c:barDir val="col"/>
        <c:grouping val="clustered"/>
        <c:varyColors val="0"/>
        <c:ser>
          <c:idx val="0"/>
          <c:order val="0"/>
          <c:tx>
            <c:strRef>
              <c:f>AgeGroupGraphs!$A$47</c:f>
              <c:strCache>
                <c:ptCount val="1"/>
                <c:pt idx="0">
                  <c:v>2011</c:v>
                </c:pt>
              </c:strCache>
            </c:strRef>
          </c:tx>
          <c:spPr>
            <a:solidFill>
              <a:schemeClr val="accent1"/>
            </a:solidFill>
            <a:ln>
              <a:noFill/>
            </a:ln>
            <a:effectLst/>
          </c:spPr>
          <c:invertIfNegative val="0"/>
          <c:dLbls>
            <c:spPr>
              <a:noFill/>
              <a:ln>
                <a:noFill/>
              </a:ln>
              <a:effectLst/>
            </c:spPr>
            <c:txPr>
              <a:bodyPr rot="-540000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AgeGroupGraphs!$B$45:$G$46</c:f>
              <c:multiLvlStrCache>
                <c:ptCount val="6"/>
                <c:lvl>
                  <c:pt idx="0">
                    <c:v>Total</c:v>
                  </c:pt>
                  <c:pt idx="1">
                    <c:v>Female</c:v>
                  </c:pt>
                  <c:pt idx="2">
                    <c:v>Male</c:v>
                  </c:pt>
                  <c:pt idx="3">
                    <c:v>Total</c:v>
                  </c:pt>
                  <c:pt idx="4">
                    <c:v>Female</c:v>
                  </c:pt>
                  <c:pt idx="5">
                    <c:v>Male</c:v>
                  </c:pt>
                </c:lvl>
                <c:lvl>
                  <c:pt idx="0">
                    <c:v>Bihar</c:v>
                  </c:pt>
                  <c:pt idx="3">
                    <c:v>Tamil Nadu</c:v>
                  </c:pt>
                </c:lvl>
              </c:multiLvlStrCache>
            </c:multiLvlStrRef>
          </c:cat>
          <c:val>
            <c:numRef>
              <c:f>AgeGroupGraphs!$B$47:$G$47</c:f>
              <c:numCache>
                <c:formatCode>0.0</c:formatCode>
                <c:ptCount val="6"/>
                <c:pt idx="0">
                  <c:v>11.36723400000001</c:v>
                </c:pt>
                <c:pt idx="1">
                  <c:v>5.0185367999999944</c:v>
                </c:pt>
                <c:pt idx="2">
                  <c:v>6.3486972000000002</c:v>
                </c:pt>
                <c:pt idx="3">
                  <c:v>7.5045503999999941</c:v>
                </c:pt>
                <c:pt idx="4">
                  <c:v>3.6287448000000002</c:v>
                </c:pt>
                <c:pt idx="5">
                  <c:v>3.8758055999999961</c:v>
                </c:pt>
              </c:numCache>
            </c:numRef>
          </c:val>
          <c:extLst>
            <c:ext xmlns:c16="http://schemas.microsoft.com/office/drawing/2014/chart" uri="{C3380CC4-5D6E-409C-BE32-E72D297353CC}">
              <c16:uniqueId val="{00000000-12D0-204B-BE4D-8166DE20EA07}"/>
            </c:ext>
          </c:extLst>
        </c:ser>
        <c:ser>
          <c:idx val="1"/>
          <c:order val="1"/>
          <c:tx>
            <c:strRef>
              <c:f>AgeGroupGraphs!$A$48</c:f>
              <c:strCache>
                <c:ptCount val="1"/>
                <c:pt idx="0">
                  <c:v>2016</c:v>
                </c:pt>
              </c:strCache>
            </c:strRef>
          </c:tx>
          <c:spPr>
            <a:solidFill>
              <a:schemeClr val="accent2"/>
            </a:solidFill>
            <a:ln>
              <a:noFill/>
            </a:ln>
            <a:effectLst/>
          </c:spPr>
          <c:invertIfNegative val="0"/>
          <c:dLbls>
            <c:spPr>
              <a:noFill/>
              <a:ln>
                <a:noFill/>
              </a:ln>
              <a:effectLst/>
            </c:spPr>
            <c:txPr>
              <a:bodyPr rot="-540000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AgeGroupGraphs!$B$45:$G$46</c:f>
              <c:multiLvlStrCache>
                <c:ptCount val="6"/>
                <c:lvl>
                  <c:pt idx="0">
                    <c:v>Total</c:v>
                  </c:pt>
                  <c:pt idx="1">
                    <c:v>Female</c:v>
                  </c:pt>
                  <c:pt idx="2">
                    <c:v>Male</c:v>
                  </c:pt>
                  <c:pt idx="3">
                    <c:v>Total</c:v>
                  </c:pt>
                  <c:pt idx="4">
                    <c:v>Female</c:v>
                  </c:pt>
                  <c:pt idx="5">
                    <c:v>Male</c:v>
                  </c:pt>
                </c:lvl>
                <c:lvl>
                  <c:pt idx="0">
                    <c:v>Bihar</c:v>
                  </c:pt>
                  <c:pt idx="3">
                    <c:v>Tamil Nadu</c:v>
                  </c:pt>
                </c:lvl>
              </c:multiLvlStrCache>
            </c:multiLvlStrRef>
          </c:cat>
          <c:val>
            <c:numRef>
              <c:f>AgeGroupGraphs!$B$48:$G$48</c:f>
              <c:numCache>
                <c:formatCode>0.0</c:formatCode>
                <c:ptCount val="6"/>
                <c:pt idx="0">
                  <c:v>16.62971924327827</c:v>
                </c:pt>
                <c:pt idx="1">
                  <c:v>7.8821432146079697</c:v>
                </c:pt>
                <c:pt idx="2">
                  <c:v>8.7475760286703999</c:v>
                </c:pt>
                <c:pt idx="3">
                  <c:v>7.3851707517339076</c:v>
                </c:pt>
                <c:pt idx="4">
                  <c:v>3.57242945822225</c:v>
                </c:pt>
                <c:pt idx="5">
                  <c:v>3.8127412935116571</c:v>
                </c:pt>
              </c:numCache>
            </c:numRef>
          </c:val>
          <c:extLst>
            <c:ext xmlns:c16="http://schemas.microsoft.com/office/drawing/2014/chart" uri="{C3380CC4-5D6E-409C-BE32-E72D297353CC}">
              <c16:uniqueId val="{00000001-12D0-204B-BE4D-8166DE20EA07}"/>
            </c:ext>
          </c:extLst>
        </c:ser>
        <c:ser>
          <c:idx val="2"/>
          <c:order val="2"/>
          <c:tx>
            <c:strRef>
              <c:f>AgeGroupGraphs!$A$49</c:f>
              <c:strCache>
                <c:ptCount val="1"/>
                <c:pt idx="0">
                  <c:v>2021</c:v>
                </c:pt>
              </c:strCache>
            </c:strRef>
          </c:tx>
          <c:spPr>
            <a:solidFill>
              <a:schemeClr val="accent3"/>
            </a:solidFill>
            <a:ln>
              <a:noFill/>
            </a:ln>
            <a:effectLst/>
          </c:spPr>
          <c:invertIfNegative val="0"/>
          <c:dLbls>
            <c:spPr>
              <a:noFill/>
              <a:ln>
                <a:noFill/>
              </a:ln>
              <a:effectLst/>
            </c:spPr>
            <c:txPr>
              <a:bodyPr rot="-540000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AgeGroupGraphs!$B$45:$G$46</c:f>
              <c:multiLvlStrCache>
                <c:ptCount val="6"/>
                <c:lvl>
                  <c:pt idx="0">
                    <c:v>Total</c:v>
                  </c:pt>
                  <c:pt idx="1">
                    <c:v>Female</c:v>
                  </c:pt>
                  <c:pt idx="2">
                    <c:v>Male</c:v>
                  </c:pt>
                  <c:pt idx="3">
                    <c:v>Total</c:v>
                  </c:pt>
                  <c:pt idx="4">
                    <c:v>Female</c:v>
                  </c:pt>
                  <c:pt idx="5">
                    <c:v>Male</c:v>
                  </c:pt>
                </c:lvl>
                <c:lvl>
                  <c:pt idx="0">
                    <c:v>Bihar</c:v>
                  </c:pt>
                  <c:pt idx="3">
                    <c:v>Tamil Nadu</c:v>
                  </c:pt>
                </c:lvl>
              </c:multiLvlStrCache>
            </c:multiLvlStrRef>
          </c:cat>
          <c:val>
            <c:numRef>
              <c:f>AgeGroupGraphs!$B$49:$G$49</c:f>
              <c:numCache>
                <c:formatCode>0.0</c:formatCode>
                <c:ptCount val="6"/>
                <c:pt idx="0">
                  <c:v>17.88169054041299</c:v>
                </c:pt>
                <c:pt idx="1">
                  <c:v>8.6154883104944453</c:v>
                </c:pt>
                <c:pt idx="2">
                  <c:v>9.2662022299185995</c:v>
                </c:pt>
                <c:pt idx="3">
                  <c:v>6.6212565598203943</c:v>
                </c:pt>
                <c:pt idx="4">
                  <c:v>3.2205202687416228</c:v>
                </c:pt>
                <c:pt idx="5">
                  <c:v>3.4007362910787702</c:v>
                </c:pt>
              </c:numCache>
            </c:numRef>
          </c:val>
          <c:extLst>
            <c:ext xmlns:c16="http://schemas.microsoft.com/office/drawing/2014/chart" uri="{C3380CC4-5D6E-409C-BE32-E72D297353CC}">
              <c16:uniqueId val="{00000002-12D0-204B-BE4D-8166DE20EA07}"/>
            </c:ext>
          </c:extLst>
        </c:ser>
        <c:ser>
          <c:idx val="3"/>
          <c:order val="3"/>
          <c:tx>
            <c:strRef>
              <c:f>AgeGroupGraphs!$A$50</c:f>
              <c:strCache>
                <c:ptCount val="1"/>
                <c:pt idx="0">
                  <c:v>2026</c:v>
                </c:pt>
              </c:strCache>
            </c:strRef>
          </c:tx>
          <c:spPr>
            <a:solidFill>
              <a:schemeClr val="accent4"/>
            </a:solidFill>
            <a:ln>
              <a:noFill/>
            </a:ln>
            <a:effectLst/>
          </c:spPr>
          <c:invertIfNegative val="0"/>
          <c:dLbls>
            <c:spPr>
              <a:noFill/>
              <a:ln>
                <a:noFill/>
              </a:ln>
              <a:effectLst/>
            </c:spPr>
            <c:txPr>
              <a:bodyPr rot="-540000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AgeGroupGraphs!$B$45:$G$46</c:f>
              <c:multiLvlStrCache>
                <c:ptCount val="6"/>
                <c:lvl>
                  <c:pt idx="0">
                    <c:v>Total</c:v>
                  </c:pt>
                  <c:pt idx="1">
                    <c:v>Female</c:v>
                  </c:pt>
                  <c:pt idx="2">
                    <c:v>Male</c:v>
                  </c:pt>
                  <c:pt idx="3">
                    <c:v>Total</c:v>
                  </c:pt>
                  <c:pt idx="4">
                    <c:v>Female</c:v>
                  </c:pt>
                  <c:pt idx="5">
                    <c:v>Male</c:v>
                  </c:pt>
                </c:lvl>
                <c:lvl>
                  <c:pt idx="0">
                    <c:v>Bihar</c:v>
                  </c:pt>
                  <c:pt idx="3">
                    <c:v>Tamil Nadu</c:v>
                  </c:pt>
                </c:lvl>
              </c:multiLvlStrCache>
            </c:multiLvlStrRef>
          </c:cat>
          <c:val>
            <c:numRef>
              <c:f>AgeGroupGraphs!$B$50:$G$50</c:f>
              <c:numCache>
                <c:formatCode>0.0</c:formatCode>
                <c:ptCount val="6"/>
                <c:pt idx="0">
                  <c:v>15.0108378072528</c:v>
                </c:pt>
                <c:pt idx="1">
                  <c:v>7.2733543549152602</c:v>
                </c:pt>
                <c:pt idx="2">
                  <c:v>7.7374834523375897</c:v>
                </c:pt>
                <c:pt idx="3">
                  <c:v>6.2774464141102317</c:v>
                </c:pt>
                <c:pt idx="4">
                  <c:v>3.048698388651371</c:v>
                </c:pt>
                <c:pt idx="5">
                  <c:v>3.2287480254588581</c:v>
                </c:pt>
              </c:numCache>
            </c:numRef>
          </c:val>
          <c:extLst>
            <c:ext xmlns:c16="http://schemas.microsoft.com/office/drawing/2014/chart" uri="{C3380CC4-5D6E-409C-BE32-E72D297353CC}">
              <c16:uniqueId val="{00000003-12D0-204B-BE4D-8166DE20EA07}"/>
            </c:ext>
          </c:extLst>
        </c:ser>
        <c:ser>
          <c:idx val="4"/>
          <c:order val="4"/>
          <c:tx>
            <c:strRef>
              <c:f>AgeGroupGraphs!$A$51</c:f>
              <c:strCache>
                <c:ptCount val="1"/>
                <c:pt idx="0">
                  <c:v>2031</c:v>
                </c:pt>
              </c:strCache>
            </c:strRef>
          </c:tx>
          <c:spPr>
            <a:solidFill>
              <a:schemeClr val="accent5"/>
            </a:solidFill>
            <a:ln>
              <a:noFill/>
            </a:ln>
            <a:effectLst/>
          </c:spPr>
          <c:invertIfNegative val="0"/>
          <c:dLbls>
            <c:spPr>
              <a:noFill/>
              <a:ln>
                <a:noFill/>
              </a:ln>
              <a:effectLst/>
            </c:spPr>
            <c:txPr>
              <a:bodyPr rot="-540000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multiLvlStrRef>
              <c:f>AgeGroupGraphs!$B$45:$G$46</c:f>
              <c:multiLvlStrCache>
                <c:ptCount val="6"/>
                <c:lvl>
                  <c:pt idx="0">
                    <c:v>Total</c:v>
                  </c:pt>
                  <c:pt idx="1">
                    <c:v>Female</c:v>
                  </c:pt>
                  <c:pt idx="2">
                    <c:v>Male</c:v>
                  </c:pt>
                  <c:pt idx="3">
                    <c:v>Total</c:v>
                  </c:pt>
                  <c:pt idx="4">
                    <c:v>Female</c:v>
                  </c:pt>
                  <c:pt idx="5">
                    <c:v>Male</c:v>
                  </c:pt>
                </c:lvl>
                <c:lvl>
                  <c:pt idx="0">
                    <c:v>Bihar</c:v>
                  </c:pt>
                  <c:pt idx="3">
                    <c:v>Tamil Nadu</c:v>
                  </c:pt>
                </c:lvl>
              </c:multiLvlStrCache>
            </c:multiLvlStrRef>
          </c:cat>
          <c:val>
            <c:numRef>
              <c:f>AgeGroupGraphs!$B$51:$G$51</c:f>
              <c:numCache>
                <c:formatCode>0.0</c:formatCode>
                <c:ptCount val="6"/>
                <c:pt idx="0">
                  <c:v>13.176994307501211</c:v>
                </c:pt>
                <c:pt idx="1">
                  <c:v>6.4159240281893544</c:v>
                </c:pt>
                <c:pt idx="2">
                  <c:v>6.7610702793118387</c:v>
                </c:pt>
                <c:pt idx="3">
                  <c:v>5.9472950539817324</c:v>
                </c:pt>
                <c:pt idx="4">
                  <c:v>2.89915730787162</c:v>
                </c:pt>
                <c:pt idx="5">
                  <c:v>3.0481377461101138</c:v>
                </c:pt>
              </c:numCache>
            </c:numRef>
          </c:val>
          <c:extLst>
            <c:ext xmlns:c16="http://schemas.microsoft.com/office/drawing/2014/chart" uri="{C3380CC4-5D6E-409C-BE32-E72D297353CC}">
              <c16:uniqueId val="{00000004-12D0-204B-BE4D-8166DE20EA07}"/>
            </c:ext>
          </c:extLst>
        </c:ser>
        <c:dLbls>
          <c:showLegendKey val="0"/>
          <c:showVal val="1"/>
          <c:showCatName val="0"/>
          <c:showSerName val="0"/>
          <c:showPercent val="0"/>
          <c:showBubbleSize val="0"/>
        </c:dLbls>
        <c:gapWidth val="444"/>
        <c:overlap val="-90"/>
        <c:axId val="-100888176"/>
        <c:axId val="-101096992"/>
      </c:barChart>
      <c:catAx>
        <c:axId val="-10088817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en-US"/>
          </a:p>
        </c:txPr>
        <c:crossAx val="-101096992"/>
        <c:crosses val="autoZero"/>
        <c:auto val="1"/>
        <c:lblAlgn val="ctr"/>
        <c:lblOffset val="100"/>
        <c:noMultiLvlLbl val="0"/>
      </c:catAx>
      <c:valAx>
        <c:axId val="-101096992"/>
        <c:scaling>
          <c:orientation val="minMax"/>
        </c:scaling>
        <c:delete val="1"/>
        <c:axPos val="l"/>
        <c:numFmt formatCode="0.0" sourceLinked="1"/>
        <c:majorTickMark val="none"/>
        <c:minorTickMark val="none"/>
        <c:tickLblPos val="none"/>
        <c:crossAx val="-100888176"/>
        <c:crosses val="autoZero"/>
        <c:crossBetween val="between"/>
      </c:valAx>
      <c:spPr>
        <a:noFill/>
        <a:ln>
          <a:noFill/>
        </a:ln>
        <a:effectLst/>
      </c:spPr>
    </c:plotArea>
    <c:legend>
      <c:legendPos val="t"/>
      <c:overlay val="0"/>
      <c:spPr>
        <a:noFill/>
        <a:ln>
          <a:noFill/>
        </a:ln>
        <a:effectLst/>
      </c:spPr>
      <c:txPr>
        <a:bodyPr rot="0" vert="horz"/>
        <a:lstStyle/>
        <a:p>
          <a:pPr>
            <a:defRPr/>
          </a:pPr>
          <a:endParaRPr lang="en-US"/>
        </a:p>
      </c:txPr>
    </c:legend>
    <c:plotVisOnly val="1"/>
    <c:dispBlanksAs val="gap"/>
    <c:showDLblsOverMax val="0"/>
  </c:chart>
  <c:spPr>
    <a:solidFill>
      <a:schemeClr val="lt1"/>
    </a:solidFill>
    <a:ln w="9525" cap="flat" cmpd="sng" algn="ctr">
      <a:solidFill>
        <a:schemeClr val="tx1">
          <a:lumMod val="15000"/>
          <a:lumOff val="85000"/>
        </a:schemeClr>
      </a:solidFill>
      <a:round/>
    </a:ln>
    <a:effectLst/>
  </c:spPr>
  <c:txPr>
    <a:bodyPr/>
    <a:lstStyle/>
    <a:p>
      <a:pPr>
        <a:defRPr sz="1800"/>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'GER Higher Ed'!$Q$1</c:f>
              <c:strCache>
                <c:ptCount val="1"/>
                <c:pt idx="0">
                  <c:v>TOTAL</c:v>
                </c:pt>
              </c:strCache>
            </c:strRef>
          </c:tx>
          <c:spPr>
            <a:solidFill>
              <a:schemeClr val="accent1"/>
            </a:solidFill>
            <a:ln>
              <a:noFill/>
            </a:ln>
            <a:effectLst/>
          </c:spPr>
          <c:invertIfNegative val="0"/>
          <c:dPt>
            <c:idx val="18"/>
            <c:invertIfNegative val="0"/>
            <c:bubble3D val="0"/>
            <c:spPr>
              <a:solidFill>
                <a:schemeClr val="accent2"/>
              </a:solidFill>
              <a:ln>
                <a:noFill/>
              </a:ln>
              <a:effectLst/>
            </c:spPr>
            <c:extLst>
              <c:ext xmlns:c16="http://schemas.microsoft.com/office/drawing/2014/chart" uri="{C3380CC4-5D6E-409C-BE32-E72D297353CC}">
                <c16:uniqueId val="{00000001-D4D5-CA4C-B8A0-9818D95124DE}"/>
              </c:ext>
            </c:extLst>
          </c:dPt>
          <c:dLbls>
            <c:spPr>
              <a:noFill/>
              <a:ln>
                <a:noFill/>
              </a:ln>
              <a:effectLst/>
            </c:spPr>
            <c:txPr>
              <a:bodyPr rot="-540000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'GER Higher Ed'!$N$2:$N$41</c:f>
              <c:strCache>
                <c:ptCount val="37"/>
                <c:pt idx="0">
                  <c:v>Daman &amp; Diu</c:v>
                </c:pt>
                <c:pt idx="1">
                  <c:v>Lakshadweep</c:v>
                </c:pt>
                <c:pt idx="2">
                  <c:v>Dadra &amp; Nagar Haveli</c:v>
                </c:pt>
                <c:pt idx="3">
                  <c:v>Bihar</c:v>
                </c:pt>
                <c:pt idx="4">
                  <c:v>Nagaland</c:v>
                </c:pt>
                <c:pt idx="5">
                  <c:v>Chhatisgarh</c:v>
                </c:pt>
                <c:pt idx="6">
                  <c:v>Assam</c:v>
                </c:pt>
                <c:pt idx="7">
                  <c:v>Jharkhand</c:v>
                </c:pt>
                <c:pt idx="8">
                  <c:v>Tripura</c:v>
                </c:pt>
                <c:pt idx="9">
                  <c:v>West Bengal</c:v>
                </c:pt>
                <c:pt idx="10">
                  <c:v>Madhya Pradesh</c:v>
                </c:pt>
                <c:pt idx="11">
                  <c:v>Odisha</c:v>
                </c:pt>
                <c:pt idx="12">
                  <c:v>Rajasthan</c:v>
                </c:pt>
                <c:pt idx="13">
                  <c:v>Gujarat</c:v>
                </c:pt>
                <c:pt idx="14">
                  <c:v>Meghalaya</c:v>
                </c:pt>
                <c:pt idx="15">
                  <c:v>Andaman &amp; Nicobar Islands</c:v>
                </c:pt>
                <c:pt idx="16">
                  <c:v>Mizoram</c:v>
                </c:pt>
                <c:pt idx="17">
                  <c:v>Uttar Pradesh</c:v>
                </c:pt>
                <c:pt idx="18">
                  <c:v>All India</c:v>
                </c:pt>
                <c:pt idx="19">
                  <c:v>Jammu and Kashmir</c:v>
                </c:pt>
                <c:pt idx="20">
                  <c:v>Haryana</c:v>
                </c:pt>
                <c:pt idx="21">
                  <c:v>Karnataka</c:v>
                </c:pt>
                <c:pt idx="22">
                  <c:v>Punjab</c:v>
                </c:pt>
                <c:pt idx="23">
                  <c:v>Goa</c:v>
                </c:pt>
                <c:pt idx="24">
                  <c:v>Arunachal Pradesh</c:v>
                </c:pt>
                <c:pt idx="25">
                  <c:v>Maharashtra</c:v>
                </c:pt>
                <c:pt idx="26">
                  <c:v>Andhra Pradesh</c:v>
                </c:pt>
                <c:pt idx="27">
                  <c:v>Kerala</c:v>
                </c:pt>
                <c:pt idx="28">
                  <c:v>Himachal Pradesh</c:v>
                </c:pt>
                <c:pt idx="29">
                  <c:v>Uttrakhand</c:v>
                </c:pt>
                <c:pt idx="30">
                  <c:v>Manipur</c:v>
                </c:pt>
                <c:pt idx="31">
                  <c:v>Telangana</c:v>
                </c:pt>
                <c:pt idx="32">
                  <c:v>Sikkim</c:v>
                </c:pt>
                <c:pt idx="33">
                  <c:v>Puducherry</c:v>
                </c:pt>
                <c:pt idx="34">
                  <c:v>Tamil Nadu</c:v>
                </c:pt>
                <c:pt idx="35">
                  <c:v>Delhi</c:v>
                </c:pt>
                <c:pt idx="36">
                  <c:v>Chandigarh</c:v>
                </c:pt>
              </c:strCache>
            </c:strRef>
          </c:cat>
          <c:val>
            <c:numRef>
              <c:f>'GER Higher Ed'!$Q$2:$Q$41</c:f>
              <c:numCache>
                <c:formatCode>0.0</c:formatCode>
                <c:ptCount val="37"/>
                <c:pt idx="0">
                  <c:v>5.7</c:v>
                </c:pt>
                <c:pt idx="1">
                  <c:v>7.1</c:v>
                </c:pt>
                <c:pt idx="2">
                  <c:v>9.1</c:v>
                </c:pt>
                <c:pt idx="3">
                  <c:v>14.3</c:v>
                </c:pt>
                <c:pt idx="4">
                  <c:v>14.9</c:v>
                </c:pt>
                <c:pt idx="5">
                  <c:v>15.1</c:v>
                </c:pt>
                <c:pt idx="6">
                  <c:v>15.4</c:v>
                </c:pt>
                <c:pt idx="7">
                  <c:v>15.5</c:v>
                </c:pt>
                <c:pt idx="8">
                  <c:v>16.899999999999999</c:v>
                </c:pt>
                <c:pt idx="9">
                  <c:v>17.7</c:v>
                </c:pt>
                <c:pt idx="10">
                  <c:v>19.600000000000001</c:v>
                </c:pt>
                <c:pt idx="11">
                  <c:v>19.600000000000001</c:v>
                </c:pt>
                <c:pt idx="12">
                  <c:v>20.2</c:v>
                </c:pt>
                <c:pt idx="13">
                  <c:v>20.7</c:v>
                </c:pt>
                <c:pt idx="14">
                  <c:v>20.8</c:v>
                </c:pt>
                <c:pt idx="15">
                  <c:v>23.5</c:v>
                </c:pt>
                <c:pt idx="16">
                  <c:v>24.1</c:v>
                </c:pt>
                <c:pt idx="17">
                  <c:v>24.5</c:v>
                </c:pt>
                <c:pt idx="18">
                  <c:v>24.5</c:v>
                </c:pt>
                <c:pt idx="19">
                  <c:v>24.8</c:v>
                </c:pt>
                <c:pt idx="20">
                  <c:v>26.1</c:v>
                </c:pt>
                <c:pt idx="21">
                  <c:v>26.1</c:v>
                </c:pt>
                <c:pt idx="22">
                  <c:v>27</c:v>
                </c:pt>
                <c:pt idx="23">
                  <c:v>27.6</c:v>
                </c:pt>
                <c:pt idx="24">
                  <c:v>28.7</c:v>
                </c:pt>
                <c:pt idx="25">
                  <c:v>29.9</c:v>
                </c:pt>
                <c:pt idx="26">
                  <c:v>30.8</c:v>
                </c:pt>
                <c:pt idx="27">
                  <c:v>30.8</c:v>
                </c:pt>
                <c:pt idx="28">
                  <c:v>32.5</c:v>
                </c:pt>
                <c:pt idx="29">
                  <c:v>33.299999999999997</c:v>
                </c:pt>
                <c:pt idx="30">
                  <c:v>34.200000000000003</c:v>
                </c:pt>
                <c:pt idx="31">
                  <c:v>36.299999999999997</c:v>
                </c:pt>
                <c:pt idx="32">
                  <c:v>37.6</c:v>
                </c:pt>
                <c:pt idx="33">
                  <c:v>43.2</c:v>
                </c:pt>
                <c:pt idx="34">
                  <c:v>44.3</c:v>
                </c:pt>
                <c:pt idx="35">
                  <c:v>45.4</c:v>
                </c:pt>
                <c:pt idx="36">
                  <c:v>57.6</c:v>
                </c:pt>
              </c:numCache>
            </c:numRef>
          </c:val>
          <c:extLst>
            <c:ext xmlns:c16="http://schemas.microsoft.com/office/drawing/2014/chart" uri="{C3380CC4-5D6E-409C-BE32-E72D297353CC}">
              <c16:uniqueId val="{00000002-D4D5-CA4C-B8A0-9818D95124DE}"/>
            </c:ext>
          </c:extLst>
        </c:ser>
        <c:dLbls>
          <c:showLegendKey val="0"/>
          <c:showVal val="0"/>
          <c:showCatName val="0"/>
          <c:showSerName val="0"/>
          <c:showPercent val="0"/>
          <c:showBubbleSize val="0"/>
        </c:dLbls>
        <c:gapWidth val="182"/>
        <c:axId val="-101202288"/>
        <c:axId val="-100923856"/>
      </c:barChart>
      <c:catAx>
        <c:axId val="-101202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vert="horz"/>
          <a:lstStyle/>
          <a:p>
            <a:pPr>
              <a:defRPr/>
            </a:pPr>
            <a:endParaRPr lang="en-US"/>
          </a:p>
        </c:txPr>
        <c:crossAx val="-100923856"/>
        <c:crosses val="autoZero"/>
        <c:auto val="1"/>
        <c:lblAlgn val="ctr"/>
        <c:lblOffset val="100"/>
        <c:noMultiLvlLbl val="0"/>
      </c:catAx>
      <c:valAx>
        <c:axId val="-100923856"/>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vert="horz"/>
          <a:lstStyle/>
          <a:p>
            <a:pPr>
              <a:defRPr/>
            </a:pPr>
            <a:endParaRPr lang="en-US"/>
          </a:p>
        </c:txPr>
        <c:crossAx val="-101202288"/>
        <c:crosses val="autoZero"/>
        <c:crossBetween val="between"/>
      </c:valAx>
      <c:spPr>
        <a:noFill/>
        <a:ln>
          <a:noFill/>
        </a:ln>
        <a:effectLst/>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sz="1600"/>
      </a:pPr>
      <a:endParaRPr lang="en-US"/>
    </a:p>
  </c:txPr>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454562-7E81-7C4E-92D2-5688A7C8397C}" type="datetimeFigureOut">
              <a:rPr lang="en-US" smtClean="0"/>
              <a:t>7/3/2026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105C90-1CE8-BF41-8E55-5EDD54F24EA9}" type="slidenum">
              <a:rPr lang="en-US" smtClean="0"/>
              <a:t>‹#›</a:t>
            </a:fld>
            <a:endParaRPr lang="en-US"/>
          </a:p>
        </p:txBody>
      </p:sp>
    </p:spTree>
    <p:extLst>
      <p:ext uri="{BB962C8B-B14F-4D97-AF65-F5344CB8AC3E}">
        <p14:creationId xmlns:p14="http://schemas.microsoft.com/office/powerpoint/2010/main" val="1753487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1</a:t>
            </a:fld>
            <a:endParaRPr lang="en-US"/>
          </a:p>
        </p:txBody>
      </p:sp>
    </p:spTree>
    <p:extLst>
      <p:ext uri="{BB962C8B-B14F-4D97-AF65-F5344CB8AC3E}">
        <p14:creationId xmlns:p14="http://schemas.microsoft.com/office/powerpoint/2010/main" val="3744335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marL="228600" marR="0" lvl="0" indent="-228600" algn="l" rtl="0">
              <a:lnSpc>
                <a:spcPct val="90000"/>
              </a:lnSpc>
              <a:spcBef>
                <a:spcPts val="1000"/>
              </a:spcBef>
              <a:spcAft>
                <a:spcPts val="0"/>
              </a:spcAft>
              <a:buClr>
                <a:schemeClr val="dk1"/>
              </a:buClr>
              <a:buSzPct val="100000"/>
              <a:buFont typeface="Arial"/>
              <a:buChar char="•"/>
            </a:pPr>
            <a:r>
              <a:rPr lang="en-US" sz="1200" b="0" i="0" u="none" strike="noStrike" cap="none" dirty="0">
                <a:solidFill>
                  <a:schemeClr val="dk1"/>
                </a:solidFill>
                <a:latin typeface="+mn-lt"/>
                <a:ea typeface="Calibri"/>
                <a:cs typeface="Calibri"/>
                <a:sym typeface="Calibri"/>
              </a:rPr>
              <a:t>Purpose was to award degrees to deserving candidates in Arts, Science, Commerce, </a:t>
            </a:r>
          </a:p>
          <a:p>
            <a:pPr marL="228600" marR="0" lvl="0" indent="-228600" algn="l" rtl="0">
              <a:lnSpc>
                <a:spcPct val="90000"/>
              </a:lnSpc>
              <a:spcBef>
                <a:spcPts val="1000"/>
              </a:spcBef>
              <a:spcAft>
                <a:spcPts val="0"/>
              </a:spcAft>
              <a:buClr>
                <a:schemeClr val="dk1"/>
              </a:buClr>
              <a:buSzPct val="100000"/>
              <a:buFont typeface="Arial"/>
              <a:buChar char="•"/>
            </a:pPr>
            <a:r>
              <a:rPr lang="en-US" sz="1200" b="0" i="0" u="none" strike="noStrike" cap="none" dirty="0">
                <a:solidFill>
                  <a:schemeClr val="dk1"/>
                </a:solidFill>
                <a:latin typeface="+mn-lt"/>
                <a:ea typeface="Calibri"/>
                <a:cs typeface="Calibri"/>
                <a:sym typeface="Calibri"/>
              </a:rPr>
              <a:t>Modeled: Chancellor (Governor), Vice Chancellor, Members. Total at least 30. fellows appointed for life.</a:t>
            </a:r>
          </a:p>
          <a:p>
            <a:pPr lvl="0">
              <a:spcBef>
                <a:spcPts val="0"/>
              </a:spcBef>
              <a:buNone/>
            </a:pPr>
            <a:endParaRPr dirty="0"/>
          </a:p>
        </p:txBody>
      </p:sp>
      <p:sp>
        <p:nvSpPr>
          <p:cNvPr id="127" name="Shape 127"/>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8231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Shape 166"/>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167" name="Shape 167"/>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244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1902 : 6 member commission was established.  </a:t>
            </a:r>
            <a:r>
              <a:rPr lang="en-US" dirty="0">
                <a:solidFill>
                  <a:schemeClr val="accent2"/>
                </a:solidFill>
              </a:rPr>
              <a:t>Only one Indian member- Syed H </a:t>
            </a:r>
            <a:r>
              <a:rPr lang="en-US" dirty="0" err="1">
                <a:solidFill>
                  <a:schemeClr val="accent2"/>
                </a:solidFill>
              </a:rPr>
              <a:t>Bilgrami</a:t>
            </a:r>
            <a:r>
              <a:rPr lang="en-US" dirty="0">
                <a:solidFill>
                  <a:schemeClr val="accent2"/>
                </a:solidFill>
              </a:rPr>
              <a:t> </a:t>
            </a:r>
          </a:p>
          <a:p>
            <a:endParaRPr lang="en-US" dirty="0">
              <a:solidFill>
                <a:schemeClr val="accent2"/>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Widespread opposition to the recommendations by  Indians </a:t>
            </a:r>
            <a:r>
              <a:rPr lang="en-US" dirty="0"/>
              <a:t>(especially Bengali’s). </a:t>
            </a:r>
            <a:endParaRPr lang="en-US" dirty="0">
              <a:solidFill>
                <a:schemeClr val="accent2"/>
              </a:solidFill>
            </a:endParaRPr>
          </a:p>
          <a:p>
            <a:r>
              <a:rPr lang="en-US" dirty="0"/>
              <a:t>1903-</a:t>
            </a:r>
            <a:r>
              <a:rPr lang="en-US" b="1" dirty="0"/>
              <a:t> </a:t>
            </a:r>
            <a:r>
              <a:rPr lang="en-US" dirty="0"/>
              <a:t>Bill was introduced by Lord Raleigh. </a:t>
            </a:r>
          </a:p>
          <a:p>
            <a:r>
              <a:rPr lang="en-US" dirty="0">
                <a:solidFill>
                  <a:schemeClr val="accent2"/>
                </a:solidFill>
              </a:rPr>
              <a:t>Faced stiff opposition from G K Gokhale, and Ashutosh </a:t>
            </a:r>
            <a:r>
              <a:rPr lang="en-US" dirty="0" err="1">
                <a:solidFill>
                  <a:schemeClr val="accent2"/>
                </a:solidFill>
              </a:rPr>
              <a:t>Mukhopadhyaya</a:t>
            </a:r>
            <a:endParaRPr lang="en-US" dirty="0">
              <a:solidFill>
                <a:schemeClr val="accent2"/>
              </a:solidFill>
            </a:endParaRPr>
          </a:p>
          <a:p>
            <a:r>
              <a:rPr lang="en-US" b="1" dirty="0">
                <a:solidFill>
                  <a:schemeClr val="accent2"/>
                </a:solidFill>
              </a:rPr>
              <a:t>March 1904  </a:t>
            </a:r>
            <a:r>
              <a:rPr lang="en-US" dirty="0">
                <a:solidFill>
                  <a:schemeClr val="accent2"/>
                </a:solidFill>
              </a:rPr>
              <a:t>the</a:t>
            </a:r>
            <a:r>
              <a:rPr lang="en-US" b="1" dirty="0">
                <a:solidFill>
                  <a:schemeClr val="accent2"/>
                </a:solidFill>
              </a:rPr>
              <a:t> Indian Universities Act </a:t>
            </a:r>
            <a:r>
              <a:rPr lang="en-US" dirty="0">
                <a:solidFill>
                  <a:schemeClr val="accent2"/>
                </a:solidFill>
              </a:rPr>
              <a:t>passed into law</a:t>
            </a:r>
          </a:p>
          <a:p>
            <a:r>
              <a:rPr lang="en-US" dirty="0"/>
              <a:t>Grant of Rs 5 lakhs a year for the universities to implement the provisions of the law</a:t>
            </a:r>
          </a:p>
          <a:p>
            <a:endParaRPr lang="en-US" dirty="0">
              <a:solidFill>
                <a:schemeClr val="accent2"/>
              </a:solidFill>
            </a:endParaRPr>
          </a:p>
          <a:p>
            <a:r>
              <a:rPr lang="en-US" dirty="0">
                <a:solidFill>
                  <a:schemeClr val="accent2"/>
                </a:solidFill>
              </a:rPr>
              <a:t>Dissent came as there was no Hindu representative </a:t>
            </a:r>
          </a:p>
          <a:p>
            <a:endParaRPr lang="en-US" dirty="0">
              <a:solidFill>
                <a:schemeClr val="accent2"/>
              </a:solidFill>
            </a:endParaRPr>
          </a:p>
          <a:p>
            <a:r>
              <a:rPr lang="en-US" dirty="0" err="1">
                <a:solidFill>
                  <a:schemeClr val="accent2"/>
                </a:solidFill>
              </a:rPr>
              <a:t>Surendranath</a:t>
            </a:r>
            <a:r>
              <a:rPr lang="en-US" dirty="0">
                <a:solidFill>
                  <a:schemeClr val="accent2"/>
                </a:solidFill>
              </a:rPr>
              <a:t> </a:t>
            </a:r>
            <a:r>
              <a:rPr lang="en-US" dirty="0" err="1">
                <a:solidFill>
                  <a:schemeClr val="accent2"/>
                </a:solidFill>
              </a:rPr>
              <a:t>Banerjea</a:t>
            </a:r>
            <a:r>
              <a:rPr lang="en-US" dirty="0">
                <a:solidFill>
                  <a:schemeClr val="accent2"/>
                </a:solidFill>
              </a:rPr>
              <a:t> (</a:t>
            </a:r>
            <a:r>
              <a:rPr lang="en-US" dirty="0"/>
              <a:t>dismissed ICS officer and member of congress) opposed the committee. Many Hindus supported him.</a:t>
            </a:r>
          </a:p>
          <a:p>
            <a:endParaRPr lang="en-US" dirty="0"/>
          </a:p>
          <a:p>
            <a:r>
              <a:rPr lang="en-US" dirty="0"/>
              <a:t>Curzon bent to the popular opinion and sent request for including 5 local commissioners as members (Ashutosh Mukhopadhyay- Bengal, Sankaran Nair-Madras, </a:t>
            </a:r>
            <a:r>
              <a:rPr lang="en-US" dirty="0" err="1"/>
              <a:t>Chandavarkar</a:t>
            </a:r>
            <a:r>
              <a:rPr lang="en-US" dirty="0"/>
              <a:t>- Bombay, Lewis and Bell-NWP)</a:t>
            </a:r>
          </a:p>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6</a:t>
            </a:fld>
            <a:endParaRPr lang="en-US"/>
          </a:p>
        </p:txBody>
      </p:sp>
    </p:spTree>
    <p:extLst>
      <p:ext uri="{BB962C8B-B14F-4D97-AF65-F5344CB8AC3E}">
        <p14:creationId xmlns:p14="http://schemas.microsoft.com/office/powerpoint/2010/main" val="125442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It was commissioned to inquire about condition of Univ of Calcutta and suggest policy for reforms.  Members: Dr. Gregory, Prof. Ramsey Muir, </a:t>
            </a:r>
            <a:r>
              <a:rPr lang="en-US" sz="1200" dirty="0">
                <a:solidFill>
                  <a:schemeClr val="accent2"/>
                </a:solidFill>
              </a:rPr>
              <a:t>Prof. Ashutosh Mukherjee (VC of Calcutta)</a:t>
            </a:r>
            <a:r>
              <a:rPr lang="en-US" sz="1200" dirty="0"/>
              <a:t>, </a:t>
            </a:r>
            <a:r>
              <a:rPr lang="en-US" sz="1200" dirty="0">
                <a:solidFill>
                  <a:schemeClr val="accent2"/>
                </a:solidFill>
              </a:rPr>
              <a:t>Sir. Phillip Hartog </a:t>
            </a:r>
            <a:r>
              <a:rPr lang="en-US" sz="1200" dirty="0"/>
              <a:t>(educationalist) etc.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Studied problems of secondary education as lays the foundation and directly links to the entry to colleges</a:t>
            </a:r>
            <a:r>
              <a:rPr lang="en-US" sz="1200" dirty="0"/>
              <a:t>. – </a:t>
            </a:r>
            <a:r>
              <a:rPr lang="en-US" sz="1200" dirty="0">
                <a:solidFill>
                  <a:schemeClr val="accent2"/>
                </a:solidFill>
              </a:rPr>
              <a:t>Recommended formation of board of secondary education </a:t>
            </a:r>
            <a:r>
              <a:rPr lang="en-US" sz="1200" dirty="0"/>
              <a:t>(SSLC, Intermediate board </a:t>
            </a:r>
            <a:r>
              <a:rPr lang="en-US" sz="1200" dirty="0" err="1"/>
              <a:t>etc</a:t>
            </a:r>
            <a:r>
              <a:rPr lang="en-US" sz="1200" dirty="0"/>
              <a:t>)</a:t>
            </a:r>
          </a:p>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7</a:t>
            </a:fld>
            <a:endParaRPr lang="en-US"/>
          </a:p>
        </p:txBody>
      </p:sp>
    </p:spTree>
    <p:extLst>
      <p:ext uri="{BB962C8B-B14F-4D97-AF65-F5344CB8AC3E}">
        <p14:creationId xmlns:p14="http://schemas.microsoft.com/office/powerpoint/2010/main" val="2585514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FF0000"/>
                </a:solidFill>
              </a:rPr>
              <a:t>Elementary Education: </a:t>
            </a:r>
          </a:p>
          <a:p>
            <a:pPr lvl="1"/>
            <a:r>
              <a:rPr lang="en-US" b="1" dirty="0"/>
              <a:t>Elementary schools: </a:t>
            </a:r>
            <a:r>
              <a:rPr lang="en-US" b="1" dirty="0">
                <a:solidFill>
                  <a:srgbClr val="FF0000"/>
                </a:solidFill>
              </a:rPr>
              <a:t>1.72 lakhs </a:t>
            </a:r>
            <a:r>
              <a:rPr lang="en-US" dirty="0"/>
              <a:t>(decline from 1.89 lakhs in 1936-37)</a:t>
            </a:r>
          </a:p>
          <a:p>
            <a:pPr lvl="1"/>
            <a:r>
              <a:rPr lang="en-US" b="1" dirty="0"/>
              <a:t>Number of pupils</a:t>
            </a:r>
            <a:r>
              <a:rPr lang="en-US" dirty="0"/>
              <a:t> :  </a:t>
            </a:r>
            <a:r>
              <a:rPr lang="en-US" b="1" dirty="0">
                <a:solidFill>
                  <a:srgbClr val="FF0000"/>
                </a:solidFill>
              </a:rPr>
              <a:t>1.3 crore </a:t>
            </a:r>
            <a:r>
              <a:rPr lang="en-US" dirty="0"/>
              <a:t>(increase from 1.05 crore in 1937)</a:t>
            </a:r>
          </a:p>
          <a:p>
            <a:pPr lvl="1"/>
            <a:r>
              <a:rPr lang="en-US" b="1" dirty="0"/>
              <a:t>Expenditure</a:t>
            </a:r>
            <a:r>
              <a:rPr lang="en-US" dirty="0"/>
              <a:t>: </a:t>
            </a:r>
            <a:r>
              <a:rPr lang="en-US" b="1" dirty="0"/>
              <a:t>15.5 crores</a:t>
            </a:r>
          </a:p>
          <a:p>
            <a:r>
              <a:rPr lang="en-US" dirty="0">
                <a:solidFill>
                  <a:srgbClr val="FF0000"/>
                </a:solidFill>
              </a:rPr>
              <a:t>Secondary Education:</a:t>
            </a:r>
          </a:p>
          <a:p>
            <a:pPr lvl="1"/>
            <a:r>
              <a:rPr lang="en-US" b="1" dirty="0"/>
              <a:t>Number of schools</a:t>
            </a:r>
            <a:r>
              <a:rPr lang="en-US" dirty="0"/>
              <a:t>: </a:t>
            </a:r>
            <a:r>
              <a:rPr lang="en-US" b="1" dirty="0">
                <a:solidFill>
                  <a:srgbClr val="FF0000"/>
                </a:solidFill>
              </a:rPr>
              <a:t>17,250</a:t>
            </a:r>
            <a:r>
              <a:rPr lang="en-US" dirty="0">
                <a:solidFill>
                  <a:srgbClr val="FF0000"/>
                </a:solidFill>
              </a:rPr>
              <a:t> (I</a:t>
            </a:r>
            <a:r>
              <a:rPr lang="en-US" dirty="0"/>
              <a:t>ncrease from 13,400 in 1936-37)</a:t>
            </a:r>
          </a:p>
          <a:p>
            <a:pPr lvl="1"/>
            <a:r>
              <a:rPr lang="en-US" b="1" dirty="0"/>
              <a:t>Number of Pupils</a:t>
            </a:r>
            <a:r>
              <a:rPr lang="en-US" dirty="0"/>
              <a:t>: </a:t>
            </a:r>
            <a:r>
              <a:rPr lang="en-US" b="1" dirty="0">
                <a:solidFill>
                  <a:srgbClr val="FF0000"/>
                </a:solidFill>
              </a:rPr>
              <a:t>36.06 lakhs</a:t>
            </a:r>
            <a:r>
              <a:rPr lang="en-US" dirty="0">
                <a:solidFill>
                  <a:srgbClr val="FF0000"/>
                </a:solidFill>
              </a:rPr>
              <a:t> </a:t>
            </a:r>
            <a:r>
              <a:rPr lang="en-US" dirty="0"/>
              <a:t>(Increase from   23.93 lakhs in 1936-37)</a:t>
            </a:r>
          </a:p>
          <a:p>
            <a:pPr lvl="1"/>
            <a:r>
              <a:rPr lang="en-US" b="1" dirty="0"/>
              <a:t>Expenditure: 17.9 crores</a:t>
            </a:r>
          </a:p>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12</a:t>
            </a:fld>
            <a:endParaRPr lang="en-US"/>
          </a:p>
        </p:txBody>
      </p:sp>
    </p:spTree>
    <p:extLst>
      <p:ext uri="{BB962C8B-B14F-4D97-AF65-F5344CB8AC3E}">
        <p14:creationId xmlns:p14="http://schemas.microsoft.com/office/powerpoint/2010/main" val="3237338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0644F1-F7B5-4FDB-99F1-FF9CA9E5D210}" type="slidenum">
              <a:rPr lang="en-US" altLang="en-US"/>
              <a:pPr/>
              <a:t>15</a:t>
            </a:fld>
            <a:endParaRPr lang="en-US" altLang="en-US"/>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endParaRPr lang="en-US" altLang="en-US" dirty="0">
              <a:latin typeface="Helvetica" panose="020B0604020202020204" pitchFamily="34" charset="0"/>
            </a:endParaRPr>
          </a:p>
        </p:txBody>
      </p:sp>
    </p:spTree>
    <p:extLst>
      <p:ext uri="{BB962C8B-B14F-4D97-AF65-F5344CB8AC3E}">
        <p14:creationId xmlns:p14="http://schemas.microsoft.com/office/powerpoint/2010/main" val="30344786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90600" lvl="1" indent="-533400">
              <a:lnSpc>
                <a:spcPct val="60000"/>
              </a:lnSpc>
              <a:buClr>
                <a:schemeClr val="tx1"/>
              </a:buClr>
              <a:buNone/>
            </a:pPr>
            <a:endParaRPr lang="en-US" altLang="en-US" dirty="0">
              <a:solidFill>
                <a:srgbClr val="FF0000"/>
              </a:solidFill>
            </a:endParaRPr>
          </a:p>
          <a:p>
            <a:pPr marL="990600" lvl="1" indent="-533400">
              <a:lnSpc>
                <a:spcPct val="60000"/>
              </a:lnSpc>
              <a:buClr>
                <a:schemeClr val="tx1"/>
              </a:buClr>
              <a:buNone/>
            </a:pPr>
            <a:r>
              <a:rPr lang="en-US" altLang="en-US" dirty="0"/>
              <a:t> </a:t>
            </a:r>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16</a:t>
            </a:fld>
            <a:endParaRPr lang="en-US"/>
          </a:p>
        </p:txBody>
      </p:sp>
    </p:spTree>
    <p:extLst>
      <p:ext uri="{BB962C8B-B14F-4D97-AF65-F5344CB8AC3E}">
        <p14:creationId xmlns:p14="http://schemas.microsoft.com/office/powerpoint/2010/main" val="4251338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6105C90-1CE8-BF41-8E55-5EDD54F24EA9}" type="slidenum">
              <a:rPr lang="en-US" smtClean="0"/>
              <a:t>17</a:t>
            </a:fld>
            <a:endParaRPr lang="en-US"/>
          </a:p>
        </p:txBody>
      </p:sp>
    </p:spTree>
    <p:extLst>
      <p:ext uri="{BB962C8B-B14F-4D97-AF65-F5344CB8AC3E}">
        <p14:creationId xmlns:p14="http://schemas.microsoft.com/office/powerpoint/2010/main" val="4184389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Central</a:t>
            </a:r>
            <a:r>
              <a:rPr lang="en-US" sz="1200" b="0" i="0" kern="1200" dirty="0">
                <a:solidFill>
                  <a:schemeClr val="tx1"/>
                </a:solidFill>
                <a:effectLst/>
                <a:latin typeface="+mn-lt"/>
                <a:ea typeface="+mn-ea"/>
                <a:cs typeface="+mn-cs"/>
              </a:rPr>
              <a:t>: Public universities formed by passing a Central act.</a:t>
            </a:r>
          </a:p>
          <a:p>
            <a:r>
              <a:rPr lang="en-US" sz="1200" b="1" i="0" kern="1200" dirty="0">
                <a:solidFill>
                  <a:schemeClr val="tx1"/>
                </a:solidFill>
                <a:effectLst/>
                <a:latin typeface="+mn-lt"/>
                <a:ea typeface="+mn-ea"/>
                <a:cs typeface="+mn-cs"/>
              </a:rPr>
              <a:t>State</a:t>
            </a:r>
            <a:r>
              <a:rPr lang="en-US" sz="1200" b="0" i="0" kern="1200" dirty="0">
                <a:solidFill>
                  <a:schemeClr val="tx1"/>
                </a:solidFill>
                <a:effectLst/>
                <a:latin typeface="+mn-lt"/>
                <a:ea typeface="+mn-ea"/>
                <a:cs typeface="+mn-cs"/>
              </a:rPr>
              <a:t>: Public universities formed by passing a State act.</a:t>
            </a:r>
          </a:p>
          <a:p>
            <a:r>
              <a:rPr lang="en-US" sz="1200" b="1" i="0" kern="1200" dirty="0">
                <a:solidFill>
                  <a:schemeClr val="tx1"/>
                </a:solidFill>
                <a:effectLst/>
                <a:latin typeface="+mn-lt"/>
                <a:ea typeface="+mn-ea"/>
                <a:cs typeface="+mn-cs"/>
              </a:rPr>
              <a:t>Private</a:t>
            </a:r>
            <a:r>
              <a:rPr lang="en-US" sz="1200" b="0" i="0" kern="1200" dirty="0">
                <a:solidFill>
                  <a:schemeClr val="tx1"/>
                </a:solidFill>
                <a:effectLst/>
                <a:latin typeface="+mn-lt"/>
                <a:ea typeface="+mn-ea"/>
                <a:cs typeface="+mn-cs"/>
              </a:rPr>
              <a:t>: Universities established through a state or central act by a sponsoring body which can be a registered Society, Trust or Non-profit Company. Unlike public universities, they do not have the powers to affiliate colleges but they do have license to set their own criteria for admission, syllabus, etc.</a:t>
            </a:r>
          </a:p>
          <a:p>
            <a:r>
              <a:rPr lang="en-US" sz="1200" b="1" i="0" kern="1200" dirty="0">
                <a:solidFill>
                  <a:schemeClr val="tx1"/>
                </a:solidFill>
                <a:effectLst/>
                <a:latin typeface="+mn-lt"/>
                <a:ea typeface="+mn-ea"/>
                <a:cs typeface="+mn-cs"/>
              </a:rPr>
              <a:t>Deemed</a:t>
            </a:r>
            <a:r>
              <a:rPr lang="en-US" sz="1200" b="0" i="0" kern="1200" dirty="0">
                <a:solidFill>
                  <a:schemeClr val="tx1"/>
                </a:solidFill>
                <a:effectLst/>
                <a:latin typeface="+mn-lt"/>
                <a:ea typeface="+mn-ea"/>
                <a:cs typeface="+mn-cs"/>
              </a:rPr>
              <a:t>: The UGC website defines a Deemed University as “a high-performing institution, which has been so declared by Central Government under Section 3 of the University Grants Commission (UGC) Act, 1956”. They can be either public or privately-funded. An example of a public deemed university is the Indian Institute of Science, Bangalore and an example of a private deemed university is </a:t>
            </a:r>
            <a:r>
              <a:rPr lang="en-US" sz="1200" b="0" i="0" kern="1200" dirty="0" err="1">
                <a:solidFill>
                  <a:schemeClr val="tx1"/>
                </a:solidFill>
                <a:effectLst/>
                <a:latin typeface="+mn-lt"/>
                <a:ea typeface="+mn-ea"/>
                <a:cs typeface="+mn-cs"/>
              </a:rPr>
              <a:t>Manipal</a:t>
            </a:r>
            <a:r>
              <a:rPr lang="en-US" sz="1200" b="0" i="0" kern="1200" dirty="0">
                <a:solidFill>
                  <a:schemeClr val="tx1"/>
                </a:solidFill>
                <a:effectLst/>
                <a:latin typeface="+mn-lt"/>
                <a:ea typeface="+mn-ea"/>
                <a:cs typeface="+mn-cs"/>
              </a:rPr>
              <a:t> University near Mangalore.</a:t>
            </a:r>
          </a:p>
          <a:p>
            <a:endParaRPr lang="en-US" dirty="0"/>
          </a:p>
        </p:txBody>
      </p:sp>
      <p:sp>
        <p:nvSpPr>
          <p:cNvPr id="4" name="Slide Number Placeholder 3"/>
          <p:cNvSpPr>
            <a:spLocks noGrp="1"/>
          </p:cNvSpPr>
          <p:nvPr>
            <p:ph type="sldNum" sz="quarter" idx="10"/>
          </p:nvPr>
        </p:nvSpPr>
        <p:spPr/>
        <p:txBody>
          <a:bodyPr/>
          <a:lstStyle/>
          <a:p>
            <a:fld id="{8E679869-FF12-4C9E-91BE-C159E1896EE8}" type="slidenum">
              <a:rPr lang="en-US" smtClean="0"/>
              <a:pPr/>
              <a:t>19</a:t>
            </a:fld>
            <a:endParaRPr lang="en-US"/>
          </a:p>
        </p:txBody>
      </p:sp>
    </p:spTree>
    <p:extLst>
      <p:ext uri="{BB962C8B-B14F-4D97-AF65-F5344CB8AC3E}">
        <p14:creationId xmlns:p14="http://schemas.microsoft.com/office/powerpoint/2010/main" val="3467793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eaLnBrk="1" hangingPunct="1"/>
            <a:r>
              <a:rPr lang="en-US" altLang="en-US" sz="1200" dirty="0">
                <a:cs typeface="Times New Roman" panose="02020603050405020304" pitchFamily="18" charset="0"/>
              </a:rPr>
              <a:t>Universities focusing on a particular discipline  </a:t>
            </a:r>
          </a:p>
          <a:p>
            <a:pPr algn="just" eaLnBrk="1" hangingPunct="1"/>
            <a:r>
              <a:rPr lang="en-US" altLang="en-US" sz="1200" dirty="0">
                <a:cs typeface="Times New Roman" panose="02020603050405020304" pitchFamily="18" charset="0"/>
              </a:rPr>
              <a:t>     like Agriculture, Ayurvedic, Medicine,      </a:t>
            </a:r>
          </a:p>
          <a:p>
            <a:pPr algn="just" eaLnBrk="1" hangingPunct="1"/>
            <a:r>
              <a:rPr lang="en-US" altLang="en-US" sz="1200" dirty="0">
                <a:cs typeface="Times New Roman" panose="02020603050405020304" pitchFamily="18" charset="0"/>
              </a:rPr>
              <a:t>     Technical, Law, Forensic Science, etc.</a:t>
            </a:r>
          </a:p>
          <a:p>
            <a:pPr algn="just" eaLnBrk="1" hangingPunct="1"/>
            <a:endParaRPr lang="en-US" altLang="en-US" sz="1200" dirty="0">
              <a:cs typeface="Times New Roman" panose="02020603050405020304" pitchFamily="18" charset="0"/>
            </a:endParaRPr>
          </a:p>
          <a:p>
            <a:pPr algn="just" eaLnBrk="1" hangingPunct="1"/>
            <a:r>
              <a:rPr lang="en-US" altLang="en-US" sz="1200" dirty="0">
                <a:cs typeface="Times New Roman" panose="02020603050405020304" pitchFamily="18" charset="0"/>
              </a:rPr>
              <a:t>► Deemed to be University </a:t>
            </a:r>
            <a:r>
              <a:rPr lang="en-US" altLang="en-US" sz="1100" dirty="0">
                <a:cs typeface="Times New Roman" panose="02020603050405020304" pitchFamily="18" charset="0"/>
              </a:rPr>
              <a:t>(Full Fledged &amp;  De-novo)</a:t>
            </a:r>
          </a:p>
          <a:p>
            <a:pPr algn="just" eaLnBrk="1" hangingPunct="1"/>
            <a:r>
              <a:rPr lang="en-US" altLang="en-US" sz="1200" dirty="0">
                <a:cs typeface="Times New Roman" panose="02020603050405020304" pitchFamily="18" charset="0"/>
              </a:rPr>
              <a:t>► Open University</a:t>
            </a:r>
          </a:p>
          <a:p>
            <a:pPr algn="just" eaLnBrk="1" hangingPunct="1"/>
            <a:r>
              <a:rPr lang="en-US" altLang="en-US" sz="1200" dirty="0">
                <a:cs typeface="Times New Roman" panose="02020603050405020304" pitchFamily="18" charset="0"/>
              </a:rPr>
              <a:t>► Private University (PPP &amp; 100% self financed)</a:t>
            </a:r>
          </a:p>
          <a:p>
            <a:pPr algn="just" eaLnBrk="1" hangingPunct="1"/>
            <a:r>
              <a:rPr lang="en-US" altLang="en-US" sz="1200" dirty="0">
                <a:cs typeface="Times New Roman" panose="02020603050405020304" pitchFamily="18" charset="0"/>
              </a:rPr>
              <a:t>► Language University</a:t>
            </a:r>
          </a:p>
          <a:p>
            <a:pPr algn="just" eaLnBrk="1" hangingPunct="1"/>
            <a:r>
              <a:rPr lang="en-US" altLang="en-US" sz="1200" dirty="0">
                <a:cs typeface="Times New Roman" panose="02020603050405020304" pitchFamily="18" charset="0"/>
              </a:rPr>
              <a:t>► Raksha University</a:t>
            </a:r>
          </a:p>
          <a:p>
            <a:pPr algn="just" eaLnBrk="1" hangingPunct="1"/>
            <a:r>
              <a:rPr lang="en-US" altLang="en-US" sz="1200" dirty="0">
                <a:cs typeface="Times New Roman" panose="02020603050405020304" pitchFamily="18" charset="0"/>
              </a:rPr>
              <a:t>► Children University</a:t>
            </a:r>
          </a:p>
          <a:p>
            <a:pPr algn="just" eaLnBrk="1" hangingPunct="1"/>
            <a:r>
              <a:rPr lang="en-US" altLang="en-US" sz="1200" dirty="0">
                <a:cs typeface="Times New Roman" panose="02020603050405020304" pitchFamily="18" charset="0"/>
              </a:rPr>
              <a:t>► Sports University</a:t>
            </a:r>
          </a:p>
          <a:p>
            <a:pPr algn="just" eaLnBrk="1" hangingPunct="1"/>
            <a:r>
              <a:rPr lang="en-US" altLang="en-US" sz="1200" dirty="0">
                <a:cs typeface="Times New Roman" panose="02020603050405020304" pitchFamily="18" charset="0"/>
              </a:rPr>
              <a:t>► Yoga University, etc.</a:t>
            </a:r>
          </a:p>
        </p:txBody>
      </p:sp>
      <p:sp>
        <p:nvSpPr>
          <p:cNvPr id="4" name="Slide Number Placeholder 3"/>
          <p:cNvSpPr>
            <a:spLocks noGrp="1"/>
          </p:cNvSpPr>
          <p:nvPr>
            <p:ph type="sldNum" sz="quarter" idx="5"/>
          </p:nvPr>
        </p:nvSpPr>
        <p:spPr/>
        <p:txBody>
          <a:bodyPr/>
          <a:lstStyle/>
          <a:p>
            <a:fld id="{36105C90-1CE8-BF41-8E55-5EDD54F24EA9}" type="slidenum">
              <a:rPr lang="en-US" smtClean="0"/>
              <a:t>20</a:t>
            </a:fld>
            <a:endParaRPr lang="en-US"/>
          </a:p>
        </p:txBody>
      </p:sp>
    </p:spTree>
    <p:extLst>
      <p:ext uri="{BB962C8B-B14F-4D97-AF65-F5344CB8AC3E}">
        <p14:creationId xmlns:p14="http://schemas.microsoft.com/office/powerpoint/2010/main" val="3212919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05C90-1CE8-BF41-8E55-5EDD54F24EA9}" type="slidenum">
              <a:rPr lang="en-US" smtClean="0"/>
              <a:t>23</a:t>
            </a:fld>
            <a:endParaRPr lang="en-US"/>
          </a:p>
        </p:txBody>
      </p:sp>
    </p:spTree>
    <p:extLst>
      <p:ext uri="{BB962C8B-B14F-4D97-AF65-F5344CB8AC3E}">
        <p14:creationId xmlns:p14="http://schemas.microsoft.com/office/powerpoint/2010/main" val="3480518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Education policymakers and planners both at the </a:t>
            </a:r>
            <a:r>
              <a:rPr lang="en-GB" sz="1200" kern="1200" dirty="0" err="1">
                <a:solidFill>
                  <a:schemeClr val="tx1"/>
                </a:solidFill>
                <a:effectLst/>
                <a:latin typeface="+mn-lt"/>
                <a:ea typeface="+mn-ea"/>
                <a:cs typeface="+mn-cs"/>
              </a:rPr>
              <a:t>Center</a:t>
            </a:r>
            <a:r>
              <a:rPr lang="en-GB" sz="1200" kern="1200" dirty="0">
                <a:solidFill>
                  <a:schemeClr val="tx1"/>
                </a:solidFill>
                <a:effectLst/>
                <a:latin typeface="+mn-lt"/>
                <a:ea typeface="+mn-ea"/>
                <a:cs typeface="+mn-cs"/>
              </a:rPr>
              <a:t> and the states have to take cognisance of the demographic trends and enrolment patterns across the states while planning and allocating budget. For example, in Delhi, the change in higher education enrolment will be driven mainly by migration of youth from across India. In Tamil Nadu, enrolment trends will be driven primarily by an increase in GER rather than demographic change, whereas in Bihar there is enormous scope for expansion both due to demographic change and enrolment rate increase.</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6105C90-1CE8-BF41-8E55-5EDD54F24EA9}" type="slidenum">
              <a:rPr lang="en-US" smtClean="0"/>
              <a:t>41</a:t>
            </a:fld>
            <a:endParaRPr lang="en-US"/>
          </a:p>
        </p:txBody>
      </p:sp>
    </p:spTree>
    <p:extLst>
      <p:ext uri="{BB962C8B-B14F-4D97-AF65-F5344CB8AC3E}">
        <p14:creationId xmlns:p14="http://schemas.microsoft.com/office/powerpoint/2010/main" val="3639680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544245DA-3A76-3143-8523-D9A2A93DB44D}"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6655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A3026F7-67CD-F543-8B15-73E61A560F1C}"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3142397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GB"/>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95F684C-2EF0-E34A-A7F5-22B4CD53DCC5}"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5073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2E146B5D-2A27-4A43-B48C-047912944B75}" type="datetime1">
              <a:rPr lang="en-IN" smtClean="0"/>
              <a:t>03-07-2026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1399597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GB"/>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EA7BEE5-9369-0F45-A964-0F192E77D9DC}" type="datetime1">
              <a:rPr lang="en-IN" smtClean="0"/>
              <a:t>03-07-2026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1839731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4816F48-C5A2-8149-B3B1-A3E341CF0FA4}" type="datetime1">
              <a:rPr lang="en-IN" smtClean="0"/>
              <a:t>03-07-2026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54822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558C16-CE53-7840-9650-C0D880F933FE}" type="datetime1">
              <a:rPr lang="en-IN" smtClean="0"/>
              <a:t>03-07-2026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2369858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GB"/>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23349253-D29A-E447-9AD1-9767E738CFB1}" type="datetime1">
              <a:rPr lang="en-IN" smtClean="0"/>
              <a:t>03-07-2026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428120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4F8A5D8-61A5-4C47-A134-232010EFB265}" type="datetime1">
              <a:rPr lang="en-IN" smtClean="0"/>
              <a:t>03-07-2026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EC99F6A-E93D-4C9C-AA2B-FA96051C5F3E}"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971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A54DEBF-8463-7D4F-9AD3-55A5D8886D8A}"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spTree>
    <p:extLst>
      <p:ext uri="{BB962C8B-B14F-4D97-AF65-F5344CB8AC3E}">
        <p14:creationId xmlns:p14="http://schemas.microsoft.com/office/powerpoint/2010/main" val="1679558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GB"/>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5437625-6131-A94D-8A42-0230E1DEB5EF}" type="datetime1">
              <a:rPr lang="en-IN" smtClean="0"/>
              <a:t>03-07-2026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EC99F6A-E93D-4C9C-AA2B-FA96051C5F3E}"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060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AC7BF71-686A-B04E-A049-BE68181557DA}" type="datetime1">
              <a:rPr lang="en-IN" smtClean="0"/>
              <a:t>03-07-2026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EC99F6A-E93D-4C9C-AA2B-FA96051C5F3E}"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40433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http://thewire.in/5792/demystifying-higher-education-in-india-part-one/"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hyperlink" Target="http://thewire.in/5792/demystifying-higher-education-in-india-part-one/"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hyperlink" Target="http://thewire.in/5792/demystifying-higher-education-in-india-part-one/"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http://thewire.in/5792/demystifying-higher-education-in-india-part-one/"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censusindia.gov.in/2011census/C-series/C-14.htmlhttp:/" TargetMode="External"/><Relationship Id="rId2" Type="http://schemas.openxmlformats.org/officeDocument/2006/relationships/image" Target="../media/image28.png"/><Relationship Id="rId1" Type="http://schemas.openxmlformats.org/officeDocument/2006/relationships/slideLayout" Target="../slideLayouts/slideLayout6.xml"/><Relationship Id="rId4" Type="http://schemas.openxmlformats.org/officeDocument/2006/relationships/hyperlink" Target="http://www.censusindia.gov.in/vital_statistics/SRS_Reports_2014.html"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www.censusindia.gov.in/2011census/C-series/C-14.htmlhttp:/" TargetMode="External"/><Relationship Id="rId2" Type="http://schemas.openxmlformats.org/officeDocument/2006/relationships/image" Target="../media/image28.png"/><Relationship Id="rId1" Type="http://schemas.openxmlformats.org/officeDocument/2006/relationships/slideLayout" Target="../slideLayouts/slideLayout6.xml"/><Relationship Id="rId4" Type="http://schemas.openxmlformats.org/officeDocument/2006/relationships/hyperlink" Target="http://www.censusindia.gov.in/vital_statistics/SRS_Reports_2014.html"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5004" y="4918586"/>
            <a:ext cx="9966960" cy="1367596"/>
          </a:xfrm>
        </p:spPr>
        <p:txBody>
          <a:bodyPr/>
          <a:lstStyle/>
          <a:p>
            <a:pPr algn="ctr"/>
            <a:r>
              <a:rPr lang="en-US" sz="4400" dirty="0"/>
              <a:t>PUBP309: EDUCATION POLICY</a:t>
            </a:r>
            <a:br>
              <a:rPr lang="en-US" sz="4400" dirty="0"/>
            </a:br>
            <a:endParaRPr lang="en-US" sz="4400" dirty="0"/>
          </a:p>
        </p:txBody>
      </p:sp>
      <p:sp>
        <p:nvSpPr>
          <p:cNvPr id="3" name="Subtitle 2"/>
          <p:cNvSpPr>
            <a:spLocks noGrp="1"/>
          </p:cNvSpPr>
          <p:nvPr>
            <p:ph type="subTitle" idx="1"/>
          </p:nvPr>
        </p:nvSpPr>
        <p:spPr>
          <a:xfrm>
            <a:off x="8974394" y="5306782"/>
            <a:ext cx="2654570" cy="1069848"/>
          </a:xfrm>
        </p:spPr>
        <p:txBody>
          <a:bodyPr/>
          <a:lstStyle/>
          <a:p>
            <a:pPr algn="ctr"/>
            <a:r>
              <a:rPr lang="en-US" dirty="0"/>
              <a:t>Shivakumar Jolad</a:t>
            </a:r>
          </a:p>
          <a:p>
            <a:pPr algn="ctr"/>
            <a:r>
              <a:rPr lang="en-US" dirty="0"/>
              <a:t>FLAME University</a:t>
            </a:r>
          </a:p>
        </p:txBody>
      </p:sp>
      <p:sp>
        <p:nvSpPr>
          <p:cNvPr id="6" name="Slide Number Placeholder 5">
            <a:extLst>
              <a:ext uri="{FF2B5EF4-FFF2-40B4-BE49-F238E27FC236}">
                <a16:creationId xmlns:a16="http://schemas.microsoft.com/office/drawing/2014/main" id="{8D1E6D7E-851E-854F-AC8A-C99D45C2FA51}"/>
              </a:ext>
            </a:extLst>
          </p:cNvPr>
          <p:cNvSpPr>
            <a:spLocks noGrp="1"/>
          </p:cNvSpPr>
          <p:nvPr>
            <p:ph type="sldNum" sz="quarter" idx="12"/>
          </p:nvPr>
        </p:nvSpPr>
        <p:spPr/>
        <p:txBody>
          <a:bodyPr/>
          <a:lstStyle/>
          <a:p>
            <a:fld id="{AEC99F6A-E93D-4C9C-AA2B-FA96051C5F3E}" type="slidenum">
              <a:rPr lang="en-US" smtClean="0"/>
              <a:t>1</a:t>
            </a:fld>
            <a:endParaRPr lang="en-US"/>
          </a:p>
        </p:txBody>
      </p:sp>
      <p:sp>
        <p:nvSpPr>
          <p:cNvPr id="5" name="TextBox 4"/>
          <p:cNvSpPr txBox="1"/>
          <p:nvPr/>
        </p:nvSpPr>
        <p:spPr>
          <a:xfrm>
            <a:off x="1609683" y="6145797"/>
            <a:ext cx="6112764" cy="461665"/>
          </a:xfrm>
          <a:prstGeom prst="rect">
            <a:avLst/>
          </a:prstGeom>
          <a:noFill/>
        </p:spPr>
        <p:txBody>
          <a:bodyPr wrap="none" rtlCol="0">
            <a:spAutoFit/>
          </a:bodyPr>
          <a:lstStyle/>
          <a:p>
            <a:r>
              <a:rPr lang="en-US" sz="2400" b="1" dirty="0">
                <a:solidFill>
                  <a:srgbClr val="0070C0"/>
                </a:solidFill>
              </a:rPr>
              <a:t>Higher education History and structure</a:t>
            </a:r>
          </a:p>
        </p:txBody>
      </p:sp>
    </p:spTree>
    <p:extLst>
      <p:ext uri="{BB962C8B-B14F-4D97-AF65-F5344CB8AC3E}">
        <p14:creationId xmlns:p14="http://schemas.microsoft.com/office/powerpoint/2010/main" val="1218674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A249A1-C62B-5840-322B-D16A542F4048}"/>
              </a:ext>
            </a:extLst>
          </p:cNvPr>
          <p:cNvSpPr>
            <a:spLocks noGrp="1"/>
          </p:cNvSpPr>
          <p:nvPr>
            <p:ph type="title"/>
          </p:nvPr>
        </p:nvSpPr>
        <p:spPr/>
        <p:txBody>
          <a:bodyPr/>
          <a:lstStyle/>
          <a:p>
            <a:r>
              <a:rPr lang="en-IN" dirty="0"/>
              <a:t>Brief history-RECAP</a:t>
            </a:r>
          </a:p>
        </p:txBody>
      </p:sp>
      <p:sp>
        <p:nvSpPr>
          <p:cNvPr id="6" name="Text Placeholder 5">
            <a:extLst>
              <a:ext uri="{FF2B5EF4-FFF2-40B4-BE49-F238E27FC236}">
                <a16:creationId xmlns:a16="http://schemas.microsoft.com/office/drawing/2014/main" id="{BF41AC1C-A288-1841-BC04-F9FCD144F91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1C996A7-D74C-6FB2-2168-23653BC77A5D}"/>
              </a:ext>
            </a:extLst>
          </p:cNvPr>
          <p:cNvSpPr>
            <a:spLocks noGrp="1"/>
          </p:cNvSpPr>
          <p:nvPr>
            <p:ph type="sldNum" sz="quarter" idx="12"/>
          </p:nvPr>
        </p:nvSpPr>
        <p:spPr/>
        <p:txBody>
          <a:bodyPr/>
          <a:lstStyle/>
          <a:p>
            <a:fld id="{AEC99F6A-E93D-4C9C-AA2B-FA96051C5F3E}" type="slidenum">
              <a:rPr lang="en-US" smtClean="0"/>
              <a:t>2</a:t>
            </a:fld>
            <a:endParaRPr lang="en-US"/>
          </a:p>
        </p:txBody>
      </p:sp>
    </p:spTree>
    <p:extLst>
      <p:ext uri="{BB962C8B-B14F-4D97-AF65-F5344CB8AC3E}">
        <p14:creationId xmlns:p14="http://schemas.microsoft.com/office/powerpoint/2010/main" val="2373046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8F5C75-4E66-2D4B-80E6-BE8BBDF9D712}"/>
              </a:ext>
            </a:extLst>
          </p:cNvPr>
          <p:cNvSpPr>
            <a:spLocks noGrp="1"/>
          </p:cNvSpPr>
          <p:nvPr>
            <p:ph type="sldNum" sz="quarter" idx="12"/>
          </p:nvPr>
        </p:nvSpPr>
        <p:spPr/>
        <p:txBody>
          <a:bodyPr/>
          <a:lstStyle/>
          <a:p>
            <a:fld id="{AEC99F6A-E93D-4C9C-AA2B-FA96051C5F3E}" type="slidenum">
              <a:rPr lang="en-US" smtClean="0"/>
              <a:t>3</a:t>
            </a:fld>
            <a:endParaRPr lang="en-US"/>
          </a:p>
        </p:txBody>
      </p:sp>
      <p:pic>
        <p:nvPicPr>
          <p:cNvPr id="11270" name="Picture 6" descr="Calcutta University to conduct uniform PG exam in all affiliated colleges  from this academic year">
            <a:extLst>
              <a:ext uri="{FF2B5EF4-FFF2-40B4-BE49-F238E27FC236}">
                <a16:creationId xmlns:a16="http://schemas.microsoft.com/office/drawing/2014/main" id="{BE639121-59B0-994C-B858-EB6CD0005C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410"/>
          <a:stretch/>
        </p:blipFill>
        <p:spPr bwMode="auto">
          <a:xfrm>
            <a:off x="281879" y="377658"/>
            <a:ext cx="5814121" cy="2871787"/>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Established in 1857, Mumbai University completes 161 years">
            <a:extLst>
              <a:ext uri="{FF2B5EF4-FFF2-40B4-BE49-F238E27FC236}">
                <a16:creationId xmlns:a16="http://schemas.microsoft.com/office/drawing/2014/main" id="{E9793E92-D5FC-8748-A5BC-89ECB14739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7881" y="113109"/>
            <a:ext cx="5481592" cy="3075782"/>
          </a:xfrm>
          <a:prstGeom prst="rect">
            <a:avLst/>
          </a:prstGeom>
          <a:noFill/>
          <a:extLst>
            <a:ext uri="{909E8E84-426E-40DD-AFC4-6F175D3DCCD1}">
              <a14:hiddenFill xmlns:a14="http://schemas.microsoft.com/office/drawing/2010/main">
                <a:solidFill>
                  <a:srgbClr val="FFFFFF"/>
                </a:solidFill>
              </a14:hiddenFill>
            </a:ext>
          </a:extLst>
        </p:spPr>
      </p:pic>
      <p:pic>
        <p:nvPicPr>
          <p:cNvPr id="11274" name="Picture 10" descr="University Of Madras (Distance Education), Chepauk - Universities in  Chennai - Justdial">
            <a:extLst>
              <a:ext uri="{FF2B5EF4-FFF2-40B4-BE49-F238E27FC236}">
                <a16:creationId xmlns:a16="http://schemas.microsoft.com/office/drawing/2014/main" id="{769D7C17-CDAF-1449-83DF-64E810D3E2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6050" y="3628993"/>
            <a:ext cx="4429125" cy="302935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61D3253-F350-2E49-B93A-69738BEFC5F8}"/>
              </a:ext>
            </a:extLst>
          </p:cNvPr>
          <p:cNvSpPr txBox="1"/>
          <p:nvPr/>
        </p:nvSpPr>
        <p:spPr>
          <a:xfrm>
            <a:off x="7871669" y="3178669"/>
            <a:ext cx="2494016" cy="369332"/>
          </a:xfrm>
          <a:prstGeom prst="rect">
            <a:avLst/>
          </a:prstGeom>
          <a:noFill/>
        </p:spPr>
        <p:txBody>
          <a:bodyPr wrap="none" rtlCol="0">
            <a:spAutoFit/>
          </a:bodyPr>
          <a:lstStyle/>
          <a:p>
            <a:r>
              <a:rPr lang="en-US" dirty="0"/>
              <a:t>University of Bombay </a:t>
            </a:r>
          </a:p>
        </p:txBody>
      </p:sp>
      <p:sp>
        <p:nvSpPr>
          <p:cNvPr id="11" name="TextBox 10">
            <a:extLst>
              <a:ext uri="{FF2B5EF4-FFF2-40B4-BE49-F238E27FC236}">
                <a16:creationId xmlns:a16="http://schemas.microsoft.com/office/drawing/2014/main" id="{F67A2017-40EA-6547-B097-55183E53896A}"/>
              </a:ext>
            </a:extLst>
          </p:cNvPr>
          <p:cNvSpPr txBox="1"/>
          <p:nvPr/>
        </p:nvSpPr>
        <p:spPr>
          <a:xfrm>
            <a:off x="7423994" y="6244229"/>
            <a:ext cx="2415918" cy="369332"/>
          </a:xfrm>
          <a:prstGeom prst="rect">
            <a:avLst/>
          </a:prstGeom>
          <a:noFill/>
        </p:spPr>
        <p:txBody>
          <a:bodyPr wrap="none" rtlCol="0">
            <a:spAutoFit/>
          </a:bodyPr>
          <a:lstStyle/>
          <a:p>
            <a:r>
              <a:rPr lang="en-US" dirty="0"/>
              <a:t>University of Madras </a:t>
            </a:r>
          </a:p>
        </p:txBody>
      </p:sp>
    </p:spTree>
    <p:extLst>
      <p:ext uri="{BB962C8B-B14F-4D97-AF65-F5344CB8AC3E}">
        <p14:creationId xmlns:p14="http://schemas.microsoft.com/office/powerpoint/2010/main" val="188362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Shape 129"/>
          <p:cNvSpPr txBox="1">
            <a:spLocks noGrp="1"/>
          </p:cNvSpPr>
          <p:nvPr>
            <p:ph type="title"/>
          </p:nvPr>
        </p:nvSpPr>
        <p:spPr>
          <a:xfrm>
            <a:off x="524712" y="0"/>
            <a:ext cx="10515599" cy="1325562"/>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sz="4400" b="0" i="0" u="none" strike="noStrike" cap="none" dirty="0">
                <a:solidFill>
                  <a:schemeClr val="dk1"/>
                </a:solidFill>
                <a:latin typeface="Calibri"/>
                <a:ea typeface="Calibri"/>
                <a:cs typeface="Calibri"/>
                <a:sym typeface="Calibri"/>
              </a:rPr>
              <a:t>Establishment of Universities</a:t>
            </a:r>
          </a:p>
        </p:txBody>
      </p:sp>
      <p:sp>
        <p:nvSpPr>
          <p:cNvPr id="130" name="Shape 130"/>
          <p:cNvSpPr txBox="1">
            <a:spLocks noGrp="1"/>
          </p:cNvSpPr>
          <p:nvPr>
            <p:ph idx="1"/>
          </p:nvPr>
        </p:nvSpPr>
        <p:spPr>
          <a:xfrm>
            <a:off x="1066801" y="1133441"/>
            <a:ext cx="10515599" cy="4788387"/>
          </a:xfrm>
          <a:prstGeom prst="rect">
            <a:avLst/>
          </a:prstGeom>
          <a:noFill/>
          <a:ln>
            <a:noFill/>
          </a:ln>
        </p:spPr>
        <p:txBody>
          <a:bodyPr lIns="91425" tIns="45700" rIns="91425" bIns="45700" anchor="t" anchorCtr="0">
            <a:noAutofit/>
          </a:bodyPr>
          <a:lstStyle/>
          <a:p>
            <a:pPr marL="228600" marR="0" lvl="0" indent="-228600" algn="l" rtl="0">
              <a:lnSpc>
                <a:spcPct val="90000"/>
              </a:lnSpc>
              <a:spcBef>
                <a:spcPts val="0"/>
              </a:spcBef>
              <a:buClr>
                <a:schemeClr val="dk1"/>
              </a:buClr>
              <a:buSzPct val="100000"/>
              <a:buFont typeface="Arial"/>
              <a:buChar char="•"/>
            </a:pPr>
            <a:r>
              <a:rPr lang="en-US" sz="2400" b="0" i="0" u="none" strike="noStrike" cap="none" dirty="0">
                <a:solidFill>
                  <a:schemeClr val="dk1"/>
                </a:solidFill>
                <a:latin typeface="Calibri"/>
                <a:ea typeface="Calibri"/>
                <a:cs typeface="Calibri"/>
                <a:sym typeface="Calibri"/>
              </a:rPr>
              <a:t>The Despatch recommended the </a:t>
            </a:r>
            <a:r>
              <a:rPr lang="en-US" sz="2400" b="1" i="0" u="none" strike="noStrike" cap="none" dirty="0">
                <a:solidFill>
                  <a:schemeClr val="accent2"/>
                </a:solidFill>
                <a:latin typeface="Calibri"/>
                <a:ea typeface="Calibri"/>
                <a:cs typeface="Calibri"/>
                <a:sym typeface="Calibri"/>
              </a:rPr>
              <a:t>establishment of universities </a:t>
            </a:r>
            <a:r>
              <a:rPr lang="en-US" sz="2400" i="0" u="none" strike="noStrike" cap="none" dirty="0">
                <a:solidFill>
                  <a:schemeClr val="dk1"/>
                </a:solidFill>
                <a:latin typeface="Calibri"/>
                <a:ea typeface="Calibri"/>
                <a:cs typeface="Calibri"/>
                <a:sym typeface="Calibri"/>
              </a:rPr>
              <a:t>in the three Presidency towns of</a:t>
            </a:r>
            <a:r>
              <a:rPr lang="en-US" sz="2400" b="1" i="0" u="none" strike="noStrike" cap="none" dirty="0">
                <a:solidFill>
                  <a:schemeClr val="dk1"/>
                </a:solidFill>
                <a:latin typeface="Calibri"/>
                <a:ea typeface="Calibri"/>
                <a:cs typeface="Calibri"/>
                <a:sym typeface="Calibri"/>
              </a:rPr>
              <a:t> </a:t>
            </a:r>
            <a:r>
              <a:rPr lang="en-US" sz="2400" b="1" i="0" u="none" strike="noStrike" cap="none" dirty="0">
                <a:solidFill>
                  <a:schemeClr val="accent2"/>
                </a:solidFill>
                <a:latin typeface="Calibri"/>
                <a:ea typeface="Calibri"/>
                <a:cs typeface="Calibri"/>
                <a:sym typeface="Calibri"/>
              </a:rPr>
              <a:t>Calcutta, Bombay </a:t>
            </a:r>
            <a:r>
              <a:rPr lang="en-US" sz="2400" b="1" i="0" u="none" strike="noStrike" cap="none" dirty="0">
                <a:latin typeface="Calibri"/>
                <a:ea typeface="Calibri"/>
                <a:cs typeface="Calibri"/>
                <a:sym typeface="Calibri"/>
              </a:rPr>
              <a:t>and</a:t>
            </a:r>
            <a:r>
              <a:rPr lang="en-US" sz="2400" b="1" i="0" u="none" strike="noStrike" cap="none" dirty="0">
                <a:solidFill>
                  <a:schemeClr val="accent2"/>
                </a:solidFill>
                <a:latin typeface="Calibri"/>
                <a:ea typeface="Calibri"/>
                <a:cs typeface="Calibri"/>
                <a:sym typeface="Calibri"/>
              </a:rPr>
              <a:t> Madras</a:t>
            </a:r>
            <a:r>
              <a:rPr lang="en-US" sz="2400" b="0" i="0" u="none" strike="noStrike" cap="none" dirty="0">
                <a:solidFill>
                  <a:schemeClr val="accent2"/>
                </a:solidFill>
                <a:latin typeface="Calibri"/>
                <a:ea typeface="Calibri"/>
                <a:cs typeface="Calibri"/>
                <a:sym typeface="Calibri"/>
              </a:rPr>
              <a:t>.</a:t>
            </a:r>
          </a:p>
          <a:p>
            <a:pPr marL="228600" marR="0" lvl="0" indent="-228600" algn="l" rtl="0">
              <a:lnSpc>
                <a:spcPct val="90000"/>
              </a:lnSpc>
              <a:spcBef>
                <a:spcPts val="0"/>
              </a:spcBef>
              <a:buClr>
                <a:schemeClr val="dk1"/>
              </a:buClr>
              <a:buSzPct val="100000"/>
              <a:buFont typeface="Arial"/>
              <a:buChar char="•"/>
            </a:pPr>
            <a:endParaRPr lang="en-US" sz="2400" dirty="0">
              <a:solidFill>
                <a:schemeClr val="accent2"/>
              </a:solidFill>
              <a:latin typeface="Calibri"/>
              <a:ea typeface="Calibri"/>
              <a:cs typeface="Calibri"/>
              <a:sym typeface="Calibri"/>
            </a:endParaRPr>
          </a:p>
          <a:p>
            <a:pPr marL="228600" marR="0" lvl="0" indent="-228600" algn="l" rtl="0">
              <a:lnSpc>
                <a:spcPct val="90000"/>
              </a:lnSpc>
              <a:spcBef>
                <a:spcPts val="0"/>
              </a:spcBef>
              <a:buClr>
                <a:schemeClr val="dk1"/>
              </a:buClr>
              <a:buSzPct val="100000"/>
              <a:buFont typeface="Arial"/>
              <a:buChar char="•"/>
            </a:pPr>
            <a:r>
              <a:rPr lang="en-US" sz="2400" b="0" i="0" u="none" strike="noStrike" cap="none" dirty="0">
                <a:solidFill>
                  <a:schemeClr val="accent2"/>
                </a:solidFill>
                <a:latin typeface="Calibri"/>
                <a:ea typeface="Calibri"/>
                <a:cs typeface="Calibri"/>
                <a:sym typeface="Calibri"/>
              </a:rPr>
              <a:t> </a:t>
            </a:r>
            <a:r>
              <a:rPr lang="en-US" sz="2400" b="0" i="0" u="none" strike="noStrike" cap="none" dirty="0">
                <a:latin typeface="Calibri"/>
                <a:ea typeface="Calibri"/>
                <a:cs typeface="Calibri"/>
                <a:sym typeface="Calibri"/>
              </a:rPr>
              <a:t>The universities were to be </a:t>
            </a:r>
            <a:r>
              <a:rPr lang="en-US" sz="2400" b="1" i="0" u="sng" strike="noStrike" cap="none" dirty="0">
                <a:solidFill>
                  <a:schemeClr val="accent2"/>
                </a:solidFill>
                <a:latin typeface="Calibri"/>
                <a:ea typeface="Calibri"/>
                <a:cs typeface="Calibri"/>
                <a:sym typeface="Calibri"/>
              </a:rPr>
              <a:t>modeled after the London University</a:t>
            </a:r>
            <a:r>
              <a:rPr lang="en-US" sz="2400" dirty="0">
                <a:solidFill>
                  <a:schemeClr val="accent2"/>
                </a:solidFill>
                <a:latin typeface="Calibri"/>
                <a:ea typeface="Calibri"/>
                <a:cs typeface="Calibri"/>
                <a:sym typeface="Calibri"/>
              </a:rPr>
              <a:t>. </a:t>
            </a:r>
            <a:r>
              <a:rPr lang="en-US" sz="2400" b="0" i="0" u="none" strike="noStrike" cap="none" dirty="0">
                <a:solidFill>
                  <a:schemeClr val="dk1"/>
                </a:solidFill>
                <a:latin typeface="Calibri"/>
                <a:ea typeface="Calibri"/>
                <a:cs typeface="Calibri"/>
                <a:sym typeface="Calibri"/>
              </a:rPr>
              <a:t>These were to have a </a:t>
            </a:r>
            <a:r>
              <a:rPr lang="en-US" sz="2400" b="1" u="sng" strike="noStrike" cap="none" dirty="0">
                <a:solidFill>
                  <a:schemeClr val="accent2"/>
                </a:solidFill>
                <a:latin typeface="Calibri"/>
                <a:ea typeface="Calibri"/>
                <a:cs typeface="Calibri"/>
                <a:sym typeface="Calibri"/>
              </a:rPr>
              <a:t>senate</a:t>
            </a:r>
            <a:r>
              <a:rPr lang="en-US" sz="2400" b="0" i="0" u="none" strike="noStrike" cap="none" dirty="0">
                <a:solidFill>
                  <a:schemeClr val="accent2"/>
                </a:solidFill>
                <a:latin typeface="Calibri"/>
                <a:ea typeface="Calibri"/>
                <a:cs typeface="Calibri"/>
                <a:sym typeface="Calibri"/>
              </a:rPr>
              <a:t> </a:t>
            </a:r>
            <a:r>
              <a:rPr lang="en-US" sz="2400" b="0" i="0" u="none" strike="noStrike" cap="none" dirty="0">
                <a:solidFill>
                  <a:schemeClr val="dk1"/>
                </a:solidFill>
                <a:latin typeface="Calibri"/>
                <a:ea typeface="Calibri"/>
                <a:cs typeface="Calibri"/>
                <a:sym typeface="Calibri"/>
              </a:rPr>
              <a:t>comprising of a </a:t>
            </a:r>
            <a:r>
              <a:rPr lang="en-US" sz="2400" b="1" i="0" u="sng" strike="noStrike" cap="none" dirty="0">
                <a:solidFill>
                  <a:schemeClr val="accent2"/>
                </a:solidFill>
                <a:latin typeface="Calibri"/>
                <a:ea typeface="Calibri"/>
                <a:cs typeface="Calibri"/>
                <a:sym typeface="Calibri"/>
              </a:rPr>
              <a:t>Chancellor, a Vice-Chancellor,</a:t>
            </a:r>
            <a:r>
              <a:rPr lang="en-US" sz="2400" b="0" i="0" u="none" strike="noStrike" cap="none" dirty="0">
                <a:solidFill>
                  <a:schemeClr val="dk1"/>
                </a:solidFill>
                <a:latin typeface="Calibri"/>
                <a:ea typeface="Calibri"/>
                <a:cs typeface="Calibri"/>
                <a:sym typeface="Calibri"/>
              </a:rPr>
              <a:t> and </a:t>
            </a:r>
            <a:r>
              <a:rPr lang="en-US" sz="2400" b="1" i="0" u="sng" strike="noStrike" cap="none" dirty="0">
                <a:solidFill>
                  <a:schemeClr val="accent2"/>
                </a:solidFill>
                <a:latin typeface="Calibri"/>
                <a:ea typeface="Calibri"/>
                <a:cs typeface="Calibri"/>
                <a:sym typeface="Calibri"/>
              </a:rPr>
              <a:t>fellows</a:t>
            </a:r>
            <a:r>
              <a:rPr lang="en-US" sz="2400" b="0" i="0" u="none" strike="noStrike" cap="none" dirty="0">
                <a:solidFill>
                  <a:schemeClr val="dk1"/>
                </a:solidFill>
                <a:latin typeface="Calibri"/>
                <a:ea typeface="Calibri"/>
                <a:cs typeface="Calibri"/>
                <a:sym typeface="Calibri"/>
              </a:rPr>
              <a:t> who were nominated by the Government.</a:t>
            </a:r>
          </a:p>
          <a:p>
            <a:pPr marL="0" marR="0" lvl="0" indent="0" algn="l" rtl="0">
              <a:lnSpc>
                <a:spcPct val="90000"/>
              </a:lnSpc>
              <a:spcBef>
                <a:spcPts val="0"/>
              </a:spcBef>
              <a:buClr>
                <a:schemeClr val="dk1"/>
              </a:buClr>
              <a:buSzPct val="100000"/>
              <a:buNone/>
            </a:pPr>
            <a:r>
              <a:rPr lang="en-US" sz="2400" b="0" i="0" u="none" strike="noStrike" cap="none" dirty="0">
                <a:solidFill>
                  <a:schemeClr val="dk1"/>
                </a:solidFill>
                <a:latin typeface="Calibri"/>
                <a:ea typeface="Calibri"/>
                <a:cs typeface="Calibri"/>
                <a:sym typeface="Calibri"/>
              </a:rPr>
              <a:t> </a:t>
            </a:r>
          </a:p>
          <a:p>
            <a:pPr marL="228600" marR="0" lvl="0" indent="-228600" algn="l" rtl="0">
              <a:lnSpc>
                <a:spcPct val="90000"/>
              </a:lnSpc>
              <a:spcBef>
                <a:spcPts val="0"/>
              </a:spcBef>
              <a:buClr>
                <a:schemeClr val="dk1"/>
              </a:buClr>
              <a:buSzPct val="100000"/>
              <a:buFont typeface="Arial"/>
              <a:buChar char="•"/>
            </a:pPr>
            <a:r>
              <a:rPr lang="en-US" sz="2400" b="0" i="0" u="none" strike="noStrike" cap="none" dirty="0">
                <a:solidFill>
                  <a:schemeClr val="dk1"/>
                </a:solidFill>
                <a:latin typeface="Calibri"/>
                <a:ea typeface="Calibri"/>
                <a:cs typeface="Calibri"/>
                <a:sym typeface="Calibri"/>
              </a:rPr>
              <a:t>The </a:t>
            </a:r>
            <a:r>
              <a:rPr lang="en-US" sz="2400" b="1" i="0" u="sng" strike="noStrike" cap="none" dirty="0">
                <a:solidFill>
                  <a:schemeClr val="accent2"/>
                </a:solidFill>
                <a:latin typeface="Calibri"/>
                <a:ea typeface="Calibri"/>
                <a:cs typeface="Calibri"/>
                <a:sym typeface="Calibri"/>
              </a:rPr>
              <a:t>Universities would confer degrees </a:t>
            </a:r>
            <a:r>
              <a:rPr lang="en-US" sz="2400" b="0" i="0" u="none" strike="noStrike" cap="none" dirty="0">
                <a:latin typeface="Calibri"/>
                <a:ea typeface="Calibri"/>
                <a:cs typeface="Calibri"/>
                <a:sym typeface="Calibri"/>
              </a:rPr>
              <a:t>to the successful candidates after passing the examinations</a:t>
            </a:r>
            <a:r>
              <a:rPr lang="en-US" sz="2400" b="0" i="0" u="none" strike="noStrike" cap="none" dirty="0">
                <a:solidFill>
                  <a:schemeClr val="dk1"/>
                </a:solidFill>
                <a:latin typeface="Calibri"/>
                <a:ea typeface="Calibri"/>
                <a:cs typeface="Calibri"/>
                <a:sym typeface="Calibri"/>
              </a:rPr>
              <a:t>, (Science, Arts or Commerce) conducted by the Senate.</a:t>
            </a:r>
          </a:p>
          <a:p>
            <a:pPr marL="228600" marR="0" lvl="0" indent="-228600" algn="l" rtl="0">
              <a:lnSpc>
                <a:spcPct val="90000"/>
              </a:lnSpc>
              <a:spcBef>
                <a:spcPts val="0"/>
              </a:spcBef>
              <a:buClr>
                <a:schemeClr val="dk1"/>
              </a:buClr>
              <a:buSzPct val="100000"/>
              <a:buFont typeface="Arial"/>
              <a:buChar char="•"/>
            </a:pPr>
            <a:endParaRPr lang="en-US" sz="2400" b="0" i="0" u="none" strike="noStrike" cap="none" dirty="0">
              <a:solidFill>
                <a:schemeClr val="dk1"/>
              </a:solidFill>
              <a:latin typeface="Calibri"/>
              <a:ea typeface="Calibri"/>
              <a:cs typeface="Calibri"/>
              <a:sym typeface="Calibri"/>
            </a:endParaRPr>
          </a:p>
          <a:p>
            <a:pPr marL="228600" marR="0" lvl="0" indent="-228600" algn="l" rtl="0">
              <a:lnSpc>
                <a:spcPct val="90000"/>
              </a:lnSpc>
              <a:spcBef>
                <a:spcPts val="0"/>
              </a:spcBef>
              <a:buClr>
                <a:schemeClr val="dk1"/>
              </a:buClr>
              <a:buSzPct val="100000"/>
              <a:buFont typeface="Arial"/>
              <a:buChar char="•"/>
            </a:pPr>
            <a:r>
              <a:rPr lang="en-US" sz="2400" b="0" i="0" u="none" strike="noStrike" cap="none" dirty="0">
                <a:solidFill>
                  <a:schemeClr val="dk1"/>
                </a:solidFill>
                <a:latin typeface="Calibri"/>
                <a:ea typeface="Calibri"/>
                <a:cs typeface="Calibri"/>
                <a:sym typeface="Calibri"/>
              </a:rPr>
              <a:t> The universities were to </a:t>
            </a:r>
            <a:r>
              <a:rPr lang="en-US" sz="2400" b="1" i="0" u="none" strike="noStrike" cap="none" dirty="0">
                <a:solidFill>
                  <a:schemeClr val="accent2"/>
                </a:solidFill>
                <a:latin typeface="Calibri"/>
                <a:ea typeface="Calibri"/>
                <a:cs typeface="Calibri"/>
                <a:sym typeface="Calibri"/>
              </a:rPr>
              <a:t>recognize departments</a:t>
            </a:r>
            <a:r>
              <a:rPr lang="en-US" sz="2400" b="0" i="0" u="none" strike="noStrike" cap="none" dirty="0">
                <a:solidFill>
                  <a:schemeClr val="dk1"/>
                </a:solidFill>
                <a:latin typeface="Calibri"/>
                <a:ea typeface="Calibri"/>
                <a:cs typeface="Calibri"/>
                <a:sym typeface="Calibri"/>
              </a:rPr>
              <a:t> not only of </a:t>
            </a:r>
            <a:r>
              <a:rPr lang="en-US" sz="2400" i="0" u="none" strike="noStrike" cap="none" dirty="0">
                <a:solidFill>
                  <a:schemeClr val="dk1"/>
                </a:solidFill>
                <a:latin typeface="Calibri"/>
                <a:ea typeface="Calibri"/>
                <a:cs typeface="Calibri"/>
                <a:sym typeface="Calibri"/>
              </a:rPr>
              <a:t>English</a:t>
            </a:r>
            <a:r>
              <a:rPr lang="en-US" sz="2400" b="0" i="0" u="none" strike="noStrike" cap="none" dirty="0">
                <a:solidFill>
                  <a:schemeClr val="dk1"/>
                </a:solidFill>
                <a:latin typeface="Calibri"/>
                <a:ea typeface="Calibri"/>
                <a:cs typeface="Calibri"/>
                <a:sym typeface="Calibri"/>
              </a:rPr>
              <a:t> but also of </a:t>
            </a:r>
            <a:r>
              <a:rPr lang="en-US" sz="2400" b="1" i="0" u="none" strike="noStrike" cap="none" dirty="0">
                <a:solidFill>
                  <a:schemeClr val="accent2"/>
                </a:solidFill>
                <a:latin typeface="Calibri"/>
                <a:ea typeface="Calibri"/>
                <a:cs typeface="Calibri"/>
                <a:sym typeface="Calibri"/>
              </a:rPr>
              <a:t>Arabic, Sanskrit </a:t>
            </a:r>
            <a:r>
              <a:rPr lang="en-US" sz="2400" i="0" u="none" strike="noStrike" cap="none" dirty="0">
                <a:latin typeface="Calibri"/>
                <a:ea typeface="Calibri"/>
                <a:cs typeface="Calibri"/>
                <a:sym typeface="Calibri"/>
              </a:rPr>
              <a:t>and</a:t>
            </a:r>
            <a:r>
              <a:rPr lang="en-US" sz="2400" b="1" i="0" u="none" strike="noStrike" cap="none" dirty="0">
                <a:solidFill>
                  <a:schemeClr val="accent2"/>
                </a:solidFill>
                <a:latin typeface="Calibri"/>
                <a:ea typeface="Calibri"/>
                <a:cs typeface="Calibri"/>
                <a:sym typeface="Calibri"/>
              </a:rPr>
              <a:t> Persian,</a:t>
            </a:r>
            <a:r>
              <a:rPr lang="en-US" sz="2400" b="1" i="0" u="none" strike="noStrike" cap="none" dirty="0">
                <a:latin typeface="Calibri"/>
                <a:ea typeface="Calibri"/>
                <a:cs typeface="Calibri"/>
                <a:sym typeface="Calibri"/>
              </a:rPr>
              <a:t> </a:t>
            </a:r>
            <a:r>
              <a:rPr lang="en-US" sz="2400" i="0" u="none" strike="noStrike" cap="none" dirty="0">
                <a:latin typeface="Calibri"/>
                <a:ea typeface="Calibri"/>
                <a:cs typeface="Calibri"/>
                <a:sym typeface="Calibri"/>
              </a:rPr>
              <a:t>as well as</a:t>
            </a:r>
            <a:r>
              <a:rPr lang="en-US" sz="2400" i="0" u="none" strike="noStrike" cap="none" dirty="0">
                <a:solidFill>
                  <a:schemeClr val="accent2"/>
                </a:solidFill>
                <a:latin typeface="Calibri"/>
                <a:ea typeface="Calibri"/>
                <a:cs typeface="Calibri"/>
                <a:sym typeface="Calibri"/>
              </a:rPr>
              <a:t> </a:t>
            </a:r>
            <a:r>
              <a:rPr lang="en-US" sz="2400" b="1" i="0" u="none" strike="noStrike" cap="none" dirty="0">
                <a:solidFill>
                  <a:schemeClr val="accent2"/>
                </a:solidFill>
                <a:latin typeface="Calibri"/>
                <a:ea typeface="Calibri"/>
                <a:cs typeface="Calibri"/>
                <a:sym typeface="Calibri"/>
              </a:rPr>
              <a:t>law </a:t>
            </a:r>
            <a:r>
              <a:rPr lang="en-US" sz="2400" i="0" u="none" strike="noStrike" cap="none" dirty="0">
                <a:latin typeface="Calibri"/>
                <a:ea typeface="Calibri"/>
                <a:cs typeface="Calibri"/>
                <a:sym typeface="Calibri"/>
              </a:rPr>
              <a:t>and</a:t>
            </a:r>
            <a:r>
              <a:rPr lang="en-US" sz="2400" b="1" i="0" u="none" strike="noStrike" cap="none" dirty="0">
                <a:solidFill>
                  <a:schemeClr val="accent2"/>
                </a:solidFill>
                <a:latin typeface="Calibri"/>
                <a:ea typeface="Calibri"/>
                <a:cs typeface="Calibri"/>
                <a:sym typeface="Calibri"/>
              </a:rPr>
              <a:t> civil engineering.</a:t>
            </a:r>
          </a:p>
          <a:p>
            <a:pPr marL="228600" marR="0" lvl="0" indent="-228600" algn="l" rtl="0">
              <a:lnSpc>
                <a:spcPct val="90000"/>
              </a:lnSpc>
              <a:spcBef>
                <a:spcPts val="0"/>
              </a:spcBef>
              <a:buClr>
                <a:schemeClr val="dk1"/>
              </a:buClr>
              <a:buSzPct val="100000"/>
              <a:buFont typeface="Arial"/>
              <a:buChar char="•"/>
            </a:pPr>
            <a:endParaRPr lang="en-US" sz="2400" b="1" dirty="0">
              <a:solidFill>
                <a:schemeClr val="accent2"/>
              </a:solidFill>
              <a:latin typeface="Calibri"/>
              <a:ea typeface="Calibri"/>
              <a:cs typeface="Calibri"/>
              <a:sym typeface="Calibri"/>
            </a:endParaRPr>
          </a:p>
          <a:p>
            <a:pPr marL="228600" lvl="0" indent="-228600">
              <a:lnSpc>
                <a:spcPct val="90000"/>
              </a:lnSpc>
              <a:spcBef>
                <a:spcPts val="1000"/>
              </a:spcBef>
              <a:spcAft>
                <a:spcPts val="0"/>
              </a:spcAft>
              <a:buClr>
                <a:schemeClr val="dk1"/>
              </a:buClr>
              <a:buSzPct val="100000"/>
              <a:buFont typeface="Arial"/>
              <a:buChar char="•"/>
            </a:pPr>
            <a:r>
              <a:rPr lang="en-US" sz="2400" b="1" u="sng" dirty="0">
                <a:solidFill>
                  <a:schemeClr val="accent2"/>
                </a:solidFill>
                <a:latin typeface="Calibri"/>
                <a:ea typeface="Calibri"/>
                <a:cs typeface="Calibri"/>
                <a:sym typeface="Calibri"/>
              </a:rPr>
              <a:t>Affiliation to university was </a:t>
            </a:r>
            <a:r>
              <a:rPr lang="en-US" sz="2400" b="1" i="1" u="sng" dirty="0">
                <a:solidFill>
                  <a:schemeClr val="accent2"/>
                </a:solidFill>
                <a:latin typeface="Calibri"/>
                <a:ea typeface="Calibri"/>
                <a:cs typeface="Calibri"/>
                <a:sym typeface="Calibri"/>
              </a:rPr>
              <a:t>not</a:t>
            </a:r>
            <a:r>
              <a:rPr lang="en-US" sz="2400" b="1" u="sng" dirty="0">
                <a:solidFill>
                  <a:schemeClr val="accent2"/>
                </a:solidFill>
                <a:latin typeface="Calibri"/>
                <a:ea typeface="Calibri"/>
                <a:cs typeface="Calibri"/>
                <a:sym typeface="Calibri"/>
              </a:rPr>
              <a:t> limited  by geographical location</a:t>
            </a:r>
            <a:r>
              <a:rPr lang="en-US" sz="2400" u="sng" dirty="0">
                <a:solidFill>
                  <a:schemeClr val="dk1"/>
                </a:solidFill>
                <a:latin typeface="Calibri"/>
                <a:ea typeface="Calibri"/>
                <a:cs typeface="Calibri"/>
                <a:sym typeface="Calibri"/>
              </a:rPr>
              <a:t>. Calcutta University- catered to Bengal, Assam, and Ceylon.</a:t>
            </a:r>
          </a:p>
        </p:txBody>
      </p:sp>
      <p:sp>
        <p:nvSpPr>
          <p:cNvPr id="2" name="Slide Number Placeholder 1"/>
          <p:cNvSpPr>
            <a:spLocks noGrp="1"/>
          </p:cNvSpPr>
          <p:nvPr>
            <p:ph type="sldNum" sz="quarter" idx="12"/>
          </p:nvPr>
        </p:nvSpPr>
        <p:spPr/>
        <p:txBody>
          <a:bodyPr/>
          <a:lstStyle/>
          <a:p>
            <a:fld id="{421CD851-E2DB-48CE-A55B-7660C50BFF41}" type="slidenum">
              <a:rPr lang="en-US" smtClean="0"/>
              <a:pPr/>
              <a:t>4</a:t>
            </a:fld>
            <a:endParaRPr lang="en-US"/>
          </a:p>
        </p:txBody>
      </p:sp>
    </p:spTree>
    <p:extLst>
      <p:ext uri="{BB962C8B-B14F-4D97-AF65-F5344CB8AC3E}">
        <p14:creationId xmlns:p14="http://schemas.microsoft.com/office/powerpoint/2010/main" val="62942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Shape 169"/>
          <p:cNvSpPr txBox="1">
            <a:spLocks noGrp="1"/>
          </p:cNvSpPr>
          <p:nvPr>
            <p:ph type="title"/>
          </p:nvPr>
        </p:nvSpPr>
        <p:spPr>
          <a:xfrm>
            <a:off x="1146395" y="0"/>
            <a:ext cx="10515599" cy="1325562"/>
          </a:xfrm>
          <a:prstGeom prst="rect">
            <a:avLst/>
          </a:prstGeom>
          <a:noFill/>
          <a:ln>
            <a:noFill/>
          </a:ln>
        </p:spPr>
        <p:txBody>
          <a:bodyPr lIns="91425" tIns="45700" rIns="91425" bIns="45700" anchor="ctr" anchorCtr="0">
            <a:noAutofit/>
          </a:bodyPr>
          <a:lstStyle/>
          <a:p>
            <a:pPr marL="0" marR="0" lvl="0" indent="0" algn="l" rtl="0">
              <a:lnSpc>
                <a:spcPct val="90000"/>
              </a:lnSpc>
              <a:spcBef>
                <a:spcPts val="0"/>
              </a:spcBef>
              <a:buClr>
                <a:schemeClr val="dk1"/>
              </a:buClr>
              <a:buSzPct val="25000"/>
              <a:buFont typeface="Calibri"/>
              <a:buNone/>
            </a:pPr>
            <a:r>
              <a:rPr lang="en-US" sz="4000" b="0" i="0" u="none" strike="noStrike" cap="none" dirty="0">
                <a:solidFill>
                  <a:schemeClr val="dk1"/>
                </a:solidFill>
                <a:latin typeface="Calibri"/>
                <a:ea typeface="Calibri"/>
                <a:cs typeface="Calibri"/>
                <a:sym typeface="Calibri"/>
              </a:rPr>
              <a:t>Affiliated colleges</a:t>
            </a:r>
          </a:p>
        </p:txBody>
      </p:sp>
      <p:sp>
        <p:nvSpPr>
          <p:cNvPr id="170" name="Shape 170"/>
          <p:cNvSpPr txBox="1">
            <a:spLocks noGrp="1"/>
          </p:cNvSpPr>
          <p:nvPr>
            <p:ph idx="1"/>
          </p:nvPr>
        </p:nvSpPr>
        <p:spPr>
          <a:xfrm>
            <a:off x="1201057" y="1168400"/>
            <a:ext cx="10515599" cy="4767262"/>
          </a:xfrm>
          <a:prstGeom prst="rect">
            <a:avLst/>
          </a:prstGeom>
          <a:noFill/>
          <a:ln>
            <a:noFill/>
          </a:ln>
        </p:spPr>
        <p:txBody>
          <a:bodyPr lIns="91425" tIns="45700" rIns="91425" bIns="45700" anchor="t" anchorCtr="0">
            <a:noAutofit/>
          </a:bodyPr>
          <a:lstStyle/>
          <a:p>
            <a:pPr marL="228600" marR="0" lvl="0" indent="-228600" algn="l" rtl="0">
              <a:lnSpc>
                <a:spcPct val="90000"/>
              </a:lnSpc>
              <a:spcBef>
                <a:spcPts val="0"/>
              </a:spcBef>
              <a:spcAft>
                <a:spcPts val="0"/>
              </a:spcAft>
              <a:buClr>
                <a:schemeClr val="dk1"/>
              </a:buClr>
              <a:buSzPct val="100000"/>
              <a:buFont typeface="Arial"/>
              <a:buChar char="•"/>
            </a:pPr>
            <a:r>
              <a:rPr lang="en-US" sz="2400" b="0" i="0" u="none" strike="noStrike" cap="none" dirty="0">
                <a:solidFill>
                  <a:schemeClr val="dk1"/>
                </a:solidFill>
                <a:latin typeface="Calibri"/>
                <a:ea typeface="Calibri"/>
                <a:cs typeface="Calibri"/>
                <a:sym typeface="Calibri"/>
              </a:rPr>
              <a:t>Colleges were given </a:t>
            </a:r>
            <a:r>
              <a:rPr lang="en-US" sz="2400" b="1" i="0" u="sng" strike="noStrike" cap="none" dirty="0">
                <a:solidFill>
                  <a:schemeClr val="accent2"/>
                </a:solidFill>
                <a:latin typeface="Calibri"/>
                <a:ea typeface="Calibri"/>
                <a:cs typeface="Calibri"/>
                <a:sym typeface="Calibri"/>
              </a:rPr>
              <a:t>Grant in Aid </a:t>
            </a:r>
            <a:r>
              <a:rPr lang="en-US" sz="2400" i="0" u="none" strike="noStrike" cap="none" dirty="0">
                <a:solidFill>
                  <a:schemeClr val="dk1"/>
                </a:solidFill>
                <a:latin typeface="Calibri"/>
                <a:ea typeface="Calibri"/>
                <a:cs typeface="Calibri"/>
                <a:sym typeface="Calibri"/>
              </a:rPr>
              <a:t>(most widely prevalent method for expansion of education)</a:t>
            </a:r>
          </a:p>
          <a:p>
            <a:pPr marL="228600" marR="0" lvl="0" indent="-228600" algn="l" rtl="0">
              <a:lnSpc>
                <a:spcPct val="90000"/>
              </a:lnSpc>
              <a:spcBef>
                <a:spcPts val="0"/>
              </a:spcBef>
              <a:spcAft>
                <a:spcPts val="0"/>
              </a:spcAft>
              <a:buClr>
                <a:schemeClr val="dk1"/>
              </a:buClr>
              <a:buSzPct val="100000"/>
              <a:buFont typeface="Arial"/>
              <a:buChar char="•"/>
            </a:pPr>
            <a:endParaRPr lang="en-US" sz="2400" b="0" i="0" u="none" strike="noStrike" cap="none" dirty="0">
              <a:solidFill>
                <a:schemeClr val="dk1"/>
              </a:solidFill>
              <a:latin typeface="Calibri"/>
              <a:ea typeface="Calibri"/>
              <a:cs typeface="Calibri"/>
              <a:sym typeface="Calibri"/>
            </a:endParaRPr>
          </a:p>
          <a:p>
            <a:pPr marL="228600" marR="0" lvl="0" indent="-228600" algn="l" rtl="0">
              <a:lnSpc>
                <a:spcPct val="90000"/>
              </a:lnSpc>
              <a:spcBef>
                <a:spcPts val="0"/>
              </a:spcBef>
              <a:spcAft>
                <a:spcPts val="0"/>
              </a:spcAft>
              <a:buClr>
                <a:schemeClr val="dk1"/>
              </a:buClr>
              <a:buSzPct val="100000"/>
              <a:buFont typeface="Arial"/>
              <a:buChar char="•"/>
            </a:pPr>
            <a:r>
              <a:rPr lang="en-US" sz="2400" b="0" i="0" u="none" strike="noStrike" cap="none" dirty="0">
                <a:solidFill>
                  <a:schemeClr val="dk1"/>
                </a:solidFill>
                <a:latin typeface="Calibri"/>
                <a:ea typeface="Calibri"/>
                <a:cs typeface="Calibri"/>
                <a:sym typeface="Calibri"/>
              </a:rPr>
              <a:t>Hindu College- &gt; </a:t>
            </a:r>
            <a:r>
              <a:rPr lang="en-US" sz="2400" b="1" i="0" u="none" strike="noStrike" cap="none" dirty="0">
                <a:solidFill>
                  <a:schemeClr val="accent2"/>
                </a:solidFill>
                <a:latin typeface="Calibri"/>
                <a:ea typeface="Calibri"/>
                <a:cs typeface="Calibri"/>
                <a:sym typeface="Calibri"/>
              </a:rPr>
              <a:t>Presidency College</a:t>
            </a:r>
            <a:r>
              <a:rPr lang="en-US" sz="2400" b="0" i="0" u="none" strike="noStrike" cap="none" dirty="0">
                <a:solidFill>
                  <a:schemeClr val="dk1"/>
                </a:solidFill>
                <a:latin typeface="Calibri"/>
                <a:ea typeface="Calibri"/>
                <a:cs typeface="Calibri"/>
                <a:sym typeface="Calibri"/>
              </a:rPr>
              <a:t>;  Madras High school-&gt; </a:t>
            </a:r>
            <a:r>
              <a:rPr lang="en-US" sz="2400" b="1" i="0" u="none" strike="noStrike" cap="none" dirty="0">
                <a:solidFill>
                  <a:schemeClr val="accent2"/>
                </a:solidFill>
                <a:latin typeface="Calibri"/>
                <a:ea typeface="Calibri"/>
                <a:cs typeface="Calibri"/>
                <a:sym typeface="Calibri"/>
              </a:rPr>
              <a:t>Presidency college at Madras</a:t>
            </a:r>
          </a:p>
          <a:p>
            <a:pPr marL="228600" marR="0" lvl="0" indent="-228600" algn="l" rtl="0">
              <a:lnSpc>
                <a:spcPct val="90000"/>
              </a:lnSpc>
              <a:spcBef>
                <a:spcPts val="1000"/>
              </a:spcBef>
              <a:spcAft>
                <a:spcPts val="0"/>
              </a:spcAft>
              <a:buClr>
                <a:schemeClr val="dk1"/>
              </a:buClr>
              <a:buSzPct val="100000"/>
              <a:buFont typeface="Arial"/>
              <a:buChar char="•"/>
            </a:pPr>
            <a:r>
              <a:rPr lang="en-US" sz="2400" b="0" i="0" u="none" strike="noStrike" cap="none" dirty="0">
                <a:solidFill>
                  <a:schemeClr val="dk1"/>
                </a:solidFill>
                <a:latin typeface="Calibri"/>
                <a:ea typeface="Calibri"/>
                <a:cs typeface="Calibri"/>
                <a:sym typeface="Calibri"/>
              </a:rPr>
              <a:t>University College- Lahore-&gt; </a:t>
            </a:r>
            <a:r>
              <a:rPr lang="en-US" sz="2400" b="1" i="0" u="none" strike="noStrike" cap="none" dirty="0">
                <a:solidFill>
                  <a:srgbClr val="0000FF"/>
                </a:solidFill>
                <a:latin typeface="Calibri"/>
                <a:ea typeface="Calibri"/>
                <a:cs typeface="Calibri"/>
                <a:sym typeface="Calibri"/>
              </a:rPr>
              <a:t>Panjab University</a:t>
            </a:r>
            <a:r>
              <a:rPr lang="en-US" sz="2400" b="0" i="0" u="none" strike="noStrike" cap="none" dirty="0">
                <a:solidFill>
                  <a:schemeClr val="dk1"/>
                </a:solidFill>
                <a:latin typeface="Calibri"/>
                <a:ea typeface="Calibri"/>
                <a:cs typeface="Calibri"/>
                <a:sym typeface="Calibri"/>
              </a:rPr>
              <a:t>, Munir Central College-</a:t>
            </a:r>
            <a:r>
              <a:rPr lang="en-US" sz="2400" b="0" i="0" u="none" strike="noStrike" cap="none" dirty="0">
                <a:solidFill>
                  <a:schemeClr val="accent2"/>
                </a:solidFill>
                <a:latin typeface="Calibri"/>
                <a:ea typeface="Calibri"/>
                <a:cs typeface="Calibri"/>
                <a:sym typeface="Calibri"/>
              </a:rPr>
              <a:t>&gt; </a:t>
            </a:r>
            <a:r>
              <a:rPr lang="en-US" sz="2400" b="1" i="0" u="none" strike="noStrike" cap="none" dirty="0">
                <a:solidFill>
                  <a:srgbClr val="0000FF"/>
                </a:solidFill>
                <a:latin typeface="Calibri"/>
                <a:ea typeface="Calibri"/>
                <a:cs typeface="Calibri"/>
                <a:sym typeface="Calibri"/>
              </a:rPr>
              <a:t>Allahabad University</a:t>
            </a:r>
          </a:p>
          <a:p>
            <a:pPr marL="228600" marR="0" lvl="0" indent="-228600" algn="l" rtl="0">
              <a:lnSpc>
                <a:spcPct val="90000"/>
              </a:lnSpc>
              <a:spcBef>
                <a:spcPts val="1000"/>
              </a:spcBef>
              <a:spcAft>
                <a:spcPts val="0"/>
              </a:spcAft>
              <a:buClr>
                <a:schemeClr val="dk1"/>
              </a:buClr>
              <a:buSzPct val="100000"/>
              <a:buFont typeface="Arial"/>
              <a:buChar char="•"/>
            </a:pPr>
            <a:r>
              <a:rPr lang="en-US" sz="2400" b="0" i="0" u="none" strike="noStrike" cap="none" dirty="0">
                <a:solidFill>
                  <a:schemeClr val="dk1"/>
                </a:solidFill>
                <a:latin typeface="Calibri"/>
                <a:ea typeface="Calibri"/>
                <a:cs typeface="Calibri"/>
                <a:sym typeface="Calibri"/>
              </a:rPr>
              <a:t>Some Indians set up colleges themselves:  </a:t>
            </a:r>
            <a:r>
              <a:rPr lang="en-US" sz="2400" b="1" i="0" u="none" strike="noStrike" cap="none" dirty="0">
                <a:solidFill>
                  <a:schemeClr val="accent2"/>
                </a:solidFill>
                <a:latin typeface="Calibri"/>
                <a:ea typeface="Calibri"/>
                <a:cs typeface="Calibri"/>
                <a:sym typeface="Calibri"/>
              </a:rPr>
              <a:t>Canning College</a:t>
            </a:r>
            <a:r>
              <a:rPr lang="en-US" sz="2400" b="0" i="0" u="none" strike="noStrike" cap="none" dirty="0">
                <a:solidFill>
                  <a:schemeClr val="dk1"/>
                </a:solidFill>
                <a:latin typeface="Calibri"/>
                <a:ea typeface="Calibri"/>
                <a:cs typeface="Calibri"/>
                <a:sym typeface="Calibri"/>
              </a:rPr>
              <a:t>-by Oudh </a:t>
            </a:r>
            <a:r>
              <a:rPr lang="en-US" sz="2400" b="0" i="0" u="none" strike="noStrike" cap="none" dirty="0" err="1">
                <a:solidFill>
                  <a:schemeClr val="dk1"/>
                </a:solidFill>
                <a:latin typeface="Calibri"/>
                <a:ea typeface="Calibri"/>
                <a:cs typeface="Calibri"/>
                <a:sym typeface="Calibri"/>
              </a:rPr>
              <a:t>talukdars</a:t>
            </a:r>
            <a:r>
              <a:rPr lang="en-US" sz="2400" b="0" i="0" u="none" strike="noStrike" cap="none" dirty="0">
                <a:solidFill>
                  <a:schemeClr val="dk1"/>
                </a:solidFill>
                <a:latin typeface="Calibri"/>
                <a:ea typeface="Calibri"/>
                <a:cs typeface="Calibri"/>
                <a:sym typeface="Calibri"/>
              </a:rPr>
              <a:t>, Lucknow- &gt; Lucknow university, </a:t>
            </a:r>
            <a:r>
              <a:rPr lang="en-US" sz="2400" b="1" i="0" u="none" strike="noStrike" cap="none" dirty="0" err="1">
                <a:solidFill>
                  <a:schemeClr val="accent2"/>
                </a:solidFill>
                <a:latin typeface="Calibri"/>
                <a:ea typeface="Calibri"/>
                <a:cs typeface="Calibri"/>
                <a:sym typeface="Calibri"/>
              </a:rPr>
              <a:t>Mohammadian</a:t>
            </a:r>
            <a:r>
              <a:rPr lang="en-US" sz="2400" b="1" i="0" u="none" strike="noStrike" cap="none" dirty="0">
                <a:solidFill>
                  <a:schemeClr val="accent2"/>
                </a:solidFill>
                <a:latin typeface="Calibri"/>
                <a:ea typeface="Calibri"/>
                <a:cs typeface="Calibri"/>
                <a:sym typeface="Calibri"/>
              </a:rPr>
              <a:t> Anglo Oriental Colleges </a:t>
            </a:r>
            <a:r>
              <a:rPr lang="en-US" sz="2400" b="0" i="0" u="none" strike="noStrike" cap="none" dirty="0">
                <a:solidFill>
                  <a:schemeClr val="dk1"/>
                </a:solidFill>
                <a:latin typeface="Calibri"/>
                <a:ea typeface="Calibri"/>
                <a:cs typeface="Calibri"/>
                <a:sym typeface="Calibri"/>
              </a:rPr>
              <a:t>(1875)-&gt; </a:t>
            </a:r>
            <a:r>
              <a:rPr lang="en-US" sz="2400" b="1" i="0" u="none" strike="noStrike" cap="none" dirty="0">
                <a:solidFill>
                  <a:srgbClr val="0070C0"/>
                </a:solidFill>
                <a:latin typeface="Calibri"/>
                <a:ea typeface="Calibri"/>
                <a:cs typeface="Calibri"/>
                <a:sym typeface="Calibri"/>
              </a:rPr>
              <a:t>Aligarh Muslim University </a:t>
            </a:r>
          </a:p>
          <a:p>
            <a:pPr marL="228600" marR="0" lvl="0" indent="-228600" algn="l" rtl="0">
              <a:lnSpc>
                <a:spcPct val="90000"/>
              </a:lnSpc>
              <a:spcBef>
                <a:spcPts val="1000"/>
              </a:spcBef>
              <a:spcAft>
                <a:spcPts val="0"/>
              </a:spcAft>
              <a:buClr>
                <a:schemeClr val="dk1"/>
              </a:buClr>
              <a:buSzPct val="100000"/>
              <a:buFont typeface="Arial"/>
              <a:buChar char="•"/>
            </a:pPr>
            <a:r>
              <a:rPr lang="en-US" sz="2400" b="1" i="0" u="none" strike="noStrike" cap="none" dirty="0">
                <a:solidFill>
                  <a:schemeClr val="accent2"/>
                </a:solidFill>
                <a:latin typeface="Calibri"/>
                <a:ea typeface="Calibri"/>
                <a:cs typeface="Calibri"/>
                <a:sym typeface="Calibri"/>
              </a:rPr>
              <a:t>Rajkot College</a:t>
            </a:r>
            <a:r>
              <a:rPr lang="en-US" sz="2400" b="0" i="0" u="none" strike="noStrike" cap="none" dirty="0">
                <a:solidFill>
                  <a:schemeClr val="dk1"/>
                </a:solidFill>
                <a:latin typeface="Calibri"/>
                <a:ea typeface="Calibri"/>
                <a:cs typeface="Calibri"/>
                <a:sym typeface="Calibri"/>
              </a:rPr>
              <a:t>, </a:t>
            </a:r>
            <a:r>
              <a:rPr lang="en-US" sz="2400" i="0" u="none" strike="noStrike" cap="none" dirty="0">
                <a:solidFill>
                  <a:schemeClr val="accent2"/>
                </a:solidFill>
                <a:latin typeface="Calibri"/>
                <a:ea typeface="Calibri"/>
                <a:cs typeface="Calibri"/>
                <a:sym typeface="Calibri"/>
              </a:rPr>
              <a:t>Mayo College- Ajmer</a:t>
            </a:r>
            <a:r>
              <a:rPr lang="en-US" sz="2400" b="1" i="0" u="none" strike="noStrike" cap="none" dirty="0">
                <a:solidFill>
                  <a:schemeClr val="dk1"/>
                </a:solidFill>
                <a:latin typeface="Calibri"/>
                <a:ea typeface="Calibri"/>
                <a:cs typeface="Calibri"/>
                <a:sym typeface="Calibri"/>
              </a:rPr>
              <a:t>.</a:t>
            </a:r>
            <a:r>
              <a:rPr lang="en-US" sz="2400" b="0" i="0" u="none" strike="noStrike" cap="none" dirty="0">
                <a:solidFill>
                  <a:schemeClr val="dk1"/>
                </a:solidFill>
                <a:latin typeface="Calibri"/>
                <a:ea typeface="Calibri"/>
                <a:cs typeface="Calibri"/>
                <a:sym typeface="Calibri"/>
              </a:rPr>
              <a:t>, Daly College, Indore</a:t>
            </a:r>
          </a:p>
          <a:p>
            <a:pPr marL="228600" marR="0" lvl="0" indent="-228600" algn="l" rtl="0">
              <a:lnSpc>
                <a:spcPct val="90000"/>
              </a:lnSpc>
              <a:spcBef>
                <a:spcPts val="1000"/>
              </a:spcBef>
              <a:spcAft>
                <a:spcPts val="0"/>
              </a:spcAft>
              <a:buClr>
                <a:schemeClr val="dk1"/>
              </a:buClr>
              <a:buSzPct val="100000"/>
              <a:buFont typeface="Arial"/>
              <a:buChar char="•"/>
            </a:pPr>
            <a:r>
              <a:rPr lang="en-US" sz="2400" b="0" i="0" u="none" strike="noStrike" cap="none" dirty="0">
                <a:solidFill>
                  <a:schemeClr val="dk1"/>
                </a:solidFill>
                <a:latin typeface="Calibri"/>
                <a:ea typeface="Calibri"/>
                <a:cs typeface="Calibri"/>
                <a:sym typeface="Calibri"/>
              </a:rPr>
              <a:t>Missionary college</a:t>
            </a:r>
            <a:r>
              <a:rPr lang="en-US" sz="2400" b="0" i="0" u="none" strike="noStrike" cap="none" dirty="0">
                <a:solidFill>
                  <a:schemeClr val="accent2"/>
                </a:solidFill>
                <a:latin typeface="Calibri"/>
                <a:ea typeface="Calibri"/>
                <a:cs typeface="Calibri"/>
                <a:sym typeface="Calibri"/>
              </a:rPr>
              <a:t>: </a:t>
            </a:r>
            <a:r>
              <a:rPr lang="en-US" sz="2400" b="1" i="0" u="none" strike="noStrike" cap="none" dirty="0">
                <a:solidFill>
                  <a:schemeClr val="accent2"/>
                </a:solidFill>
                <a:latin typeface="Calibri"/>
                <a:ea typeface="Calibri"/>
                <a:cs typeface="Calibri"/>
                <a:sym typeface="Calibri"/>
              </a:rPr>
              <a:t>St Xavier College- </a:t>
            </a:r>
            <a:r>
              <a:rPr lang="en-US" sz="2400" b="0" i="0" u="none" strike="noStrike" cap="none" dirty="0">
                <a:solidFill>
                  <a:schemeClr val="dk1"/>
                </a:solidFill>
                <a:latin typeface="Calibri"/>
                <a:ea typeface="Calibri"/>
                <a:cs typeface="Calibri"/>
                <a:sym typeface="Calibri"/>
              </a:rPr>
              <a:t>Calcutta (1860), Bombay (1869), </a:t>
            </a:r>
            <a:r>
              <a:rPr lang="en-US" sz="2400" b="1" i="0" u="none" strike="noStrike" cap="none" dirty="0">
                <a:solidFill>
                  <a:schemeClr val="accent2"/>
                </a:solidFill>
                <a:latin typeface="Calibri"/>
                <a:ea typeface="Calibri"/>
                <a:cs typeface="Calibri"/>
                <a:sym typeface="Calibri"/>
              </a:rPr>
              <a:t>St Stephens College </a:t>
            </a:r>
            <a:r>
              <a:rPr lang="en-US" sz="2400" b="1" i="0" u="none" strike="noStrike" cap="none" dirty="0">
                <a:solidFill>
                  <a:schemeClr val="dk1"/>
                </a:solidFill>
                <a:latin typeface="Calibri"/>
                <a:ea typeface="Calibri"/>
                <a:cs typeface="Calibri"/>
                <a:sym typeface="Calibri"/>
              </a:rPr>
              <a:t>– </a:t>
            </a:r>
            <a:r>
              <a:rPr lang="en-US" sz="2400" b="0" i="0" u="none" strike="noStrike" cap="none" dirty="0">
                <a:solidFill>
                  <a:schemeClr val="dk1"/>
                </a:solidFill>
                <a:latin typeface="Calibri"/>
                <a:ea typeface="Calibri"/>
                <a:cs typeface="Calibri"/>
                <a:sym typeface="Calibri"/>
              </a:rPr>
              <a:t>Delhi (1882), </a:t>
            </a:r>
          </a:p>
          <a:p>
            <a:pPr marL="228600" marR="0" lvl="0" indent="-228600" algn="l" rtl="0">
              <a:lnSpc>
                <a:spcPct val="90000"/>
              </a:lnSpc>
              <a:spcBef>
                <a:spcPts val="1000"/>
              </a:spcBef>
              <a:buClr>
                <a:schemeClr val="dk1"/>
              </a:buClr>
              <a:buSzPct val="100000"/>
              <a:buFont typeface="Arial"/>
              <a:buChar char="•"/>
            </a:pPr>
            <a:r>
              <a:rPr lang="en-US" sz="2400" b="0" i="0" u="none" strike="noStrike" cap="none" dirty="0">
                <a:solidFill>
                  <a:schemeClr val="dk1"/>
                </a:solidFill>
                <a:latin typeface="Calibri"/>
                <a:ea typeface="Calibri"/>
                <a:cs typeface="Calibri"/>
                <a:sym typeface="Calibri"/>
              </a:rPr>
              <a:t>1876:</a:t>
            </a:r>
            <a:r>
              <a:rPr lang="en-US" sz="2400" b="1" i="0" u="none" strike="noStrike" cap="none" dirty="0">
                <a:solidFill>
                  <a:schemeClr val="dk1"/>
                </a:solidFill>
                <a:latin typeface="Calibri"/>
                <a:ea typeface="Calibri"/>
                <a:cs typeface="Calibri"/>
                <a:sym typeface="Calibri"/>
              </a:rPr>
              <a:t> </a:t>
            </a:r>
            <a:r>
              <a:rPr lang="en-US" sz="2400" b="1" i="0" u="none" strike="noStrike" cap="none" dirty="0">
                <a:solidFill>
                  <a:schemeClr val="accent2"/>
                </a:solidFill>
                <a:latin typeface="Calibri"/>
                <a:ea typeface="Calibri"/>
                <a:cs typeface="Calibri"/>
                <a:sym typeface="Calibri"/>
              </a:rPr>
              <a:t>Indian Association of Cultivation of Science (IACS)</a:t>
            </a:r>
            <a:r>
              <a:rPr lang="en-US" sz="2400" b="1" i="0" u="none" strike="noStrike" cap="none" dirty="0">
                <a:solidFill>
                  <a:schemeClr val="dk1"/>
                </a:solidFill>
                <a:latin typeface="Calibri"/>
                <a:ea typeface="Calibri"/>
                <a:cs typeface="Calibri"/>
                <a:sym typeface="Calibri"/>
              </a:rPr>
              <a:t>- </a:t>
            </a:r>
            <a:r>
              <a:rPr lang="en-US" sz="2400" b="0" i="0" u="none" strike="noStrike" cap="none" dirty="0" err="1">
                <a:solidFill>
                  <a:schemeClr val="dk1"/>
                </a:solidFill>
                <a:latin typeface="Calibri"/>
                <a:ea typeface="Calibri"/>
                <a:cs typeface="Calibri"/>
                <a:sym typeface="Calibri"/>
              </a:rPr>
              <a:t>Mahendra</a:t>
            </a:r>
            <a:r>
              <a:rPr lang="en-US" sz="2400" b="0" i="0" u="none" strike="noStrike" cap="none" dirty="0">
                <a:solidFill>
                  <a:schemeClr val="dk1"/>
                </a:solidFill>
                <a:latin typeface="Calibri"/>
                <a:ea typeface="Calibri"/>
                <a:cs typeface="Calibri"/>
                <a:sym typeface="Calibri"/>
              </a:rPr>
              <a:t> Lal </a:t>
            </a:r>
            <a:r>
              <a:rPr lang="en-US" sz="2400" b="0" i="0" u="none" strike="noStrike" cap="none" dirty="0" err="1">
                <a:solidFill>
                  <a:schemeClr val="dk1"/>
                </a:solidFill>
                <a:latin typeface="Calibri"/>
                <a:ea typeface="Calibri"/>
                <a:cs typeface="Calibri"/>
                <a:sym typeface="Calibri"/>
              </a:rPr>
              <a:t>Sarcar</a:t>
            </a:r>
            <a:endParaRPr lang="en-US" sz="2400" b="0" i="0" u="none" strike="noStrike" cap="none" dirty="0">
              <a:solidFill>
                <a:schemeClr val="dk1"/>
              </a:solidFill>
              <a:latin typeface="Calibri"/>
              <a:ea typeface="Calibri"/>
              <a:cs typeface="Calibri"/>
              <a:sym typeface="Calibri"/>
            </a:endParaRPr>
          </a:p>
        </p:txBody>
      </p:sp>
      <p:sp>
        <p:nvSpPr>
          <p:cNvPr id="2" name="Slide Number Placeholder 1"/>
          <p:cNvSpPr>
            <a:spLocks noGrp="1"/>
          </p:cNvSpPr>
          <p:nvPr>
            <p:ph type="sldNum" sz="quarter" idx="12"/>
          </p:nvPr>
        </p:nvSpPr>
        <p:spPr/>
        <p:txBody>
          <a:bodyPr/>
          <a:lstStyle/>
          <a:p>
            <a:fld id="{421CD851-E2DB-48CE-A55B-7660C50BFF41}" type="slidenum">
              <a:rPr lang="en-US" smtClean="0"/>
              <a:pPr/>
              <a:t>5</a:t>
            </a:fld>
            <a:endParaRPr lang="en-US"/>
          </a:p>
        </p:txBody>
      </p:sp>
    </p:spTree>
    <p:extLst>
      <p:ext uri="{BB962C8B-B14F-4D97-AF65-F5344CB8AC3E}">
        <p14:creationId xmlns:p14="http://schemas.microsoft.com/office/powerpoint/2010/main" val="93676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2928" y="0"/>
            <a:ext cx="10515600" cy="1325563"/>
          </a:xfrm>
        </p:spPr>
        <p:txBody>
          <a:bodyPr/>
          <a:lstStyle/>
          <a:p>
            <a:r>
              <a:rPr lang="en-US" dirty="0"/>
              <a:t>Indian University Act 1904</a:t>
            </a:r>
          </a:p>
        </p:txBody>
      </p:sp>
      <p:sp>
        <p:nvSpPr>
          <p:cNvPr id="3" name="Content Placeholder 2"/>
          <p:cNvSpPr>
            <a:spLocks noGrp="1"/>
          </p:cNvSpPr>
          <p:nvPr>
            <p:ph idx="1"/>
          </p:nvPr>
        </p:nvSpPr>
        <p:spPr>
          <a:xfrm>
            <a:off x="240791" y="1322387"/>
            <a:ext cx="5795583" cy="5315522"/>
          </a:xfrm>
        </p:spPr>
        <p:txBody>
          <a:bodyPr>
            <a:normAutofit/>
          </a:bodyPr>
          <a:lstStyle/>
          <a:p>
            <a:pPr fontAlgn="base"/>
            <a:r>
              <a:rPr lang="en-US" sz="2000" b="1" dirty="0">
                <a:solidFill>
                  <a:schemeClr val="accent2"/>
                </a:solidFill>
              </a:rPr>
              <a:t>Universities were empowered to appoint their own staff including the teaching staff</a:t>
            </a:r>
          </a:p>
          <a:p>
            <a:pPr fontAlgn="base"/>
            <a:r>
              <a:rPr lang="en-US" sz="2000" dirty="0">
                <a:solidFill>
                  <a:schemeClr val="accent2"/>
                </a:solidFill>
              </a:rPr>
              <a:t>Rules pertaining to </a:t>
            </a:r>
            <a:r>
              <a:rPr lang="en-US" sz="2000" b="1" dirty="0">
                <a:solidFill>
                  <a:schemeClr val="accent2"/>
                </a:solidFill>
              </a:rPr>
              <a:t>affiliation of Colleges</a:t>
            </a:r>
            <a:r>
              <a:rPr lang="en-US" sz="2000" dirty="0">
                <a:solidFill>
                  <a:schemeClr val="accent2"/>
                </a:solidFill>
              </a:rPr>
              <a:t> to a University were made stricter</a:t>
            </a:r>
          </a:p>
          <a:p>
            <a:pPr fontAlgn="base"/>
            <a:r>
              <a:rPr lang="en-US" sz="2000" dirty="0">
                <a:solidFill>
                  <a:schemeClr val="accent2"/>
                </a:solidFill>
              </a:rPr>
              <a:t>Tight command and Control of Universities</a:t>
            </a:r>
          </a:p>
          <a:p>
            <a:pPr fontAlgn="base"/>
            <a:r>
              <a:rPr lang="en-US" sz="2000" dirty="0"/>
              <a:t>Government was empowered to modify the rules framed by the Senate</a:t>
            </a:r>
          </a:p>
          <a:p>
            <a:pPr fontAlgn="base"/>
            <a:r>
              <a:rPr lang="en-US" sz="2000" dirty="0"/>
              <a:t>Governor-General in Council was authorized to define the </a:t>
            </a:r>
            <a:r>
              <a:rPr lang="en-US" sz="2000" b="1" u="sng" dirty="0">
                <a:solidFill>
                  <a:schemeClr val="accent2"/>
                </a:solidFill>
              </a:rPr>
              <a:t>territorial jurisdiction of the Universities</a:t>
            </a:r>
            <a:r>
              <a:rPr lang="en-US" sz="2000" b="1" dirty="0"/>
              <a:t>.</a:t>
            </a:r>
          </a:p>
          <a:p>
            <a:pPr fontAlgn="base"/>
            <a:r>
              <a:rPr lang="en-US" sz="2000" b="1" dirty="0"/>
              <a:t>Halted expansion of Universities ; </a:t>
            </a:r>
            <a:r>
              <a:rPr lang="en-US" sz="2000" dirty="0">
                <a:highlight>
                  <a:srgbClr val="FFFF00"/>
                </a:highlight>
              </a:rPr>
              <a:t>One of the most controversial legislation- widespread opposition by Indians; Curzon was regarded as a  person for doom of higher education</a:t>
            </a:r>
          </a:p>
          <a:p>
            <a:pPr marL="0" indent="0" fontAlgn="base">
              <a:buNone/>
            </a:pPr>
            <a:endParaRPr lang="en-US" sz="2000" b="1" dirty="0"/>
          </a:p>
        </p:txBody>
      </p:sp>
      <p:sp>
        <p:nvSpPr>
          <p:cNvPr id="5" name="Slide Number Placeholder 4"/>
          <p:cNvSpPr>
            <a:spLocks noGrp="1"/>
          </p:cNvSpPr>
          <p:nvPr>
            <p:ph type="sldNum" sz="quarter" idx="12"/>
          </p:nvPr>
        </p:nvSpPr>
        <p:spPr/>
        <p:txBody>
          <a:bodyPr/>
          <a:lstStyle/>
          <a:p>
            <a:fld id="{421CD851-E2DB-48CE-A55B-7660C50BFF41}" type="slidenum">
              <a:rPr lang="en-US" smtClean="0"/>
              <a:pPr/>
              <a:t>6</a:t>
            </a:fld>
            <a:endParaRPr lang="en-US"/>
          </a:p>
        </p:txBody>
      </p:sp>
      <p:pic>
        <p:nvPicPr>
          <p:cNvPr id="4" name="Picture 3"/>
          <p:cNvPicPr>
            <a:picLocks noChangeAspect="1"/>
          </p:cNvPicPr>
          <p:nvPr/>
        </p:nvPicPr>
        <p:blipFill rotWithShape="1">
          <a:blip r:embed="rId3"/>
          <a:srcRect b="28577"/>
          <a:stretch/>
        </p:blipFill>
        <p:spPr>
          <a:xfrm>
            <a:off x="8862428" y="1075329"/>
            <a:ext cx="3088780" cy="4130500"/>
          </a:xfrm>
          <a:prstGeom prst="rect">
            <a:avLst/>
          </a:prstGeom>
        </p:spPr>
      </p:pic>
      <p:pic>
        <p:nvPicPr>
          <p:cNvPr id="6" name="Picture 2" descr="Lord Curzon">
            <a:extLst>
              <a:ext uri="{FF2B5EF4-FFF2-40B4-BE49-F238E27FC236}">
                <a16:creationId xmlns:a16="http://schemas.microsoft.com/office/drawing/2014/main" id="{2B02CD0D-718E-E741-9758-8088514AD6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4498" y="1322387"/>
            <a:ext cx="2143125" cy="28575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FACCC6A-9217-3846-BCF1-4FF76DA63D41}"/>
              </a:ext>
            </a:extLst>
          </p:cNvPr>
          <p:cNvSpPr/>
          <p:nvPr/>
        </p:nvSpPr>
        <p:spPr>
          <a:xfrm>
            <a:off x="6295983" y="4420018"/>
            <a:ext cx="1556836" cy="646331"/>
          </a:xfrm>
          <a:prstGeom prst="rect">
            <a:avLst/>
          </a:prstGeom>
        </p:spPr>
        <p:txBody>
          <a:bodyPr wrap="none">
            <a:spAutoFit/>
          </a:bodyPr>
          <a:lstStyle/>
          <a:p>
            <a:r>
              <a:rPr lang="en-US" dirty="0">
                <a:solidFill>
                  <a:srgbClr val="252525"/>
                </a:solidFill>
                <a:latin typeface="Arial" panose="020B0604020202020204" pitchFamily="34" charset="0"/>
              </a:rPr>
              <a:t>Lord Curzon</a:t>
            </a:r>
          </a:p>
          <a:p>
            <a:r>
              <a:rPr lang="en-US" dirty="0">
                <a:solidFill>
                  <a:srgbClr val="252525"/>
                </a:solidFill>
                <a:latin typeface="Arial" panose="020B0604020202020204" pitchFamily="34" charset="0"/>
              </a:rPr>
              <a:t>(1859 –1925)</a:t>
            </a:r>
            <a:endParaRPr lang="en-US" dirty="0"/>
          </a:p>
        </p:txBody>
      </p:sp>
    </p:spTree>
    <p:extLst>
      <p:ext uri="{BB962C8B-B14F-4D97-AF65-F5344CB8AC3E}">
        <p14:creationId xmlns:p14="http://schemas.microsoft.com/office/powerpoint/2010/main" val="1437169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9095757" y="1124125"/>
            <a:ext cx="2947096" cy="4568508"/>
          </a:xfrm>
          <a:prstGeom prst="rect">
            <a:avLst/>
          </a:prstGeom>
        </p:spPr>
      </p:pic>
      <p:sp>
        <p:nvSpPr>
          <p:cNvPr id="2" name="Title 1"/>
          <p:cNvSpPr>
            <a:spLocks noGrp="1"/>
          </p:cNvSpPr>
          <p:nvPr>
            <p:ph type="title"/>
          </p:nvPr>
        </p:nvSpPr>
        <p:spPr>
          <a:xfrm>
            <a:off x="368898" y="157708"/>
            <a:ext cx="10696575" cy="699177"/>
          </a:xfrm>
        </p:spPr>
        <p:txBody>
          <a:bodyPr>
            <a:noAutofit/>
          </a:bodyPr>
          <a:lstStyle/>
          <a:p>
            <a:r>
              <a:rPr lang="en-US" sz="4400" b="1" dirty="0"/>
              <a:t>Calcutta University Commission 1917-19</a:t>
            </a:r>
          </a:p>
        </p:txBody>
      </p:sp>
      <p:sp>
        <p:nvSpPr>
          <p:cNvPr id="3" name="Content Placeholder 2"/>
          <p:cNvSpPr>
            <a:spLocks noGrp="1"/>
          </p:cNvSpPr>
          <p:nvPr>
            <p:ph idx="1"/>
          </p:nvPr>
        </p:nvSpPr>
        <p:spPr>
          <a:xfrm>
            <a:off x="1091381" y="927029"/>
            <a:ext cx="7581132" cy="5710880"/>
          </a:xfrm>
        </p:spPr>
        <p:txBody>
          <a:bodyPr>
            <a:noAutofit/>
          </a:bodyPr>
          <a:lstStyle/>
          <a:p>
            <a:r>
              <a:rPr lang="en-US" sz="2000" dirty="0"/>
              <a:t>Also known as </a:t>
            </a:r>
            <a:r>
              <a:rPr lang="en-US" sz="2000" b="1" dirty="0"/>
              <a:t>Saddler Commission </a:t>
            </a:r>
            <a:r>
              <a:rPr lang="en-US" sz="2000" dirty="0"/>
              <a:t>(Sir </a:t>
            </a:r>
            <a:r>
              <a:rPr lang="en-US" sz="2000" dirty="0" err="1"/>
              <a:t>Michale</a:t>
            </a:r>
            <a:r>
              <a:rPr lang="en-US" sz="2000" dirty="0"/>
              <a:t> E Saddler of Leeds)</a:t>
            </a:r>
          </a:p>
          <a:p>
            <a:r>
              <a:rPr lang="en-US" sz="2000" b="1" dirty="0"/>
              <a:t>13 Volumes</a:t>
            </a:r>
            <a:r>
              <a:rPr lang="en-US" sz="2000" dirty="0"/>
              <a:t> – each 400-600 pages!!</a:t>
            </a:r>
          </a:p>
          <a:p>
            <a:r>
              <a:rPr lang="en-US" sz="2000" b="1" dirty="0">
                <a:solidFill>
                  <a:schemeClr val="accent2"/>
                </a:solidFill>
              </a:rPr>
              <a:t>Free the university from rigid government control imposed by Lord Curzon’s IUA.</a:t>
            </a:r>
            <a:endParaRPr lang="en-US" sz="2000" b="1" dirty="0"/>
          </a:p>
          <a:p>
            <a:r>
              <a:rPr lang="en-US" sz="2000" b="1" dirty="0"/>
              <a:t>Separation of </a:t>
            </a:r>
            <a:r>
              <a:rPr lang="en-US" sz="2000" b="1" dirty="0">
                <a:solidFill>
                  <a:schemeClr val="accent2"/>
                </a:solidFill>
              </a:rPr>
              <a:t>intermediate colleges </a:t>
            </a:r>
            <a:r>
              <a:rPr lang="en-US" sz="2000" b="1" dirty="0"/>
              <a:t>from Degree Colleges..</a:t>
            </a:r>
          </a:p>
          <a:p>
            <a:r>
              <a:rPr lang="en-US" sz="2000" dirty="0"/>
              <a:t>Use of </a:t>
            </a:r>
            <a:r>
              <a:rPr lang="en-US" sz="2000" b="1" dirty="0">
                <a:solidFill>
                  <a:schemeClr val="accent2"/>
                </a:solidFill>
              </a:rPr>
              <a:t>mother tongue in intermediate colleges</a:t>
            </a:r>
            <a:r>
              <a:rPr lang="en-US" sz="2000" dirty="0">
                <a:solidFill>
                  <a:schemeClr val="accent2"/>
                </a:solidFill>
              </a:rPr>
              <a:t> </a:t>
            </a:r>
          </a:p>
          <a:p>
            <a:r>
              <a:rPr lang="en-US" sz="2000" b="1" dirty="0">
                <a:solidFill>
                  <a:srgbClr val="C00000"/>
                </a:solidFill>
              </a:rPr>
              <a:t>Honors courses </a:t>
            </a:r>
            <a:r>
              <a:rPr lang="en-US" sz="2000" b="1" dirty="0"/>
              <a:t>as distinct from pass course, should be opened in the universities.</a:t>
            </a:r>
          </a:p>
          <a:p>
            <a:r>
              <a:rPr lang="en-US" sz="2000" b="1" u="sng" dirty="0">
                <a:solidFill>
                  <a:schemeClr val="accent2"/>
                </a:solidFill>
              </a:rPr>
              <a:t>Inter-University board to coordinate activities of various Indian Universities</a:t>
            </a:r>
          </a:p>
          <a:p>
            <a:r>
              <a:rPr lang="en-US" sz="2000" dirty="0"/>
              <a:t>Changed  character of University organization in India –creating bodies like: </a:t>
            </a:r>
            <a:r>
              <a:rPr lang="en-US" sz="2000" b="1" dirty="0">
                <a:solidFill>
                  <a:schemeClr val="accent2"/>
                </a:solidFill>
              </a:rPr>
              <a:t>board of studies, academic council</a:t>
            </a:r>
            <a:r>
              <a:rPr lang="en-US" sz="2000" dirty="0"/>
              <a:t>, …</a:t>
            </a:r>
          </a:p>
          <a:p>
            <a:r>
              <a:rPr lang="en-US" sz="2000" b="1" dirty="0">
                <a:solidFill>
                  <a:schemeClr val="accent2"/>
                </a:solidFill>
              </a:rPr>
              <a:t>Selection committees (including outside experts) to hire faculty</a:t>
            </a:r>
            <a:r>
              <a:rPr lang="en-US" sz="2000" dirty="0">
                <a:solidFill>
                  <a:schemeClr val="accent2"/>
                </a:solidFill>
              </a:rPr>
              <a:t>.</a:t>
            </a:r>
          </a:p>
          <a:p>
            <a:pPr marL="0" indent="0">
              <a:buNone/>
            </a:pPr>
            <a:endParaRPr lang="en-US" sz="2000" b="1" dirty="0"/>
          </a:p>
          <a:p>
            <a:endParaRPr lang="en-US" sz="2000" b="1" dirty="0"/>
          </a:p>
        </p:txBody>
      </p:sp>
      <p:sp>
        <p:nvSpPr>
          <p:cNvPr id="4" name="Slide Number Placeholder 3"/>
          <p:cNvSpPr>
            <a:spLocks noGrp="1"/>
          </p:cNvSpPr>
          <p:nvPr>
            <p:ph type="sldNum" sz="quarter" idx="12"/>
          </p:nvPr>
        </p:nvSpPr>
        <p:spPr/>
        <p:txBody>
          <a:bodyPr/>
          <a:lstStyle/>
          <a:p>
            <a:fld id="{421CD851-E2DB-48CE-A55B-7660C50BFF41}" type="slidenum">
              <a:rPr lang="en-US" smtClean="0"/>
              <a:pPr/>
              <a:t>7</a:t>
            </a:fld>
            <a:endParaRPr lang="en-US"/>
          </a:p>
        </p:txBody>
      </p:sp>
    </p:spTree>
    <p:extLst>
      <p:ext uri="{BB962C8B-B14F-4D97-AF65-F5344CB8AC3E}">
        <p14:creationId xmlns:p14="http://schemas.microsoft.com/office/powerpoint/2010/main" val="3370075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4872" y="107127"/>
            <a:ext cx="10058400" cy="1609344"/>
          </a:xfrm>
        </p:spPr>
        <p:txBody>
          <a:bodyPr/>
          <a:lstStyle/>
          <a:p>
            <a:r>
              <a:rPr lang="en-US" dirty="0"/>
              <a:t>Creation of New Universities 1917-22</a:t>
            </a:r>
          </a:p>
        </p:txBody>
      </p:sp>
      <p:sp>
        <p:nvSpPr>
          <p:cNvPr id="3" name="Content Placeholder 2"/>
          <p:cNvSpPr>
            <a:spLocks noGrp="1"/>
          </p:cNvSpPr>
          <p:nvPr>
            <p:ph idx="1"/>
          </p:nvPr>
        </p:nvSpPr>
        <p:spPr>
          <a:xfrm>
            <a:off x="1814052" y="1326210"/>
            <a:ext cx="9894164" cy="5129136"/>
          </a:xfrm>
        </p:spPr>
        <p:txBody>
          <a:bodyPr/>
          <a:lstStyle/>
          <a:p>
            <a:r>
              <a:rPr lang="en-US" b="1" dirty="0"/>
              <a:t>No new universities from 1887-1916</a:t>
            </a:r>
            <a:r>
              <a:rPr lang="en-US" dirty="0"/>
              <a:t>.</a:t>
            </a:r>
          </a:p>
          <a:p>
            <a:r>
              <a:rPr lang="en-US" dirty="0"/>
              <a:t>8 new Universities in  a short period</a:t>
            </a:r>
          </a:p>
          <a:p>
            <a:r>
              <a:rPr lang="en-US" dirty="0"/>
              <a:t>Universities in </a:t>
            </a:r>
          </a:p>
          <a:p>
            <a:pPr lvl="1"/>
            <a:r>
              <a:rPr lang="en-US" sz="2400" dirty="0">
                <a:solidFill>
                  <a:schemeClr val="accent2"/>
                </a:solidFill>
              </a:rPr>
              <a:t>Mysore-</a:t>
            </a:r>
            <a:r>
              <a:rPr lang="en-US" sz="2400" dirty="0"/>
              <a:t> 1916 (For Mysore and Coorg)</a:t>
            </a:r>
          </a:p>
          <a:p>
            <a:pPr lvl="1"/>
            <a:r>
              <a:rPr lang="en-US" sz="2400" dirty="0">
                <a:solidFill>
                  <a:schemeClr val="accent2"/>
                </a:solidFill>
              </a:rPr>
              <a:t>Patna</a:t>
            </a:r>
            <a:r>
              <a:rPr lang="en-US" sz="2400" dirty="0"/>
              <a:t> – 1917 (For Bihar and Orissa)</a:t>
            </a:r>
          </a:p>
          <a:p>
            <a:pPr lvl="1"/>
            <a:r>
              <a:rPr lang="en-US" sz="2400" dirty="0">
                <a:solidFill>
                  <a:schemeClr val="accent2"/>
                </a:solidFill>
              </a:rPr>
              <a:t>BHU</a:t>
            </a:r>
            <a:r>
              <a:rPr lang="en-US" sz="2400" dirty="0"/>
              <a:t> (</a:t>
            </a:r>
            <a:r>
              <a:rPr lang="en-US" sz="2400" dirty="0" err="1"/>
              <a:t>Benaras</a:t>
            </a:r>
            <a:r>
              <a:rPr lang="en-US" sz="2400" dirty="0"/>
              <a:t>)- 1917 , Pt. Madan Mohan </a:t>
            </a:r>
            <a:r>
              <a:rPr lang="en-US" sz="2400" dirty="0" err="1"/>
              <a:t>Malaviya</a:t>
            </a:r>
            <a:endParaRPr lang="en-US" sz="2400" dirty="0"/>
          </a:p>
          <a:p>
            <a:pPr lvl="1"/>
            <a:r>
              <a:rPr lang="en-US" sz="2400" dirty="0">
                <a:solidFill>
                  <a:schemeClr val="accent2"/>
                </a:solidFill>
              </a:rPr>
              <a:t>Aligarh</a:t>
            </a:r>
            <a:r>
              <a:rPr lang="en-US" sz="2400" dirty="0"/>
              <a:t> – 1920 </a:t>
            </a:r>
            <a:br>
              <a:rPr lang="en-US" sz="2400" dirty="0"/>
            </a:br>
            <a:r>
              <a:rPr lang="en-US" sz="2400" dirty="0"/>
              <a:t>(</a:t>
            </a:r>
            <a:r>
              <a:rPr lang="en-US" sz="2400" dirty="0" err="1"/>
              <a:t>Mohomedian</a:t>
            </a:r>
            <a:r>
              <a:rPr lang="en-US" sz="2400" dirty="0"/>
              <a:t> Anglo-Oriental College, - Sir Syed Ahmed Khan)</a:t>
            </a:r>
          </a:p>
          <a:p>
            <a:pPr lvl="1"/>
            <a:r>
              <a:rPr lang="en-US" sz="2400" dirty="0">
                <a:solidFill>
                  <a:schemeClr val="accent2"/>
                </a:solidFill>
              </a:rPr>
              <a:t>Dacca-</a:t>
            </a:r>
            <a:r>
              <a:rPr lang="en-US" sz="2400" dirty="0"/>
              <a:t> 1920</a:t>
            </a:r>
          </a:p>
          <a:p>
            <a:pPr lvl="1"/>
            <a:r>
              <a:rPr lang="en-US" sz="2400" dirty="0">
                <a:solidFill>
                  <a:schemeClr val="accent2"/>
                </a:solidFill>
              </a:rPr>
              <a:t>Lucknow-</a:t>
            </a:r>
            <a:r>
              <a:rPr lang="en-US" sz="2400" dirty="0"/>
              <a:t> 1920</a:t>
            </a:r>
          </a:p>
          <a:p>
            <a:pPr lvl="1"/>
            <a:r>
              <a:rPr lang="en-US" sz="2400" dirty="0">
                <a:solidFill>
                  <a:schemeClr val="accent2"/>
                </a:solidFill>
              </a:rPr>
              <a:t>Osmania- </a:t>
            </a:r>
            <a:r>
              <a:rPr lang="en-US" sz="2400" dirty="0"/>
              <a:t>1918 (From Hyderabad </a:t>
            </a:r>
            <a:r>
              <a:rPr lang="en-US" sz="2400" dirty="0" err="1"/>
              <a:t>Nizam</a:t>
            </a:r>
            <a:r>
              <a:rPr lang="en-US" sz="2400" dirty="0"/>
              <a:t>)- Urdu medium University </a:t>
            </a:r>
          </a:p>
          <a:p>
            <a:pPr lvl="1"/>
            <a:r>
              <a:rPr lang="en-US" sz="2400" dirty="0">
                <a:solidFill>
                  <a:schemeClr val="accent2"/>
                </a:solidFill>
              </a:rPr>
              <a:t>Delhi</a:t>
            </a:r>
            <a:r>
              <a:rPr lang="en-US" sz="2400" dirty="0"/>
              <a:t> -1922 </a:t>
            </a:r>
          </a:p>
        </p:txBody>
      </p:sp>
      <p:sp>
        <p:nvSpPr>
          <p:cNvPr id="4" name="Slide Number Placeholder 3"/>
          <p:cNvSpPr>
            <a:spLocks noGrp="1"/>
          </p:cNvSpPr>
          <p:nvPr>
            <p:ph type="sldNum" sz="quarter" idx="12"/>
          </p:nvPr>
        </p:nvSpPr>
        <p:spPr/>
        <p:txBody>
          <a:bodyPr/>
          <a:lstStyle/>
          <a:p>
            <a:fld id="{421CD851-E2DB-48CE-A55B-7660C50BFF41}" type="slidenum">
              <a:rPr lang="en-US" smtClean="0"/>
              <a:pPr/>
              <a:t>8</a:t>
            </a:fld>
            <a:endParaRPr lang="en-US"/>
          </a:p>
        </p:txBody>
      </p:sp>
    </p:spTree>
    <p:extLst>
      <p:ext uri="{BB962C8B-B14F-4D97-AF65-F5344CB8AC3E}">
        <p14:creationId xmlns:p14="http://schemas.microsoft.com/office/powerpoint/2010/main" val="1741210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182" y="220204"/>
            <a:ext cx="11268289" cy="1005966"/>
          </a:xfrm>
        </p:spPr>
        <p:txBody>
          <a:bodyPr/>
          <a:lstStyle/>
          <a:p>
            <a:r>
              <a:rPr lang="en-US" b="1" dirty="0"/>
              <a:t>Sargent plan </a:t>
            </a:r>
          </a:p>
        </p:txBody>
      </p:sp>
      <p:sp>
        <p:nvSpPr>
          <p:cNvPr id="3" name="Content Placeholder 2"/>
          <p:cNvSpPr>
            <a:spLocks noGrp="1"/>
          </p:cNvSpPr>
          <p:nvPr>
            <p:ph idx="1"/>
          </p:nvPr>
        </p:nvSpPr>
        <p:spPr>
          <a:xfrm>
            <a:off x="1238865" y="1122932"/>
            <a:ext cx="7739358" cy="5320732"/>
          </a:xfrm>
        </p:spPr>
        <p:txBody>
          <a:bodyPr>
            <a:noAutofit/>
          </a:bodyPr>
          <a:lstStyle/>
          <a:p>
            <a:r>
              <a:rPr lang="en-US" sz="2000" b="1" dirty="0">
                <a:solidFill>
                  <a:schemeClr val="accent2"/>
                </a:solidFill>
              </a:rPr>
              <a:t>Sir John Sargent</a:t>
            </a:r>
            <a:r>
              <a:rPr lang="en-US" sz="2000" dirty="0">
                <a:solidFill>
                  <a:schemeClr val="accent2"/>
                </a:solidFill>
              </a:rPr>
              <a:t>, </a:t>
            </a:r>
            <a:r>
              <a:rPr lang="en-US" sz="2000" dirty="0"/>
              <a:t>the Educational Adviser to the Government of India was asked to prepare a comprehensive report on education: </a:t>
            </a:r>
            <a:r>
              <a:rPr lang="en-US" sz="2000" dirty="0">
                <a:solidFill>
                  <a:schemeClr val="accent2"/>
                </a:solidFill>
              </a:rPr>
              <a:t>‘</a:t>
            </a:r>
            <a:r>
              <a:rPr lang="en-US" sz="2000" b="1" dirty="0">
                <a:solidFill>
                  <a:schemeClr val="accent2"/>
                </a:solidFill>
              </a:rPr>
              <a:t>Plan for post-war educational reconstruction in India’</a:t>
            </a:r>
            <a:r>
              <a:rPr lang="en-US" sz="2000" dirty="0">
                <a:solidFill>
                  <a:schemeClr val="accent2"/>
                </a:solidFill>
              </a:rPr>
              <a:t>.</a:t>
            </a:r>
          </a:p>
          <a:p>
            <a:endParaRPr lang="en-US" sz="2000" dirty="0"/>
          </a:p>
          <a:p>
            <a:r>
              <a:rPr lang="en-US" sz="2000" dirty="0"/>
              <a:t>It was the </a:t>
            </a:r>
            <a:r>
              <a:rPr lang="en-US" sz="2000" dirty="0">
                <a:solidFill>
                  <a:schemeClr val="accent2"/>
                </a:solidFill>
              </a:rPr>
              <a:t>first attempt to develop a </a:t>
            </a:r>
            <a:r>
              <a:rPr lang="en-US" sz="2000" b="1" dirty="0">
                <a:solidFill>
                  <a:schemeClr val="accent2"/>
                </a:solidFill>
              </a:rPr>
              <a:t>National System for Education for post independent India.</a:t>
            </a:r>
            <a:r>
              <a:rPr lang="en-US" sz="2000" b="1" dirty="0"/>
              <a:t> </a:t>
            </a:r>
            <a:r>
              <a:rPr lang="en-US" sz="2000" dirty="0"/>
              <a:t>Full fledged educational plan for the future educational reconstruction in India</a:t>
            </a:r>
          </a:p>
          <a:p>
            <a:pPr lvl="1"/>
            <a:r>
              <a:rPr lang="en-US" sz="1600" dirty="0"/>
              <a:t>Presents a comprehensive picture of education in our country at that period of time</a:t>
            </a:r>
          </a:p>
          <a:p>
            <a:pPr lvl="1"/>
            <a:endParaRPr lang="en-US" sz="1600" b="1" dirty="0"/>
          </a:p>
          <a:p>
            <a:r>
              <a:rPr lang="en-US" sz="2000" dirty="0">
                <a:solidFill>
                  <a:schemeClr val="accent2"/>
                </a:solidFill>
              </a:rPr>
              <a:t>The </a:t>
            </a:r>
            <a:r>
              <a:rPr lang="en-US" sz="2000" b="1" dirty="0">
                <a:solidFill>
                  <a:schemeClr val="accent2"/>
                </a:solidFill>
              </a:rPr>
              <a:t>duration</a:t>
            </a:r>
            <a:r>
              <a:rPr lang="en-US" sz="2000" dirty="0">
                <a:solidFill>
                  <a:schemeClr val="accent2"/>
                </a:solidFill>
              </a:rPr>
              <a:t> of </a:t>
            </a:r>
            <a:r>
              <a:rPr lang="en-US" sz="2000" b="1" dirty="0">
                <a:solidFill>
                  <a:schemeClr val="accent2"/>
                </a:solidFill>
              </a:rPr>
              <a:t>degree</a:t>
            </a:r>
            <a:r>
              <a:rPr lang="en-US" sz="2000" dirty="0">
                <a:solidFill>
                  <a:schemeClr val="accent2"/>
                </a:solidFill>
              </a:rPr>
              <a:t> course should be of </a:t>
            </a:r>
            <a:r>
              <a:rPr lang="en-US" sz="2000" b="1" dirty="0">
                <a:solidFill>
                  <a:schemeClr val="accent2"/>
                </a:solidFill>
              </a:rPr>
              <a:t>3 years.</a:t>
            </a:r>
            <a:r>
              <a:rPr lang="en-US" sz="2000" dirty="0">
                <a:solidFill>
                  <a:schemeClr val="accent2"/>
                </a:solidFill>
              </a:rPr>
              <a:t> </a:t>
            </a:r>
          </a:p>
          <a:p>
            <a:endParaRPr lang="en-US" sz="2000" dirty="0"/>
          </a:p>
          <a:p>
            <a:r>
              <a:rPr lang="en-US" sz="2000" dirty="0"/>
              <a:t>Adequate </a:t>
            </a:r>
            <a:r>
              <a:rPr lang="en-US" sz="2000" b="1" dirty="0">
                <a:solidFill>
                  <a:schemeClr val="accent2"/>
                </a:solidFill>
              </a:rPr>
              <a:t>financial assistance</a:t>
            </a:r>
            <a:r>
              <a:rPr lang="en-US" sz="2000" dirty="0">
                <a:solidFill>
                  <a:schemeClr val="accent2"/>
                </a:solidFill>
              </a:rPr>
              <a:t> </a:t>
            </a:r>
            <a:r>
              <a:rPr lang="en-US" sz="2000" dirty="0"/>
              <a:t>must be provided for poor students</a:t>
            </a:r>
          </a:p>
          <a:p>
            <a:r>
              <a:rPr lang="en-US" sz="2000" b="1" dirty="0"/>
              <a:t>Emphasis</a:t>
            </a:r>
            <a:r>
              <a:rPr lang="en-US" sz="2000" dirty="0"/>
              <a:t> should be given on establishing a </a:t>
            </a:r>
            <a:r>
              <a:rPr lang="en-US" sz="2000" b="1" dirty="0">
                <a:solidFill>
                  <a:schemeClr val="accent2"/>
                </a:solidFill>
              </a:rPr>
              <a:t>high standard </a:t>
            </a:r>
            <a:r>
              <a:rPr lang="en-US" sz="2000" dirty="0">
                <a:solidFill>
                  <a:schemeClr val="accent2"/>
                </a:solidFill>
              </a:rPr>
              <a:t>in post-graduate studies</a:t>
            </a:r>
            <a:r>
              <a:rPr lang="en-US" sz="2000" dirty="0"/>
              <a:t> and in pure applied research.</a:t>
            </a:r>
          </a:p>
        </p:txBody>
      </p:sp>
      <p:sp>
        <p:nvSpPr>
          <p:cNvPr id="8" name="Slide Number Placeholder 7"/>
          <p:cNvSpPr>
            <a:spLocks noGrp="1"/>
          </p:cNvSpPr>
          <p:nvPr>
            <p:ph type="sldNum" sz="quarter" idx="12"/>
          </p:nvPr>
        </p:nvSpPr>
        <p:spPr/>
        <p:txBody>
          <a:bodyPr/>
          <a:lstStyle/>
          <a:p>
            <a:fld id="{421CD851-E2DB-48CE-A55B-7660C50BFF41}" type="slidenum">
              <a:rPr lang="en-US" smtClean="0"/>
              <a:pPr/>
              <a:t>9</a:t>
            </a:fld>
            <a:endParaRPr lang="en-US"/>
          </a:p>
        </p:txBody>
      </p:sp>
      <p:pic>
        <p:nvPicPr>
          <p:cNvPr id="10242" name="Picture 2" descr="Sir John Philip Sargent, by Bassano Ltd, 4 October 1938 - NPG x155775 - © National Portrait Gallery, Lond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0639" y="1489529"/>
            <a:ext cx="2257425" cy="30956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9083883" y="4739369"/>
            <a:ext cx="2950936" cy="800219"/>
          </a:xfrm>
          <a:prstGeom prst="rect">
            <a:avLst/>
          </a:prstGeom>
          <a:noFill/>
        </p:spPr>
        <p:txBody>
          <a:bodyPr wrap="none" rtlCol="0">
            <a:spAutoFit/>
          </a:bodyPr>
          <a:lstStyle/>
          <a:p>
            <a:pPr algn="l"/>
            <a:r>
              <a:rPr lang="en-US" sz="1600" dirty="0"/>
              <a:t>Sir John Philip Sargent</a:t>
            </a:r>
          </a:p>
          <a:p>
            <a:pPr algn="l"/>
            <a:endParaRPr lang="en-US" sz="1600" dirty="0"/>
          </a:p>
          <a:p>
            <a:pPr algn="l"/>
            <a:r>
              <a:rPr lang="en-US" sz="1400" b="0" dirty="0"/>
              <a:t>© National Portrait Gallery, London</a:t>
            </a:r>
          </a:p>
        </p:txBody>
      </p:sp>
    </p:spTree>
    <p:extLst>
      <p:ext uri="{BB962C8B-B14F-4D97-AF65-F5344CB8AC3E}">
        <p14:creationId xmlns:p14="http://schemas.microsoft.com/office/powerpoint/2010/main" val="4183055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236539"/>
            <a:ext cx="10515600" cy="863600"/>
          </a:xfrm>
        </p:spPr>
        <p:txBody>
          <a:bodyPr>
            <a:normAutofit/>
          </a:bodyPr>
          <a:lstStyle/>
          <a:p>
            <a:r>
              <a:rPr lang="en-US" sz="4000" dirty="0"/>
              <a:t>Implementation of Sargent Plan Recommendation</a:t>
            </a:r>
          </a:p>
        </p:txBody>
      </p:sp>
      <p:sp>
        <p:nvSpPr>
          <p:cNvPr id="3" name="Content Placeholder 2"/>
          <p:cNvSpPr>
            <a:spLocks noGrp="1"/>
          </p:cNvSpPr>
          <p:nvPr>
            <p:ph idx="1"/>
          </p:nvPr>
        </p:nvSpPr>
        <p:spPr>
          <a:xfrm>
            <a:off x="838199" y="1186435"/>
            <a:ext cx="10472929" cy="5086349"/>
          </a:xfrm>
        </p:spPr>
        <p:txBody>
          <a:bodyPr>
            <a:noAutofit/>
          </a:bodyPr>
          <a:lstStyle/>
          <a:p>
            <a:r>
              <a:rPr lang="en-US" sz="2000" b="1" dirty="0"/>
              <a:t>In 1945 an education department was established at the </a:t>
            </a:r>
            <a:r>
              <a:rPr lang="en-US" sz="2000" b="1" dirty="0" err="1"/>
              <a:t>centre</a:t>
            </a:r>
            <a:r>
              <a:rPr lang="en-US" sz="2000" b="1" dirty="0"/>
              <a:t> to increase administrative efficiency.</a:t>
            </a:r>
          </a:p>
          <a:p>
            <a:r>
              <a:rPr lang="en-US" sz="2000" b="1" dirty="0"/>
              <a:t>40 crores of rupees were given </a:t>
            </a:r>
            <a:r>
              <a:rPr lang="en-US" sz="2000" dirty="0"/>
              <a:t>to the provincial Governments for implementing certain aspects of the scheme in their areas.</a:t>
            </a:r>
          </a:p>
          <a:p>
            <a:r>
              <a:rPr lang="en-US" sz="2000" dirty="0"/>
              <a:t>The Provincial Governments were advised to make </a:t>
            </a:r>
            <a:r>
              <a:rPr lang="en-US" sz="2000" b="1" dirty="0"/>
              <a:t>five year plans for education. </a:t>
            </a:r>
            <a:endParaRPr lang="en-US" sz="2000" dirty="0"/>
          </a:p>
          <a:p>
            <a:r>
              <a:rPr lang="en-US" sz="2000" dirty="0"/>
              <a:t>Decided that the </a:t>
            </a:r>
            <a:r>
              <a:rPr lang="en-US" sz="2000" b="1" dirty="0">
                <a:solidFill>
                  <a:srgbClr val="FF0000"/>
                </a:solidFill>
              </a:rPr>
              <a:t>scheme should be implemented within 16 years instead of 40 year</a:t>
            </a:r>
            <a:r>
              <a:rPr lang="en-US" sz="2000" dirty="0"/>
              <a:t>.</a:t>
            </a:r>
          </a:p>
          <a:p>
            <a:r>
              <a:rPr lang="en-US" sz="2000" dirty="0"/>
              <a:t>According to the recommendations of the committee </a:t>
            </a:r>
            <a:r>
              <a:rPr lang="en-US" sz="2000" b="1" dirty="0">
                <a:solidFill>
                  <a:srgbClr val="FF0000"/>
                </a:solidFill>
              </a:rPr>
              <a:t>University Grants Committee was constituted in 1945 </a:t>
            </a:r>
            <a:r>
              <a:rPr lang="en-US" sz="2000" dirty="0"/>
              <a:t>which later on became </a:t>
            </a:r>
            <a:r>
              <a:rPr lang="en-US" sz="2000" b="1" dirty="0">
                <a:solidFill>
                  <a:srgbClr val="FF0000"/>
                </a:solidFill>
              </a:rPr>
              <a:t>University Grants Commission in 1956.</a:t>
            </a:r>
          </a:p>
          <a:p>
            <a:r>
              <a:rPr lang="en-US" sz="2000" dirty="0"/>
              <a:t>Efforts were made for adult education and also for improving the economic condition of teachers.</a:t>
            </a:r>
          </a:p>
          <a:p>
            <a:r>
              <a:rPr lang="en-US" sz="2000" dirty="0"/>
              <a:t>The committee of polytechnic school and the </a:t>
            </a:r>
            <a:r>
              <a:rPr lang="en-US" sz="2000" b="1" dirty="0">
                <a:solidFill>
                  <a:srgbClr val="FF0000"/>
                </a:solidFill>
              </a:rPr>
              <a:t>All India Technical Education Committee </a:t>
            </a:r>
            <a:r>
              <a:rPr lang="en-US" sz="2000" dirty="0"/>
              <a:t>were established in Delhi.</a:t>
            </a:r>
          </a:p>
        </p:txBody>
      </p:sp>
      <p:sp>
        <p:nvSpPr>
          <p:cNvPr id="6" name="Slide Number Placeholder 5"/>
          <p:cNvSpPr>
            <a:spLocks noGrp="1"/>
          </p:cNvSpPr>
          <p:nvPr>
            <p:ph type="sldNum" sz="quarter" idx="12"/>
          </p:nvPr>
        </p:nvSpPr>
        <p:spPr/>
        <p:txBody>
          <a:bodyPr/>
          <a:lstStyle/>
          <a:p>
            <a:fld id="{71766878-3199-4EAB-94E7-2D6D11070E14}" type="slidenum">
              <a:rPr lang="en-US" smtClean="0"/>
              <a:t>10</a:t>
            </a:fld>
            <a:endParaRPr lang="en-US" dirty="0"/>
          </a:p>
        </p:txBody>
      </p:sp>
      <p:sp>
        <p:nvSpPr>
          <p:cNvPr id="4" name="Rectangle 3"/>
          <p:cNvSpPr/>
          <p:nvPr/>
        </p:nvSpPr>
        <p:spPr>
          <a:xfrm>
            <a:off x="4886601" y="6287571"/>
            <a:ext cx="5819222" cy="369332"/>
          </a:xfrm>
          <a:prstGeom prst="rect">
            <a:avLst/>
          </a:prstGeom>
        </p:spPr>
        <p:txBody>
          <a:bodyPr wrap="none">
            <a:spAutoFit/>
          </a:bodyPr>
          <a:lstStyle/>
          <a:p>
            <a:r>
              <a:rPr lang="en-US" dirty="0"/>
              <a:t>http://www.kkhsou.in/main/education/sargent_report.html</a:t>
            </a:r>
          </a:p>
        </p:txBody>
      </p:sp>
      <p:sp>
        <p:nvSpPr>
          <p:cNvPr id="5" name="Rounded Rectangle 4">
            <a:extLst>
              <a:ext uri="{FF2B5EF4-FFF2-40B4-BE49-F238E27FC236}">
                <a16:creationId xmlns:a16="http://schemas.microsoft.com/office/drawing/2014/main" id="{EB8B3327-1D3D-1746-A3B6-268380F75086}"/>
              </a:ext>
            </a:extLst>
          </p:cNvPr>
          <p:cNvSpPr/>
          <p:nvPr/>
        </p:nvSpPr>
        <p:spPr>
          <a:xfrm>
            <a:off x="673768" y="3705726"/>
            <a:ext cx="10467474" cy="96252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882E59F1-BEF9-7240-913F-93B1A17059AF}"/>
              </a:ext>
            </a:extLst>
          </p:cNvPr>
          <p:cNvSpPr/>
          <p:nvPr/>
        </p:nvSpPr>
        <p:spPr>
          <a:xfrm>
            <a:off x="673768" y="5310257"/>
            <a:ext cx="10467474" cy="96252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3393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8CC68-9DD8-5B4C-B4D0-3A37E5D414A3}"/>
              </a:ext>
            </a:extLst>
          </p:cNvPr>
          <p:cNvSpPr>
            <a:spLocks noGrp="1"/>
          </p:cNvSpPr>
          <p:nvPr>
            <p:ph type="title"/>
          </p:nvPr>
        </p:nvSpPr>
        <p:spPr/>
        <p:txBody>
          <a:bodyPr/>
          <a:lstStyle/>
          <a:p>
            <a:r>
              <a:rPr lang="en-US" dirty="0"/>
              <a:t>Post Independent INDIA</a:t>
            </a:r>
          </a:p>
        </p:txBody>
      </p:sp>
      <p:sp>
        <p:nvSpPr>
          <p:cNvPr id="3" name="Text Placeholder 2">
            <a:extLst>
              <a:ext uri="{FF2B5EF4-FFF2-40B4-BE49-F238E27FC236}">
                <a16:creationId xmlns:a16="http://schemas.microsoft.com/office/drawing/2014/main" id="{8B5EED5E-6E3E-674B-99C9-5A24DB92B6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26C8EEF-4EFF-6848-818D-EDDC1E457DB6}"/>
              </a:ext>
            </a:extLst>
          </p:cNvPr>
          <p:cNvSpPr>
            <a:spLocks noGrp="1"/>
          </p:cNvSpPr>
          <p:nvPr>
            <p:ph type="sldNum" sz="quarter" idx="12"/>
          </p:nvPr>
        </p:nvSpPr>
        <p:spPr/>
        <p:txBody>
          <a:bodyPr/>
          <a:lstStyle/>
          <a:p>
            <a:fld id="{AEC99F6A-E93D-4C9C-AA2B-FA96051C5F3E}" type="slidenum">
              <a:rPr lang="en-US" smtClean="0"/>
              <a:t>11</a:t>
            </a:fld>
            <a:endParaRPr lang="en-US"/>
          </a:p>
        </p:txBody>
      </p:sp>
    </p:spTree>
    <p:extLst>
      <p:ext uri="{BB962C8B-B14F-4D97-AF65-F5344CB8AC3E}">
        <p14:creationId xmlns:p14="http://schemas.microsoft.com/office/powerpoint/2010/main" val="1556463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9178" y="691146"/>
            <a:ext cx="9989388" cy="1035050"/>
          </a:xfrm>
        </p:spPr>
        <p:txBody>
          <a:bodyPr>
            <a:noAutofit/>
          </a:bodyPr>
          <a:lstStyle/>
          <a:p>
            <a:r>
              <a:rPr lang="en-US" sz="4000" b="1" dirty="0"/>
              <a:t>State of HIGHER Education at India’s Independence</a:t>
            </a:r>
          </a:p>
        </p:txBody>
      </p:sp>
      <p:sp>
        <p:nvSpPr>
          <p:cNvPr id="3" name="Content Placeholder 2"/>
          <p:cNvSpPr>
            <a:spLocks noGrp="1"/>
          </p:cNvSpPr>
          <p:nvPr>
            <p:ph idx="1"/>
          </p:nvPr>
        </p:nvSpPr>
        <p:spPr>
          <a:xfrm>
            <a:off x="1022757" y="2307090"/>
            <a:ext cx="9401387" cy="3667733"/>
          </a:xfrm>
        </p:spPr>
        <p:txBody>
          <a:bodyPr>
            <a:normAutofit/>
          </a:bodyPr>
          <a:lstStyle/>
          <a:p>
            <a:r>
              <a:rPr lang="en-US" dirty="0">
                <a:solidFill>
                  <a:srgbClr val="FF0000"/>
                </a:solidFill>
              </a:rPr>
              <a:t>Population in 1947 : </a:t>
            </a:r>
            <a:r>
              <a:rPr lang="en-US" b="1" dirty="0">
                <a:solidFill>
                  <a:srgbClr val="FF0000"/>
                </a:solidFill>
              </a:rPr>
              <a:t>around 406 million</a:t>
            </a:r>
            <a:r>
              <a:rPr lang="en-US" dirty="0"/>
              <a:t> (India + Pakistan combined)</a:t>
            </a:r>
          </a:p>
          <a:p>
            <a:endParaRPr lang="en-US" dirty="0"/>
          </a:p>
          <a:p>
            <a:r>
              <a:rPr lang="en-US" dirty="0"/>
              <a:t>Higher Education: </a:t>
            </a:r>
          </a:p>
          <a:p>
            <a:pPr lvl="1"/>
            <a:r>
              <a:rPr lang="en-US" b="1" dirty="0">
                <a:solidFill>
                  <a:srgbClr val="FF0000"/>
                </a:solidFill>
              </a:rPr>
              <a:t>15 Universities</a:t>
            </a:r>
            <a:r>
              <a:rPr lang="en-US" dirty="0"/>
              <a:t>, 16,000 students , expenditure – 2.03 crores</a:t>
            </a:r>
          </a:p>
          <a:p>
            <a:pPr lvl="1"/>
            <a:r>
              <a:rPr lang="en-US" b="1" dirty="0">
                <a:solidFill>
                  <a:srgbClr val="FF0000"/>
                </a:solidFill>
              </a:rPr>
              <a:t>300 Arts and Science Colleges</a:t>
            </a:r>
            <a:r>
              <a:rPr lang="en-US" b="1" dirty="0"/>
              <a:t>, </a:t>
            </a:r>
            <a:r>
              <a:rPr lang="en-US" dirty="0"/>
              <a:t>Pupils: 96,000 , expenditure- 3.53 crores</a:t>
            </a:r>
          </a:p>
          <a:p>
            <a:pPr lvl="1"/>
            <a:r>
              <a:rPr lang="en-US" b="1" dirty="0">
                <a:solidFill>
                  <a:srgbClr val="FF0000"/>
                </a:solidFill>
              </a:rPr>
              <a:t>16 engineering and technical colleges</a:t>
            </a:r>
            <a:r>
              <a:rPr lang="en-US" dirty="0">
                <a:solidFill>
                  <a:srgbClr val="FF0000"/>
                </a:solidFill>
              </a:rPr>
              <a:t>, </a:t>
            </a:r>
            <a:r>
              <a:rPr lang="en-US" dirty="0"/>
              <a:t>72,000 students; expenditure – 2.73 crores </a:t>
            </a:r>
            <a:endParaRPr lang="en-US" dirty="0">
              <a:solidFill>
                <a:srgbClr val="FF0000"/>
              </a:solidFill>
            </a:endParaRPr>
          </a:p>
        </p:txBody>
      </p:sp>
      <p:sp>
        <p:nvSpPr>
          <p:cNvPr id="6" name="Slide Number Placeholder 5"/>
          <p:cNvSpPr>
            <a:spLocks noGrp="1"/>
          </p:cNvSpPr>
          <p:nvPr>
            <p:ph type="sldNum" sz="quarter" idx="12"/>
          </p:nvPr>
        </p:nvSpPr>
        <p:spPr/>
        <p:txBody>
          <a:bodyPr/>
          <a:lstStyle/>
          <a:p>
            <a:fld id="{71766878-3199-4EAB-94E7-2D6D11070E14}" type="slidenum">
              <a:rPr lang="en-US" smtClean="0"/>
              <a:t>12</a:t>
            </a:fld>
            <a:endParaRPr lang="en-US" dirty="0"/>
          </a:p>
        </p:txBody>
      </p:sp>
      <p:sp>
        <p:nvSpPr>
          <p:cNvPr id="4" name="TextBox 3"/>
          <p:cNvSpPr txBox="1"/>
          <p:nvPr/>
        </p:nvSpPr>
        <p:spPr>
          <a:xfrm>
            <a:off x="7141029" y="6313715"/>
            <a:ext cx="1120820" cy="369332"/>
          </a:xfrm>
          <a:prstGeom prst="rect">
            <a:avLst/>
          </a:prstGeom>
          <a:noFill/>
        </p:spPr>
        <p:txBody>
          <a:bodyPr wrap="none" rtlCol="0">
            <a:spAutoFit/>
          </a:bodyPr>
          <a:lstStyle/>
          <a:p>
            <a:r>
              <a:rPr lang="en-US" dirty="0"/>
              <a:t>S C Ghosh</a:t>
            </a:r>
          </a:p>
        </p:txBody>
      </p:sp>
    </p:spTree>
    <p:extLst>
      <p:ext uri="{BB962C8B-B14F-4D97-AF65-F5344CB8AC3E}">
        <p14:creationId xmlns:p14="http://schemas.microsoft.com/office/powerpoint/2010/main" val="3628479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ED64E5-25C5-C54F-8D9C-A17822900A68}"/>
              </a:ext>
            </a:extLst>
          </p:cNvPr>
          <p:cNvSpPr>
            <a:spLocks noGrp="1"/>
          </p:cNvSpPr>
          <p:nvPr>
            <p:ph type="sldNum" sz="quarter" idx="12"/>
          </p:nvPr>
        </p:nvSpPr>
        <p:spPr/>
        <p:txBody>
          <a:bodyPr/>
          <a:lstStyle/>
          <a:p>
            <a:fld id="{AEC99F6A-E93D-4C9C-AA2B-FA96051C5F3E}" type="slidenum">
              <a:rPr lang="en-US" smtClean="0"/>
              <a:t>13</a:t>
            </a:fld>
            <a:endParaRPr lang="en-US"/>
          </a:p>
        </p:txBody>
      </p:sp>
      <p:pic>
        <p:nvPicPr>
          <p:cNvPr id="5" name="Picture 4">
            <a:extLst>
              <a:ext uri="{FF2B5EF4-FFF2-40B4-BE49-F238E27FC236}">
                <a16:creationId xmlns:a16="http://schemas.microsoft.com/office/drawing/2014/main" id="{DDA62F0D-9A38-3549-BFCB-6D90E4A695E0}"/>
              </a:ext>
            </a:extLst>
          </p:cNvPr>
          <p:cNvPicPr>
            <a:picLocks noChangeAspect="1"/>
          </p:cNvPicPr>
          <p:nvPr/>
        </p:nvPicPr>
        <p:blipFill>
          <a:blip r:embed="rId2"/>
          <a:stretch>
            <a:fillRect/>
          </a:stretch>
        </p:blipFill>
        <p:spPr>
          <a:xfrm>
            <a:off x="538085" y="956247"/>
            <a:ext cx="10096500" cy="2667000"/>
          </a:xfrm>
          <a:prstGeom prst="rect">
            <a:avLst/>
          </a:prstGeom>
        </p:spPr>
      </p:pic>
      <p:pic>
        <p:nvPicPr>
          <p:cNvPr id="6" name="Picture 5">
            <a:extLst>
              <a:ext uri="{FF2B5EF4-FFF2-40B4-BE49-F238E27FC236}">
                <a16:creationId xmlns:a16="http://schemas.microsoft.com/office/drawing/2014/main" id="{879B3CD0-2935-FF41-A4A1-32B263741EBE}"/>
              </a:ext>
            </a:extLst>
          </p:cNvPr>
          <p:cNvPicPr>
            <a:picLocks noChangeAspect="1"/>
          </p:cNvPicPr>
          <p:nvPr/>
        </p:nvPicPr>
        <p:blipFill>
          <a:blip r:embed="rId3"/>
          <a:stretch>
            <a:fillRect/>
          </a:stretch>
        </p:blipFill>
        <p:spPr>
          <a:xfrm>
            <a:off x="2629837" y="3623247"/>
            <a:ext cx="6362700" cy="2768600"/>
          </a:xfrm>
          <a:prstGeom prst="rect">
            <a:avLst/>
          </a:prstGeom>
        </p:spPr>
      </p:pic>
      <p:pic>
        <p:nvPicPr>
          <p:cNvPr id="7" name="Picture 6">
            <a:extLst>
              <a:ext uri="{FF2B5EF4-FFF2-40B4-BE49-F238E27FC236}">
                <a16:creationId xmlns:a16="http://schemas.microsoft.com/office/drawing/2014/main" id="{A9959CD3-C761-4F4A-ADA1-D7C3AB41F473}"/>
              </a:ext>
            </a:extLst>
          </p:cNvPr>
          <p:cNvPicPr>
            <a:picLocks noChangeAspect="1"/>
          </p:cNvPicPr>
          <p:nvPr/>
        </p:nvPicPr>
        <p:blipFill>
          <a:blip r:embed="rId4"/>
          <a:stretch>
            <a:fillRect/>
          </a:stretch>
        </p:blipFill>
        <p:spPr>
          <a:xfrm>
            <a:off x="3871835" y="270447"/>
            <a:ext cx="3429000" cy="685800"/>
          </a:xfrm>
          <a:prstGeom prst="rect">
            <a:avLst/>
          </a:prstGeom>
        </p:spPr>
      </p:pic>
      <p:sp>
        <p:nvSpPr>
          <p:cNvPr id="9" name="TextBox 8">
            <a:extLst>
              <a:ext uri="{FF2B5EF4-FFF2-40B4-BE49-F238E27FC236}">
                <a16:creationId xmlns:a16="http://schemas.microsoft.com/office/drawing/2014/main" id="{B1CFD3C8-50EF-1A4F-9EF4-4B24B8F1E964}"/>
              </a:ext>
            </a:extLst>
          </p:cNvPr>
          <p:cNvSpPr txBox="1"/>
          <p:nvPr/>
        </p:nvSpPr>
        <p:spPr>
          <a:xfrm>
            <a:off x="2899037" y="6453243"/>
            <a:ext cx="6093500" cy="369332"/>
          </a:xfrm>
          <a:prstGeom prst="rect">
            <a:avLst/>
          </a:prstGeom>
          <a:noFill/>
        </p:spPr>
        <p:txBody>
          <a:bodyPr wrap="square">
            <a:spAutoFit/>
          </a:bodyPr>
          <a:lstStyle/>
          <a:p>
            <a:r>
              <a:rPr lang="en-US" dirty="0"/>
              <a:t>https://</a:t>
            </a:r>
            <a:r>
              <a:rPr lang="en-US" dirty="0" err="1"/>
              <a:t>aishe.gov.in</a:t>
            </a:r>
            <a:r>
              <a:rPr lang="en-US" dirty="0"/>
              <a:t>/</a:t>
            </a:r>
            <a:r>
              <a:rPr lang="en-US" dirty="0" err="1"/>
              <a:t>aishe</a:t>
            </a:r>
            <a:r>
              <a:rPr lang="en-US" dirty="0"/>
              <a:t>/home</a:t>
            </a:r>
          </a:p>
        </p:txBody>
      </p:sp>
    </p:spTree>
    <p:extLst>
      <p:ext uri="{BB962C8B-B14F-4D97-AF65-F5344CB8AC3E}">
        <p14:creationId xmlns:p14="http://schemas.microsoft.com/office/powerpoint/2010/main" val="2325572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86BC56-8F5C-A860-D5F4-A96CCE4526EE}"/>
              </a:ext>
            </a:extLst>
          </p:cNvPr>
          <p:cNvSpPr>
            <a:spLocks noGrp="1"/>
          </p:cNvSpPr>
          <p:nvPr>
            <p:ph type="sldNum" sz="quarter" idx="12"/>
          </p:nvPr>
        </p:nvSpPr>
        <p:spPr/>
        <p:txBody>
          <a:bodyPr/>
          <a:lstStyle/>
          <a:p>
            <a:fld id="{AEC99F6A-E93D-4C9C-AA2B-FA96051C5F3E}" type="slidenum">
              <a:rPr lang="en-US" smtClean="0"/>
              <a:t>14</a:t>
            </a:fld>
            <a:endParaRPr lang="en-US"/>
          </a:p>
        </p:txBody>
      </p:sp>
      <p:pic>
        <p:nvPicPr>
          <p:cNvPr id="4" name="Picture 3">
            <a:extLst>
              <a:ext uri="{FF2B5EF4-FFF2-40B4-BE49-F238E27FC236}">
                <a16:creationId xmlns:a16="http://schemas.microsoft.com/office/drawing/2014/main" id="{F40E136D-7146-29C9-48B5-E9304FA5F57B}"/>
              </a:ext>
            </a:extLst>
          </p:cNvPr>
          <p:cNvPicPr>
            <a:picLocks noChangeAspect="1"/>
          </p:cNvPicPr>
          <p:nvPr/>
        </p:nvPicPr>
        <p:blipFill>
          <a:blip r:embed="rId2"/>
          <a:stretch>
            <a:fillRect/>
          </a:stretch>
        </p:blipFill>
        <p:spPr>
          <a:xfrm>
            <a:off x="742810" y="2492804"/>
            <a:ext cx="10706380" cy="1872392"/>
          </a:xfrm>
          <a:prstGeom prst="rect">
            <a:avLst/>
          </a:prstGeom>
        </p:spPr>
      </p:pic>
    </p:spTree>
    <p:extLst>
      <p:ext uri="{BB962C8B-B14F-4D97-AF65-F5344CB8AC3E}">
        <p14:creationId xmlns:p14="http://schemas.microsoft.com/office/powerpoint/2010/main" val="2851512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1117071" y="390729"/>
            <a:ext cx="9720262" cy="788987"/>
          </a:xfrm>
        </p:spPr>
        <p:txBody>
          <a:bodyPr/>
          <a:lstStyle/>
          <a:p>
            <a:r>
              <a:rPr lang="en-US" altLang="en-US" sz="3600" dirty="0"/>
              <a:t>Education in post </a:t>
            </a:r>
            <a:r>
              <a:rPr lang="en-US" altLang="en-US" sz="3600" dirty="0" err="1"/>
              <a:t>indpendent</a:t>
            </a:r>
            <a:r>
              <a:rPr lang="en-US" altLang="en-US" sz="3600" dirty="0"/>
              <a:t> </a:t>
            </a:r>
            <a:r>
              <a:rPr lang="en-US" altLang="en-US" sz="3600" dirty="0" err="1"/>
              <a:t>india</a:t>
            </a:r>
            <a:r>
              <a:rPr lang="en-US" altLang="en-US" sz="3600" dirty="0"/>
              <a:t> (Union level)</a:t>
            </a:r>
            <a:endParaRPr lang="en-US" altLang="en-US" dirty="0"/>
          </a:p>
        </p:txBody>
      </p:sp>
      <p:sp>
        <p:nvSpPr>
          <p:cNvPr id="107523" name="Rectangle 3"/>
          <p:cNvSpPr>
            <a:spLocks noGrp="1" noChangeArrowheads="1"/>
          </p:cNvSpPr>
          <p:nvPr>
            <p:ph idx="1"/>
          </p:nvPr>
        </p:nvSpPr>
        <p:spPr>
          <a:xfrm>
            <a:off x="1113503" y="1281111"/>
            <a:ext cx="10573672" cy="5291139"/>
          </a:xfrm>
        </p:spPr>
        <p:txBody>
          <a:bodyPr>
            <a:noAutofit/>
          </a:bodyPr>
          <a:lstStyle/>
          <a:p>
            <a:pPr marL="442913" lvl="2" indent="-171450"/>
            <a:r>
              <a:rPr lang="en-US" altLang="en-US" sz="2400" dirty="0">
                <a:cs typeface="Courier New" panose="02070309020205020404" pitchFamily="49" charset="0"/>
              </a:rPr>
              <a:t>Nalini Ranjan Sarkar Committee- to Set up IITs- 1946</a:t>
            </a:r>
          </a:p>
          <a:p>
            <a:pPr marL="442913" lvl="2" indent="-171450"/>
            <a:r>
              <a:rPr lang="en-US" altLang="en-US" sz="2400" dirty="0">
                <a:solidFill>
                  <a:srgbClr val="FF0000"/>
                </a:solidFill>
                <a:cs typeface="Courier New" panose="02070309020205020404" pitchFamily="49" charset="0"/>
              </a:rPr>
              <a:t>University Grants Commission (Radhakrishnan)</a:t>
            </a:r>
            <a:r>
              <a:rPr lang="en-US" altLang="en-US" sz="2400" dirty="0">
                <a:cs typeface="Courier New" panose="02070309020205020404" pitchFamily="49" charset="0"/>
              </a:rPr>
              <a:t> </a:t>
            </a:r>
            <a:r>
              <a:rPr lang="mr-IN" altLang="en-US" sz="2400" dirty="0">
                <a:cs typeface="Courier New" panose="02070309020205020404" pitchFamily="49" charset="0"/>
              </a:rPr>
              <a:t>–</a:t>
            </a:r>
            <a:r>
              <a:rPr lang="en-US" altLang="en-US" sz="2400" dirty="0">
                <a:cs typeface="Courier New" panose="02070309020205020404" pitchFamily="49" charset="0"/>
              </a:rPr>
              <a:t> UGC </a:t>
            </a:r>
            <a:r>
              <a:rPr lang="mr-IN" altLang="en-US" sz="2400" dirty="0">
                <a:cs typeface="Courier New" panose="02070309020205020404" pitchFamily="49" charset="0"/>
              </a:rPr>
              <a:t>–</a:t>
            </a:r>
            <a:r>
              <a:rPr lang="en-US" altLang="en-US" sz="2400" dirty="0">
                <a:cs typeface="Courier New" panose="02070309020205020404" pitchFamily="49" charset="0"/>
              </a:rPr>
              <a:t> 1948-49</a:t>
            </a:r>
          </a:p>
          <a:p>
            <a:pPr marL="442913" lvl="2" indent="-171450"/>
            <a:r>
              <a:rPr lang="en-US" altLang="en-US" sz="2400" dirty="0"/>
              <a:t>Secondary Education Commission, 1952-53 (Dr. A L </a:t>
            </a:r>
            <a:r>
              <a:rPr lang="en-US" altLang="en-US" sz="2400" dirty="0" err="1"/>
              <a:t>Mudaliar</a:t>
            </a:r>
            <a:r>
              <a:rPr lang="en-US" altLang="en-US" sz="2400" dirty="0"/>
              <a:t> committee)</a:t>
            </a:r>
          </a:p>
          <a:p>
            <a:pPr marL="442913" lvl="2" indent="-171450">
              <a:lnSpc>
                <a:spcPct val="90000"/>
              </a:lnSpc>
            </a:pPr>
            <a:r>
              <a:rPr lang="en-US" altLang="en-US" sz="2400" b="1" dirty="0">
                <a:cs typeface="Courier New" panose="02070309020205020404" pitchFamily="49" charset="0"/>
              </a:rPr>
              <a:t>1962: IIT Act</a:t>
            </a:r>
          </a:p>
          <a:p>
            <a:pPr marL="442913" lvl="2" indent="-171450"/>
            <a:r>
              <a:rPr lang="en-US" altLang="en-US" sz="2400" b="1" dirty="0"/>
              <a:t>Amendment in Constitution to put Education in concurrent list(1976)</a:t>
            </a:r>
          </a:p>
          <a:p>
            <a:pPr marL="442913" lvl="2" indent="-171450">
              <a:lnSpc>
                <a:spcPct val="90000"/>
              </a:lnSpc>
            </a:pPr>
            <a:r>
              <a:rPr lang="en-US" altLang="en-US" sz="2400" dirty="0">
                <a:cs typeface="Courier New" panose="02070309020205020404" pitchFamily="49" charset="0"/>
              </a:rPr>
              <a:t>National Policy on Education 1986 and POA 1992</a:t>
            </a:r>
          </a:p>
          <a:p>
            <a:pPr marL="442913" lvl="2" indent="-171450"/>
            <a:r>
              <a:rPr lang="en-US" altLang="en-US" sz="2400" dirty="0">
                <a:cs typeface="Courier New" panose="02070309020205020404" pitchFamily="49" charset="0"/>
              </a:rPr>
              <a:t>State Education Acts, Educational Institutions. 2010: </a:t>
            </a:r>
          </a:p>
          <a:p>
            <a:pPr marL="442913" lvl="2" indent="-171450"/>
            <a:r>
              <a:rPr lang="en-US" altLang="en-US" sz="2400" b="1" dirty="0">
                <a:cs typeface="Courier New" panose="02070309020205020404" pitchFamily="49" charset="0"/>
              </a:rPr>
              <a:t>National Knowledge Commission</a:t>
            </a:r>
          </a:p>
          <a:p>
            <a:pPr marL="442913" lvl="2" indent="-171450"/>
            <a:r>
              <a:rPr lang="en-US" altLang="en-US" sz="2400" b="1" dirty="0">
                <a:cs typeface="Courier New" panose="02070309020205020404" pitchFamily="49" charset="0"/>
              </a:rPr>
              <a:t>Yash Pal Committee: Report of the Committee to Advise on 'Renovation and Rejuvenation of Higher Education- 2010</a:t>
            </a:r>
          </a:p>
          <a:p>
            <a:pPr marL="442913" lvl="2" indent="-171450"/>
            <a:r>
              <a:rPr lang="en-US" altLang="en-US" sz="2400" dirty="0">
                <a:cs typeface="Courier New" panose="02070309020205020404" pitchFamily="49" charset="0"/>
              </a:rPr>
              <a:t>2013: Anil </a:t>
            </a:r>
            <a:r>
              <a:rPr lang="en-US" altLang="en-US" sz="2400" dirty="0" err="1">
                <a:cs typeface="Courier New" panose="02070309020205020404" pitchFamily="49" charset="0"/>
              </a:rPr>
              <a:t>Kakodkar</a:t>
            </a:r>
            <a:r>
              <a:rPr lang="en-US" altLang="en-US" sz="2400" dirty="0">
                <a:cs typeface="Courier New" panose="02070309020205020404" pitchFamily="49" charset="0"/>
              </a:rPr>
              <a:t> Committee: Taking IITs to Excellence and Greater Relevance</a:t>
            </a:r>
          </a:p>
          <a:p>
            <a:pPr marL="442913" lvl="2" indent="-171450"/>
            <a:r>
              <a:rPr lang="en-US" altLang="en-US" sz="2400" dirty="0">
                <a:cs typeface="Courier New" panose="02070309020205020404" pitchFamily="49" charset="0"/>
              </a:rPr>
              <a:t>2020: National Education Policy </a:t>
            </a:r>
          </a:p>
        </p:txBody>
      </p:sp>
      <p:sp>
        <p:nvSpPr>
          <p:cNvPr id="2" name="Slide Number Placeholder 1">
            <a:extLst>
              <a:ext uri="{FF2B5EF4-FFF2-40B4-BE49-F238E27FC236}">
                <a16:creationId xmlns:a16="http://schemas.microsoft.com/office/drawing/2014/main" id="{5A967152-0A82-B242-A869-1B421888A322}"/>
              </a:ext>
            </a:extLst>
          </p:cNvPr>
          <p:cNvSpPr>
            <a:spLocks noGrp="1"/>
          </p:cNvSpPr>
          <p:nvPr>
            <p:ph type="sldNum" sz="quarter" idx="12"/>
          </p:nvPr>
        </p:nvSpPr>
        <p:spPr/>
        <p:txBody>
          <a:bodyPr/>
          <a:lstStyle/>
          <a:p>
            <a:fld id="{AEC99F6A-E93D-4C9C-AA2B-FA96051C5F3E}" type="slidenum">
              <a:rPr lang="en-US" smtClean="0"/>
              <a:t>15</a:t>
            </a:fld>
            <a:endParaRPr lang="en-US"/>
          </a:p>
        </p:txBody>
      </p:sp>
    </p:spTree>
    <p:extLst>
      <p:ext uri="{BB962C8B-B14F-4D97-AF65-F5344CB8AC3E}">
        <p14:creationId xmlns:p14="http://schemas.microsoft.com/office/powerpoint/2010/main" val="1932212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3712B-9917-4A44-8E50-C6FA45833B68}"/>
              </a:ext>
            </a:extLst>
          </p:cNvPr>
          <p:cNvSpPr>
            <a:spLocks noGrp="1"/>
          </p:cNvSpPr>
          <p:nvPr>
            <p:ph type="title"/>
          </p:nvPr>
        </p:nvSpPr>
        <p:spPr>
          <a:xfrm>
            <a:off x="625724" y="252158"/>
            <a:ext cx="12172018" cy="1609344"/>
          </a:xfrm>
        </p:spPr>
        <p:txBody>
          <a:bodyPr>
            <a:normAutofit/>
          </a:bodyPr>
          <a:lstStyle/>
          <a:p>
            <a:r>
              <a:rPr lang="en-US" sz="4400" dirty="0"/>
              <a:t>Categories of Institutions on Higher Learning</a:t>
            </a:r>
          </a:p>
        </p:txBody>
      </p:sp>
      <p:sp>
        <p:nvSpPr>
          <p:cNvPr id="4" name="Content Placeholder 3">
            <a:extLst>
              <a:ext uri="{FF2B5EF4-FFF2-40B4-BE49-F238E27FC236}">
                <a16:creationId xmlns:a16="http://schemas.microsoft.com/office/drawing/2014/main" id="{5AE1A944-7887-7544-BE0D-782366CC4DF8}"/>
              </a:ext>
            </a:extLst>
          </p:cNvPr>
          <p:cNvSpPr>
            <a:spLocks noGrp="1"/>
          </p:cNvSpPr>
          <p:nvPr>
            <p:ph sz="half" idx="1"/>
          </p:nvPr>
        </p:nvSpPr>
        <p:spPr>
          <a:xfrm>
            <a:off x="714248" y="2533674"/>
            <a:ext cx="4754880" cy="3977640"/>
          </a:xfrm>
        </p:spPr>
        <p:txBody>
          <a:bodyPr>
            <a:normAutofit/>
          </a:bodyPr>
          <a:lstStyle/>
          <a:p>
            <a:r>
              <a:rPr lang="en-US" sz="2800" dirty="0"/>
              <a:t>Affiliated College</a:t>
            </a:r>
          </a:p>
          <a:p>
            <a:endParaRPr lang="en-US" sz="2800" dirty="0"/>
          </a:p>
          <a:p>
            <a:r>
              <a:rPr lang="en-US" sz="2800" dirty="0"/>
              <a:t>Constituent College</a:t>
            </a:r>
          </a:p>
          <a:p>
            <a:endParaRPr lang="en-US" sz="2800" dirty="0"/>
          </a:p>
          <a:p>
            <a:r>
              <a:rPr lang="en-US" sz="2800" dirty="0"/>
              <a:t>University</a:t>
            </a:r>
          </a:p>
        </p:txBody>
      </p:sp>
      <p:sp>
        <p:nvSpPr>
          <p:cNvPr id="11" name="Slide Number Placeholder 10">
            <a:extLst>
              <a:ext uri="{FF2B5EF4-FFF2-40B4-BE49-F238E27FC236}">
                <a16:creationId xmlns:a16="http://schemas.microsoft.com/office/drawing/2014/main" id="{5E0EA6C5-C6EF-2248-A3C0-95229106E569}"/>
              </a:ext>
            </a:extLst>
          </p:cNvPr>
          <p:cNvSpPr>
            <a:spLocks noGrp="1"/>
          </p:cNvSpPr>
          <p:nvPr>
            <p:ph type="sldNum" sz="quarter" idx="12"/>
          </p:nvPr>
        </p:nvSpPr>
        <p:spPr/>
        <p:txBody>
          <a:bodyPr/>
          <a:lstStyle/>
          <a:p>
            <a:fld id="{AEC99F6A-E93D-4C9C-AA2B-FA96051C5F3E}" type="slidenum">
              <a:rPr lang="en-US" smtClean="0"/>
              <a:t>16</a:t>
            </a:fld>
            <a:endParaRPr lang="en-US"/>
          </a:p>
        </p:txBody>
      </p:sp>
      <p:sp>
        <p:nvSpPr>
          <p:cNvPr id="6" name="Rectangle 5">
            <a:extLst>
              <a:ext uri="{FF2B5EF4-FFF2-40B4-BE49-F238E27FC236}">
                <a16:creationId xmlns:a16="http://schemas.microsoft.com/office/drawing/2014/main" id="{5F58076F-55AA-0740-AB27-EB12F8EACBCC}"/>
              </a:ext>
            </a:extLst>
          </p:cNvPr>
          <p:cNvSpPr/>
          <p:nvPr/>
        </p:nvSpPr>
        <p:spPr>
          <a:xfrm>
            <a:off x="993998" y="1753267"/>
            <a:ext cx="4195379" cy="461665"/>
          </a:xfrm>
          <a:prstGeom prst="rect">
            <a:avLst/>
          </a:prstGeom>
        </p:spPr>
        <p:txBody>
          <a:bodyPr wrap="none">
            <a:spAutoFit/>
          </a:bodyPr>
          <a:lstStyle/>
          <a:p>
            <a:r>
              <a:rPr lang="en-US" sz="2400" b="1" dirty="0"/>
              <a:t>BEFORE INDEPENDENCE</a:t>
            </a:r>
          </a:p>
        </p:txBody>
      </p:sp>
      <p:sp>
        <p:nvSpPr>
          <p:cNvPr id="7" name="Rectangle 6">
            <a:extLst>
              <a:ext uri="{FF2B5EF4-FFF2-40B4-BE49-F238E27FC236}">
                <a16:creationId xmlns:a16="http://schemas.microsoft.com/office/drawing/2014/main" id="{535E1E9A-7A5B-BF42-B8DA-10ACB454689D}"/>
              </a:ext>
            </a:extLst>
          </p:cNvPr>
          <p:cNvSpPr/>
          <p:nvPr/>
        </p:nvSpPr>
        <p:spPr>
          <a:xfrm>
            <a:off x="6711733" y="1511260"/>
            <a:ext cx="3935693" cy="461665"/>
          </a:xfrm>
          <a:prstGeom prst="rect">
            <a:avLst/>
          </a:prstGeom>
        </p:spPr>
        <p:txBody>
          <a:bodyPr wrap="none">
            <a:spAutoFit/>
          </a:bodyPr>
          <a:lstStyle/>
          <a:p>
            <a:r>
              <a:rPr lang="en-US" sz="2400" b="1" dirty="0"/>
              <a:t>AFTER INDEPENDENCE</a:t>
            </a:r>
          </a:p>
        </p:txBody>
      </p:sp>
      <p:sp>
        <p:nvSpPr>
          <p:cNvPr id="9" name="Content Placeholder 3">
            <a:extLst>
              <a:ext uri="{FF2B5EF4-FFF2-40B4-BE49-F238E27FC236}">
                <a16:creationId xmlns:a16="http://schemas.microsoft.com/office/drawing/2014/main" id="{49C57EBB-37F9-D94E-924B-C968B23AA00B}"/>
              </a:ext>
            </a:extLst>
          </p:cNvPr>
          <p:cNvSpPr txBox="1">
            <a:spLocks/>
          </p:cNvSpPr>
          <p:nvPr/>
        </p:nvSpPr>
        <p:spPr>
          <a:xfrm>
            <a:off x="6556248" y="2038634"/>
            <a:ext cx="4754880" cy="3977640"/>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9pPr>
          </a:lstStyle>
          <a:p>
            <a:r>
              <a:rPr lang="en-US" sz="2800" dirty="0"/>
              <a:t>Affiliated College</a:t>
            </a:r>
          </a:p>
          <a:p>
            <a:r>
              <a:rPr lang="en-US" sz="2800" dirty="0"/>
              <a:t>Constituent College</a:t>
            </a:r>
          </a:p>
          <a:p>
            <a:r>
              <a:rPr lang="en-US" sz="2800" dirty="0"/>
              <a:t>University </a:t>
            </a:r>
          </a:p>
          <a:p>
            <a:r>
              <a:rPr lang="en-US" sz="2800" dirty="0"/>
              <a:t>Autonomous College</a:t>
            </a:r>
          </a:p>
          <a:p>
            <a:r>
              <a:rPr lang="en-US" sz="2800" dirty="0"/>
              <a:t>Centre of Excellence: IIXs</a:t>
            </a:r>
          </a:p>
          <a:p>
            <a:endParaRPr lang="en-US" sz="2800" dirty="0"/>
          </a:p>
          <a:p>
            <a:endParaRPr lang="en-US" sz="2800" dirty="0"/>
          </a:p>
          <a:p>
            <a:endParaRPr lang="en-US" sz="2800" dirty="0"/>
          </a:p>
        </p:txBody>
      </p:sp>
      <p:pic>
        <p:nvPicPr>
          <p:cNvPr id="10" name="Picture 9">
            <a:extLst>
              <a:ext uri="{FF2B5EF4-FFF2-40B4-BE49-F238E27FC236}">
                <a16:creationId xmlns:a16="http://schemas.microsoft.com/office/drawing/2014/main" id="{2B171AE5-E314-1C48-883F-0ABE14F93680}"/>
              </a:ext>
            </a:extLst>
          </p:cNvPr>
          <p:cNvPicPr>
            <a:picLocks noChangeAspect="1"/>
          </p:cNvPicPr>
          <p:nvPr/>
        </p:nvPicPr>
        <p:blipFill>
          <a:blip r:embed="rId3"/>
          <a:stretch>
            <a:fillRect/>
          </a:stretch>
        </p:blipFill>
        <p:spPr>
          <a:xfrm>
            <a:off x="1185926" y="5113529"/>
            <a:ext cx="9461500" cy="1473200"/>
          </a:xfrm>
          <a:prstGeom prst="rect">
            <a:avLst/>
          </a:prstGeom>
        </p:spPr>
      </p:pic>
    </p:spTree>
    <p:extLst>
      <p:ext uri="{BB962C8B-B14F-4D97-AF65-F5344CB8AC3E}">
        <p14:creationId xmlns:p14="http://schemas.microsoft.com/office/powerpoint/2010/main" val="328255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FA7CFA-E228-5FA9-E21C-EB37072CAAEE}"/>
              </a:ext>
            </a:extLst>
          </p:cNvPr>
          <p:cNvSpPr>
            <a:spLocks noGrp="1"/>
          </p:cNvSpPr>
          <p:nvPr>
            <p:ph type="title"/>
          </p:nvPr>
        </p:nvSpPr>
        <p:spPr>
          <a:xfrm>
            <a:off x="1066800" y="132363"/>
            <a:ext cx="10058400" cy="519709"/>
          </a:xfrm>
        </p:spPr>
        <p:txBody>
          <a:bodyPr>
            <a:normAutofit fontScale="90000"/>
          </a:bodyPr>
          <a:lstStyle/>
          <a:p>
            <a:r>
              <a:rPr lang="en-IN" dirty="0"/>
              <a:t>AISHE recent data </a:t>
            </a:r>
          </a:p>
        </p:txBody>
      </p:sp>
      <p:sp>
        <p:nvSpPr>
          <p:cNvPr id="2" name="Slide Number Placeholder 1">
            <a:extLst>
              <a:ext uri="{FF2B5EF4-FFF2-40B4-BE49-F238E27FC236}">
                <a16:creationId xmlns:a16="http://schemas.microsoft.com/office/drawing/2014/main" id="{39AFE69C-B341-89C6-79B7-10D227662029}"/>
              </a:ext>
            </a:extLst>
          </p:cNvPr>
          <p:cNvSpPr>
            <a:spLocks noGrp="1"/>
          </p:cNvSpPr>
          <p:nvPr>
            <p:ph type="sldNum" sz="quarter" idx="12"/>
          </p:nvPr>
        </p:nvSpPr>
        <p:spPr/>
        <p:txBody>
          <a:bodyPr/>
          <a:lstStyle/>
          <a:p>
            <a:fld id="{AEC99F6A-E93D-4C9C-AA2B-FA96051C5F3E}" type="slidenum">
              <a:rPr lang="en-US" smtClean="0"/>
              <a:t>17</a:t>
            </a:fld>
            <a:endParaRPr lang="en-US"/>
          </a:p>
        </p:txBody>
      </p:sp>
      <p:pic>
        <p:nvPicPr>
          <p:cNvPr id="4" name="Picture 3">
            <a:extLst>
              <a:ext uri="{FF2B5EF4-FFF2-40B4-BE49-F238E27FC236}">
                <a16:creationId xmlns:a16="http://schemas.microsoft.com/office/drawing/2014/main" id="{4CB7FA9B-0FC8-F609-4C7E-ADA672E5F502}"/>
              </a:ext>
            </a:extLst>
          </p:cNvPr>
          <p:cNvPicPr>
            <a:picLocks noChangeAspect="1"/>
          </p:cNvPicPr>
          <p:nvPr/>
        </p:nvPicPr>
        <p:blipFill>
          <a:blip r:embed="rId3"/>
          <a:stretch>
            <a:fillRect/>
          </a:stretch>
        </p:blipFill>
        <p:spPr>
          <a:xfrm>
            <a:off x="0" y="831265"/>
            <a:ext cx="12192000" cy="5360360"/>
          </a:xfrm>
          <a:prstGeom prst="rect">
            <a:avLst/>
          </a:prstGeom>
        </p:spPr>
      </p:pic>
      <p:sp>
        <p:nvSpPr>
          <p:cNvPr id="7" name="Rectangle: Diagonal Corners Rounded 6">
            <a:extLst>
              <a:ext uri="{FF2B5EF4-FFF2-40B4-BE49-F238E27FC236}">
                <a16:creationId xmlns:a16="http://schemas.microsoft.com/office/drawing/2014/main" id="{3C4D0BF7-B627-E6FF-E93F-AAD5EF57127E}"/>
              </a:ext>
            </a:extLst>
          </p:cNvPr>
          <p:cNvSpPr/>
          <p:nvPr/>
        </p:nvSpPr>
        <p:spPr>
          <a:xfrm>
            <a:off x="202367" y="2983043"/>
            <a:ext cx="3537679" cy="682052"/>
          </a:xfrm>
          <a:prstGeom prst="round2Diag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51479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308A1-5A74-558F-58E8-6A7D9B0E5E0D}"/>
              </a:ext>
            </a:extLst>
          </p:cNvPr>
          <p:cNvSpPr>
            <a:spLocks noGrp="1"/>
          </p:cNvSpPr>
          <p:nvPr>
            <p:ph type="title"/>
          </p:nvPr>
        </p:nvSpPr>
        <p:spPr>
          <a:xfrm>
            <a:off x="1147071" y="-24777"/>
            <a:ext cx="7935456" cy="914400"/>
          </a:xfrm>
        </p:spPr>
        <p:txBody>
          <a:bodyPr>
            <a:normAutofit/>
          </a:bodyPr>
          <a:lstStyle/>
          <a:p>
            <a:r>
              <a:rPr lang="en-GB" sz="4400" dirty="0"/>
              <a:t>India’s Higher Education in Numbers</a:t>
            </a:r>
            <a:endParaRPr lang="en-IN" sz="4400" dirty="0"/>
          </a:p>
        </p:txBody>
      </p:sp>
      <p:sp>
        <p:nvSpPr>
          <p:cNvPr id="3" name="Content Placeholder 2">
            <a:extLst>
              <a:ext uri="{FF2B5EF4-FFF2-40B4-BE49-F238E27FC236}">
                <a16:creationId xmlns:a16="http://schemas.microsoft.com/office/drawing/2014/main" id="{973D640F-162C-F9E5-6DC0-1C5E12DF9FFA}"/>
              </a:ext>
            </a:extLst>
          </p:cNvPr>
          <p:cNvSpPr>
            <a:spLocks noGrp="1"/>
          </p:cNvSpPr>
          <p:nvPr>
            <p:ph idx="1"/>
          </p:nvPr>
        </p:nvSpPr>
        <p:spPr>
          <a:xfrm>
            <a:off x="1024129" y="2286000"/>
            <a:ext cx="4389120" cy="3931920"/>
          </a:xfrm>
        </p:spPr>
        <p:txBody>
          <a:bodyPr>
            <a:normAutofit fontScale="77500" lnSpcReduction="20000"/>
          </a:bodyPr>
          <a:lstStyle/>
          <a:p>
            <a:pPr marL="0" lvl="0" indent="0">
              <a:lnSpc>
                <a:spcPct val="107000"/>
              </a:lnSpc>
              <a:spcAft>
                <a:spcPts val="800"/>
              </a:spcAft>
              <a:buSzPts val="1000"/>
              <a:buNone/>
              <a:tabLst>
                <a:tab pos="457200" algn="l"/>
              </a:tabLst>
            </a:pPr>
            <a:r>
              <a:rPr lang="en-IN" sz="1800" b="1" kern="100" dirty="0">
                <a:effectLst/>
                <a:latin typeface="Calibri" panose="020F0502020204030204" pitchFamily="34" charset="0"/>
                <a:ea typeface="Calibri" panose="020F0502020204030204" pitchFamily="34" charset="0"/>
                <a:cs typeface="Mangal" panose="02040503050203030202" pitchFamily="18" charset="0"/>
              </a:rPr>
              <a:t>AISHE (2019-19)</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993 Universities</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39,931 Colleges</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37.4 million students</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1.4 million faculty (AISHE 2018–19)</a:t>
            </a:r>
          </a:p>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Mangal" panose="02040503050203030202" pitchFamily="18" charset="0"/>
              </a:rPr>
              <a:t>GER Growth Over Time</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2005: GER 10%</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2019: GER 26.3%</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Mangal" panose="02040503050203030202" pitchFamily="18" charset="0"/>
              </a:rPr>
              <a:t>Target 2035 (NEP): GER 50%</a:t>
            </a:r>
          </a:p>
          <a:p>
            <a:endParaRPr lang="en-IN" sz="1800" dirty="0"/>
          </a:p>
        </p:txBody>
      </p:sp>
      <p:pic>
        <p:nvPicPr>
          <p:cNvPr id="7" name="Picture 6">
            <a:extLst>
              <a:ext uri="{FF2B5EF4-FFF2-40B4-BE49-F238E27FC236}">
                <a16:creationId xmlns:a16="http://schemas.microsoft.com/office/drawing/2014/main" id="{26DAD351-9600-95BB-24F5-B8143E3AE801}"/>
              </a:ext>
            </a:extLst>
          </p:cNvPr>
          <p:cNvPicPr>
            <a:picLocks noChangeAspect="1"/>
          </p:cNvPicPr>
          <p:nvPr/>
        </p:nvPicPr>
        <p:blipFill>
          <a:blip r:embed="rId2"/>
          <a:stretch>
            <a:fillRect/>
          </a:stretch>
        </p:blipFill>
        <p:spPr>
          <a:xfrm>
            <a:off x="5154449" y="3559467"/>
            <a:ext cx="5120107" cy="3037469"/>
          </a:xfrm>
          <a:prstGeom prst="rect">
            <a:avLst/>
          </a:prstGeom>
        </p:spPr>
      </p:pic>
      <p:pic>
        <p:nvPicPr>
          <p:cNvPr id="9" name="Picture 8">
            <a:extLst>
              <a:ext uri="{FF2B5EF4-FFF2-40B4-BE49-F238E27FC236}">
                <a16:creationId xmlns:a16="http://schemas.microsoft.com/office/drawing/2014/main" id="{188BED66-D41E-A8D6-C092-4D1FD93C2582}"/>
              </a:ext>
            </a:extLst>
          </p:cNvPr>
          <p:cNvPicPr>
            <a:picLocks noChangeAspect="1"/>
          </p:cNvPicPr>
          <p:nvPr/>
        </p:nvPicPr>
        <p:blipFill>
          <a:blip r:embed="rId3"/>
          <a:stretch>
            <a:fillRect/>
          </a:stretch>
        </p:blipFill>
        <p:spPr>
          <a:xfrm>
            <a:off x="2966186" y="791552"/>
            <a:ext cx="4276883" cy="2389476"/>
          </a:xfrm>
          <a:prstGeom prst="rect">
            <a:avLst/>
          </a:prstGeom>
        </p:spPr>
      </p:pic>
      <p:pic>
        <p:nvPicPr>
          <p:cNvPr id="13" name="Picture 12">
            <a:extLst>
              <a:ext uri="{FF2B5EF4-FFF2-40B4-BE49-F238E27FC236}">
                <a16:creationId xmlns:a16="http://schemas.microsoft.com/office/drawing/2014/main" id="{59B0403A-F75A-3BDF-D867-9329365ED64D}"/>
              </a:ext>
            </a:extLst>
          </p:cNvPr>
          <p:cNvPicPr>
            <a:picLocks noChangeAspect="1"/>
          </p:cNvPicPr>
          <p:nvPr/>
        </p:nvPicPr>
        <p:blipFill>
          <a:blip r:embed="rId4"/>
          <a:stretch>
            <a:fillRect/>
          </a:stretch>
        </p:blipFill>
        <p:spPr>
          <a:xfrm>
            <a:off x="7374389" y="753034"/>
            <a:ext cx="4885568" cy="2620193"/>
          </a:xfrm>
          <a:prstGeom prst="rect">
            <a:avLst/>
          </a:prstGeom>
        </p:spPr>
      </p:pic>
    </p:spTree>
    <p:extLst>
      <p:ext uri="{BB962C8B-B14F-4D97-AF65-F5344CB8AC3E}">
        <p14:creationId xmlns:p14="http://schemas.microsoft.com/office/powerpoint/2010/main" val="1828072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A9E26A-F8CE-114C-A0D7-76959CFBA21B}"/>
              </a:ext>
            </a:extLst>
          </p:cNvPr>
          <p:cNvSpPr>
            <a:spLocks noGrp="1"/>
          </p:cNvSpPr>
          <p:nvPr>
            <p:ph type="sldNum" sz="quarter" idx="12"/>
          </p:nvPr>
        </p:nvSpPr>
        <p:spPr/>
        <p:txBody>
          <a:bodyPr/>
          <a:lstStyle/>
          <a:p>
            <a:fld id="{AEC99F6A-E93D-4C9C-AA2B-FA96051C5F3E}" type="slidenum">
              <a:rPr lang="en-US" smtClean="0"/>
              <a:t>19</a:t>
            </a:fld>
            <a:endParaRPr lang="en-US"/>
          </a:p>
        </p:txBody>
      </p:sp>
      <p:sp>
        <p:nvSpPr>
          <p:cNvPr id="11" name="Content Placeholder 10"/>
          <p:cNvSpPr>
            <a:spLocks noGrp="1"/>
          </p:cNvSpPr>
          <p:nvPr>
            <p:ph sz="quarter" idx="4294967295"/>
          </p:nvPr>
        </p:nvSpPr>
        <p:spPr>
          <a:xfrm>
            <a:off x="6516688" y="1219200"/>
            <a:ext cx="5675312" cy="4848225"/>
          </a:xfrm>
        </p:spPr>
        <p:txBody>
          <a:bodyPr>
            <a:normAutofit/>
          </a:bodyPr>
          <a:lstStyle/>
          <a:p>
            <a:r>
              <a:rPr lang="en-US" sz="2000" b="1" dirty="0"/>
              <a:t>Central</a:t>
            </a:r>
            <a:r>
              <a:rPr lang="en-US" sz="2000" dirty="0"/>
              <a:t>: Public universities formed by passing a Central act.</a:t>
            </a:r>
          </a:p>
          <a:p>
            <a:r>
              <a:rPr lang="en-US" sz="2000" b="1" dirty="0"/>
              <a:t>State</a:t>
            </a:r>
            <a:r>
              <a:rPr lang="en-US" sz="2000" dirty="0"/>
              <a:t>: Public universities formed by passing a State act.</a:t>
            </a:r>
          </a:p>
          <a:p>
            <a:r>
              <a:rPr lang="en-US" sz="2000" b="1" dirty="0"/>
              <a:t>Private</a:t>
            </a:r>
            <a:r>
              <a:rPr lang="en-US" sz="2000" dirty="0"/>
              <a:t>: Universities established through a state or central act by a sponsoring body which can be a registered Society, Trust or Non-profit Company. </a:t>
            </a:r>
          </a:p>
          <a:p>
            <a:r>
              <a:rPr lang="en-US" sz="2000" b="1"/>
              <a:t>Deemed to be : </a:t>
            </a:r>
            <a:r>
              <a:rPr lang="en-US" sz="2000" b="1" dirty="0"/>
              <a:t>“</a:t>
            </a:r>
            <a:r>
              <a:rPr lang="en-US" sz="2000" dirty="0"/>
              <a:t>a high-performing institution, which has been so declared by Central Government under Section 3 of the University Grants Commission (UGC) Act, 1956</a:t>
            </a:r>
          </a:p>
          <a:p>
            <a:r>
              <a:rPr lang="en-US" sz="2000" b="1" dirty="0"/>
              <a:t>MHRD control:</a:t>
            </a:r>
            <a:r>
              <a:rPr lang="en-US" sz="2000" dirty="0"/>
              <a:t> Institutions of National Importance </a:t>
            </a:r>
            <a:r>
              <a:rPr lang="en-US" sz="2000" b="1" dirty="0"/>
              <a:t>(IITs, NITs, AIIMS, etc.)</a:t>
            </a:r>
            <a:r>
              <a:rPr lang="en-US" sz="2000" dirty="0"/>
              <a:t> and Premier Institutes of Management </a:t>
            </a:r>
            <a:r>
              <a:rPr lang="en-US" sz="2000" b="1" dirty="0"/>
              <a:t>(IIMs)</a:t>
            </a:r>
            <a:endParaRPr lang="en-US" sz="2000" dirty="0"/>
          </a:p>
          <a:p>
            <a:endParaRPr lang="en-US" dirty="0"/>
          </a:p>
          <a:p>
            <a:endParaRPr lang="en-US" dirty="0"/>
          </a:p>
        </p:txBody>
      </p:sp>
      <p:sp>
        <p:nvSpPr>
          <p:cNvPr id="5" name="Title 4"/>
          <p:cNvSpPr>
            <a:spLocks noGrp="1"/>
          </p:cNvSpPr>
          <p:nvPr>
            <p:ph type="title" idx="4294967295"/>
          </p:nvPr>
        </p:nvSpPr>
        <p:spPr>
          <a:xfrm>
            <a:off x="6996113" y="247650"/>
            <a:ext cx="5195887" cy="990600"/>
          </a:xfrm>
        </p:spPr>
        <p:txBody>
          <a:bodyPr>
            <a:normAutofit/>
          </a:bodyPr>
          <a:lstStyle/>
          <a:p>
            <a:r>
              <a:rPr lang="en-US" sz="3200" dirty="0"/>
              <a:t>Higher education: Universities </a:t>
            </a:r>
          </a:p>
        </p:txBody>
      </p:sp>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16775" r="6699"/>
          <a:stretch/>
        </p:blipFill>
        <p:spPr>
          <a:xfrm>
            <a:off x="203199" y="571071"/>
            <a:ext cx="6422453" cy="6144482"/>
          </a:xfrm>
          <a:prstGeom prst="rect">
            <a:avLst/>
          </a:prstGeom>
        </p:spPr>
      </p:pic>
      <p:sp>
        <p:nvSpPr>
          <p:cNvPr id="9" name="Rectangle 8"/>
          <p:cNvSpPr/>
          <p:nvPr/>
        </p:nvSpPr>
        <p:spPr>
          <a:xfrm>
            <a:off x="7326143" y="5897088"/>
            <a:ext cx="4981971" cy="646331"/>
          </a:xfrm>
          <a:prstGeom prst="rect">
            <a:avLst/>
          </a:prstGeom>
        </p:spPr>
        <p:txBody>
          <a:bodyPr wrap="square">
            <a:spAutoFit/>
          </a:bodyPr>
          <a:lstStyle/>
          <a:p>
            <a:r>
              <a:rPr lang="en-US" b="0" dirty="0">
                <a:hlinkClick r:id="rId4"/>
              </a:rPr>
              <a:t>Demystifying Higher Education in India,</a:t>
            </a:r>
            <a:endParaRPr lang="en-US" b="0" dirty="0"/>
          </a:p>
          <a:p>
            <a:r>
              <a:rPr lang="en-US" b="0" dirty="0"/>
              <a:t>Thomas Manuel , The Wire 08/07/2015</a:t>
            </a:r>
          </a:p>
        </p:txBody>
      </p:sp>
      <p:sp>
        <p:nvSpPr>
          <p:cNvPr id="10" name="TextBox 9"/>
          <p:cNvSpPr txBox="1"/>
          <p:nvPr/>
        </p:nvSpPr>
        <p:spPr>
          <a:xfrm>
            <a:off x="3889829" y="757535"/>
            <a:ext cx="870751" cy="461665"/>
          </a:xfrm>
          <a:prstGeom prst="rect">
            <a:avLst/>
          </a:prstGeom>
          <a:noFill/>
        </p:spPr>
        <p:txBody>
          <a:bodyPr wrap="none" rtlCol="0">
            <a:spAutoFit/>
          </a:bodyPr>
          <a:lstStyle/>
          <a:p>
            <a:pPr algn="l"/>
            <a:r>
              <a:rPr lang="en-US" sz="2400" dirty="0">
                <a:solidFill>
                  <a:srgbClr val="0000FF"/>
                </a:solidFill>
              </a:rPr>
              <a:t>1991</a:t>
            </a:r>
          </a:p>
        </p:txBody>
      </p:sp>
    </p:spTree>
    <p:extLst>
      <p:ext uri="{BB962C8B-B14F-4D97-AF65-F5344CB8AC3E}">
        <p14:creationId xmlns:p14="http://schemas.microsoft.com/office/powerpoint/2010/main" val="4091360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A83991-34BA-9E4D-83BE-8C2471B9DC9D}"/>
              </a:ext>
            </a:extLst>
          </p:cNvPr>
          <p:cNvSpPr txBox="1"/>
          <p:nvPr/>
        </p:nvSpPr>
        <p:spPr>
          <a:xfrm>
            <a:off x="4097867" y="6366933"/>
            <a:ext cx="4988545" cy="369332"/>
          </a:xfrm>
          <a:prstGeom prst="rect">
            <a:avLst/>
          </a:prstGeom>
          <a:noFill/>
        </p:spPr>
        <p:txBody>
          <a:bodyPr wrap="none" rtlCol="0">
            <a:spAutoFit/>
          </a:bodyPr>
          <a:lstStyle/>
          <a:p>
            <a:r>
              <a:rPr lang="en-US" dirty="0"/>
              <a:t>All India Survey on Higher Education 2016-17</a:t>
            </a:r>
          </a:p>
        </p:txBody>
      </p:sp>
      <p:sp>
        <p:nvSpPr>
          <p:cNvPr id="4" name="Slide Number Placeholder 3">
            <a:extLst>
              <a:ext uri="{FF2B5EF4-FFF2-40B4-BE49-F238E27FC236}">
                <a16:creationId xmlns:a16="http://schemas.microsoft.com/office/drawing/2014/main" id="{8465EE01-F8BC-7F42-93C6-DA2A5D569463}"/>
              </a:ext>
            </a:extLst>
          </p:cNvPr>
          <p:cNvSpPr>
            <a:spLocks noGrp="1"/>
          </p:cNvSpPr>
          <p:nvPr>
            <p:ph type="sldNum" sz="quarter" idx="12"/>
          </p:nvPr>
        </p:nvSpPr>
        <p:spPr/>
        <p:txBody>
          <a:bodyPr/>
          <a:lstStyle/>
          <a:p>
            <a:fld id="{AEC99F6A-E93D-4C9C-AA2B-FA96051C5F3E}" type="slidenum">
              <a:rPr lang="en-US" smtClean="0"/>
              <a:t>20</a:t>
            </a:fld>
            <a:endParaRPr lang="en-US"/>
          </a:p>
        </p:txBody>
      </p:sp>
      <p:pic>
        <p:nvPicPr>
          <p:cNvPr id="5" name="Picture 4">
            <a:extLst>
              <a:ext uri="{FF2B5EF4-FFF2-40B4-BE49-F238E27FC236}">
                <a16:creationId xmlns:a16="http://schemas.microsoft.com/office/drawing/2014/main" id="{6F264064-C181-BD4D-9F05-4EFCAAD696D7}"/>
              </a:ext>
            </a:extLst>
          </p:cNvPr>
          <p:cNvPicPr>
            <a:picLocks noChangeAspect="1"/>
          </p:cNvPicPr>
          <p:nvPr/>
        </p:nvPicPr>
        <p:blipFill>
          <a:blip r:embed="rId3"/>
          <a:stretch>
            <a:fillRect/>
          </a:stretch>
        </p:blipFill>
        <p:spPr>
          <a:xfrm>
            <a:off x="1172799" y="614597"/>
            <a:ext cx="8822101" cy="5043253"/>
          </a:xfrm>
          <a:prstGeom prst="rect">
            <a:avLst/>
          </a:prstGeom>
        </p:spPr>
      </p:pic>
      <p:sp>
        <p:nvSpPr>
          <p:cNvPr id="6" name="TextBox 5">
            <a:extLst>
              <a:ext uri="{FF2B5EF4-FFF2-40B4-BE49-F238E27FC236}">
                <a16:creationId xmlns:a16="http://schemas.microsoft.com/office/drawing/2014/main" id="{A01B3823-826F-0741-986E-67B8C0A67990}"/>
              </a:ext>
            </a:extLst>
          </p:cNvPr>
          <p:cNvSpPr txBox="1"/>
          <p:nvPr/>
        </p:nvSpPr>
        <p:spPr>
          <a:xfrm>
            <a:off x="1094282" y="1603948"/>
            <a:ext cx="9368852" cy="1184222"/>
          </a:xfrm>
          <a:prstGeom prst="rect">
            <a:avLst/>
          </a:prstGeom>
          <a:noFill/>
          <a:ln>
            <a:solidFill>
              <a:srgbClr val="0070C0"/>
            </a:solidFill>
          </a:ln>
        </p:spPr>
        <p:txBody>
          <a:bodyPr wrap="square" rtlCol="0">
            <a:spAutoFit/>
          </a:bodyPr>
          <a:lstStyle/>
          <a:p>
            <a:endParaRPr lang="en-US" dirty="0"/>
          </a:p>
        </p:txBody>
      </p:sp>
      <p:sp>
        <p:nvSpPr>
          <p:cNvPr id="7" name="TextBox 6">
            <a:extLst>
              <a:ext uri="{FF2B5EF4-FFF2-40B4-BE49-F238E27FC236}">
                <a16:creationId xmlns:a16="http://schemas.microsoft.com/office/drawing/2014/main" id="{3A28031E-88FA-EF4B-A523-C9B8688A1698}"/>
              </a:ext>
            </a:extLst>
          </p:cNvPr>
          <p:cNvSpPr txBox="1"/>
          <p:nvPr/>
        </p:nvSpPr>
        <p:spPr>
          <a:xfrm>
            <a:off x="781987" y="3416508"/>
            <a:ext cx="9368852" cy="1184222"/>
          </a:xfrm>
          <a:prstGeom prst="rect">
            <a:avLst/>
          </a:prstGeom>
          <a:noFill/>
          <a:ln>
            <a:solidFill>
              <a:srgbClr val="0070C0"/>
            </a:solidFill>
          </a:ln>
        </p:spPr>
        <p:txBody>
          <a:bodyPr wrap="square" rtlCol="0">
            <a:spAutoFit/>
          </a:bodyPr>
          <a:lstStyle/>
          <a:p>
            <a:endParaRPr lang="en-US" dirty="0"/>
          </a:p>
        </p:txBody>
      </p:sp>
    </p:spTree>
    <p:extLst>
      <p:ext uri="{BB962C8B-B14F-4D97-AF65-F5344CB8AC3E}">
        <p14:creationId xmlns:p14="http://schemas.microsoft.com/office/powerpoint/2010/main" val="2960562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9D6521-BBE6-FD4E-82CB-BF3E43081187}"/>
              </a:ext>
            </a:extLst>
          </p:cNvPr>
          <p:cNvSpPr>
            <a:spLocks noGrp="1"/>
          </p:cNvSpPr>
          <p:nvPr>
            <p:ph type="sldNum" sz="quarter" idx="12"/>
          </p:nvPr>
        </p:nvSpPr>
        <p:spPr/>
        <p:txBody>
          <a:bodyPr/>
          <a:lstStyle/>
          <a:p>
            <a:fld id="{AEC99F6A-E93D-4C9C-AA2B-FA96051C5F3E}" type="slidenum">
              <a:rPr lang="en-US" smtClean="0"/>
              <a:t>21</a:t>
            </a:fld>
            <a:endParaRPr lang="en-US"/>
          </a:p>
        </p:txBody>
      </p:sp>
      <p:pic>
        <p:nvPicPr>
          <p:cNvPr id="3" name="Picture 2">
            <a:extLst>
              <a:ext uri="{FF2B5EF4-FFF2-40B4-BE49-F238E27FC236}">
                <a16:creationId xmlns:a16="http://schemas.microsoft.com/office/drawing/2014/main" id="{44431634-6A7A-D14B-A585-F525525D3350}"/>
              </a:ext>
            </a:extLst>
          </p:cNvPr>
          <p:cNvPicPr>
            <a:picLocks noChangeAspect="1"/>
          </p:cNvPicPr>
          <p:nvPr/>
        </p:nvPicPr>
        <p:blipFill rotWithShape="1">
          <a:blip r:embed="rId2">
            <a:extLst>
              <a:ext uri="{28A0092B-C50C-407E-A947-70E740481C1C}">
                <a14:useLocalDpi xmlns:a14="http://schemas.microsoft.com/office/drawing/2010/main" val="0"/>
              </a:ext>
            </a:extLst>
          </a:blip>
          <a:srcRect l="16775" r="6699"/>
          <a:stretch/>
        </p:blipFill>
        <p:spPr>
          <a:xfrm>
            <a:off x="0" y="356759"/>
            <a:ext cx="6382993" cy="6106730"/>
          </a:xfrm>
          <a:prstGeom prst="rect">
            <a:avLst/>
          </a:prstGeom>
        </p:spPr>
      </p:pic>
      <p:sp>
        <p:nvSpPr>
          <p:cNvPr id="4" name="TextBox 3">
            <a:extLst>
              <a:ext uri="{FF2B5EF4-FFF2-40B4-BE49-F238E27FC236}">
                <a16:creationId xmlns:a16="http://schemas.microsoft.com/office/drawing/2014/main" id="{6DFBA435-F603-AE4B-B782-9B725708431C}"/>
              </a:ext>
            </a:extLst>
          </p:cNvPr>
          <p:cNvSpPr txBox="1"/>
          <p:nvPr/>
        </p:nvSpPr>
        <p:spPr>
          <a:xfrm>
            <a:off x="4295274" y="842211"/>
            <a:ext cx="684803" cy="369332"/>
          </a:xfrm>
          <a:prstGeom prst="rect">
            <a:avLst/>
          </a:prstGeom>
          <a:noFill/>
        </p:spPr>
        <p:txBody>
          <a:bodyPr wrap="none" rtlCol="0">
            <a:spAutoFit/>
          </a:bodyPr>
          <a:lstStyle/>
          <a:p>
            <a:r>
              <a:rPr lang="en-US" dirty="0"/>
              <a:t>1991</a:t>
            </a:r>
          </a:p>
        </p:txBody>
      </p:sp>
      <p:pic>
        <p:nvPicPr>
          <p:cNvPr id="5" name="Picture 4">
            <a:extLst>
              <a:ext uri="{FF2B5EF4-FFF2-40B4-BE49-F238E27FC236}">
                <a16:creationId xmlns:a16="http://schemas.microsoft.com/office/drawing/2014/main" id="{F54A525F-E647-0F4A-9338-6A7AD64813C0}"/>
              </a:ext>
            </a:extLst>
          </p:cNvPr>
          <p:cNvPicPr>
            <a:picLocks noChangeAspect="1"/>
          </p:cNvPicPr>
          <p:nvPr/>
        </p:nvPicPr>
        <p:blipFill rotWithShape="1">
          <a:blip r:embed="rId3">
            <a:extLst>
              <a:ext uri="{28A0092B-C50C-407E-A947-70E740481C1C}">
                <a14:useLocalDpi xmlns:a14="http://schemas.microsoft.com/office/drawing/2010/main" val="0"/>
              </a:ext>
            </a:extLst>
          </a:blip>
          <a:srcRect l="18575" t="1297" r="10676"/>
          <a:stretch/>
        </p:blipFill>
        <p:spPr>
          <a:xfrm>
            <a:off x="6096000" y="348616"/>
            <a:ext cx="6104524" cy="6106730"/>
          </a:xfrm>
          <a:prstGeom prst="rect">
            <a:avLst/>
          </a:prstGeom>
        </p:spPr>
      </p:pic>
      <p:sp>
        <p:nvSpPr>
          <p:cNvPr id="6" name="TextBox 5">
            <a:extLst>
              <a:ext uri="{FF2B5EF4-FFF2-40B4-BE49-F238E27FC236}">
                <a16:creationId xmlns:a16="http://schemas.microsoft.com/office/drawing/2014/main" id="{D2290D9E-515F-1345-9025-F1117DA9377B}"/>
              </a:ext>
            </a:extLst>
          </p:cNvPr>
          <p:cNvSpPr txBox="1"/>
          <p:nvPr/>
        </p:nvSpPr>
        <p:spPr>
          <a:xfrm>
            <a:off x="10182345" y="774426"/>
            <a:ext cx="870751" cy="461665"/>
          </a:xfrm>
          <a:prstGeom prst="rect">
            <a:avLst/>
          </a:prstGeom>
          <a:noFill/>
        </p:spPr>
        <p:txBody>
          <a:bodyPr wrap="none" rtlCol="0">
            <a:spAutoFit/>
          </a:bodyPr>
          <a:lstStyle/>
          <a:p>
            <a:pPr algn="l"/>
            <a:r>
              <a:rPr lang="en-US" sz="2400" dirty="0">
                <a:solidFill>
                  <a:srgbClr val="0000FF"/>
                </a:solidFill>
              </a:rPr>
              <a:t>2001</a:t>
            </a:r>
          </a:p>
        </p:txBody>
      </p:sp>
      <p:sp>
        <p:nvSpPr>
          <p:cNvPr id="7" name="Rectangle 6">
            <a:extLst>
              <a:ext uri="{FF2B5EF4-FFF2-40B4-BE49-F238E27FC236}">
                <a16:creationId xmlns:a16="http://schemas.microsoft.com/office/drawing/2014/main" id="{CCDE3A00-7DF8-5C46-94E7-1CD123045929}"/>
              </a:ext>
            </a:extLst>
          </p:cNvPr>
          <p:cNvSpPr/>
          <p:nvPr/>
        </p:nvSpPr>
        <p:spPr>
          <a:xfrm>
            <a:off x="1834218" y="6273118"/>
            <a:ext cx="4981971" cy="584775"/>
          </a:xfrm>
          <a:prstGeom prst="rect">
            <a:avLst/>
          </a:prstGeom>
        </p:spPr>
        <p:txBody>
          <a:bodyPr wrap="square">
            <a:spAutoFit/>
          </a:bodyPr>
          <a:lstStyle/>
          <a:p>
            <a:r>
              <a:rPr lang="en-US" sz="1600" b="0" dirty="0">
                <a:hlinkClick r:id="rId4"/>
              </a:rPr>
              <a:t>Demystifying Higher Education in India,</a:t>
            </a:r>
            <a:endParaRPr lang="en-US" sz="1600" b="0" dirty="0"/>
          </a:p>
          <a:p>
            <a:r>
              <a:rPr lang="en-US" sz="1600" b="0" dirty="0"/>
              <a:t>Thomas Manuel , The Wire 08/07/2015</a:t>
            </a:r>
          </a:p>
        </p:txBody>
      </p:sp>
    </p:spTree>
    <p:extLst>
      <p:ext uri="{BB962C8B-B14F-4D97-AF65-F5344CB8AC3E}">
        <p14:creationId xmlns:p14="http://schemas.microsoft.com/office/powerpoint/2010/main" val="4053634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18575" t="1297" r="10676"/>
          <a:stretch/>
        </p:blipFill>
        <p:spPr>
          <a:xfrm>
            <a:off x="0" y="203200"/>
            <a:ext cx="6241143" cy="6243398"/>
          </a:xfrm>
          <a:prstGeom prst="rect">
            <a:avLst/>
          </a:prstGeom>
        </p:spPr>
      </p:pic>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18194" t="1002" r="6737" b="1"/>
          <a:stretch/>
        </p:blipFill>
        <p:spPr>
          <a:xfrm>
            <a:off x="5820229" y="203200"/>
            <a:ext cx="6371771" cy="6224345"/>
          </a:xfrm>
          <a:prstGeom prst="rect">
            <a:avLst/>
          </a:prstGeom>
        </p:spPr>
      </p:pic>
      <p:sp>
        <p:nvSpPr>
          <p:cNvPr id="4" name="Rectangle 3"/>
          <p:cNvSpPr/>
          <p:nvPr/>
        </p:nvSpPr>
        <p:spPr>
          <a:xfrm>
            <a:off x="1834218" y="6273118"/>
            <a:ext cx="4981971" cy="584775"/>
          </a:xfrm>
          <a:prstGeom prst="rect">
            <a:avLst/>
          </a:prstGeom>
        </p:spPr>
        <p:txBody>
          <a:bodyPr wrap="square">
            <a:spAutoFit/>
          </a:bodyPr>
          <a:lstStyle/>
          <a:p>
            <a:r>
              <a:rPr lang="en-US" sz="1600" b="0" dirty="0">
                <a:hlinkClick r:id="rId4"/>
              </a:rPr>
              <a:t>Demystifying Higher Education in India,</a:t>
            </a:r>
            <a:endParaRPr lang="en-US" sz="1600" b="0" dirty="0"/>
          </a:p>
          <a:p>
            <a:r>
              <a:rPr lang="en-US" sz="1600" b="0" dirty="0"/>
              <a:t>Thomas Manuel , The Wire 08/07/2015</a:t>
            </a:r>
          </a:p>
        </p:txBody>
      </p:sp>
      <p:sp>
        <p:nvSpPr>
          <p:cNvPr id="5" name="TextBox 4"/>
          <p:cNvSpPr txBox="1"/>
          <p:nvPr/>
        </p:nvSpPr>
        <p:spPr>
          <a:xfrm>
            <a:off x="3889829" y="757535"/>
            <a:ext cx="870751" cy="461665"/>
          </a:xfrm>
          <a:prstGeom prst="rect">
            <a:avLst/>
          </a:prstGeom>
          <a:noFill/>
        </p:spPr>
        <p:txBody>
          <a:bodyPr wrap="none" rtlCol="0">
            <a:spAutoFit/>
          </a:bodyPr>
          <a:lstStyle/>
          <a:p>
            <a:pPr algn="l"/>
            <a:r>
              <a:rPr lang="en-US" sz="2400" dirty="0">
                <a:solidFill>
                  <a:srgbClr val="0000FF"/>
                </a:solidFill>
              </a:rPr>
              <a:t>2001</a:t>
            </a:r>
          </a:p>
        </p:txBody>
      </p:sp>
      <p:sp>
        <p:nvSpPr>
          <p:cNvPr id="6" name="TextBox 5"/>
          <p:cNvSpPr txBox="1"/>
          <p:nvPr/>
        </p:nvSpPr>
        <p:spPr>
          <a:xfrm>
            <a:off x="9964058" y="757534"/>
            <a:ext cx="853760" cy="461665"/>
          </a:xfrm>
          <a:prstGeom prst="rect">
            <a:avLst/>
          </a:prstGeom>
          <a:noFill/>
        </p:spPr>
        <p:txBody>
          <a:bodyPr wrap="none" rtlCol="0">
            <a:spAutoFit/>
          </a:bodyPr>
          <a:lstStyle/>
          <a:p>
            <a:pPr algn="l"/>
            <a:r>
              <a:rPr lang="en-US" sz="2400" dirty="0">
                <a:solidFill>
                  <a:srgbClr val="0000FF"/>
                </a:solidFill>
              </a:rPr>
              <a:t>2011</a:t>
            </a:r>
          </a:p>
        </p:txBody>
      </p:sp>
      <p:sp>
        <p:nvSpPr>
          <p:cNvPr id="7" name="Slide Number Placeholder 6">
            <a:extLst>
              <a:ext uri="{FF2B5EF4-FFF2-40B4-BE49-F238E27FC236}">
                <a16:creationId xmlns:a16="http://schemas.microsoft.com/office/drawing/2014/main" id="{ACA23B66-B03C-EE45-B992-D40B757E097D}"/>
              </a:ext>
            </a:extLst>
          </p:cNvPr>
          <p:cNvSpPr>
            <a:spLocks noGrp="1"/>
          </p:cNvSpPr>
          <p:nvPr>
            <p:ph type="sldNum" sz="quarter" idx="12"/>
          </p:nvPr>
        </p:nvSpPr>
        <p:spPr/>
        <p:txBody>
          <a:bodyPr/>
          <a:lstStyle/>
          <a:p>
            <a:fld id="{AEC99F6A-E93D-4C9C-AA2B-FA96051C5F3E}" type="slidenum">
              <a:rPr lang="en-US" smtClean="0"/>
              <a:t>22</a:t>
            </a:fld>
            <a:endParaRPr lang="en-US"/>
          </a:p>
        </p:txBody>
      </p:sp>
    </p:spTree>
    <p:extLst>
      <p:ext uri="{BB962C8B-B14F-4D97-AF65-F5344CB8AC3E}">
        <p14:creationId xmlns:p14="http://schemas.microsoft.com/office/powerpoint/2010/main" val="1951903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64762"/>
            <a:ext cx="9771017" cy="5408022"/>
          </a:xfrm>
          <a:prstGeom prst="rect">
            <a:avLst/>
          </a:prstGeom>
        </p:spPr>
      </p:pic>
      <p:sp>
        <p:nvSpPr>
          <p:cNvPr id="5" name="Rectangle 4"/>
          <p:cNvSpPr/>
          <p:nvPr/>
        </p:nvSpPr>
        <p:spPr>
          <a:xfrm>
            <a:off x="9009605" y="1074359"/>
            <a:ext cx="2022764" cy="3693319"/>
          </a:xfrm>
          <a:prstGeom prst="rect">
            <a:avLst/>
          </a:prstGeom>
        </p:spPr>
        <p:txBody>
          <a:bodyPr wrap="square">
            <a:spAutoFit/>
          </a:bodyPr>
          <a:lstStyle/>
          <a:p>
            <a:r>
              <a:rPr lang="en-US" dirty="0">
                <a:solidFill>
                  <a:schemeClr val="accent1"/>
                </a:solidFill>
              </a:rPr>
              <a:t>STATE UNIVERSITIES- </a:t>
            </a:r>
          </a:p>
          <a:p>
            <a:pPr lvl="1"/>
            <a:r>
              <a:rPr lang="en-US" dirty="0"/>
              <a:t>Growing consistently</a:t>
            </a:r>
          </a:p>
          <a:p>
            <a:r>
              <a:rPr lang="en-US" dirty="0">
                <a:solidFill>
                  <a:schemeClr val="accent1"/>
                </a:solidFill>
              </a:rPr>
              <a:t>DEEMED UNIVERSITIES-</a:t>
            </a:r>
          </a:p>
          <a:p>
            <a:pPr lvl="1"/>
            <a:r>
              <a:rPr lang="en-US" dirty="0"/>
              <a:t>Picked up around 2000 and peak in 2008</a:t>
            </a:r>
          </a:p>
          <a:p>
            <a:r>
              <a:rPr lang="en-US" dirty="0">
                <a:solidFill>
                  <a:schemeClr val="accent1"/>
                </a:solidFill>
              </a:rPr>
              <a:t>PRIVATE UNIVERSITIES-</a:t>
            </a:r>
          </a:p>
          <a:p>
            <a:pPr lvl="1"/>
            <a:r>
              <a:rPr lang="en-US" dirty="0"/>
              <a:t>Sharpest rise </a:t>
            </a:r>
          </a:p>
        </p:txBody>
      </p:sp>
      <p:sp>
        <p:nvSpPr>
          <p:cNvPr id="6" name="Rectangle 5"/>
          <p:cNvSpPr/>
          <p:nvPr/>
        </p:nvSpPr>
        <p:spPr>
          <a:xfrm>
            <a:off x="1828800" y="6490055"/>
            <a:ext cx="7619999" cy="338554"/>
          </a:xfrm>
          <a:prstGeom prst="rect">
            <a:avLst/>
          </a:prstGeom>
        </p:spPr>
        <p:txBody>
          <a:bodyPr wrap="square">
            <a:spAutoFit/>
          </a:bodyPr>
          <a:lstStyle/>
          <a:p>
            <a:r>
              <a:rPr lang="en-US" sz="1600" b="0" dirty="0">
                <a:hlinkClick r:id="rId4"/>
              </a:rPr>
              <a:t>Demystifying Higher Education </a:t>
            </a:r>
            <a:r>
              <a:rPr lang="en-US" sz="1600" b="0">
                <a:hlinkClick r:id="rId4"/>
              </a:rPr>
              <a:t>in India,</a:t>
            </a:r>
            <a:r>
              <a:rPr lang="en-US" sz="1600" dirty="0"/>
              <a:t> </a:t>
            </a:r>
            <a:r>
              <a:rPr lang="en-US" sz="1600" b="0"/>
              <a:t>Thomas </a:t>
            </a:r>
            <a:r>
              <a:rPr lang="en-US" sz="1600" b="0" dirty="0"/>
              <a:t>Manuel , The Wire 08/07/2015</a:t>
            </a:r>
          </a:p>
        </p:txBody>
      </p:sp>
      <p:sp>
        <p:nvSpPr>
          <p:cNvPr id="2" name="Slide Number Placeholder 1">
            <a:extLst>
              <a:ext uri="{FF2B5EF4-FFF2-40B4-BE49-F238E27FC236}">
                <a16:creationId xmlns:a16="http://schemas.microsoft.com/office/drawing/2014/main" id="{E4A244B5-4913-7947-BA9A-79788090A618}"/>
              </a:ext>
            </a:extLst>
          </p:cNvPr>
          <p:cNvSpPr>
            <a:spLocks noGrp="1"/>
          </p:cNvSpPr>
          <p:nvPr>
            <p:ph type="sldNum" sz="quarter" idx="12"/>
          </p:nvPr>
        </p:nvSpPr>
        <p:spPr/>
        <p:txBody>
          <a:bodyPr/>
          <a:lstStyle/>
          <a:p>
            <a:fld id="{AEC99F6A-E93D-4C9C-AA2B-FA96051C5F3E}" type="slidenum">
              <a:rPr lang="en-US" smtClean="0"/>
              <a:t>23</a:t>
            </a:fld>
            <a:endParaRPr lang="en-US"/>
          </a:p>
        </p:txBody>
      </p:sp>
      <p:cxnSp>
        <p:nvCxnSpPr>
          <p:cNvPr id="7" name="Straight Connector 6">
            <a:extLst>
              <a:ext uri="{FF2B5EF4-FFF2-40B4-BE49-F238E27FC236}">
                <a16:creationId xmlns:a16="http://schemas.microsoft.com/office/drawing/2014/main" id="{AC24A300-42BC-0E41-A800-82054CEDF611}"/>
              </a:ext>
            </a:extLst>
          </p:cNvPr>
          <p:cNvCxnSpPr/>
          <p:nvPr/>
        </p:nvCxnSpPr>
        <p:spPr>
          <a:xfrm flipV="1">
            <a:off x="5929907" y="563930"/>
            <a:ext cx="0" cy="503892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5FD44BF-06CB-704D-9FF3-7C8C0BF1B96F}"/>
              </a:ext>
            </a:extLst>
          </p:cNvPr>
          <p:cNvCxnSpPr/>
          <p:nvPr/>
        </p:nvCxnSpPr>
        <p:spPr>
          <a:xfrm flipV="1">
            <a:off x="7191260" y="563930"/>
            <a:ext cx="0" cy="503892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19223E3-D713-5D4D-BE46-DD4623AC2C09}"/>
              </a:ext>
            </a:extLst>
          </p:cNvPr>
          <p:cNvCxnSpPr/>
          <p:nvPr/>
        </p:nvCxnSpPr>
        <p:spPr>
          <a:xfrm flipV="1">
            <a:off x="8514221" y="663770"/>
            <a:ext cx="0" cy="50389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9879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B8B866-FD42-8B4D-8DFE-68452900D92E}"/>
              </a:ext>
            </a:extLst>
          </p:cNvPr>
          <p:cNvPicPr>
            <a:picLocks noChangeAspect="1"/>
          </p:cNvPicPr>
          <p:nvPr/>
        </p:nvPicPr>
        <p:blipFill>
          <a:blip r:embed="rId2"/>
          <a:stretch>
            <a:fillRect/>
          </a:stretch>
        </p:blipFill>
        <p:spPr>
          <a:xfrm>
            <a:off x="474132" y="952566"/>
            <a:ext cx="10346267" cy="5698530"/>
          </a:xfrm>
          <a:prstGeom prst="rect">
            <a:avLst/>
          </a:prstGeom>
        </p:spPr>
      </p:pic>
      <p:sp>
        <p:nvSpPr>
          <p:cNvPr id="3" name="Rectangle 2">
            <a:extLst>
              <a:ext uri="{FF2B5EF4-FFF2-40B4-BE49-F238E27FC236}">
                <a16:creationId xmlns:a16="http://schemas.microsoft.com/office/drawing/2014/main" id="{BD4A0453-A05A-0F47-A17C-EAF63688800B}"/>
              </a:ext>
            </a:extLst>
          </p:cNvPr>
          <p:cNvSpPr/>
          <p:nvPr/>
        </p:nvSpPr>
        <p:spPr>
          <a:xfrm>
            <a:off x="1583293" y="365667"/>
            <a:ext cx="8738674" cy="461665"/>
          </a:xfrm>
          <a:prstGeom prst="rect">
            <a:avLst/>
          </a:prstGeom>
        </p:spPr>
        <p:txBody>
          <a:bodyPr wrap="none">
            <a:spAutoFit/>
          </a:bodyPr>
          <a:lstStyle/>
          <a:p>
            <a:r>
              <a:rPr lang="en-IN" sz="2400" b="1" dirty="0">
                <a:solidFill>
                  <a:srgbClr val="808080"/>
                </a:solidFill>
                <a:latin typeface="PT Serif script=all rev=5" panose="020A0603040505020204" pitchFamily="18" charset="77"/>
              </a:rPr>
              <a:t>1958 v. 2008: The changing intent of deemed universities?</a:t>
            </a:r>
            <a:endParaRPr lang="en-US" sz="2400" b="1" dirty="0"/>
          </a:p>
        </p:txBody>
      </p:sp>
      <p:sp>
        <p:nvSpPr>
          <p:cNvPr id="4" name="Slide Number Placeholder 3">
            <a:extLst>
              <a:ext uri="{FF2B5EF4-FFF2-40B4-BE49-F238E27FC236}">
                <a16:creationId xmlns:a16="http://schemas.microsoft.com/office/drawing/2014/main" id="{57E437CC-45D8-D54F-8DE1-6AC1EAFDB918}"/>
              </a:ext>
            </a:extLst>
          </p:cNvPr>
          <p:cNvSpPr>
            <a:spLocks noGrp="1"/>
          </p:cNvSpPr>
          <p:nvPr>
            <p:ph type="sldNum" sz="quarter" idx="12"/>
          </p:nvPr>
        </p:nvSpPr>
        <p:spPr/>
        <p:txBody>
          <a:bodyPr/>
          <a:lstStyle/>
          <a:p>
            <a:fld id="{AEC99F6A-E93D-4C9C-AA2B-FA96051C5F3E}" type="slidenum">
              <a:rPr lang="en-US" smtClean="0"/>
              <a:t>24</a:t>
            </a:fld>
            <a:endParaRPr lang="en-US"/>
          </a:p>
        </p:txBody>
      </p:sp>
    </p:spTree>
    <p:extLst>
      <p:ext uri="{BB962C8B-B14F-4D97-AF65-F5344CB8AC3E}">
        <p14:creationId xmlns:p14="http://schemas.microsoft.com/office/powerpoint/2010/main" val="927453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Projecting higher education scenario</a:t>
            </a:r>
          </a:p>
        </p:txBody>
      </p:sp>
      <p:sp>
        <p:nvSpPr>
          <p:cNvPr id="3" name="Text Placeholder 2"/>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3C3F85-CB44-A24F-8DB6-69EEDD6BAFF9}"/>
              </a:ext>
            </a:extLst>
          </p:cNvPr>
          <p:cNvSpPr>
            <a:spLocks noGrp="1"/>
          </p:cNvSpPr>
          <p:nvPr>
            <p:ph type="sldNum" sz="quarter" idx="12"/>
          </p:nvPr>
        </p:nvSpPr>
        <p:spPr/>
        <p:txBody>
          <a:bodyPr/>
          <a:lstStyle/>
          <a:p>
            <a:fld id="{AEC99F6A-E93D-4C9C-AA2B-FA96051C5F3E}" type="slidenum">
              <a:rPr lang="en-US" smtClean="0"/>
              <a:t>25</a:t>
            </a:fld>
            <a:endParaRPr lang="en-US"/>
          </a:p>
        </p:txBody>
      </p:sp>
    </p:spTree>
    <p:extLst>
      <p:ext uri="{BB962C8B-B14F-4D97-AF65-F5344CB8AC3E}">
        <p14:creationId xmlns:p14="http://schemas.microsoft.com/office/powerpoint/2010/main" val="1927728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77FF02E-F877-3F42-BC99-E3564E30950C}"/>
              </a:ext>
            </a:extLst>
          </p:cNvPr>
          <p:cNvSpPr>
            <a:spLocks noGrp="1"/>
          </p:cNvSpPr>
          <p:nvPr>
            <p:ph type="sldNum" sz="quarter" idx="12"/>
          </p:nvPr>
        </p:nvSpPr>
        <p:spPr/>
        <p:txBody>
          <a:bodyPr/>
          <a:lstStyle/>
          <a:p>
            <a:fld id="{AEC99F6A-E93D-4C9C-AA2B-FA96051C5F3E}" type="slidenum">
              <a:rPr lang="en-US" smtClean="0"/>
              <a:t>26</a:t>
            </a:fld>
            <a:endParaRPr lang="en-US"/>
          </a:p>
        </p:txBody>
      </p:sp>
      <p:sp>
        <p:nvSpPr>
          <p:cNvPr id="5" name="Title 4">
            <a:extLst>
              <a:ext uri="{FF2B5EF4-FFF2-40B4-BE49-F238E27FC236}">
                <a16:creationId xmlns:a16="http://schemas.microsoft.com/office/drawing/2014/main" id="{66EAC851-36C2-2C46-9138-DBD3DD886B01}"/>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4496C1DA-3C60-9748-8744-59844497A199}"/>
              </a:ext>
            </a:extLst>
          </p:cNvPr>
          <p:cNvPicPr>
            <a:picLocks noChangeAspect="1"/>
          </p:cNvPicPr>
          <p:nvPr/>
        </p:nvPicPr>
        <p:blipFill>
          <a:blip r:embed="rId2"/>
          <a:stretch>
            <a:fillRect/>
          </a:stretch>
        </p:blipFill>
        <p:spPr>
          <a:xfrm>
            <a:off x="939800" y="304800"/>
            <a:ext cx="10312400" cy="6248400"/>
          </a:xfrm>
          <a:prstGeom prst="rect">
            <a:avLst/>
          </a:prstGeom>
        </p:spPr>
      </p:pic>
    </p:spTree>
    <p:extLst>
      <p:ext uri="{BB962C8B-B14F-4D97-AF65-F5344CB8AC3E}">
        <p14:creationId xmlns:p14="http://schemas.microsoft.com/office/powerpoint/2010/main" val="13599027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7B6275-0FC3-0F45-B35A-D0CF98AD5ED6}"/>
              </a:ext>
            </a:extLst>
          </p:cNvPr>
          <p:cNvPicPr>
            <a:picLocks noChangeAspect="1"/>
          </p:cNvPicPr>
          <p:nvPr/>
        </p:nvPicPr>
        <p:blipFill>
          <a:blip r:embed="rId2"/>
          <a:stretch>
            <a:fillRect/>
          </a:stretch>
        </p:blipFill>
        <p:spPr>
          <a:xfrm>
            <a:off x="2012949" y="395815"/>
            <a:ext cx="8556937" cy="5818717"/>
          </a:xfrm>
          <a:prstGeom prst="rect">
            <a:avLst/>
          </a:prstGeom>
        </p:spPr>
      </p:pic>
      <p:sp>
        <p:nvSpPr>
          <p:cNvPr id="3" name="Slide Number Placeholder 2">
            <a:extLst>
              <a:ext uri="{FF2B5EF4-FFF2-40B4-BE49-F238E27FC236}">
                <a16:creationId xmlns:a16="http://schemas.microsoft.com/office/drawing/2014/main" id="{E9DB338F-D804-E741-80EA-B1F21C87FF07}"/>
              </a:ext>
            </a:extLst>
          </p:cNvPr>
          <p:cNvSpPr>
            <a:spLocks noGrp="1"/>
          </p:cNvSpPr>
          <p:nvPr>
            <p:ph type="sldNum" sz="quarter" idx="12"/>
          </p:nvPr>
        </p:nvSpPr>
        <p:spPr/>
        <p:txBody>
          <a:bodyPr/>
          <a:lstStyle/>
          <a:p>
            <a:fld id="{AEC99F6A-E93D-4C9C-AA2B-FA96051C5F3E}" type="slidenum">
              <a:rPr lang="en-US" smtClean="0"/>
              <a:t>27</a:t>
            </a:fld>
            <a:endParaRPr lang="en-US"/>
          </a:p>
        </p:txBody>
      </p:sp>
    </p:spTree>
    <p:extLst>
      <p:ext uri="{BB962C8B-B14F-4D97-AF65-F5344CB8AC3E}">
        <p14:creationId xmlns:p14="http://schemas.microsoft.com/office/powerpoint/2010/main" val="2952754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B13C86-0535-7E4E-A2A2-8F384E0ECF39}"/>
              </a:ext>
            </a:extLst>
          </p:cNvPr>
          <p:cNvPicPr>
            <a:picLocks noChangeAspect="1"/>
          </p:cNvPicPr>
          <p:nvPr/>
        </p:nvPicPr>
        <p:blipFill>
          <a:blip r:embed="rId2"/>
          <a:stretch>
            <a:fillRect/>
          </a:stretch>
        </p:blipFill>
        <p:spPr>
          <a:xfrm>
            <a:off x="889000" y="711200"/>
            <a:ext cx="10414000" cy="5435600"/>
          </a:xfrm>
          <a:prstGeom prst="rect">
            <a:avLst/>
          </a:prstGeom>
        </p:spPr>
      </p:pic>
      <p:sp>
        <p:nvSpPr>
          <p:cNvPr id="5" name="Slide Number Placeholder 4">
            <a:extLst>
              <a:ext uri="{FF2B5EF4-FFF2-40B4-BE49-F238E27FC236}">
                <a16:creationId xmlns:a16="http://schemas.microsoft.com/office/drawing/2014/main" id="{760336D0-E105-F549-9E9D-C89E5A1FCE26}"/>
              </a:ext>
            </a:extLst>
          </p:cNvPr>
          <p:cNvSpPr>
            <a:spLocks noGrp="1"/>
          </p:cNvSpPr>
          <p:nvPr>
            <p:ph type="sldNum" sz="quarter" idx="12"/>
          </p:nvPr>
        </p:nvSpPr>
        <p:spPr/>
        <p:txBody>
          <a:bodyPr/>
          <a:lstStyle/>
          <a:p>
            <a:fld id="{AEC99F6A-E93D-4C9C-AA2B-FA96051C5F3E}" type="slidenum">
              <a:rPr lang="en-US" smtClean="0"/>
              <a:t>28</a:t>
            </a:fld>
            <a:endParaRPr lang="en-US"/>
          </a:p>
        </p:txBody>
      </p:sp>
    </p:spTree>
    <p:extLst>
      <p:ext uri="{BB962C8B-B14F-4D97-AF65-F5344CB8AC3E}">
        <p14:creationId xmlns:p14="http://schemas.microsoft.com/office/powerpoint/2010/main" val="1839003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4D91D3-9818-314B-9208-43330835D393}"/>
              </a:ext>
            </a:extLst>
          </p:cNvPr>
          <p:cNvSpPr>
            <a:spLocks noGrp="1"/>
          </p:cNvSpPr>
          <p:nvPr>
            <p:ph type="title"/>
          </p:nvPr>
        </p:nvSpPr>
        <p:spPr/>
        <p:txBody>
          <a:bodyPr>
            <a:normAutofit/>
          </a:bodyPr>
          <a:lstStyle/>
          <a:p>
            <a:r>
              <a:rPr lang="en-US" sz="4800" dirty="0"/>
              <a:t>TOTAL FERTILITY RATE</a:t>
            </a:r>
          </a:p>
        </p:txBody>
      </p:sp>
      <p:sp>
        <p:nvSpPr>
          <p:cNvPr id="7" name="Content Placeholder 6">
            <a:extLst>
              <a:ext uri="{FF2B5EF4-FFF2-40B4-BE49-F238E27FC236}">
                <a16:creationId xmlns:a16="http://schemas.microsoft.com/office/drawing/2014/main" id="{84520FF5-D742-6146-8485-C8A8AADB9160}"/>
              </a:ext>
            </a:extLst>
          </p:cNvPr>
          <p:cNvSpPr>
            <a:spLocks noGrp="1"/>
          </p:cNvSpPr>
          <p:nvPr>
            <p:ph idx="1"/>
          </p:nvPr>
        </p:nvSpPr>
        <p:spPr>
          <a:xfrm>
            <a:off x="194819" y="1289302"/>
            <a:ext cx="5542950" cy="4279393"/>
          </a:xfrm>
        </p:spPr>
        <p:txBody>
          <a:bodyPr>
            <a:normAutofit fontScale="92500" lnSpcReduction="20000"/>
          </a:bodyPr>
          <a:lstStyle/>
          <a:p>
            <a:r>
              <a:rPr lang="en-GB" sz="2400" dirty="0"/>
              <a:t>The TFR is an indicator of the number of children a woman is likely to have in her lifetime, given the current fertility rates.</a:t>
            </a:r>
            <a:endParaRPr lang="en-IN" sz="2400" dirty="0"/>
          </a:p>
          <a:p>
            <a:endParaRPr lang="en-GB" sz="2400" dirty="0"/>
          </a:p>
          <a:p>
            <a:r>
              <a:rPr lang="en-GB" sz="2400" dirty="0"/>
              <a:t>India's Total Fertility Rate (TFR) is 2.2</a:t>
            </a:r>
            <a:endParaRPr lang="en-US" sz="2400" dirty="0"/>
          </a:p>
          <a:p>
            <a:endParaRPr lang="en-GB" sz="2400" dirty="0"/>
          </a:p>
          <a:p>
            <a:r>
              <a:rPr lang="en-GB" sz="2400" dirty="0"/>
              <a:t>Median age of 24, more than half of India's population is below 25 years</a:t>
            </a:r>
          </a:p>
          <a:p>
            <a:endParaRPr lang="en-GB" sz="2400" dirty="0"/>
          </a:p>
          <a:p>
            <a:r>
              <a:rPr lang="en-GB" sz="2400" dirty="0"/>
              <a:t>India is entering the final stage of demographic transition. Replacement level TFR of 2.1 is essential for population stabilisation </a:t>
            </a:r>
          </a:p>
        </p:txBody>
      </p:sp>
      <p:sp>
        <p:nvSpPr>
          <p:cNvPr id="2" name="Slide Number Placeholder 1">
            <a:extLst>
              <a:ext uri="{FF2B5EF4-FFF2-40B4-BE49-F238E27FC236}">
                <a16:creationId xmlns:a16="http://schemas.microsoft.com/office/drawing/2014/main" id="{D1701DE1-E78D-6843-8547-1762E1970741}"/>
              </a:ext>
            </a:extLst>
          </p:cNvPr>
          <p:cNvSpPr>
            <a:spLocks noGrp="1"/>
          </p:cNvSpPr>
          <p:nvPr>
            <p:ph type="sldNum" sz="quarter" idx="12"/>
          </p:nvPr>
        </p:nvSpPr>
        <p:spPr/>
        <p:txBody>
          <a:bodyPr/>
          <a:lstStyle/>
          <a:p>
            <a:fld id="{AEC99F6A-E93D-4C9C-AA2B-FA96051C5F3E}" type="slidenum">
              <a:rPr lang="en-US" smtClean="0"/>
              <a:t>29</a:t>
            </a:fld>
            <a:endParaRPr lang="en-US"/>
          </a:p>
        </p:txBody>
      </p:sp>
      <p:pic>
        <p:nvPicPr>
          <p:cNvPr id="10" name="Picture 9">
            <a:extLst>
              <a:ext uri="{FF2B5EF4-FFF2-40B4-BE49-F238E27FC236}">
                <a16:creationId xmlns:a16="http://schemas.microsoft.com/office/drawing/2014/main" id="{08419C39-EB44-7740-93D6-E3DDBF85678C}"/>
              </a:ext>
            </a:extLst>
          </p:cNvPr>
          <p:cNvPicPr>
            <a:picLocks noChangeAspect="1"/>
          </p:cNvPicPr>
          <p:nvPr/>
        </p:nvPicPr>
        <p:blipFill rotWithShape="1">
          <a:blip r:embed="rId2"/>
          <a:srcRect r="11992"/>
          <a:stretch/>
        </p:blipFill>
        <p:spPr>
          <a:xfrm>
            <a:off x="5626829" y="504173"/>
            <a:ext cx="6565171" cy="5849653"/>
          </a:xfrm>
          <a:prstGeom prst="rect">
            <a:avLst/>
          </a:prstGeom>
        </p:spPr>
      </p:pic>
      <p:sp>
        <p:nvSpPr>
          <p:cNvPr id="11" name="Rectangle 10">
            <a:extLst>
              <a:ext uri="{FF2B5EF4-FFF2-40B4-BE49-F238E27FC236}">
                <a16:creationId xmlns:a16="http://schemas.microsoft.com/office/drawing/2014/main" id="{3B213082-F188-5F4B-8C16-164CE38DA8A4}"/>
              </a:ext>
            </a:extLst>
          </p:cNvPr>
          <p:cNvSpPr/>
          <p:nvPr/>
        </p:nvSpPr>
        <p:spPr>
          <a:xfrm>
            <a:off x="1046672" y="6314743"/>
            <a:ext cx="10264456" cy="369332"/>
          </a:xfrm>
          <a:prstGeom prst="rect">
            <a:avLst/>
          </a:prstGeom>
        </p:spPr>
        <p:txBody>
          <a:bodyPr wrap="square">
            <a:spAutoFit/>
          </a:bodyPr>
          <a:lstStyle/>
          <a:p>
            <a:r>
              <a:rPr lang="en-US" dirty="0"/>
              <a:t>https://</a:t>
            </a:r>
            <a:r>
              <a:rPr lang="en-US" dirty="0" err="1"/>
              <a:t>community.data.gov.in</a:t>
            </a:r>
            <a:r>
              <a:rPr lang="en-US" dirty="0"/>
              <a:t>/stateut-wise-total-fertility-rate-during-2015-16-nfhs-4/</a:t>
            </a:r>
          </a:p>
        </p:txBody>
      </p:sp>
      <p:sp>
        <p:nvSpPr>
          <p:cNvPr id="12" name="TextBox 11">
            <a:extLst>
              <a:ext uri="{FF2B5EF4-FFF2-40B4-BE49-F238E27FC236}">
                <a16:creationId xmlns:a16="http://schemas.microsoft.com/office/drawing/2014/main" id="{AA44F2E3-A7AC-C046-AA74-B9D0FA43E2C5}"/>
              </a:ext>
            </a:extLst>
          </p:cNvPr>
          <p:cNvSpPr txBox="1"/>
          <p:nvPr/>
        </p:nvSpPr>
        <p:spPr>
          <a:xfrm>
            <a:off x="603849" y="5762445"/>
            <a:ext cx="1976823" cy="369332"/>
          </a:xfrm>
          <a:prstGeom prst="rect">
            <a:avLst/>
          </a:prstGeom>
          <a:noFill/>
        </p:spPr>
        <p:txBody>
          <a:bodyPr wrap="none" rtlCol="0">
            <a:spAutoFit/>
          </a:bodyPr>
          <a:lstStyle/>
          <a:p>
            <a:r>
              <a:rPr lang="en-US" b="1" dirty="0"/>
              <a:t>NFHS 4, 2014-15</a:t>
            </a:r>
          </a:p>
        </p:txBody>
      </p:sp>
    </p:spTree>
    <p:extLst>
      <p:ext uri="{BB962C8B-B14F-4D97-AF65-F5344CB8AC3E}">
        <p14:creationId xmlns:p14="http://schemas.microsoft.com/office/powerpoint/2010/main" val="3018446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73CB45-7933-F04A-977B-6BEA29107BA7}"/>
              </a:ext>
            </a:extLst>
          </p:cNvPr>
          <p:cNvSpPr>
            <a:spLocks noGrp="1"/>
          </p:cNvSpPr>
          <p:nvPr>
            <p:ph type="sldNum" sz="quarter" idx="12"/>
          </p:nvPr>
        </p:nvSpPr>
        <p:spPr/>
        <p:txBody>
          <a:bodyPr/>
          <a:lstStyle/>
          <a:p>
            <a:fld id="{AEC99F6A-E93D-4C9C-AA2B-FA96051C5F3E}" type="slidenum">
              <a:rPr lang="en-US" smtClean="0"/>
              <a:t>30</a:t>
            </a:fld>
            <a:endParaRPr lang="en-US"/>
          </a:p>
        </p:txBody>
      </p:sp>
      <p:sp>
        <p:nvSpPr>
          <p:cNvPr id="3" name="Title 2">
            <a:extLst>
              <a:ext uri="{FF2B5EF4-FFF2-40B4-BE49-F238E27FC236}">
                <a16:creationId xmlns:a16="http://schemas.microsoft.com/office/drawing/2014/main" id="{E4632B0C-1B14-8A4D-B5F1-BB7FD52C8DAE}"/>
              </a:ext>
            </a:extLst>
          </p:cNvPr>
          <p:cNvSpPr>
            <a:spLocks noGrp="1"/>
          </p:cNvSpPr>
          <p:nvPr>
            <p:ph type="title"/>
          </p:nvPr>
        </p:nvSpPr>
        <p:spPr>
          <a:xfrm>
            <a:off x="538670" y="164811"/>
            <a:ext cx="10772457" cy="1609344"/>
          </a:xfrm>
        </p:spPr>
        <p:txBody>
          <a:bodyPr/>
          <a:lstStyle/>
          <a:p>
            <a:r>
              <a:rPr lang="en-US" dirty="0"/>
              <a:t>forecasting the young population- INDIA</a:t>
            </a:r>
          </a:p>
        </p:txBody>
      </p:sp>
      <p:pic>
        <p:nvPicPr>
          <p:cNvPr id="5" name="Picture 4">
            <a:extLst>
              <a:ext uri="{FF2B5EF4-FFF2-40B4-BE49-F238E27FC236}">
                <a16:creationId xmlns:a16="http://schemas.microsoft.com/office/drawing/2014/main" id="{C4CF0FFE-601A-CA4C-AC4E-4ABCADA49C9C}"/>
              </a:ext>
            </a:extLst>
          </p:cNvPr>
          <p:cNvPicPr>
            <a:picLocks noChangeAspect="1"/>
          </p:cNvPicPr>
          <p:nvPr/>
        </p:nvPicPr>
        <p:blipFill>
          <a:blip r:embed="rId2"/>
          <a:stretch>
            <a:fillRect/>
          </a:stretch>
        </p:blipFill>
        <p:spPr>
          <a:xfrm>
            <a:off x="0" y="1280473"/>
            <a:ext cx="12192000" cy="5174873"/>
          </a:xfrm>
          <a:prstGeom prst="rect">
            <a:avLst/>
          </a:prstGeom>
        </p:spPr>
      </p:pic>
      <p:sp>
        <p:nvSpPr>
          <p:cNvPr id="6" name="Rectangle 5">
            <a:extLst>
              <a:ext uri="{FF2B5EF4-FFF2-40B4-BE49-F238E27FC236}">
                <a16:creationId xmlns:a16="http://schemas.microsoft.com/office/drawing/2014/main" id="{798E43F2-7847-FD4D-BB01-D6DFC5EED857}"/>
              </a:ext>
            </a:extLst>
          </p:cNvPr>
          <p:cNvSpPr/>
          <p:nvPr/>
        </p:nvSpPr>
        <p:spPr>
          <a:xfrm>
            <a:off x="240792" y="4830792"/>
            <a:ext cx="11951208" cy="448574"/>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E78C16C-7270-6A45-8FF4-A3DD8FC993D0}"/>
              </a:ext>
            </a:extLst>
          </p:cNvPr>
          <p:cNvSpPr/>
          <p:nvPr/>
        </p:nvSpPr>
        <p:spPr>
          <a:xfrm>
            <a:off x="1" y="6397004"/>
            <a:ext cx="11455878" cy="369332"/>
          </a:xfrm>
          <a:prstGeom prst="rect">
            <a:avLst/>
          </a:prstGeom>
        </p:spPr>
        <p:txBody>
          <a:bodyPr wrap="square">
            <a:spAutoFit/>
          </a:bodyPr>
          <a:lstStyle/>
          <a:p>
            <a:r>
              <a:rPr lang="en-IN" dirty="0">
                <a:solidFill>
                  <a:srgbClr val="333333"/>
                </a:solidFill>
                <a:latin typeface="Lora"/>
              </a:rPr>
              <a:t> </a:t>
            </a:r>
            <a:r>
              <a:rPr lang="en-IN" dirty="0">
                <a:solidFill>
                  <a:srgbClr val="F26200"/>
                </a:solidFill>
                <a:latin typeface="Lora"/>
                <a:hlinkClick r:id="rId3"/>
              </a:rPr>
              <a:t>Census 2011</a:t>
            </a:r>
            <a:r>
              <a:rPr lang="en-IN" dirty="0">
                <a:solidFill>
                  <a:srgbClr val="333333"/>
                </a:solidFill>
                <a:latin typeface="Lora"/>
              </a:rPr>
              <a:t> and </a:t>
            </a:r>
            <a:r>
              <a:rPr lang="en-IN" dirty="0">
                <a:solidFill>
                  <a:srgbClr val="F26200"/>
                </a:solidFill>
                <a:latin typeface="Lora"/>
                <a:hlinkClick r:id="rId4"/>
              </a:rPr>
              <a:t>Sample Registration Survey</a:t>
            </a:r>
            <a:r>
              <a:rPr lang="en-IN" dirty="0">
                <a:solidFill>
                  <a:srgbClr val="333333"/>
                </a:solidFill>
                <a:latin typeface="Lora"/>
              </a:rPr>
              <a:t> (SRS) 2014-2015, along with models of fertility decline in states</a:t>
            </a:r>
            <a:endParaRPr lang="en-US" dirty="0"/>
          </a:p>
        </p:txBody>
      </p:sp>
    </p:spTree>
    <p:extLst>
      <p:ext uri="{BB962C8B-B14F-4D97-AF65-F5344CB8AC3E}">
        <p14:creationId xmlns:p14="http://schemas.microsoft.com/office/powerpoint/2010/main" val="6251971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A9AB76-1BF3-8E46-A62F-971DC203C029}"/>
              </a:ext>
            </a:extLst>
          </p:cNvPr>
          <p:cNvSpPr>
            <a:spLocks noGrp="1"/>
          </p:cNvSpPr>
          <p:nvPr>
            <p:ph type="sldNum" sz="quarter" idx="12"/>
          </p:nvPr>
        </p:nvSpPr>
        <p:spPr/>
        <p:txBody>
          <a:bodyPr/>
          <a:lstStyle/>
          <a:p>
            <a:fld id="{AEC99F6A-E93D-4C9C-AA2B-FA96051C5F3E}" type="slidenum">
              <a:rPr lang="en-US" smtClean="0"/>
              <a:t>31</a:t>
            </a:fld>
            <a:endParaRPr lang="en-US"/>
          </a:p>
        </p:txBody>
      </p:sp>
      <p:sp>
        <p:nvSpPr>
          <p:cNvPr id="3" name="Title 2">
            <a:extLst>
              <a:ext uri="{FF2B5EF4-FFF2-40B4-BE49-F238E27FC236}">
                <a16:creationId xmlns:a16="http://schemas.microsoft.com/office/drawing/2014/main" id="{4C7DAEE6-F03E-594D-A4D1-B56AAF325885}"/>
              </a:ext>
            </a:extLst>
          </p:cNvPr>
          <p:cNvSpPr>
            <a:spLocks noGrp="1"/>
          </p:cNvSpPr>
          <p:nvPr>
            <p:ph type="title"/>
          </p:nvPr>
        </p:nvSpPr>
        <p:spPr>
          <a:xfrm>
            <a:off x="1066800" y="153320"/>
            <a:ext cx="10058400" cy="1609344"/>
          </a:xfrm>
        </p:spPr>
        <p:txBody>
          <a:bodyPr/>
          <a:lstStyle/>
          <a:p>
            <a:r>
              <a:rPr lang="en-US" dirty="0"/>
              <a:t>BIHAR POPULATION</a:t>
            </a:r>
          </a:p>
        </p:txBody>
      </p:sp>
      <p:pic>
        <p:nvPicPr>
          <p:cNvPr id="6" name="Picture 5" descr="A close up of a map&#10;&#10;Description automatically generated">
            <a:extLst>
              <a:ext uri="{FF2B5EF4-FFF2-40B4-BE49-F238E27FC236}">
                <a16:creationId xmlns:a16="http://schemas.microsoft.com/office/drawing/2014/main" id="{6C05EE8E-6294-B848-B625-E502C7C522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792" y="1370680"/>
            <a:ext cx="11569700" cy="5334000"/>
          </a:xfrm>
          <a:prstGeom prst="rect">
            <a:avLst/>
          </a:prstGeom>
        </p:spPr>
      </p:pic>
      <p:sp>
        <p:nvSpPr>
          <p:cNvPr id="7" name="Rectangle 6">
            <a:extLst>
              <a:ext uri="{FF2B5EF4-FFF2-40B4-BE49-F238E27FC236}">
                <a16:creationId xmlns:a16="http://schemas.microsoft.com/office/drawing/2014/main" id="{A0643835-A15A-FC4D-A891-3C3CC5D22915}"/>
              </a:ext>
            </a:extLst>
          </p:cNvPr>
          <p:cNvSpPr/>
          <p:nvPr/>
        </p:nvSpPr>
        <p:spPr>
          <a:xfrm>
            <a:off x="240792" y="4710021"/>
            <a:ext cx="11951208" cy="448574"/>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37938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53FD6-399E-0747-A3CD-BF3553236D90}"/>
              </a:ext>
            </a:extLst>
          </p:cNvPr>
          <p:cNvSpPr>
            <a:spLocks noGrp="1"/>
          </p:cNvSpPr>
          <p:nvPr>
            <p:ph type="sldNum" sz="quarter" idx="12"/>
          </p:nvPr>
        </p:nvSpPr>
        <p:spPr>
          <a:xfrm>
            <a:off x="11070336" y="5979825"/>
            <a:ext cx="640080" cy="365125"/>
          </a:xfrm>
        </p:spPr>
        <p:txBody>
          <a:bodyPr/>
          <a:lstStyle/>
          <a:p>
            <a:fld id="{AEC99F6A-E93D-4C9C-AA2B-FA96051C5F3E}" type="slidenum">
              <a:rPr lang="en-US" smtClean="0"/>
              <a:t>32</a:t>
            </a:fld>
            <a:endParaRPr lang="en-US"/>
          </a:p>
        </p:txBody>
      </p:sp>
      <p:sp>
        <p:nvSpPr>
          <p:cNvPr id="3" name="Title 2">
            <a:extLst>
              <a:ext uri="{FF2B5EF4-FFF2-40B4-BE49-F238E27FC236}">
                <a16:creationId xmlns:a16="http://schemas.microsoft.com/office/drawing/2014/main" id="{474A76DD-8A4B-0C4F-92A3-A9775F97EDEC}"/>
              </a:ext>
            </a:extLst>
          </p:cNvPr>
          <p:cNvSpPr>
            <a:spLocks noGrp="1"/>
          </p:cNvSpPr>
          <p:nvPr>
            <p:ph type="title"/>
          </p:nvPr>
        </p:nvSpPr>
        <p:spPr>
          <a:xfrm>
            <a:off x="996442" y="160687"/>
            <a:ext cx="10058400" cy="1344168"/>
          </a:xfrm>
        </p:spPr>
        <p:txBody>
          <a:bodyPr/>
          <a:lstStyle/>
          <a:p>
            <a:r>
              <a:rPr lang="en-US" dirty="0"/>
              <a:t>TAMIL NADU</a:t>
            </a:r>
          </a:p>
        </p:txBody>
      </p:sp>
      <p:pic>
        <p:nvPicPr>
          <p:cNvPr id="5" name="Picture 4" descr="A close up of a map&#10;&#10;Description automatically generated">
            <a:extLst>
              <a:ext uri="{FF2B5EF4-FFF2-40B4-BE49-F238E27FC236}">
                <a16:creationId xmlns:a16="http://schemas.microsoft.com/office/drawing/2014/main" id="{AB5040A6-C9D0-0349-A882-5EA5725BF3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63313"/>
            <a:ext cx="11569700" cy="5334000"/>
          </a:xfrm>
          <a:prstGeom prst="rect">
            <a:avLst/>
          </a:prstGeom>
        </p:spPr>
      </p:pic>
      <p:sp>
        <p:nvSpPr>
          <p:cNvPr id="6" name="Rectangle 5">
            <a:extLst>
              <a:ext uri="{FF2B5EF4-FFF2-40B4-BE49-F238E27FC236}">
                <a16:creationId xmlns:a16="http://schemas.microsoft.com/office/drawing/2014/main" id="{23F53E62-A49F-0D4A-B845-E675D3A6B3F9}"/>
              </a:ext>
            </a:extLst>
          </p:cNvPr>
          <p:cNvSpPr/>
          <p:nvPr/>
        </p:nvSpPr>
        <p:spPr>
          <a:xfrm>
            <a:off x="43441" y="4736242"/>
            <a:ext cx="11810492" cy="323944"/>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20770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53D95D-BD28-9048-AA8F-39857D0D3A2F}"/>
              </a:ext>
            </a:extLst>
          </p:cNvPr>
          <p:cNvSpPr>
            <a:spLocks noGrp="1"/>
          </p:cNvSpPr>
          <p:nvPr>
            <p:ph type="sldNum" sz="quarter" idx="12"/>
          </p:nvPr>
        </p:nvSpPr>
        <p:spPr/>
        <p:txBody>
          <a:bodyPr/>
          <a:lstStyle/>
          <a:p>
            <a:fld id="{AEC99F6A-E93D-4C9C-AA2B-FA96051C5F3E}" type="slidenum">
              <a:rPr lang="en-US" smtClean="0"/>
              <a:t>33</a:t>
            </a:fld>
            <a:endParaRPr lang="en-US"/>
          </a:p>
        </p:txBody>
      </p:sp>
      <p:sp>
        <p:nvSpPr>
          <p:cNvPr id="3" name="Title 2">
            <a:extLst>
              <a:ext uri="{FF2B5EF4-FFF2-40B4-BE49-F238E27FC236}">
                <a16:creationId xmlns:a16="http://schemas.microsoft.com/office/drawing/2014/main" id="{C088D28B-0E81-5247-94CE-E0E013BA3303}"/>
              </a:ext>
            </a:extLst>
          </p:cNvPr>
          <p:cNvSpPr>
            <a:spLocks noGrp="1"/>
          </p:cNvSpPr>
          <p:nvPr>
            <p:ph type="title"/>
          </p:nvPr>
        </p:nvSpPr>
        <p:spPr>
          <a:xfrm>
            <a:off x="1063752" y="219456"/>
            <a:ext cx="10058400" cy="953736"/>
          </a:xfrm>
        </p:spPr>
        <p:txBody>
          <a:bodyPr/>
          <a:lstStyle/>
          <a:p>
            <a:r>
              <a:rPr lang="en-US" dirty="0"/>
              <a:t>BIHAR and TAMILNADU: Age GROUPS</a:t>
            </a:r>
          </a:p>
        </p:txBody>
      </p:sp>
      <p:graphicFrame>
        <p:nvGraphicFramePr>
          <p:cNvPr id="6" name="Chart 5">
            <a:extLst>
              <a:ext uri="{FF2B5EF4-FFF2-40B4-BE49-F238E27FC236}">
                <a16:creationId xmlns:a16="http://schemas.microsoft.com/office/drawing/2014/main" id="{A535EB95-6216-8D40-A985-D1919FA11A21}"/>
              </a:ext>
            </a:extLst>
          </p:cNvPr>
          <p:cNvGraphicFramePr/>
          <p:nvPr/>
        </p:nvGraphicFramePr>
        <p:xfrm>
          <a:off x="718696" y="1173192"/>
          <a:ext cx="9454378" cy="4481304"/>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6">
            <a:extLst>
              <a:ext uri="{FF2B5EF4-FFF2-40B4-BE49-F238E27FC236}">
                <a16:creationId xmlns:a16="http://schemas.microsoft.com/office/drawing/2014/main" id="{F40B4232-11AC-FC44-A012-8A79E37596BB}"/>
              </a:ext>
            </a:extLst>
          </p:cNvPr>
          <p:cNvSpPr/>
          <p:nvPr/>
        </p:nvSpPr>
        <p:spPr>
          <a:xfrm>
            <a:off x="416684" y="5716682"/>
            <a:ext cx="11384251" cy="1200329"/>
          </a:xfrm>
          <a:prstGeom prst="rect">
            <a:avLst/>
          </a:prstGeom>
        </p:spPr>
        <p:txBody>
          <a:bodyPr wrap="square">
            <a:spAutoFit/>
          </a:bodyPr>
          <a:lstStyle/>
          <a:p>
            <a:pPr marL="285750" indent="-285750">
              <a:buFont typeface="Arial" panose="020B0604020202020204" pitchFamily="34" charset="0"/>
              <a:buChar char="•"/>
            </a:pPr>
            <a:r>
              <a:rPr lang="en-GB" b="1" dirty="0">
                <a:latin typeface="Arial" panose="020B0604020202020204" pitchFamily="34" charset="0"/>
                <a:ea typeface="Calibri" panose="020F0502020204030204" pitchFamily="34" charset="0"/>
              </a:rPr>
              <a:t>Bihar: By 2021</a:t>
            </a:r>
            <a:r>
              <a:rPr lang="en-GB" dirty="0">
                <a:latin typeface="Arial" panose="020B0604020202020204" pitchFamily="34" charset="0"/>
                <a:ea typeface="Calibri" panose="020F0502020204030204" pitchFamily="34" charset="0"/>
              </a:rPr>
              <a:t>, the higher education age group of 18-23 years –</a:t>
            </a:r>
            <a:r>
              <a:rPr lang="en-GB" b="1" dirty="0">
                <a:latin typeface="Arial" panose="020B0604020202020204" pitchFamily="34" charset="0"/>
                <a:ea typeface="Calibri" panose="020F0502020204030204" pitchFamily="34" charset="0"/>
              </a:rPr>
              <a:t>will increase by 57% from 11.4 million to 17.9 million. </a:t>
            </a:r>
          </a:p>
          <a:p>
            <a:pPr marL="285750" indent="-285750">
              <a:buFont typeface="Arial" panose="020B0604020202020204" pitchFamily="34" charset="0"/>
              <a:buChar char="•"/>
            </a:pPr>
            <a:r>
              <a:rPr lang="en-GB" b="1" dirty="0">
                <a:latin typeface="Arial" panose="020B0604020202020204" pitchFamily="34" charset="0"/>
                <a:ea typeface="Calibri" panose="020F0502020204030204" pitchFamily="34" charset="0"/>
              </a:rPr>
              <a:t>Tamil Nadu, </a:t>
            </a:r>
            <a:r>
              <a:rPr lang="en-GB" dirty="0">
                <a:latin typeface="Arial" panose="020B0604020202020204" pitchFamily="34" charset="0"/>
                <a:ea typeface="Calibri" panose="020F0502020204030204" pitchFamily="34" charset="0"/>
              </a:rPr>
              <a:t>its population in the higher education group will </a:t>
            </a:r>
            <a:r>
              <a:rPr lang="en-GB" b="1" dirty="0">
                <a:latin typeface="Arial" panose="020B0604020202020204" pitchFamily="34" charset="0"/>
                <a:ea typeface="Calibri" panose="020F0502020204030204" pitchFamily="34" charset="0"/>
              </a:rPr>
              <a:t>decline from 7.5 million in 2011 to 5.9 million in 2031.</a:t>
            </a:r>
            <a:r>
              <a:rPr lang="en-IN" b="1" dirty="0"/>
              <a:t> </a:t>
            </a:r>
            <a:endParaRPr lang="en-US" b="1" dirty="0"/>
          </a:p>
        </p:txBody>
      </p:sp>
      <p:cxnSp>
        <p:nvCxnSpPr>
          <p:cNvPr id="9" name="Straight Connector 8">
            <a:extLst>
              <a:ext uri="{FF2B5EF4-FFF2-40B4-BE49-F238E27FC236}">
                <a16:creationId xmlns:a16="http://schemas.microsoft.com/office/drawing/2014/main" id="{C869D667-6EFB-EE4D-BBCD-A7232434B373}"/>
              </a:ext>
            </a:extLst>
          </p:cNvPr>
          <p:cNvCxnSpPr>
            <a:cxnSpLocks/>
          </p:cNvCxnSpPr>
          <p:nvPr/>
        </p:nvCxnSpPr>
        <p:spPr>
          <a:xfrm>
            <a:off x="5421743" y="2198451"/>
            <a:ext cx="0" cy="3518231"/>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78473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22D5ED-87E2-DC44-9741-AD35319F6E5D}"/>
              </a:ext>
            </a:extLst>
          </p:cNvPr>
          <p:cNvSpPr>
            <a:spLocks noGrp="1"/>
          </p:cNvSpPr>
          <p:nvPr>
            <p:ph type="sldNum" sz="quarter" idx="12"/>
          </p:nvPr>
        </p:nvSpPr>
        <p:spPr/>
        <p:txBody>
          <a:bodyPr/>
          <a:lstStyle/>
          <a:p>
            <a:fld id="{AEC99F6A-E93D-4C9C-AA2B-FA96051C5F3E}" type="slidenum">
              <a:rPr lang="en-US" smtClean="0"/>
              <a:t>34</a:t>
            </a:fld>
            <a:endParaRPr lang="en-US"/>
          </a:p>
        </p:txBody>
      </p:sp>
      <p:sp>
        <p:nvSpPr>
          <p:cNvPr id="3" name="Title 2">
            <a:extLst>
              <a:ext uri="{FF2B5EF4-FFF2-40B4-BE49-F238E27FC236}">
                <a16:creationId xmlns:a16="http://schemas.microsoft.com/office/drawing/2014/main" id="{37C00F25-1958-FD49-97AB-28B2E212EA3B}"/>
              </a:ext>
            </a:extLst>
          </p:cNvPr>
          <p:cNvSpPr>
            <a:spLocks noGrp="1"/>
          </p:cNvSpPr>
          <p:nvPr>
            <p:ph type="title"/>
          </p:nvPr>
        </p:nvSpPr>
        <p:spPr>
          <a:xfrm>
            <a:off x="586769" y="277598"/>
            <a:ext cx="10351525" cy="1016364"/>
          </a:xfrm>
        </p:spPr>
        <p:txBody>
          <a:bodyPr/>
          <a:lstStyle/>
          <a:p>
            <a:r>
              <a:rPr lang="en-US" dirty="0"/>
              <a:t>18-23 years: Education and labor force</a:t>
            </a:r>
          </a:p>
        </p:txBody>
      </p:sp>
      <p:sp>
        <p:nvSpPr>
          <p:cNvPr id="4" name="Rectangle 3">
            <a:extLst>
              <a:ext uri="{FF2B5EF4-FFF2-40B4-BE49-F238E27FC236}">
                <a16:creationId xmlns:a16="http://schemas.microsoft.com/office/drawing/2014/main" id="{80F37D7A-8A75-0640-9ABC-0F0379B3AD00}"/>
              </a:ext>
            </a:extLst>
          </p:cNvPr>
          <p:cNvSpPr/>
          <p:nvPr/>
        </p:nvSpPr>
        <p:spPr>
          <a:xfrm>
            <a:off x="399748" y="1448610"/>
            <a:ext cx="11231420" cy="3785652"/>
          </a:xfrm>
          <a:prstGeom prst="rect">
            <a:avLst/>
          </a:prstGeom>
        </p:spPr>
        <p:txBody>
          <a:bodyPr wrap="square">
            <a:spAutoFit/>
          </a:bodyPr>
          <a:lstStyle/>
          <a:p>
            <a:pPr marL="342900" indent="-342900" algn="just">
              <a:spcAft>
                <a:spcPts val="0"/>
              </a:spcAft>
              <a:buFont typeface="Arial" panose="020B0604020202020204" pitchFamily="34" charset="0"/>
              <a:buChar char="•"/>
            </a:pPr>
            <a:r>
              <a:rPr lang="en-GB" sz="2400" dirty="0">
                <a:latin typeface="Arial" panose="020B0604020202020204" pitchFamily="34" charset="0"/>
                <a:ea typeface="Calibri" panose="020F0502020204030204" pitchFamily="34" charset="0"/>
                <a:cs typeface="Arial" panose="020B0604020202020204" pitchFamily="34" charset="0"/>
              </a:rPr>
              <a:t>For a long time in India, the 18-23 age group meant entry into the labour force.</a:t>
            </a:r>
          </a:p>
          <a:p>
            <a:pPr marL="342900" indent="-342900" algn="just">
              <a:spcAft>
                <a:spcPts val="0"/>
              </a:spcAft>
              <a:buFont typeface="Arial" panose="020B0604020202020204" pitchFamily="34" charset="0"/>
              <a:buChar char="•"/>
            </a:pPr>
            <a:r>
              <a:rPr lang="en-GB" sz="2400" b="1" dirty="0">
                <a:latin typeface="Arial" panose="020B0604020202020204" pitchFamily="34" charset="0"/>
                <a:ea typeface="Calibri" panose="020F0502020204030204" pitchFamily="34" charset="0"/>
                <a:cs typeface="Arial" panose="020B0604020202020204" pitchFamily="34" charset="0"/>
              </a:rPr>
              <a:t>As recently as 2001, only one out of 10 in this age group received any college education. </a:t>
            </a:r>
          </a:p>
          <a:p>
            <a:pPr marL="342900" indent="-342900" algn="just">
              <a:spcAft>
                <a:spcPts val="0"/>
              </a:spcAft>
              <a:buFont typeface="Arial" panose="020B0604020202020204" pitchFamily="34" charset="0"/>
              <a:buChar char="•"/>
            </a:pPr>
            <a:r>
              <a:rPr lang="en-IN" sz="2400" dirty="0">
                <a:latin typeface="Arial" panose="020B0604020202020204" pitchFamily="34" charset="0"/>
                <a:ea typeface="Calibri" panose="020F0502020204030204" pitchFamily="34" charset="0"/>
                <a:cs typeface="Arial" panose="020B0604020202020204" pitchFamily="34" charset="0"/>
              </a:rPr>
              <a:t>India's Gross Enrolment Rate (GER) in higher education more than doubled from mere 11% in 2001 to 25% in 20152. </a:t>
            </a:r>
          </a:p>
          <a:p>
            <a:pPr marL="342900" indent="-342900" algn="just">
              <a:spcAft>
                <a:spcPts val="0"/>
              </a:spcAft>
              <a:buFont typeface="Arial" panose="020B0604020202020204" pitchFamily="34" charset="0"/>
              <a:buChar char="•"/>
            </a:pPr>
            <a:r>
              <a:rPr lang="en-IN" sz="2400" dirty="0">
                <a:latin typeface="Arial" panose="020B0604020202020204" pitchFamily="34" charset="0"/>
                <a:ea typeface="Calibri" panose="020F0502020204030204" pitchFamily="34" charset="0"/>
                <a:cs typeface="Arial" panose="020B0604020202020204" pitchFamily="34" charset="0"/>
              </a:rPr>
              <a:t>There are currently around 799 universities, 39,071 colleges, and 11,923 stand-alone institutions (not affiliated with universities)  (AISHE, 2015-16).</a:t>
            </a:r>
          </a:p>
          <a:p>
            <a:pPr marL="342900" indent="-342900" algn="just">
              <a:spcAft>
                <a:spcPts val="0"/>
              </a:spcAft>
              <a:buFont typeface="Arial" panose="020B0604020202020204" pitchFamily="34" charset="0"/>
              <a:buChar char="•"/>
            </a:pPr>
            <a:endParaRPr lang="en-IN" sz="2400" dirty="0">
              <a:latin typeface="Arial" panose="020B0604020202020204" pitchFamily="34" charset="0"/>
              <a:ea typeface="Calibri" panose="020F0502020204030204" pitchFamily="34" charset="0"/>
              <a:cs typeface="Arial" panose="020B0604020202020204" pitchFamily="34" charset="0"/>
            </a:endParaRPr>
          </a:p>
          <a:p>
            <a:pPr marL="342900" indent="-342900" algn="just">
              <a:buFont typeface="Arial" panose="020B0604020202020204" pitchFamily="34" charset="0"/>
              <a:buChar char="•"/>
            </a:pPr>
            <a:r>
              <a:rPr lang="en-IN" sz="2400" dirty="0">
                <a:latin typeface="Arial" panose="020B0604020202020204" pitchFamily="34" charset="0"/>
                <a:ea typeface="Calibri" panose="020F0502020204030204" pitchFamily="34" charset="0"/>
                <a:cs typeface="Arial" panose="020B0604020202020204" pitchFamily="34" charset="0"/>
              </a:rPr>
              <a:t>Among the large states, </a:t>
            </a:r>
            <a:r>
              <a:rPr lang="en-IN" sz="2400" b="1" dirty="0">
                <a:latin typeface="Arial" panose="020B0604020202020204" pitchFamily="34" charset="0"/>
                <a:ea typeface="Calibri" panose="020F0502020204030204" pitchFamily="34" charset="0"/>
                <a:cs typeface="Arial" panose="020B0604020202020204" pitchFamily="34" charset="0"/>
              </a:rPr>
              <a:t>Delhi has the highest GER of 45.4%, and Bihar has the lowest GER of 14.3%</a:t>
            </a:r>
          </a:p>
        </p:txBody>
      </p:sp>
    </p:spTree>
    <p:extLst>
      <p:ext uri="{BB962C8B-B14F-4D97-AF65-F5344CB8AC3E}">
        <p14:creationId xmlns:p14="http://schemas.microsoft.com/office/powerpoint/2010/main" val="1271657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AF0F55-AFDC-4542-98AE-757A7B51700B}"/>
              </a:ext>
            </a:extLst>
          </p:cNvPr>
          <p:cNvSpPr>
            <a:spLocks noGrp="1"/>
          </p:cNvSpPr>
          <p:nvPr>
            <p:ph type="sldNum" sz="quarter" idx="12"/>
          </p:nvPr>
        </p:nvSpPr>
        <p:spPr/>
        <p:txBody>
          <a:bodyPr/>
          <a:lstStyle/>
          <a:p>
            <a:fld id="{AEC99F6A-E93D-4C9C-AA2B-FA96051C5F3E}" type="slidenum">
              <a:rPr lang="en-US" smtClean="0"/>
              <a:t>35</a:t>
            </a:fld>
            <a:endParaRPr lang="en-US"/>
          </a:p>
        </p:txBody>
      </p:sp>
      <p:sp>
        <p:nvSpPr>
          <p:cNvPr id="3" name="Title 2">
            <a:extLst>
              <a:ext uri="{FF2B5EF4-FFF2-40B4-BE49-F238E27FC236}">
                <a16:creationId xmlns:a16="http://schemas.microsoft.com/office/drawing/2014/main" id="{EFD3FEC1-AB92-D645-B135-4D0E8E9EDF7E}"/>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7C66844D-E3AC-7B44-AD91-00F20C6563DA}"/>
              </a:ext>
            </a:extLst>
          </p:cNvPr>
          <p:cNvPicPr>
            <a:picLocks noChangeAspect="1"/>
          </p:cNvPicPr>
          <p:nvPr/>
        </p:nvPicPr>
        <p:blipFill>
          <a:blip r:embed="rId2"/>
          <a:stretch>
            <a:fillRect/>
          </a:stretch>
        </p:blipFill>
        <p:spPr>
          <a:xfrm>
            <a:off x="939800" y="304800"/>
            <a:ext cx="10312400" cy="6248400"/>
          </a:xfrm>
          <a:prstGeom prst="rect">
            <a:avLst/>
          </a:prstGeom>
        </p:spPr>
      </p:pic>
    </p:spTree>
    <p:extLst>
      <p:ext uri="{BB962C8B-B14F-4D97-AF65-F5344CB8AC3E}">
        <p14:creationId xmlns:p14="http://schemas.microsoft.com/office/powerpoint/2010/main" val="2062838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01B7A8-C32E-C64A-B401-452BD3CE7CB1}"/>
              </a:ext>
            </a:extLst>
          </p:cNvPr>
          <p:cNvSpPr>
            <a:spLocks noGrp="1"/>
          </p:cNvSpPr>
          <p:nvPr>
            <p:ph type="sldNum" sz="quarter" idx="12"/>
          </p:nvPr>
        </p:nvSpPr>
        <p:spPr/>
        <p:txBody>
          <a:bodyPr/>
          <a:lstStyle/>
          <a:p>
            <a:fld id="{AEC99F6A-E93D-4C9C-AA2B-FA96051C5F3E}" type="slidenum">
              <a:rPr lang="en-US" smtClean="0"/>
              <a:t>36</a:t>
            </a:fld>
            <a:endParaRPr lang="en-US"/>
          </a:p>
        </p:txBody>
      </p:sp>
      <p:sp>
        <p:nvSpPr>
          <p:cNvPr id="3" name="Title 2">
            <a:extLst>
              <a:ext uri="{FF2B5EF4-FFF2-40B4-BE49-F238E27FC236}">
                <a16:creationId xmlns:a16="http://schemas.microsoft.com/office/drawing/2014/main" id="{CA5B127C-7E4C-9542-A84B-FB0DC26EEBDC}"/>
              </a:ext>
            </a:extLst>
          </p:cNvPr>
          <p:cNvSpPr>
            <a:spLocks noGrp="1"/>
          </p:cNvSpPr>
          <p:nvPr>
            <p:ph type="title"/>
          </p:nvPr>
        </p:nvSpPr>
        <p:spPr>
          <a:xfrm>
            <a:off x="240791" y="310551"/>
            <a:ext cx="11422121" cy="672860"/>
          </a:xfrm>
        </p:spPr>
        <p:txBody>
          <a:bodyPr>
            <a:noAutofit/>
          </a:bodyPr>
          <a:lstStyle/>
          <a:p>
            <a:r>
              <a:rPr lang="en-US" sz="3600" b="1" dirty="0"/>
              <a:t>Gross Enrollment RATIO in HIGHER ED- across states</a:t>
            </a:r>
          </a:p>
        </p:txBody>
      </p:sp>
      <p:graphicFrame>
        <p:nvGraphicFramePr>
          <p:cNvPr id="6" name="Chart 5">
            <a:extLst>
              <a:ext uri="{FF2B5EF4-FFF2-40B4-BE49-F238E27FC236}">
                <a16:creationId xmlns:a16="http://schemas.microsoft.com/office/drawing/2014/main" id="{5626B6E2-707D-8043-8C51-71F6B1C5BC80}"/>
              </a:ext>
            </a:extLst>
          </p:cNvPr>
          <p:cNvGraphicFramePr/>
          <p:nvPr/>
        </p:nvGraphicFramePr>
        <p:xfrm>
          <a:off x="240792" y="983411"/>
          <a:ext cx="11710416" cy="5746001"/>
        </p:xfrm>
        <a:graphic>
          <a:graphicData uri="http://schemas.openxmlformats.org/drawingml/2006/chart">
            <c:chart xmlns:c="http://schemas.openxmlformats.org/drawingml/2006/chart" xmlns:r="http://schemas.openxmlformats.org/officeDocument/2006/relationships" r:id="rId2"/>
          </a:graphicData>
        </a:graphic>
      </p:graphicFrame>
      <p:sp>
        <p:nvSpPr>
          <p:cNvPr id="4" name="Rounded Rectangle 3">
            <a:extLst>
              <a:ext uri="{FF2B5EF4-FFF2-40B4-BE49-F238E27FC236}">
                <a16:creationId xmlns:a16="http://schemas.microsoft.com/office/drawing/2014/main" id="{CDB9E89E-90C6-CE4A-AB34-CCC1DE855D35}"/>
              </a:ext>
            </a:extLst>
          </p:cNvPr>
          <p:cNvSpPr/>
          <p:nvPr/>
        </p:nvSpPr>
        <p:spPr>
          <a:xfrm>
            <a:off x="7101192" y="2056794"/>
            <a:ext cx="330740" cy="3599234"/>
          </a:xfrm>
          <a:prstGeom prst="roundRect">
            <a:avLst/>
          </a:prstGeom>
          <a:no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5F400AF7-DADD-AE4A-B71A-32AF6824CADC}"/>
              </a:ext>
            </a:extLst>
          </p:cNvPr>
          <p:cNvSpPr/>
          <p:nvPr/>
        </p:nvSpPr>
        <p:spPr>
          <a:xfrm>
            <a:off x="1747737" y="2275355"/>
            <a:ext cx="330740" cy="3599234"/>
          </a:xfrm>
          <a:prstGeom prst="roundRect">
            <a:avLst/>
          </a:prstGeom>
          <a:no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46725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4D91D3-9818-314B-9208-43330835D393}"/>
              </a:ext>
            </a:extLst>
          </p:cNvPr>
          <p:cNvSpPr>
            <a:spLocks noGrp="1"/>
          </p:cNvSpPr>
          <p:nvPr>
            <p:ph type="title"/>
          </p:nvPr>
        </p:nvSpPr>
        <p:spPr/>
        <p:txBody>
          <a:bodyPr>
            <a:normAutofit/>
          </a:bodyPr>
          <a:lstStyle/>
          <a:p>
            <a:r>
              <a:rPr lang="en-US" sz="4800" dirty="0"/>
              <a:t>TOTAL FERTILITY RATE</a:t>
            </a:r>
          </a:p>
        </p:txBody>
      </p:sp>
      <p:sp>
        <p:nvSpPr>
          <p:cNvPr id="7" name="Content Placeholder 6">
            <a:extLst>
              <a:ext uri="{FF2B5EF4-FFF2-40B4-BE49-F238E27FC236}">
                <a16:creationId xmlns:a16="http://schemas.microsoft.com/office/drawing/2014/main" id="{84520FF5-D742-6146-8485-C8A8AADB9160}"/>
              </a:ext>
            </a:extLst>
          </p:cNvPr>
          <p:cNvSpPr>
            <a:spLocks noGrp="1"/>
          </p:cNvSpPr>
          <p:nvPr>
            <p:ph idx="1"/>
          </p:nvPr>
        </p:nvSpPr>
        <p:spPr>
          <a:xfrm>
            <a:off x="194819" y="1289302"/>
            <a:ext cx="5542950" cy="4279393"/>
          </a:xfrm>
        </p:spPr>
        <p:txBody>
          <a:bodyPr>
            <a:normAutofit fontScale="92500" lnSpcReduction="20000"/>
          </a:bodyPr>
          <a:lstStyle/>
          <a:p>
            <a:r>
              <a:rPr lang="en-GB" sz="2400" dirty="0"/>
              <a:t>The TFR is an indicator of the number of children a woman is likely to have in her lifetime, given the current fertility rates.</a:t>
            </a:r>
            <a:endParaRPr lang="en-IN" sz="2400" dirty="0"/>
          </a:p>
          <a:p>
            <a:endParaRPr lang="en-GB" sz="2400" dirty="0"/>
          </a:p>
          <a:p>
            <a:r>
              <a:rPr lang="en-GB" sz="2400" dirty="0"/>
              <a:t>India's Total Fertility Rate (TFR) is 2.2</a:t>
            </a:r>
            <a:endParaRPr lang="en-US" sz="2400" dirty="0"/>
          </a:p>
          <a:p>
            <a:endParaRPr lang="en-GB" sz="2400" dirty="0"/>
          </a:p>
          <a:p>
            <a:r>
              <a:rPr lang="en-GB" sz="2400" dirty="0"/>
              <a:t>Median age of 24, more than half of India's population is below 25 years</a:t>
            </a:r>
          </a:p>
          <a:p>
            <a:endParaRPr lang="en-GB" sz="2400" dirty="0"/>
          </a:p>
          <a:p>
            <a:r>
              <a:rPr lang="en-GB" sz="2400" dirty="0"/>
              <a:t>India is entering the final stage of demographic transition. Replacement level TFR of 2.1 is essential for population stabilisation </a:t>
            </a:r>
          </a:p>
        </p:txBody>
      </p:sp>
      <p:sp>
        <p:nvSpPr>
          <p:cNvPr id="2" name="Slide Number Placeholder 1">
            <a:extLst>
              <a:ext uri="{FF2B5EF4-FFF2-40B4-BE49-F238E27FC236}">
                <a16:creationId xmlns:a16="http://schemas.microsoft.com/office/drawing/2014/main" id="{D1701DE1-E78D-6843-8547-1762E1970741}"/>
              </a:ext>
            </a:extLst>
          </p:cNvPr>
          <p:cNvSpPr>
            <a:spLocks noGrp="1"/>
          </p:cNvSpPr>
          <p:nvPr>
            <p:ph type="sldNum" sz="quarter" idx="12"/>
          </p:nvPr>
        </p:nvSpPr>
        <p:spPr/>
        <p:txBody>
          <a:bodyPr/>
          <a:lstStyle/>
          <a:p>
            <a:fld id="{AEC99F6A-E93D-4C9C-AA2B-FA96051C5F3E}" type="slidenum">
              <a:rPr lang="en-US" smtClean="0"/>
              <a:t>37</a:t>
            </a:fld>
            <a:endParaRPr lang="en-US"/>
          </a:p>
        </p:txBody>
      </p:sp>
      <p:pic>
        <p:nvPicPr>
          <p:cNvPr id="10" name="Picture 9">
            <a:extLst>
              <a:ext uri="{FF2B5EF4-FFF2-40B4-BE49-F238E27FC236}">
                <a16:creationId xmlns:a16="http://schemas.microsoft.com/office/drawing/2014/main" id="{08419C39-EB44-7740-93D6-E3DDBF85678C}"/>
              </a:ext>
            </a:extLst>
          </p:cNvPr>
          <p:cNvPicPr>
            <a:picLocks noChangeAspect="1"/>
          </p:cNvPicPr>
          <p:nvPr/>
        </p:nvPicPr>
        <p:blipFill rotWithShape="1">
          <a:blip r:embed="rId2"/>
          <a:srcRect r="11992"/>
          <a:stretch/>
        </p:blipFill>
        <p:spPr>
          <a:xfrm>
            <a:off x="5626829" y="504174"/>
            <a:ext cx="6315961" cy="5627604"/>
          </a:xfrm>
          <a:prstGeom prst="rect">
            <a:avLst/>
          </a:prstGeom>
        </p:spPr>
      </p:pic>
      <p:sp>
        <p:nvSpPr>
          <p:cNvPr id="11" name="Rectangle 10">
            <a:extLst>
              <a:ext uri="{FF2B5EF4-FFF2-40B4-BE49-F238E27FC236}">
                <a16:creationId xmlns:a16="http://schemas.microsoft.com/office/drawing/2014/main" id="{3B213082-F188-5F4B-8C16-164CE38DA8A4}"/>
              </a:ext>
            </a:extLst>
          </p:cNvPr>
          <p:cNvSpPr/>
          <p:nvPr/>
        </p:nvSpPr>
        <p:spPr>
          <a:xfrm>
            <a:off x="1046672" y="6314743"/>
            <a:ext cx="10264456" cy="369332"/>
          </a:xfrm>
          <a:prstGeom prst="rect">
            <a:avLst/>
          </a:prstGeom>
        </p:spPr>
        <p:txBody>
          <a:bodyPr wrap="square">
            <a:spAutoFit/>
          </a:bodyPr>
          <a:lstStyle/>
          <a:p>
            <a:r>
              <a:rPr lang="en-US" dirty="0"/>
              <a:t>https://</a:t>
            </a:r>
            <a:r>
              <a:rPr lang="en-US" dirty="0" err="1"/>
              <a:t>community.data.gov.in</a:t>
            </a:r>
            <a:r>
              <a:rPr lang="en-US" dirty="0"/>
              <a:t>/stateut-wise-total-fertility-rate-during-2015-16-nfhs-4/</a:t>
            </a:r>
          </a:p>
        </p:txBody>
      </p:sp>
      <p:sp>
        <p:nvSpPr>
          <p:cNvPr id="12" name="TextBox 11">
            <a:extLst>
              <a:ext uri="{FF2B5EF4-FFF2-40B4-BE49-F238E27FC236}">
                <a16:creationId xmlns:a16="http://schemas.microsoft.com/office/drawing/2014/main" id="{AA44F2E3-A7AC-C046-AA74-B9D0FA43E2C5}"/>
              </a:ext>
            </a:extLst>
          </p:cNvPr>
          <p:cNvSpPr txBox="1"/>
          <p:nvPr/>
        </p:nvSpPr>
        <p:spPr>
          <a:xfrm>
            <a:off x="603849" y="5762445"/>
            <a:ext cx="1976823" cy="369332"/>
          </a:xfrm>
          <a:prstGeom prst="rect">
            <a:avLst/>
          </a:prstGeom>
          <a:noFill/>
        </p:spPr>
        <p:txBody>
          <a:bodyPr wrap="none" rtlCol="0">
            <a:spAutoFit/>
          </a:bodyPr>
          <a:lstStyle/>
          <a:p>
            <a:r>
              <a:rPr lang="en-US" b="1" dirty="0"/>
              <a:t>NFHS 4, 2014-15</a:t>
            </a:r>
          </a:p>
        </p:txBody>
      </p:sp>
    </p:spTree>
    <p:extLst>
      <p:ext uri="{BB962C8B-B14F-4D97-AF65-F5344CB8AC3E}">
        <p14:creationId xmlns:p14="http://schemas.microsoft.com/office/powerpoint/2010/main" val="26431902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73CB45-7933-F04A-977B-6BEA29107BA7}"/>
              </a:ext>
            </a:extLst>
          </p:cNvPr>
          <p:cNvSpPr>
            <a:spLocks noGrp="1"/>
          </p:cNvSpPr>
          <p:nvPr>
            <p:ph type="sldNum" sz="quarter" idx="12"/>
          </p:nvPr>
        </p:nvSpPr>
        <p:spPr/>
        <p:txBody>
          <a:bodyPr/>
          <a:lstStyle/>
          <a:p>
            <a:fld id="{AEC99F6A-E93D-4C9C-AA2B-FA96051C5F3E}" type="slidenum">
              <a:rPr lang="en-US" smtClean="0"/>
              <a:t>38</a:t>
            </a:fld>
            <a:endParaRPr lang="en-US"/>
          </a:p>
        </p:txBody>
      </p:sp>
      <p:sp>
        <p:nvSpPr>
          <p:cNvPr id="3" name="Title 2">
            <a:extLst>
              <a:ext uri="{FF2B5EF4-FFF2-40B4-BE49-F238E27FC236}">
                <a16:creationId xmlns:a16="http://schemas.microsoft.com/office/drawing/2014/main" id="{E4632B0C-1B14-8A4D-B5F1-BB7FD52C8DAE}"/>
              </a:ext>
            </a:extLst>
          </p:cNvPr>
          <p:cNvSpPr>
            <a:spLocks noGrp="1"/>
          </p:cNvSpPr>
          <p:nvPr>
            <p:ph type="title"/>
          </p:nvPr>
        </p:nvSpPr>
        <p:spPr>
          <a:xfrm>
            <a:off x="538670" y="164811"/>
            <a:ext cx="10772457" cy="1609344"/>
          </a:xfrm>
        </p:spPr>
        <p:txBody>
          <a:bodyPr/>
          <a:lstStyle/>
          <a:p>
            <a:r>
              <a:rPr lang="en-US" dirty="0"/>
              <a:t>forecasting the young population- INDIA</a:t>
            </a:r>
          </a:p>
        </p:txBody>
      </p:sp>
      <p:pic>
        <p:nvPicPr>
          <p:cNvPr id="5" name="Picture 4">
            <a:extLst>
              <a:ext uri="{FF2B5EF4-FFF2-40B4-BE49-F238E27FC236}">
                <a16:creationId xmlns:a16="http://schemas.microsoft.com/office/drawing/2014/main" id="{C4CF0FFE-601A-CA4C-AC4E-4ABCADA49C9C}"/>
              </a:ext>
            </a:extLst>
          </p:cNvPr>
          <p:cNvPicPr>
            <a:picLocks noChangeAspect="1"/>
          </p:cNvPicPr>
          <p:nvPr/>
        </p:nvPicPr>
        <p:blipFill>
          <a:blip r:embed="rId2"/>
          <a:stretch>
            <a:fillRect/>
          </a:stretch>
        </p:blipFill>
        <p:spPr>
          <a:xfrm>
            <a:off x="0" y="1280473"/>
            <a:ext cx="12192000" cy="5174873"/>
          </a:xfrm>
          <a:prstGeom prst="rect">
            <a:avLst/>
          </a:prstGeom>
        </p:spPr>
      </p:pic>
      <p:sp>
        <p:nvSpPr>
          <p:cNvPr id="6" name="Rectangle 5">
            <a:extLst>
              <a:ext uri="{FF2B5EF4-FFF2-40B4-BE49-F238E27FC236}">
                <a16:creationId xmlns:a16="http://schemas.microsoft.com/office/drawing/2014/main" id="{798E43F2-7847-FD4D-BB01-D6DFC5EED857}"/>
              </a:ext>
            </a:extLst>
          </p:cNvPr>
          <p:cNvSpPr/>
          <p:nvPr/>
        </p:nvSpPr>
        <p:spPr>
          <a:xfrm>
            <a:off x="240792" y="4791603"/>
            <a:ext cx="11951208" cy="448574"/>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E78C16C-7270-6A45-8FF4-A3DD8FC993D0}"/>
              </a:ext>
            </a:extLst>
          </p:cNvPr>
          <p:cNvSpPr/>
          <p:nvPr/>
        </p:nvSpPr>
        <p:spPr>
          <a:xfrm>
            <a:off x="1" y="6397004"/>
            <a:ext cx="11455878" cy="369332"/>
          </a:xfrm>
          <a:prstGeom prst="rect">
            <a:avLst/>
          </a:prstGeom>
        </p:spPr>
        <p:txBody>
          <a:bodyPr wrap="square">
            <a:spAutoFit/>
          </a:bodyPr>
          <a:lstStyle/>
          <a:p>
            <a:r>
              <a:rPr lang="en-IN" dirty="0">
                <a:solidFill>
                  <a:srgbClr val="333333"/>
                </a:solidFill>
                <a:latin typeface="Lora"/>
              </a:rPr>
              <a:t> </a:t>
            </a:r>
            <a:r>
              <a:rPr lang="en-IN" dirty="0">
                <a:solidFill>
                  <a:srgbClr val="F26200"/>
                </a:solidFill>
                <a:latin typeface="Lora"/>
                <a:hlinkClick r:id="rId3"/>
              </a:rPr>
              <a:t>Census 2011</a:t>
            </a:r>
            <a:r>
              <a:rPr lang="en-IN" dirty="0">
                <a:solidFill>
                  <a:srgbClr val="333333"/>
                </a:solidFill>
                <a:latin typeface="Lora"/>
              </a:rPr>
              <a:t> and </a:t>
            </a:r>
            <a:r>
              <a:rPr lang="en-IN" dirty="0">
                <a:solidFill>
                  <a:srgbClr val="F26200"/>
                </a:solidFill>
                <a:latin typeface="Lora"/>
                <a:hlinkClick r:id="rId4"/>
              </a:rPr>
              <a:t>Sample Registration Survey</a:t>
            </a:r>
            <a:r>
              <a:rPr lang="en-IN" dirty="0">
                <a:solidFill>
                  <a:srgbClr val="333333"/>
                </a:solidFill>
                <a:latin typeface="Lora"/>
              </a:rPr>
              <a:t> (SRS) 2014-2015, along with models of fertility decline in states</a:t>
            </a:r>
            <a:endParaRPr lang="en-US" dirty="0"/>
          </a:p>
        </p:txBody>
      </p:sp>
    </p:spTree>
    <p:extLst>
      <p:ext uri="{BB962C8B-B14F-4D97-AF65-F5344CB8AC3E}">
        <p14:creationId xmlns:p14="http://schemas.microsoft.com/office/powerpoint/2010/main" val="25274687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A9AB76-1BF3-8E46-A62F-971DC203C029}"/>
              </a:ext>
            </a:extLst>
          </p:cNvPr>
          <p:cNvSpPr>
            <a:spLocks noGrp="1"/>
          </p:cNvSpPr>
          <p:nvPr>
            <p:ph type="sldNum" sz="quarter" idx="12"/>
          </p:nvPr>
        </p:nvSpPr>
        <p:spPr/>
        <p:txBody>
          <a:bodyPr/>
          <a:lstStyle/>
          <a:p>
            <a:fld id="{AEC99F6A-E93D-4C9C-AA2B-FA96051C5F3E}" type="slidenum">
              <a:rPr lang="en-US" smtClean="0"/>
              <a:t>39</a:t>
            </a:fld>
            <a:endParaRPr lang="en-US"/>
          </a:p>
        </p:txBody>
      </p:sp>
      <p:sp>
        <p:nvSpPr>
          <p:cNvPr id="3" name="Title 2">
            <a:extLst>
              <a:ext uri="{FF2B5EF4-FFF2-40B4-BE49-F238E27FC236}">
                <a16:creationId xmlns:a16="http://schemas.microsoft.com/office/drawing/2014/main" id="{4C7DAEE6-F03E-594D-A4D1-B56AAF325885}"/>
              </a:ext>
            </a:extLst>
          </p:cNvPr>
          <p:cNvSpPr>
            <a:spLocks noGrp="1"/>
          </p:cNvSpPr>
          <p:nvPr>
            <p:ph type="title"/>
          </p:nvPr>
        </p:nvSpPr>
        <p:spPr>
          <a:xfrm>
            <a:off x="1066800" y="153320"/>
            <a:ext cx="10058400" cy="1609344"/>
          </a:xfrm>
        </p:spPr>
        <p:txBody>
          <a:bodyPr/>
          <a:lstStyle/>
          <a:p>
            <a:r>
              <a:rPr lang="en-US" dirty="0"/>
              <a:t>BIHAR POPULATION</a:t>
            </a:r>
          </a:p>
        </p:txBody>
      </p:sp>
      <p:pic>
        <p:nvPicPr>
          <p:cNvPr id="6" name="Picture 5" descr="A close up of a map&#10;&#10;Description automatically generated">
            <a:extLst>
              <a:ext uri="{FF2B5EF4-FFF2-40B4-BE49-F238E27FC236}">
                <a16:creationId xmlns:a16="http://schemas.microsoft.com/office/drawing/2014/main" id="{6C05EE8E-6294-B848-B625-E502C7C522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792" y="1370680"/>
            <a:ext cx="11569700" cy="5334000"/>
          </a:xfrm>
          <a:prstGeom prst="rect">
            <a:avLst/>
          </a:prstGeom>
        </p:spPr>
      </p:pic>
      <p:sp>
        <p:nvSpPr>
          <p:cNvPr id="7" name="Rectangle 6">
            <a:extLst>
              <a:ext uri="{FF2B5EF4-FFF2-40B4-BE49-F238E27FC236}">
                <a16:creationId xmlns:a16="http://schemas.microsoft.com/office/drawing/2014/main" id="{A0643835-A15A-FC4D-A891-3C3CC5D22915}"/>
              </a:ext>
            </a:extLst>
          </p:cNvPr>
          <p:cNvSpPr/>
          <p:nvPr/>
        </p:nvSpPr>
        <p:spPr>
          <a:xfrm>
            <a:off x="240792" y="4710021"/>
            <a:ext cx="11951208" cy="448574"/>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38631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D97374-840D-A44C-A1F0-61EAE618DA29}"/>
              </a:ext>
            </a:extLst>
          </p:cNvPr>
          <p:cNvSpPr>
            <a:spLocks noGrp="1"/>
          </p:cNvSpPr>
          <p:nvPr>
            <p:ph type="sldNum" sz="quarter" idx="12"/>
          </p:nvPr>
        </p:nvSpPr>
        <p:spPr/>
        <p:txBody>
          <a:bodyPr/>
          <a:lstStyle/>
          <a:p>
            <a:fld id="{AEC99F6A-E93D-4C9C-AA2B-FA96051C5F3E}" type="slidenum">
              <a:rPr lang="en-US" smtClean="0"/>
              <a:t>40</a:t>
            </a:fld>
            <a:endParaRPr lang="en-US"/>
          </a:p>
        </p:txBody>
      </p:sp>
      <p:sp>
        <p:nvSpPr>
          <p:cNvPr id="3" name="Title 2">
            <a:extLst>
              <a:ext uri="{FF2B5EF4-FFF2-40B4-BE49-F238E27FC236}">
                <a16:creationId xmlns:a16="http://schemas.microsoft.com/office/drawing/2014/main" id="{BC456D75-0BF9-9848-8B11-EDEF60889771}"/>
              </a:ext>
            </a:extLst>
          </p:cNvPr>
          <p:cNvSpPr>
            <a:spLocks noGrp="1"/>
          </p:cNvSpPr>
          <p:nvPr>
            <p:ph type="title"/>
          </p:nvPr>
        </p:nvSpPr>
        <p:spPr/>
        <p:txBody>
          <a:bodyPr/>
          <a:lstStyle/>
          <a:p>
            <a:r>
              <a:rPr lang="en-US" dirty="0"/>
              <a:t>ACCESS and TYPE OF HIGHER EDUCATION</a:t>
            </a:r>
          </a:p>
        </p:txBody>
      </p:sp>
      <p:graphicFrame>
        <p:nvGraphicFramePr>
          <p:cNvPr id="6" name="Table 5">
            <a:extLst>
              <a:ext uri="{FF2B5EF4-FFF2-40B4-BE49-F238E27FC236}">
                <a16:creationId xmlns:a16="http://schemas.microsoft.com/office/drawing/2014/main" id="{B6BAE168-1CA7-F041-A24A-DCD5085D52EC}"/>
              </a:ext>
            </a:extLst>
          </p:cNvPr>
          <p:cNvGraphicFramePr>
            <a:graphicFrameLocks noGrp="1"/>
          </p:cNvGraphicFramePr>
          <p:nvPr/>
        </p:nvGraphicFramePr>
        <p:xfrm>
          <a:off x="241540" y="1811546"/>
          <a:ext cx="11950460" cy="3467820"/>
        </p:xfrm>
        <a:graphic>
          <a:graphicData uri="http://schemas.openxmlformats.org/drawingml/2006/table">
            <a:tbl>
              <a:tblPr firstRow="1" firstCol="1" bandRow="1"/>
              <a:tblGrid>
                <a:gridCol w="2074599">
                  <a:extLst>
                    <a:ext uri="{9D8B030D-6E8A-4147-A177-3AD203B41FA5}">
                      <a16:colId xmlns:a16="http://schemas.microsoft.com/office/drawing/2014/main" val="1032769733"/>
                    </a:ext>
                  </a:extLst>
                </a:gridCol>
                <a:gridCol w="1422105">
                  <a:extLst>
                    <a:ext uri="{9D8B030D-6E8A-4147-A177-3AD203B41FA5}">
                      <a16:colId xmlns:a16="http://schemas.microsoft.com/office/drawing/2014/main" val="527588372"/>
                    </a:ext>
                  </a:extLst>
                </a:gridCol>
                <a:gridCol w="1615703">
                  <a:extLst>
                    <a:ext uri="{9D8B030D-6E8A-4147-A177-3AD203B41FA5}">
                      <a16:colId xmlns:a16="http://schemas.microsoft.com/office/drawing/2014/main" val="3250887651"/>
                    </a:ext>
                  </a:extLst>
                </a:gridCol>
                <a:gridCol w="1694576">
                  <a:extLst>
                    <a:ext uri="{9D8B030D-6E8A-4147-A177-3AD203B41FA5}">
                      <a16:colId xmlns:a16="http://schemas.microsoft.com/office/drawing/2014/main" val="2744678940"/>
                    </a:ext>
                  </a:extLst>
                </a:gridCol>
                <a:gridCol w="1811689">
                  <a:extLst>
                    <a:ext uri="{9D8B030D-6E8A-4147-A177-3AD203B41FA5}">
                      <a16:colId xmlns:a16="http://schemas.microsoft.com/office/drawing/2014/main" val="3269914322"/>
                    </a:ext>
                  </a:extLst>
                </a:gridCol>
                <a:gridCol w="1892952">
                  <a:extLst>
                    <a:ext uri="{9D8B030D-6E8A-4147-A177-3AD203B41FA5}">
                      <a16:colId xmlns:a16="http://schemas.microsoft.com/office/drawing/2014/main" val="1989302733"/>
                    </a:ext>
                  </a:extLst>
                </a:gridCol>
                <a:gridCol w="1438836">
                  <a:extLst>
                    <a:ext uri="{9D8B030D-6E8A-4147-A177-3AD203B41FA5}">
                      <a16:colId xmlns:a16="http://schemas.microsoft.com/office/drawing/2014/main" val="1174964727"/>
                    </a:ext>
                  </a:extLst>
                </a:gridCol>
              </a:tblGrid>
              <a:tr h="501544">
                <a:tc>
                  <a:txBody>
                    <a:bodyPr/>
                    <a:lstStyle/>
                    <a:p>
                      <a:endParaRPr lang="en-IN" sz="1800">
                        <a:effectLst/>
                        <a:latin typeface="Calibri" panose="020F0502020204030204" pitchFamily="34" charset="0"/>
                      </a:endParaRPr>
                    </a:p>
                  </a:txBody>
                  <a:tcPr marL="68580" marR="68580" marT="0" marB="0">
                    <a:lnL>
                      <a:noFill/>
                    </a:lnL>
                    <a:lnR>
                      <a:noFill/>
                    </a:lnR>
                    <a:lnT>
                      <a:noFill/>
                    </a:lnT>
                    <a:lnB w="12700" cap="flat" cmpd="sng" algn="ctr">
                      <a:solidFill>
                        <a:srgbClr val="7F7F7F"/>
                      </a:solidFill>
                      <a:prstDash val="solid"/>
                      <a:round/>
                      <a:headEnd type="none" w="med" len="med"/>
                      <a:tailEnd type="none" w="med" len="med"/>
                    </a:lnB>
                    <a:solidFill>
                      <a:srgbClr val="FFFFFF"/>
                    </a:solidFill>
                  </a:tcPr>
                </a:tc>
                <a:tc gridSpan="3">
                  <a:txBody>
                    <a:bodyPr/>
                    <a:lstStyle/>
                    <a:p>
                      <a:pPr algn="just">
                        <a:spcAft>
                          <a:spcPts val="0"/>
                        </a:spcAft>
                      </a:pPr>
                      <a:r>
                        <a:rPr lang="en-GB" sz="2000" b="1" i="1">
                          <a:solidFill>
                            <a:srgbClr val="000000"/>
                          </a:solidFill>
                          <a:effectLst/>
                          <a:latin typeface="Arial" panose="020B0604020202020204" pitchFamily="34" charset="0"/>
                          <a:ea typeface="Times New Roman" panose="02020603050405020304" pitchFamily="18" charset="0"/>
                        </a:rPr>
                        <a:t>Access</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a:noFill/>
                    </a:lnR>
                    <a:lnT>
                      <a:noFill/>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gridSpan="3">
                  <a:txBody>
                    <a:bodyPr/>
                    <a:lstStyle/>
                    <a:p>
                      <a:pPr algn="just">
                        <a:spcAft>
                          <a:spcPts val="0"/>
                        </a:spcAft>
                      </a:pPr>
                      <a:r>
                        <a:rPr lang="en-GB" sz="2000" b="1" i="1">
                          <a:solidFill>
                            <a:srgbClr val="000000"/>
                          </a:solidFill>
                          <a:effectLst/>
                          <a:latin typeface="Arial" panose="020B0604020202020204" pitchFamily="34" charset="0"/>
                          <a:ea typeface="Times New Roman" panose="02020603050405020304" pitchFamily="18" charset="0"/>
                        </a:rPr>
                        <a:t>Type of Institution</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a:noFill/>
                    </a:lnR>
                    <a:lnT>
                      <a:noFill/>
                    </a:lnT>
                    <a:lnB w="12700" cap="flat" cmpd="sng" algn="ctr">
                      <a:solidFill>
                        <a:srgbClr val="7F7F7F"/>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14450867"/>
                  </a:ext>
                </a:extLst>
              </a:tr>
              <a:tr h="1160716">
                <a:tc>
                  <a:txBody>
                    <a:bodyPr/>
                    <a:lstStyle/>
                    <a:p>
                      <a:pPr algn="just">
                        <a:spcAft>
                          <a:spcPts val="0"/>
                        </a:spcAft>
                      </a:pPr>
                      <a:r>
                        <a:rPr lang="en-GB" sz="2000" i="1">
                          <a:solidFill>
                            <a:srgbClr val="000000"/>
                          </a:solidFill>
                          <a:effectLst/>
                          <a:latin typeface="Arial" panose="020B0604020202020204" pitchFamily="34" charset="0"/>
                          <a:ea typeface="Times New Roman" panose="02020603050405020304" pitchFamily="18" charset="0"/>
                        </a:rPr>
                        <a:t>State/Country</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a:noFill/>
                    </a:lnB>
                    <a:solidFill>
                      <a:srgbClr val="FFFFFF"/>
                    </a:solidFill>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Colleges per million students</a:t>
                      </a:r>
                      <a:endParaRPr lang="en-IN" sz="2000">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7F7F7F"/>
                      </a:solidFill>
                      <a:prstDash val="solid"/>
                      <a:round/>
                      <a:headEnd type="none" w="med" len="med"/>
                      <a:tailEnd type="none" w="med" len="med"/>
                    </a:lnL>
                    <a:lnR>
                      <a:noFill/>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Enrolment per college</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Number of universities</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Engineering /technology </a:t>
                      </a:r>
                      <a:endParaRPr lang="en-IN" sz="2000">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Medical </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a:noFill/>
                    </a:lnB>
                    <a:solidFill>
                      <a:srgbClr val="F2F2F2"/>
                    </a:solidFill>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Private unaided (%)</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a:noFill/>
                    </a:lnR>
                    <a:lnT w="12700" cap="flat" cmpd="sng" algn="ctr">
                      <a:solidFill>
                        <a:srgbClr val="7F7F7F"/>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1681580536"/>
                  </a:ext>
                </a:extLst>
              </a:tr>
              <a:tr h="451390">
                <a:tc>
                  <a:txBody>
                    <a:bodyPr/>
                    <a:lstStyle/>
                    <a:p>
                      <a:pPr algn="just">
                        <a:spcAft>
                          <a:spcPts val="0"/>
                        </a:spcAft>
                      </a:pPr>
                      <a:r>
                        <a:rPr lang="en-GB" sz="2000" i="1">
                          <a:solidFill>
                            <a:srgbClr val="000000"/>
                          </a:solidFill>
                          <a:effectLst/>
                          <a:latin typeface="Arial" panose="020B0604020202020204" pitchFamily="34" charset="0"/>
                          <a:ea typeface="Times New Roman" panose="02020603050405020304" pitchFamily="18" charset="0"/>
                        </a:rPr>
                        <a:t>India</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rgbClr val="7F7F7F"/>
                      </a:solidFill>
                      <a:prstDash val="solid"/>
                      <a:round/>
                      <a:headEnd type="none" w="med" len="med"/>
                      <a:tailEnd type="none" w="med" len="med"/>
                    </a:lnR>
                    <a:lnT>
                      <a:noFill/>
                    </a:lnT>
                    <a:lnB>
                      <a:noFill/>
                    </a:lnB>
                    <a:solidFill>
                      <a:srgbClr val="FFFFFF"/>
                    </a:solidFill>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280</a:t>
                      </a:r>
                      <a:endParaRPr lang="en-IN" sz="2000">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7F7F7F"/>
                      </a:solidFill>
                      <a:prstDash val="solid"/>
                      <a:round/>
                      <a:headEnd type="none" w="med" len="med"/>
                      <a:tailEnd type="none" w="med" len="med"/>
                    </a:lnL>
                    <a:lnR>
                      <a:noFill/>
                    </a:lnR>
                    <a:lnT>
                      <a:noFill/>
                    </a:lnT>
                    <a:lnB>
                      <a:noFill/>
                    </a:lnB>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721</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a:noFill/>
                    </a:lnR>
                    <a:lnT>
                      <a:noFill/>
                    </a:lnT>
                    <a:lnB>
                      <a:noFill/>
                    </a:lnB>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799</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2,250</a:t>
                      </a:r>
                      <a:endParaRPr lang="en-IN" sz="2000">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841</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a:noFill/>
                    </a:lnR>
                    <a:lnT>
                      <a:noFill/>
                    </a:lnT>
                    <a:lnB>
                      <a:noFill/>
                    </a:lnB>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64</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a:noFill/>
                    </a:lnR>
                    <a:lnT>
                      <a:noFill/>
                    </a:lnT>
                    <a:lnB>
                      <a:noFill/>
                    </a:lnB>
                  </a:tcPr>
                </a:tc>
                <a:extLst>
                  <a:ext uri="{0D108BD9-81ED-4DB2-BD59-A6C34878D82A}">
                    <a16:rowId xmlns:a16="http://schemas.microsoft.com/office/drawing/2014/main" val="3256771885"/>
                  </a:ext>
                </a:extLst>
              </a:tr>
              <a:tr h="451390">
                <a:tc>
                  <a:txBody>
                    <a:bodyPr/>
                    <a:lstStyle/>
                    <a:p>
                      <a:pPr algn="just">
                        <a:spcAft>
                          <a:spcPts val="0"/>
                        </a:spcAft>
                      </a:pPr>
                      <a:r>
                        <a:rPr lang="en-GB" sz="2000" i="1">
                          <a:solidFill>
                            <a:srgbClr val="000000"/>
                          </a:solidFill>
                          <a:effectLst/>
                          <a:latin typeface="Arial" panose="020B0604020202020204" pitchFamily="34" charset="0"/>
                          <a:ea typeface="Times New Roman" panose="02020603050405020304" pitchFamily="18" charset="0"/>
                        </a:rPr>
                        <a:t>Karnataka</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rgbClr val="7F7F7F"/>
                      </a:solidFill>
                      <a:prstDash val="solid"/>
                      <a:round/>
                      <a:headEnd type="none" w="med" len="med"/>
                      <a:tailEnd type="none" w="med" len="med"/>
                    </a:lnR>
                    <a:lnT>
                      <a:noFill/>
                    </a:lnT>
                    <a:lnB>
                      <a:noFill/>
                    </a:lnB>
                    <a:solidFill>
                      <a:srgbClr val="FFFFFF"/>
                    </a:solidFill>
                  </a:tcPr>
                </a:tc>
                <a:tc>
                  <a:txBody>
                    <a:bodyPr/>
                    <a:lstStyle/>
                    <a:p>
                      <a:pPr algn="just">
                        <a:spcAft>
                          <a:spcPts val="0"/>
                        </a:spcAft>
                      </a:pPr>
                      <a:r>
                        <a:rPr lang="en-GB" sz="2000" b="1" dirty="0">
                          <a:solidFill>
                            <a:schemeClr val="tx1"/>
                          </a:solidFill>
                          <a:effectLst/>
                          <a:latin typeface="Arial" panose="020B0604020202020204" pitchFamily="34" charset="0"/>
                          <a:ea typeface="Times New Roman" panose="02020603050405020304" pitchFamily="18" charset="0"/>
                        </a:rPr>
                        <a:t>500</a:t>
                      </a:r>
                      <a:endParaRPr lang="en-IN" sz="2000" b="1" dirty="0">
                        <a:solidFill>
                          <a:schemeClr val="tx1"/>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7F7F7F"/>
                      </a:solidFill>
                      <a:prstDash val="solid"/>
                      <a:round/>
                      <a:headEnd type="none" w="med" len="med"/>
                      <a:tailEnd type="none" w="med" len="med"/>
                    </a:lnL>
                    <a:lnR>
                      <a:noFill/>
                    </a:lnR>
                    <a:lnT>
                      <a:noFill/>
                    </a:lnT>
                    <a:lnB>
                      <a:noFill/>
                    </a:lnB>
                    <a:solidFill>
                      <a:srgbClr val="F2F2F2"/>
                    </a:solidFill>
                  </a:tcPr>
                </a:tc>
                <a:tc>
                  <a:txBody>
                    <a:bodyPr/>
                    <a:lstStyle/>
                    <a:p>
                      <a:pPr algn="just">
                        <a:spcAft>
                          <a:spcPts val="0"/>
                        </a:spcAft>
                      </a:pPr>
                      <a:r>
                        <a:rPr lang="en-GB" sz="2000" b="1" dirty="0">
                          <a:solidFill>
                            <a:schemeClr val="tx1"/>
                          </a:solidFill>
                          <a:effectLst/>
                          <a:latin typeface="Arial" panose="020B0604020202020204" pitchFamily="34" charset="0"/>
                          <a:ea typeface="Times New Roman" panose="02020603050405020304" pitchFamily="18" charset="0"/>
                        </a:rPr>
                        <a:t>438</a:t>
                      </a:r>
                      <a:endParaRPr lang="en-IN" sz="2000" b="1" dirty="0">
                        <a:solidFill>
                          <a:schemeClr val="tx1"/>
                        </a:solidFill>
                        <a:effectLst/>
                        <a:latin typeface="Times New Roman" panose="02020603050405020304" pitchFamily="18" charset="0"/>
                        <a:ea typeface="Calibri" panose="020F0502020204030204" pitchFamily="34" charset="0"/>
                      </a:endParaRPr>
                    </a:p>
                  </a:txBody>
                  <a:tcPr marL="68580" marR="68580" marT="0" marB="0">
                    <a:lnL>
                      <a:noFill/>
                    </a:lnL>
                    <a:lnR>
                      <a:noFill/>
                    </a:lnR>
                    <a:lnT>
                      <a:noFill/>
                    </a:lnT>
                    <a:lnB>
                      <a:noFill/>
                    </a:lnB>
                    <a:solidFill>
                      <a:srgbClr val="F2F2F2"/>
                    </a:solidFill>
                  </a:tcPr>
                </a:tc>
                <a:tc>
                  <a:txBody>
                    <a:bodyPr/>
                    <a:lstStyle/>
                    <a:p>
                      <a:pPr algn="just">
                        <a:spcAft>
                          <a:spcPts val="0"/>
                        </a:spcAft>
                      </a:pPr>
                      <a:r>
                        <a:rPr lang="en-GB" sz="2000" dirty="0">
                          <a:solidFill>
                            <a:schemeClr val="tx1"/>
                          </a:solidFill>
                          <a:effectLst/>
                          <a:latin typeface="Arial" panose="020B0604020202020204" pitchFamily="34" charset="0"/>
                          <a:ea typeface="Times New Roman" panose="02020603050405020304" pitchFamily="18" charset="0"/>
                        </a:rPr>
                        <a:t>52</a:t>
                      </a:r>
                      <a:endParaRPr lang="en-IN" sz="2000" dirty="0">
                        <a:solidFill>
                          <a:schemeClr val="tx1"/>
                        </a:solidFill>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just">
                        <a:spcAft>
                          <a:spcPts val="0"/>
                        </a:spcAft>
                      </a:pPr>
                      <a:r>
                        <a:rPr lang="en-GB" sz="2000" b="1" dirty="0">
                          <a:solidFill>
                            <a:schemeClr val="tx1"/>
                          </a:solidFill>
                          <a:effectLst/>
                          <a:latin typeface="Arial" panose="020B0604020202020204" pitchFamily="34" charset="0"/>
                          <a:ea typeface="Times New Roman" panose="02020603050405020304" pitchFamily="18" charset="0"/>
                        </a:rPr>
                        <a:t>164</a:t>
                      </a:r>
                      <a:endParaRPr lang="en-IN" sz="2000" b="1" dirty="0">
                        <a:solidFill>
                          <a:schemeClr val="tx1"/>
                        </a:solidFill>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just">
                        <a:spcAft>
                          <a:spcPts val="0"/>
                        </a:spcAft>
                      </a:pPr>
                      <a:r>
                        <a:rPr lang="en-GB" sz="2000" dirty="0">
                          <a:solidFill>
                            <a:schemeClr val="tx1"/>
                          </a:solidFill>
                          <a:effectLst/>
                          <a:latin typeface="Arial" panose="020B0604020202020204" pitchFamily="34" charset="0"/>
                          <a:ea typeface="Times New Roman" panose="02020603050405020304" pitchFamily="18" charset="0"/>
                        </a:rPr>
                        <a:t>139</a:t>
                      </a:r>
                      <a:endParaRPr lang="en-IN" sz="2000" dirty="0">
                        <a:solidFill>
                          <a:schemeClr val="tx1"/>
                        </a:solidFill>
                        <a:effectLst/>
                        <a:latin typeface="Times New Roman" panose="02020603050405020304" pitchFamily="18" charset="0"/>
                        <a:ea typeface="Calibri" panose="020F0502020204030204" pitchFamily="34" charset="0"/>
                      </a:endParaRPr>
                    </a:p>
                  </a:txBody>
                  <a:tcPr marL="68580" marR="68580" marT="0" marB="0">
                    <a:lnL>
                      <a:noFill/>
                    </a:lnL>
                    <a:lnR>
                      <a:noFill/>
                    </a:lnR>
                    <a:lnT>
                      <a:noFill/>
                    </a:lnT>
                    <a:lnB>
                      <a:noFill/>
                    </a:lnB>
                    <a:solidFill>
                      <a:srgbClr val="F2F2F2"/>
                    </a:solidFill>
                  </a:tcPr>
                </a:tc>
                <a:tc>
                  <a:txBody>
                    <a:bodyPr/>
                    <a:lstStyle/>
                    <a:p>
                      <a:pPr algn="just">
                        <a:spcAft>
                          <a:spcPts val="0"/>
                        </a:spcAft>
                      </a:pPr>
                      <a:r>
                        <a:rPr lang="en-GB" sz="2000" b="1" dirty="0">
                          <a:solidFill>
                            <a:schemeClr val="tx1"/>
                          </a:solidFill>
                          <a:effectLst/>
                          <a:latin typeface="Arial" panose="020B0604020202020204" pitchFamily="34" charset="0"/>
                          <a:ea typeface="Times New Roman" panose="02020603050405020304" pitchFamily="18" charset="0"/>
                        </a:rPr>
                        <a:t>67.6</a:t>
                      </a:r>
                      <a:endParaRPr lang="en-IN" sz="2000" b="1" dirty="0">
                        <a:solidFill>
                          <a:schemeClr val="tx1"/>
                        </a:solidFill>
                        <a:effectLst/>
                        <a:latin typeface="Times New Roman" panose="02020603050405020304" pitchFamily="18" charset="0"/>
                        <a:ea typeface="Calibri" panose="020F0502020204030204" pitchFamily="34" charset="0"/>
                      </a:endParaRPr>
                    </a:p>
                  </a:txBody>
                  <a:tcPr marL="68580" marR="68580" marT="0" marB="0">
                    <a:lnL>
                      <a:noFill/>
                    </a:lnL>
                    <a:lnR>
                      <a:noFill/>
                    </a:lnR>
                    <a:lnT>
                      <a:noFill/>
                    </a:lnT>
                    <a:lnB>
                      <a:noFill/>
                    </a:lnB>
                    <a:solidFill>
                      <a:srgbClr val="F2F2F2"/>
                    </a:solidFill>
                  </a:tcPr>
                </a:tc>
                <a:extLst>
                  <a:ext uri="{0D108BD9-81ED-4DB2-BD59-A6C34878D82A}">
                    <a16:rowId xmlns:a16="http://schemas.microsoft.com/office/drawing/2014/main" val="2561743024"/>
                  </a:ext>
                </a:extLst>
              </a:tr>
              <a:tr h="451390">
                <a:tc>
                  <a:txBody>
                    <a:bodyPr/>
                    <a:lstStyle/>
                    <a:p>
                      <a:pPr algn="just">
                        <a:spcAft>
                          <a:spcPts val="0"/>
                        </a:spcAft>
                      </a:pPr>
                      <a:r>
                        <a:rPr lang="en-GB" sz="2000" i="1">
                          <a:solidFill>
                            <a:srgbClr val="000000"/>
                          </a:solidFill>
                          <a:effectLst/>
                          <a:latin typeface="Arial" panose="020B0604020202020204" pitchFamily="34" charset="0"/>
                          <a:ea typeface="Times New Roman" panose="02020603050405020304" pitchFamily="18" charset="0"/>
                        </a:rPr>
                        <a:t>Bihar</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rgbClr val="7F7F7F"/>
                      </a:solidFill>
                      <a:prstDash val="solid"/>
                      <a:round/>
                      <a:headEnd type="none" w="med" len="med"/>
                      <a:tailEnd type="none" w="med" len="med"/>
                    </a:lnR>
                    <a:lnT>
                      <a:noFill/>
                    </a:lnT>
                    <a:lnB>
                      <a:noFill/>
                    </a:lnB>
                    <a:solidFill>
                      <a:srgbClr val="FFFFFF"/>
                    </a:solidFill>
                  </a:tcPr>
                </a:tc>
                <a:tc>
                  <a:txBody>
                    <a:bodyPr/>
                    <a:lstStyle/>
                    <a:p>
                      <a:pPr algn="just">
                        <a:spcAft>
                          <a:spcPts val="0"/>
                        </a:spcAft>
                      </a:pPr>
                      <a:r>
                        <a:rPr lang="en-GB" sz="2000" b="1" dirty="0">
                          <a:solidFill>
                            <a:srgbClr val="000000"/>
                          </a:solidFill>
                          <a:effectLst/>
                          <a:latin typeface="Arial" panose="020B0604020202020204" pitchFamily="34" charset="0"/>
                          <a:ea typeface="Times New Roman" panose="02020603050405020304" pitchFamily="18" charset="0"/>
                        </a:rPr>
                        <a:t>70</a:t>
                      </a:r>
                      <a:endParaRPr lang="en-IN" sz="2000" b="1"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7F7F7F"/>
                      </a:solidFill>
                      <a:prstDash val="solid"/>
                      <a:round/>
                      <a:headEnd type="none" w="med" len="med"/>
                      <a:tailEnd type="none" w="med" len="med"/>
                    </a:lnL>
                    <a:lnR>
                      <a:noFill/>
                    </a:lnR>
                    <a:lnT>
                      <a:noFill/>
                    </a:lnT>
                    <a:lnB>
                      <a:noFill/>
                    </a:lnB>
                  </a:tcPr>
                </a:tc>
                <a:tc>
                  <a:txBody>
                    <a:bodyPr/>
                    <a:lstStyle/>
                    <a:p>
                      <a:pPr algn="just">
                        <a:spcAft>
                          <a:spcPts val="0"/>
                        </a:spcAft>
                      </a:pPr>
                      <a:r>
                        <a:rPr lang="en-GB" sz="2000" b="1" dirty="0">
                          <a:solidFill>
                            <a:srgbClr val="000000"/>
                          </a:solidFill>
                          <a:effectLst/>
                          <a:latin typeface="Arial" panose="020B0604020202020204" pitchFamily="34" charset="0"/>
                          <a:ea typeface="Times New Roman" panose="02020603050405020304" pitchFamily="18" charset="0"/>
                        </a:rPr>
                        <a:t>2,142</a:t>
                      </a:r>
                      <a:endParaRPr lang="en-IN" sz="2000" b="1" dirty="0">
                        <a:effectLst/>
                        <a:latin typeface="Times New Roman" panose="02020603050405020304" pitchFamily="18" charset="0"/>
                        <a:ea typeface="Calibri" panose="020F0502020204030204" pitchFamily="34" charset="0"/>
                      </a:endParaRPr>
                    </a:p>
                  </a:txBody>
                  <a:tcPr marL="68580" marR="68580" marT="0" marB="0">
                    <a:lnL>
                      <a:noFill/>
                    </a:lnL>
                    <a:lnR>
                      <a:noFill/>
                    </a:lnR>
                    <a:lnT>
                      <a:noFill/>
                    </a:lnT>
                    <a:lnB>
                      <a:noFill/>
                    </a:lnB>
                  </a:tcPr>
                </a:tc>
                <a:tc>
                  <a:txBody>
                    <a:bodyPr/>
                    <a:lstStyle/>
                    <a:p>
                      <a:pPr algn="just">
                        <a:spcAft>
                          <a:spcPts val="0"/>
                        </a:spcAft>
                      </a:pPr>
                      <a:r>
                        <a:rPr lang="en-GB" sz="2000" dirty="0">
                          <a:solidFill>
                            <a:srgbClr val="000000"/>
                          </a:solidFill>
                          <a:effectLst/>
                          <a:latin typeface="Arial" panose="020B0604020202020204" pitchFamily="34" charset="0"/>
                          <a:ea typeface="Times New Roman" panose="02020603050405020304" pitchFamily="18" charset="0"/>
                        </a:rPr>
                        <a:t>22</a:t>
                      </a:r>
                      <a:endParaRPr lang="en-IN" sz="2000" dirty="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just">
                        <a:spcAft>
                          <a:spcPts val="0"/>
                        </a:spcAft>
                      </a:pPr>
                      <a:r>
                        <a:rPr lang="en-GB" sz="2000" b="1" dirty="0">
                          <a:solidFill>
                            <a:srgbClr val="000000"/>
                          </a:solidFill>
                          <a:effectLst/>
                          <a:latin typeface="Arial" panose="020B0604020202020204" pitchFamily="34" charset="0"/>
                          <a:ea typeface="Times New Roman" panose="02020603050405020304" pitchFamily="18" charset="0"/>
                        </a:rPr>
                        <a:t>26</a:t>
                      </a:r>
                      <a:endParaRPr lang="en-IN" sz="2000" b="1"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c>
                  <a:txBody>
                    <a:bodyPr/>
                    <a:lstStyle/>
                    <a:p>
                      <a:pPr algn="just">
                        <a:spcAft>
                          <a:spcPts val="0"/>
                        </a:spcAft>
                      </a:pPr>
                      <a:r>
                        <a:rPr lang="en-GB" sz="2000" dirty="0">
                          <a:solidFill>
                            <a:srgbClr val="000000"/>
                          </a:solidFill>
                          <a:effectLst/>
                          <a:latin typeface="Arial" panose="020B0604020202020204" pitchFamily="34" charset="0"/>
                          <a:ea typeface="Times New Roman" panose="02020603050405020304" pitchFamily="18" charset="0"/>
                        </a:rPr>
                        <a:t>17</a:t>
                      </a:r>
                      <a:endParaRPr lang="en-IN" sz="2000" dirty="0">
                        <a:effectLst/>
                        <a:latin typeface="Times New Roman" panose="02020603050405020304" pitchFamily="18" charset="0"/>
                        <a:ea typeface="Calibri" panose="020F0502020204030204" pitchFamily="34" charset="0"/>
                      </a:endParaRPr>
                    </a:p>
                  </a:txBody>
                  <a:tcPr marL="68580" marR="68580" marT="0" marB="0">
                    <a:lnL>
                      <a:noFill/>
                    </a:lnL>
                    <a:lnR>
                      <a:noFill/>
                    </a:lnR>
                    <a:lnT>
                      <a:noFill/>
                    </a:lnT>
                    <a:lnB>
                      <a:noFill/>
                    </a:lnB>
                  </a:tcPr>
                </a:tc>
                <a:tc>
                  <a:txBody>
                    <a:bodyPr/>
                    <a:lstStyle/>
                    <a:p>
                      <a:pPr algn="just">
                        <a:spcAft>
                          <a:spcPts val="0"/>
                        </a:spcAft>
                      </a:pPr>
                      <a:r>
                        <a:rPr lang="en-GB" sz="2000">
                          <a:solidFill>
                            <a:srgbClr val="000000"/>
                          </a:solidFill>
                          <a:effectLst/>
                          <a:latin typeface="Arial" panose="020B0604020202020204" pitchFamily="34" charset="0"/>
                          <a:ea typeface="Times New Roman" panose="02020603050405020304" pitchFamily="18" charset="0"/>
                        </a:rPr>
                        <a:t>13</a:t>
                      </a:r>
                      <a:endParaRPr lang="en-IN" sz="2000">
                        <a:effectLst/>
                        <a:latin typeface="Times New Roman" panose="02020603050405020304" pitchFamily="18" charset="0"/>
                        <a:ea typeface="Calibri" panose="020F0502020204030204" pitchFamily="34" charset="0"/>
                      </a:endParaRPr>
                    </a:p>
                  </a:txBody>
                  <a:tcPr marL="68580" marR="68580" marT="0" marB="0">
                    <a:lnL>
                      <a:noFill/>
                    </a:lnL>
                    <a:lnR>
                      <a:noFill/>
                    </a:lnR>
                    <a:lnT>
                      <a:noFill/>
                    </a:lnT>
                    <a:lnB>
                      <a:noFill/>
                    </a:lnB>
                  </a:tcPr>
                </a:tc>
                <a:extLst>
                  <a:ext uri="{0D108BD9-81ED-4DB2-BD59-A6C34878D82A}">
                    <a16:rowId xmlns:a16="http://schemas.microsoft.com/office/drawing/2014/main" val="2546420948"/>
                  </a:ext>
                </a:extLst>
              </a:tr>
              <a:tr h="451390">
                <a:tc gridSpan="7">
                  <a:txBody>
                    <a:bodyPr/>
                    <a:lstStyle/>
                    <a:p>
                      <a:pPr algn="just">
                        <a:spcAft>
                          <a:spcPts val="0"/>
                        </a:spcAft>
                      </a:pPr>
                      <a:r>
                        <a:rPr lang="en-GB" sz="2000" b="1" i="1" dirty="0">
                          <a:solidFill>
                            <a:srgbClr val="000000"/>
                          </a:solidFill>
                          <a:effectLst/>
                          <a:latin typeface="Arial" panose="020B0604020202020204" pitchFamily="34" charset="0"/>
                          <a:ea typeface="Times New Roman" panose="02020603050405020304" pitchFamily="18" charset="0"/>
                        </a:rPr>
                        <a:t>Source</a:t>
                      </a:r>
                      <a:r>
                        <a:rPr lang="en-GB" sz="2000" i="1" dirty="0">
                          <a:solidFill>
                            <a:srgbClr val="000000"/>
                          </a:solidFill>
                          <a:effectLst/>
                          <a:latin typeface="Arial" panose="020B0604020202020204" pitchFamily="34" charset="0"/>
                          <a:ea typeface="Times New Roman" panose="02020603050405020304" pitchFamily="18" charset="0"/>
                        </a:rPr>
                        <a:t>: AISHE-2015-2016</a:t>
                      </a:r>
                      <a:endParaRPr lang="en-IN" sz="2000" dirty="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rgbClr val="7F7F7F"/>
                      </a:solidFill>
                      <a:prstDash val="solid"/>
                      <a:round/>
                      <a:headEnd type="none" w="med" len="med"/>
                      <a:tailEnd type="none" w="med" len="med"/>
                    </a:lnR>
                    <a:lnT>
                      <a:noFill/>
                    </a:lnT>
                    <a:lnB>
                      <a:noFill/>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1229440"/>
                  </a:ext>
                </a:extLst>
              </a:tr>
            </a:tbl>
          </a:graphicData>
        </a:graphic>
      </p:graphicFrame>
    </p:spTree>
    <p:extLst>
      <p:ext uri="{BB962C8B-B14F-4D97-AF65-F5344CB8AC3E}">
        <p14:creationId xmlns:p14="http://schemas.microsoft.com/office/powerpoint/2010/main" val="23371226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600D59-E0CB-EB40-B1B5-A1313FAD032D}"/>
              </a:ext>
            </a:extLst>
          </p:cNvPr>
          <p:cNvSpPr>
            <a:spLocks noGrp="1"/>
          </p:cNvSpPr>
          <p:nvPr>
            <p:ph type="sldNum" sz="quarter" idx="12"/>
          </p:nvPr>
        </p:nvSpPr>
        <p:spPr/>
        <p:txBody>
          <a:bodyPr/>
          <a:lstStyle/>
          <a:p>
            <a:fld id="{AEC99F6A-E93D-4C9C-AA2B-FA96051C5F3E}" type="slidenum">
              <a:rPr lang="en-US" smtClean="0"/>
              <a:t>41</a:t>
            </a:fld>
            <a:endParaRPr lang="en-US"/>
          </a:p>
        </p:txBody>
      </p:sp>
      <p:sp>
        <p:nvSpPr>
          <p:cNvPr id="3" name="Title 2">
            <a:extLst>
              <a:ext uri="{FF2B5EF4-FFF2-40B4-BE49-F238E27FC236}">
                <a16:creationId xmlns:a16="http://schemas.microsoft.com/office/drawing/2014/main" id="{8AD358F7-B71F-CB4B-B2E7-AB18D005B3D4}"/>
              </a:ext>
            </a:extLst>
          </p:cNvPr>
          <p:cNvSpPr>
            <a:spLocks noGrp="1"/>
          </p:cNvSpPr>
          <p:nvPr>
            <p:ph type="title"/>
          </p:nvPr>
        </p:nvSpPr>
        <p:spPr>
          <a:xfrm>
            <a:off x="189781" y="208586"/>
            <a:ext cx="11761427" cy="912848"/>
          </a:xfrm>
        </p:spPr>
        <p:txBody>
          <a:bodyPr>
            <a:noAutofit/>
          </a:bodyPr>
          <a:lstStyle/>
          <a:p>
            <a:r>
              <a:rPr lang="en-GB" sz="2800" b="1" dirty="0"/>
              <a:t>Current and projected enrolment rate in Bihar and Karnataka</a:t>
            </a:r>
            <a:endParaRPr lang="en-US" sz="2800" dirty="0"/>
          </a:p>
        </p:txBody>
      </p:sp>
      <p:graphicFrame>
        <p:nvGraphicFramePr>
          <p:cNvPr id="5" name="Table 4">
            <a:extLst>
              <a:ext uri="{FF2B5EF4-FFF2-40B4-BE49-F238E27FC236}">
                <a16:creationId xmlns:a16="http://schemas.microsoft.com/office/drawing/2014/main" id="{11978B7C-4EA7-F74C-A4FE-B0F315544ACA}"/>
              </a:ext>
            </a:extLst>
          </p:cNvPr>
          <p:cNvGraphicFramePr>
            <a:graphicFrameLocks noGrp="1"/>
          </p:cNvGraphicFramePr>
          <p:nvPr/>
        </p:nvGraphicFramePr>
        <p:xfrm>
          <a:off x="240792" y="1242204"/>
          <a:ext cx="11761427" cy="4330462"/>
        </p:xfrm>
        <a:graphic>
          <a:graphicData uri="http://schemas.openxmlformats.org/drawingml/2006/table">
            <a:tbl>
              <a:tblPr firstRow="1" firstCol="1" bandRow="1"/>
              <a:tblGrid>
                <a:gridCol w="1809022">
                  <a:extLst>
                    <a:ext uri="{9D8B030D-6E8A-4147-A177-3AD203B41FA5}">
                      <a16:colId xmlns:a16="http://schemas.microsoft.com/office/drawing/2014/main" val="1301021784"/>
                    </a:ext>
                  </a:extLst>
                </a:gridCol>
                <a:gridCol w="1681000">
                  <a:extLst>
                    <a:ext uri="{9D8B030D-6E8A-4147-A177-3AD203B41FA5}">
                      <a16:colId xmlns:a16="http://schemas.microsoft.com/office/drawing/2014/main" val="586384316"/>
                    </a:ext>
                  </a:extLst>
                </a:gridCol>
                <a:gridCol w="1591940">
                  <a:extLst>
                    <a:ext uri="{9D8B030D-6E8A-4147-A177-3AD203B41FA5}">
                      <a16:colId xmlns:a16="http://schemas.microsoft.com/office/drawing/2014/main" val="3556405852"/>
                    </a:ext>
                  </a:extLst>
                </a:gridCol>
                <a:gridCol w="1335893">
                  <a:extLst>
                    <a:ext uri="{9D8B030D-6E8A-4147-A177-3AD203B41FA5}">
                      <a16:colId xmlns:a16="http://schemas.microsoft.com/office/drawing/2014/main" val="2911788787"/>
                    </a:ext>
                  </a:extLst>
                </a:gridCol>
                <a:gridCol w="1335893">
                  <a:extLst>
                    <a:ext uri="{9D8B030D-6E8A-4147-A177-3AD203B41FA5}">
                      <a16:colId xmlns:a16="http://schemas.microsoft.com/office/drawing/2014/main" val="3084994364"/>
                    </a:ext>
                  </a:extLst>
                </a:gridCol>
                <a:gridCol w="1335893">
                  <a:extLst>
                    <a:ext uri="{9D8B030D-6E8A-4147-A177-3AD203B41FA5}">
                      <a16:colId xmlns:a16="http://schemas.microsoft.com/office/drawing/2014/main" val="1086456124"/>
                    </a:ext>
                  </a:extLst>
                </a:gridCol>
                <a:gridCol w="1335893">
                  <a:extLst>
                    <a:ext uri="{9D8B030D-6E8A-4147-A177-3AD203B41FA5}">
                      <a16:colId xmlns:a16="http://schemas.microsoft.com/office/drawing/2014/main" val="1370091910"/>
                    </a:ext>
                  </a:extLst>
                </a:gridCol>
                <a:gridCol w="1335893">
                  <a:extLst>
                    <a:ext uri="{9D8B030D-6E8A-4147-A177-3AD203B41FA5}">
                      <a16:colId xmlns:a16="http://schemas.microsoft.com/office/drawing/2014/main" val="2327054047"/>
                    </a:ext>
                  </a:extLst>
                </a:gridCol>
              </a:tblGrid>
              <a:tr h="417394">
                <a:tc rowSpan="2">
                  <a:txBody>
                    <a:bodyPr/>
                    <a:lstStyle/>
                    <a:p>
                      <a:pPr algn="just">
                        <a:spcAft>
                          <a:spcPts val="0"/>
                        </a:spcAft>
                      </a:pPr>
                      <a:r>
                        <a:rPr lang="en-GB" sz="2400" i="1" dirty="0">
                          <a:solidFill>
                            <a:srgbClr val="000000"/>
                          </a:solidFill>
                          <a:effectLst/>
                          <a:latin typeface="Arial" panose="020B0604020202020204" pitchFamily="34" charset="0"/>
                          <a:ea typeface="Times New Roman" panose="02020603050405020304" pitchFamily="18" charset="0"/>
                        </a:rPr>
                        <a:t> </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rowSpan="2">
                  <a:txBody>
                    <a:bodyPr/>
                    <a:lstStyle/>
                    <a:p>
                      <a:pPr algn="just">
                        <a:spcAft>
                          <a:spcPts val="0"/>
                        </a:spcAft>
                      </a:pPr>
                      <a:r>
                        <a:rPr lang="en-GB" sz="2400" i="1" dirty="0">
                          <a:solidFill>
                            <a:srgbClr val="000000"/>
                          </a:solidFill>
                          <a:effectLst/>
                          <a:latin typeface="Arial" panose="020B0604020202020204" pitchFamily="34" charset="0"/>
                          <a:ea typeface="Times New Roman" panose="02020603050405020304" pitchFamily="18" charset="0"/>
                        </a:rPr>
                        <a:t>Current enrolment (in </a:t>
                      </a:r>
                      <a:r>
                        <a:rPr lang="en-GB" sz="2400" i="1" dirty="0" err="1">
                          <a:solidFill>
                            <a:srgbClr val="000000"/>
                          </a:solidFill>
                          <a:effectLst/>
                          <a:latin typeface="Arial" panose="020B0604020202020204" pitchFamily="34" charset="0"/>
                          <a:ea typeface="Times New Roman" panose="02020603050405020304" pitchFamily="18" charset="0"/>
                        </a:rPr>
                        <a:t>mn</a:t>
                      </a:r>
                      <a:r>
                        <a:rPr lang="en-GB" sz="2400" i="1" dirty="0">
                          <a:solidFill>
                            <a:srgbClr val="000000"/>
                          </a:solidFill>
                          <a:effectLst/>
                          <a:latin typeface="Arial" panose="020B0604020202020204" pitchFamily="34" charset="0"/>
                          <a:ea typeface="Times New Roman" panose="02020603050405020304" pitchFamily="18" charset="0"/>
                        </a:rPr>
                        <a:t>)</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tc gridSpan="6">
                  <a:txBody>
                    <a:bodyPr/>
                    <a:lstStyle/>
                    <a:p>
                      <a:pPr algn="just">
                        <a:spcAft>
                          <a:spcPts val="0"/>
                        </a:spcAft>
                        <a:tabLst>
                          <a:tab pos="1818640" algn="ctr"/>
                        </a:tabLst>
                      </a:pPr>
                      <a:r>
                        <a:rPr lang="en-GB" sz="2400" i="1" dirty="0">
                          <a:solidFill>
                            <a:srgbClr val="000000"/>
                          </a:solidFill>
                          <a:effectLst/>
                          <a:latin typeface="Arial" panose="020B0604020202020204" pitchFamily="34" charset="0"/>
                          <a:ea typeface="Times New Roman" panose="02020603050405020304" pitchFamily="18" charset="0"/>
                        </a:rPr>
                        <a:t>	Projected enrolment</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59636666"/>
                  </a:ext>
                </a:extLst>
              </a:tr>
              <a:tr h="1252181">
                <a:tc vMerge="1">
                  <a:txBody>
                    <a:bodyPr/>
                    <a:lstStyle/>
                    <a:p>
                      <a:endParaRPr lang="en-US"/>
                    </a:p>
                  </a:txBody>
                  <a:tcPr/>
                </a:tc>
                <a:tc vMerge="1">
                  <a:txBody>
                    <a:bodyPr/>
                    <a:lstStyle/>
                    <a:p>
                      <a:endParaRPr lang="en-US"/>
                    </a:p>
                  </a:txBody>
                  <a:tcPr/>
                </a:tc>
                <a:tc gridSpan="2">
                  <a:txBody>
                    <a:bodyPr/>
                    <a:lstStyle/>
                    <a:p>
                      <a:pPr algn="just">
                        <a:spcAft>
                          <a:spcPts val="0"/>
                        </a:spcAft>
                      </a:pPr>
                      <a:r>
                        <a:rPr lang="en-GB" sz="2400" b="1" dirty="0">
                          <a:solidFill>
                            <a:srgbClr val="000000"/>
                          </a:solidFill>
                          <a:effectLst/>
                          <a:latin typeface="Arial" panose="020B0604020202020204" pitchFamily="34" charset="0"/>
                          <a:ea typeface="Times New Roman" panose="02020603050405020304" pitchFamily="18" charset="0"/>
                        </a:rPr>
                        <a:t>At constant GER</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2F2F2"/>
                    </a:solidFill>
                  </a:tcPr>
                </a:tc>
                <a:tc hMerge="1">
                  <a:txBody>
                    <a:bodyPr/>
                    <a:lstStyle/>
                    <a:p>
                      <a:endParaRPr lang="en-US"/>
                    </a:p>
                  </a:txBody>
                  <a:tcPr/>
                </a:tc>
                <a:tc gridSpan="2">
                  <a:txBody>
                    <a:bodyPr/>
                    <a:lstStyle/>
                    <a:p>
                      <a:pPr algn="just">
                        <a:spcAft>
                          <a:spcPts val="0"/>
                        </a:spcAft>
                      </a:pPr>
                      <a:r>
                        <a:rPr lang="en-GB" sz="2400" b="1" dirty="0">
                          <a:solidFill>
                            <a:srgbClr val="000000"/>
                          </a:solidFill>
                          <a:effectLst/>
                          <a:latin typeface="Arial" panose="020B0604020202020204" pitchFamily="34" charset="0"/>
                          <a:ea typeface="Times New Roman" panose="02020603050405020304" pitchFamily="18" charset="0"/>
                        </a:rPr>
                        <a:t>At  25% GER</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2F2F2"/>
                    </a:solidFill>
                  </a:tcPr>
                </a:tc>
                <a:tc hMerge="1">
                  <a:txBody>
                    <a:bodyPr/>
                    <a:lstStyle/>
                    <a:p>
                      <a:endParaRPr lang="en-US"/>
                    </a:p>
                  </a:txBody>
                  <a:tcPr/>
                </a:tc>
                <a:tc gridSpan="2">
                  <a:txBody>
                    <a:bodyPr/>
                    <a:lstStyle/>
                    <a:p>
                      <a:pPr algn="just">
                        <a:spcAft>
                          <a:spcPts val="0"/>
                        </a:spcAft>
                      </a:pPr>
                      <a:r>
                        <a:rPr lang="en-GB" sz="2400" b="1" dirty="0">
                          <a:solidFill>
                            <a:srgbClr val="000000"/>
                          </a:solidFill>
                          <a:effectLst/>
                          <a:latin typeface="Arial" panose="020B0604020202020204" pitchFamily="34" charset="0"/>
                          <a:ea typeface="Times New Roman" panose="02020603050405020304" pitchFamily="18" charset="0"/>
                        </a:rPr>
                        <a:t>All- 40% GER</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2F2F2"/>
                    </a:solidFill>
                  </a:tcPr>
                </a:tc>
                <a:tc hMerge="1">
                  <a:txBody>
                    <a:bodyPr/>
                    <a:lstStyle/>
                    <a:p>
                      <a:endParaRPr lang="en-US"/>
                    </a:p>
                  </a:txBody>
                  <a:tcPr/>
                </a:tc>
                <a:extLst>
                  <a:ext uri="{0D108BD9-81ED-4DB2-BD59-A6C34878D82A}">
                    <a16:rowId xmlns:a16="http://schemas.microsoft.com/office/drawing/2014/main" val="1731245138"/>
                  </a:ext>
                </a:extLst>
              </a:tr>
              <a:tr h="456525">
                <a:tc>
                  <a:txBody>
                    <a:bodyPr/>
                    <a:lstStyle/>
                    <a:p>
                      <a:endParaRPr lang="en-IN" sz="2000" dirty="0">
                        <a:effectLst/>
                        <a:latin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a:spcAft>
                          <a:spcPts val="0"/>
                        </a:spcAft>
                      </a:pPr>
                      <a:r>
                        <a:rPr lang="en-GB" sz="2400">
                          <a:solidFill>
                            <a:srgbClr val="000000"/>
                          </a:solidFill>
                          <a:effectLst/>
                          <a:latin typeface="Arial" panose="020B0604020202020204" pitchFamily="34" charset="0"/>
                          <a:ea typeface="Times New Roman" panose="02020603050405020304" pitchFamily="18" charset="0"/>
                        </a:rPr>
                        <a:t>2016</a:t>
                      </a:r>
                      <a:endParaRPr lang="en-IN" sz="240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just">
                        <a:spcAft>
                          <a:spcPts val="0"/>
                        </a:spcAft>
                      </a:pPr>
                      <a:r>
                        <a:rPr lang="en-GB" sz="2400">
                          <a:solidFill>
                            <a:srgbClr val="000000"/>
                          </a:solidFill>
                          <a:effectLst/>
                          <a:latin typeface="Arial" panose="020B0604020202020204" pitchFamily="34" charset="0"/>
                          <a:ea typeface="Times New Roman" panose="02020603050405020304" pitchFamily="18" charset="0"/>
                        </a:rPr>
                        <a:t>2026</a:t>
                      </a:r>
                      <a:endParaRPr lang="en-IN" sz="240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a:noFill/>
                    </a:lnR>
                    <a:lnT>
                      <a:noFill/>
                    </a:lnT>
                    <a:lnB>
                      <a:noFill/>
                    </a:lnB>
                  </a:tcPr>
                </a:tc>
                <a:tc>
                  <a:txBody>
                    <a:bodyPr/>
                    <a:lstStyle/>
                    <a:p>
                      <a:pPr algn="just">
                        <a:spcAft>
                          <a:spcPts val="0"/>
                        </a:spcAft>
                      </a:pPr>
                      <a:r>
                        <a:rPr lang="en-GB" sz="2400">
                          <a:solidFill>
                            <a:srgbClr val="000000"/>
                          </a:solidFill>
                          <a:effectLst/>
                          <a:latin typeface="Arial" panose="020B0604020202020204" pitchFamily="34" charset="0"/>
                          <a:ea typeface="Times New Roman" panose="02020603050405020304" pitchFamily="18" charset="0"/>
                        </a:rPr>
                        <a:t>2031</a:t>
                      </a:r>
                      <a:endParaRPr lang="en-IN" sz="240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chemeClr val="tx1"/>
                      </a:solidFill>
                      <a:prstDash val="solid"/>
                      <a:round/>
                      <a:headEnd type="none" w="med" len="med"/>
                      <a:tailEnd type="none" w="med" len="med"/>
                    </a:lnR>
                    <a:lnT>
                      <a:noFill/>
                    </a:lnT>
                    <a:lnB>
                      <a:noFill/>
                    </a:lnB>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2026</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a:noFill/>
                    </a:lnR>
                    <a:lnT>
                      <a:noFill/>
                    </a:lnT>
                    <a:lnB>
                      <a:noFill/>
                    </a:lnB>
                  </a:tcPr>
                </a:tc>
                <a:tc>
                  <a:txBody>
                    <a:bodyPr/>
                    <a:lstStyle/>
                    <a:p>
                      <a:pPr algn="just">
                        <a:spcAft>
                          <a:spcPts val="0"/>
                        </a:spcAft>
                      </a:pPr>
                      <a:r>
                        <a:rPr lang="en-GB" sz="2400">
                          <a:solidFill>
                            <a:srgbClr val="000000"/>
                          </a:solidFill>
                          <a:effectLst/>
                          <a:latin typeface="Arial" panose="020B0604020202020204" pitchFamily="34" charset="0"/>
                          <a:ea typeface="Times New Roman" panose="02020603050405020304" pitchFamily="18" charset="0"/>
                        </a:rPr>
                        <a:t>2031</a:t>
                      </a:r>
                      <a:endParaRPr lang="en-IN" sz="240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chemeClr val="tx1"/>
                      </a:solidFill>
                      <a:prstDash val="solid"/>
                      <a:round/>
                      <a:headEnd type="none" w="med" len="med"/>
                      <a:tailEnd type="none" w="med" len="med"/>
                    </a:lnR>
                    <a:lnT>
                      <a:noFill/>
                    </a:lnT>
                    <a:lnB>
                      <a:noFill/>
                    </a:lnB>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2026</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a:noFill/>
                    </a:lnR>
                    <a:lnT>
                      <a:noFill/>
                    </a:lnT>
                    <a:lnB>
                      <a:noFill/>
                    </a:lnB>
                  </a:tcPr>
                </a:tc>
                <a:tc>
                  <a:txBody>
                    <a:bodyPr/>
                    <a:lstStyle/>
                    <a:p>
                      <a:pPr algn="just">
                        <a:spcAft>
                          <a:spcPts val="0"/>
                        </a:spcAft>
                      </a:pPr>
                      <a:r>
                        <a:rPr lang="en-GB" sz="2400">
                          <a:solidFill>
                            <a:srgbClr val="000000"/>
                          </a:solidFill>
                          <a:effectLst/>
                          <a:latin typeface="Arial" panose="020B0604020202020204" pitchFamily="34" charset="0"/>
                          <a:ea typeface="Times New Roman" panose="02020603050405020304" pitchFamily="18" charset="0"/>
                        </a:rPr>
                        <a:t>2031</a:t>
                      </a:r>
                      <a:endParaRPr lang="en-IN" sz="240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4260479481"/>
                  </a:ext>
                </a:extLst>
              </a:tr>
              <a:tr h="456525">
                <a:tc>
                  <a:txBody>
                    <a:bodyPr/>
                    <a:lstStyle/>
                    <a:p>
                      <a:pPr algn="just">
                        <a:spcAft>
                          <a:spcPts val="0"/>
                        </a:spcAft>
                      </a:pPr>
                      <a:r>
                        <a:rPr lang="en-GB" sz="2400" i="1" dirty="0">
                          <a:solidFill>
                            <a:srgbClr val="000000"/>
                          </a:solidFill>
                          <a:effectLst/>
                          <a:latin typeface="Arial" panose="020B0604020202020204" pitchFamily="34" charset="0"/>
                          <a:ea typeface="Times New Roman" panose="02020603050405020304" pitchFamily="18" charset="0"/>
                        </a:rPr>
                        <a:t>India</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a:spcAft>
                          <a:spcPts val="0"/>
                        </a:spcAft>
                      </a:pPr>
                      <a:r>
                        <a:rPr lang="en-GB" sz="2400">
                          <a:solidFill>
                            <a:srgbClr val="000000"/>
                          </a:solidFill>
                          <a:effectLst/>
                          <a:latin typeface="Arial" panose="020B0604020202020204" pitchFamily="34" charset="0"/>
                          <a:ea typeface="Times New Roman" panose="02020603050405020304" pitchFamily="18" charset="0"/>
                        </a:rPr>
                        <a:t>38.8</a:t>
                      </a:r>
                      <a:endParaRPr lang="en-IN" sz="240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rgbClr val="F2F2F2"/>
                    </a:solidFill>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32.6</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just">
                        <a:spcAft>
                          <a:spcPts val="0"/>
                        </a:spcAft>
                      </a:pPr>
                      <a:r>
                        <a:rPr lang="en-GB" sz="2400">
                          <a:solidFill>
                            <a:srgbClr val="000000"/>
                          </a:solidFill>
                          <a:effectLst/>
                          <a:latin typeface="Arial" panose="020B0604020202020204" pitchFamily="34" charset="0"/>
                          <a:ea typeface="Times New Roman" panose="02020603050405020304" pitchFamily="18" charset="0"/>
                        </a:rPr>
                        <a:t>32.6</a:t>
                      </a:r>
                      <a:endParaRPr lang="en-IN" sz="240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chemeClr val="tx1"/>
                      </a:solidFill>
                      <a:prstDash val="solid"/>
                      <a:round/>
                      <a:headEnd type="none" w="med" len="med"/>
                      <a:tailEnd type="none" w="med" len="med"/>
                    </a:lnR>
                    <a:lnT>
                      <a:noFill/>
                    </a:lnT>
                    <a:lnB>
                      <a:noFill/>
                    </a:lnB>
                    <a:solidFill>
                      <a:srgbClr val="F2F2F2"/>
                    </a:solidFill>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33.3</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just">
                        <a:spcAft>
                          <a:spcPts val="0"/>
                        </a:spcAft>
                      </a:pPr>
                      <a:r>
                        <a:rPr lang="en-GB" sz="2400">
                          <a:solidFill>
                            <a:srgbClr val="000000"/>
                          </a:solidFill>
                          <a:effectLst/>
                          <a:latin typeface="Arial" panose="020B0604020202020204" pitchFamily="34" charset="0"/>
                          <a:ea typeface="Times New Roman" panose="02020603050405020304" pitchFamily="18" charset="0"/>
                        </a:rPr>
                        <a:t>33.3</a:t>
                      </a:r>
                      <a:endParaRPr lang="en-IN" sz="240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chemeClr val="tx1"/>
                      </a:solidFill>
                      <a:prstDash val="solid"/>
                      <a:round/>
                      <a:headEnd type="none" w="med" len="med"/>
                      <a:tailEnd type="none" w="med" len="med"/>
                    </a:lnR>
                    <a:lnT>
                      <a:noFill/>
                    </a:lnT>
                    <a:lnB>
                      <a:noFill/>
                    </a:lnB>
                    <a:solidFill>
                      <a:srgbClr val="F2F2F2"/>
                    </a:solidFill>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53.2</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just">
                        <a:spcAft>
                          <a:spcPts val="0"/>
                        </a:spcAft>
                      </a:pPr>
                      <a:r>
                        <a:rPr lang="en-GB" sz="2400">
                          <a:solidFill>
                            <a:srgbClr val="000000"/>
                          </a:solidFill>
                          <a:effectLst/>
                          <a:latin typeface="Arial" panose="020B0604020202020204" pitchFamily="34" charset="0"/>
                          <a:ea typeface="Times New Roman" panose="02020603050405020304" pitchFamily="18" charset="0"/>
                        </a:rPr>
                        <a:t>53.2</a:t>
                      </a:r>
                      <a:endParaRPr lang="en-IN" sz="240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chemeClr val="tx1"/>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16493310"/>
                  </a:ext>
                </a:extLst>
              </a:tr>
              <a:tr h="834787">
                <a:tc>
                  <a:txBody>
                    <a:bodyPr/>
                    <a:lstStyle/>
                    <a:p>
                      <a:pPr algn="just">
                        <a:spcAft>
                          <a:spcPts val="0"/>
                        </a:spcAft>
                      </a:pPr>
                      <a:r>
                        <a:rPr lang="en-GB" sz="2400" i="1" dirty="0">
                          <a:solidFill>
                            <a:srgbClr val="000000"/>
                          </a:solidFill>
                          <a:effectLst/>
                          <a:latin typeface="Arial" panose="020B0604020202020204" pitchFamily="34" charset="0"/>
                          <a:ea typeface="Times New Roman" panose="02020603050405020304" pitchFamily="18" charset="0"/>
                        </a:rPr>
                        <a:t>Karnataka</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1.8</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pPr algn="just">
                        <a:spcAft>
                          <a:spcPts val="0"/>
                        </a:spcAft>
                      </a:pPr>
                      <a:r>
                        <a:rPr lang="en-GB" sz="2400">
                          <a:solidFill>
                            <a:srgbClr val="000000"/>
                          </a:solidFill>
                          <a:effectLst/>
                          <a:latin typeface="Arial" panose="020B0604020202020204" pitchFamily="34" charset="0"/>
                          <a:ea typeface="Times New Roman" panose="02020603050405020304" pitchFamily="18" charset="0"/>
                        </a:rPr>
                        <a:t>1.6</a:t>
                      </a:r>
                      <a:endParaRPr lang="en-IN" sz="240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a:noFill/>
                    </a:lnR>
                    <a:lnT>
                      <a:noFill/>
                    </a:lnT>
                    <a:lnB>
                      <a:noFill/>
                    </a:lnB>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1.6</a:t>
                      </a:r>
                      <a:endParaRPr lang="en-IN" sz="2400" dirty="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chemeClr val="tx1"/>
                      </a:solidFill>
                      <a:prstDash val="solid"/>
                      <a:round/>
                      <a:headEnd type="none" w="med" len="med"/>
                      <a:tailEnd type="none" w="med" len="med"/>
                    </a:lnR>
                    <a:lnT>
                      <a:noFill/>
                    </a:lnT>
                    <a:lnB>
                      <a:noFill/>
                    </a:lnB>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1.5</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a:noFill/>
                    </a:lnR>
                    <a:lnT>
                      <a:noFill/>
                    </a:lnT>
                    <a:lnB>
                      <a:noFill/>
                    </a:lnB>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1.5</a:t>
                      </a:r>
                      <a:endParaRPr lang="en-IN" sz="2400" dirty="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chemeClr val="tx1"/>
                      </a:solidFill>
                      <a:prstDash val="solid"/>
                      <a:round/>
                      <a:headEnd type="none" w="med" len="med"/>
                      <a:tailEnd type="none" w="med" len="med"/>
                    </a:lnR>
                    <a:lnT>
                      <a:noFill/>
                    </a:lnT>
                    <a:lnB>
                      <a:noFill/>
                    </a:lnB>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2.4</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a:noFill/>
                    </a:lnR>
                    <a:lnT>
                      <a:noFill/>
                    </a:lnT>
                    <a:lnB>
                      <a:noFill/>
                    </a:lnB>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2.4</a:t>
                      </a:r>
                      <a:endParaRPr lang="en-IN" sz="2400" dirty="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chemeClr val="tx1"/>
                      </a:solidFill>
                      <a:prstDash val="solid"/>
                      <a:round/>
                      <a:headEnd type="none" w="med" len="med"/>
                      <a:tailEnd type="none" w="med" len="med"/>
                    </a:lnR>
                    <a:lnT>
                      <a:noFill/>
                    </a:lnT>
                    <a:lnB>
                      <a:noFill/>
                    </a:lnB>
                  </a:tcPr>
                </a:tc>
                <a:extLst>
                  <a:ext uri="{0D108BD9-81ED-4DB2-BD59-A6C34878D82A}">
                    <a16:rowId xmlns:a16="http://schemas.microsoft.com/office/drawing/2014/main" val="1752648269"/>
                  </a:ext>
                </a:extLst>
              </a:tr>
              <a:tr h="456525">
                <a:tc>
                  <a:txBody>
                    <a:bodyPr/>
                    <a:lstStyle/>
                    <a:p>
                      <a:pPr algn="just">
                        <a:spcAft>
                          <a:spcPts val="0"/>
                        </a:spcAft>
                      </a:pPr>
                      <a:r>
                        <a:rPr lang="en-GB" sz="2400" i="1" dirty="0">
                          <a:solidFill>
                            <a:srgbClr val="000000"/>
                          </a:solidFill>
                          <a:effectLst/>
                          <a:latin typeface="Arial" panose="020B0604020202020204" pitchFamily="34" charset="0"/>
                          <a:ea typeface="Times New Roman" panose="02020603050405020304" pitchFamily="18" charset="0"/>
                        </a:rPr>
                        <a:t>Bihar</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2.4</a:t>
                      </a:r>
                      <a:endParaRPr lang="en-IN" sz="2400"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just">
                        <a:spcAft>
                          <a:spcPts val="0"/>
                        </a:spcAft>
                      </a:pPr>
                      <a:r>
                        <a:rPr lang="en-GB" sz="2400">
                          <a:solidFill>
                            <a:srgbClr val="000000"/>
                          </a:solidFill>
                          <a:effectLst/>
                          <a:latin typeface="Arial" panose="020B0604020202020204" pitchFamily="34" charset="0"/>
                          <a:ea typeface="Times New Roman" panose="02020603050405020304" pitchFamily="18" charset="0"/>
                        </a:rPr>
                        <a:t>2.1</a:t>
                      </a:r>
                      <a:endParaRPr lang="en-IN" sz="240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just">
                        <a:spcAft>
                          <a:spcPts val="0"/>
                        </a:spcAft>
                      </a:pPr>
                      <a:r>
                        <a:rPr lang="en-GB" sz="2400" dirty="0">
                          <a:solidFill>
                            <a:srgbClr val="000000"/>
                          </a:solidFill>
                          <a:effectLst/>
                          <a:latin typeface="Arial" panose="020B0604020202020204" pitchFamily="34" charset="0"/>
                          <a:ea typeface="Times New Roman" panose="02020603050405020304" pitchFamily="18" charset="0"/>
                        </a:rPr>
                        <a:t>1.9</a:t>
                      </a:r>
                      <a:endParaRPr lang="en-IN" sz="2400" dirty="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just">
                        <a:spcAft>
                          <a:spcPts val="0"/>
                        </a:spcAft>
                      </a:pPr>
                      <a:r>
                        <a:rPr lang="en-GB" sz="2400" b="1" dirty="0">
                          <a:solidFill>
                            <a:srgbClr val="000000"/>
                          </a:solidFill>
                          <a:effectLst/>
                          <a:latin typeface="Arial" panose="020B0604020202020204" pitchFamily="34" charset="0"/>
                          <a:ea typeface="Times New Roman" panose="02020603050405020304" pitchFamily="18" charset="0"/>
                        </a:rPr>
                        <a:t>3.8</a:t>
                      </a:r>
                      <a:endParaRPr lang="en-IN" sz="2400" b="1"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just">
                        <a:spcAft>
                          <a:spcPts val="0"/>
                        </a:spcAft>
                      </a:pPr>
                      <a:r>
                        <a:rPr lang="en-GB" sz="2400" b="1" dirty="0">
                          <a:solidFill>
                            <a:srgbClr val="000000"/>
                          </a:solidFill>
                          <a:effectLst/>
                          <a:latin typeface="Arial" panose="020B0604020202020204" pitchFamily="34" charset="0"/>
                          <a:ea typeface="Times New Roman" panose="02020603050405020304" pitchFamily="18" charset="0"/>
                        </a:rPr>
                        <a:t>3.3</a:t>
                      </a:r>
                      <a:endParaRPr lang="en-IN" sz="2400" b="1" dirty="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just">
                        <a:spcAft>
                          <a:spcPts val="0"/>
                        </a:spcAft>
                      </a:pPr>
                      <a:r>
                        <a:rPr lang="en-GB" sz="2400" b="1" dirty="0">
                          <a:solidFill>
                            <a:srgbClr val="000000"/>
                          </a:solidFill>
                          <a:effectLst/>
                          <a:latin typeface="Arial" panose="020B0604020202020204" pitchFamily="34" charset="0"/>
                          <a:ea typeface="Times New Roman" panose="02020603050405020304" pitchFamily="18" charset="0"/>
                        </a:rPr>
                        <a:t>6.0</a:t>
                      </a:r>
                      <a:endParaRPr lang="en-IN" sz="2400" b="1" dirty="0">
                        <a:effectLst/>
                        <a:latin typeface="Times New Roman" panose="02020603050405020304" pitchFamily="18" charset="0"/>
                        <a:ea typeface="Calibri" panose="020F0502020204030204" pitchFamily="34" charset="0"/>
                      </a:endParaRPr>
                    </a:p>
                  </a:txBody>
                  <a:tcPr marL="68580" marR="68580" marT="0" marB="0">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just">
                        <a:spcAft>
                          <a:spcPts val="0"/>
                        </a:spcAft>
                      </a:pPr>
                      <a:r>
                        <a:rPr lang="en-GB" sz="2400" b="1" dirty="0">
                          <a:solidFill>
                            <a:srgbClr val="000000"/>
                          </a:solidFill>
                          <a:effectLst/>
                          <a:latin typeface="Arial" panose="020B0604020202020204" pitchFamily="34" charset="0"/>
                          <a:ea typeface="Times New Roman" panose="02020603050405020304" pitchFamily="18" charset="0"/>
                        </a:rPr>
                        <a:t>5.3</a:t>
                      </a:r>
                      <a:endParaRPr lang="en-IN" sz="2400" b="1" dirty="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422107475"/>
                  </a:ext>
                </a:extLst>
              </a:tr>
              <a:tr h="456525">
                <a:tc gridSpan="8">
                  <a:txBody>
                    <a:bodyPr/>
                    <a:lstStyle/>
                    <a:p>
                      <a:pPr algn="just">
                        <a:spcAft>
                          <a:spcPts val="0"/>
                        </a:spcAft>
                      </a:pPr>
                      <a:r>
                        <a:rPr lang="en-GB" sz="2400" b="1" i="1" dirty="0">
                          <a:solidFill>
                            <a:srgbClr val="000000"/>
                          </a:solidFill>
                          <a:effectLst/>
                          <a:latin typeface="Arial" panose="020B0604020202020204" pitchFamily="34" charset="0"/>
                          <a:ea typeface="Times New Roman" panose="02020603050405020304" pitchFamily="18" charset="0"/>
                        </a:rPr>
                        <a:t>Source</a:t>
                      </a:r>
                      <a:r>
                        <a:rPr lang="en-GB" sz="2400" i="1" dirty="0">
                          <a:solidFill>
                            <a:srgbClr val="000000"/>
                          </a:solidFill>
                          <a:effectLst/>
                          <a:latin typeface="Arial" panose="020B0604020202020204" pitchFamily="34" charset="0"/>
                          <a:ea typeface="Times New Roman" panose="02020603050405020304" pitchFamily="18" charset="0"/>
                        </a:rPr>
                        <a:t>: 2016 data from AISHE-2016</a:t>
                      </a:r>
                      <a:endParaRPr lang="en-IN" sz="2400" dirty="0">
                        <a:effectLst/>
                        <a:latin typeface="Times New Roman" panose="02020603050405020304" pitchFamily="18" charset="0"/>
                        <a:ea typeface="Calibri" panose="020F0502020204030204" pitchFamily="34" charset="0"/>
                      </a:endParaRPr>
                    </a:p>
                  </a:txBody>
                  <a:tcPr marL="68580" marR="68580" marT="0" marB="0">
                    <a:lnL>
                      <a:noFill/>
                    </a:lnL>
                    <a:lnR w="12700" cap="flat" cmpd="sng" algn="ctr">
                      <a:solidFill>
                        <a:srgbClr val="7F7F7F"/>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06566372"/>
                  </a:ext>
                </a:extLst>
              </a:tr>
            </a:tbl>
          </a:graphicData>
        </a:graphic>
      </p:graphicFrame>
    </p:spTree>
    <p:extLst>
      <p:ext uri="{BB962C8B-B14F-4D97-AF65-F5344CB8AC3E}">
        <p14:creationId xmlns:p14="http://schemas.microsoft.com/office/powerpoint/2010/main" val="16724533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Integral</Template>
  <TotalTime>9069</TotalTime>
  <Words>2508</Words>
  <Application>Microsoft Office PowerPoint</Application>
  <PresentationFormat>Widescreen</PresentationFormat>
  <Paragraphs>358</Paragraphs>
  <Slides>41</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41</vt:i4>
      </vt:variant>
    </vt:vector>
  </HeadingPairs>
  <TitlesOfParts>
    <vt:vector size="53" baseType="lpstr">
      <vt:lpstr>Arial</vt:lpstr>
      <vt:lpstr>Calibri</vt:lpstr>
      <vt:lpstr>Courier New</vt:lpstr>
      <vt:lpstr>Helvetica</vt:lpstr>
      <vt:lpstr>Lora</vt:lpstr>
      <vt:lpstr>PT Serif script=all rev=5</vt:lpstr>
      <vt:lpstr>Symbol</vt:lpstr>
      <vt:lpstr>Times New Roman</vt:lpstr>
      <vt:lpstr>Tw Cen MT</vt:lpstr>
      <vt:lpstr>Tw Cen MT Condensed</vt:lpstr>
      <vt:lpstr>Wingdings 3</vt:lpstr>
      <vt:lpstr>Integral</vt:lpstr>
      <vt:lpstr>PUBP309: EDUCATION POLICY </vt:lpstr>
      <vt:lpstr>Brief history-RECAP</vt:lpstr>
      <vt:lpstr>PowerPoint Presentation</vt:lpstr>
      <vt:lpstr>Establishment of Universities</vt:lpstr>
      <vt:lpstr>Affiliated colleges</vt:lpstr>
      <vt:lpstr>Indian University Act 1904</vt:lpstr>
      <vt:lpstr>Calcutta University Commission 1917-19</vt:lpstr>
      <vt:lpstr>Creation of New Universities 1917-22</vt:lpstr>
      <vt:lpstr>Sargent plan </vt:lpstr>
      <vt:lpstr>Implementation of Sargent Plan Recommendation</vt:lpstr>
      <vt:lpstr>Post Independent INDIA</vt:lpstr>
      <vt:lpstr>State of HIGHER Education at India’s Independence</vt:lpstr>
      <vt:lpstr>PowerPoint Presentation</vt:lpstr>
      <vt:lpstr>PowerPoint Presentation</vt:lpstr>
      <vt:lpstr>Education in post indpendent india (Union level)</vt:lpstr>
      <vt:lpstr>Categories of Institutions on Higher Learning</vt:lpstr>
      <vt:lpstr>AISHE recent data </vt:lpstr>
      <vt:lpstr>India’s Higher Education in Numbers</vt:lpstr>
      <vt:lpstr>Higher education: Universities </vt:lpstr>
      <vt:lpstr>PowerPoint Presentation</vt:lpstr>
      <vt:lpstr>PowerPoint Presentation</vt:lpstr>
      <vt:lpstr>PowerPoint Presentation</vt:lpstr>
      <vt:lpstr>PowerPoint Presentation</vt:lpstr>
      <vt:lpstr>PowerPoint Presentation</vt:lpstr>
      <vt:lpstr>Projecting higher education scenario</vt:lpstr>
      <vt:lpstr>PowerPoint Presentation</vt:lpstr>
      <vt:lpstr>PowerPoint Presentation</vt:lpstr>
      <vt:lpstr>PowerPoint Presentation</vt:lpstr>
      <vt:lpstr>TOTAL FERTILITY RATE</vt:lpstr>
      <vt:lpstr>forecasting the young population- INDIA</vt:lpstr>
      <vt:lpstr>BIHAR POPULATION</vt:lpstr>
      <vt:lpstr>TAMIL NADU</vt:lpstr>
      <vt:lpstr>BIHAR and TAMILNADU: Age GROUPS</vt:lpstr>
      <vt:lpstr>18-23 years: Education and labor force</vt:lpstr>
      <vt:lpstr>PowerPoint Presentation</vt:lpstr>
      <vt:lpstr>Gross Enrollment RATIO in HIGHER ED- across states</vt:lpstr>
      <vt:lpstr>TOTAL FERTILITY RATE</vt:lpstr>
      <vt:lpstr>forecasting the young population- INDIA</vt:lpstr>
      <vt:lpstr>BIHAR POPULATION</vt:lpstr>
      <vt:lpstr>ACCESS and TYPE OF HIGHER EDUCATION</vt:lpstr>
      <vt:lpstr>Current and projected enrolment rate in Bihar and Karnataka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PUBP309: EDUCATION POLICY</dc:title>
  <dc:creator>9188</dc:creator>
  <cp:lastModifiedBy>Shivakumar Jolad</cp:lastModifiedBy>
  <cp:revision>31</cp:revision>
  <dcterms:created xsi:type="dcterms:W3CDTF">2022-02-10T11:08:57Z</dcterms:created>
  <dcterms:modified xsi:type="dcterms:W3CDTF">2026-07-03T06:46:05Z</dcterms:modified>
</cp:coreProperties>
</file>