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0"/>
  </p:notesMasterIdLst>
  <p:sldIdLst>
    <p:sldId id="256" r:id="rId2"/>
    <p:sldId id="438" r:id="rId3"/>
    <p:sldId id="440" r:id="rId4"/>
    <p:sldId id="437" r:id="rId5"/>
    <p:sldId id="420" r:id="rId6"/>
    <p:sldId id="377" r:id="rId7"/>
    <p:sldId id="384" r:id="rId8"/>
    <p:sldId id="388" r:id="rId9"/>
    <p:sldId id="389" r:id="rId10"/>
    <p:sldId id="421" r:id="rId11"/>
    <p:sldId id="257" r:id="rId12"/>
    <p:sldId id="258" r:id="rId13"/>
    <p:sldId id="259" r:id="rId14"/>
    <p:sldId id="260" r:id="rId15"/>
    <p:sldId id="261" r:id="rId16"/>
    <p:sldId id="262" r:id="rId17"/>
    <p:sldId id="263" r:id="rId18"/>
    <p:sldId id="264" r:id="rId19"/>
    <p:sldId id="266" r:id="rId20"/>
    <p:sldId id="265"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422" r:id="rId35"/>
    <p:sldId id="423" r:id="rId36"/>
    <p:sldId id="424"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0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98" autoAdjust="0"/>
    <p:restoredTop sz="81762"/>
  </p:normalViewPr>
  <p:slideViewPr>
    <p:cSldViewPr snapToGrid="0">
      <p:cViewPr varScale="1">
        <p:scale>
          <a:sx n="73" d="100"/>
          <a:sy n="73" d="100"/>
        </p:scale>
        <p:origin x="1176"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454562-7E81-7C4E-92D2-5688A7C8397C}"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05C90-1CE8-BF41-8E55-5EDD54F24EA9}" type="slidenum">
              <a:rPr lang="en-US" smtClean="0"/>
              <a:t>‹#›</a:t>
            </a:fld>
            <a:endParaRPr lang="en-US"/>
          </a:p>
        </p:txBody>
      </p:sp>
    </p:spTree>
    <p:extLst>
      <p:ext uri="{BB962C8B-B14F-4D97-AF65-F5344CB8AC3E}">
        <p14:creationId xmlns:p14="http://schemas.microsoft.com/office/powerpoint/2010/main" val="175348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 K-12 child at the centre. Home, peers, teachers, community and the surrounding social structure all act on whether and how they learn.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and the school system is a multi-layered socio-institutional whole: governance, finance, social structure and community all nest together. No single reform operates in isolation.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9</a:t>
            </a:fld>
            <a:endParaRPr lang="en-US"/>
          </a:p>
        </p:txBody>
      </p:sp>
    </p:spTree>
    <p:extLst>
      <p:ext uri="{BB962C8B-B14F-4D97-AF65-F5344CB8AC3E}">
        <p14:creationId xmlns:p14="http://schemas.microsoft.com/office/powerpoint/2010/main" val="3277911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44245DA-3A76-3143-8523-D9A2A93DB44D}"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742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A3026F7-67CD-F543-8B15-73E61A560F1C}"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2150120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95F684C-2EF0-E34A-A7F5-22B4CD53DCC5}"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222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E146B5D-2A27-4A43-B48C-047912944B7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3343348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A7BEE5-9369-0F45-A964-0F192E77D9DC}" type="datetime1">
              <a:rPr lang="en-IN" smtClean="0"/>
              <a:t>03-07-2026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366031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4816F48-C5A2-8149-B3B1-A3E341CF0FA4}" type="datetime1">
              <a:rPr lang="en-IN" smtClean="0"/>
              <a:t>03-07-2026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936421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58C16-CE53-7840-9650-C0D880F933FE}" type="datetime1">
              <a:rPr lang="en-IN" smtClean="0"/>
              <a:t>03-07-2026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236186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3349253-D29A-E447-9AD1-9767E738CFB1}"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651479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4F8A5D8-61A5-4C47-A134-232010EFB26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83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A54DEBF-8463-7D4F-9AD3-55A5D8886D8A}"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471175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5437625-6131-A94D-8A42-0230E1DEB5EF}"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739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31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AC7BF71-686A-B04E-A049-BE68181557DA}" type="datetime1">
              <a:rPr lang="en-IN" smtClean="0"/>
              <a:t>03-07-2026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EC99F6A-E93D-4C9C-AA2B-FA96051C5F3E}"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04747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575" y="3954660"/>
            <a:ext cx="9966960" cy="2903340"/>
          </a:xfrm>
        </p:spPr>
        <p:txBody>
          <a:bodyPr/>
          <a:lstStyle/>
          <a:p>
            <a:pPr algn="ctr"/>
            <a:r>
              <a:rPr lang="en-US" sz="4400" dirty="0"/>
              <a:t>PUBP309: EDUCATION POLICY</a:t>
            </a:r>
            <a:br>
              <a:rPr lang="en-US" sz="4400" dirty="0"/>
            </a:br>
            <a:endParaRPr lang="en-US" sz="4400" dirty="0"/>
          </a:p>
        </p:txBody>
      </p:sp>
      <p:sp>
        <p:nvSpPr>
          <p:cNvPr id="3" name="Subtitle 2"/>
          <p:cNvSpPr>
            <a:spLocks noGrp="1"/>
          </p:cNvSpPr>
          <p:nvPr>
            <p:ph type="subTitle" idx="1"/>
          </p:nvPr>
        </p:nvSpPr>
        <p:spPr>
          <a:xfrm>
            <a:off x="7450111" y="5030551"/>
            <a:ext cx="4443598" cy="1069848"/>
          </a:xfrm>
        </p:spPr>
        <p:txBody>
          <a:bodyPr/>
          <a:lstStyle/>
          <a:p>
            <a:pPr algn="ctr"/>
            <a:r>
              <a:rPr lang="en-US" dirty="0"/>
              <a:t>Shivakumar Jolad</a:t>
            </a:r>
          </a:p>
          <a:p>
            <a:pPr algn="ctr"/>
            <a:r>
              <a:rPr lang="en-US" dirty="0"/>
              <a:t>FLAME University</a:t>
            </a:r>
          </a:p>
        </p:txBody>
      </p:sp>
      <p:sp>
        <p:nvSpPr>
          <p:cNvPr id="6" name="Slide Number Placeholder 5">
            <a:extLst>
              <a:ext uri="{FF2B5EF4-FFF2-40B4-BE49-F238E27FC236}">
                <a16:creationId xmlns:a16="http://schemas.microsoft.com/office/drawing/2014/main" id="{8D1E6D7E-851E-854F-AC8A-C99D45C2FA51}"/>
              </a:ext>
            </a:extLst>
          </p:cNvPr>
          <p:cNvSpPr>
            <a:spLocks noGrp="1"/>
          </p:cNvSpPr>
          <p:nvPr>
            <p:ph type="sldNum" sz="quarter" idx="12"/>
          </p:nvPr>
        </p:nvSpPr>
        <p:spPr/>
        <p:txBody>
          <a:bodyPr/>
          <a:lstStyle/>
          <a:p>
            <a:fld id="{AEC99F6A-E93D-4C9C-AA2B-FA96051C5F3E}" type="slidenum">
              <a:rPr lang="en-US" smtClean="0"/>
              <a:t>1</a:t>
            </a:fld>
            <a:endParaRPr lang="en-US"/>
          </a:p>
        </p:txBody>
      </p:sp>
      <p:sp>
        <p:nvSpPr>
          <p:cNvPr id="5" name="TextBox 4"/>
          <p:cNvSpPr txBox="1"/>
          <p:nvPr/>
        </p:nvSpPr>
        <p:spPr>
          <a:xfrm>
            <a:off x="2174465" y="5565475"/>
            <a:ext cx="6228693" cy="461665"/>
          </a:xfrm>
          <a:prstGeom prst="rect">
            <a:avLst/>
          </a:prstGeom>
          <a:noFill/>
        </p:spPr>
        <p:txBody>
          <a:bodyPr wrap="none" rtlCol="0">
            <a:spAutoFit/>
          </a:bodyPr>
          <a:lstStyle/>
          <a:p>
            <a:r>
              <a:rPr lang="en-US" sz="2400" b="1" dirty="0">
                <a:solidFill>
                  <a:srgbClr val="0070C0"/>
                </a:solidFill>
              </a:rPr>
              <a:t>Learning Level Crisis: Debates and Perspectives</a:t>
            </a:r>
          </a:p>
        </p:txBody>
      </p:sp>
    </p:spTree>
    <p:extLst>
      <p:ext uri="{BB962C8B-B14F-4D97-AF65-F5344CB8AC3E}">
        <p14:creationId xmlns:p14="http://schemas.microsoft.com/office/powerpoint/2010/main" val="1218674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02063" y="321038"/>
            <a:ext cx="4084791" cy="177800"/>
          </a:xfrm>
          <a:prstGeom prst="rect">
            <a:avLst/>
          </a:prstGeom>
          <a:noFill/>
          <a:ln/>
        </p:spPr>
        <p:txBody>
          <a:bodyPr wrap="square" lIns="16933" tIns="16933" rIns="16933" bIns="16933" rtlCol="0" anchor="t">
            <a:normAutofit fontScale="92500" lnSpcReduction="20000"/>
          </a:bodyPr>
          <a:lstStyle/>
          <a:p>
            <a:r>
              <a:rPr lang="en-US" sz="1200" kern="0" spc="240" dirty="0">
                <a:solidFill>
                  <a:srgbClr val="B5482E"/>
                </a:solidFill>
                <a:latin typeface="Courier New" pitchFamily="34" charset="0"/>
                <a:ea typeface="Courier New" pitchFamily="34" charset="-122"/>
                <a:cs typeface="Courier New" pitchFamily="34" charset="-120"/>
              </a:rPr>
              <a:t>DETERMINANTS OF LEARNING</a:t>
            </a:r>
            <a:endParaRPr lang="en-US" sz="1200" dirty="0"/>
          </a:p>
        </p:txBody>
      </p:sp>
      <p:sp>
        <p:nvSpPr>
          <p:cNvPr id="3" name="Text 1"/>
          <p:cNvSpPr/>
          <p:nvPr/>
        </p:nvSpPr>
        <p:spPr>
          <a:xfrm>
            <a:off x="1302063" y="927100"/>
            <a:ext cx="3824849" cy="854869"/>
          </a:xfrm>
          <a:prstGeom prst="rect">
            <a:avLst/>
          </a:prstGeom>
          <a:noFill/>
          <a:ln/>
        </p:spPr>
        <p:txBody>
          <a:bodyPr wrap="square" lIns="16933" tIns="16933" rIns="16933" bIns="16933" rtlCol="0" anchor="t">
            <a:normAutofit fontScale="92500" lnSpcReduction="10000"/>
          </a:bodyPr>
          <a:lstStyle/>
          <a:p>
            <a:pPr>
              <a:lnSpc>
                <a:spcPct val="106000"/>
              </a:lnSpc>
            </a:pPr>
            <a:r>
              <a:rPr lang="en-US" sz="3000" kern="0" spc="-30" dirty="0">
                <a:solidFill>
                  <a:srgbClr val="221F1A"/>
                </a:solidFill>
                <a:latin typeface="Georgia" pitchFamily="34" charset="0"/>
                <a:ea typeface="Georgia" pitchFamily="34" charset="-122"/>
                <a:cs typeface="Georgia" pitchFamily="34" charset="-120"/>
              </a:rPr>
              <a:t>Who shapes a school </a:t>
            </a:r>
            <a:r>
              <a:rPr lang="en-US" sz="3000" i="1" kern="0" spc="-30" dirty="0">
                <a:solidFill>
                  <a:srgbClr val="B5482E"/>
                </a:solidFill>
                <a:latin typeface="Georgia" pitchFamily="34" charset="0"/>
                <a:ea typeface="Georgia" pitchFamily="34" charset="-122"/>
                <a:cs typeface="Georgia" pitchFamily="34" charset="-120"/>
              </a:rPr>
              <a:t>learner?</a:t>
            </a:r>
            <a:endParaRPr lang="en-US" sz="3000" dirty="0"/>
          </a:p>
        </p:txBody>
      </p:sp>
      <p:sp>
        <p:nvSpPr>
          <p:cNvPr id="4" name="Shape 2"/>
          <p:cNvSpPr/>
          <p:nvPr/>
        </p:nvSpPr>
        <p:spPr>
          <a:xfrm>
            <a:off x="635000" y="1781969"/>
            <a:ext cx="406400" cy="12700"/>
          </a:xfrm>
          <a:prstGeom prst="rect">
            <a:avLst/>
          </a:prstGeom>
          <a:solidFill>
            <a:srgbClr val="B5482E"/>
          </a:solidFill>
          <a:ln/>
        </p:spPr>
        <p:txBody>
          <a:bodyPr/>
          <a:lstStyle/>
          <a:p>
            <a:endParaRPr lang="en-IN" sz="1200"/>
          </a:p>
        </p:txBody>
      </p:sp>
      <p:sp>
        <p:nvSpPr>
          <p:cNvPr id="5" name="Text 3"/>
          <p:cNvSpPr/>
          <p:nvPr/>
        </p:nvSpPr>
        <p:spPr>
          <a:xfrm>
            <a:off x="634999" y="2784345"/>
            <a:ext cx="3824849" cy="1054100"/>
          </a:xfrm>
          <a:prstGeom prst="rect">
            <a:avLst/>
          </a:prstGeom>
          <a:noFill/>
          <a:ln/>
        </p:spPr>
        <p:txBody>
          <a:bodyPr wrap="square" lIns="16933" tIns="16933" rIns="16933" bIns="16933" rtlCol="0" anchor="t">
            <a:normAutofit/>
          </a:bodyPr>
          <a:lstStyle/>
          <a:p>
            <a:pPr>
              <a:lnSpc>
                <a:spcPct val="150000"/>
              </a:lnSpc>
            </a:pPr>
            <a:r>
              <a:rPr lang="en-US" sz="1350" dirty="0">
                <a:solidFill>
                  <a:srgbClr val="3F3A32"/>
                </a:solidFill>
                <a:latin typeface="Georgia" pitchFamily="34" charset="0"/>
                <a:ea typeface="Georgia" pitchFamily="34" charset="-122"/>
                <a:cs typeface="Georgia" pitchFamily="34" charset="-120"/>
              </a:rPr>
              <a:t>A K–12 child sits inside widening circles — home and siblings, peers, teachers, community, and the social structure of caste, gender and religion.</a:t>
            </a:r>
            <a:endParaRPr lang="en-US" sz="1350" dirty="0"/>
          </a:p>
        </p:txBody>
      </p:sp>
      <p:sp>
        <p:nvSpPr>
          <p:cNvPr id="6" name="Text 4"/>
          <p:cNvSpPr/>
          <p:nvPr/>
        </p:nvSpPr>
        <p:spPr>
          <a:xfrm>
            <a:off x="635000" y="6123952"/>
            <a:ext cx="4084791" cy="238749"/>
          </a:xfrm>
          <a:prstGeom prst="rect">
            <a:avLst/>
          </a:prstGeom>
          <a:noFill/>
          <a:ln/>
        </p:spPr>
        <p:txBody>
          <a:bodyPr wrap="square" lIns="16933" tIns="16933" rIns="16933" bIns="16933" rtlCol="0" anchor="t">
            <a:normAutofit fontScale="92500" lnSpcReduction="10000"/>
          </a:bodyPr>
          <a:lstStyle/>
          <a:p>
            <a:pPr>
              <a:lnSpc>
                <a:spcPct val="140000"/>
              </a:lnSpc>
            </a:pPr>
            <a:r>
              <a:rPr lang="en-US" sz="1200" i="1" dirty="0">
                <a:solidFill>
                  <a:srgbClr val="857D70"/>
                </a:solidFill>
                <a:latin typeface="Georgia" pitchFamily="34" charset="0"/>
                <a:ea typeface="Georgia" pitchFamily="34" charset="-122"/>
                <a:cs typeface="Georgia" pitchFamily="34" charset="-120"/>
              </a:rPr>
              <a:t>Proximate → distant determinants</a:t>
            </a:r>
            <a:endParaRPr lang="en-US" sz="1200" dirty="0"/>
          </a:p>
        </p:txBody>
      </p:sp>
      <p:sp>
        <p:nvSpPr>
          <p:cNvPr id="7" name="Shape 5"/>
          <p:cNvSpPr/>
          <p:nvPr/>
        </p:nvSpPr>
        <p:spPr>
          <a:xfrm>
            <a:off x="4754846" y="520700"/>
            <a:ext cx="6802155" cy="5816601"/>
          </a:xfrm>
          <a:prstGeom prst="rect">
            <a:avLst/>
          </a:prstGeom>
          <a:solidFill>
            <a:srgbClr val="FBF9F4"/>
          </a:solidFill>
          <a:ln w="5443">
            <a:solidFill>
              <a:srgbClr val="221F1A">
                <a:alpha val="20000"/>
              </a:srgbClr>
            </a:solidFill>
            <a:prstDash val="solid"/>
          </a:ln>
          <a:effectLst>
            <a:outerShdw blurRad="476250" dist="228600" dir="5400000" algn="bl" rotWithShape="0">
              <a:srgbClr val="221F1A">
                <a:alpha val="12000"/>
              </a:srgbClr>
            </a:outerShdw>
          </a:effectLst>
        </p:spPr>
        <p:txBody>
          <a:bodyPr/>
          <a:lstStyle/>
          <a:p>
            <a:endParaRPr lang="en-IN" sz="1200"/>
          </a:p>
        </p:txBody>
      </p:sp>
      <p:pic>
        <p:nvPicPr>
          <p:cNvPr id="8" name="Image 0" descr="preencoded.png"/>
          <p:cNvPicPr>
            <a:picLocks noChangeAspect="1"/>
          </p:cNvPicPr>
          <p:nvPr/>
        </p:nvPicPr>
        <p:blipFill>
          <a:blip r:embed="rId3"/>
          <a:srcRect t="-21777" b="-21777"/>
          <a:stretch/>
        </p:blipFill>
        <p:spPr>
          <a:xfrm>
            <a:off x="4910875" y="676729"/>
            <a:ext cx="6490097" cy="5504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44500"/>
            <a:ext cx="6163951" cy="177800"/>
          </a:xfrm>
          <a:prstGeom prst="rect">
            <a:avLst/>
          </a:prstGeom>
          <a:noFill/>
          <a:ln/>
        </p:spPr>
        <p:txBody>
          <a:bodyPr wrap="square" lIns="16933" tIns="16933" rIns="16933" bIns="16933" rtlCol="0" anchor="t">
            <a:normAutofit fontScale="92500" lnSpcReduction="20000"/>
          </a:bodyPr>
          <a:lstStyle/>
          <a:p>
            <a:r>
              <a:rPr lang="en-US" sz="1200" kern="0" spc="240" dirty="0">
                <a:solidFill>
                  <a:srgbClr val="B5482E"/>
                </a:solidFill>
                <a:latin typeface="Courier New" pitchFamily="34" charset="0"/>
                <a:ea typeface="Courier New" pitchFamily="34" charset="-122"/>
                <a:cs typeface="Courier New" pitchFamily="34" charset="-120"/>
              </a:rPr>
              <a:t>A MULTI-LAYERED SYSTEM</a:t>
            </a:r>
            <a:endParaRPr lang="en-US" sz="1200" dirty="0"/>
          </a:p>
        </p:txBody>
      </p:sp>
      <p:sp>
        <p:nvSpPr>
          <p:cNvPr id="3" name="Text 1"/>
          <p:cNvSpPr/>
          <p:nvPr/>
        </p:nvSpPr>
        <p:spPr>
          <a:xfrm>
            <a:off x="609600" y="685800"/>
            <a:ext cx="6163951" cy="408385"/>
          </a:xfrm>
          <a:prstGeom prst="rect">
            <a:avLst/>
          </a:prstGeom>
          <a:noFill/>
          <a:ln/>
        </p:spPr>
        <p:txBody>
          <a:bodyPr wrap="square" lIns="16933" tIns="16933" rIns="16933" bIns="16933" rtlCol="0" anchor="t">
            <a:normAutofit fontScale="92500" lnSpcReduction="20000"/>
          </a:bodyPr>
          <a:lstStyle/>
          <a:p>
            <a:pPr>
              <a:lnSpc>
                <a:spcPct val="104000"/>
              </a:lnSpc>
            </a:pPr>
            <a:r>
              <a:rPr lang="en-US" sz="2900" kern="0" spc="-29" dirty="0">
                <a:solidFill>
                  <a:srgbClr val="221F1A"/>
                </a:solidFill>
                <a:latin typeface="Georgia" pitchFamily="34" charset="0"/>
                <a:ea typeface="Georgia" pitchFamily="34" charset="-122"/>
                <a:cs typeface="Georgia" pitchFamily="34" charset="-120"/>
              </a:rPr>
              <a:t>The complexity of school education</a:t>
            </a:r>
            <a:endParaRPr lang="en-US" sz="2900" dirty="0"/>
          </a:p>
        </p:txBody>
      </p:sp>
      <p:sp>
        <p:nvSpPr>
          <p:cNvPr id="4" name="Text 2"/>
          <p:cNvSpPr/>
          <p:nvPr/>
        </p:nvSpPr>
        <p:spPr>
          <a:xfrm>
            <a:off x="7919720" y="606596"/>
            <a:ext cx="3662680" cy="487589"/>
          </a:xfrm>
          <a:prstGeom prst="rect">
            <a:avLst/>
          </a:prstGeom>
          <a:noFill/>
          <a:ln/>
        </p:spPr>
        <p:txBody>
          <a:bodyPr wrap="square" lIns="16933" tIns="16933" rIns="16933" bIns="16933" rtlCol="0" anchor="t">
            <a:normAutofit fontScale="92500" lnSpcReduction="20000"/>
          </a:bodyPr>
          <a:lstStyle/>
          <a:p>
            <a:pPr algn="r">
              <a:lnSpc>
                <a:spcPct val="140000"/>
              </a:lnSpc>
            </a:pPr>
            <a:r>
              <a:rPr lang="en-US" sz="1300" i="1" dirty="0">
                <a:solidFill>
                  <a:srgbClr val="3F3A32"/>
                </a:solidFill>
                <a:latin typeface="Georgia" pitchFamily="34" charset="0"/>
                <a:ea typeface="Georgia" pitchFamily="34" charset="-122"/>
                <a:cs typeface="Georgia" pitchFamily="34" charset="-120"/>
              </a:rPr>
              <a:t>Non-linear, multi-scalar, deeply social &amp; political — no single reform works alone.</a:t>
            </a:r>
            <a:endParaRPr lang="en-US" sz="1300" dirty="0"/>
          </a:p>
        </p:txBody>
      </p:sp>
      <p:sp>
        <p:nvSpPr>
          <p:cNvPr id="5" name="Shape 3"/>
          <p:cNvSpPr/>
          <p:nvPr/>
        </p:nvSpPr>
        <p:spPr>
          <a:xfrm>
            <a:off x="609600" y="1259285"/>
            <a:ext cx="10972801" cy="5192316"/>
          </a:xfrm>
          <a:prstGeom prst="rect">
            <a:avLst/>
          </a:prstGeom>
          <a:solidFill>
            <a:srgbClr val="FBF9F4"/>
          </a:solidFill>
          <a:ln w="5443">
            <a:solidFill>
              <a:srgbClr val="221F1A">
                <a:alpha val="20000"/>
              </a:srgbClr>
            </a:solidFill>
            <a:prstDash val="solid"/>
          </a:ln>
          <a:effectLst>
            <a:outerShdw blurRad="476250" dist="228600" dir="5400000" algn="bl" rotWithShape="0">
              <a:srgbClr val="221F1A">
                <a:alpha val="12000"/>
              </a:srgbClr>
            </a:outerShdw>
          </a:effectLst>
        </p:spPr>
        <p:txBody>
          <a:bodyPr/>
          <a:lstStyle/>
          <a:p>
            <a:endParaRPr lang="en-IN" sz="1200"/>
          </a:p>
        </p:txBody>
      </p:sp>
      <p:pic>
        <p:nvPicPr>
          <p:cNvPr id="6" name="Image 0" descr="preencoded.png"/>
          <p:cNvPicPr>
            <a:picLocks noChangeAspect="1"/>
          </p:cNvPicPr>
          <p:nvPr/>
        </p:nvPicPr>
        <p:blipFill>
          <a:blip r:embed="rId3"/>
          <a:srcRect l="-9457" r="-9457"/>
          <a:stretch/>
        </p:blipFill>
        <p:spPr>
          <a:xfrm>
            <a:off x="752929" y="1402613"/>
            <a:ext cx="10686143" cy="49056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DF5C62-0396-97EB-912F-00EBE9635486}"/>
              </a:ext>
            </a:extLst>
          </p:cNvPr>
          <p:cNvSpPr>
            <a:spLocks noGrp="1"/>
          </p:cNvSpPr>
          <p:nvPr>
            <p:ph type="sldNum" sz="quarter" idx="12"/>
          </p:nvPr>
        </p:nvSpPr>
        <p:spPr/>
        <p:txBody>
          <a:bodyPr/>
          <a:lstStyle/>
          <a:p>
            <a:fld id="{AEC99F6A-E93D-4C9C-AA2B-FA96051C5F3E}" type="slidenum">
              <a:rPr lang="en-US" smtClean="0"/>
              <a:t>4</a:t>
            </a:fld>
            <a:endParaRPr lang="en-US"/>
          </a:p>
        </p:txBody>
      </p:sp>
      <p:pic>
        <p:nvPicPr>
          <p:cNvPr id="6" name="Picture 5">
            <a:extLst>
              <a:ext uri="{FF2B5EF4-FFF2-40B4-BE49-F238E27FC236}">
                <a16:creationId xmlns:a16="http://schemas.microsoft.com/office/drawing/2014/main" id="{2A1D05AC-F2B2-2ED7-2638-17161DB13549}"/>
              </a:ext>
            </a:extLst>
          </p:cNvPr>
          <p:cNvPicPr>
            <a:picLocks noChangeAspect="1"/>
          </p:cNvPicPr>
          <p:nvPr/>
        </p:nvPicPr>
        <p:blipFill>
          <a:blip r:embed="rId2"/>
          <a:stretch>
            <a:fillRect/>
          </a:stretch>
        </p:blipFill>
        <p:spPr>
          <a:xfrm>
            <a:off x="233889" y="57062"/>
            <a:ext cx="11724221" cy="6743876"/>
          </a:xfrm>
          <a:prstGeom prst="rect">
            <a:avLst/>
          </a:prstGeom>
        </p:spPr>
      </p:pic>
      <p:sp>
        <p:nvSpPr>
          <p:cNvPr id="8" name="TextBox 7">
            <a:extLst>
              <a:ext uri="{FF2B5EF4-FFF2-40B4-BE49-F238E27FC236}">
                <a16:creationId xmlns:a16="http://schemas.microsoft.com/office/drawing/2014/main" id="{51B5DF4E-DADD-FDF1-173D-ECA398B901DC}"/>
              </a:ext>
            </a:extLst>
          </p:cNvPr>
          <p:cNvSpPr txBox="1"/>
          <p:nvPr/>
        </p:nvSpPr>
        <p:spPr>
          <a:xfrm>
            <a:off x="4592975" y="6375692"/>
            <a:ext cx="6097248" cy="369332"/>
          </a:xfrm>
          <a:prstGeom prst="rect">
            <a:avLst/>
          </a:prstGeom>
          <a:noFill/>
        </p:spPr>
        <p:txBody>
          <a:bodyPr wrap="square">
            <a:spAutoFit/>
          </a:bodyPr>
          <a:lstStyle/>
          <a:p>
            <a:r>
              <a:rPr lang="en-IN" dirty="0"/>
              <a:t>https://www.india-seminar.com/2018/706.htm</a:t>
            </a:r>
          </a:p>
        </p:txBody>
      </p:sp>
    </p:spTree>
    <p:extLst>
      <p:ext uri="{BB962C8B-B14F-4D97-AF65-F5344CB8AC3E}">
        <p14:creationId xmlns:p14="http://schemas.microsoft.com/office/powerpoint/2010/main" val="3955426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A7B279-B73D-F84A-A97A-474A93A7F860}"/>
              </a:ext>
            </a:extLst>
          </p:cNvPr>
          <p:cNvSpPr>
            <a:spLocks noGrp="1"/>
          </p:cNvSpPr>
          <p:nvPr>
            <p:ph type="title"/>
          </p:nvPr>
        </p:nvSpPr>
        <p:spPr/>
        <p:txBody>
          <a:bodyPr/>
          <a:lstStyle/>
          <a:p>
            <a:r>
              <a:rPr lang="en-US" dirty="0" err="1"/>
              <a:t>LeaRning</a:t>
            </a:r>
            <a:r>
              <a:rPr lang="en-US" dirty="0"/>
              <a:t> level crisis- from INDIA-seminar 706</a:t>
            </a:r>
          </a:p>
        </p:txBody>
      </p:sp>
      <p:sp>
        <p:nvSpPr>
          <p:cNvPr id="4" name="Text Placeholder 3">
            <a:extLst>
              <a:ext uri="{FF2B5EF4-FFF2-40B4-BE49-F238E27FC236}">
                <a16:creationId xmlns:a16="http://schemas.microsoft.com/office/drawing/2014/main" id="{47B6F5B0-CC0D-0C49-8422-E4823A958FFC}"/>
              </a:ext>
            </a:extLst>
          </p:cNvPr>
          <p:cNvSpPr>
            <a:spLocks noGrp="1"/>
          </p:cNvSpPr>
          <p:nvPr>
            <p:ph type="body" idx="1"/>
          </p:nvPr>
        </p:nvSpPr>
        <p:spPr/>
        <p:txBody>
          <a:bodyPr/>
          <a:lstStyle/>
          <a:p>
            <a:r>
              <a:rPr lang="en-US" dirty="0"/>
              <a:t>from INDIA-seminar 706</a:t>
            </a:r>
          </a:p>
        </p:txBody>
      </p:sp>
      <p:sp>
        <p:nvSpPr>
          <p:cNvPr id="2" name="Slide Number Placeholder 1">
            <a:extLst>
              <a:ext uri="{FF2B5EF4-FFF2-40B4-BE49-F238E27FC236}">
                <a16:creationId xmlns:a16="http://schemas.microsoft.com/office/drawing/2014/main" id="{39D4A4C8-7D48-D947-96FB-9EE8AB78C6B2}"/>
              </a:ext>
            </a:extLst>
          </p:cNvPr>
          <p:cNvSpPr>
            <a:spLocks noGrp="1"/>
          </p:cNvSpPr>
          <p:nvPr>
            <p:ph type="sldNum" sz="quarter" idx="12"/>
          </p:nvPr>
        </p:nvSpPr>
        <p:spPr/>
        <p:txBody>
          <a:bodyPr/>
          <a:lstStyle/>
          <a:p>
            <a:fld id="{AEC99F6A-E93D-4C9C-AA2B-FA96051C5F3E}" type="slidenum">
              <a:rPr lang="en-US" smtClean="0"/>
              <a:t>5</a:t>
            </a:fld>
            <a:endParaRPr lang="en-US"/>
          </a:p>
        </p:txBody>
      </p:sp>
    </p:spTree>
    <p:extLst>
      <p:ext uri="{BB962C8B-B14F-4D97-AF65-F5344CB8AC3E}">
        <p14:creationId xmlns:p14="http://schemas.microsoft.com/office/powerpoint/2010/main" val="749528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1591-8B3D-BE4A-AE15-58604C6A6542}"/>
              </a:ext>
            </a:extLst>
          </p:cNvPr>
          <p:cNvSpPr>
            <a:spLocks noGrp="1"/>
          </p:cNvSpPr>
          <p:nvPr>
            <p:ph type="title"/>
          </p:nvPr>
        </p:nvSpPr>
        <p:spPr/>
        <p:txBody>
          <a:bodyPr>
            <a:normAutofit/>
          </a:bodyPr>
          <a:lstStyle/>
          <a:p>
            <a:r>
              <a:rPr lang="en-US" dirty="0"/>
              <a:t>Outcome of schooling</a:t>
            </a:r>
          </a:p>
        </p:txBody>
      </p:sp>
      <p:sp>
        <p:nvSpPr>
          <p:cNvPr id="3" name="Content Placeholder 2">
            <a:extLst>
              <a:ext uri="{FF2B5EF4-FFF2-40B4-BE49-F238E27FC236}">
                <a16:creationId xmlns:a16="http://schemas.microsoft.com/office/drawing/2014/main" id="{F25F8BEB-24CA-5F4F-958C-055A63C7B40A}"/>
              </a:ext>
            </a:extLst>
          </p:cNvPr>
          <p:cNvSpPr>
            <a:spLocks noGrp="1"/>
          </p:cNvSpPr>
          <p:nvPr>
            <p:ph idx="1"/>
          </p:nvPr>
        </p:nvSpPr>
        <p:spPr/>
        <p:txBody>
          <a:bodyPr/>
          <a:lstStyle/>
          <a:p>
            <a:r>
              <a:rPr lang="en-US" dirty="0"/>
              <a:t>Assessment – Learning</a:t>
            </a:r>
          </a:p>
          <a:p>
            <a:endParaRPr lang="en-US" dirty="0"/>
          </a:p>
          <a:p>
            <a:r>
              <a:rPr lang="en-US" dirty="0"/>
              <a:t>Minimum Learning level?</a:t>
            </a:r>
          </a:p>
          <a:p>
            <a:endParaRPr lang="en-US" dirty="0"/>
          </a:p>
          <a:p>
            <a:r>
              <a:rPr lang="en-US" dirty="0"/>
              <a:t>Assessment helps in learning?</a:t>
            </a:r>
          </a:p>
          <a:p>
            <a:endParaRPr lang="en-US" dirty="0"/>
          </a:p>
          <a:p>
            <a:r>
              <a:rPr lang="en-US" dirty="0"/>
              <a:t>Are nationalized tests the answer? (or the problem?)</a:t>
            </a:r>
          </a:p>
        </p:txBody>
      </p:sp>
      <p:sp>
        <p:nvSpPr>
          <p:cNvPr id="4" name="Slide Number Placeholder 3">
            <a:extLst>
              <a:ext uri="{FF2B5EF4-FFF2-40B4-BE49-F238E27FC236}">
                <a16:creationId xmlns:a16="http://schemas.microsoft.com/office/drawing/2014/main" id="{A2D5857A-A324-E542-95E6-6463A43B659E}"/>
              </a:ext>
            </a:extLst>
          </p:cNvPr>
          <p:cNvSpPr>
            <a:spLocks noGrp="1"/>
          </p:cNvSpPr>
          <p:nvPr>
            <p:ph type="sldNum" sz="quarter" idx="12"/>
          </p:nvPr>
        </p:nvSpPr>
        <p:spPr/>
        <p:txBody>
          <a:bodyPr/>
          <a:lstStyle/>
          <a:p>
            <a:fld id="{AEC99F6A-E93D-4C9C-AA2B-FA96051C5F3E}" type="slidenum">
              <a:rPr lang="en-US" smtClean="0"/>
              <a:t>6</a:t>
            </a:fld>
            <a:endParaRPr lang="en-US"/>
          </a:p>
        </p:txBody>
      </p:sp>
    </p:spTree>
    <p:extLst>
      <p:ext uri="{BB962C8B-B14F-4D97-AF65-F5344CB8AC3E}">
        <p14:creationId xmlns:p14="http://schemas.microsoft.com/office/powerpoint/2010/main" val="3103129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021C0-6987-314C-AEFA-269237E5A438}"/>
              </a:ext>
            </a:extLst>
          </p:cNvPr>
          <p:cNvSpPr>
            <a:spLocks noGrp="1"/>
          </p:cNvSpPr>
          <p:nvPr>
            <p:ph type="title"/>
          </p:nvPr>
        </p:nvSpPr>
        <p:spPr/>
        <p:txBody>
          <a:bodyPr/>
          <a:lstStyle/>
          <a:p>
            <a:r>
              <a:rPr lang="en-US" dirty="0"/>
              <a:t>Learning crisis? - The problem</a:t>
            </a:r>
          </a:p>
        </p:txBody>
      </p:sp>
      <p:sp>
        <p:nvSpPr>
          <p:cNvPr id="3" name="Content Placeholder 2">
            <a:extLst>
              <a:ext uri="{FF2B5EF4-FFF2-40B4-BE49-F238E27FC236}">
                <a16:creationId xmlns:a16="http://schemas.microsoft.com/office/drawing/2014/main" id="{16DD2297-CA39-D344-AE07-0578CA34BD40}"/>
              </a:ext>
            </a:extLst>
          </p:cNvPr>
          <p:cNvSpPr>
            <a:spLocks noGrp="1"/>
          </p:cNvSpPr>
          <p:nvPr>
            <p:ph idx="1"/>
          </p:nvPr>
        </p:nvSpPr>
        <p:spPr/>
        <p:txBody>
          <a:bodyPr>
            <a:normAutofit/>
          </a:bodyPr>
          <a:lstStyle/>
          <a:p>
            <a:r>
              <a:rPr lang="en-US" dirty="0"/>
              <a:t>What is expected out of 8, 10 or 12 years of schooling?</a:t>
            </a:r>
          </a:p>
          <a:p>
            <a:pPr lvl="1"/>
            <a:r>
              <a:rPr lang="en-US" dirty="0"/>
              <a:t>Grade appropriate learning?</a:t>
            </a:r>
          </a:p>
          <a:p>
            <a:endParaRPr lang="en-US" dirty="0"/>
          </a:p>
          <a:p>
            <a:r>
              <a:rPr lang="en-US" dirty="0"/>
              <a:t>Who gains most in schools? - social capital</a:t>
            </a:r>
          </a:p>
          <a:p>
            <a:endParaRPr lang="en-US" dirty="0"/>
          </a:p>
          <a:p>
            <a:r>
              <a:rPr lang="en-US" dirty="0"/>
              <a:t>Quality teachers?- who enters teaching profession? How are they trained?</a:t>
            </a:r>
          </a:p>
          <a:p>
            <a:endParaRPr lang="en-US" dirty="0"/>
          </a:p>
          <a:p>
            <a:r>
              <a:rPr lang="en-US" dirty="0"/>
              <a:t>Is India facing Learning level crisis ? Teaching level crisis?</a:t>
            </a:r>
          </a:p>
          <a:p>
            <a:pPr marL="0" indent="0">
              <a:buNone/>
            </a:pPr>
            <a:endParaRPr lang="en-US" dirty="0"/>
          </a:p>
        </p:txBody>
      </p:sp>
      <p:sp>
        <p:nvSpPr>
          <p:cNvPr id="4" name="Slide Number Placeholder 3">
            <a:extLst>
              <a:ext uri="{FF2B5EF4-FFF2-40B4-BE49-F238E27FC236}">
                <a16:creationId xmlns:a16="http://schemas.microsoft.com/office/drawing/2014/main" id="{07DC6167-3A24-1449-A492-70A40DFAE79D}"/>
              </a:ext>
            </a:extLst>
          </p:cNvPr>
          <p:cNvSpPr>
            <a:spLocks noGrp="1"/>
          </p:cNvSpPr>
          <p:nvPr>
            <p:ph type="sldNum" sz="quarter" idx="12"/>
          </p:nvPr>
        </p:nvSpPr>
        <p:spPr/>
        <p:txBody>
          <a:bodyPr/>
          <a:lstStyle/>
          <a:p>
            <a:fld id="{AEC99F6A-E93D-4C9C-AA2B-FA96051C5F3E}" type="slidenum">
              <a:rPr lang="en-US" smtClean="0"/>
              <a:t>7</a:t>
            </a:fld>
            <a:endParaRPr lang="en-US"/>
          </a:p>
        </p:txBody>
      </p:sp>
      <p:sp>
        <p:nvSpPr>
          <p:cNvPr id="5" name="TextBox 4">
            <a:extLst>
              <a:ext uri="{FF2B5EF4-FFF2-40B4-BE49-F238E27FC236}">
                <a16:creationId xmlns:a16="http://schemas.microsoft.com/office/drawing/2014/main" id="{D28D2980-AF7D-AA4A-9BA9-A911C267DA97}"/>
              </a:ext>
            </a:extLst>
          </p:cNvPr>
          <p:cNvSpPr txBox="1"/>
          <p:nvPr/>
        </p:nvSpPr>
        <p:spPr>
          <a:xfrm>
            <a:off x="5175849" y="5849654"/>
            <a:ext cx="5679055" cy="646331"/>
          </a:xfrm>
          <a:prstGeom prst="rect">
            <a:avLst/>
          </a:prstGeom>
          <a:noFill/>
        </p:spPr>
        <p:txBody>
          <a:bodyPr wrap="none" rtlCol="0">
            <a:spAutoFit/>
          </a:bodyPr>
          <a:lstStyle/>
          <a:p>
            <a:r>
              <a:rPr lang="en-US" b="1" dirty="0"/>
              <a:t>Vimala Ramachandran and Sridhar Rajagopalan</a:t>
            </a:r>
          </a:p>
          <a:p>
            <a:r>
              <a:rPr lang="en-US" dirty="0"/>
              <a:t>Seminar, 706, June 2018 </a:t>
            </a:r>
          </a:p>
        </p:txBody>
      </p:sp>
    </p:spTree>
    <p:extLst>
      <p:ext uri="{BB962C8B-B14F-4D97-AF65-F5344CB8AC3E}">
        <p14:creationId xmlns:p14="http://schemas.microsoft.com/office/powerpoint/2010/main" val="227854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9A7A-A448-2446-A763-2F5D84389E5D}"/>
              </a:ext>
            </a:extLst>
          </p:cNvPr>
          <p:cNvSpPr>
            <a:spLocks noGrp="1"/>
          </p:cNvSpPr>
          <p:nvPr>
            <p:ph type="title"/>
          </p:nvPr>
        </p:nvSpPr>
        <p:spPr/>
        <p:txBody>
          <a:bodyPr/>
          <a:lstStyle/>
          <a:p>
            <a:r>
              <a:rPr lang="en-US" dirty="0"/>
              <a:t>Learning crisis- Factors</a:t>
            </a:r>
          </a:p>
        </p:txBody>
      </p:sp>
      <p:sp>
        <p:nvSpPr>
          <p:cNvPr id="3" name="Content Placeholder 2">
            <a:extLst>
              <a:ext uri="{FF2B5EF4-FFF2-40B4-BE49-F238E27FC236}">
                <a16:creationId xmlns:a16="http://schemas.microsoft.com/office/drawing/2014/main" id="{87D3DB2A-907B-9049-917F-749529E2E06B}"/>
              </a:ext>
            </a:extLst>
          </p:cNvPr>
          <p:cNvSpPr>
            <a:spLocks noGrp="1"/>
          </p:cNvSpPr>
          <p:nvPr>
            <p:ph idx="1"/>
          </p:nvPr>
        </p:nvSpPr>
        <p:spPr>
          <a:xfrm>
            <a:off x="432088" y="2179986"/>
            <a:ext cx="11105451" cy="3005591"/>
          </a:xfrm>
        </p:spPr>
        <p:txBody>
          <a:bodyPr/>
          <a:lstStyle/>
          <a:p>
            <a:r>
              <a:rPr lang="en-US" dirty="0"/>
              <a:t>Stratification of schools- by class :: Type of schools influences  learning </a:t>
            </a:r>
          </a:p>
          <a:p>
            <a:pPr lvl="1"/>
            <a:r>
              <a:rPr lang="en-US" dirty="0"/>
              <a:t>Who you are , where you live, family income, social identity</a:t>
            </a:r>
          </a:p>
          <a:p>
            <a:r>
              <a:rPr lang="en-US" dirty="0"/>
              <a:t>Learning process: </a:t>
            </a:r>
          </a:p>
          <a:p>
            <a:pPr lvl="1"/>
            <a:r>
              <a:rPr lang="en-US" dirty="0"/>
              <a:t>Enablers; Empowerment of teachers; systemic changes meaningful teaching and learning</a:t>
            </a:r>
          </a:p>
          <a:p>
            <a:r>
              <a:rPr lang="en-US" dirty="0"/>
              <a:t>Purpose of assessments, and large scale testing?</a:t>
            </a:r>
          </a:p>
          <a:p>
            <a:r>
              <a:rPr lang="en-US" dirty="0"/>
              <a:t>Global attractiveness of standardized tests and large scale assessments.</a:t>
            </a:r>
          </a:p>
          <a:p>
            <a:r>
              <a:rPr lang="en-US" dirty="0"/>
              <a:t>Is large scale testing a tool to reform the system?</a:t>
            </a:r>
          </a:p>
          <a:p>
            <a:endParaRPr lang="en-US" dirty="0"/>
          </a:p>
        </p:txBody>
      </p:sp>
      <p:sp>
        <p:nvSpPr>
          <p:cNvPr id="4" name="Slide Number Placeholder 3">
            <a:extLst>
              <a:ext uri="{FF2B5EF4-FFF2-40B4-BE49-F238E27FC236}">
                <a16:creationId xmlns:a16="http://schemas.microsoft.com/office/drawing/2014/main" id="{9D797B70-63CA-D942-A4F7-8FB7836729DF}"/>
              </a:ext>
            </a:extLst>
          </p:cNvPr>
          <p:cNvSpPr>
            <a:spLocks noGrp="1"/>
          </p:cNvSpPr>
          <p:nvPr>
            <p:ph type="sldNum" sz="quarter" idx="12"/>
          </p:nvPr>
        </p:nvSpPr>
        <p:spPr/>
        <p:txBody>
          <a:bodyPr/>
          <a:lstStyle/>
          <a:p>
            <a:fld id="{AEC99F6A-E93D-4C9C-AA2B-FA96051C5F3E}" type="slidenum">
              <a:rPr lang="en-US" smtClean="0"/>
              <a:t>8</a:t>
            </a:fld>
            <a:endParaRPr lang="en-US"/>
          </a:p>
        </p:txBody>
      </p:sp>
      <p:sp>
        <p:nvSpPr>
          <p:cNvPr id="5" name="TextBox 4">
            <a:extLst>
              <a:ext uri="{FF2B5EF4-FFF2-40B4-BE49-F238E27FC236}">
                <a16:creationId xmlns:a16="http://schemas.microsoft.com/office/drawing/2014/main" id="{18BDD1DC-5AFF-6541-8A0E-69C5E37FB43C}"/>
              </a:ext>
            </a:extLst>
          </p:cNvPr>
          <p:cNvSpPr txBox="1"/>
          <p:nvPr/>
        </p:nvSpPr>
        <p:spPr>
          <a:xfrm>
            <a:off x="5210355" y="6211669"/>
            <a:ext cx="5679055" cy="646331"/>
          </a:xfrm>
          <a:prstGeom prst="rect">
            <a:avLst/>
          </a:prstGeom>
          <a:noFill/>
        </p:spPr>
        <p:txBody>
          <a:bodyPr wrap="none" rtlCol="0">
            <a:spAutoFit/>
          </a:bodyPr>
          <a:lstStyle/>
          <a:p>
            <a:r>
              <a:rPr lang="en-US" b="1" dirty="0"/>
              <a:t>Vimala Ramachandran and Sridhar Rajagopalan</a:t>
            </a:r>
          </a:p>
          <a:p>
            <a:r>
              <a:rPr lang="en-US" dirty="0"/>
              <a:t>Seminar, 706, June 2018 </a:t>
            </a:r>
          </a:p>
        </p:txBody>
      </p:sp>
    </p:spTree>
    <p:extLst>
      <p:ext uri="{BB962C8B-B14F-4D97-AF65-F5344CB8AC3E}">
        <p14:creationId xmlns:p14="http://schemas.microsoft.com/office/powerpoint/2010/main" val="3180002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9AA63-CB13-D44A-B4FD-562597B6F95E}"/>
              </a:ext>
            </a:extLst>
          </p:cNvPr>
          <p:cNvSpPr>
            <a:spLocks noGrp="1"/>
          </p:cNvSpPr>
          <p:nvPr>
            <p:ph type="title"/>
          </p:nvPr>
        </p:nvSpPr>
        <p:spPr/>
        <p:txBody>
          <a:bodyPr/>
          <a:lstStyle/>
          <a:p>
            <a:r>
              <a:rPr lang="en-US" dirty="0"/>
              <a:t>NGOs and state  and the role in learning</a:t>
            </a:r>
          </a:p>
        </p:txBody>
      </p:sp>
      <p:sp>
        <p:nvSpPr>
          <p:cNvPr id="3" name="Content Placeholder 2">
            <a:extLst>
              <a:ext uri="{FF2B5EF4-FFF2-40B4-BE49-F238E27FC236}">
                <a16:creationId xmlns:a16="http://schemas.microsoft.com/office/drawing/2014/main" id="{4BC0C0FE-FE46-8A49-B0BF-55A80755E2AD}"/>
              </a:ext>
            </a:extLst>
          </p:cNvPr>
          <p:cNvSpPr>
            <a:spLocks noGrp="1"/>
          </p:cNvSpPr>
          <p:nvPr>
            <p:ph idx="1"/>
          </p:nvPr>
        </p:nvSpPr>
        <p:spPr/>
        <p:txBody>
          <a:bodyPr/>
          <a:lstStyle/>
          <a:p>
            <a:r>
              <a:rPr lang="en-US" dirty="0"/>
              <a:t>Short term mission programs-&gt; basic reading/accelerated learning</a:t>
            </a:r>
          </a:p>
          <a:p>
            <a:endParaRPr lang="en-US" dirty="0"/>
          </a:p>
          <a:p>
            <a:r>
              <a:rPr lang="en-US" dirty="0"/>
              <a:t>School Monitoring-&gt; help in learning</a:t>
            </a:r>
          </a:p>
          <a:p>
            <a:endParaRPr lang="en-US" dirty="0"/>
          </a:p>
          <a:p>
            <a:r>
              <a:rPr lang="en-US" dirty="0"/>
              <a:t>Scrapping no detention will miraculously change situation! </a:t>
            </a:r>
          </a:p>
          <a:p>
            <a:endParaRPr lang="en-US" dirty="0"/>
          </a:p>
        </p:txBody>
      </p:sp>
      <p:sp>
        <p:nvSpPr>
          <p:cNvPr id="4" name="Slide Number Placeholder 3">
            <a:extLst>
              <a:ext uri="{FF2B5EF4-FFF2-40B4-BE49-F238E27FC236}">
                <a16:creationId xmlns:a16="http://schemas.microsoft.com/office/drawing/2014/main" id="{0B0AF5E3-8A4D-E044-8606-8CBCA4E744D6}"/>
              </a:ext>
            </a:extLst>
          </p:cNvPr>
          <p:cNvSpPr>
            <a:spLocks noGrp="1"/>
          </p:cNvSpPr>
          <p:nvPr>
            <p:ph type="sldNum" sz="quarter" idx="12"/>
          </p:nvPr>
        </p:nvSpPr>
        <p:spPr/>
        <p:txBody>
          <a:bodyPr/>
          <a:lstStyle/>
          <a:p>
            <a:fld id="{AEC99F6A-E93D-4C9C-AA2B-FA96051C5F3E}" type="slidenum">
              <a:rPr lang="en-US" smtClean="0"/>
              <a:t>9</a:t>
            </a:fld>
            <a:endParaRPr lang="en-US"/>
          </a:p>
        </p:txBody>
      </p:sp>
    </p:spTree>
    <p:extLst>
      <p:ext uri="{BB962C8B-B14F-4D97-AF65-F5344CB8AC3E}">
        <p14:creationId xmlns:p14="http://schemas.microsoft.com/office/powerpoint/2010/main" val="2202094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C99B-70DD-45DD-A887-A14194C38AEA}"/>
              </a:ext>
            </a:extLst>
          </p:cNvPr>
          <p:cNvSpPr>
            <a:spLocks noGrp="1"/>
          </p:cNvSpPr>
          <p:nvPr>
            <p:ph type="ctrTitle"/>
          </p:nvPr>
        </p:nvSpPr>
        <p:spPr/>
        <p:txBody>
          <a:bodyPr/>
          <a:lstStyle/>
          <a:p>
            <a:r>
              <a:rPr lang="en-IN" dirty="0"/>
              <a:t>Learning to Learn- Madhav Chavan </a:t>
            </a:r>
          </a:p>
        </p:txBody>
      </p:sp>
      <p:sp>
        <p:nvSpPr>
          <p:cNvPr id="5" name="Subtitle 4">
            <a:extLst>
              <a:ext uri="{FF2B5EF4-FFF2-40B4-BE49-F238E27FC236}">
                <a16:creationId xmlns:a16="http://schemas.microsoft.com/office/drawing/2014/main" id="{11A7E05B-6007-BFAA-93B0-2C1F72A44E8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9573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F8A0C-802C-4C77-9071-0FC7C8119A73}"/>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1FCF30E-C843-43C7-B710-1148EA22D8F2}"/>
              </a:ext>
            </a:extLst>
          </p:cNvPr>
          <p:cNvSpPr>
            <a:spLocks noGrp="1"/>
          </p:cNvSpPr>
          <p:nvPr>
            <p:ph idx="1"/>
          </p:nvPr>
        </p:nvSpPr>
        <p:spPr/>
        <p:txBody>
          <a:bodyPr>
            <a:normAutofit/>
          </a:bodyPr>
          <a:lstStyle/>
          <a:p>
            <a:r>
              <a:rPr lang="en-IN" dirty="0"/>
              <a:t>Annually 75,000 more engineering admission seats are vacant because of lack of jobs and this considered to be a result of poor education quality.</a:t>
            </a:r>
          </a:p>
          <a:p>
            <a:r>
              <a:rPr lang="en-IN" dirty="0"/>
              <a:t>Largely colleges which have flourished in the last 25 years are private, but not many people discuss the private sector being responsible for poor quality of education.</a:t>
            </a:r>
          </a:p>
          <a:p>
            <a:r>
              <a:rPr lang="en-IN" dirty="0"/>
              <a:t>This trend is not new. Earlier was seen in cities like Mumbai that elite, government aided Marathi medium schools started either losing students to English medium schools or themselves converted to English as a medium of instruction. </a:t>
            </a:r>
          </a:p>
          <a:p>
            <a:endParaRPr lang="en-IN" dirty="0"/>
          </a:p>
        </p:txBody>
      </p:sp>
    </p:spTree>
    <p:extLst>
      <p:ext uri="{BB962C8B-B14F-4D97-AF65-F5344CB8AC3E}">
        <p14:creationId xmlns:p14="http://schemas.microsoft.com/office/powerpoint/2010/main" val="3055082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C2D6E-32B1-4779-83AF-1B014358A788}"/>
              </a:ext>
            </a:extLst>
          </p:cNvPr>
          <p:cNvSpPr>
            <a:spLocks noGrp="1"/>
          </p:cNvSpPr>
          <p:nvPr>
            <p:ph type="title"/>
          </p:nvPr>
        </p:nvSpPr>
        <p:spPr/>
        <p:txBody>
          <a:bodyPr/>
          <a:lstStyle/>
          <a:p>
            <a:r>
              <a:rPr lang="en-IN" dirty="0"/>
              <a:t>Statistics</a:t>
            </a:r>
          </a:p>
        </p:txBody>
      </p:sp>
      <p:sp>
        <p:nvSpPr>
          <p:cNvPr id="3" name="Content Placeholder 2">
            <a:extLst>
              <a:ext uri="{FF2B5EF4-FFF2-40B4-BE49-F238E27FC236}">
                <a16:creationId xmlns:a16="http://schemas.microsoft.com/office/drawing/2014/main" id="{F1B45A19-47D6-45CA-806C-B98B6E6D2213}"/>
              </a:ext>
            </a:extLst>
          </p:cNvPr>
          <p:cNvSpPr>
            <a:spLocks noGrp="1"/>
          </p:cNvSpPr>
          <p:nvPr>
            <p:ph idx="1"/>
          </p:nvPr>
        </p:nvSpPr>
        <p:spPr/>
        <p:txBody>
          <a:bodyPr>
            <a:normAutofit/>
          </a:bodyPr>
          <a:lstStyle/>
          <a:p>
            <a:r>
              <a:rPr lang="en-IN" dirty="0"/>
              <a:t>In 2016 the DISE (District Information System of Education) reported 39% enrolment into private elementary schools, compared to 18% in 2007. </a:t>
            </a:r>
          </a:p>
          <a:p>
            <a:r>
              <a:rPr lang="en-IN" dirty="0"/>
              <a:t>With increase opportunity, private schools started coming up rapidly in small towns and rural areas. </a:t>
            </a:r>
          </a:p>
          <a:p>
            <a:r>
              <a:rPr lang="en-IN" dirty="0"/>
              <a:t>ASER found in 2017 that out of the 85% children enrolled in school or college, 40% worked for at 15 days in a month.</a:t>
            </a:r>
          </a:p>
          <a:p>
            <a:pPr marL="0" indent="0">
              <a:buNone/>
            </a:pPr>
            <a:endParaRPr lang="en-IN" dirty="0"/>
          </a:p>
        </p:txBody>
      </p:sp>
    </p:spTree>
    <p:extLst>
      <p:ext uri="{BB962C8B-B14F-4D97-AF65-F5344CB8AC3E}">
        <p14:creationId xmlns:p14="http://schemas.microsoft.com/office/powerpoint/2010/main" val="3691088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6F8C-1199-45B3-BBDC-2D0E981298A8}"/>
              </a:ext>
            </a:extLst>
          </p:cNvPr>
          <p:cNvSpPr>
            <a:spLocks noGrp="1"/>
          </p:cNvSpPr>
          <p:nvPr>
            <p:ph type="title"/>
          </p:nvPr>
        </p:nvSpPr>
        <p:spPr/>
        <p:txBody>
          <a:bodyPr/>
          <a:lstStyle/>
          <a:p>
            <a:r>
              <a:rPr lang="en-IN" dirty="0"/>
              <a:t>Skills from Education</a:t>
            </a:r>
          </a:p>
        </p:txBody>
      </p:sp>
      <p:sp>
        <p:nvSpPr>
          <p:cNvPr id="3" name="Content Placeholder 2">
            <a:extLst>
              <a:ext uri="{FF2B5EF4-FFF2-40B4-BE49-F238E27FC236}">
                <a16:creationId xmlns:a16="http://schemas.microsoft.com/office/drawing/2014/main" id="{4A5C595B-F99A-4112-B271-CB7C9E33F726}"/>
              </a:ext>
            </a:extLst>
          </p:cNvPr>
          <p:cNvSpPr>
            <a:spLocks noGrp="1"/>
          </p:cNvSpPr>
          <p:nvPr>
            <p:ph idx="1"/>
          </p:nvPr>
        </p:nvSpPr>
        <p:spPr/>
        <p:txBody>
          <a:bodyPr>
            <a:normAutofit/>
          </a:bodyPr>
          <a:lstStyle/>
          <a:p>
            <a:r>
              <a:rPr lang="en-IN" dirty="0"/>
              <a:t>There are certain skills that no matter what century we speak about are always important, that is skills like communication, problem solving and team work.</a:t>
            </a:r>
          </a:p>
          <a:p>
            <a:r>
              <a:rPr lang="en-IN" dirty="0"/>
              <a:t>The problem is that schools never focused on outcomes of education, they only focused on the objective of getting good grades. </a:t>
            </a:r>
          </a:p>
          <a:p>
            <a:r>
              <a:rPr lang="en-IN" dirty="0"/>
              <a:t>In 1990 the </a:t>
            </a:r>
            <a:r>
              <a:rPr lang="en-IN" dirty="0" err="1"/>
              <a:t>Jomtein</a:t>
            </a:r>
            <a:r>
              <a:rPr lang="en-IN" dirty="0"/>
              <a:t> Declaration had suggested that “Whether or not expanded educational opportunities will translate into meaningful development – for an individual or for society – depends ultimately on whether people actually learn as a result of those opportunities, i.e., whether they incorporate useful knowledge, reasoning ability, skills, and values.”</a:t>
            </a:r>
          </a:p>
          <a:p>
            <a:endParaRPr lang="en-IN" dirty="0"/>
          </a:p>
        </p:txBody>
      </p:sp>
    </p:spTree>
    <p:extLst>
      <p:ext uri="{BB962C8B-B14F-4D97-AF65-F5344CB8AC3E}">
        <p14:creationId xmlns:p14="http://schemas.microsoft.com/office/powerpoint/2010/main" val="1469325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705D-26C5-4C8B-A0F6-357C2DADFA68}"/>
              </a:ext>
            </a:extLst>
          </p:cNvPr>
          <p:cNvSpPr>
            <a:spLocks noGrp="1"/>
          </p:cNvSpPr>
          <p:nvPr>
            <p:ph type="title"/>
          </p:nvPr>
        </p:nvSpPr>
        <p:spPr/>
        <p:txBody>
          <a:bodyPr/>
          <a:lstStyle/>
          <a:p>
            <a:r>
              <a:rPr lang="en-IN" dirty="0"/>
              <a:t>Policies and Assessments </a:t>
            </a:r>
          </a:p>
        </p:txBody>
      </p:sp>
      <p:sp>
        <p:nvSpPr>
          <p:cNvPr id="3" name="Content Placeholder 2">
            <a:extLst>
              <a:ext uri="{FF2B5EF4-FFF2-40B4-BE49-F238E27FC236}">
                <a16:creationId xmlns:a16="http://schemas.microsoft.com/office/drawing/2014/main" id="{08EB11B3-D19B-439E-AC36-FE492A9CE19B}"/>
              </a:ext>
            </a:extLst>
          </p:cNvPr>
          <p:cNvSpPr>
            <a:spLocks noGrp="1"/>
          </p:cNvSpPr>
          <p:nvPr>
            <p:ph idx="1"/>
          </p:nvPr>
        </p:nvSpPr>
        <p:spPr/>
        <p:txBody>
          <a:bodyPr>
            <a:normAutofit/>
          </a:bodyPr>
          <a:lstStyle/>
          <a:p>
            <a:r>
              <a:rPr lang="en-IN" dirty="0"/>
              <a:t>Dakar Framework for Action in 2000 and the MDGs which were also set up in 2000 focused instead on quality of education to be measured through Universal Primary Education and enrolment and survival till Grade 5. </a:t>
            </a:r>
          </a:p>
          <a:p>
            <a:r>
              <a:rPr lang="en-IN" dirty="0"/>
              <a:t>Pratham’s Educational Report was the first to measure learning outcomes quantitively through basic reading and maths skill (2005).</a:t>
            </a:r>
          </a:p>
          <a:p>
            <a:r>
              <a:rPr lang="en-IN" dirty="0"/>
              <a:t>In 2006 the West did an Early Grade Reading Assessment. </a:t>
            </a:r>
          </a:p>
          <a:p>
            <a:r>
              <a:rPr lang="en-IN" dirty="0"/>
              <a:t>Over the last 15 years, lot of similar tests have come about, while they are not comparable to one another, they all suggest that there is a poor status of basic academic outcomes. </a:t>
            </a:r>
          </a:p>
          <a:p>
            <a:endParaRPr lang="en-IN" dirty="0"/>
          </a:p>
        </p:txBody>
      </p:sp>
    </p:spTree>
    <p:extLst>
      <p:ext uri="{BB962C8B-B14F-4D97-AF65-F5344CB8AC3E}">
        <p14:creationId xmlns:p14="http://schemas.microsoft.com/office/powerpoint/2010/main" val="1787441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D90A-981E-4511-ABE3-4F8B13613BB4}"/>
              </a:ext>
            </a:extLst>
          </p:cNvPr>
          <p:cNvSpPr>
            <a:spLocks noGrp="1"/>
          </p:cNvSpPr>
          <p:nvPr>
            <p:ph type="title"/>
          </p:nvPr>
        </p:nvSpPr>
        <p:spPr/>
        <p:txBody>
          <a:bodyPr/>
          <a:lstStyle/>
          <a:p>
            <a:r>
              <a:rPr lang="en-IN" dirty="0"/>
              <a:t>World Development Report</a:t>
            </a:r>
          </a:p>
        </p:txBody>
      </p:sp>
      <p:sp>
        <p:nvSpPr>
          <p:cNvPr id="3" name="Content Placeholder 2">
            <a:extLst>
              <a:ext uri="{FF2B5EF4-FFF2-40B4-BE49-F238E27FC236}">
                <a16:creationId xmlns:a16="http://schemas.microsoft.com/office/drawing/2014/main" id="{5F82F301-10B6-415D-A051-296FCA720307}"/>
              </a:ext>
            </a:extLst>
          </p:cNvPr>
          <p:cNvSpPr>
            <a:spLocks noGrp="1"/>
          </p:cNvSpPr>
          <p:nvPr>
            <p:ph idx="1"/>
          </p:nvPr>
        </p:nvSpPr>
        <p:spPr/>
        <p:txBody>
          <a:bodyPr>
            <a:normAutofit/>
          </a:bodyPr>
          <a:lstStyle/>
          <a:p>
            <a:r>
              <a:rPr lang="en-IN" dirty="0"/>
              <a:t>The World Development Report of 2018 has suggested that we are in a learning crisis and has a three-point plan of action:</a:t>
            </a:r>
            <a:br>
              <a:rPr lang="en-IN" dirty="0"/>
            </a:br>
            <a:endParaRPr lang="en-IN" dirty="0"/>
          </a:p>
          <a:p>
            <a:pPr marL="0" indent="0">
              <a:buNone/>
            </a:pPr>
            <a:r>
              <a:rPr lang="en-IN" dirty="0"/>
              <a:t>1) Assess learning to make it a serious goal, have the right metrics to measure it.</a:t>
            </a:r>
            <a:br>
              <a:rPr lang="en-IN" dirty="0"/>
            </a:br>
            <a:r>
              <a:rPr lang="en-IN" dirty="0"/>
              <a:t>2) Use evidence on how to encourage learning in school. Build on good and strong teacher-learner relations and use the evidence for better learning effectively.</a:t>
            </a:r>
            <a:br>
              <a:rPr lang="en-IN" dirty="0"/>
            </a:br>
            <a:r>
              <a:rPr lang="en-IN" dirty="0"/>
              <a:t>3) Align the entire system to work for learning, work through political and technical barriers. Focus on the deeper issues which prevent learning. </a:t>
            </a:r>
          </a:p>
          <a:p>
            <a:endParaRPr lang="en-IN" dirty="0"/>
          </a:p>
        </p:txBody>
      </p:sp>
    </p:spTree>
    <p:extLst>
      <p:ext uri="{BB962C8B-B14F-4D97-AF65-F5344CB8AC3E}">
        <p14:creationId xmlns:p14="http://schemas.microsoft.com/office/powerpoint/2010/main" val="4235520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B69B3-C252-4780-8920-F11BB725E971}"/>
              </a:ext>
            </a:extLst>
          </p:cNvPr>
          <p:cNvSpPr>
            <a:spLocks noGrp="1"/>
          </p:cNvSpPr>
          <p:nvPr>
            <p:ph type="title"/>
          </p:nvPr>
        </p:nvSpPr>
        <p:spPr/>
        <p:txBody>
          <a:bodyPr/>
          <a:lstStyle/>
          <a:p>
            <a:r>
              <a:rPr lang="en-IN" dirty="0"/>
              <a:t>Figures in India</a:t>
            </a:r>
          </a:p>
        </p:txBody>
      </p:sp>
      <p:sp>
        <p:nvSpPr>
          <p:cNvPr id="3" name="Content Placeholder 2">
            <a:extLst>
              <a:ext uri="{FF2B5EF4-FFF2-40B4-BE49-F238E27FC236}">
                <a16:creationId xmlns:a16="http://schemas.microsoft.com/office/drawing/2014/main" id="{E5338C08-F77F-4771-9C3A-B5E207D6344A}"/>
              </a:ext>
            </a:extLst>
          </p:cNvPr>
          <p:cNvSpPr>
            <a:spLocks noGrp="1"/>
          </p:cNvSpPr>
          <p:nvPr>
            <p:ph idx="1"/>
          </p:nvPr>
        </p:nvSpPr>
        <p:spPr/>
        <p:txBody>
          <a:bodyPr>
            <a:normAutofit/>
          </a:bodyPr>
          <a:lstStyle/>
          <a:p>
            <a:r>
              <a:rPr lang="en-IN" dirty="0"/>
              <a:t>Today the Indian population is of 130 </a:t>
            </a:r>
            <a:r>
              <a:rPr lang="en-IN" dirty="0" err="1"/>
              <a:t>cr</a:t>
            </a:r>
            <a:r>
              <a:rPr lang="en-IN" dirty="0"/>
              <a:t> of </a:t>
            </a:r>
            <a:r>
              <a:rPr lang="en-IN" dirty="0" err="1"/>
              <a:t>whch</a:t>
            </a:r>
            <a:r>
              <a:rPr lang="en-IN" dirty="0"/>
              <a:t> there is a 13.5 </a:t>
            </a:r>
            <a:r>
              <a:rPr lang="en-IN" dirty="0" err="1"/>
              <a:t>cr</a:t>
            </a:r>
            <a:r>
              <a:rPr lang="en-IN" dirty="0"/>
              <a:t> enrolment in primary schools and 6.5 </a:t>
            </a:r>
            <a:r>
              <a:rPr lang="en-IN" dirty="0" err="1"/>
              <a:t>cr</a:t>
            </a:r>
            <a:r>
              <a:rPr lang="en-IN" dirty="0"/>
              <a:t> in upper primary. </a:t>
            </a:r>
          </a:p>
          <a:p>
            <a:r>
              <a:rPr lang="en-IN" dirty="0"/>
              <a:t>In 2015, 38% of elementary school children went to private school of which the proportion in rural areas was 30% and urban areas was 57%.</a:t>
            </a:r>
          </a:p>
          <a:p>
            <a:r>
              <a:rPr lang="en-IN" dirty="0"/>
              <a:t>There has been an increase in the number of people who have been joining school.</a:t>
            </a:r>
          </a:p>
          <a:p>
            <a:r>
              <a:rPr lang="en-IN" dirty="0"/>
              <a:t>However, out of the 25 mil children who enter grade 1, only 40% go past grade 10.</a:t>
            </a:r>
          </a:p>
          <a:p>
            <a:endParaRPr lang="en-IN" dirty="0"/>
          </a:p>
        </p:txBody>
      </p:sp>
    </p:spTree>
    <p:extLst>
      <p:ext uri="{BB962C8B-B14F-4D97-AF65-F5344CB8AC3E}">
        <p14:creationId xmlns:p14="http://schemas.microsoft.com/office/powerpoint/2010/main" val="1751902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00486-50F3-4E65-A372-1DF9A3637DC2}"/>
              </a:ext>
            </a:extLst>
          </p:cNvPr>
          <p:cNvSpPr>
            <a:spLocks noGrp="1"/>
          </p:cNvSpPr>
          <p:nvPr>
            <p:ph type="title"/>
          </p:nvPr>
        </p:nvSpPr>
        <p:spPr/>
        <p:txBody>
          <a:bodyPr/>
          <a:lstStyle/>
          <a:p>
            <a:r>
              <a:rPr lang="en-IN" dirty="0"/>
              <a:t>Figures in India</a:t>
            </a:r>
          </a:p>
        </p:txBody>
      </p:sp>
      <p:sp>
        <p:nvSpPr>
          <p:cNvPr id="3" name="Content Placeholder 2">
            <a:extLst>
              <a:ext uri="{FF2B5EF4-FFF2-40B4-BE49-F238E27FC236}">
                <a16:creationId xmlns:a16="http://schemas.microsoft.com/office/drawing/2014/main" id="{60B1FA91-1753-4C06-AB63-4768C8539EC6}"/>
              </a:ext>
            </a:extLst>
          </p:cNvPr>
          <p:cNvSpPr>
            <a:spLocks noGrp="1"/>
          </p:cNvSpPr>
          <p:nvPr>
            <p:ph idx="1"/>
          </p:nvPr>
        </p:nvSpPr>
        <p:spPr/>
        <p:txBody>
          <a:bodyPr/>
          <a:lstStyle/>
          <a:p>
            <a:r>
              <a:rPr lang="en-IN" dirty="0"/>
              <a:t>Of the 15 mil who want to study further, only 7.5 mil graduate and among them almost 50% are not employed.</a:t>
            </a:r>
          </a:p>
          <a:p>
            <a:r>
              <a:rPr lang="en-IN" dirty="0"/>
              <a:t>This does not mean that they are all unemployed, because often a lot of them are underemployed. </a:t>
            </a:r>
          </a:p>
          <a:p>
            <a:r>
              <a:rPr lang="en-IN" dirty="0"/>
              <a:t>By govt report, 3% of those with school education are underemployed, 10% who are graduate and 18% who are above graduation level. </a:t>
            </a:r>
          </a:p>
          <a:p>
            <a:pPr marL="0" indent="0">
              <a:buNone/>
            </a:pPr>
            <a:endParaRPr lang="en-IN" dirty="0"/>
          </a:p>
        </p:txBody>
      </p:sp>
    </p:spTree>
    <p:extLst>
      <p:ext uri="{BB962C8B-B14F-4D97-AF65-F5344CB8AC3E}">
        <p14:creationId xmlns:p14="http://schemas.microsoft.com/office/powerpoint/2010/main" val="3648651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B813-B45C-48F8-B537-D5420621491F}"/>
              </a:ext>
            </a:extLst>
          </p:cNvPr>
          <p:cNvSpPr>
            <a:spLocks noGrp="1"/>
          </p:cNvSpPr>
          <p:nvPr>
            <p:ph type="title"/>
          </p:nvPr>
        </p:nvSpPr>
        <p:spPr/>
        <p:txBody>
          <a:bodyPr/>
          <a:lstStyle/>
          <a:p>
            <a:r>
              <a:rPr lang="en-IN" dirty="0"/>
              <a:t>Current Education Needs</a:t>
            </a:r>
          </a:p>
        </p:txBody>
      </p:sp>
      <p:sp>
        <p:nvSpPr>
          <p:cNvPr id="3" name="Content Placeholder 2">
            <a:extLst>
              <a:ext uri="{FF2B5EF4-FFF2-40B4-BE49-F238E27FC236}">
                <a16:creationId xmlns:a16="http://schemas.microsoft.com/office/drawing/2014/main" id="{72AE17FC-A712-44B7-B47E-9BAB81004192}"/>
              </a:ext>
            </a:extLst>
          </p:cNvPr>
          <p:cNvSpPr>
            <a:spLocks noGrp="1"/>
          </p:cNvSpPr>
          <p:nvPr>
            <p:ph idx="1"/>
          </p:nvPr>
        </p:nvSpPr>
        <p:spPr/>
        <p:txBody>
          <a:bodyPr>
            <a:normAutofit/>
          </a:bodyPr>
          <a:lstStyle/>
          <a:p>
            <a:r>
              <a:rPr lang="en-IN" dirty="0"/>
              <a:t>According to an article by Kai-Fu Lee who is an accomplished artificial intelligence innovator and computer scientist, in next 15-20 years half of the jobs are going to be replaced by machines. </a:t>
            </a:r>
          </a:p>
          <a:p>
            <a:r>
              <a:rPr lang="en-IN" dirty="0"/>
              <a:t>By the way in which AI is progressing, the current schooling system is no longer adequate for the needs of the upcoming generations. </a:t>
            </a:r>
          </a:p>
          <a:p>
            <a:r>
              <a:rPr lang="en-IN" dirty="0"/>
              <a:t>Schools were ideally meant to spaces for holistic development and not just focus on good grades, and now this will become more important than ever. </a:t>
            </a:r>
          </a:p>
          <a:p>
            <a:r>
              <a:rPr lang="en-IN" dirty="0"/>
              <a:t>It is important that the schooling system makes changes within it, some fundamental qualities will remain like learning to listen and problem solving, but more importantly there is a need for qualities like learning to learn and being creative, for universal outcomes in the next phase of education. </a:t>
            </a:r>
          </a:p>
          <a:p>
            <a:endParaRPr lang="en-IN" dirty="0"/>
          </a:p>
        </p:txBody>
      </p:sp>
    </p:spTree>
    <p:extLst>
      <p:ext uri="{BB962C8B-B14F-4D97-AF65-F5344CB8AC3E}">
        <p14:creationId xmlns:p14="http://schemas.microsoft.com/office/powerpoint/2010/main" val="1244733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C99B-70DD-45DD-A887-A14194C38AEA}"/>
              </a:ext>
            </a:extLst>
          </p:cNvPr>
          <p:cNvSpPr>
            <a:spLocks noGrp="1"/>
          </p:cNvSpPr>
          <p:nvPr>
            <p:ph type="title"/>
          </p:nvPr>
        </p:nvSpPr>
        <p:spPr/>
        <p:txBody>
          <a:bodyPr/>
          <a:lstStyle/>
          <a:p>
            <a:r>
              <a:rPr lang="en-IN" dirty="0"/>
              <a:t>Is there a Learning Crisis?- Disha </a:t>
            </a:r>
            <a:r>
              <a:rPr lang="en-IN" dirty="0" err="1"/>
              <a:t>Nawani</a:t>
            </a:r>
            <a:endParaRPr lang="en-IN" dirty="0"/>
          </a:p>
        </p:txBody>
      </p:sp>
      <p:sp>
        <p:nvSpPr>
          <p:cNvPr id="3" name="Text Placeholder 2">
            <a:extLst>
              <a:ext uri="{FF2B5EF4-FFF2-40B4-BE49-F238E27FC236}">
                <a16:creationId xmlns:a16="http://schemas.microsoft.com/office/drawing/2014/main" id="{9EE5AB0E-9909-DE49-B72F-59C0A4A853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28430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F349-EEAD-4678-867D-D2F4501E567A}"/>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64B9C5D-7209-47FB-B0E1-BD48DBE02F37}"/>
              </a:ext>
            </a:extLst>
          </p:cNvPr>
          <p:cNvSpPr>
            <a:spLocks noGrp="1"/>
          </p:cNvSpPr>
          <p:nvPr>
            <p:ph idx="1"/>
          </p:nvPr>
        </p:nvSpPr>
        <p:spPr/>
        <p:txBody>
          <a:bodyPr>
            <a:normAutofit/>
          </a:bodyPr>
          <a:lstStyle/>
          <a:p>
            <a:r>
              <a:rPr lang="en-IN" dirty="0"/>
              <a:t>Crisis, by the author of this paper is looked at as a moment of extreme calamity when crucial steps required to taken immediately to prevent catastrophe. </a:t>
            </a:r>
          </a:p>
          <a:p>
            <a:r>
              <a:rPr lang="en-IN" b="1" dirty="0"/>
              <a:t>In the Indian context, this is related to both the quality of learning and the absence of learning among school children. </a:t>
            </a:r>
          </a:p>
          <a:p>
            <a:r>
              <a:rPr lang="en-IN" dirty="0"/>
              <a:t>The crisis that presents itself in education in the Indian context is the lack of students being able to even perform basic literacy and numeracy skills. </a:t>
            </a:r>
          </a:p>
          <a:p>
            <a:r>
              <a:rPr lang="en-IN" b="1" dirty="0"/>
              <a:t>The paper highlights two learning crises in India, one is of the importance of teachers and the role of public and private institutions in enabling learning. </a:t>
            </a:r>
          </a:p>
          <a:p>
            <a:pPr marL="0" indent="0">
              <a:buNone/>
            </a:pPr>
            <a:endParaRPr lang="en-IN" dirty="0"/>
          </a:p>
        </p:txBody>
      </p:sp>
    </p:spTree>
    <p:extLst>
      <p:ext uri="{BB962C8B-B14F-4D97-AF65-F5344CB8AC3E}">
        <p14:creationId xmlns:p14="http://schemas.microsoft.com/office/powerpoint/2010/main" val="3859957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3FDD-A4E6-4111-B425-7F9560436A33}"/>
              </a:ext>
            </a:extLst>
          </p:cNvPr>
          <p:cNvSpPr>
            <a:spLocks noGrp="1"/>
          </p:cNvSpPr>
          <p:nvPr>
            <p:ph type="title"/>
          </p:nvPr>
        </p:nvSpPr>
        <p:spPr/>
        <p:txBody>
          <a:bodyPr/>
          <a:lstStyle/>
          <a:p>
            <a:r>
              <a:rPr lang="en-IN" dirty="0"/>
              <a:t>Assessments and Results</a:t>
            </a:r>
          </a:p>
        </p:txBody>
      </p:sp>
      <p:sp>
        <p:nvSpPr>
          <p:cNvPr id="3" name="Content Placeholder 2">
            <a:extLst>
              <a:ext uri="{FF2B5EF4-FFF2-40B4-BE49-F238E27FC236}">
                <a16:creationId xmlns:a16="http://schemas.microsoft.com/office/drawing/2014/main" id="{E74F7AB3-BCD6-4474-98BD-B1C747883375}"/>
              </a:ext>
            </a:extLst>
          </p:cNvPr>
          <p:cNvSpPr>
            <a:spLocks noGrp="1"/>
          </p:cNvSpPr>
          <p:nvPr>
            <p:ph idx="1"/>
          </p:nvPr>
        </p:nvSpPr>
        <p:spPr/>
        <p:txBody>
          <a:bodyPr>
            <a:normAutofit/>
          </a:bodyPr>
          <a:lstStyle/>
          <a:p>
            <a:r>
              <a:rPr lang="en-IN" dirty="0"/>
              <a:t>The learning crisis in India is defined by assessment surveys like the Annal Status of Education Report (ASER) since 2005, which has been claiming that rural children going to schools are not equipped with age appropriate skills. </a:t>
            </a:r>
          </a:p>
          <a:p>
            <a:r>
              <a:rPr lang="en-IN" b="1" dirty="0"/>
              <a:t>The nature of learning assess in these surveys is limited to having minimal knowledge in literacy and numeracy based on the age of the child. </a:t>
            </a:r>
          </a:p>
          <a:p>
            <a:r>
              <a:rPr lang="en-IN" dirty="0"/>
              <a:t>While these tests do recognise differences in contexts among children, they don’t give them sufficient importance.</a:t>
            </a:r>
          </a:p>
          <a:p>
            <a:pPr marL="0" indent="0">
              <a:buNone/>
            </a:pPr>
            <a:endParaRPr lang="en-IN" dirty="0"/>
          </a:p>
        </p:txBody>
      </p:sp>
    </p:spTree>
    <p:extLst>
      <p:ext uri="{BB962C8B-B14F-4D97-AF65-F5344CB8AC3E}">
        <p14:creationId xmlns:p14="http://schemas.microsoft.com/office/powerpoint/2010/main" val="2863482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01B4E-51D1-4381-8BE1-28058D402CEA}"/>
              </a:ext>
            </a:extLst>
          </p:cNvPr>
          <p:cNvSpPr>
            <a:spLocks noGrp="1"/>
          </p:cNvSpPr>
          <p:nvPr>
            <p:ph type="title"/>
          </p:nvPr>
        </p:nvSpPr>
        <p:spPr/>
        <p:txBody>
          <a:bodyPr/>
          <a:lstStyle/>
          <a:p>
            <a:r>
              <a:rPr lang="en-IN" dirty="0"/>
              <a:t>Assessments and Results</a:t>
            </a:r>
          </a:p>
        </p:txBody>
      </p:sp>
      <p:sp>
        <p:nvSpPr>
          <p:cNvPr id="3" name="Content Placeholder 2">
            <a:extLst>
              <a:ext uri="{FF2B5EF4-FFF2-40B4-BE49-F238E27FC236}">
                <a16:creationId xmlns:a16="http://schemas.microsoft.com/office/drawing/2014/main" id="{FF5C5590-3072-4BF9-8C19-A314EBAC9F72}"/>
              </a:ext>
            </a:extLst>
          </p:cNvPr>
          <p:cNvSpPr>
            <a:spLocks noGrp="1"/>
          </p:cNvSpPr>
          <p:nvPr>
            <p:ph idx="1"/>
          </p:nvPr>
        </p:nvSpPr>
        <p:spPr/>
        <p:txBody>
          <a:bodyPr>
            <a:normAutofit/>
          </a:bodyPr>
          <a:lstStyle/>
          <a:p>
            <a:r>
              <a:rPr lang="en-IN" dirty="0"/>
              <a:t>Assessment tools have limitations even if they are valid and reliable, and give only a partial picture with a certain fixed idea of what learning is. </a:t>
            </a:r>
          </a:p>
          <a:p>
            <a:r>
              <a:rPr lang="en-IN" dirty="0"/>
              <a:t>Such assessments can only be used to assess abilities which can be objectively standardized. Plus, since data is collected within specific time periods and sufficient emphasis is not given to rapport building or allowing respondents to think with ease. </a:t>
            </a:r>
          </a:p>
          <a:p>
            <a:endParaRPr lang="en-IN" dirty="0"/>
          </a:p>
        </p:txBody>
      </p:sp>
    </p:spTree>
    <p:extLst>
      <p:ext uri="{BB962C8B-B14F-4D97-AF65-F5344CB8AC3E}">
        <p14:creationId xmlns:p14="http://schemas.microsoft.com/office/powerpoint/2010/main" val="3544687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4896A-BD6A-4C0C-93ED-B868AE783E3A}"/>
              </a:ext>
            </a:extLst>
          </p:cNvPr>
          <p:cNvSpPr>
            <a:spLocks noGrp="1"/>
          </p:cNvSpPr>
          <p:nvPr>
            <p:ph type="title"/>
          </p:nvPr>
        </p:nvSpPr>
        <p:spPr/>
        <p:txBody>
          <a:bodyPr/>
          <a:lstStyle/>
          <a:p>
            <a:r>
              <a:rPr lang="en-IN" dirty="0"/>
              <a:t>Assessments and Results</a:t>
            </a:r>
          </a:p>
        </p:txBody>
      </p:sp>
      <p:sp>
        <p:nvSpPr>
          <p:cNvPr id="3" name="Content Placeholder 2">
            <a:extLst>
              <a:ext uri="{FF2B5EF4-FFF2-40B4-BE49-F238E27FC236}">
                <a16:creationId xmlns:a16="http://schemas.microsoft.com/office/drawing/2014/main" id="{59493638-1428-4931-BCBC-011D4C726166}"/>
              </a:ext>
            </a:extLst>
          </p:cNvPr>
          <p:cNvSpPr>
            <a:spLocks noGrp="1"/>
          </p:cNvSpPr>
          <p:nvPr>
            <p:ph idx="1"/>
          </p:nvPr>
        </p:nvSpPr>
        <p:spPr/>
        <p:txBody>
          <a:bodyPr>
            <a:normAutofit/>
          </a:bodyPr>
          <a:lstStyle/>
          <a:p>
            <a:r>
              <a:rPr lang="en-IN" dirty="0"/>
              <a:t>Such kind of hype and visibility also increases the pressure on teachers to teach for the sake of the test since that is the way in which they can show that they have ‘produced results.’ </a:t>
            </a:r>
          </a:p>
          <a:p>
            <a:r>
              <a:rPr lang="en-IN" dirty="0"/>
              <a:t>Finally, large scale assessments mostly revolve around the mechanics of testing, sampling design and efficacy on tools and not on the implications of learning, pedagogic interactions and role and importance of teacher and prior knowledge of students. </a:t>
            </a:r>
          </a:p>
          <a:p>
            <a:pPr marL="0" indent="0">
              <a:buNone/>
            </a:pPr>
            <a:endParaRPr lang="en-IN" dirty="0"/>
          </a:p>
        </p:txBody>
      </p:sp>
    </p:spTree>
    <p:extLst>
      <p:ext uri="{BB962C8B-B14F-4D97-AF65-F5344CB8AC3E}">
        <p14:creationId xmlns:p14="http://schemas.microsoft.com/office/powerpoint/2010/main" val="982425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18DD-F74B-4739-9C2D-020886BF874C}"/>
              </a:ext>
            </a:extLst>
          </p:cNvPr>
          <p:cNvSpPr>
            <a:spLocks noGrp="1"/>
          </p:cNvSpPr>
          <p:nvPr>
            <p:ph type="title"/>
          </p:nvPr>
        </p:nvSpPr>
        <p:spPr/>
        <p:txBody>
          <a:bodyPr/>
          <a:lstStyle/>
          <a:p>
            <a:r>
              <a:rPr lang="en-IN" dirty="0"/>
              <a:t>Implications of Assessments </a:t>
            </a:r>
          </a:p>
        </p:txBody>
      </p:sp>
      <p:sp>
        <p:nvSpPr>
          <p:cNvPr id="3" name="Content Placeholder 2">
            <a:extLst>
              <a:ext uri="{FF2B5EF4-FFF2-40B4-BE49-F238E27FC236}">
                <a16:creationId xmlns:a16="http://schemas.microsoft.com/office/drawing/2014/main" id="{8AAA9B3B-FC4A-48F5-8404-709ED410B2D8}"/>
              </a:ext>
            </a:extLst>
          </p:cNvPr>
          <p:cNvSpPr>
            <a:spLocks noGrp="1"/>
          </p:cNvSpPr>
          <p:nvPr>
            <p:ph idx="1"/>
          </p:nvPr>
        </p:nvSpPr>
        <p:spPr/>
        <p:txBody>
          <a:bodyPr>
            <a:normAutofit/>
          </a:bodyPr>
          <a:lstStyle/>
          <a:p>
            <a:r>
              <a:rPr lang="en-IN" b="1" dirty="0"/>
              <a:t>Often, these tests end up focusing on the non-learning in government schools and make an assumption of private institutions being superior. This is a problematic stand point as it may:</a:t>
            </a:r>
            <a:br>
              <a:rPr lang="en-IN" b="1" dirty="0"/>
            </a:br>
            <a:endParaRPr lang="en-IN" b="1" dirty="0"/>
          </a:p>
          <a:p>
            <a:pPr marL="0" indent="0">
              <a:buNone/>
            </a:pPr>
            <a:r>
              <a:rPr lang="en-IN" b="1" dirty="0"/>
              <a:t>1) underplay the extremely constrained and challenging backgrounds that students from rural populations come from.</a:t>
            </a:r>
          </a:p>
          <a:p>
            <a:pPr marL="0" indent="0">
              <a:buNone/>
            </a:pPr>
            <a:br>
              <a:rPr lang="en-IN" b="1" dirty="0"/>
            </a:br>
            <a:r>
              <a:rPr lang="en-IN" b="1" dirty="0"/>
              <a:t>2) the proposed solution of private schools being allowed to flourish without regulations given in the RTE has the scope of being misused. </a:t>
            </a:r>
            <a:br>
              <a:rPr lang="en-IN" b="1" dirty="0"/>
            </a:br>
            <a:endParaRPr lang="en-IN" b="1" dirty="0"/>
          </a:p>
        </p:txBody>
      </p:sp>
    </p:spTree>
    <p:extLst>
      <p:ext uri="{BB962C8B-B14F-4D97-AF65-F5344CB8AC3E}">
        <p14:creationId xmlns:p14="http://schemas.microsoft.com/office/powerpoint/2010/main" val="1699164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8FEF7-9371-447B-82C9-E3171F26F3C2}"/>
              </a:ext>
            </a:extLst>
          </p:cNvPr>
          <p:cNvSpPr>
            <a:spLocks noGrp="1"/>
          </p:cNvSpPr>
          <p:nvPr>
            <p:ph type="title"/>
          </p:nvPr>
        </p:nvSpPr>
        <p:spPr/>
        <p:txBody>
          <a:bodyPr/>
          <a:lstStyle/>
          <a:p>
            <a:r>
              <a:rPr lang="en-IN" dirty="0"/>
              <a:t>Implications of Assessments </a:t>
            </a:r>
          </a:p>
        </p:txBody>
      </p:sp>
      <p:sp>
        <p:nvSpPr>
          <p:cNvPr id="3" name="Content Placeholder 2">
            <a:extLst>
              <a:ext uri="{FF2B5EF4-FFF2-40B4-BE49-F238E27FC236}">
                <a16:creationId xmlns:a16="http://schemas.microsoft.com/office/drawing/2014/main" id="{16E02796-AA06-496F-A2DA-0CC8E5E3FE2E}"/>
              </a:ext>
            </a:extLst>
          </p:cNvPr>
          <p:cNvSpPr>
            <a:spLocks noGrp="1"/>
          </p:cNvSpPr>
          <p:nvPr>
            <p:ph idx="1"/>
          </p:nvPr>
        </p:nvSpPr>
        <p:spPr/>
        <p:txBody>
          <a:bodyPr>
            <a:normAutofit/>
          </a:bodyPr>
          <a:lstStyle/>
          <a:p>
            <a:pPr marL="0" indent="0">
              <a:buNone/>
            </a:pPr>
            <a:r>
              <a:rPr lang="en-IN" dirty="0"/>
              <a:t>3) There is the undermining of welfare oriented public institutes and there is a flawed understanding that their dysfunctionality can be resolved by eliminating them. </a:t>
            </a:r>
          </a:p>
          <a:p>
            <a:pPr marL="0" indent="0">
              <a:buNone/>
            </a:pPr>
            <a:r>
              <a:rPr lang="en-IN" dirty="0"/>
              <a:t>4) The faith in the competence and motivation of under-trained and underpaid contractual teachers is misplaced and undermines the integrity of the teaching profession.</a:t>
            </a:r>
            <a:br>
              <a:rPr lang="en-IN" dirty="0"/>
            </a:br>
            <a:r>
              <a:rPr lang="en-IN" dirty="0"/>
              <a:t>5) Finally, the implications of these tests is such that it reduces the meaning of learning to a minimum core where curriculum, pedagogy and assessment are geared towards only basic skills. </a:t>
            </a:r>
          </a:p>
          <a:p>
            <a:endParaRPr lang="en-IN" dirty="0"/>
          </a:p>
        </p:txBody>
      </p:sp>
    </p:spTree>
    <p:extLst>
      <p:ext uri="{BB962C8B-B14F-4D97-AF65-F5344CB8AC3E}">
        <p14:creationId xmlns:p14="http://schemas.microsoft.com/office/powerpoint/2010/main" val="1645280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FF22-8D3E-42A5-A314-829BC2D82165}"/>
              </a:ext>
            </a:extLst>
          </p:cNvPr>
          <p:cNvSpPr>
            <a:spLocks noGrp="1"/>
          </p:cNvSpPr>
          <p:nvPr>
            <p:ph type="title"/>
          </p:nvPr>
        </p:nvSpPr>
        <p:spPr/>
        <p:txBody>
          <a:bodyPr/>
          <a:lstStyle/>
          <a:p>
            <a:r>
              <a:rPr lang="en-IN" dirty="0"/>
              <a:t>Social Stratification in India</a:t>
            </a:r>
          </a:p>
        </p:txBody>
      </p:sp>
      <p:sp>
        <p:nvSpPr>
          <p:cNvPr id="3" name="Content Placeholder 2">
            <a:extLst>
              <a:ext uri="{FF2B5EF4-FFF2-40B4-BE49-F238E27FC236}">
                <a16:creationId xmlns:a16="http://schemas.microsoft.com/office/drawing/2014/main" id="{B2EC661C-B352-4619-BD39-20AE0C8DCEA8}"/>
              </a:ext>
            </a:extLst>
          </p:cNvPr>
          <p:cNvSpPr>
            <a:spLocks noGrp="1"/>
          </p:cNvSpPr>
          <p:nvPr>
            <p:ph idx="1"/>
          </p:nvPr>
        </p:nvSpPr>
        <p:spPr/>
        <p:txBody>
          <a:bodyPr>
            <a:normAutofit/>
          </a:bodyPr>
          <a:lstStyle/>
          <a:p>
            <a:pPr lvl="0"/>
            <a:r>
              <a:rPr lang="en-IN" dirty="0"/>
              <a:t>Nonetheless, if children going to school are unable to pick up basic skills which form foundations of initial learning, it is a concern. </a:t>
            </a:r>
          </a:p>
          <a:p>
            <a:pPr lvl="0"/>
            <a:r>
              <a:rPr lang="en-IN" dirty="0"/>
              <a:t>But the blame cannot be given to simple cause and effect relations, there are more systematic reasons that one must examine. </a:t>
            </a:r>
          </a:p>
          <a:p>
            <a:pPr lvl="0"/>
            <a:r>
              <a:rPr lang="en-IN" dirty="0"/>
              <a:t>The four-tired division in India is mainly:</a:t>
            </a:r>
            <a:br>
              <a:rPr lang="en-IN" dirty="0"/>
            </a:br>
            <a:r>
              <a:rPr lang="en-IN" b="1" dirty="0"/>
              <a:t>1) the top tier which is elite schools and are unaided private schools.</a:t>
            </a:r>
            <a:br>
              <a:rPr lang="en-IN" b="1" dirty="0"/>
            </a:br>
            <a:r>
              <a:rPr lang="en-IN" b="1" dirty="0"/>
              <a:t>2) The next layer is the government central schools and quality private aided or unaided schools. </a:t>
            </a:r>
            <a:br>
              <a:rPr lang="en-IN" b="1" dirty="0"/>
            </a:br>
            <a:r>
              <a:rPr lang="en-IN" b="1" dirty="0"/>
              <a:t>3) The third tier are private aided or unaided schools which are of average quality. </a:t>
            </a:r>
            <a:br>
              <a:rPr lang="en-IN" b="1" dirty="0"/>
            </a:br>
            <a:r>
              <a:rPr lang="en-IN" b="1" dirty="0"/>
              <a:t>4) Finally the fourth category are local body schools and low cost private schools. </a:t>
            </a:r>
          </a:p>
          <a:p>
            <a:endParaRPr lang="en-IN" dirty="0"/>
          </a:p>
        </p:txBody>
      </p:sp>
    </p:spTree>
    <p:extLst>
      <p:ext uri="{BB962C8B-B14F-4D97-AF65-F5344CB8AC3E}">
        <p14:creationId xmlns:p14="http://schemas.microsoft.com/office/powerpoint/2010/main" val="3684266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7BC5-C70C-4FC3-9079-80077079C54F}"/>
              </a:ext>
            </a:extLst>
          </p:cNvPr>
          <p:cNvSpPr>
            <a:spLocks noGrp="1"/>
          </p:cNvSpPr>
          <p:nvPr>
            <p:ph type="title"/>
          </p:nvPr>
        </p:nvSpPr>
        <p:spPr/>
        <p:txBody>
          <a:bodyPr/>
          <a:lstStyle/>
          <a:p>
            <a:r>
              <a:rPr lang="en-IN" dirty="0"/>
              <a:t>Implications of Stratification</a:t>
            </a:r>
          </a:p>
        </p:txBody>
      </p:sp>
      <p:sp>
        <p:nvSpPr>
          <p:cNvPr id="3" name="Content Placeholder 2">
            <a:extLst>
              <a:ext uri="{FF2B5EF4-FFF2-40B4-BE49-F238E27FC236}">
                <a16:creationId xmlns:a16="http://schemas.microsoft.com/office/drawing/2014/main" id="{AACF102E-CD01-41D4-833C-4F359C7620FA}"/>
              </a:ext>
            </a:extLst>
          </p:cNvPr>
          <p:cNvSpPr>
            <a:spLocks noGrp="1"/>
          </p:cNvSpPr>
          <p:nvPr>
            <p:ph idx="1"/>
          </p:nvPr>
        </p:nvSpPr>
        <p:spPr/>
        <p:txBody>
          <a:bodyPr>
            <a:normAutofit/>
          </a:bodyPr>
          <a:lstStyle/>
          <a:p>
            <a:r>
              <a:rPr lang="en-IN" dirty="0"/>
              <a:t>There is a direct connection between socio-economic backgrounds and the kind of accessibility to schools and the kind of resources and teachers that exist within those spaces. </a:t>
            </a:r>
          </a:p>
          <a:p>
            <a:pPr lvl="0"/>
            <a:r>
              <a:rPr lang="en-IN" dirty="0"/>
              <a:t>Schools which have poor infrastructure significantly reduce the desirability of learning and therefore impedes learning. </a:t>
            </a:r>
          </a:p>
          <a:p>
            <a:pPr lvl="0"/>
            <a:r>
              <a:rPr lang="en-IN" dirty="0"/>
              <a:t>This would mean that the learning crisis is not true across all sections of the society. </a:t>
            </a:r>
          </a:p>
          <a:p>
            <a:pPr marL="0" indent="0">
              <a:buNone/>
            </a:pPr>
            <a:endParaRPr lang="en-IN" dirty="0"/>
          </a:p>
        </p:txBody>
      </p:sp>
    </p:spTree>
    <p:extLst>
      <p:ext uri="{BB962C8B-B14F-4D97-AF65-F5344CB8AC3E}">
        <p14:creationId xmlns:p14="http://schemas.microsoft.com/office/powerpoint/2010/main" val="1938426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0F6EF-205A-4A04-AAF6-AC87062B6D3A}"/>
              </a:ext>
            </a:extLst>
          </p:cNvPr>
          <p:cNvSpPr>
            <a:spLocks noGrp="1"/>
          </p:cNvSpPr>
          <p:nvPr>
            <p:ph type="title"/>
          </p:nvPr>
        </p:nvSpPr>
        <p:spPr/>
        <p:txBody>
          <a:bodyPr/>
          <a:lstStyle/>
          <a:p>
            <a:r>
              <a:rPr lang="en-IN" dirty="0"/>
              <a:t>General Problems of Education System</a:t>
            </a:r>
          </a:p>
        </p:txBody>
      </p:sp>
      <p:sp>
        <p:nvSpPr>
          <p:cNvPr id="3" name="Content Placeholder 2">
            <a:extLst>
              <a:ext uri="{FF2B5EF4-FFF2-40B4-BE49-F238E27FC236}">
                <a16:creationId xmlns:a16="http://schemas.microsoft.com/office/drawing/2014/main" id="{D009C6B8-EE8E-4105-998C-0DB57AAE7233}"/>
              </a:ext>
            </a:extLst>
          </p:cNvPr>
          <p:cNvSpPr>
            <a:spLocks noGrp="1"/>
          </p:cNvSpPr>
          <p:nvPr>
            <p:ph idx="1"/>
          </p:nvPr>
        </p:nvSpPr>
        <p:spPr/>
        <p:txBody>
          <a:bodyPr/>
          <a:lstStyle/>
          <a:p>
            <a:pPr lvl="0"/>
            <a:r>
              <a:rPr lang="en-IN" dirty="0"/>
              <a:t>That being said, students from both backgrounds are taught to understand learning as memorizing content.</a:t>
            </a:r>
          </a:p>
          <a:p>
            <a:r>
              <a:rPr lang="en-IN" dirty="0"/>
              <a:t>Unlike the manner in which schools create a monopoly over the process of learning, learning takes places outside of the four walls as well. </a:t>
            </a:r>
          </a:p>
          <a:p>
            <a:r>
              <a:rPr lang="en-IN" dirty="0"/>
              <a:t>Indian schools affiliated with the central board or state boards confine learning to text books. </a:t>
            </a:r>
          </a:p>
          <a:p>
            <a:pPr marL="0" indent="0">
              <a:buNone/>
            </a:pPr>
            <a:endParaRPr lang="en-IN" dirty="0"/>
          </a:p>
        </p:txBody>
      </p:sp>
    </p:spTree>
    <p:extLst>
      <p:ext uri="{BB962C8B-B14F-4D97-AF65-F5344CB8AC3E}">
        <p14:creationId xmlns:p14="http://schemas.microsoft.com/office/powerpoint/2010/main" val="2608842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0A29-A075-4D9C-AF81-3275A98D113D}"/>
              </a:ext>
            </a:extLst>
          </p:cNvPr>
          <p:cNvSpPr>
            <a:spLocks noGrp="1"/>
          </p:cNvSpPr>
          <p:nvPr>
            <p:ph type="title"/>
          </p:nvPr>
        </p:nvSpPr>
        <p:spPr/>
        <p:txBody>
          <a:bodyPr/>
          <a:lstStyle/>
          <a:p>
            <a:r>
              <a:rPr lang="en-IN" dirty="0"/>
              <a:t>General Problems of Education Systems</a:t>
            </a:r>
          </a:p>
        </p:txBody>
      </p:sp>
      <p:sp>
        <p:nvSpPr>
          <p:cNvPr id="3" name="Content Placeholder 2">
            <a:extLst>
              <a:ext uri="{FF2B5EF4-FFF2-40B4-BE49-F238E27FC236}">
                <a16:creationId xmlns:a16="http://schemas.microsoft.com/office/drawing/2014/main" id="{6415E59F-1262-4E7B-9659-696B80A83DC7}"/>
              </a:ext>
            </a:extLst>
          </p:cNvPr>
          <p:cNvSpPr>
            <a:spLocks noGrp="1"/>
          </p:cNvSpPr>
          <p:nvPr>
            <p:ph idx="1"/>
          </p:nvPr>
        </p:nvSpPr>
        <p:spPr/>
        <p:txBody>
          <a:bodyPr/>
          <a:lstStyle/>
          <a:p>
            <a:pPr lvl="0"/>
            <a:r>
              <a:rPr lang="en-IN" dirty="0"/>
              <a:t>The other evil along with text books is the objective assessment practices in schools. </a:t>
            </a:r>
          </a:p>
          <a:p>
            <a:pPr lvl="0"/>
            <a:r>
              <a:rPr lang="en-IN" dirty="0"/>
              <a:t>Learning become synonymous to getting marks in examinations, which was a legacy of the colonial education system. </a:t>
            </a:r>
          </a:p>
          <a:p>
            <a:r>
              <a:rPr lang="en-IN" dirty="0"/>
              <a:t>The manner of examinations puts stress on students and ability to memorize is rewarded.</a:t>
            </a:r>
          </a:p>
          <a:p>
            <a:pPr marL="0" indent="0">
              <a:buNone/>
            </a:pPr>
            <a:endParaRPr lang="en-IN" dirty="0"/>
          </a:p>
        </p:txBody>
      </p:sp>
    </p:spTree>
    <p:extLst>
      <p:ext uri="{BB962C8B-B14F-4D97-AF65-F5344CB8AC3E}">
        <p14:creationId xmlns:p14="http://schemas.microsoft.com/office/powerpoint/2010/main" val="2573265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079C-FC9E-4EC1-A756-F9511C19DABC}"/>
              </a:ext>
            </a:extLst>
          </p:cNvPr>
          <p:cNvSpPr>
            <a:spLocks noGrp="1"/>
          </p:cNvSpPr>
          <p:nvPr>
            <p:ph type="title"/>
          </p:nvPr>
        </p:nvSpPr>
        <p:spPr/>
        <p:txBody>
          <a:bodyPr/>
          <a:lstStyle/>
          <a:p>
            <a:r>
              <a:rPr lang="en-IN" dirty="0"/>
              <a:t>General Problems of Education Systems</a:t>
            </a:r>
          </a:p>
        </p:txBody>
      </p:sp>
      <p:sp>
        <p:nvSpPr>
          <p:cNvPr id="3" name="Content Placeholder 2">
            <a:extLst>
              <a:ext uri="{FF2B5EF4-FFF2-40B4-BE49-F238E27FC236}">
                <a16:creationId xmlns:a16="http://schemas.microsoft.com/office/drawing/2014/main" id="{F59871E8-B57D-4337-932E-C7E93F52F88F}"/>
              </a:ext>
            </a:extLst>
          </p:cNvPr>
          <p:cNvSpPr>
            <a:spLocks noGrp="1"/>
          </p:cNvSpPr>
          <p:nvPr>
            <p:ph idx="1"/>
          </p:nvPr>
        </p:nvSpPr>
        <p:spPr/>
        <p:txBody>
          <a:bodyPr>
            <a:normAutofit/>
          </a:bodyPr>
          <a:lstStyle/>
          <a:p>
            <a:pPr lvl="0"/>
            <a:r>
              <a:rPr lang="en-IN" dirty="0"/>
              <a:t>Eventually the centre proposed a school based continuous comprehensive evaluation which broadened the scope of learning and placed the teacher in the most suitable position to assess the child.</a:t>
            </a:r>
          </a:p>
          <a:p>
            <a:pPr lvl="0"/>
            <a:r>
              <a:rPr lang="en-IN" dirty="0"/>
              <a:t>With this came the addition in the RTE Act to not detain any child in a class till completion of elementary schooling, which was ridiculed by policy makers, parents and teachers, since they believed it promoted a carefree environment. </a:t>
            </a:r>
          </a:p>
          <a:p>
            <a:pPr lvl="0"/>
            <a:r>
              <a:rPr lang="en-IN" dirty="0"/>
              <a:t>The policy was eventually reversed and board exams were reintroduced as early as Grade V.</a:t>
            </a:r>
          </a:p>
          <a:p>
            <a:pPr marL="0" indent="0">
              <a:buNone/>
            </a:pPr>
            <a:endParaRPr lang="en-IN" dirty="0"/>
          </a:p>
        </p:txBody>
      </p:sp>
    </p:spTree>
    <p:extLst>
      <p:ext uri="{BB962C8B-B14F-4D97-AF65-F5344CB8AC3E}">
        <p14:creationId xmlns:p14="http://schemas.microsoft.com/office/powerpoint/2010/main" val="3990295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A9DCD-261C-42DE-B1EB-B264F89D7EE2}"/>
              </a:ext>
            </a:extLst>
          </p:cNvPr>
          <p:cNvSpPr>
            <a:spLocks noGrp="1"/>
          </p:cNvSpPr>
          <p:nvPr>
            <p:ph type="title"/>
          </p:nvPr>
        </p:nvSpPr>
        <p:spPr/>
        <p:txBody>
          <a:bodyPr/>
          <a:lstStyle/>
          <a:p>
            <a:r>
              <a:rPr lang="en-IN" dirty="0"/>
              <a:t>Suggestions for Changes</a:t>
            </a:r>
          </a:p>
        </p:txBody>
      </p:sp>
      <p:sp>
        <p:nvSpPr>
          <p:cNvPr id="3" name="Content Placeholder 2">
            <a:extLst>
              <a:ext uri="{FF2B5EF4-FFF2-40B4-BE49-F238E27FC236}">
                <a16:creationId xmlns:a16="http://schemas.microsoft.com/office/drawing/2014/main" id="{1ABB6C1F-DD05-4AA0-ADAB-3401267D8D9C}"/>
              </a:ext>
            </a:extLst>
          </p:cNvPr>
          <p:cNvSpPr>
            <a:spLocks noGrp="1"/>
          </p:cNvSpPr>
          <p:nvPr>
            <p:ph idx="1"/>
          </p:nvPr>
        </p:nvSpPr>
        <p:spPr/>
        <p:txBody>
          <a:bodyPr/>
          <a:lstStyle/>
          <a:p>
            <a:pPr lvl="0"/>
            <a:r>
              <a:rPr lang="en-IN" dirty="0"/>
              <a:t>It is necessary to recognize that a singular heterogenous textbook cannot encapsulate all the diversity within the children. This jeopardizes their learning.</a:t>
            </a:r>
          </a:p>
          <a:p>
            <a:pPr lvl="0"/>
            <a:r>
              <a:rPr lang="en-IN" dirty="0"/>
              <a:t>It should also be kept in mind that children often also learn in other different ways which should be catered to. </a:t>
            </a:r>
          </a:p>
          <a:p>
            <a:endParaRPr lang="en-IN" dirty="0"/>
          </a:p>
        </p:txBody>
      </p:sp>
    </p:spTree>
    <p:extLst>
      <p:ext uri="{BB962C8B-B14F-4D97-AF65-F5344CB8AC3E}">
        <p14:creationId xmlns:p14="http://schemas.microsoft.com/office/powerpoint/2010/main" val="1685946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21F0-028F-4A2F-B645-D4044D1BC844}"/>
              </a:ext>
            </a:extLst>
          </p:cNvPr>
          <p:cNvSpPr>
            <a:spLocks noGrp="1"/>
          </p:cNvSpPr>
          <p:nvPr>
            <p:ph type="title"/>
          </p:nvPr>
        </p:nvSpPr>
        <p:spPr/>
        <p:txBody>
          <a:bodyPr/>
          <a:lstStyle/>
          <a:p>
            <a:r>
              <a:rPr lang="en-IN" dirty="0"/>
              <a:t>Suggestions for Change</a:t>
            </a:r>
          </a:p>
        </p:txBody>
      </p:sp>
      <p:sp>
        <p:nvSpPr>
          <p:cNvPr id="3" name="Content Placeholder 2">
            <a:extLst>
              <a:ext uri="{FF2B5EF4-FFF2-40B4-BE49-F238E27FC236}">
                <a16:creationId xmlns:a16="http://schemas.microsoft.com/office/drawing/2014/main" id="{12B5CC42-A142-410C-B2F2-1C309AB460F9}"/>
              </a:ext>
            </a:extLst>
          </p:cNvPr>
          <p:cNvSpPr>
            <a:spLocks noGrp="1"/>
          </p:cNvSpPr>
          <p:nvPr>
            <p:ph idx="1"/>
          </p:nvPr>
        </p:nvSpPr>
        <p:spPr/>
        <p:txBody>
          <a:bodyPr>
            <a:normAutofit/>
          </a:bodyPr>
          <a:lstStyle/>
          <a:p>
            <a:pPr lvl="0"/>
            <a:r>
              <a:rPr lang="en-IN" dirty="0"/>
              <a:t>The National Curriculum Framework in 2005 was an important document which linked the problem with dropouts to the inequality within the education system. </a:t>
            </a:r>
          </a:p>
          <a:p>
            <a:pPr lvl="0"/>
            <a:r>
              <a:rPr lang="en-IN" dirty="0"/>
              <a:t>It mentioned the failure of the current curriculum and a need to have a system that acknowledges agency of the child and creates a space where the child can learn without fear. </a:t>
            </a:r>
          </a:p>
          <a:p>
            <a:pPr lvl="0"/>
            <a:r>
              <a:rPr lang="en-IN" dirty="0"/>
              <a:t>There are also solutions proposed towards shifting the responsibility towards the institutions.</a:t>
            </a:r>
          </a:p>
          <a:p>
            <a:pPr marL="0" indent="0">
              <a:buNone/>
            </a:pPr>
            <a:endParaRPr lang="en-IN" dirty="0"/>
          </a:p>
        </p:txBody>
      </p:sp>
    </p:spTree>
    <p:extLst>
      <p:ext uri="{BB962C8B-B14F-4D97-AF65-F5344CB8AC3E}">
        <p14:creationId xmlns:p14="http://schemas.microsoft.com/office/powerpoint/2010/main" val="3746851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89E4-6C7D-4BBE-A7F8-AD9D5EFDAD4D}"/>
              </a:ext>
            </a:extLst>
          </p:cNvPr>
          <p:cNvSpPr>
            <a:spLocks noGrp="1"/>
          </p:cNvSpPr>
          <p:nvPr>
            <p:ph type="title"/>
          </p:nvPr>
        </p:nvSpPr>
        <p:spPr/>
        <p:txBody>
          <a:bodyPr/>
          <a:lstStyle/>
          <a:p>
            <a:r>
              <a:rPr lang="en-IN" dirty="0"/>
              <a:t>Suggestions for Change</a:t>
            </a:r>
          </a:p>
        </p:txBody>
      </p:sp>
      <p:sp>
        <p:nvSpPr>
          <p:cNvPr id="3" name="Content Placeholder 2">
            <a:extLst>
              <a:ext uri="{FF2B5EF4-FFF2-40B4-BE49-F238E27FC236}">
                <a16:creationId xmlns:a16="http://schemas.microsoft.com/office/drawing/2014/main" id="{26A95E86-9E4A-4A7E-93AF-BA5E72854B8F}"/>
              </a:ext>
            </a:extLst>
          </p:cNvPr>
          <p:cNvSpPr>
            <a:spLocks noGrp="1"/>
          </p:cNvSpPr>
          <p:nvPr>
            <p:ph idx="1"/>
          </p:nvPr>
        </p:nvSpPr>
        <p:spPr/>
        <p:txBody>
          <a:bodyPr>
            <a:normAutofit/>
          </a:bodyPr>
          <a:lstStyle/>
          <a:p>
            <a:pPr lvl="0"/>
            <a:r>
              <a:rPr lang="en-IN" dirty="0"/>
              <a:t>Low cost private schools have been aggressively making their presence felt and claiming that they are doing a better job that government schools. </a:t>
            </a:r>
          </a:p>
          <a:p>
            <a:pPr lvl="0"/>
            <a:r>
              <a:rPr lang="en-IN" dirty="0"/>
              <a:t>Rather than eliminating government schools, it is important to find system changes that will improve them. </a:t>
            </a:r>
          </a:p>
          <a:p>
            <a:pPr lvl="0"/>
            <a:r>
              <a:rPr lang="en-IN" dirty="0"/>
              <a:t>At the end of it, in the current states that schools are in, is not enough. </a:t>
            </a:r>
          </a:p>
          <a:p>
            <a:pPr lvl="0"/>
            <a:r>
              <a:rPr lang="en-IN" dirty="0"/>
              <a:t>All suggestions that have been mentioned, will have a limited impact in making significant changes.</a:t>
            </a:r>
          </a:p>
          <a:p>
            <a:pPr lvl="0"/>
            <a:r>
              <a:rPr lang="en-IN" dirty="0"/>
              <a:t>Meaningful change would require breaking the current system of education, which is currently linked with the stratified social structure and de-link marks obtained to better jobs. </a:t>
            </a:r>
          </a:p>
          <a:p>
            <a:pPr marL="0" indent="0">
              <a:buNone/>
            </a:pPr>
            <a:endParaRPr lang="en-IN" dirty="0"/>
          </a:p>
        </p:txBody>
      </p:sp>
    </p:spTree>
    <p:extLst>
      <p:ext uri="{BB962C8B-B14F-4D97-AF65-F5344CB8AC3E}">
        <p14:creationId xmlns:p14="http://schemas.microsoft.com/office/powerpoint/2010/main" val="1443634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a:rPr>
              <a:t>Low-learning traps &amp; teacher-centric solutions</a:t>
            </a:r>
            <a:endParaRPr lang="en-US" dirty="0"/>
          </a:p>
        </p:txBody>
      </p:sp>
      <p:sp>
        <p:nvSpPr>
          <p:cNvPr id="3" name="Subtitle 2"/>
          <p:cNvSpPr>
            <a:spLocks noGrp="1"/>
          </p:cNvSpPr>
          <p:nvPr>
            <p:ph type="body" idx="1"/>
          </p:nvPr>
        </p:nvSpPr>
        <p:spPr/>
        <p:txBody>
          <a:bodyPr vert="horz" lIns="91440" tIns="45720" rIns="91440" bIns="45720" rtlCol="0" anchor="t">
            <a:normAutofit/>
          </a:bodyPr>
          <a:lstStyle/>
          <a:p>
            <a:endParaRPr lang="en-US" dirty="0">
              <a:cs typeface="Calibri"/>
            </a:endParaRPr>
          </a:p>
          <a:p>
            <a:endParaRPr lang="en-US" dirty="0">
              <a:cs typeface="Calibri"/>
            </a:endParaRPr>
          </a:p>
        </p:txBody>
      </p:sp>
    </p:spTree>
    <p:extLst>
      <p:ext uri="{BB962C8B-B14F-4D97-AF65-F5344CB8AC3E}">
        <p14:creationId xmlns:p14="http://schemas.microsoft.com/office/powerpoint/2010/main" val="16204022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21C7-115D-4761-9552-F45199AFED95}"/>
              </a:ext>
            </a:extLst>
          </p:cNvPr>
          <p:cNvSpPr>
            <a:spLocks noGrp="1"/>
          </p:cNvSpPr>
          <p:nvPr>
            <p:ph type="title"/>
          </p:nvPr>
        </p:nvSpPr>
        <p:spPr/>
        <p:txBody>
          <a:bodyPr>
            <a:normAutofit/>
          </a:bodyPr>
          <a:lstStyle/>
          <a:p>
            <a:pPr algn="ctr"/>
            <a:r>
              <a:rPr lang="en-US" dirty="0">
                <a:cs typeface="Calibri Light"/>
              </a:rPr>
              <a:t>Betrayal or Benefit? </a:t>
            </a:r>
            <a:br>
              <a:rPr lang="en-US" dirty="0">
                <a:cs typeface="Calibri Light"/>
              </a:rPr>
            </a:br>
            <a:r>
              <a:rPr lang="en-US" dirty="0">
                <a:cs typeface="Calibri Light"/>
              </a:rPr>
              <a:t>                                   </a:t>
            </a:r>
            <a:r>
              <a:rPr lang="en-US" sz="4000" dirty="0">
                <a:cs typeface="Calibri Light"/>
              </a:rPr>
              <a:t>- </a:t>
            </a:r>
            <a:r>
              <a:rPr lang="en-US" sz="3200" dirty="0">
                <a:cs typeface="Calibri Light"/>
              </a:rPr>
              <a:t>Rukmini Banerjee</a:t>
            </a:r>
            <a:endParaRPr lang="en-US" sz="3600" dirty="0">
              <a:cs typeface="Calibri Light"/>
            </a:endParaRPr>
          </a:p>
        </p:txBody>
      </p:sp>
      <p:sp>
        <p:nvSpPr>
          <p:cNvPr id="3" name="Content Placeholder 2">
            <a:extLst>
              <a:ext uri="{FF2B5EF4-FFF2-40B4-BE49-F238E27FC236}">
                <a16:creationId xmlns:a16="http://schemas.microsoft.com/office/drawing/2014/main" id="{BE7F392D-CE45-4BAB-9548-6E378AB0CACB}"/>
              </a:ext>
            </a:extLst>
          </p:cNvPr>
          <p:cNvSpPr>
            <a:spLocks noGrp="1"/>
          </p:cNvSpPr>
          <p:nvPr>
            <p:ph idx="1"/>
          </p:nvPr>
        </p:nvSpPr>
        <p:spPr/>
        <p:txBody>
          <a:bodyPr vert="horz" lIns="91440" tIns="45720" rIns="91440" bIns="45720" rtlCol="0" anchor="t">
            <a:normAutofit/>
          </a:bodyPr>
          <a:lstStyle/>
          <a:p>
            <a:pPr marL="0" indent="0">
              <a:buNone/>
            </a:pPr>
            <a:endParaRPr lang="en-US" dirty="0">
              <a:cs typeface="Calibri"/>
            </a:endParaRPr>
          </a:p>
          <a:p>
            <a:r>
              <a:rPr lang="en-US" dirty="0">
                <a:cs typeface="Calibri"/>
              </a:rPr>
              <a:t>The paper examines the extent of learning at the end of elementary education, as well as future educational prospects</a:t>
            </a:r>
          </a:p>
          <a:p>
            <a:pPr marL="0" indent="0">
              <a:buNone/>
            </a:pPr>
            <a:endParaRPr lang="en-US" dirty="0">
              <a:cs typeface="Calibri"/>
            </a:endParaRPr>
          </a:p>
          <a:p>
            <a:r>
              <a:rPr lang="en-US" dirty="0">
                <a:cs typeface="Calibri"/>
              </a:rPr>
              <a:t>With policy focus shifting towards secondary education, it is important to understand the capabilities of students transitioning from elementary to secondary school</a:t>
            </a:r>
          </a:p>
        </p:txBody>
      </p:sp>
    </p:spTree>
    <p:extLst>
      <p:ext uri="{BB962C8B-B14F-4D97-AF65-F5344CB8AC3E}">
        <p14:creationId xmlns:p14="http://schemas.microsoft.com/office/powerpoint/2010/main" val="41750150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70E7-4AFC-4C1B-B9E4-E7D494B4E383}"/>
              </a:ext>
            </a:extLst>
          </p:cNvPr>
          <p:cNvSpPr>
            <a:spLocks noGrp="1"/>
          </p:cNvSpPr>
          <p:nvPr>
            <p:ph type="title"/>
          </p:nvPr>
        </p:nvSpPr>
        <p:spPr/>
        <p:txBody>
          <a:bodyPr/>
          <a:lstStyle/>
          <a:p>
            <a:r>
              <a:rPr lang="en-US" dirty="0">
                <a:cs typeface="Calibri Light"/>
              </a:rPr>
              <a:t>About the student body</a:t>
            </a:r>
          </a:p>
        </p:txBody>
      </p:sp>
      <p:sp>
        <p:nvSpPr>
          <p:cNvPr id="3" name="Content Placeholder 2">
            <a:extLst>
              <a:ext uri="{FF2B5EF4-FFF2-40B4-BE49-F238E27FC236}">
                <a16:creationId xmlns:a16="http://schemas.microsoft.com/office/drawing/2014/main" id="{83303834-93FC-4E82-A285-D5DEFD9156F3}"/>
              </a:ext>
            </a:extLst>
          </p:cNvPr>
          <p:cNvSpPr>
            <a:spLocks noGrp="1"/>
          </p:cNvSpPr>
          <p:nvPr>
            <p:ph idx="1"/>
          </p:nvPr>
        </p:nvSpPr>
        <p:spPr/>
        <p:txBody>
          <a:bodyPr vert="horz" lIns="91440" tIns="45720" rIns="91440" bIns="45720" rtlCol="0" anchor="t">
            <a:normAutofit/>
          </a:bodyPr>
          <a:lstStyle/>
          <a:p>
            <a:r>
              <a:rPr lang="en-US" dirty="0">
                <a:cs typeface="Calibri"/>
              </a:rPr>
              <a:t>Approx. 25 million children in each age category</a:t>
            </a:r>
          </a:p>
          <a:p>
            <a:r>
              <a:rPr lang="en-US" dirty="0">
                <a:cs typeface="Calibri"/>
              </a:rPr>
              <a:t>High growth rate of number of 8th graders</a:t>
            </a:r>
          </a:p>
          <a:p>
            <a:endParaRPr lang="en-US" dirty="0">
              <a:cs typeface="Calibri"/>
            </a:endParaRPr>
          </a:p>
          <a:p>
            <a:endParaRPr lang="en-US" dirty="0">
              <a:cs typeface="Calibri"/>
            </a:endParaRPr>
          </a:p>
          <a:p>
            <a:endParaRPr lang="en-US" dirty="0">
              <a:cs typeface="Calibri"/>
            </a:endParaRPr>
          </a:p>
          <a:p>
            <a:endParaRPr lang="en-US" dirty="0">
              <a:cs typeface="Calibri"/>
            </a:endParaRPr>
          </a:p>
          <a:p>
            <a:r>
              <a:rPr lang="en-US" dirty="0">
                <a:cs typeface="Calibri"/>
              </a:rPr>
              <a:t>Trend of declining age in 8th graders</a:t>
            </a:r>
          </a:p>
          <a:p>
            <a:r>
              <a:rPr lang="en-US" dirty="0">
                <a:cs typeface="Calibri"/>
              </a:rPr>
              <a:t>Increase in enrollment in private schools</a:t>
            </a:r>
          </a:p>
        </p:txBody>
      </p:sp>
      <p:graphicFrame>
        <p:nvGraphicFramePr>
          <p:cNvPr id="4" name="Table 4">
            <a:extLst>
              <a:ext uri="{FF2B5EF4-FFF2-40B4-BE49-F238E27FC236}">
                <a16:creationId xmlns:a16="http://schemas.microsoft.com/office/drawing/2014/main" id="{CF883369-03D9-4342-94A3-C7254FACF368}"/>
              </a:ext>
            </a:extLst>
          </p:cNvPr>
          <p:cNvGraphicFramePr>
            <a:graphicFrameLocks noGrp="1"/>
          </p:cNvGraphicFramePr>
          <p:nvPr>
            <p:extLst>
              <p:ext uri="{D42A27DB-BD31-4B8C-83A1-F6EECF244321}">
                <p14:modId xmlns:p14="http://schemas.microsoft.com/office/powerpoint/2010/main" val="785989107"/>
              </p:ext>
            </p:extLst>
          </p:nvPr>
        </p:nvGraphicFramePr>
        <p:xfrm>
          <a:off x="3299973" y="3334270"/>
          <a:ext cx="5168382" cy="1280160"/>
        </p:xfrm>
        <a:graphic>
          <a:graphicData uri="http://schemas.openxmlformats.org/drawingml/2006/table">
            <a:tbl>
              <a:tblPr firstRow="1" bandRow="1">
                <a:tableStyleId>{5C22544A-7EE6-4342-B048-85BDC9FD1C3A}</a:tableStyleId>
              </a:tblPr>
              <a:tblGrid>
                <a:gridCol w="2584191">
                  <a:extLst>
                    <a:ext uri="{9D8B030D-6E8A-4147-A177-3AD203B41FA5}">
                      <a16:colId xmlns:a16="http://schemas.microsoft.com/office/drawing/2014/main" val="2294011649"/>
                    </a:ext>
                  </a:extLst>
                </a:gridCol>
                <a:gridCol w="2584191">
                  <a:extLst>
                    <a:ext uri="{9D8B030D-6E8A-4147-A177-3AD203B41FA5}">
                      <a16:colId xmlns:a16="http://schemas.microsoft.com/office/drawing/2014/main" val="3544350755"/>
                    </a:ext>
                  </a:extLst>
                </a:gridCol>
              </a:tblGrid>
              <a:tr h="640079">
                <a:tc>
                  <a:txBody>
                    <a:bodyPr/>
                    <a:lstStyle/>
                    <a:p>
                      <a:r>
                        <a:rPr lang="en-US" dirty="0"/>
                        <a:t>No. Of 8th graders in 2006-07</a:t>
                      </a:r>
                    </a:p>
                  </a:txBody>
                  <a:tcPr/>
                </a:tc>
                <a:tc>
                  <a:txBody>
                    <a:bodyPr/>
                    <a:lstStyle/>
                    <a:p>
                      <a:r>
                        <a:rPr lang="en-US" dirty="0"/>
                        <a:t>12 million</a:t>
                      </a:r>
                    </a:p>
                  </a:txBody>
                  <a:tcPr/>
                </a:tc>
                <a:extLst>
                  <a:ext uri="{0D108BD9-81ED-4DB2-BD59-A6C34878D82A}">
                    <a16:rowId xmlns:a16="http://schemas.microsoft.com/office/drawing/2014/main" val="791868589"/>
                  </a:ext>
                </a:extLst>
              </a:tr>
              <a:tr h="460628">
                <a:tc>
                  <a:txBody>
                    <a:bodyPr/>
                    <a:lstStyle/>
                    <a:p>
                      <a:r>
                        <a:rPr lang="en-US" dirty="0"/>
                        <a:t>No. Of 8th graders in 2016-17</a:t>
                      </a:r>
                    </a:p>
                  </a:txBody>
                  <a:tcPr/>
                </a:tc>
                <a:tc>
                  <a:txBody>
                    <a:bodyPr/>
                    <a:lstStyle/>
                    <a:p>
                      <a:r>
                        <a:rPr lang="en-US" dirty="0"/>
                        <a:t>22 million</a:t>
                      </a:r>
                    </a:p>
                  </a:txBody>
                  <a:tcPr/>
                </a:tc>
                <a:extLst>
                  <a:ext uri="{0D108BD9-81ED-4DB2-BD59-A6C34878D82A}">
                    <a16:rowId xmlns:a16="http://schemas.microsoft.com/office/drawing/2014/main" val="4246048197"/>
                  </a:ext>
                </a:extLst>
              </a:tr>
            </a:tbl>
          </a:graphicData>
        </a:graphic>
      </p:graphicFrame>
    </p:spTree>
    <p:extLst>
      <p:ext uri="{BB962C8B-B14F-4D97-AF65-F5344CB8AC3E}">
        <p14:creationId xmlns:p14="http://schemas.microsoft.com/office/powerpoint/2010/main" val="524014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4BBB-90F6-41DF-B1AD-F5E8EF24E6B7}"/>
              </a:ext>
            </a:extLst>
          </p:cNvPr>
          <p:cNvSpPr>
            <a:spLocks noGrp="1"/>
          </p:cNvSpPr>
          <p:nvPr>
            <p:ph type="title"/>
          </p:nvPr>
        </p:nvSpPr>
        <p:spPr/>
        <p:txBody>
          <a:bodyPr/>
          <a:lstStyle/>
          <a:p>
            <a:r>
              <a:rPr lang="en-US" dirty="0">
                <a:cs typeface="Calibri Light"/>
              </a:rPr>
              <a:t>Variance in enrollment patterns </a:t>
            </a:r>
            <a:endParaRPr lang="en-US" dirty="0"/>
          </a:p>
        </p:txBody>
      </p:sp>
      <p:sp>
        <p:nvSpPr>
          <p:cNvPr id="3" name="Content Placeholder 2">
            <a:extLst>
              <a:ext uri="{FF2B5EF4-FFF2-40B4-BE49-F238E27FC236}">
                <a16:creationId xmlns:a16="http://schemas.microsoft.com/office/drawing/2014/main" id="{B5CC43FF-B7F3-45D2-B7D9-638DC3DE3D45}"/>
              </a:ext>
            </a:extLst>
          </p:cNvPr>
          <p:cNvSpPr>
            <a:spLocks noGrp="1"/>
          </p:cNvSpPr>
          <p:nvPr>
            <p:ph idx="1"/>
          </p:nvPr>
        </p:nvSpPr>
        <p:spPr/>
        <p:txBody>
          <a:bodyPr vert="horz" lIns="91440" tIns="45720" rIns="91440" bIns="45720" rtlCol="0" anchor="t">
            <a:normAutofit/>
          </a:bodyPr>
          <a:lstStyle/>
          <a:p>
            <a:r>
              <a:rPr lang="en-US" dirty="0">
                <a:cs typeface="Calibri"/>
              </a:rPr>
              <a:t>Data collected from two districts – </a:t>
            </a:r>
            <a:r>
              <a:rPr lang="en-US" dirty="0" err="1">
                <a:cs typeface="Calibri"/>
              </a:rPr>
              <a:t>Hardoi</a:t>
            </a:r>
            <a:r>
              <a:rPr lang="en-US" dirty="0">
                <a:cs typeface="Calibri"/>
              </a:rPr>
              <a:t> (Uttar Pradesh) and Sambalpur (Odisha) - by tracking 8th graders for 18 months</a:t>
            </a: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pPr marL="0" indent="0">
              <a:buNone/>
            </a:pPr>
            <a:endParaRPr lang="en-US" dirty="0">
              <a:cs typeface="Calibri"/>
            </a:endParaRPr>
          </a:p>
          <a:p>
            <a:pPr marL="0" indent="0">
              <a:buNone/>
            </a:pPr>
            <a:endParaRPr lang="en-US" dirty="0">
              <a:cs typeface="Calibri"/>
            </a:endParaRPr>
          </a:p>
        </p:txBody>
      </p:sp>
      <p:graphicFrame>
        <p:nvGraphicFramePr>
          <p:cNvPr id="4" name="Table 4">
            <a:extLst>
              <a:ext uri="{FF2B5EF4-FFF2-40B4-BE49-F238E27FC236}">
                <a16:creationId xmlns:a16="http://schemas.microsoft.com/office/drawing/2014/main" id="{EDE02A0C-3C3E-4A9B-BE08-99A807B27BED}"/>
              </a:ext>
            </a:extLst>
          </p:cNvPr>
          <p:cNvGraphicFramePr>
            <a:graphicFrameLocks noGrp="1"/>
          </p:cNvGraphicFramePr>
          <p:nvPr>
            <p:extLst>
              <p:ext uri="{D42A27DB-BD31-4B8C-83A1-F6EECF244321}">
                <p14:modId xmlns:p14="http://schemas.microsoft.com/office/powerpoint/2010/main" val="3372618865"/>
              </p:ext>
            </p:extLst>
          </p:nvPr>
        </p:nvGraphicFramePr>
        <p:xfrm>
          <a:off x="1592580" y="3549479"/>
          <a:ext cx="8168640" cy="2666999"/>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3228306599"/>
                    </a:ext>
                  </a:extLst>
                </a:gridCol>
                <a:gridCol w="4084320">
                  <a:extLst>
                    <a:ext uri="{9D8B030D-6E8A-4147-A177-3AD203B41FA5}">
                      <a16:colId xmlns:a16="http://schemas.microsoft.com/office/drawing/2014/main" val="4092454419"/>
                    </a:ext>
                  </a:extLst>
                </a:gridCol>
              </a:tblGrid>
              <a:tr h="370840">
                <a:tc>
                  <a:txBody>
                    <a:bodyPr/>
                    <a:lstStyle/>
                    <a:p>
                      <a:r>
                        <a:rPr lang="en-US" b="0" dirty="0"/>
                        <a:t>HARDOI</a:t>
                      </a:r>
                      <a:endParaRPr lang="en-US" dirty="0"/>
                    </a:p>
                  </a:txBody>
                  <a:tcPr/>
                </a:tc>
                <a:tc>
                  <a:txBody>
                    <a:bodyPr/>
                    <a:lstStyle/>
                    <a:p>
                      <a:r>
                        <a:rPr lang="en-US" dirty="0"/>
                        <a:t>SAMBALPUR</a:t>
                      </a:r>
                    </a:p>
                  </a:txBody>
                  <a:tcPr/>
                </a:tc>
                <a:extLst>
                  <a:ext uri="{0D108BD9-81ED-4DB2-BD59-A6C34878D82A}">
                    <a16:rowId xmlns:a16="http://schemas.microsoft.com/office/drawing/2014/main" val="2896972577"/>
                  </a:ext>
                </a:extLst>
              </a:tr>
              <a:tr h="370840">
                <a:tc>
                  <a:txBody>
                    <a:bodyPr/>
                    <a:lstStyle/>
                    <a:p>
                      <a:r>
                        <a:rPr lang="en-US" dirty="0"/>
                        <a:t>- High number of elementary schools (227)</a:t>
                      </a:r>
                    </a:p>
                  </a:txBody>
                  <a:tcPr/>
                </a:tc>
                <a:tc>
                  <a:txBody>
                    <a:bodyPr/>
                    <a:lstStyle/>
                    <a:p>
                      <a:r>
                        <a:rPr lang="en-US" dirty="0"/>
                        <a:t>- Fewer elementary schools (98)</a:t>
                      </a:r>
                    </a:p>
                  </a:txBody>
                  <a:tcPr/>
                </a:tc>
                <a:extLst>
                  <a:ext uri="{0D108BD9-81ED-4DB2-BD59-A6C34878D82A}">
                    <a16:rowId xmlns:a16="http://schemas.microsoft.com/office/drawing/2014/main" val="448217951"/>
                  </a:ext>
                </a:extLst>
              </a:tr>
              <a:tr h="370840">
                <a:tc>
                  <a:txBody>
                    <a:bodyPr/>
                    <a:lstStyle/>
                    <a:p>
                      <a:r>
                        <a:rPr lang="en-US" dirty="0"/>
                        <a:t>- Small proportion of secondary schools (56)</a:t>
                      </a:r>
                    </a:p>
                    <a:p>
                      <a:pPr lvl="0">
                        <a:buNone/>
                      </a:pPr>
                      <a:r>
                        <a:rPr lang="en-US" dirty="0"/>
                        <a:t>- Most of these are private schools</a:t>
                      </a:r>
                    </a:p>
                  </a:txBody>
                  <a:tcPr/>
                </a:tc>
                <a:tc>
                  <a:txBody>
                    <a:bodyPr/>
                    <a:lstStyle/>
                    <a:p>
                      <a:r>
                        <a:rPr lang="en-US" dirty="0"/>
                        <a:t>- Higher proportion of secondary schools (33)</a:t>
                      </a:r>
                    </a:p>
                    <a:p>
                      <a:pPr lvl="0">
                        <a:buNone/>
                      </a:pPr>
                      <a:r>
                        <a:rPr lang="en-US" dirty="0"/>
                        <a:t>- Mostly government schools</a:t>
                      </a:r>
                    </a:p>
                  </a:txBody>
                  <a:tcPr/>
                </a:tc>
                <a:extLst>
                  <a:ext uri="{0D108BD9-81ED-4DB2-BD59-A6C34878D82A}">
                    <a16:rowId xmlns:a16="http://schemas.microsoft.com/office/drawing/2014/main" val="4085905817"/>
                  </a:ext>
                </a:extLst>
              </a:tr>
              <a:tr h="370839">
                <a:tc>
                  <a:txBody>
                    <a:bodyPr/>
                    <a:lstStyle/>
                    <a:p>
                      <a:pPr lvl="0">
                        <a:buNone/>
                      </a:pPr>
                      <a:r>
                        <a:rPr lang="en-US" dirty="0"/>
                        <a:t>- 63% children enrolled in govt. schools</a:t>
                      </a:r>
                    </a:p>
                  </a:txBody>
                  <a:tcPr/>
                </a:tc>
                <a:tc>
                  <a:txBody>
                    <a:bodyPr/>
                    <a:lstStyle/>
                    <a:p>
                      <a:pPr lvl="0">
                        <a:buNone/>
                      </a:pPr>
                      <a:r>
                        <a:rPr lang="en-US" dirty="0"/>
                        <a:t>- Almost all children in govt. Schools</a:t>
                      </a:r>
                    </a:p>
                  </a:txBody>
                  <a:tcPr/>
                </a:tc>
                <a:extLst>
                  <a:ext uri="{0D108BD9-81ED-4DB2-BD59-A6C34878D82A}">
                    <a16:rowId xmlns:a16="http://schemas.microsoft.com/office/drawing/2014/main" val="2919965782"/>
                  </a:ext>
                </a:extLst>
              </a:tr>
              <a:tr h="370838">
                <a:tc>
                  <a:txBody>
                    <a:bodyPr/>
                    <a:lstStyle/>
                    <a:p>
                      <a:pPr lvl="0">
                        <a:buNone/>
                      </a:pPr>
                      <a:r>
                        <a:rPr lang="en-US" dirty="0"/>
                        <a:t>- 40% people dropped out after 8th grade</a:t>
                      </a:r>
                    </a:p>
                  </a:txBody>
                  <a:tcPr/>
                </a:tc>
                <a:tc>
                  <a:txBody>
                    <a:bodyPr/>
                    <a:lstStyle/>
                    <a:p>
                      <a:pPr lvl="0">
                        <a:buNone/>
                      </a:pPr>
                      <a:r>
                        <a:rPr lang="en-US" dirty="0"/>
                        <a:t>- 4% dropped out after 8th grade</a:t>
                      </a:r>
                    </a:p>
                  </a:txBody>
                  <a:tcPr/>
                </a:tc>
                <a:extLst>
                  <a:ext uri="{0D108BD9-81ED-4DB2-BD59-A6C34878D82A}">
                    <a16:rowId xmlns:a16="http://schemas.microsoft.com/office/drawing/2014/main" val="4282857674"/>
                  </a:ext>
                </a:extLst>
              </a:tr>
            </a:tbl>
          </a:graphicData>
        </a:graphic>
      </p:graphicFrame>
    </p:spTree>
    <p:extLst>
      <p:ext uri="{BB962C8B-B14F-4D97-AF65-F5344CB8AC3E}">
        <p14:creationId xmlns:p14="http://schemas.microsoft.com/office/powerpoint/2010/main" val="3502069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FA2F4-5147-4FA3-A45E-CD5A9C50771D}"/>
              </a:ext>
            </a:extLst>
          </p:cNvPr>
          <p:cNvSpPr>
            <a:spLocks noGrp="1"/>
          </p:cNvSpPr>
          <p:nvPr>
            <p:ph type="title"/>
          </p:nvPr>
        </p:nvSpPr>
        <p:spPr/>
        <p:txBody>
          <a:bodyPr/>
          <a:lstStyle/>
          <a:p>
            <a:r>
              <a:rPr lang="en-US" dirty="0">
                <a:cs typeface="Calibri Light"/>
              </a:rPr>
              <a:t>Attendance</a:t>
            </a:r>
            <a:endParaRPr lang="en-US" dirty="0"/>
          </a:p>
        </p:txBody>
      </p:sp>
      <p:sp>
        <p:nvSpPr>
          <p:cNvPr id="3" name="Content Placeholder 2">
            <a:extLst>
              <a:ext uri="{FF2B5EF4-FFF2-40B4-BE49-F238E27FC236}">
                <a16:creationId xmlns:a16="http://schemas.microsoft.com/office/drawing/2014/main" id="{783F7448-333D-40A4-8876-8288017FE114}"/>
              </a:ext>
            </a:extLst>
          </p:cNvPr>
          <p:cNvSpPr>
            <a:spLocks noGrp="1"/>
          </p:cNvSpPr>
          <p:nvPr>
            <p:ph idx="1"/>
          </p:nvPr>
        </p:nvSpPr>
        <p:spPr/>
        <p:txBody>
          <a:bodyPr vert="horz" lIns="91440" tIns="45720" rIns="91440" bIns="45720" rtlCol="0" anchor="t">
            <a:normAutofit/>
          </a:bodyPr>
          <a:lstStyle/>
          <a:p>
            <a:r>
              <a:rPr lang="en-US" dirty="0">
                <a:cs typeface="Calibri"/>
              </a:rPr>
              <a:t>Each school was visited twice</a:t>
            </a:r>
          </a:p>
          <a:p>
            <a:r>
              <a:rPr lang="en-US" dirty="0">
                <a:cs typeface="Calibri"/>
              </a:rPr>
              <a:t>In </a:t>
            </a:r>
            <a:r>
              <a:rPr lang="en-US" dirty="0" err="1">
                <a:cs typeface="Calibri"/>
              </a:rPr>
              <a:t>Hardoi</a:t>
            </a:r>
            <a:r>
              <a:rPr lang="en-US" dirty="0">
                <a:cs typeface="Calibri"/>
              </a:rPr>
              <a:t>, 60% of the enrolled students were absent on both days (in govt and private schools), whereas more than 60% were present in Sambalpur</a:t>
            </a:r>
          </a:p>
          <a:p>
            <a:endParaRPr lang="en-US" dirty="0">
              <a:cs typeface="Calibri"/>
            </a:endParaRPr>
          </a:p>
          <a:p>
            <a:r>
              <a:rPr lang="en-US" dirty="0">
                <a:cs typeface="Calibri"/>
              </a:rPr>
              <a:t>Context-dependent variances in enrollment as well as attendance in upper primary grades need to be understood to provide better secondary education</a:t>
            </a:r>
          </a:p>
        </p:txBody>
      </p:sp>
    </p:spTree>
    <p:extLst>
      <p:ext uri="{BB962C8B-B14F-4D97-AF65-F5344CB8AC3E}">
        <p14:creationId xmlns:p14="http://schemas.microsoft.com/office/powerpoint/2010/main" val="40105533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4CED-A378-42D4-AF51-B9C0C2F345F4}"/>
              </a:ext>
            </a:extLst>
          </p:cNvPr>
          <p:cNvSpPr>
            <a:spLocks noGrp="1"/>
          </p:cNvSpPr>
          <p:nvPr>
            <p:ph type="title"/>
          </p:nvPr>
        </p:nvSpPr>
        <p:spPr/>
        <p:txBody>
          <a:bodyPr/>
          <a:lstStyle/>
          <a:p>
            <a:r>
              <a:rPr lang="en-US" dirty="0">
                <a:cs typeface="Calibri Light"/>
              </a:rPr>
              <a:t>Acquisition of Learning in the 8th grade</a:t>
            </a:r>
          </a:p>
        </p:txBody>
      </p:sp>
      <p:pic>
        <p:nvPicPr>
          <p:cNvPr id="4" name="Picture 4" descr="A screenshot of a cell phone&#10;&#10;Description generated with very high confidence">
            <a:extLst>
              <a:ext uri="{FF2B5EF4-FFF2-40B4-BE49-F238E27FC236}">
                <a16:creationId xmlns:a16="http://schemas.microsoft.com/office/drawing/2014/main" id="{76AAE1D2-1F6B-418B-A651-285BDC2B3FE8}"/>
              </a:ext>
            </a:extLst>
          </p:cNvPr>
          <p:cNvPicPr>
            <a:picLocks noGrp="1" noChangeAspect="1"/>
          </p:cNvPicPr>
          <p:nvPr>
            <p:ph sz="half" idx="1"/>
          </p:nvPr>
        </p:nvPicPr>
        <p:blipFill>
          <a:blip r:embed="rId2"/>
          <a:stretch>
            <a:fillRect/>
          </a:stretch>
        </p:blipFill>
        <p:spPr>
          <a:xfrm>
            <a:off x="1325563" y="2613819"/>
            <a:ext cx="4352925" cy="2781300"/>
          </a:xfrm>
        </p:spPr>
      </p:pic>
      <p:sp>
        <p:nvSpPr>
          <p:cNvPr id="7" name="Content Placeholder 6">
            <a:extLst>
              <a:ext uri="{FF2B5EF4-FFF2-40B4-BE49-F238E27FC236}">
                <a16:creationId xmlns:a16="http://schemas.microsoft.com/office/drawing/2014/main" id="{546A5397-A604-48CB-95F5-0FBB91159C45}"/>
              </a:ext>
            </a:extLst>
          </p:cNvPr>
          <p:cNvSpPr>
            <a:spLocks noGrp="1"/>
          </p:cNvSpPr>
          <p:nvPr>
            <p:ph sz="half" idx="2"/>
          </p:nvPr>
        </p:nvSpPr>
        <p:spPr/>
        <p:txBody>
          <a:bodyPr vert="horz" lIns="91440" tIns="45720" rIns="91440" bIns="45720" rtlCol="0" anchor="t">
            <a:normAutofit/>
          </a:bodyPr>
          <a:lstStyle/>
          <a:p>
            <a:r>
              <a:rPr lang="en-US" dirty="0">
                <a:cs typeface="Calibri"/>
              </a:rPr>
              <a:t>"Each additional year of education is adding less and less for each successive cohort"</a:t>
            </a:r>
          </a:p>
          <a:p>
            <a:r>
              <a:rPr lang="en-US" dirty="0">
                <a:cs typeface="Calibri"/>
              </a:rPr>
              <a:t>A 3-year cohort study in districts Nalanda (Bihar) and </a:t>
            </a:r>
            <a:r>
              <a:rPr lang="en-US" dirty="0" err="1">
                <a:cs typeface="Calibri"/>
              </a:rPr>
              <a:t>Satara</a:t>
            </a:r>
            <a:r>
              <a:rPr lang="en-US" dirty="0">
                <a:cs typeface="Calibri"/>
              </a:rPr>
              <a:t> (Maharashtra) in which 6000 upper primary students were tracked, found that if children </a:t>
            </a:r>
            <a:r>
              <a:rPr lang="en-US" dirty="0">
                <a:solidFill>
                  <a:srgbClr val="FF0000"/>
                </a:solidFill>
                <a:cs typeface="Calibri"/>
              </a:rPr>
              <a:t>did not already have</a:t>
            </a:r>
            <a:r>
              <a:rPr lang="en-US" dirty="0">
                <a:cs typeface="Calibri"/>
              </a:rPr>
              <a:t> foundational reading and arithmetic skills, they were </a:t>
            </a:r>
            <a:r>
              <a:rPr lang="en-US" dirty="0">
                <a:solidFill>
                  <a:srgbClr val="FF0000"/>
                </a:solidFill>
                <a:cs typeface="Calibri"/>
              </a:rPr>
              <a:t>unlikely to acquire them in the subsequent years.</a:t>
            </a:r>
          </a:p>
        </p:txBody>
      </p:sp>
    </p:spTree>
    <p:extLst>
      <p:ext uri="{BB962C8B-B14F-4D97-AF65-F5344CB8AC3E}">
        <p14:creationId xmlns:p14="http://schemas.microsoft.com/office/powerpoint/2010/main" val="354384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6F187-BAA0-4E75-965D-7A9FAAD511A7}"/>
              </a:ext>
            </a:extLst>
          </p:cNvPr>
          <p:cNvSpPr>
            <a:spLocks noGrp="1"/>
          </p:cNvSpPr>
          <p:nvPr>
            <p:ph idx="1"/>
          </p:nvPr>
        </p:nvSpPr>
        <p:spPr>
          <a:xfrm>
            <a:off x="838200" y="641804"/>
            <a:ext cx="10515600" cy="5535159"/>
          </a:xfrm>
        </p:spPr>
        <p:txBody>
          <a:bodyPr vert="horz" lIns="91440" tIns="45720" rIns="91440" bIns="45720" rtlCol="0" anchor="t">
            <a:normAutofit/>
          </a:bodyPr>
          <a:lstStyle/>
          <a:p>
            <a:r>
              <a:rPr lang="en-US" dirty="0">
                <a:cs typeface="Calibri"/>
              </a:rPr>
              <a:t>The Nalanda-</a:t>
            </a:r>
            <a:r>
              <a:rPr lang="en-US" dirty="0" err="1">
                <a:cs typeface="Calibri"/>
              </a:rPr>
              <a:t>Satara</a:t>
            </a:r>
            <a:r>
              <a:rPr lang="en-US" dirty="0">
                <a:cs typeface="Calibri"/>
              </a:rPr>
              <a:t> study also found that more than half of the students remained at the same level of learning in their next school year.</a:t>
            </a:r>
          </a:p>
          <a:p>
            <a:pPr lvl="1"/>
            <a:r>
              <a:rPr lang="en-US" dirty="0">
                <a:cs typeface="Calibri"/>
              </a:rPr>
              <a:t>These students were more likely to be female and from poorer and less educated families</a:t>
            </a:r>
          </a:p>
          <a:p>
            <a:r>
              <a:rPr lang="en-US" dirty="0">
                <a:cs typeface="Calibri"/>
              </a:rPr>
              <a:t>Transition to secondary school was lower among students lacking foundational reading and arithmetic skills</a:t>
            </a:r>
          </a:p>
          <a:p>
            <a:r>
              <a:rPr lang="en-US" dirty="0">
                <a:cs typeface="Calibri"/>
              </a:rPr>
              <a:t>Similar data found in Nalanda-</a:t>
            </a:r>
            <a:r>
              <a:rPr lang="en-US" dirty="0" err="1">
                <a:cs typeface="Calibri"/>
              </a:rPr>
              <a:t>Satara</a:t>
            </a:r>
            <a:r>
              <a:rPr lang="en-US" dirty="0">
                <a:cs typeface="Calibri"/>
              </a:rPr>
              <a:t> study as well as </a:t>
            </a:r>
            <a:r>
              <a:rPr lang="en-US" dirty="0" err="1">
                <a:cs typeface="Calibri"/>
              </a:rPr>
              <a:t>Hardoi</a:t>
            </a:r>
            <a:r>
              <a:rPr lang="en-US" dirty="0">
                <a:cs typeface="Calibri"/>
              </a:rPr>
              <a:t>-Sambalpur study --- this suggests that despite difference in contexts, upper primary students acquired learning that was well below the level of lower primary standards</a:t>
            </a:r>
          </a:p>
        </p:txBody>
      </p:sp>
    </p:spTree>
    <p:extLst>
      <p:ext uri="{BB962C8B-B14F-4D97-AF65-F5344CB8AC3E}">
        <p14:creationId xmlns:p14="http://schemas.microsoft.com/office/powerpoint/2010/main" val="1202074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B0118-2CDC-4334-9F7C-C9CA3E05AB43}"/>
              </a:ext>
            </a:extLst>
          </p:cNvPr>
          <p:cNvSpPr>
            <a:spLocks noGrp="1"/>
          </p:cNvSpPr>
          <p:nvPr>
            <p:ph type="title"/>
          </p:nvPr>
        </p:nvSpPr>
        <p:spPr/>
        <p:txBody>
          <a:bodyPr/>
          <a:lstStyle/>
          <a:p>
            <a:r>
              <a:rPr lang="en-US">
                <a:cs typeface="Calibri Light"/>
              </a:rPr>
              <a:t>Key Challenges </a:t>
            </a:r>
            <a:endParaRPr lang="en-US" dirty="0">
              <a:cs typeface="Calibri Light"/>
            </a:endParaRPr>
          </a:p>
        </p:txBody>
      </p:sp>
      <p:sp>
        <p:nvSpPr>
          <p:cNvPr id="3" name="Content Placeholder 2">
            <a:extLst>
              <a:ext uri="{FF2B5EF4-FFF2-40B4-BE49-F238E27FC236}">
                <a16:creationId xmlns:a16="http://schemas.microsoft.com/office/drawing/2014/main" id="{C990905D-3F1D-40CF-B7EA-326A8868738C}"/>
              </a:ext>
            </a:extLst>
          </p:cNvPr>
          <p:cNvSpPr>
            <a:spLocks noGrp="1"/>
          </p:cNvSpPr>
          <p:nvPr>
            <p:ph idx="1"/>
          </p:nvPr>
        </p:nvSpPr>
        <p:spPr/>
        <p:txBody>
          <a:bodyPr vert="horz" lIns="91440" tIns="45720" rIns="91440" bIns="45720" rtlCol="0" anchor="t">
            <a:normAutofit/>
          </a:bodyPr>
          <a:lstStyle/>
          <a:p>
            <a:r>
              <a:rPr lang="en-US" dirty="0">
                <a:cs typeface="Calibri"/>
              </a:rPr>
              <a:t>Considerable number of class 8 graduates lack basic numeracy and literacy skills</a:t>
            </a:r>
          </a:p>
          <a:p>
            <a:endParaRPr lang="en-US" dirty="0">
              <a:cs typeface="Calibri"/>
            </a:endParaRPr>
          </a:p>
          <a:p>
            <a:r>
              <a:rPr lang="en-US" dirty="0">
                <a:cs typeface="Calibri"/>
              </a:rPr>
              <a:t>As time passes, gaps in learning acquisition keep widening when better-performing students move further and further ahead</a:t>
            </a:r>
          </a:p>
          <a:p>
            <a:pPr lvl="1"/>
            <a:r>
              <a:rPr lang="en-US" dirty="0">
                <a:cs typeface="Calibri"/>
              </a:rPr>
              <a:t>Expenditure on schooling continues while minimal value is obtained by low learning students</a:t>
            </a:r>
          </a:p>
          <a:p>
            <a:pPr lvl="1"/>
            <a:endParaRPr lang="en-US" dirty="0">
              <a:cs typeface="Calibri"/>
            </a:endParaRPr>
          </a:p>
        </p:txBody>
      </p:sp>
    </p:spTree>
    <p:extLst>
      <p:ext uri="{BB962C8B-B14F-4D97-AF65-F5344CB8AC3E}">
        <p14:creationId xmlns:p14="http://schemas.microsoft.com/office/powerpoint/2010/main" val="2152128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05AC5-5A65-419F-888D-2E6BC9D976A9}"/>
              </a:ext>
            </a:extLst>
          </p:cNvPr>
          <p:cNvSpPr>
            <a:spLocks noGrp="1"/>
          </p:cNvSpPr>
          <p:nvPr>
            <p:ph type="title"/>
          </p:nvPr>
        </p:nvSpPr>
        <p:spPr/>
        <p:txBody>
          <a:bodyPr/>
          <a:lstStyle/>
          <a:p>
            <a:r>
              <a:rPr lang="en-US" dirty="0">
                <a:cs typeface="Calibri Light"/>
              </a:rPr>
              <a:t>Way forward</a:t>
            </a:r>
            <a:endParaRPr lang="en-US" dirty="0"/>
          </a:p>
        </p:txBody>
      </p:sp>
      <p:sp>
        <p:nvSpPr>
          <p:cNvPr id="3" name="Content Placeholder 2">
            <a:extLst>
              <a:ext uri="{FF2B5EF4-FFF2-40B4-BE49-F238E27FC236}">
                <a16:creationId xmlns:a16="http://schemas.microsoft.com/office/drawing/2014/main" id="{770BA45C-75B3-4C29-B008-652C0C00423B}"/>
              </a:ext>
            </a:extLst>
          </p:cNvPr>
          <p:cNvSpPr>
            <a:spLocks noGrp="1"/>
          </p:cNvSpPr>
          <p:nvPr>
            <p:ph idx="1"/>
          </p:nvPr>
        </p:nvSpPr>
        <p:spPr/>
        <p:txBody>
          <a:bodyPr vert="horz" lIns="91440" tIns="45720" rIns="91440" bIns="45720" rtlCol="0" anchor="t">
            <a:normAutofit/>
          </a:bodyPr>
          <a:lstStyle/>
          <a:p>
            <a:r>
              <a:rPr lang="en-US" dirty="0">
                <a:cs typeface="Calibri"/>
              </a:rPr>
              <a:t>Further research on schooling trends</a:t>
            </a:r>
          </a:p>
          <a:p>
            <a:r>
              <a:rPr lang="en-US" dirty="0">
                <a:cs typeface="Calibri"/>
              </a:rPr>
              <a:t>Re-imagining assessment formats</a:t>
            </a:r>
          </a:p>
          <a:p>
            <a:pPr lvl="1"/>
            <a:r>
              <a:rPr lang="en-US" dirty="0">
                <a:cs typeface="Calibri"/>
              </a:rPr>
              <a:t>Paper-pencil tests might not be the most appropriate given that a high percentage of students have difficulty reading</a:t>
            </a:r>
          </a:p>
          <a:p>
            <a:pPr lvl="1"/>
            <a:r>
              <a:rPr lang="en-US" dirty="0">
                <a:cs typeface="Calibri"/>
              </a:rPr>
              <a:t>Reporting of test results should be such that district education officials can take action </a:t>
            </a:r>
          </a:p>
          <a:p>
            <a:r>
              <a:rPr lang="en-US" dirty="0">
                <a:cs typeface="Calibri"/>
              </a:rPr>
              <a:t>Re-thinking the curriculum </a:t>
            </a:r>
          </a:p>
          <a:p>
            <a:pPr lvl="1"/>
            <a:r>
              <a:rPr lang="en-US" dirty="0">
                <a:cs typeface="Calibri"/>
              </a:rPr>
              <a:t>Current curriculum seen to be "over-ambitious"</a:t>
            </a:r>
          </a:p>
          <a:p>
            <a:pPr lvl="1"/>
            <a:r>
              <a:rPr lang="en-US" dirty="0">
                <a:cs typeface="Calibri"/>
              </a:rPr>
              <a:t>Need for in-depth discussion on the content, pace, sequence, and relevance of the curriculum</a:t>
            </a:r>
          </a:p>
          <a:p>
            <a:r>
              <a:rPr lang="en-US" dirty="0" err="1">
                <a:cs typeface="Calibri"/>
              </a:rPr>
              <a:t>Operationalise</a:t>
            </a:r>
            <a:r>
              <a:rPr lang="en-US" dirty="0">
                <a:cs typeface="Calibri"/>
              </a:rPr>
              <a:t> the capabilities a child should have acquired after completion of compulsory education</a:t>
            </a:r>
          </a:p>
        </p:txBody>
      </p:sp>
    </p:spTree>
    <p:extLst>
      <p:ext uri="{BB962C8B-B14F-4D97-AF65-F5344CB8AC3E}">
        <p14:creationId xmlns:p14="http://schemas.microsoft.com/office/powerpoint/2010/main" val="2964526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D1224-2776-47A1-AF93-B173FD033378}"/>
              </a:ext>
            </a:extLst>
          </p:cNvPr>
          <p:cNvSpPr>
            <a:spLocks noGrp="1"/>
          </p:cNvSpPr>
          <p:nvPr>
            <p:ph type="title"/>
          </p:nvPr>
        </p:nvSpPr>
        <p:spPr/>
        <p:txBody>
          <a:bodyPr>
            <a:normAutofit/>
          </a:bodyPr>
          <a:lstStyle/>
          <a:p>
            <a:pPr algn="ctr"/>
            <a:r>
              <a:rPr lang="en-US" dirty="0">
                <a:cs typeface="Calibri Light"/>
              </a:rPr>
              <a:t>The Solutions lie with Teachers</a:t>
            </a:r>
            <a:br>
              <a:rPr lang="en-US" dirty="0">
                <a:cs typeface="Calibri Light"/>
              </a:rPr>
            </a:br>
            <a:r>
              <a:rPr lang="en-US" sz="3200" dirty="0">
                <a:cs typeface="Calibri Light" panose="020F0302020204030204"/>
              </a:rPr>
              <a:t>                                                 - Anurag Behar</a:t>
            </a:r>
            <a:endParaRPr lang="en-US" dirty="0">
              <a:cs typeface="Calibri Light" panose="020F0302020204030204"/>
            </a:endParaRPr>
          </a:p>
        </p:txBody>
      </p:sp>
      <p:sp>
        <p:nvSpPr>
          <p:cNvPr id="3" name="Content Placeholder 2">
            <a:extLst>
              <a:ext uri="{FF2B5EF4-FFF2-40B4-BE49-F238E27FC236}">
                <a16:creationId xmlns:a16="http://schemas.microsoft.com/office/drawing/2014/main" id="{19A872B3-E09C-43F3-A88A-86166D48D91D}"/>
              </a:ext>
            </a:extLst>
          </p:cNvPr>
          <p:cNvSpPr>
            <a:spLocks noGrp="1"/>
          </p:cNvSpPr>
          <p:nvPr>
            <p:ph idx="1"/>
          </p:nvPr>
        </p:nvSpPr>
        <p:spPr/>
        <p:txBody>
          <a:bodyPr vert="horz" lIns="91440" tIns="45720" rIns="91440" bIns="45720" rtlCol="0" anchor="t">
            <a:normAutofit/>
          </a:bodyPr>
          <a:lstStyle/>
          <a:p>
            <a:r>
              <a:rPr lang="en-US" dirty="0">
                <a:cs typeface="Calibri"/>
              </a:rPr>
              <a:t>The paper argues for a "pro-teacher stance" to address the low learning levels encountered in education</a:t>
            </a:r>
          </a:p>
          <a:p>
            <a:r>
              <a:rPr lang="en-US" dirty="0">
                <a:ea typeface="+mn-lt"/>
                <a:cs typeface="+mn-lt"/>
              </a:rPr>
              <a:t>There exists a remarkable gap in perception and reality of teacher of truancy.</a:t>
            </a:r>
            <a:r>
              <a:rPr lang="en-US" dirty="0">
                <a:cs typeface="Calibri"/>
              </a:rPr>
              <a:t> </a:t>
            </a:r>
          </a:p>
          <a:p>
            <a:pPr lvl="1"/>
            <a:r>
              <a:rPr lang="en-US" dirty="0">
                <a:cs typeface="Calibri"/>
              </a:rPr>
              <a:t>This study found that 2.5% of teachers were absent from schools, as opposed to the perceived 25 – 50%.</a:t>
            </a:r>
          </a:p>
          <a:p>
            <a:pPr marL="0" indent="0" algn="ctr">
              <a:buNone/>
            </a:pPr>
            <a:r>
              <a:rPr lang="en-US" b="1" i="1" dirty="0">
                <a:latin typeface="Times New Roman"/>
                <a:cs typeface="Times New Roman"/>
              </a:rPr>
              <a:t>"T</a:t>
            </a:r>
            <a:r>
              <a:rPr lang="en-US" i="1" dirty="0">
                <a:latin typeface="Times New Roman"/>
                <a:cs typeface="Times New Roman"/>
              </a:rPr>
              <a:t>here is a </a:t>
            </a:r>
            <a:r>
              <a:rPr lang="en-US" i="1" dirty="0">
                <a:solidFill>
                  <a:srgbClr val="FF0000"/>
                </a:solidFill>
                <a:latin typeface="Times New Roman"/>
                <a:cs typeface="Times New Roman"/>
              </a:rPr>
              <a:t>staggering difference</a:t>
            </a:r>
            <a:r>
              <a:rPr lang="en-US" i="1" dirty="0">
                <a:latin typeface="Times New Roman"/>
                <a:cs typeface="Times New Roman"/>
              </a:rPr>
              <a:t> between the </a:t>
            </a:r>
            <a:r>
              <a:rPr lang="en-US" i="1" dirty="0">
                <a:solidFill>
                  <a:srgbClr val="FF0000"/>
                </a:solidFill>
                <a:latin typeface="Times New Roman"/>
                <a:cs typeface="Times New Roman"/>
              </a:rPr>
              <a:t>reality </a:t>
            </a:r>
            <a:r>
              <a:rPr lang="en-US" i="1" dirty="0">
                <a:latin typeface="Times New Roman"/>
                <a:cs typeface="Times New Roman"/>
              </a:rPr>
              <a:t>of public schools in India where </a:t>
            </a:r>
            <a:r>
              <a:rPr lang="en-US" i="1" dirty="0">
                <a:solidFill>
                  <a:srgbClr val="FF0000"/>
                </a:solidFill>
                <a:latin typeface="Times New Roman"/>
                <a:cs typeface="Times New Roman"/>
              </a:rPr>
              <a:t>2.5-4.5% teachers are truant,</a:t>
            </a:r>
            <a:r>
              <a:rPr lang="en-US" i="1" dirty="0">
                <a:latin typeface="Times New Roman"/>
                <a:cs typeface="Times New Roman"/>
              </a:rPr>
              <a:t> versus the </a:t>
            </a:r>
            <a:r>
              <a:rPr lang="en-US" i="1" dirty="0">
                <a:solidFill>
                  <a:srgbClr val="FF0000"/>
                </a:solidFill>
                <a:latin typeface="Times New Roman"/>
                <a:cs typeface="Times New Roman"/>
              </a:rPr>
              <a:t>imaginary </a:t>
            </a:r>
            <a:r>
              <a:rPr lang="en-US" i="1" dirty="0">
                <a:latin typeface="Times New Roman"/>
                <a:cs typeface="Times New Roman"/>
              </a:rPr>
              <a:t>world of public schools that </a:t>
            </a:r>
            <a:r>
              <a:rPr lang="en-US" i="1" dirty="0">
                <a:solidFill>
                  <a:srgbClr val="FF0000"/>
                </a:solidFill>
                <a:latin typeface="Times New Roman"/>
                <a:cs typeface="Times New Roman"/>
              </a:rPr>
              <a:t>exists in the psyche</a:t>
            </a:r>
            <a:r>
              <a:rPr lang="en-US" i="1" dirty="0">
                <a:latin typeface="Times New Roman"/>
                <a:cs typeface="Times New Roman"/>
              </a:rPr>
              <a:t> of a vast number of people, where </a:t>
            </a:r>
            <a:r>
              <a:rPr lang="en-US" i="1" dirty="0">
                <a:solidFill>
                  <a:srgbClr val="FF0000"/>
                </a:solidFill>
                <a:latin typeface="Times New Roman"/>
                <a:cs typeface="Times New Roman"/>
              </a:rPr>
              <a:t>25-50% teachers are truant.</a:t>
            </a:r>
            <a:r>
              <a:rPr lang="en-US" i="1" dirty="0">
                <a:latin typeface="Times New Roman"/>
                <a:cs typeface="Times New Roman"/>
              </a:rPr>
              <a:t>"</a:t>
            </a:r>
            <a:endParaRPr lang="en-US" i="1"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3252100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30CCEE-4143-40B2-BD18-A7A47B234850}"/>
              </a:ext>
            </a:extLst>
          </p:cNvPr>
          <p:cNvSpPr>
            <a:spLocks noGrp="1"/>
          </p:cNvSpPr>
          <p:nvPr>
            <p:ph idx="1"/>
          </p:nvPr>
        </p:nvSpPr>
        <p:spPr>
          <a:xfrm>
            <a:off x="838200" y="695325"/>
            <a:ext cx="10515600" cy="5481638"/>
          </a:xfrm>
        </p:spPr>
        <p:txBody>
          <a:bodyPr vert="horz" lIns="91440" tIns="45720" rIns="91440" bIns="45720" rtlCol="0" anchor="t">
            <a:normAutofit/>
          </a:bodyPr>
          <a:lstStyle/>
          <a:p>
            <a:r>
              <a:rPr lang="en-US" dirty="0">
                <a:cs typeface="Calibri"/>
              </a:rPr>
              <a:t>The perception propagates the narrative that the fundamental problem with education in India is its teachers. </a:t>
            </a:r>
          </a:p>
          <a:p>
            <a:endParaRPr lang="en-US" dirty="0">
              <a:cs typeface="Calibri"/>
            </a:endParaRPr>
          </a:p>
          <a:p>
            <a:r>
              <a:rPr lang="en-US" i="1" dirty="0">
                <a:cs typeface="Calibri"/>
              </a:rPr>
              <a:t>Why is this narrative problematic?</a:t>
            </a:r>
          </a:p>
          <a:p>
            <a:pPr lvl="1"/>
            <a:r>
              <a:rPr lang="en-US" dirty="0">
                <a:cs typeface="Calibri"/>
              </a:rPr>
              <a:t>Solutions to the problem of "bad" teachers are usually along the lines of controlling teachers because they cannot be trusted to their job effectively if left on their own</a:t>
            </a:r>
          </a:p>
          <a:p>
            <a:pPr lvl="1"/>
            <a:r>
              <a:rPr lang="en-US" dirty="0">
                <a:cs typeface="Calibri"/>
              </a:rPr>
              <a:t>Teachers become scapegoats while actual issues with the education system are masked/ignored/attributed to imaginary truancy</a:t>
            </a:r>
          </a:p>
          <a:p>
            <a:pPr lvl="1"/>
            <a:r>
              <a:rPr lang="en-US" dirty="0">
                <a:cs typeface="Calibri"/>
              </a:rPr>
              <a:t>Erases the complexity of problems in education in India</a:t>
            </a:r>
          </a:p>
          <a:p>
            <a:endParaRPr lang="en-US" dirty="0">
              <a:cs typeface="Calibri"/>
            </a:endParaRPr>
          </a:p>
          <a:p>
            <a:r>
              <a:rPr lang="en-US" dirty="0">
                <a:cs typeface="Calibri"/>
              </a:rPr>
              <a:t>A "pro-teacher stance" (PTS) is an approach which analyses teachers' challenges and circumstances</a:t>
            </a:r>
          </a:p>
        </p:txBody>
      </p:sp>
    </p:spTree>
    <p:extLst>
      <p:ext uri="{BB962C8B-B14F-4D97-AF65-F5344CB8AC3E}">
        <p14:creationId xmlns:p14="http://schemas.microsoft.com/office/powerpoint/2010/main" val="1462315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4C610-B731-482A-8B6C-C0468EC567F7}"/>
              </a:ext>
            </a:extLst>
          </p:cNvPr>
          <p:cNvSpPr>
            <a:spLocks noGrp="1"/>
          </p:cNvSpPr>
          <p:nvPr>
            <p:ph type="title"/>
          </p:nvPr>
        </p:nvSpPr>
        <p:spPr/>
        <p:txBody>
          <a:bodyPr/>
          <a:lstStyle/>
          <a:p>
            <a:pPr algn="ctr"/>
            <a:r>
              <a:rPr lang="en-US" dirty="0">
                <a:cs typeface="Calibri Light"/>
              </a:rPr>
              <a:t>Challenges of the Public School Teacher</a:t>
            </a:r>
            <a:endParaRPr lang="en-US" dirty="0"/>
          </a:p>
        </p:txBody>
      </p:sp>
      <p:sp>
        <p:nvSpPr>
          <p:cNvPr id="3" name="Content Placeholder 2">
            <a:extLst>
              <a:ext uri="{FF2B5EF4-FFF2-40B4-BE49-F238E27FC236}">
                <a16:creationId xmlns:a16="http://schemas.microsoft.com/office/drawing/2014/main" id="{E698F336-D30B-4F39-9508-422B973C5A47}"/>
              </a:ext>
            </a:extLst>
          </p:cNvPr>
          <p:cNvSpPr>
            <a:spLocks noGrp="1"/>
          </p:cNvSpPr>
          <p:nvPr>
            <p:ph idx="1"/>
          </p:nvPr>
        </p:nvSpPr>
        <p:spPr>
          <a:xfrm>
            <a:off x="674914" y="2130425"/>
            <a:ext cx="10515600" cy="4618038"/>
          </a:xfrm>
        </p:spPr>
        <p:txBody>
          <a:bodyPr vert="horz" lIns="91440" tIns="45720" rIns="91440" bIns="45720" rtlCol="0" anchor="t">
            <a:normAutofit/>
          </a:bodyPr>
          <a:lstStyle/>
          <a:p>
            <a:r>
              <a:rPr lang="en-US" dirty="0">
                <a:cs typeface="Calibri"/>
              </a:rPr>
              <a:t>Most students </a:t>
            </a:r>
            <a:r>
              <a:rPr lang="en-US" dirty="0">
                <a:ea typeface="+mn-lt"/>
                <a:cs typeface="+mn-lt"/>
              </a:rPr>
              <a:t>socio-economically disadvantaged backgrounds, many of them first generation school goers, and often from homes in acute poverty</a:t>
            </a:r>
          </a:p>
          <a:p>
            <a:r>
              <a:rPr lang="en-US" dirty="0">
                <a:ea typeface="+mn-lt"/>
                <a:cs typeface="+mn-lt"/>
              </a:rPr>
              <a:t>Most teachers have to handle multiple grades and multiple subjects at the same time</a:t>
            </a:r>
          </a:p>
          <a:p>
            <a:r>
              <a:rPr lang="en-US" dirty="0">
                <a:cs typeface="Calibri"/>
              </a:rPr>
              <a:t>Schools lack adequate infrastructure</a:t>
            </a:r>
          </a:p>
          <a:p>
            <a:r>
              <a:rPr lang="en-US" dirty="0">
                <a:cs typeface="Calibri"/>
              </a:rPr>
              <a:t>Teachers usually do not encounter the spirit of the NCF are only faced with the content-heavy syllabus stipulated by the NCF. This fosters a culture of rote, and a rather mechanical approach to educational processes</a:t>
            </a:r>
          </a:p>
          <a:p>
            <a:r>
              <a:rPr lang="en-US" dirty="0">
                <a:ea typeface="+mn-lt"/>
                <a:cs typeface="+mn-lt"/>
              </a:rPr>
              <a:t>Poor administrative culture</a:t>
            </a:r>
          </a:p>
          <a:p>
            <a:r>
              <a:rPr lang="en-US" dirty="0">
                <a:ea typeface="+mn-lt"/>
                <a:cs typeface="+mn-lt"/>
              </a:rPr>
              <a:t>Teachers are not adequately prepared for their roles</a:t>
            </a:r>
          </a:p>
          <a:p>
            <a:pPr lvl="1"/>
            <a:r>
              <a:rPr lang="en-US" dirty="0">
                <a:ea typeface="+mn-lt"/>
                <a:cs typeface="+mn-lt"/>
              </a:rPr>
              <a:t>Weak academic support and ineffective professional development opportunities</a:t>
            </a:r>
            <a:endParaRPr lang="en-US" dirty="0"/>
          </a:p>
          <a:p>
            <a:endParaRPr lang="en-US" dirty="0">
              <a:cs typeface="Calibri"/>
            </a:endParaRPr>
          </a:p>
        </p:txBody>
      </p:sp>
    </p:spTree>
    <p:extLst>
      <p:ext uri="{BB962C8B-B14F-4D97-AF65-F5344CB8AC3E}">
        <p14:creationId xmlns:p14="http://schemas.microsoft.com/office/powerpoint/2010/main" val="1908303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A0D9-4B21-4BF9-B888-11A2A76F9B6C}"/>
              </a:ext>
            </a:extLst>
          </p:cNvPr>
          <p:cNvSpPr>
            <a:spLocks noGrp="1"/>
          </p:cNvSpPr>
          <p:nvPr>
            <p:ph type="title"/>
          </p:nvPr>
        </p:nvSpPr>
        <p:spPr/>
        <p:txBody>
          <a:bodyPr/>
          <a:lstStyle/>
          <a:p>
            <a:r>
              <a:rPr lang="en-US" dirty="0">
                <a:cs typeface="Calibri Light"/>
              </a:rPr>
              <a:t>Possible Solutions</a:t>
            </a:r>
          </a:p>
        </p:txBody>
      </p:sp>
      <p:sp>
        <p:nvSpPr>
          <p:cNvPr id="3" name="Content Placeholder 2">
            <a:extLst>
              <a:ext uri="{FF2B5EF4-FFF2-40B4-BE49-F238E27FC236}">
                <a16:creationId xmlns:a16="http://schemas.microsoft.com/office/drawing/2014/main" id="{76B85701-9696-4BB4-A30A-11B8ED8379F4}"/>
              </a:ext>
            </a:extLst>
          </p:cNvPr>
          <p:cNvSpPr>
            <a:spLocks noGrp="1"/>
          </p:cNvSpPr>
          <p:nvPr>
            <p:ph idx="1"/>
          </p:nvPr>
        </p:nvSpPr>
        <p:spPr/>
        <p:txBody>
          <a:bodyPr vert="horz" lIns="91440" tIns="45720" rIns="91440" bIns="45720" rtlCol="0" anchor="t">
            <a:normAutofit lnSpcReduction="10000"/>
          </a:bodyPr>
          <a:lstStyle/>
          <a:p>
            <a:r>
              <a:rPr lang="en-US" dirty="0">
                <a:cs typeface="Calibri"/>
              </a:rPr>
              <a:t>Recruiting an adequate number of teachers</a:t>
            </a:r>
          </a:p>
          <a:p>
            <a:r>
              <a:rPr lang="en-US" dirty="0">
                <a:cs typeface="Calibri"/>
              </a:rPr>
              <a:t>Basic infrastructure in all schools</a:t>
            </a:r>
          </a:p>
          <a:p>
            <a:pPr lvl="1"/>
            <a:r>
              <a:rPr lang="en-US" dirty="0">
                <a:cs typeface="Calibri"/>
              </a:rPr>
              <a:t>Adequate number of rooms, electricity, and toilets with running water </a:t>
            </a:r>
          </a:p>
          <a:p>
            <a:r>
              <a:rPr lang="en-US" dirty="0">
                <a:cs typeface="Calibri"/>
              </a:rPr>
              <a:t>Providing extra support to students (that is beyond the scope of what the teacher can provide)</a:t>
            </a:r>
          </a:p>
          <a:p>
            <a:pPr lvl="1"/>
            <a:r>
              <a:rPr lang="en-US" dirty="0">
                <a:cs typeface="Calibri"/>
              </a:rPr>
              <a:t>Extra meal, better meal quality, resourcing school clusters to social workers</a:t>
            </a:r>
          </a:p>
          <a:p>
            <a:r>
              <a:rPr lang="en-US" dirty="0">
                <a:cs typeface="Calibri"/>
              </a:rPr>
              <a:t>Improvement in textbooks and exams such that the teachers' contexts are accounted for</a:t>
            </a:r>
          </a:p>
          <a:p>
            <a:r>
              <a:rPr lang="en-US" dirty="0">
                <a:cs typeface="Calibri"/>
              </a:rPr>
              <a:t>Completely changing pre-service teacher education to </a:t>
            </a:r>
            <a:r>
              <a:rPr lang="en-US" dirty="0">
                <a:ea typeface="+mn-lt"/>
                <a:cs typeface="+mn-lt"/>
              </a:rPr>
              <a:t> </a:t>
            </a:r>
            <a:r>
              <a:rPr lang="en-US" i="1" dirty="0">
                <a:ea typeface="+mn-lt"/>
                <a:cs typeface="+mn-lt"/>
              </a:rPr>
              <a:t>high quality</a:t>
            </a:r>
            <a:r>
              <a:rPr lang="en-US" dirty="0">
                <a:ea typeface="+mn-lt"/>
                <a:cs typeface="+mn-lt"/>
              </a:rPr>
              <a:t> </a:t>
            </a:r>
            <a:r>
              <a:rPr lang="en-US" i="1" dirty="0">
                <a:ea typeface="+mn-lt"/>
                <a:cs typeface="+mn-lt"/>
              </a:rPr>
              <a:t>multidisciplinary,</a:t>
            </a:r>
            <a:r>
              <a:rPr lang="en-US" dirty="0">
                <a:ea typeface="+mn-lt"/>
                <a:cs typeface="+mn-lt"/>
              </a:rPr>
              <a:t> </a:t>
            </a:r>
            <a:r>
              <a:rPr lang="en-US" i="1" dirty="0">
                <a:ea typeface="+mn-lt"/>
                <a:cs typeface="+mn-lt"/>
              </a:rPr>
              <a:t>4-year integrated</a:t>
            </a:r>
            <a:r>
              <a:rPr lang="en-US" dirty="0">
                <a:ea typeface="+mn-lt"/>
                <a:cs typeface="+mn-lt"/>
              </a:rPr>
              <a:t> education </a:t>
            </a:r>
            <a:r>
              <a:rPr lang="en-US" dirty="0" err="1">
                <a:ea typeface="+mn-lt"/>
                <a:cs typeface="+mn-lt"/>
              </a:rPr>
              <a:t>programmes</a:t>
            </a:r>
            <a:r>
              <a:rPr lang="en-US" dirty="0">
                <a:ea typeface="+mn-lt"/>
                <a:cs typeface="+mn-lt"/>
              </a:rPr>
              <a:t> </a:t>
            </a:r>
          </a:p>
          <a:p>
            <a:r>
              <a:rPr lang="en-US" dirty="0">
                <a:cs typeface="Calibri"/>
              </a:rPr>
              <a:t>CPD</a:t>
            </a:r>
          </a:p>
          <a:p>
            <a:pPr marL="0" indent="0">
              <a:buNone/>
            </a:pPr>
            <a:endParaRPr lang="en-US" dirty="0">
              <a:cs typeface="Calibri"/>
            </a:endParaRPr>
          </a:p>
        </p:txBody>
      </p:sp>
    </p:spTree>
    <p:extLst>
      <p:ext uri="{BB962C8B-B14F-4D97-AF65-F5344CB8AC3E}">
        <p14:creationId xmlns:p14="http://schemas.microsoft.com/office/powerpoint/2010/main" val="3638600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2C6AB-7AFD-4458-9FD2-A42F442F24A0}"/>
              </a:ext>
            </a:extLst>
          </p:cNvPr>
          <p:cNvSpPr>
            <a:spLocks noGrp="1"/>
          </p:cNvSpPr>
          <p:nvPr>
            <p:ph type="title"/>
          </p:nvPr>
        </p:nvSpPr>
        <p:spPr/>
        <p:txBody>
          <a:bodyPr>
            <a:normAutofit/>
          </a:bodyPr>
          <a:lstStyle/>
          <a:p>
            <a:r>
              <a:rPr lang="en-US" dirty="0">
                <a:cs typeface="Calibri Light"/>
              </a:rPr>
              <a:t>Continuing Professional Development (CPD)</a:t>
            </a:r>
            <a:endParaRPr lang="en-US" dirty="0"/>
          </a:p>
        </p:txBody>
      </p:sp>
      <p:sp>
        <p:nvSpPr>
          <p:cNvPr id="3" name="Content Placeholder 2">
            <a:extLst>
              <a:ext uri="{FF2B5EF4-FFF2-40B4-BE49-F238E27FC236}">
                <a16:creationId xmlns:a16="http://schemas.microsoft.com/office/drawing/2014/main" id="{8CD04DB3-F923-426A-8FA0-799D9643953D}"/>
              </a:ext>
            </a:extLst>
          </p:cNvPr>
          <p:cNvSpPr>
            <a:spLocks noGrp="1"/>
          </p:cNvSpPr>
          <p:nvPr>
            <p:ph idx="1"/>
          </p:nvPr>
        </p:nvSpPr>
        <p:spPr/>
        <p:txBody>
          <a:bodyPr vert="horz" lIns="91440" tIns="45720" rIns="91440" bIns="45720" rtlCol="0" anchor="t">
            <a:normAutofit/>
          </a:bodyPr>
          <a:lstStyle/>
          <a:p>
            <a:r>
              <a:rPr lang="en-US" dirty="0">
                <a:cs typeface="Calibri" panose="020F0502020204030204"/>
              </a:rPr>
              <a:t>Continually enhancing the capacity of existing teachers</a:t>
            </a:r>
          </a:p>
          <a:p>
            <a:r>
              <a:rPr lang="en-US" dirty="0">
                <a:cs typeface="Calibri" panose="020F0502020204030204"/>
              </a:rPr>
              <a:t>Increases motivation and engagement of teachers</a:t>
            </a:r>
          </a:p>
          <a:p>
            <a:pPr marL="0" indent="0">
              <a:buNone/>
            </a:pPr>
            <a:r>
              <a:rPr lang="en-US" dirty="0">
                <a:cs typeface="Calibri" panose="020F0502020204030204"/>
              </a:rPr>
              <a:t>BASIC PRINCLIPLES OF CPD</a:t>
            </a:r>
          </a:p>
          <a:p>
            <a:pPr marL="0" indent="0">
              <a:buNone/>
            </a:pPr>
            <a:r>
              <a:rPr lang="en-US" dirty="0">
                <a:cs typeface="Calibri" panose="020F0502020204030204"/>
              </a:rPr>
              <a:t>- Explicitly distinct from practices of the past</a:t>
            </a:r>
          </a:p>
          <a:p>
            <a:pPr marL="0" indent="0">
              <a:buNone/>
            </a:pPr>
            <a:r>
              <a:rPr lang="en-US" dirty="0">
                <a:cs typeface="Calibri" panose="020F0502020204030204"/>
              </a:rPr>
              <a:t>- High capacity team (20 –70 members) of teacher educators in each district</a:t>
            </a:r>
          </a:p>
          <a:p>
            <a:pPr marL="0" indent="0">
              <a:buNone/>
            </a:pPr>
            <a:r>
              <a:rPr lang="en-US" dirty="0">
                <a:cs typeface="Calibri" panose="020F0502020204030204"/>
              </a:rPr>
              <a:t>- Curricular framework to provide guidance to the CPD </a:t>
            </a:r>
            <a:r>
              <a:rPr lang="en-US" dirty="0" err="1">
                <a:cs typeface="Calibri" panose="020F0502020204030204"/>
              </a:rPr>
              <a:t>programme</a:t>
            </a:r>
            <a:endParaRPr lang="en-US" dirty="0">
              <a:cs typeface="Calibri" panose="020F0502020204030204"/>
            </a:endParaRPr>
          </a:p>
          <a:p>
            <a:pPr marL="0" indent="0">
              <a:buNone/>
            </a:pPr>
            <a:r>
              <a:rPr lang="en-US" dirty="0">
                <a:cs typeface="Calibri" panose="020F0502020204030204"/>
              </a:rPr>
              <a:t>- </a:t>
            </a:r>
            <a:r>
              <a:rPr lang="en-US" dirty="0" err="1">
                <a:cs typeface="Calibri" panose="020F0502020204030204"/>
              </a:rPr>
              <a:t>Multimodular</a:t>
            </a:r>
            <a:r>
              <a:rPr lang="en-US" dirty="0">
                <a:cs typeface="Calibri" panose="020F0502020204030204"/>
              </a:rPr>
              <a:t>, i.e., long and short workshops, online sessions, exposure visits, in-school support, etc.</a:t>
            </a:r>
          </a:p>
          <a:p>
            <a:pPr marL="0" indent="0">
              <a:buNone/>
            </a:pPr>
            <a:endParaRPr lang="en-US" dirty="0">
              <a:cs typeface="Calibri" panose="020F0502020204030204"/>
            </a:endParaRPr>
          </a:p>
        </p:txBody>
      </p:sp>
    </p:spTree>
    <p:extLst>
      <p:ext uri="{BB962C8B-B14F-4D97-AF65-F5344CB8AC3E}">
        <p14:creationId xmlns:p14="http://schemas.microsoft.com/office/powerpoint/2010/main" val="5072508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4E1F14-FAF3-449F-ACA0-D225218CC3E9}"/>
              </a:ext>
            </a:extLst>
          </p:cNvPr>
          <p:cNvSpPr>
            <a:spLocks noGrp="1"/>
          </p:cNvSpPr>
          <p:nvPr>
            <p:ph idx="1"/>
          </p:nvPr>
        </p:nvSpPr>
        <p:spPr>
          <a:xfrm>
            <a:off x="838200" y="746125"/>
            <a:ext cx="10515600" cy="5430838"/>
          </a:xfrm>
        </p:spPr>
        <p:txBody>
          <a:bodyPr vert="horz" lIns="91440" tIns="45720" rIns="91440" bIns="45720" rtlCol="0" anchor="t">
            <a:normAutofit/>
          </a:bodyPr>
          <a:lstStyle/>
          <a:p>
            <a:pPr marL="0" indent="0">
              <a:buNone/>
            </a:pPr>
            <a:r>
              <a:rPr lang="en-US" dirty="0">
                <a:cs typeface="Calibri" panose="020F0502020204030204"/>
              </a:rPr>
              <a:t>- Logistically convenient</a:t>
            </a:r>
          </a:p>
          <a:p>
            <a:pPr marL="0" indent="0">
              <a:buNone/>
            </a:pPr>
            <a:r>
              <a:rPr lang="en-US" dirty="0">
                <a:cs typeface="Calibri" panose="020F0502020204030204"/>
              </a:rPr>
              <a:t>- Sustained efforts to foster local peer learning networks</a:t>
            </a:r>
          </a:p>
          <a:p>
            <a:pPr marL="0" indent="0">
              <a:buNone/>
            </a:pPr>
            <a:r>
              <a:rPr lang="en-US" dirty="0">
                <a:cs typeface="Calibri" panose="020F0502020204030204"/>
              </a:rPr>
              <a:t>- Of interest and relevance to teachers</a:t>
            </a:r>
          </a:p>
          <a:p>
            <a:pPr marL="0" indent="0">
              <a:buNone/>
            </a:pPr>
            <a:r>
              <a:rPr lang="en-US" dirty="0">
                <a:cs typeface="Calibri" panose="020F0502020204030204"/>
              </a:rPr>
              <a:t>- Teacher is in charge of their own developmental trajectory</a:t>
            </a:r>
          </a:p>
          <a:p>
            <a:pPr marL="0" indent="0">
              <a:buNone/>
            </a:pPr>
            <a:endParaRPr lang="en-US" dirty="0">
              <a:cs typeface="Calibri" panose="020F0502020204030204"/>
            </a:endParaRPr>
          </a:p>
        </p:txBody>
      </p:sp>
    </p:spTree>
    <p:extLst>
      <p:ext uri="{BB962C8B-B14F-4D97-AF65-F5344CB8AC3E}">
        <p14:creationId xmlns:p14="http://schemas.microsoft.com/office/powerpoint/2010/main" val="26361129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28122</TotalTime>
  <Words>3428</Words>
  <Application>Microsoft Office PowerPoint</Application>
  <PresentationFormat>Widescreen</PresentationFormat>
  <Paragraphs>260</Paragraphs>
  <Slides>48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Calibri</vt:lpstr>
      <vt:lpstr>Calibri Light</vt:lpstr>
      <vt:lpstr>Courier New</vt:lpstr>
      <vt:lpstr>Georgia</vt:lpstr>
      <vt:lpstr>Times New Roman</vt:lpstr>
      <vt:lpstr>Tw Cen MT</vt:lpstr>
      <vt:lpstr>Tw Cen MT Condensed</vt:lpstr>
      <vt:lpstr>Wingdings 3</vt:lpstr>
      <vt:lpstr>Integral</vt:lpstr>
      <vt:lpstr>PUBP309: EDUCATION POLICY </vt:lpstr>
      <vt:lpstr>PowerPoint Presentation</vt:lpstr>
      <vt:lpstr>PowerPoint Presentation</vt:lpstr>
      <vt:lpstr>PowerPoint Presentation</vt:lpstr>
      <vt:lpstr>LeaRning level crisis- from INDIA-seminar 706</vt:lpstr>
      <vt:lpstr>Outcome of schooling</vt:lpstr>
      <vt:lpstr>Learning crisis? - The problem</vt:lpstr>
      <vt:lpstr>Learning crisis- Factors</vt:lpstr>
      <vt:lpstr>NGOs and state  and the role in learning</vt:lpstr>
      <vt:lpstr>Learning to Learn- Madhav Chavan </vt:lpstr>
      <vt:lpstr>Introduction</vt:lpstr>
      <vt:lpstr>Statistics</vt:lpstr>
      <vt:lpstr>Skills from Education</vt:lpstr>
      <vt:lpstr>Policies and Assessments </vt:lpstr>
      <vt:lpstr>World Development Report</vt:lpstr>
      <vt:lpstr>Figures in India</vt:lpstr>
      <vt:lpstr>Figures in India</vt:lpstr>
      <vt:lpstr>Current Education Needs</vt:lpstr>
      <vt:lpstr>Is there a Learning Crisis?- Disha Nawani</vt:lpstr>
      <vt:lpstr>Introduction</vt:lpstr>
      <vt:lpstr>Assessments and Results</vt:lpstr>
      <vt:lpstr>Assessments and Results</vt:lpstr>
      <vt:lpstr>Assessments and Results</vt:lpstr>
      <vt:lpstr>Implications of Assessments </vt:lpstr>
      <vt:lpstr>Implications of Assessments </vt:lpstr>
      <vt:lpstr>Social Stratification in India</vt:lpstr>
      <vt:lpstr>Implications of Stratification</vt:lpstr>
      <vt:lpstr>General Problems of Education System</vt:lpstr>
      <vt:lpstr>General Problems of Education Systems</vt:lpstr>
      <vt:lpstr>General Problems of Education Systems</vt:lpstr>
      <vt:lpstr>Suggestions for Changes</vt:lpstr>
      <vt:lpstr>Suggestions for Change</vt:lpstr>
      <vt:lpstr>Suggestions for Change</vt:lpstr>
      <vt:lpstr>Low-learning traps &amp; teacher-centric solutions</vt:lpstr>
      <vt:lpstr>Betrayal or Benefit?                                     - Rukmini Banerjee</vt:lpstr>
      <vt:lpstr>About the student body</vt:lpstr>
      <vt:lpstr>Variance in enrollment patterns </vt:lpstr>
      <vt:lpstr>Attendance</vt:lpstr>
      <vt:lpstr>Acquisition of Learning in the 8th grade</vt:lpstr>
      <vt:lpstr>PowerPoint Presentation</vt:lpstr>
      <vt:lpstr>Key Challenges </vt:lpstr>
      <vt:lpstr>Way forward</vt:lpstr>
      <vt:lpstr>The Solutions lie with Teachers                                                  - Anurag Behar</vt:lpstr>
      <vt:lpstr>PowerPoint Presentation</vt:lpstr>
      <vt:lpstr>Challenges of the Public School Teacher</vt:lpstr>
      <vt:lpstr>Possible Solutions</vt:lpstr>
      <vt:lpstr>Continuing Professional Development (CPD)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PUBP309: EDUCATION POLICY </dc:title>
  <dc:creator>Shivakumar Jolad</dc:creator>
  <cp:lastModifiedBy>Shivakumar Jolad</cp:lastModifiedBy>
  <cp:revision>13</cp:revision>
  <dcterms:created xsi:type="dcterms:W3CDTF">2021-03-11T00:12:06Z</dcterms:created>
  <dcterms:modified xsi:type="dcterms:W3CDTF">2026-07-03T07:09:57Z</dcterms:modified>
</cp:coreProperties>
</file>